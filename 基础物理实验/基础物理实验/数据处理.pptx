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sldIdLst>
    <p:sldId id="319" r:id="rId3"/>
    <p:sldId id="469" r:id="rId4"/>
    <p:sldId id="476" r:id="rId5"/>
    <p:sldId id="477" r:id="rId6"/>
    <p:sldId id="480" r:id="rId7"/>
    <p:sldId id="481" r:id="rId8"/>
    <p:sldId id="475" r:id="rId10"/>
    <p:sldId id="482" r:id="rId11"/>
    <p:sldId id="483" r:id="rId12"/>
    <p:sldId id="484" r:id="rId13"/>
    <p:sldId id="485" r:id="rId14"/>
    <p:sldId id="486" r:id="rId15"/>
    <p:sldId id="487" r:id="rId16"/>
    <p:sldId id="488" r:id="rId17"/>
    <p:sldId id="489" r:id="rId18"/>
    <p:sldId id="413" r:id="rId19"/>
    <p:sldId id="414" r:id="rId20"/>
    <p:sldId id="393" r:id="rId21"/>
    <p:sldId id="513" r:id="rId22"/>
    <p:sldId id="514" r:id="rId23"/>
    <p:sldId id="516" r:id="rId24"/>
    <p:sldId id="723" r:id="rId25"/>
    <p:sldId id="737" r:id="rId26"/>
    <p:sldId id="726" r:id="rId27"/>
    <p:sldId id="689" r:id="rId28"/>
    <p:sldId id="713" r:id="rId29"/>
    <p:sldId id="727" r:id="rId30"/>
    <p:sldId id="728" r:id="rId31"/>
    <p:sldId id="731" r:id="rId32"/>
    <p:sldId id="396" r:id="rId33"/>
    <p:sldId id="398" r:id="rId34"/>
    <p:sldId id="715" r:id="rId35"/>
    <p:sldId id="732" r:id="rId36"/>
    <p:sldId id="333" r:id="rId37"/>
    <p:sldId id="740" r:id="rId38"/>
    <p:sldId id="589" r:id="rId39"/>
    <p:sldId id="741" r:id="rId40"/>
    <p:sldId id="742" r:id="rId41"/>
    <p:sldId id="743" r:id="rId42"/>
    <p:sldId id="428" r:id="rId43"/>
    <p:sldId id="429" r:id="rId44"/>
    <p:sldId id="430" r:id="rId45"/>
    <p:sldId id="431" r:id="rId46"/>
    <p:sldId id="432" r:id="rId47"/>
    <p:sldId id="433" r:id="rId48"/>
    <p:sldId id="434" r:id="rId49"/>
    <p:sldId id="435" r:id="rId50"/>
    <p:sldId id="436" r:id="rId51"/>
    <p:sldId id="437" r:id="rId52"/>
    <p:sldId id="438" r:id="rId53"/>
    <p:sldId id="439" r:id="rId54"/>
    <p:sldId id="440" r:id="rId55"/>
    <p:sldId id="441" r:id="rId56"/>
    <p:sldId id="490" r:id="rId57"/>
    <p:sldId id="491" r:id="rId58"/>
    <p:sldId id="492" r:id="rId59"/>
    <p:sldId id="493" r:id="rId60"/>
    <p:sldId id="494" r:id="rId61"/>
    <p:sldId id="509" r:id="rId62"/>
    <p:sldId id="495" r:id="rId63"/>
    <p:sldId id="496" r:id="rId64"/>
    <p:sldId id="497" r:id="rId65"/>
    <p:sldId id="498" r:id="rId66"/>
    <p:sldId id="499" r:id="rId67"/>
    <p:sldId id="500" r:id="rId68"/>
    <p:sldId id="501" r:id="rId69"/>
    <p:sldId id="502" r:id="rId70"/>
    <p:sldId id="503" r:id="rId71"/>
    <p:sldId id="504" r:id="rId72"/>
    <p:sldId id="505" r:id="rId73"/>
    <p:sldId id="506" r:id="rId74"/>
    <p:sldId id="507" r:id="rId75"/>
    <p:sldId id="382" r:id="rId76"/>
    <p:sldId id="510" r:id="rId77"/>
    <p:sldId id="364" r:id="rId78"/>
    <p:sldId id="512" r:id="rId79"/>
    <p:sldId id="386" r:id="rId80"/>
    <p:sldId id="407" r:id="rId81"/>
    <p:sldId id="508" r:id="rId8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008000"/>
    <a:srgbClr val="000000"/>
    <a:srgbClr val="0000FF"/>
    <a:srgbClr val="FFCC00"/>
    <a:srgbClr val="FF9900"/>
    <a:srgbClr val="FFFF99"/>
    <a:srgbClr val="FFFFCC"/>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82272" autoAdjust="0"/>
  </p:normalViewPr>
  <p:slideViewPr>
    <p:cSldViewPr showGuides="1">
      <p:cViewPr varScale="1">
        <p:scale>
          <a:sx n="93" d="100"/>
          <a:sy n="93" d="100"/>
        </p:scale>
        <p:origin x="1242" y="78"/>
      </p:cViewPr>
      <p:guideLst>
        <p:guide orient="horz" pos="2160"/>
        <p:guide pos="388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image" Target="../media/image86.wmf"/></Relationships>
</file>

<file path=ppt/drawings/_rels/vmlDrawing3.vml.rels><?xml version="1.0" encoding="UTF-8" standalone="yes"?>
<Relationships xmlns="http://schemas.openxmlformats.org/package/2006/relationships"><Relationship Id="rId7" Type="http://schemas.openxmlformats.org/officeDocument/2006/relationships/image" Target="../media/image94.wmf"/><Relationship Id="rId6" Type="http://schemas.openxmlformats.org/officeDocument/2006/relationships/image" Target="../media/image93.wmf"/><Relationship Id="rId5" Type="http://schemas.openxmlformats.org/officeDocument/2006/relationships/image" Target="../media/image92.wmf"/><Relationship Id="rId4" Type="http://schemas.openxmlformats.org/officeDocument/2006/relationships/image" Target="../media/image91.wmf"/><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4.vml.rels><?xml version="1.0" encoding="UTF-8" standalone="yes"?>
<Relationships xmlns="http://schemas.openxmlformats.org/package/2006/relationships"><Relationship Id="rId7" Type="http://schemas.openxmlformats.org/officeDocument/2006/relationships/image" Target="../media/image100.wmf"/><Relationship Id="rId6" Type="http://schemas.openxmlformats.org/officeDocument/2006/relationships/image" Target="../media/image99.emf"/><Relationship Id="rId5" Type="http://schemas.openxmlformats.org/officeDocument/2006/relationships/image" Target="../media/image98.emf"/><Relationship Id="rId4" Type="http://schemas.openxmlformats.org/officeDocument/2006/relationships/image" Target="../media/image97.emf"/><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image" Target="../media/image8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6.vml.rels><?xml version="1.0" encoding="UTF-8" standalone="yes"?>
<Relationships xmlns="http://schemas.openxmlformats.org/package/2006/relationships"><Relationship Id="rId6" Type="http://schemas.openxmlformats.org/officeDocument/2006/relationships/image" Target="../media/image115.wmf"/><Relationship Id="rId5" Type="http://schemas.openxmlformats.org/officeDocument/2006/relationships/image" Target="../media/image114.wmf"/><Relationship Id="rId4" Type="http://schemas.openxmlformats.org/officeDocument/2006/relationships/image" Target="../media/image113.wmf"/><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8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panose="02010600030101010101" pitchFamily="2" charset="-122"/>
              </a:defRPr>
            </a:lvl1pPr>
          </a:lstStyle>
          <a:p>
            <a:pPr>
              <a:defRPr/>
            </a:pPr>
            <a:fld id="{EAC5DEE2-5F1B-41C3-8B82-A1E8CBB5548B}"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panose="02010600030101010101" pitchFamily="2" charset="-122"/>
              </a:defRPr>
            </a:lvl1pPr>
          </a:lstStyle>
          <a:p>
            <a:pPr>
              <a:defRPr/>
            </a:pPr>
            <a:fld id="{3737E13E-AAAC-4FA0-B649-0D8851A508F1}"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p:spPr>
      </p:sp>
      <p:sp>
        <p:nvSpPr>
          <p:cNvPr id="64515" name="备注占位符 2"/>
          <p:cNvSpPr>
            <a:spLocks noGrp="1"/>
          </p:cNvSpPr>
          <p:nvPr>
            <p:ph type="body" idx="1"/>
          </p:nvPr>
        </p:nvSpPr>
        <p:spPr bwMode="auto">
          <a:noFill/>
        </p:spPr>
        <p:txBody>
          <a:bodyPr wrap="square" numCol="1" anchor="t" anchorCtr="0" compatLnSpc="1"/>
          <a:lstStyle/>
          <a:p>
            <a:r>
              <a:rPr lang="zh-CN" altLang="en-US"/>
              <a:t>数据处理时，可能要分段拟合</a:t>
            </a:r>
            <a:endParaRPr lang="zh-CN" altLang="en-US"/>
          </a:p>
        </p:txBody>
      </p:sp>
      <p:sp>
        <p:nvSpPr>
          <p:cNvPr id="64516" name="灯片编号占位符 3"/>
          <p:cNvSpPr>
            <a:spLocks noGrp="1"/>
          </p:cNvSpPr>
          <p:nvPr>
            <p:ph type="sldNum" sz="quarter" idx="5"/>
          </p:nvPr>
        </p:nvSpPr>
        <p:spPr bwMode="auto">
          <a:noFill/>
          <a:ln>
            <a:miter lim="800000"/>
          </a:ln>
        </p:spPr>
        <p:txBody>
          <a:bodyPr wrap="square" numCol="1" anchorCtr="0" compatLnSpc="1"/>
          <a:lstStyle/>
          <a:p>
            <a:fld id="{E0FE08E0-AC82-4C6B-8147-C684B9FB50D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44AB5DD-EDD6-426A-B4B4-2B12E8208A2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44AB5DD-EDD6-426A-B4B4-2B12E8208A2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44AB5DD-EDD6-426A-B4B4-2B12E8208A2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40E0145-64AF-4A5D-9948-6DF18B6FB38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2BC1F99-338D-7544-AEE9-39808DBB9A32}"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344AB5DD-EDD6-426A-B4B4-2B12E8208A2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400" kern="1200" dirty="0">
              <a:solidFill>
                <a:srgbClr val="000000"/>
              </a:solidFill>
              <a:latin typeface="微软雅黑" panose="020B0503020204020204" pitchFamily="34" charset="-122"/>
              <a:ea typeface="微软雅黑" panose="020B0503020204020204" pitchFamily="34" charset="-122"/>
              <a:cs typeface="+mn-cs"/>
            </a:endParaRPr>
          </a:p>
        </p:txBody>
      </p:sp>
      <p:sp>
        <p:nvSpPr>
          <p:cNvPr id="4" name="灯片编号占位符 3"/>
          <p:cNvSpPr>
            <a:spLocks noGrp="1"/>
          </p:cNvSpPr>
          <p:nvPr>
            <p:ph type="sldNum" sz="quarter" idx="5"/>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68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368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228ED3F7-D60C-4CF0-B6D3-FE4336940747}"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9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19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387711DF-2EC7-4E40-9FA0-4FAE679CB53F}"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91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dirty="0"/>
          </a:p>
        </p:txBody>
      </p:sp>
      <p:sp>
        <p:nvSpPr>
          <p:cNvPr id="491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53505511-EB4A-4F7D-A59A-25E651E8F048}"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从图上求斜率</a:t>
            </a:r>
            <a:endParaRPr lang="zh-CN" altLang="en-US"/>
          </a:p>
        </p:txBody>
      </p:sp>
      <p:sp>
        <p:nvSpPr>
          <p:cNvPr id="512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ED81EB26-676E-42CD-AB45-40E97CF882FC}"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32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数据处理不可以写在图纸上</a:t>
            </a:r>
            <a:endParaRPr lang="zh-CN" altLang="en-US"/>
          </a:p>
        </p:txBody>
      </p:sp>
      <p:sp>
        <p:nvSpPr>
          <p:cNvPr id="532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2FD069F1-C164-4421-BE15-280D82212103}" type="slidenum">
              <a:rPr lang="zh-CN" altLang="en-US"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FB460E1-6D7E-45C6-9466-520C3809ECD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44AB5DD-EDD6-426A-B4B4-2B12E8208A28}"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FE945C0-E3E2-4A46-BB59-E14875912D11}"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37E13E-AAAC-4FA0-B649-0D8851A508F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F220C7D0-3B69-46FE-9C91-24E70CFE1920}"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CA76D983-2D33-465B-B954-A7DF18C1F7D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3"/>
          <p:cNvSpPr>
            <a:spLocks noGrp="1"/>
          </p:cNvSpPr>
          <p:nvPr>
            <p:ph type="dt" sz="half" idx="10"/>
          </p:nvPr>
        </p:nvSpPr>
        <p:spPr/>
        <p:txBody>
          <a:bodyPr/>
          <a:lstStyle/>
          <a:p>
            <a:pPr>
              <a:defRPr/>
            </a:pPr>
            <a:fld id="{5081C269-F1D1-49F9-86F2-CB5F95298E6F}"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54D9D6D-0819-48BE-809C-2A51D04D71F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a:defRPr/>
            </a:pPr>
            <a:fld id="{7F3464BF-DB41-410D-912D-AFCB668E3F57}"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852AD83-D17C-4295-8A7C-A9DBEF86F6B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a:defRPr/>
            </a:pPr>
            <a:fld id="{7B5882F7-F5D8-4D53-A7D8-96D5484E16D2}" type="datetime1">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755E2F0F-EEAD-4B0F-9376-472F10ACB79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fld id="{BD107D4A-3588-42A4-B216-FE07FDAA1BE2}" type="datetime1">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3A71DAC2-82BE-4782-BC53-D12CACA9E0F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7" name="Date Placeholder 2"/>
          <p:cNvSpPr>
            <a:spLocks noGrp="1"/>
          </p:cNvSpPr>
          <p:nvPr>
            <p:ph type="dt" sz="half" idx="10"/>
          </p:nvPr>
        </p:nvSpPr>
        <p:spPr/>
        <p:txBody>
          <a:bodyPr/>
          <a:lstStyle/>
          <a:p>
            <a:pPr>
              <a:defRPr/>
            </a:pPr>
            <a:fld id="{AB77F84D-8E7B-45A1-B0FD-F2BA941F6DD5}" type="datetime1">
              <a:rPr lang="zh-CN" altLang="en-US" smtClean="0"/>
            </a:fld>
            <a:endParaRPr lang="zh-CN" altLang="en-US"/>
          </a:p>
        </p:txBody>
      </p:sp>
      <p:sp>
        <p:nvSpPr>
          <p:cNvPr id="5" name="Footer Placeholder 3"/>
          <p:cNvSpPr>
            <a:spLocks noGrp="1"/>
          </p:cNvSpPr>
          <p:nvPr>
            <p:ph type="ftr" sz="quarter" idx="11"/>
          </p:nvPr>
        </p:nvSpPr>
        <p:spPr/>
        <p:txBody>
          <a:bodyPr/>
          <a:lstStyle/>
          <a:p>
            <a:pPr>
              <a:defRPr/>
            </a:pPr>
            <a:endParaRPr lang="zh-CN" altLang="en-US"/>
          </a:p>
        </p:txBody>
      </p:sp>
      <p:sp>
        <p:nvSpPr>
          <p:cNvPr id="6" name="Slide Number Placeholder 4"/>
          <p:cNvSpPr>
            <a:spLocks noGrp="1"/>
          </p:cNvSpPr>
          <p:nvPr>
            <p:ph type="sldNum" sz="quarter" idx="12"/>
          </p:nvPr>
        </p:nvSpPr>
        <p:spPr/>
        <p:txBody>
          <a:bodyPr/>
          <a:lstStyle/>
          <a:p>
            <a:pPr>
              <a:defRPr/>
            </a:pPr>
            <a:fld id="{8EBEF0D8-6DB7-4DBD-BE0D-805C0991469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fld id="{C4B9A579-9F69-4DC1-A163-1790657503AB}" type="datetime1">
              <a:rPr lang="zh-CN" altLang="en-US" smtClean="0"/>
            </a:fld>
            <a:endParaRPr lang="zh-CN" altLang="en-US"/>
          </a:p>
        </p:txBody>
      </p:sp>
      <p:sp>
        <p:nvSpPr>
          <p:cNvPr id="5" name="Footer Placeholder 2"/>
          <p:cNvSpPr>
            <a:spLocks noGrp="1"/>
          </p:cNvSpPr>
          <p:nvPr>
            <p:ph type="ftr" sz="quarter" idx="11"/>
          </p:nvPr>
        </p:nvSpPr>
        <p:spPr/>
        <p:txBody>
          <a:bodyPr/>
          <a:lstStyle/>
          <a:p>
            <a:pPr>
              <a:defRPr/>
            </a:pPr>
            <a:endParaRPr lang="zh-CN" altLang="en-US"/>
          </a:p>
        </p:txBody>
      </p:sp>
      <p:sp>
        <p:nvSpPr>
          <p:cNvPr id="6" name="Slide Number Placeholder 3"/>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7" name="Date Placeholder 4"/>
          <p:cNvSpPr>
            <a:spLocks noGrp="1"/>
          </p:cNvSpPr>
          <p:nvPr>
            <p:ph type="dt" sz="half" idx="10"/>
          </p:nvPr>
        </p:nvSpPr>
        <p:spPr/>
        <p:txBody>
          <a:bodyPr/>
          <a:lstStyle/>
          <a:p>
            <a:pPr>
              <a:defRPr/>
            </a:pPr>
            <a:fld id="{B02C5FBB-5A7A-4875-B86E-CF9688E16E68}" type="datetime1">
              <a:rPr lang="zh-CN" altLang="en-US" smtClean="0"/>
            </a:fld>
            <a:endParaRPr lang="zh-CN" altLang="en-US"/>
          </a:p>
        </p:txBody>
      </p:sp>
      <p:sp>
        <p:nvSpPr>
          <p:cNvPr id="5" name="Footer Placeholder 5"/>
          <p:cNvSpPr>
            <a:spLocks noGrp="1"/>
          </p:cNvSpPr>
          <p:nvPr>
            <p:ph type="ftr" sz="quarter" idx="11"/>
          </p:nvPr>
        </p:nvSpPr>
        <p:spPr/>
        <p:txBody>
          <a:bodyPr/>
          <a:lstStyle/>
          <a:p>
            <a:pPr>
              <a:defRPr/>
            </a:pPr>
            <a:endParaRPr lang="zh-CN" altLang="en-US"/>
          </a:p>
        </p:txBody>
      </p:sp>
      <p:sp>
        <p:nvSpPr>
          <p:cNvPr id="6" name="Slide Number Placeholder 6"/>
          <p:cNvSpPr>
            <a:spLocks noGrp="1"/>
          </p:cNvSpPr>
          <p:nvPr>
            <p:ph type="sldNum" sz="quarter" idx="12"/>
          </p:nvPr>
        </p:nvSpPr>
        <p:spPr/>
        <p:txBody>
          <a:bodyPr/>
          <a:lstStyle/>
          <a:p>
            <a:pPr>
              <a:defRPr/>
            </a:pPr>
            <a:fld id="{D86395E5-0D1B-4B0F-AD01-D96F895AFD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a:defRPr/>
            </a:pPr>
            <a:fld id="{1879DF6C-E001-4888-96B9-829958EFB660}" type="datetime1">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EDF77384-7B1C-49AF-8486-FA239B7DDDF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a:defRPr/>
            </a:pPr>
            <a:fld id="{9BBD4014-0016-4FBE-B3D6-CD5E5EFCACB3}" type="datetime1">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4914C32-1414-4739-A983-E019979E378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hasCustomPrompt="1"/>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a:defRPr/>
            </a:pPr>
            <a:fld id="{31BB5909-1C85-456D-A46C-D2D9733ECABA}"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4914C32-1414-4739-A983-E019979E378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hasCustomPrompt="1"/>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编辑母版文本样式</a:t>
            </a:r>
            <a:endParaRPr lang="zh-CN" altLang="en-US"/>
          </a:p>
        </p:txBody>
      </p:sp>
      <p:sp>
        <p:nvSpPr>
          <p:cNvPr id="10" name="Text Placeholder 3"/>
          <p:cNvSpPr>
            <a:spLocks noGrp="1"/>
          </p:cNvSpPr>
          <p:nvPr>
            <p:ph type="body" sz="half" idx="2" hasCustomPrompt="1"/>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a:defRPr/>
            </a:pPr>
            <a:fld id="{B0655167-6EB2-4B04-8144-ACE95E0850D8}"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4914C32-1414-4739-A983-E019979E3784}" type="slidenum">
              <a:rPr lang="zh-CN" altLang="en-US" smtClean="0"/>
            </a:fld>
            <a:endParaRPr lang="zh-CN"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a:defRPr/>
            </a:pPr>
            <a:fld id="{B2B0977F-AC09-4E43-BC48-3521CEA495AF}"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4914C32-1414-4739-A983-E019979E378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6" name="Text Placeholder 3"/>
          <p:cNvSpPr>
            <a:spLocks noGrp="1"/>
          </p:cNvSpPr>
          <p:nvPr>
            <p:ph type="body" sz="half" idx="15" hasCustomPrompt="1"/>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5" name="Text Placeholder 4"/>
          <p:cNvSpPr>
            <a:spLocks noGrp="1"/>
          </p:cNvSpPr>
          <p:nvPr>
            <p:ph type="body" sz="quarter" idx="3" hasCustomPrompt="1"/>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9" name="Text Placeholder 3"/>
          <p:cNvSpPr>
            <a:spLocks noGrp="1"/>
          </p:cNvSpPr>
          <p:nvPr>
            <p:ph type="body" sz="half" idx="16" hasCustomPrompt="1"/>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14" name="Text Placeholder 4"/>
          <p:cNvSpPr>
            <a:spLocks noGrp="1"/>
          </p:cNvSpPr>
          <p:nvPr>
            <p:ph type="body" sz="quarter" idx="13" hasCustomPrompt="1"/>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0" name="Text Placeholder 3"/>
          <p:cNvSpPr>
            <a:spLocks noGrp="1"/>
          </p:cNvSpPr>
          <p:nvPr>
            <p:ph type="body" sz="half" idx="17" hasCustomPrompt="1"/>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fld id="{E5D043E8-EA6D-44A0-85B0-7A15D12D54E0}" type="datetime1">
              <a:rPr lang="zh-CN" altLang="en-US" smtClean="0"/>
            </a:fld>
            <a:endParaRPr lang="zh-CN" altLang="en-US"/>
          </a:p>
        </p:txBody>
      </p:sp>
      <p:sp>
        <p:nvSpPr>
          <p:cNvPr id="4"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4914C32-1414-4739-A983-E019979E378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hasCustomPrompt="1"/>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5" name="Text Placeholder 4"/>
          <p:cNvSpPr>
            <a:spLocks noGrp="1"/>
          </p:cNvSpPr>
          <p:nvPr>
            <p:ph type="body" sz="quarter" idx="3" hasCustomPrompt="1"/>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hasCustomPrompt="1"/>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14" name="Text Placeholder 4"/>
          <p:cNvSpPr>
            <a:spLocks noGrp="1"/>
          </p:cNvSpPr>
          <p:nvPr>
            <p:ph type="body" sz="quarter" idx="13" hasCustomPrompt="1"/>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hasCustomPrompt="1"/>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fld id="{3D4FA805-6C2C-4561-BAE6-5C50B3B8BF2D}" type="datetime1">
              <a:rPr lang="zh-CN" altLang="en-US" smtClean="0"/>
            </a:fld>
            <a:endParaRPr lang="zh-CN" altLang="en-US"/>
          </a:p>
        </p:txBody>
      </p:sp>
      <p:sp>
        <p:nvSpPr>
          <p:cNvPr id="4"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4914C32-1414-4739-A983-E019979E378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nchor="t" anchorCtr="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07E5A4EE-6DE5-4070-8F3D-C28D1382FC25}"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E6D68EB1-5326-4CB2-AB0D-2CE2D7DC5BEA}"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52463" y="887414"/>
            <a:ext cx="7423149" cy="5368924"/>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615005A3-198D-42F7-A122-5BB5BE14D552}"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4914C32-1414-4739-A983-E019979E378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914400" y="609600"/>
            <a:ext cx="10363200" cy="11430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14400" y="1981200"/>
            <a:ext cx="508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981200"/>
            <a:ext cx="508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14400" y="4114800"/>
            <a:ext cx="508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6197600" y="4114800"/>
            <a:ext cx="508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914400" y="6248400"/>
            <a:ext cx="2540000" cy="457200"/>
          </a:xfrm>
          <a:prstGeom prst="rect">
            <a:avLst/>
          </a:prstGeom>
        </p:spPr>
        <p:txBody>
          <a:bodyPr/>
          <a:lstStyle>
            <a:lvl1pPr>
              <a:defRPr/>
            </a:lvl1pPr>
          </a:lstStyle>
          <a:p>
            <a:pPr>
              <a:defRPr/>
            </a:pPr>
            <a:fld id="{5668A0EE-A002-4454-9F42-01091D477204}" type="datetime1">
              <a:rPr lang="zh-CN" altLang="en-US" smtClean="0"/>
            </a:fld>
            <a:endParaRPr lang="en-US" altLang="zh-CN"/>
          </a:p>
        </p:txBody>
      </p:sp>
      <p:sp>
        <p:nvSpPr>
          <p:cNvPr id="8" name="页脚占位符 7"/>
          <p:cNvSpPr>
            <a:spLocks noGrp="1"/>
          </p:cNvSpPr>
          <p:nvPr>
            <p:ph type="ftr" sz="quarter" idx="11"/>
          </p:nvPr>
        </p:nvSpPr>
        <p:spPr>
          <a:xfrm>
            <a:off x="4165600" y="6248400"/>
            <a:ext cx="3860800" cy="457200"/>
          </a:xfrm>
          <a:prstGeom prst="rect">
            <a:avLst/>
          </a:prstGeom>
        </p:spPr>
        <p:txBody>
          <a:bodyPr/>
          <a:lstStyle>
            <a:lvl1pPr>
              <a:defRPr/>
            </a:lvl1pPr>
          </a:lstStyle>
          <a:p>
            <a:pPr>
              <a:defRPr/>
            </a:pPr>
            <a:endParaRPr lang="en-US" altLang="zh-CN"/>
          </a:p>
        </p:txBody>
      </p:sp>
      <p:sp>
        <p:nvSpPr>
          <p:cNvPr id="9" name="灯片编号占位符 8"/>
          <p:cNvSpPr>
            <a:spLocks noGrp="1"/>
          </p:cNvSpPr>
          <p:nvPr>
            <p:ph type="sldNum" sz="quarter" idx="12"/>
          </p:nvPr>
        </p:nvSpPr>
        <p:spPr>
          <a:xfrm>
            <a:off x="8737600" y="6248400"/>
            <a:ext cx="2540000" cy="457200"/>
          </a:xfrm>
          <a:prstGeom prst="rect">
            <a:avLst/>
          </a:prstGeom>
        </p:spPr>
        <p:txBody>
          <a:bodyPr/>
          <a:lstStyle>
            <a:lvl1pPr>
              <a:defRPr/>
            </a:lvl1pPr>
          </a:lstStyle>
          <a:p>
            <a:pPr>
              <a:defRPr/>
            </a:pPr>
            <a:fld id="{D8E7EC9E-73B9-46C1-A642-DD99018DC158}" type="slidenum">
              <a:rPr lang="en-US" altLang="zh-CN"/>
            </a:fld>
            <a:endParaRPr lang="en-US" altLang="zh-CN"/>
          </a:p>
        </p:txBody>
      </p:sp>
    </p:spTree>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image" Target="../media/image4.png"/><Relationship Id="rId22" Type="http://schemas.openxmlformats.org/officeDocument/2006/relationships/image" Target="../media/image3.png"/><Relationship Id="rId21" Type="http://schemas.openxmlformats.org/officeDocument/2006/relationships/image" Target="../media/image2.png"/><Relationship Id="rId20" Type="http://schemas.openxmlformats.org/officeDocument/2006/relationships/image" Target="../media/image1.pn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a:defRPr/>
            </a:pPr>
            <a:fld id="{51BC85E6-6ECC-4657-A210-259C148DE842}" type="datetime1">
              <a:rPr lang="zh-CN" altLang="en-US" smtClean="0"/>
            </a:fld>
            <a:endParaRPr lang="zh-CN"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endParaRPr lang="zh-CN"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a:defRPr/>
            </a:pPr>
            <a:fld id="{44914C32-1414-4739-A983-E019979E3784}"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xml"/><Relationship Id="rId2" Type="http://schemas.openxmlformats.org/officeDocument/2006/relationships/hyperlink" Target="http://en.wikipedia.org/wiki/International_Standard_Book_Number" TargetMode="External"/><Relationship Id="rId1" Type="http://schemas.openxmlformats.org/officeDocument/2006/relationships/hyperlink" Target="http://en.wikipedia.org/wiki/Special:BookSources/978-0-89871-521-7"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2.xml"/><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5.png"/><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6.png"/><Relationship Id="rId3" Type="http://schemas.openxmlformats.org/officeDocument/2006/relationships/image" Target="../media/image31.png"/><Relationship Id="rId2" Type="http://schemas.openxmlformats.org/officeDocument/2006/relationships/image" Target="../media/image30.png"/><Relationship Id="rId10" Type="http://schemas.openxmlformats.org/officeDocument/2006/relationships/notesSlide" Target="../notesSlides/notesSlide13.xml"/><Relationship Id="rId1" Type="http://schemas.openxmlformats.org/officeDocument/2006/relationships/image" Target="../media/image29.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36.png"/></Relationships>
</file>

<file path=ppt/slides/_rels/slide33.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png"/><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0" Type="http://schemas.openxmlformats.org/officeDocument/2006/relationships/slideLayout" Target="../slideLayouts/slideLayout2.xml"/><Relationship Id="rId1"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image" Target="../media/image56.png"/><Relationship Id="rId7" Type="http://schemas.openxmlformats.org/officeDocument/2006/relationships/image" Target="../media/image55.png"/><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0" Type="http://schemas.openxmlformats.org/officeDocument/2006/relationships/notesSlide" Target="../notesSlides/notesSlide16.xml"/><Relationship Id="rId1" Type="http://schemas.openxmlformats.org/officeDocument/2006/relationships/image" Target="../media/image49.png"/></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image" Target="../media/image64.png"/><Relationship Id="rId7" Type="http://schemas.openxmlformats.org/officeDocument/2006/relationships/image" Target="../media/image63.png"/><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38.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19.xml"/><Relationship Id="rId7" Type="http://schemas.openxmlformats.org/officeDocument/2006/relationships/image" Target="../media/image71.png"/><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81.png"/><Relationship Id="rId1" Type="http://schemas.openxmlformats.org/officeDocument/2006/relationships/image" Target="../media/image80.jpeg"/></Relationships>
</file>

<file path=ppt/slides/_rels/slide54.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image" Target="../media/image85.png"/><Relationship Id="rId6" Type="http://schemas.openxmlformats.org/officeDocument/2006/relationships/image" Target="../media/image84.wmf"/><Relationship Id="rId5" Type="http://schemas.openxmlformats.org/officeDocument/2006/relationships/oleObject" Target="../embeddings/oleObject3.bin"/><Relationship Id="rId4" Type="http://schemas.openxmlformats.org/officeDocument/2006/relationships/image" Target="../media/image83.wmf"/><Relationship Id="rId3" Type="http://schemas.openxmlformats.org/officeDocument/2006/relationships/oleObject" Target="../embeddings/oleObject2.bin"/><Relationship Id="rId2" Type="http://schemas.openxmlformats.org/officeDocument/2006/relationships/image" Target="../media/image82.wmf"/><Relationship Id="rId1" Type="http://schemas.openxmlformats.org/officeDocument/2006/relationships/oleObject" Target="../embeddings/oleObject1.bin"/></Relationships>
</file>

<file path=ppt/slides/_rels/slide55.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87.wmf"/><Relationship Id="rId3" Type="http://schemas.openxmlformats.org/officeDocument/2006/relationships/oleObject" Target="../embeddings/oleObject5.bin"/><Relationship Id="rId2" Type="http://schemas.openxmlformats.org/officeDocument/2006/relationships/image" Target="../media/image86.wmf"/><Relationship Id="rId1" Type="http://schemas.openxmlformats.org/officeDocument/2006/relationships/oleObject" Target="../embeddings/oleObject4.bin"/></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91.wmf"/><Relationship Id="rId7" Type="http://schemas.openxmlformats.org/officeDocument/2006/relationships/oleObject" Target="../embeddings/oleObject9.bin"/><Relationship Id="rId6" Type="http://schemas.openxmlformats.org/officeDocument/2006/relationships/image" Target="../media/image90.wmf"/><Relationship Id="rId5" Type="http://schemas.openxmlformats.org/officeDocument/2006/relationships/oleObject" Target="../embeddings/oleObject8.bin"/><Relationship Id="rId4" Type="http://schemas.openxmlformats.org/officeDocument/2006/relationships/image" Target="../media/image89.wmf"/><Relationship Id="rId3" Type="http://schemas.openxmlformats.org/officeDocument/2006/relationships/oleObject" Target="../embeddings/oleObject7.bin"/><Relationship Id="rId2" Type="http://schemas.openxmlformats.org/officeDocument/2006/relationships/image" Target="../media/image88.wmf"/><Relationship Id="rId16" Type="http://schemas.openxmlformats.org/officeDocument/2006/relationships/vmlDrawing" Target="../drawings/vmlDrawing3.vml"/><Relationship Id="rId15" Type="http://schemas.openxmlformats.org/officeDocument/2006/relationships/slideLayout" Target="../slideLayouts/slideLayout18.xml"/><Relationship Id="rId14" Type="http://schemas.openxmlformats.org/officeDocument/2006/relationships/image" Target="../media/image94.wmf"/><Relationship Id="rId13" Type="http://schemas.openxmlformats.org/officeDocument/2006/relationships/oleObject" Target="../embeddings/oleObject12.bin"/><Relationship Id="rId12" Type="http://schemas.openxmlformats.org/officeDocument/2006/relationships/image" Target="../media/image93.wmf"/><Relationship Id="rId11" Type="http://schemas.openxmlformats.org/officeDocument/2006/relationships/oleObject" Target="../embeddings/oleObject11.bin"/><Relationship Id="rId10" Type="http://schemas.openxmlformats.org/officeDocument/2006/relationships/image" Target="../media/image92.wmf"/><Relationship Id="rId1" Type="http://schemas.openxmlformats.org/officeDocument/2006/relationships/oleObject" Target="../embeddings/oleObject6.bin"/></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17.bin"/><Relationship Id="rId8" Type="http://schemas.openxmlformats.org/officeDocument/2006/relationships/image" Target="../media/image97.emf"/><Relationship Id="rId7" Type="http://schemas.openxmlformats.org/officeDocument/2006/relationships/oleObject" Target="../embeddings/oleObject16.bin"/><Relationship Id="rId6" Type="http://schemas.openxmlformats.org/officeDocument/2006/relationships/image" Target="../media/image96.emf"/><Relationship Id="rId5" Type="http://schemas.openxmlformats.org/officeDocument/2006/relationships/oleObject" Target="../embeddings/oleObject15.bin"/><Relationship Id="rId4" Type="http://schemas.openxmlformats.org/officeDocument/2006/relationships/image" Target="../media/image95.emf"/><Relationship Id="rId3" Type="http://schemas.openxmlformats.org/officeDocument/2006/relationships/oleObject" Target="../embeddings/oleObject14.bin"/><Relationship Id="rId2" Type="http://schemas.openxmlformats.org/officeDocument/2006/relationships/image" Target="../media/image88.wmf"/><Relationship Id="rId16" Type="http://schemas.openxmlformats.org/officeDocument/2006/relationships/vmlDrawing" Target="../drawings/vmlDrawing4.vml"/><Relationship Id="rId15" Type="http://schemas.openxmlformats.org/officeDocument/2006/relationships/slideLayout" Target="../slideLayouts/slideLayout18.xml"/><Relationship Id="rId14" Type="http://schemas.openxmlformats.org/officeDocument/2006/relationships/image" Target="../media/image100.wmf"/><Relationship Id="rId13" Type="http://schemas.openxmlformats.org/officeDocument/2006/relationships/oleObject" Target="../embeddings/oleObject19.bin"/><Relationship Id="rId12" Type="http://schemas.openxmlformats.org/officeDocument/2006/relationships/image" Target="../media/image99.emf"/><Relationship Id="rId11" Type="http://schemas.openxmlformats.org/officeDocument/2006/relationships/oleObject" Target="../embeddings/oleObject18.bin"/><Relationship Id="rId10" Type="http://schemas.openxmlformats.org/officeDocument/2006/relationships/image" Target="../media/image98.emf"/><Relationship Id="rId1" Type="http://schemas.openxmlformats.org/officeDocument/2006/relationships/oleObject" Target="../embeddings/oleObject13.bin"/></Relationships>
</file>

<file path=ppt/slides/_rels/slide58.xml.rels><?xml version="1.0" encoding="UTF-8" standalone="yes"?>
<Relationships xmlns="http://schemas.openxmlformats.org/package/2006/relationships"><Relationship Id="rId9" Type="http://schemas.openxmlformats.org/officeDocument/2006/relationships/image" Target="../media/image107.emf"/><Relationship Id="rId8" Type="http://schemas.openxmlformats.org/officeDocument/2006/relationships/image" Target="../media/image106.emf"/><Relationship Id="rId7" Type="http://schemas.openxmlformats.org/officeDocument/2006/relationships/image" Target="../media/image105.emf"/><Relationship Id="rId6" Type="http://schemas.openxmlformats.org/officeDocument/2006/relationships/image" Target="../media/image104.emf"/><Relationship Id="rId5" Type="http://schemas.openxmlformats.org/officeDocument/2006/relationships/image" Target="../media/image103.emf"/><Relationship Id="rId4" Type="http://schemas.openxmlformats.org/officeDocument/2006/relationships/image" Target="../media/image102.emf"/><Relationship Id="rId3" Type="http://schemas.openxmlformats.org/officeDocument/2006/relationships/image" Target="../media/image101.emf"/><Relationship Id="rId2" Type="http://schemas.openxmlformats.org/officeDocument/2006/relationships/image" Target="../media/image88.wmf"/><Relationship Id="rId14" Type="http://schemas.openxmlformats.org/officeDocument/2006/relationships/vmlDrawing" Target="../drawings/vmlDrawing5.vml"/><Relationship Id="rId13" Type="http://schemas.openxmlformats.org/officeDocument/2006/relationships/slideLayout" Target="../slideLayouts/slideLayout4.xml"/><Relationship Id="rId12" Type="http://schemas.openxmlformats.org/officeDocument/2006/relationships/image" Target="../media/image110.emf"/><Relationship Id="rId11" Type="http://schemas.openxmlformats.org/officeDocument/2006/relationships/image" Target="../media/image109.emf"/><Relationship Id="rId10" Type="http://schemas.openxmlformats.org/officeDocument/2006/relationships/image" Target="../media/image108.emf"/><Relationship Id="rId1" Type="http://schemas.openxmlformats.org/officeDocument/2006/relationships/oleObject" Target="../embeddings/oleObject20.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25.bin"/><Relationship Id="rId8" Type="http://schemas.openxmlformats.org/officeDocument/2006/relationships/image" Target="../media/image113.wmf"/><Relationship Id="rId7" Type="http://schemas.openxmlformats.org/officeDocument/2006/relationships/oleObject" Target="../embeddings/oleObject24.bin"/><Relationship Id="rId6" Type="http://schemas.openxmlformats.org/officeDocument/2006/relationships/image" Target="../media/image112.wmf"/><Relationship Id="rId5" Type="http://schemas.openxmlformats.org/officeDocument/2006/relationships/oleObject" Target="../embeddings/oleObject23.bin"/><Relationship Id="rId4" Type="http://schemas.openxmlformats.org/officeDocument/2006/relationships/image" Target="../media/image111.wmf"/><Relationship Id="rId3" Type="http://schemas.openxmlformats.org/officeDocument/2006/relationships/oleObject" Target="../embeddings/oleObject22.bin"/><Relationship Id="rId2" Type="http://schemas.openxmlformats.org/officeDocument/2006/relationships/image" Target="../media/image88.wmf"/><Relationship Id="rId14" Type="http://schemas.openxmlformats.org/officeDocument/2006/relationships/vmlDrawing" Target="../drawings/vmlDrawing6.vml"/><Relationship Id="rId13" Type="http://schemas.openxmlformats.org/officeDocument/2006/relationships/slideLayout" Target="../slideLayouts/slideLayout18.xml"/><Relationship Id="rId12" Type="http://schemas.openxmlformats.org/officeDocument/2006/relationships/image" Target="../media/image115.wmf"/><Relationship Id="rId11" Type="http://schemas.openxmlformats.org/officeDocument/2006/relationships/oleObject" Target="../embeddings/oleObject26.bin"/><Relationship Id="rId10" Type="http://schemas.openxmlformats.org/officeDocument/2006/relationships/image" Target="../media/image114.wmf"/><Relationship Id="rId1" Type="http://schemas.openxmlformats.org/officeDocument/2006/relationships/oleObject" Target="../embeddings/oleObject21.bin"/></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17.png"/><Relationship Id="rId1" Type="http://schemas.openxmlformats.org/officeDocument/2006/relationships/image" Target="../media/image116.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8.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8.xml"/><Relationship Id="rId2" Type="http://schemas.openxmlformats.org/officeDocument/2006/relationships/image" Target="../media/image120.png"/><Relationship Id="rId1" Type="http://schemas.openxmlformats.org/officeDocument/2006/relationships/image" Target="../media/image119.png"/></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8.xml"/><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image" Target="../media/image121.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25.emf"/><Relationship Id="rId1" Type="http://schemas.openxmlformats.org/officeDocument/2006/relationships/image" Target="../media/image124.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26.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28.png"/><Relationship Id="rId1" Type="http://schemas.openxmlformats.org/officeDocument/2006/relationships/image" Target="../media/image127.emf"/></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9.png"/></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3.png"/><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image" Target="../media/image130.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image" Target="../media/image134.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8.png"/><Relationship Id="rId1" Type="http://schemas.openxmlformats.org/officeDocument/2006/relationships/image" Target="../media/image137.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9.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8.png"/><Relationship Id="rId1" Type="http://schemas.openxmlformats.org/officeDocument/2006/relationships/image" Target="../media/image14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1.png"/></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42.emf"/><Relationship Id="rId1" Type="http://schemas.openxmlformats.org/officeDocument/2006/relationships/package" Target="../embeddings/Workbook1.xlsx"/></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4.png"/><Relationship Id="rId1" Type="http://schemas.openxmlformats.org/officeDocument/2006/relationships/image" Target="../media/image143.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145.png"/><Relationship Id="rId1" Type="http://schemas.openxmlformats.org/officeDocument/2006/relationships/hyperlink" Target="https://zcglc.fudan.edu.cn/" TargetMode="Externa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3"/>
          <p:cNvSpPr>
            <a:spLocks noGrp="1"/>
          </p:cNvSpPr>
          <p:nvPr>
            <p:ph type="ctrTitle"/>
          </p:nvPr>
        </p:nvSpPr>
        <p:spPr>
          <a:xfrm>
            <a:off x="2209800" y="1052736"/>
            <a:ext cx="7772400" cy="1470025"/>
          </a:xfrm>
        </p:spPr>
        <p:txBody>
          <a:bodyPr/>
          <a:lstStyle/>
          <a:p>
            <a:pPr eaLnBrk="1" hangingPunct="1"/>
            <a:r>
              <a:rPr lang="zh-CN" altLang="en-US" sz="8800" b="1" dirty="0">
                <a:solidFill>
                  <a:schemeClr val="bg1"/>
                </a:solidFill>
                <a:latin typeface="微软雅黑" panose="020B0503020204020204" pitchFamily="34" charset="-122"/>
                <a:ea typeface="微软雅黑" panose="020B0503020204020204" pitchFamily="34" charset="-122"/>
              </a:rPr>
              <a:t>基础物理实验</a:t>
            </a:r>
            <a:endParaRPr lang="zh-CN" altLang="en-US" sz="8800" b="1" dirty="0">
              <a:solidFill>
                <a:schemeClr val="bg1"/>
              </a:solidFill>
              <a:latin typeface="微软雅黑" panose="020B0503020204020204" pitchFamily="34" charset="-122"/>
              <a:ea typeface="微软雅黑" panose="020B0503020204020204" pitchFamily="34" charset="-122"/>
            </a:endParaRPr>
          </a:p>
        </p:txBody>
      </p:sp>
      <p:sp>
        <p:nvSpPr>
          <p:cNvPr id="5" name="副标题 4"/>
          <p:cNvSpPr>
            <a:spLocks noGrp="1"/>
          </p:cNvSpPr>
          <p:nvPr>
            <p:ph type="subTitle" idx="1"/>
          </p:nvPr>
        </p:nvSpPr>
        <p:spPr>
          <a:xfrm>
            <a:off x="1271464" y="3501009"/>
            <a:ext cx="9649072" cy="2016224"/>
          </a:xfrm>
        </p:spPr>
        <p:txBody>
          <a:bodyPr rtlCol="0" anchor="ctr" anchorCtr="0">
            <a:normAutofit fontScale="97500"/>
          </a:bodyPr>
          <a:lstStyle/>
          <a:p>
            <a:pPr algn="ctr" eaLnBrk="1" fontAlgn="auto" hangingPunct="1">
              <a:lnSpc>
                <a:spcPts val="2000"/>
              </a:lnSpc>
              <a:spcBef>
                <a:spcPts val="2400"/>
              </a:spcBef>
              <a:spcAft>
                <a:spcPts val="2400"/>
              </a:spcAft>
              <a:defRPr/>
            </a:pPr>
            <a:r>
              <a:rPr lang="zh-CN" altLang="en-US" sz="5100" dirty="0">
                <a:solidFill>
                  <a:schemeClr val="bg1"/>
                </a:solidFill>
                <a:latin typeface="微软雅黑" panose="020B0503020204020204" pitchFamily="34" charset="-122"/>
                <a:ea typeface="微软雅黑" panose="020B0503020204020204" pitchFamily="34" charset="-122"/>
              </a:rPr>
              <a:t>绪论 二</a:t>
            </a:r>
            <a:endParaRPr lang="en-US" altLang="zh-CN" sz="4000" dirty="0">
              <a:solidFill>
                <a:schemeClr val="bg1"/>
              </a:solidFill>
              <a:latin typeface="微软雅黑" panose="020B0503020204020204" pitchFamily="34" charset="-122"/>
              <a:ea typeface="微软雅黑" panose="020B0503020204020204" pitchFamily="34" charset="-122"/>
            </a:endParaRPr>
          </a:p>
          <a:p>
            <a:pPr algn="ctr" eaLnBrk="1" fontAlgn="auto" hangingPunct="1">
              <a:lnSpc>
                <a:spcPts val="2000"/>
              </a:lnSpc>
              <a:spcAft>
                <a:spcPts val="0"/>
              </a:spcAft>
              <a:defRPr/>
            </a:pPr>
            <a:r>
              <a:rPr lang="zh-CN" altLang="en-US" sz="3600" dirty="0">
                <a:solidFill>
                  <a:schemeClr val="bg1"/>
                </a:solidFill>
                <a:latin typeface="微软雅黑" panose="020B0503020204020204" pitchFamily="34" charset="-122"/>
                <a:ea typeface="微软雅黑" panose="020B0503020204020204" pitchFamily="34" charset="-122"/>
              </a:rPr>
              <a:t>复旦大学物理教学实验中心</a:t>
            </a:r>
            <a:endParaRPr lang="en-US" altLang="zh-CN" sz="36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588743" y="5661248"/>
            <a:ext cx="5014514" cy="523220"/>
          </a:xfrm>
          <a:prstGeom prst="rect">
            <a:avLst/>
          </a:prstGeom>
          <a:noFill/>
        </p:spPr>
        <p:txBody>
          <a:bodyPr wrap="none" rtlCol="0">
            <a:spAutoFit/>
          </a:bodyPr>
          <a:lstStyle/>
          <a:p>
            <a:r>
              <a:rPr lang="en-US" altLang="zh-CN" sz="2800" dirty="0">
                <a:solidFill>
                  <a:schemeClr val="bg1"/>
                </a:solidFill>
              </a:rPr>
              <a:t>http://phylab.fudan.edu.cn</a:t>
            </a:r>
            <a:endParaRPr lang="zh-CN" altLang="en-US" sz="28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
          <p:cNvSpPr>
            <a:spLocks noGrp="1"/>
          </p:cNvSpPr>
          <p:nvPr>
            <p:ph type="title"/>
          </p:nvPr>
        </p:nvSpPr>
        <p:spPr/>
        <p:txBody>
          <a:bodyPr/>
          <a:lstStyle/>
          <a:p>
            <a:pPr algn="l"/>
            <a:r>
              <a:rPr lang="zh-CN" altLang="en-US" sz="6000" b="1" dirty="0">
                <a:solidFill>
                  <a:schemeClr val="bg1"/>
                </a:solidFill>
                <a:latin typeface="微软雅黑" panose="020B0503020204020204" pitchFamily="34" charset="-122"/>
                <a:ea typeface="微软雅黑" panose="020B0503020204020204" pitchFamily="34" charset="-122"/>
                <a:sym typeface="+mn-ea"/>
              </a:rPr>
              <a:t>你将学习以下内容：</a:t>
            </a:r>
            <a:endParaRPr lang="zh-CN" altLang="en-US" sz="6000" b="1" dirty="0">
              <a:latin typeface="微软雅黑" panose="020B0503020204020204" pitchFamily="34" charset="-122"/>
              <a:ea typeface="微软雅黑" panose="020B0503020204020204" pitchFamily="34" charset="-122"/>
            </a:endParaRPr>
          </a:p>
        </p:txBody>
      </p:sp>
      <p:sp>
        <p:nvSpPr>
          <p:cNvPr id="29699" name="内容占位符 2"/>
          <p:cNvSpPr>
            <a:spLocks noGrp="1"/>
          </p:cNvSpPr>
          <p:nvPr>
            <p:ph idx="1"/>
          </p:nvPr>
        </p:nvSpPr>
        <p:spPr>
          <a:xfrm>
            <a:off x="875201" y="1853248"/>
            <a:ext cx="8946541" cy="4195481"/>
          </a:xfrm>
        </p:spPr>
        <p:txBody>
          <a:bodyPr>
            <a:normAutofit/>
          </a:bodyPr>
          <a:lstStyle/>
          <a:p>
            <a:pPr marL="742950" indent="-742950" eaLnBrk="1" hangingPunct="1">
              <a:buClrTx/>
              <a:buFont typeface="+mj-lt"/>
              <a:buAutoNum type="arabicPeriod"/>
            </a:pPr>
            <a:r>
              <a:rPr lang="zh-CN" altLang="en-US" sz="2800" dirty="0">
                <a:solidFill>
                  <a:schemeClr val="bg1"/>
                </a:solidFill>
                <a:latin typeface="微软雅黑" panose="020B0503020204020204" pitchFamily="34" charset="-122"/>
                <a:ea typeface="微软雅黑" panose="020B0503020204020204" pitchFamily="34" charset="-122"/>
              </a:rPr>
              <a:t>为什么要进行数据处理</a:t>
            </a:r>
            <a:endParaRPr lang="en-US" altLang="zh-CN" sz="2800" dirty="0">
              <a:solidFill>
                <a:schemeClr val="bg1"/>
              </a:solidFill>
              <a:latin typeface="微软雅黑" panose="020B0503020204020204" pitchFamily="34" charset="-122"/>
              <a:ea typeface="微软雅黑" panose="020B0503020204020204" pitchFamily="34" charset="-122"/>
            </a:endParaRPr>
          </a:p>
          <a:p>
            <a:pPr marL="742950" indent="-742950" eaLnBrk="1" hangingPunct="1">
              <a:buClrTx/>
              <a:buFont typeface="+mj-lt"/>
              <a:buAutoNum type="arabicPeriod"/>
            </a:pPr>
            <a:r>
              <a:rPr lang="zh-CN" altLang="en-US" sz="2800" dirty="0">
                <a:solidFill>
                  <a:schemeClr val="bg1"/>
                </a:solidFill>
                <a:latin typeface="微软雅黑" panose="020B0503020204020204" pitchFamily="34" charset="-122"/>
                <a:ea typeface="微软雅黑" panose="020B0503020204020204" pitchFamily="34" charset="-122"/>
              </a:rPr>
              <a:t>有效数字及运算规则</a:t>
            </a:r>
            <a:endParaRPr lang="zh-CN" altLang="en-US" sz="2800" dirty="0">
              <a:solidFill>
                <a:schemeClr val="bg1"/>
              </a:solidFill>
              <a:latin typeface="微软雅黑" panose="020B0503020204020204" pitchFamily="34" charset="-122"/>
              <a:ea typeface="微软雅黑" panose="020B0503020204020204" pitchFamily="34" charset="-122"/>
            </a:endParaRPr>
          </a:p>
          <a:p>
            <a:pPr marL="742950" indent="-742950" eaLnBrk="1" hangingPunct="1">
              <a:buClrTx/>
              <a:buFont typeface="+mj-lt"/>
              <a:buAutoNum type="arabicPeriod"/>
            </a:pPr>
            <a:r>
              <a:rPr lang="zh-CN" altLang="en-US" sz="2800" dirty="0">
                <a:solidFill>
                  <a:schemeClr val="bg1"/>
                </a:solidFill>
                <a:latin typeface="微软雅黑" panose="020B0503020204020204" pitchFamily="34" charset="-122"/>
                <a:ea typeface="微软雅黑" panose="020B0503020204020204" pitchFamily="34" charset="-122"/>
              </a:rPr>
              <a:t>不确定度的评定</a:t>
            </a:r>
            <a:endParaRPr lang="en-US" altLang="zh-CN" sz="2800" dirty="0">
              <a:solidFill>
                <a:schemeClr val="bg1"/>
              </a:solidFill>
              <a:latin typeface="微软雅黑" panose="020B0503020204020204" pitchFamily="34" charset="-122"/>
              <a:ea typeface="微软雅黑" panose="020B0503020204020204" pitchFamily="34" charset="-122"/>
            </a:endParaRPr>
          </a:p>
          <a:p>
            <a:pPr marL="742950" indent="-742950" eaLnBrk="1" hangingPunct="1">
              <a:buClrTx/>
              <a:buFont typeface="+mj-lt"/>
              <a:buAutoNum type="arabicPeriod"/>
            </a:pPr>
            <a:r>
              <a:rPr lang="zh-CN" altLang="en-US" sz="2800" dirty="0">
                <a:solidFill>
                  <a:schemeClr val="bg1"/>
                </a:solidFill>
                <a:latin typeface="微软雅黑" panose="020B0503020204020204" pitchFamily="34" charset="-122"/>
                <a:ea typeface="微软雅黑" panose="020B0503020204020204" pitchFamily="34" charset="-122"/>
              </a:rPr>
              <a:t>作图</a:t>
            </a:r>
            <a:endParaRPr lang="en-US" altLang="zh-CN" sz="2800" dirty="0">
              <a:solidFill>
                <a:schemeClr val="bg1"/>
              </a:solidFill>
              <a:latin typeface="微软雅黑" panose="020B0503020204020204" pitchFamily="34" charset="-122"/>
              <a:ea typeface="微软雅黑" panose="020B0503020204020204" pitchFamily="34" charset="-122"/>
            </a:endParaRPr>
          </a:p>
          <a:p>
            <a:pPr marL="742950" indent="-742950" eaLnBrk="1" hangingPunct="1">
              <a:buClrTx/>
              <a:buFont typeface="+mj-lt"/>
              <a:buAutoNum type="arabicPeriod"/>
            </a:pPr>
            <a:r>
              <a:rPr lang="zh-CN" altLang="en-US" sz="2800" dirty="0">
                <a:solidFill>
                  <a:schemeClr val="bg1"/>
                </a:solidFill>
                <a:latin typeface="微软雅黑" panose="020B0503020204020204" pitchFamily="34" charset="-122"/>
                <a:ea typeface="微软雅黑" panose="020B0503020204020204" pitchFamily="34" charset="-122"/>
              </a:rPr>
              <a:t>最小二乘法</a:t>
            </a:r>
            <a:endParaRPr lang="en-US" altLang="zh-CN" sz="2800" dirty="0">
              <a:solidFill>
                <a:schemeClr val="bg1"/>
              </a:solidFill>
              <a:latin typeface="微软雅黑" panose="020B0503020204020204" pitchFamily="34" charset="-122"/>
              <a:ea typeface="微软雅黑" panose="020B0503020204020204" pitchFamily="34" charset="-122"/>
            </a:endParaRPr>
          </a:p>
          <a:p>
            <a:pPr marL="742950" indent="-742950" eaLnBrk="1" hangingPunct="1">
              <a:buClrTx/>
              <a:buFont typeface="+mj-lt"/>
              <a:buAutoNum type="arabicPeriod"/>
            </a:pPr>
            <a:r>
              <a:rPr lang="zh-CN" altLang="en-US" sz="2800" dirty="0">
                <a:solidFill>
                  <a:schemeClr val="bg1"/>
                </a:solidFill>
                <a:latin typeface="微软雅黑" panose="020B0503020204020204" pitchFamily="34" charset="-122"/>
                <a:ea typeface="微软雅黑" panose="020B0503020204020204" pitchFamily="34" charset="-122"/>
              </a:rPr>
              <a:t>用</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origin</a:t>
            </a:r>
            <a:r>
              <a:rPr lang="zh-CN" altLang="en-US" sz="2800" dirty="0">
                <a:solidFill>
                  <a:schemeClr val="bg1"/>
                </a:solidFill>
                <a:latin typeface="微软雅黑" panose="020B0503020204020204" pitchFamily="34" charset="-122"/>
                <a:ea typeface="微软雅黑" panose="020B0503020204020204" pitchFamily="34" charset="-122"/>
              </a:rPr>
              <a:t>和</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excel</a:t>
            </a:r>
            <a:r>
              <a:rPr lang="zh-CN" altLang="en-US" sz="2800" dirty="0">
                <a:solidFill>
                  <a:schemeClr val="bg1"/>
                </a:solidFill>
                <a:latin typeface="微软雅黑" panose="020B0503020204020204" pitchFamily="34" charset="-122"/>
                <a:ea typeface="微软雅黑" panose="020B0503020204020204" pitchFamily="34" charset="-122"/>
              </a:rPr>
              <a:t>作线性拟合</a:t>
            </a:r>
            <a:endParaRPr lang="en-US" altLang="zh-CN" sz="2800" dirty="0">
              <a:solidFill>
                <a:schemeClr val="bg1"/>
              </a:solidFill>
              <a:latin typeface="微软雅黑" panose="020B0503020204020204" pitchFamily="34" charset="-122"/>
              <a:ea typeface="微软雅黑" panose="020B0503020204020204" pitchFamily="34" charset="-122"/>
            </a:endParaRPr>
          </a:p>
          <a:p>
            <a:pPr marL="742950" indent="-742950" eaLnBrk="1" hangingPunct="1">
              <a:buClrTx/>
              <a:buFont typeface="+mj-lt"/>
              <a:buAutoNum type="arabicPeriod"/>
            </a:pPr>
            <a:r>
              <a:rPr lang="zh-CN" altLang="en-US" sz="2800" dirty="0">
                <a:solidFill>
                  <a:schemeClr val="bg1"/>
                </a:solidFill>
                <a:latin typeface="微软雅黑" panose="020B0503020204020204" pitchFamily="34" charset="-122"/>
                <a:ea typeface="微软雅黑" panose="020B0503020204020204" pitchFamily="34" charset="-122"/>
              </a:rPr>
              <a:t>下周课程安排</a:t>
            </a:r>
            <a:endParaRPr lang="zh-CN" altLang="en-US" sz="2800" dirty="0">
              <a:solidFill>
                <a:schemeClr val="bg1"/>
              </a:solidFill>
              <a:latin typeface="微软雅黑" panose="020B0503020204020204" pitchFamily="34" charset="-122"/>
              <a:ea typeface="微软雅黑" panose="020B0503020204020204" pitchFamily="34" charset="-122"/>
            </a:endParaRPr>
          </a:p>
          <a:p>
            <a:pPr marL="742950" indent="-742950" eaLnBrk="1" hangingPunct="1">
              <a:buClrTx/>
              <a:buFont typeface="+mj-lt"/>
              <a:buAutoNum type="arabicPeriod"/>
            </a:pPr>
            <a:endParaRPr lang="zh-CN" altLang="en-US" sz="2800" dirty="0">
              <a:solidFill>
                <a:schemeClr val="bg1"/>
              </a:solidFill>
              <a:latin typeface="微软雅黑" panose="020B0503020204020204" pitchFamily="34" charset="-122"/>
              <a:ea typeface="微软雅黑" panose="020B0503020204020204" pitchFamily="34" charset="-122"/>
            </a:endParaRPr>
          </a:p>
          <a:p>
            <a:pPr marL="514350" indent="-514350" eaLnBrk="1" hangingPunct="1">
              <a:buClrTx/>
              <a:buFont typeface="+mj-lt"/>
              <a:buAutoNum type="arabicPeriod"/>
            </a:pPr>
            <a:endParaRPr lang="zh-CN" altLang="en-US" sz="28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A54D9D6D-0819-48BE-809C-2A51D04D71F0}"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idx="4294967295"/>
          </p:nvPr>
        </p:nvSpPr>
        <p:spPr>
          <a:xfrm>
            <a:off x="6842225" y="1143000"/>
            <a:ext cx="4489251" cy="1770707"/>
          </a:xfrm>
          <a:noFill/>
          <a:ln w="57150">
            <a:solidFill>
              <a:srgbClr val="00B0F0"/>
            </a:solidFill>
            <a:miter lim="800000"/>
          </a:ln>
        </p:spPr>
        <p:txBody>
          <a:bodyPr vert="horz" wrap="square" lIns="91440" tIns="45720" rIns="91440" bIns="45720" numCol="1" anchor="ctr" anchorCtr="0" compatLnSpc="1"/>
          <a:lstStyle/>
          <a:p>
            <a:pPr eaLnBrk="1" hangingPunct="1">
              <a:lnSpc>
                <a:spcPct val="150000"/>
              </a:lnSpc>
            </a:pPr>
            <a:r>
              <a:rPr lang="zh-CN" altLang="en-US" sz="3600" b="1" dirty="0">
                <a:solidFill>
                  <a:schemeClr val="bg1"/>
                </a:solidFill>
                <a:latin typeface="微软雅黑" panose="020B0503020204020204" pitchFamily="34" charset="-122"/>
                <a:ea typeface="微软雅黑" panose="020B0503020204020204" pitchFamily="34" charset="-122"/>
              </a:rPr>
              <a:t>正确 </a:t>
            </a:r>
            <a:r>
              <a:rPr lang="zh-CN" altLang="en-US" sz="3600" b="1" dirty="0">
                <a:solidFill>
                  <a:srgbClr val="FF0000"/>
                </a:solidFill>
                <a:latin typeface="微软雅黑" panose="020B0503020204020204" pitchFamily="34" charset="-122"/>
                <a:ea typeface="微软雅黑" panose="020B0503020204020204" pitchFamily="34" charset="-122"/>
              </a:rPr>
              <a:t>理解</a:t>
            </a:r>
            <a:r>
              <a:rPr lang="zh-CN" altLang="en-US" sz="3600" b="1" dirty="0">
                <a:solidFill>
                  <a:schemeClr val="bg1"/>
                </a:solidFill>
                <a:latin typeface="微软雅黑" panose="020B0503020204020204" pitchFamily="34" charset="-122"/>
                <a:ea typeface="微软雅黑" panose="020B0503020204020204" pitchFamily="34" charset="-122"/>
              </a:rPr>
              <a:t> 有效数字！</a:t>
            </a:r>
            <a:br>
              <a:rPr lang="en-US" altLang="zh-CN" sz="3600" b="1" dirty="0">
                <a:solidFill>
                  <a:schemeClr val="bg1"/>
                </a:solidFill>
                <a:latin typeface="微软雅黑" panose="020B0503020204020204" pitchFamily="34" charset="-122"/>
                <a:ea typeface="微软雅黑" panose="020B0503020204020204" pitchFamily="34" charset="-122"/>
              </a:rPr>
            </a:br>
            <a:r>
              <a:rPr lang="zh-CN" altLang="en-US" sz="3600" b="1" dirty="0">
                <a:solidFill>
                  <a:schemeClr val="bg1"/>
                </a:solidFill>
                <a:latin typeface="微软雅黑" panose="020B0503020204020204" pitchFamily="34" charset="-122"/>
                <a:ea typeface="微软雅黑" panose="020B0503020204020204" pitchFamily="34" charset="-122"/>
              </a:rPr>
              <a:t>正确 </a:t>
            </a:r>
            <a:r>
              <a:rPr lang="zh-CN" altLang="en-US" sz="3600" b="1" dirty="0">
                <a:solidFill>
                  <a:srgbClr val="FF0000"/>
                </a:solidFill>
                <a:latin typeface="微软雅黑" panose="020B0503020204020204" pitchFamily="34" charset="-122"/>
                <a:ea typeface="微软雅黑" panose="020B0503020204020204" pitchFamily="34" charset="-122"/>
              </a:rPr>
              <a:t>表示</a:t>
            </a:r>
            <a:r>
              <a:rPr lang="zh-CN" altLang="en-US" sz="3600" b="1" dirty="0">
                <a:solidFill>
                  <a:schemeClr val="bg1"/>
                </a:solidFill>
                <a:latin typeface="微软雅黑" panose="020B0503020204020204" pitchFamily="34" charset="-122"/>
                <a:ea typeface="微软雅黑" panose="020B0503020204020204" pitchFamily="34" charset="-122"/>
              </a:rPr>
              <a:t> 有效数字</a:t>
            </a:r>
            <a:r>
              <a:rPr lang="en-US" altLang="zh-CN" sz="3600" b="1" dirty="0">
                <a:solidFill>
                  <a:schemeClr val="bg1"/>
                </a:solidFill>
                <a:latin typeface="微软雅黑" panose="020B0503020204020204" pitchFamily="34" charset="-122"/>
                <a:ea typeface="微软雅黑" panose="020B0503020204020204" pitchFamily="34" charset="-122"/>
              </a:rPr>
              <a:t>!</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3555" name="内容占位符 2"/>
          <p:cNvSpPr>
            <a:spLocks noGrp="1"/>
          </p:cNvSpPr>
          <p:nvPr>
            <p:ph idx="4294967295"/>
          </p:nvPr>
        </p:nvSpPr>
        <p:spPr>
          <a:xfrm>
            <a:off x="0" y="2097088"/>
            <a:ext cx="4906963" cy="803275"/>
          </a:xfrm>
        </p:spPr>
        <p:txBody>
          <a:body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rPr>
              <a:t>测量一个物体的厚度</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6" name="TextBox 15"/>
          <p:cNvSpPr txBox="1"/>
          <p:nvPr/>
        </p:nvSpPr>
        <p:spPr>
          <a:xfrm>
            <a:off x="860524" y="2813570"/>
            <a:ext cx="2149948" cy="2799036"/>
          </a:xfrm>
          <a:prstGeom prst="rect">
            <a:avLst/>
          </a:prstGeom>
          <a:noFill/>
        </p:spPr>
        <p:txBody>
          <a:bodyPr wrap="none">
            <a:spAutoFit/>
          </a:bodyPr>
          <a:lstStyle/>
          <a:p>
            <a:pPr>
              <a:lnSpc>
                <a:spcPct val="125000"/>
              </a:lnSpc>
              <a:defRPr/>
            </a:pPr>
            <a:r>
              <a:rPr lang="en-US" altLang="zh-CN" sz="3600" b="1" dirty="0">
                <a:solidFill>
                  <a:schemeClr val="bg1"/>
                </a:solidFill>
                <a:latin typeface="微软雅黑" panose="020B0503020204020204" pitchFamily="34" charset="-122"/>
                <a:ea typeface="微软雅黑" panose="020B0503020204020204" pitchFamily="34" charset="-122"/>
              </a:rPr>
              <a:t>2cm</a:t>
            </a:r>
            <a:endParaRPr lang="en-US" altLang="zh-CN" sz="3600" b="1" dirty="0">
              <a:solidFill>
                <a:schemeClr val="bg1"/>
              </a:solidFill>
              <a:latin typeface="微软雅黑" panose="020B0503020204020204" pitchFamily="34" charset="-122"/>
              <a:ea typeface="微软雅黑" panose="020B0503020204020204" pitchFamily="34" charset="-122"/>
            </a:endParaRPr>
          </a:p>
          <a:p>
            <a:pPr>
              <a:lnSpc>
                <a:spcPct val="125000"/>
              </a:lnSpc>
              <a:defRPr/>
            </a:pPr>
            <a:r>
              <a:rPr lang="en-US" altLang="zh-CN" sz="3600" b="1" dirty="0">
                <a:solidFill>
                  <a:schemeClr val="bg1"/>
                </a:solidFill>
                <a:latin typeface="微软雅黑" panose="020B0503020204020204" pitchFamily="34" charset="-122"/>
                <a:ea typeface="微软雅黑" panose="020B0503020204020204" pitchFamily="34" charset="-122"/>
              </a:rPr>
              <a:t>2.0cm</a:t>
            </a:r>
            <a:endParaRPr lang="en-US" altLang="zh-CN" sz="3600" b="1" dirty="0">
              <a:solidFill>
                <a:schemeClr val="bg1"/>
              </a:solidFill>
              <a:latin typeface="微软雅黑" panose="020B0503020204020204" pitchFamily="34" charset="-122"/>
              <a:ea typeface="微软雅黑" panose="020B0503020204020204" pitchFamily="34" charset="-122"/>
            </a:endParaRPr>
          </a:p>
          <a:p>
            <a:pPr>
              <a:lnSpc>
                <a:spcPct val="125000"/>
              </a:lnSpc>
              <a:defRPr/>
            </a:pPr>
            <a:r>
              <a:rPr lang="en-US" altLang="zh-CN" sz="3600" b="1" dirty="0">
                <a:solidFill>
                  <a:schemeClr val="bg1"/>
                </a:solidFill>
                <a:latin typeface="微软雅黑" panose="020B0503020204020204" pitchFamily="34" charset="-122"/>
                <a:ea typeface="微软雅黑" panose="020B0503020204020204" pitchFamily="34" charset="-122"/>
              </a:rPr>
              <a:t>2.00cm</a:t>
            </a:r>
            <a:endParaRPr lang="en-US" altLang="zh-CN" sz="3600" b="1" dirty="0">
              <a:solidFill>
                <a:schemeClr val="bg1"/>
              </a:solidFill>
              <a:latin typeface="微软雅黑" panose="020B0503020204020204" pitchFamily="34" charset="-122"/>
              <a:ea typeface="微软雅黑" panose="020B0503020204020204" pitchFamily="34" charset="-122"/>
            </a:endParaRPr>
          </a:p>
          <a:p>
            <a:pPr>
              <a:lnSpc>
                <a:spcPct val="125000"/>
              </a:lnSpc>
              <a:defRPr/>
            </a:pPr>
            <a:r>
              <a:rPr lang="en-US" altLang="zh-CN" sz="3600" b="1" dirty="0">
                <a:solidFill>
                  <a:schemeClr val="bg1"/>
                </a:solidFill>
                <a:latin typeface="微软雅黑" panose="020B0503020204020204" pitchFamily="34" charset="-122"/>
                <a:ea typeface="微软雅黑" panose="020B0503020204020204" pitchFamily="34" charset="-122"/>
              </a:rPr>
              <a:t>2.000cm</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17" name="右大括号 16"/>
          <p:cNvSpPr/>
          <p:nvPr/>
        </p:nvSpPr>
        <p:spPr>
          <a:xfrm>
            <a:off x="3075086" y="3099320"/>
            <a:ext cx="285750" cy="2286000"/>
          </a:xfrm>
          <a:prstGeom prst="rightBrace">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8" name="TextBox 17"/>
          <p:cNvSpPr txBox="1"/>
          <p:nvPr/>
        </p:nvSpPr>
        <p:spPr>
          <a:xfrm>
            <a:off x="3503712" y="3956571"/>
            <a:ext cx="3057525" cy="523875"/>
          </a:xfrm>
          <a:prstGeom prst="rect">
            <a:avLst/>
          </a:prstGeom>
          <a:noFill/>
        </p:spPr>
        <p:txBody>
          <a:bodyPr wrap="none">
            <a:spAutoFit/>
          </a:bodyPr>
          <a:lstStyle/>
          <a:p>
            <a:pPr>
              <a:defRPr/>
            </a:pPr>
            <a:r>
              <a:rPr lang="zh-CN" altLang="en-US" sz="2800" b="1" dirty="0">
                <a:solidFill>
                  <a:srgbClr val="C00000"/>
                </a:solidFill>
                <a:latin typeface="微软雅黑" panose="020B0503020204020204" pitchFamily="34" charset="-122"/>
                <a:ea typeface="微软雅黑" panose="020B0503020204020204" pitchFamily="34" charset="-122"/>
              </a:rPr>
              <a:t>这些表达式不一样</a:t>
            </a:r>
            <a:endParaRPr lang="zh-CN" altLang="en-US" sz="2800" b="1" dirty="0">
              <a:solidFill>
                <a:srgbClr val="C00000"/>
              </a:solidFill>
              <a:latin typeface="微软雅黑" panose="020B0503020204020204" pitchFamily="34" charset="-122"/>
              <a:ea typeface="微软雅黑" panose="020B0503020204020204" pitchFamily="34" charset="-122"/>
            </a:endParaRPr>
          </a:p>
        </p:txBody>
      </p:sp>
      <p:sp>
        <p:nvSpPr>
          <p:cNvPr id="7"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1. </a:t>
            </a:r>
            <a:r>
              <a:rPr lang="zh-CN" altLang="en-US" sz="5400" b="1" dirty="0">
                <a:solidFill>
                  <a:schemeClr val="bg1"/>
                </a:solidFill>
                <a:latin typeface="微软雅黑" panose="020B0503020204020204" pitchFamily="34" charset="-122"/>
                <a:ea typeface="微软雅黑" panose="020B0503020204020204" pitchFamily="34" charset="-122"/>
              </a:rPr>
              <a:t>为什么要进行数据处理</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335360" y="1034147"/>
            <a:ext cx="6624736" cy="646331"/>
          </a:xfrm>
          <a:prstGeom prst="rect">
            <a:avLst/>
          </a:prstGeom>
          <a:noFill/>
        </p:spPr>
        <p:txBody>
          <a:bodyPr wrap="square" rtlCol="0">
            <a:spAutoFit/>
          </a:bodyPr>
          <a:lstStyle/>
          <a:p>
            <a:r>
              <a:rPr lang="zh-CN" altLang="en-US" sz="3600" b="1" dirty="0">
                <a:solidFill>
                  <a:srgbClr val="0070C0"/>
                </a:solidFill>
                <a:latin typeface="微软雅黑" panose="020B0503020204020204" pitchFamily="34" charset="-122"/>
                <a:ea typeface="微软雅黑" panose="020B0503020204020204" pitchFamily="34" charset="-122"/>
              </a:rPr>
              <a:t>数据处理中要注意的事情</a:t>
            </a:r>
            <a:endParaRPr lang="zh-CN" altLang="en-US" sz="3600" b="1" dirty="0">
              <a:solidFill>
                <a:srgbClr val="0070C0"/>
              </a:solidFill>
              <a:latin typeface="微软雅黑" panose="020B0503020204020204" pitchFamily="34" charset="-122"/>
              <a:ea typeface="微软雅黑" panose="020B0503020204020204" pitchFamily="34" charset="-122"/>
            </a:endParaRPr>
          </a:p>
        </p:txBody>
      </p:sp>
      <p:sp>
        <p:nvSpPr>
          <p:cNvPr id="10" name="标题 1"/>
          <p:cNvSpPr txBox="1"/>
          <p:nvPr/>
        </p:nvSpPr>
        <p:spPr bwMode="auto">
          <a:xfrm>
            <a:off x="6704113" y="3117576"/>
            <a:ext cx="4801157" cy="2854935"/>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eaLnBrk="1" hangingPunct="1">
              <a:lnSpc>
                <a:spcPct val="150000"/>
              </a:lnSpc>
            </a:pPr>
            <a:r>
              <a:rPr lang="zh-CN" altLang="en-US" sz="3200" b="1" dirty="0">
                <a:solidFill>
                  <a:srgbClr val="0070C0"/>
                </a:solidFill>
                <a:latin typeface="微软雅黑" panose="020B0503020204020204" pitchFamily="34" charset="-122"/>
                <a:ea typeface="微软雅黑" panose="020B0503020204020204" pitchFamily="34" charset="-122"/>
              </a:rPr>
              <a:t>测量结果</a:t>
            </a:r>
            <a:r>
              <a:rPr lang="zh-CN" altLang="en-US" sz="3200" b="1" dirty="0">
                <a:solidFill>
                  <a:schemeClr val="bg1"/>
                </a:solidFill>
                <a:latin typeface="微软雅黑" panose="020B0503020204020204" pitchFamily="34" charset="-122"/>
                <a:ea typeface="微软雅黑" panose="020B0503020204020204" pitchFamily="34" charset="-122"/>
              </a:rPr>
              <a:t>的有效数字</a:t>
            </a:r>
            <a:br>
              <a:rPr lang="en-US" altLang="zh-CN" sz="3200" b="1" dirty="0">
                <a:solidFill>
                  <a:schemeClr val="bg1"/>
                </a:solidFill>
                <a:latin typeface="微软雅黑" panose="020B0503020204020204" pitchFamily="34" charset="-122"/>
                <a:ea typeface="微软雅黑" panose="020B0503020204020204" pitchFamily="34" charset="-122"/>
              </a:rPr>
            </a:br>
            <a:r>
              <a:rPr lang="zh-CN" altLang="en-US" sz="3200" b="1" dirty="0">
                <a:solidFill>
                  <a:srgbClr val="0070C0"/>
                </a:solidFill>
                <a:latin typeface="微软雅黑" panose="020B0503020204020204" pitchFamily="34" charset="-122"/>
                <a:ea typeface="微软雅黑" panose="020B0503020204020204" pitchFamily="34" charset="-122"/>
              </a:rPr>
              <a:t>不确定度</a:t>
            </a:r>
            <a:r>
              <a:rPr lang="zh-CN" altLang="en-US" sz="3200" b="1" dirty="0">
                <a:solidFill>
                  <a:schemeClr val="bg1"/>
                </a:solidFill>
                <a:latin typeface="微软雅黑" panose="020B0503020204020204" pitchFamily="34" charset="-122"/>
                <a:ea typeface="微软雅黑" panose="020B0503020204020204" pitchFamily="34" charset="-122"/>
              </a:rPr>
              <a:t>的有效数字</a:t>
            </a:r>
            <a:endParaRPr lang="en-US" altLang="zh-CN" sz="3200" b="1" dirty="0">
              <a:solidFill>
                <a:schemeClr val="bg1"/>
              </a:solidFill>
              <a:latin typeface="微软雅黑" panose="020B0503020204020204" pitchFamily="34" charset="-122"/>
              <a:ea typeface="微软雅黑" panose="020B0503020204020204" pitchFamily="34" charset="-122"/>
            </a:endParaRPr>
          </a:p>
          <a:p>
            <a:pPr eaLnBrk="1" hangingPunct="1">
              <a:lnSpc>
                <a:spcPct val="150000"/>
              </a:lnSpc>
            </a:pPr>
            <a:r>
              <a:rPr lang="zh-CN" altLang="en-US" sz="3200" b="1" dirty="0">
                <a:solidFill>
                  <a:srgbClr val="0070C0"/>
                </a:solidFill>
                <a:latin typeface="微软雅黑" panose="020B0503020204020204" pitchFamily="34" charset="-122"/>
                <a:ea typeface="微软雅黑" panose="020B0503020204020204" pitchFamily="34" charset="-122"/>
              </a:rPr>
              <a:t>相对误差</a:t>
            </a:r>
            <a:r>
              <a:rPr lang="zh-CN" altLang="en-US" sz="3200" b="1" dirty="0">
                <a:solidFill>
                  <a:schemeClr val="bg1"/>
                </a:solidFill>
                <a:latin typeface="微软雅黑" panose="020B0503020204020204" pitchFamily="34" charset="-122"/>
                <a:ea typeface="微软雅黑" panose="020B0503020204020204" pitchFamily="34" charset="-122"/>
              </a:rPr>
              <a:t>的有效数字</a:t>
            </a:r>
            <a:endParaRPr lang="en-US" altLang="zh-CN" sz="3200" b="1" dirty="0">
              <a:solidFill>
                <a:schemeClr val="bg1"/>
              </a:solidFill>
              <a:latin typeface="微软雅黑" panose="020B0503020204020204" pitchFamily="34" charset="-122"/>
              <a:ea typeface="微软雅黑" panose="020B0503020204020204" pitchFamily="34" charset="-122"/>
            </a:endParaRPr>
          </a:p>
          <a:p>
            <a:pPr eaLnBrk="1" hangingPunct="1">
              <a:lnSpc>
                <a:spcPct val="150000"/>
              </a:lnSpc>
            </a:pPr>
            <a:r>
              <a:rPr lang="zh-CN" altLang="en-US" sz="3200" b="1" dirty="0">
                <a:solidFill>
                  <a:srgbClr val="0070C0"/>
                </a:solidFill>
                <a:latin typeface="微软雅黑" panose="020B0503020204020204" pitchFamily="34" charset="-122"/>
                <a:ea typeface="微软雅黑" panose="020B0503020204020204" pitchFamily="34" charset="-122"/>
              </a:rPr>
              <a:t>中间结果</a:t>
            </a:r>
            <a:r>
              <a:rPr lang="zh-CN" altLang="en-US" sz="3200" b="1" dirty="0">
                <a:solidFill>
                  <a:schemeClr val="bg1"/>
                </a:solidFill>
                <a:latin typeface="微软雅黑" panose="020B0503020204020204" pitchFamily="34" charset="-122"/>
                <a:ea typeface="微软雅黑" panose="020B0503020204020204" pitchFamily="34" charset="-122"/>
              </a:rPr>
              <a:t>的有效数字</a:t>
            </a:r>
            <a:endParaRPr lang="en-US" altLang="zh-CN" sz="3200" b="1" dirty="0">
              <a:solidFill>
                <a:schemeClr val="bg1"/>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3554"/>
                                        </p:tgtEl>
                                        <p:attrNameLst>
                                          <p:attrName>style.visibility</p:attrName>
                                        </p:attrNameLst>
                                      </p:cBhvr>
                                      <p:to>
                                        <p:strVal val="visible"/>
                                      </p:to>
                                    </p:set>
                                    <p:animEffect transition="in" filter="blinds(horizontal)">
                                      <p:cBhvr>
                                        <p:cTn id="13" dur="500"/>
                                        <p:tgtEl>
                                          <p:spTgt spid="2355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nimBg="1"/>
      <p:bldP spid="17" grpId="0" animBg="1"/>
      <p:bldP spid="1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1"/>
          <p:cNvSpPr>
            <a:spLocks noChangeArrowheads="1"/>
          </p:cNvSpPr>
          <p:nvPr/>
        </p:nvSpPr>
        <p:spPr bwMode="auto">
          <a:xfrm>
            <a:off x="335360" y="2937966"/>
            <a:ext cx="10886999" cy="3139321"/>
          </a:xfrm>
          <a:prstGeom prst="rect">
            <a:avLst/>
          </a:prstGeom>
          <a:noFill/>
          <a:ln w="9525">
            <a:noFill/>
            <a:miter lim="800000"/>
          </a:ln>
        </p:spPr>
        <p:txBody>
          <a:bodyPr wrap="square">
            <a:spAutoFit/>
          </a:bodyPr>
          <a:lstStyle/>
          <a:p>
            <a:pPr>
              <a:defRPr/>
            </a:pP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 famous instance</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 new index  the Vancouver Stock Exchange in 1982. </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spcBef>
                <a:spcPts val="1200"/>
              </a:spcBef>
              <a:defRPr/>
            </a:pP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Initially -- </a:t>
            </a:r>
            <a:r>
              <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1000.000</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after 22 mo. </a:t>
            </a: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520</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defRPr/>
            </a:pP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(but stock prices had generally increased)</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spcBef>
                <a:spcPts val="1200"/>
              </a:spcBef>
              <a:defRPr/>
            </a:pP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Problem?</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rounded down</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1000s times daily</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defRPr/>
            </a:pP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rounding </a:t>
            </a:r>
            <a:r>
              <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errors</a:t>
            </a:r>
            <a:r>
              <a:rPr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accumulated</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spcBef>
                <a:spcPts val="1200"/>
              </a:spcBef>
              <a:defRPr/>
            </a:pP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Recalculating</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 with better rounding </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defRPr/>
            </a:pP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 </a:t>
            </a:r>
            <a:r>
              <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1098.892</a:t>
            </a:r>
            <a:endParaRPr lang="en-US" altLang="zh-CN" sz="2400" b="1" baseline="30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627" name="矩形 2"/>
          <p:cNvSpPr>
            <a:spLocks noChangeArrowheads="1"/>
          </p:cNvSpPr>
          <p:nvPr/>
        </p:nvSpPr>
        <p:spPr bwMode="auto">
          <a:xfrm>
            <a:off x="13080776" y="1357312"/>
            <a:ext cx="8858250" cy="4247317"/>
          </a:xfrm>
          <a:prstGeom prst="rect">
            <a:avLst/>
          </a:prstGeom>
          <a:solidFill>
            <a:schemeClr val="bg1"/>
          </a:solidFill>
          <a:ln w="9525">
            <a:noFill/>
            <a:miter lim="800000"/>
          </a:ln>
        </p:spPr>
        <p:txBody>
          <a:bodyPr>
            <a:spAutoFit/>
          </a:bodyPr>
          <a:lstStyle/>
          <a:p>
            <a:r>
              <a:rPr lang="en-US" altLang="zh-CN" dirty="0">
                <a:solidFill>
                  <a:srgbClr val="000000"/>
                </a:solidFill>
              </a:rPr>
              <a:t>Where many calculations are done in sequence, the choice of rounding method can have a very significant effect on the result. A famous instance involved a new index set up by the Vancouver Stock Exchange in 1982. It was initially set at 1000.000 (three decimal places of accuracy), and after 22 months had fallen to about 520 — whereas stock prices had generally increased in the period. The problem was caused by the index being recalculated thousands of times daily, and always being rounded down to 3 decimal places, in such a way that the rounding errors accumulated. Recalculating with better rounding gave an index value of 1098.892 at the end of the same period.</a:t>
            </a:r>
            <a:r>
              <a:rPr lang="en-US" altLang="zh-CN" baseline="30000" dirty="0">
                <a:solidFill>
                  <a:srgbClr val="000000"/>
                </a:solidFill>
              </a:rPr>
              <a:t>[1]</a:t>
            </a:r>
            <a:endParaRPr lang="en-US" altLang="zh-CN" baseline="30000" dirty="0">
              <a:solidFill>
                <a:srgbClr val="000000"/>
              </a:solidFill>
            </a:endParaRPr>
          </a:p>
          <a:p>
            <a:r>
              <a:rPr lang="en-US" altLang="zh-CN" b="1" dirty="0">
                <a:solidFill>
                  <a:srgbClr val="000000"/>
                </a:solidFill>
                <a:hlinkClick r:id="rId1" action="ppaction://hlinkfile"/>
              </a:rPr>
              <a:t>^</a:t>
            </a:r>
            <a:r>
              <a:rPr lang="en-US" altLang="zh-CN" dirty="0">
                <a:solidFill>
                  <a:srgbClr val="000000"/>
                </a:solidFill>
              </a:rPr>
              <a:t> Nicholas J. </a:t>
            </a:r>
            <a:r>
              <a:rPr lang="en-US" altLang="zh-CN" dirty="0" err="1">
                <a:solidFill>
                  <a:srgbClr val="000000"/>
                </a:solidFill>
              </a:rPr>
              <a:t>Higham</a:t>
            </a:r>
            <a:r>
              <a:rPr lang="en-US" altLang="zh-CN" dirty="0">
                <a:solidFill>
                  <a:srgbClr val="000000"/>
                </a:solidFill>
              </a:rPr>
              <a:t> (2002). </a:t>
            </a:r>
            <a:r>
              <a:rPr lang="en-US" altLang="zh-CN" i="1" dirty="0">
                <a:solidFill>
                  <a:srgbClr val="000000"/>
                </a:solidFill>
              </a:rPr>
              <a:t>Accuracy and stability of numerical algorithms</a:t>
            </a:r>
            <a:r>
              <a:rPr lang="en-US" altLang="zh-CN" dirty="0">
                <a:solidFill>
                  <a:srgbClr val="000000"/>
                </a:solidFill>
              </a:rPr>
              <a:t>. p. 54. </a:t>
            </a:r>
            <a:r>
              <a:rPr lang="en-US" altLang="zh-CN" dirty="0">
                <a:solidFill>
                  <a:srgbClr val="000000"/>
                </a:solidFill>
                <a:hlinkClick r:id="rId2" tooltip="International Standard Book Number" action="ppaction://hlinkfile"/>
              </a:rPr>
              <a:t>ISBN</a:t>
            </a:r>
            <a:r>
              <a:rPr lang="en-US" altLang="zh-CN" dirty="0">
                <a:solidFill>
                  <a:srgbClr val="000000"/>
                </a:solidFill>
              </a:rPr>
              <a:t> </a:t>
            </a:r>
            <a:r>
              <a:rPr lang="en-US" altLang="zh-CN" dirty="0">
                <a:solidFill>
                  <a:srgbClr val="000000"/>
                </a:solidFill>
                <a:hlinkClick r:id="rId1" tooltip="Special:BookSources/978-0-89871-521-7" action="ppaction://hlinkfile"/>
              </a:rPr>
              <a:t>978-0-89871-521-7</a:t>
            </a:r>
            <a:endParaRPr lang="en-US" altLang="zh-CN" dirty="0">
              <a:solidFill>
                <a:srgbClr val="000000"/>
              </a:solidFill>
            </a:endParaRPr>
          </a:p>
          <a:p>
            <a:r>
              <a:rPr lang="zh-CN" altLang="en-US" b="1" dirty="0">
                <a:solidFill>
                  <a:srgbClr val="000000"/>
                </a:solidFill>
              </a:rPr>
              <a:t>讨论</a:t>
            </a:r>
            <a:r>
              <a:rPr lang="zh-CN" altLang="en-US" dirty="0">
                <a:solidFill>
                  <a:srgbClr val="000000"/>
                </a:solidFill>
              </a:rPr>
              <a:t>：为什么使用“</a:t>
            </a:r>
            <a:r>
              <a:rPr lang="en-US" altLang="zh-CN" b="1" dirty="0">
                <a:solidFill>
                  <a:srgbClr val="000000"/>
                </a:solidFill>
                <a:ea typeface="楷体_GB2312" pitchFamily="49" charset="-122"/>
              </a:rPr>
              <a:t>4</a:t>
            </a:r>
            <a:r>
              <a:rPr lang="zh-CN" altLang="en-US" b="1" dirty="0">
                <a:solidFill>
                  <a:srgbClr val="000000"/>
                </a:solidFill>
                <a:ea typeface="楷体_GB2312" pitchFamily="49" charset="-122"/>
              </a:rPr>
              <a:t>舍</a:t>
            </a:r>
            <a:r>
              <a:rPr lang="en-US" altLang="zh-CN" b="1" dirty="0">
                <a:solidFill>
                  <a:srgbClr val="000000"/>
                </a:solidFill>
                <a:ea typeface="楷体_GB2312" pitchFamily="49" charset="-122"/>
              </a:rPr>
              <a:t>6</a:t>
            </a:r>
            <a:r>
              <a:rPr lang="zh-CN" altLang="en-US" b="1" dirty="0">
                <a:solidFill>
                  <a:srgbClr val="000000"/>
                </a:solidFill>
                <a:ea typeface="楷体_GB2312" pitchFamily="49" charset="-122"/>
              </a:rPr>
              <a:t>入，遇</a:t>
            </a:r>
            <a:r>
              <a:rPr lang="en-US" altLang="zh-CN" b="1" dirty="0">
                <a:solidFill>
                  <a:srgbClr val="000000"/>
                </a:solidFill>
                <a:ea typeface="楷体_GB2312" pitchFamily="49" charset="-122"/>
              </a:rPr>
              <a:t>5</a:t>
            </a:r>
            <a:r>
              <a:rPr lang="zh-CN" altLang="en-US" b="1" dirty="0">
                <a:solidFill>
                  <a:srgbClr val="000000"/>
                </a:solidFill>
                <a:ea typeface="楷体_GB2312" pitchFamily="49" charset="-122"/>
              </a:rPr>
              <a:t>末偶</a:t>
            </a:r>
            <a:r>
              <a:rPr lang="zh-CN" altLang="en-US" dirty="0">
                <a:solidFill>
                  <a:srgbClr val="000000"/>
                </a:solidFill>
              </a:rPr>
              <a:t>”的修约规则？</a:t>
            </a:r>
            <a:endParaRPr lang="en-US" altLang="zh-CN" dirty="0">
              <a:solidFill>
                <a:srgbClr val="000000"/>
              </a:solidFill>
            </a:endParaRPr>
          </a:p>
          <a:p>
            <a:r>
              <a:rPr lang="zh-CN" altLang="en-US" dirty="0">
                <a:solidFill>
                  <a:srgbClr val="000000"/>
                </a:solidFill>
              </a:rPr>
              <a:t>（</a:t>
            </a:r>
            <a:r>
              <a:rPr lang="en-US" altLang="zh-CN" dirty="0">
                <a:solidFill>
                  <a:srgbClr val="000000"/>
                </a:solidFill>
              </a:rPr>
              <a:t>1. </a:t>
            </a:r>
            <a:r>
              <a:rPr lang="zh-CN" altLang="en-US" dirty="0">
                <a:solidFill>
                  <a:srgbClr val="000000"/>
                </a:solidFill>
              </a:rPr>
              <a:t>选取修约规则的原则 </a:t>
            </a:r>
            <a:r>
              <a:rPr lang="en-US" altLang="zh-CN" dirty="0">
                <a:solidFill>
                  <a:srgbClr val="000000"/>
                </a:solidFill>
              </a:rPr>
              <a:t>– </a:t>
            </a:r>
            <a:r>
              <a:rPr lang="zh-CN" altLang="en-US" dirty="0">
                <a:solidFill>
                  <a:srgbClr val="000000"/>
                </a:solidFill>
              </a:rPr>
              <a:t>对大量数据进行修约后，误差能达到相互抵消，而不导致互相迭加而积累；</a:t>
            </a:r>
            <a:endParaRPr lang="en-US" altLang="zh-CN" dirty="0">
              <a:solidFill>
                <a:srgbClr val="000000"/>
              </a:solidFill>
            </a:endParaRPr>
          </a:p>
          <a:p>
            <a:r>
              <a:rPr lang="en-US" altLang="zh-CN" dirty="0">
                <a:solidFill>
                  <a:srgbClr val="000000"/>
                </a:solidFill>
              </a:rPr>
              <a:t>   2.</a:t>
            </a:r>
            <a:r>
              <a:rPr lang="zh-CN" altLang="en-US" dirty="0">
                <a:solidFill>
                  <a:srgbClr val="000000"/>
                </a:solidFill>
              </a:rPr>
              <a:t>本规则假设最后第二位奇偶几率各半，这样一半几率舍去最后第二位的</a:t>
            </a:r>
            <a:r>
              <a:rPr lang="en-US" altLang="zh-CN" dirty="0">
                <a:solidFill>
                  <a:srgbClr val="000000"/>
                </a:solidFill>
              </a:rPr>
              <a:t>0.5</a:t>
            </a:r>
            <a:r>
              <a:rPr lang="zh-CN" altLang="en-US" dirty="0">
                <a:solidFill>
                  <a:srgbClr val="000000"/>
                </a:solidFill>
              </a:rPr>
              <a:t>，一半几率增加最后第二位的</a:t>
            </a:r>
            <a:r>
              <a:rPr lang="en-US" altLang="zh-CN" dirty="0">
                <a:solidFill>
                  <a:srgbClr val="000000"/>
                </a:solidFill>
              </a:rPr>
              <a:t>0.5</a:t>
            </a:r>
            <a:r>
              <a:rPr lang="zh-CN" altLang="en-US" dirty="0">
                <a:solidFill>
                  <a:srgbClr val="000000"/>
                </a:solidFill>
              </a:rPr>
              <a:t>）。</a:t>
            </a:r>
            <a:endParaRPr lang="en-US" altLang="zh-CN" dirty="0">
              <a:solidFill>
                <a:srgbClr val="000000"/>
              </a:solidFill>
            </a:endParaRPr>
          </a:p>
        </p:txBody>
      </p:sp>
      <p:sp>
        <p:nvSpPr>
          <p:cNvPr id="26628" name="矩形 3"/>
          <p:cNvSpPr>
            <a:spLocks noChangeArrowheads="1"/>
          </p:cNvSpPr>
          <p:nvPr/>
        </p:nvSpPr>
        <p:spPr bwMode="auto">
          <a:xfrm>
            <a:off x="695400" y="6120868"/>
            <a:ext cx="8820150" cy="708025"/>
          </a:xfrm>
          <a:prstGeom prst="rect">
            <a:avLst/>
          </a:prstGeom>
          <a:noFill/>
          <a:ln w="9525">
            <a:noFill/>
            <a:miter lim="800000"/>
          </a:ln>
        </p:spPr>
        <p:txBody>
          <a:bodyPr>
            <a:spAutoFit/>
          </a:bodyPr>
          <a:lstStyle/>
          <a:p>
            <a:r>
              <a:rPr lang="en-US" altLang="zh-CN" sz="2000" dirty="0">
                <a:solidFill>
                  <a:schemeClr val="bg1"/>
                </a:solidFill>
              </a:rPr>
              <a:t>Nicholas J. </a:t>
            </a:r>
            <a:r>
              <a:rPr lang="en-US" altLang="zh-CN" sz="2000" dirty="0" err="1">
                <a:solidFill>
                  <a:schemeClr val="bg1"/>
                </a:solidFill>
              </a:rPr>
              <a:t>Higham</a:t>
            </a:r>
            <a:r>
              <a:rPr lang="en-US" altLang="zh-CN" sz="2000" dirty="0">
                <a:solidFill>
                  <a:schemeClr val="bg1"/>
                </a:solidFill>
              </a:rPr>
              <a:t> (2002). </a:t>
            </a:r>
            <a:r>
              <a:rPr lang="en-US" altLang="zh-CN" sz="2000" i="1" dirty="0">
                <a:solidFill>
                  <a:schemeClr val="bg1"/>
                </a:solidFill>
              </a:rPr>
              <a:t>Accuracy and stability of numerical algorithms</a:t>
            </a:r>
            <a:r>
              <a:rPr lang="en-US" altLang="zh-CN" sz="2000" dirty="0">
                <a:solidFill>
                  <a:schemeClr val="bg1"/>
                </a:solidFill>
              </a:rPr>
              <a:t>. p. 54. ISBN 978-0-89871-521-7, </a:t>
            </a:r>
            <a:r>
              <a:rPr lang="zh-CN" altLang="en-US" sz="2000" dirty="0">
                <a:solidFill>
                  <a:schemeClr val="bg1"/>
                </a:solidFill>
              </a:rPr>
              <a:t>转引自 </a:t>
            </a:r>
            <a:r>
              <a:rPr lang="en-US" altLang="zh-CN" sz="2000" dirty="0">
                <a:solidFill>
                  <a:schemeClr val="bg1"/>
                </a:solidFill>
              </a:rPr>
              <a:t>Wikipedia:</a:t>
            </a:r>
            <a:r>
              <a:rPr lang="en-US" altLang="zh-CN" sz="2000" b="1" dirty="0">
                <a:solidFill>
                  <a:schemeClr val="bg1"/>
                </a:solidFill>
              </a:rPr>
              <a:t> </a:t>
            </a:r>
            <a:r>
              <a:rPr lang="en-US" altLang="zh-CN" sz="2000" dirty="0">
                <a:solidFill>
                  <a:schemeClr val="bg1"/>
                </a:solidFill>
              </a:rPr>
              <a:t>Rounding</a:t>
            </a:r>
            <a:endParaRPr lang="en-US" altLang="zh-CN" sz="2000" dirty="0">
              <a:solidFill>
                <a:schemeClr val="bg1"/>
              </a:solidFill>
            </a:endParaRPr>
          </a:p>
        </p:txBody>
      </p:sp>
      <p:sp>
        <p:nvSpPr>
          <p:cNvPr id="5" name="矩形 4"/>
          <p:cNvSpPr/>
          <p:nvPr/>
        </p:nvSpPr>
        <p:spPr>
          <a:xfrm>
            <a:off x="1415480" y="1816354"/>
            <a:ext cx="9587847" cy="1015663"/>
          </a:xfrm>
          <a:prstGeom prst="rect">
            <a:avLst/>
          </a:prstGeom>
        </p:spPr>
        <p:txBody>
          <a:bodyPr wrap="square">
            <a:spAutoFit/>
          </a:bodyPr>
          <a:lstStyle/>
          <a:p>
            <a:pPr>
              <a:defRPr/>
            </a:pPr>
            <a:r>
              <a:rPr lang="en-US" altLang="zh-CN" sz="32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Rounding method </a:t>
            </a:r>
            <a:r>
              <a:rPr lang="zh-CN" altLang="en-US" sz="3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修约规则很重要</a:t>
            </a:r>
            <a:endParaRPr lang="en-US" altLang="zh-CN" sz="3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defRPr/>
            </a:pP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very significant </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effect on the result.</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6" name="标题 1"/>
          <p:cNvSpPr txBox="1"/>
          <p:nvPr/>
        </p:nvSpPr>
        <p:spPr bwMode="auto">
          <a:xfrm>
            <a:off x="6073787" y="892701"/>
            <a:ext cx="5148572" cy="742942"/>
          </a:xfrm>
          <a:prstGeom prst="rect">
            <a:avLst/>
          </a:prstGeom>
          <a:noFill/>
          <a:ln w="57150">
            <a:solidFill>
              <a:srgbClr val="00B0F0"/>
            </a:solidFill>
            <a:miter lim="800000"/>
          </a:ln>
        </p:spPr>
        <p:txBody>
          <a:bodyPr vert="horz" wrap="square" lIns="91440" tIns="45720" rIns="91440" bIns="45720" numCol="1" anchor="ctr" anchorCtr="1"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eaLnBrk="1" hangingPunct="1">
              <a:lnSpc>
                <a:spcPct val="150000"/>
              </a:lnSpc>
            </a:pPr>
            <a:r>
              <a:rPr lang="zh-CN" altLang="en-US" sz="4000" b="1" dirty="0">
                <a:solidFill>
                  <a:schemeClr val="bg1"/>
                </a:solidFill>
                <a:latin typeface="微软雅黑" panose="020B0503020204020204" pitchFamily="34" charset="-122"/>
                <a:ea typeface="微软雅黑" panose="020B0503020204020204" pitchFamily="34" charset="-122"/>
              </a:rPr>
              <a:t>合理修约有效数字！</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7"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1. </a:t>
            </a:r>
            <a:r>
              <a:rPr lang="zh-CN" altLang="en-US" sz="5400" b="1" dirty="0">
                <a:solidFill>
                  <a:schemeClr val="bg1"/>
                </a:solidFill>
                <a:latin typeface="微软雅黑" panose="020B0503020204020204" pitchFamily="34" charset="-122"/>
                <a:ea typeface="微软雅黑" panose="020B0503020204020204" pitchFamily="34" charset="-122"/>
              </a:rPr>
              <a:t>为什么要进行数据处理</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335360" y="1034147"/>
            <a:ext cx="6624736" cy="646331"/>
          </a:xfrm>
          <a:prstGeom prst="rect">
            <a:avLst/>
          </a:prstGeom>
          <a:noFill/>
        </p:spPr>
        <p:txBody>
          <a:bodyPr wrap="square" rtlCol="0">
            <a:spAutoFit/>
          </a:bodyPr>
          <a:lstStyle/>
          <a:p>
            <a:r>
              <a:rPr lang="zh-CN" altLang="en-US" sz="3600" b="1" dirty="0">
                <a:solidFill>
                  <a:srgbClr val="C00000"/>
                </a:solidFill>
                <a:latin typeface="微软雅黑" panose="020B0503020204020204" pitchFamily="34" charset="-122"/>
                <a:ea typeface="微软雅黑" panose="020B0503020204020204" pitchFamily="34" charset="-122"/>
              </a:rPr>
              <a:t>数据处理中要注意的事情</a:t>
            </a:r>
            <a:endParaRPr lang="zh-CN" altLang="en-US" sz="3600" b="1" dirty="0">
              <a:solidFill>
                <a:srgbClr val="C0000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60"/>
          <p:cNvGraphicFramePr/>
          <p:nvPr/>
        </p:nvGraphicFramePr>
        <p:xfrm>
          <a:off x="1233457" y="3515841"/>
          <a:ext cx="9721085" cy="1158240"/>
        </p:xfrm>
        <a:graphic>
          <a:graphicData uri="http://schemas.openxmlformats.org/drawingml/2006/table">
            <a:tbl>
              <a:tblPr/>
              <a:tblGrid>
                <a:gridCol w="1214370"/>
                <a:gridCol w="1216411"/>
                <a:gridCol w="1214371"/>
                <a:gridCol w="1216411"/>
                <a:gridCol w="1214370"/>
                <a:gridCol w="1214371"/>
                <a:gridCol w="1216411"/>
                <a:gridCol w="1214370"/>
              </a:tblGrid>
              <a:tr h="53578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sym typeface="Symbol" panose="05050102010706020507"/>
                        </a:rPr>
                        <a:t></a:t>
                      </a:r>
                      <a:r>
                        <a:rPr kumimoji="1" lang="en-US" altLang="zh-CN" sz="3200" b="0"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 </a:t>
                      </a: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 ℃ </a:t>
                      </a:r>
                      <a:endPar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19.10</a:t>
                      </a:r>
                      <a:endPar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25.10</a:t>
                      </a:r>
                      <a:endPar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30.10</a:t>
                      </a:r>
                      <a:endPar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36.00</a:t>
                      </a:r>
                      <a:endPar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40.00</a:t>
                      </a:r>
                      <a:endPar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45.10</a:t>
                      </a:r>
                      <a:endPar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50.10</a:t>
                      </a:r>
                      <a:endPar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r>
              <a:tr h="53578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R</a:t>
                      </a:r>
                      <a:r>
                        <a:rPr kumimoji="1" lang="en-US" altLang="zh-CN" sz="3200" b="0"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sym typeface="Symbol" panose="05050102010706020507"/>
                        </a:rPr>
                        <a:t></a:t>
                      </a: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 / </a:t>
                      </a: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 </a:t>
                      </a:r>
                      <a:endPar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76.30</a:t>
                      </a:r>
                      <a:endPar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77.80</a:t>
                      </a:r>
                      <a:endPar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79.75</a:t>
                      </a:r>
                      <a:endPar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80.80</a:t>
                      </a:r>
                      <a:endPar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82.35</a:t>
                      </a:r>
                      <a:endPar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83.90</a:t>
                      </a:r>
                      <a:endParaRPr kumimoji="1" lang="en-US" altLang="zh-CN" sz="32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85.10</a:t>
                      </a:r>
                      <a:endParaRPr kumimoji="1" lang="en-US" altLang="zh-CN" sz="32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r>
            </a:tbl>
          </a:graphicData>
        </a:graphic>
      </p:graphicFrame>
      <p:sp>
        <p:nvSpPr>
          <p:cNvPr id="4" name="TextBox 3"/>
          <p:cNvSpPr txBox="1"/>
          <p:nvPr/>
        </p:nvSpPr>
        <p:spPr>
          <a:xfrm>
            <a:off x="1090820" y="2189841"/>
            <a:ext cx="9600116" cy="1077218"/>
          </a:xfrm>
          <a:prstGeom prst="rect">
            <a:avLst/>
          </a:prstGeom>
          <a:noFill/>
        </p:spPr>
        <p:txBody>
          <a:bodyPr wrap="square">
            <a:spAutoFit/>
          </a:bodyPr>
          <a:lstStyle/>
          <a:p>
            <a:pPr>
              <a:defRPr/>
            </a:pPr>
            <a:r>
              <a:rPr lang="zh-CN" altLang="en-US" sz="3200" dirty="0">
                <a:solidFill>
                  <a:schemeClr val="bg1"/>
                </a:solidFill>
                <a:latin typeface="微软雅黑" panose="020B0503020204020204" pitchFamily="34" charset="-122"/>
                <a:ea typeface="微软雅黑" panose="020B0503020204020204" pitchFamily="34" charset="-122"/>
              </a:rPr>
              <a:t>在研究一个电阻的阻值与温度之间的关系时，测得该电阻在不同温度下的阻值如下：</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2063552" y="4978842"/>
            <a:ext cx="8432117" cy="646331"/>
          </a:xfrm>
          <a:prstGeom prst="rect">
            <a:avLst/>
          </a:prstGeom>
        </p:spPr>
        <p:txBody>
          <a:bodyPr wrap="none">
            <a:spAutoFit/>
          </a:bodyPr>
          <a:lstStyle/>
          <a:p>
            <a:pPr>
              <a:defRPr/>
            </a:pPr>
            <a:r>
              <a:rPr kumimoji="1" lang="en-US" altLang="zh-CN" sz="3600" b="1" i="1" dirty="0">
                <a:solidFill>
                  <a:srgbClr val="0070C0"/>
                </a:solidFill>
                <a:latin typeface="+mn-ea"/>
                <a:ea typeface="+mn-ea"/>
              </a:rPr>
              <a:t>R</a:t>
            </a:r>
            <a:r>
              <a:rPr kumimoji="1" lang="en-US" altLang="zh-CN" sz="3600" b="1" baseline="-25000" dirty="0">
                <a:solidFill>
                  <a:srgbClr val="0070C0"/>
                </a:solidFill>
                <a:latin typeface="+mn-ea"/>
                <a:ea typeface="+mn-ea"/>
                <a:sym typeface="Symbol" panose="05050102010706020507"/>
              </a:rPr>
              <a:t></a:t>
            </a:r>
            <a:r>
              <a:rPr kumimoji="1" lang="en-US" altLang="zh-CN" sz="3600" b="1" dirty="0">
                <a:solidFill>
                  <a:srgbClr val="0070C0"/>
                </a:solidFill>
                <a:latin typeface="+mn-ea"/>
                <a:ea typeface="+mn-ea"/>
              </a:rPr>
              <a:t> </a:t>
            </a:r>
            <a:r>
              <a:rPr kumimoji="1" lang="zh-CN" altLang="en-US" sz="3600" b="1" dirty="0">
                <a:solidFill>
                  <a:srgbClr val="0070C0"/>
                </a:solidFill>
                <a:latin typeface="+mn-ea"/>
                <a:ea typeface="+mn-ea"/>
              </a:rPr>
              <a:t>与</a:t>
            </a:r>
            <a:r>
              <a:rPr kumimoji="1" lang="en-US" altLang="zh-CN" sz="3600" b="1" i="1" dirty="0">
                <a:solidFill>
                  <a:srgbClr val="0070C0"/>
                </a:solidFill>
                <a:latin typeface="+mn-ea"/>
                <a:ea typeface="+mn-ea"/>
                <a:sym typeface="Symbol" panose="05050102010706020507"/>
              </a:rPr>
              <a:t></a:t>
            </a:r>
            <a:r>
              <a:rPr kumimoji="1" lang="zh-CN" altLang="en-US" sz="3600" b="1" dirty="0">
                <a:solidFill>
                  <a:srgbClr val="0070C0"/>
                </a:solidFill>
                <a:latin typeface="+mn-ea"/>
                <a:ea typeface="+mn-ea"/>
              </a:rPr>
              <a:t>之间是什么关系？你有哪些方法？</a:t>
            </a:r>
            <a:endParaRPr lang="zh-CN" altLang="en-US" sz="3600" b="1" dirty="0">
              <a:solidFill>
                <a:srgbClr val="0070C0"/>
              </a:solidFill>
              <a:latin typeface="+mn-ea"/>
              <a:ea typeface="+mn-ea"/>
            </a:endParaRPr>
          </a:p>
        </p:txBody>
      </p:sp>
      <p:sp>
        <p:nvSpPr>
          <p:cNvPr id="5" name="TextBox 3"/>
          <p:cNvSpPr txBox="1"/>
          <p:nvPr/>
        </p:nvSpPr>
        <p:spPr>
          <a:xfrm>
            <a:off x="5890878" y="903854"/>
            <a:ext cx="5688632" cy="906915"/>
          </a:xfrm>
          <a:prstGeom prst="rect">
            <a:avLst/>
          </a:prstGeom>
          <a:noFill/>
          <a:ln w="57150">
            <a:solidFill>
              <a:srgbClr val="00B0F0"/>
            </a:solidFill>
            <a:miter lim="800000"/>
          </a:ln>
        </p:spPr>
        <p:txBody>
          <a:bodyPr vert="horz" wrap="square" lIns="91440" tIns="45720" rIns="91440" bIns="45720" numCol="1" anchor="ctr" anchorCtr="0" compatLnSpc="1"/>
          <a:lstStyle>
            <a:lvl1pPr algn="ctr" eaLnBrk="1" hangingPunct="1">
              <a:lnSpc>
                <a:spcPct val="150000"/>
              </a:lnSpc>
              <a:defRPr sz="4000" b="1">
                <a:solidFill>
                  <a:schemeClr val="bg1"/>
                </a:solidFill>
                <a:latin typeface="微软雅黑" panose="020B0503020204020204" pitchFamily="34" charset="-122"/>
                <a:ea typeface="+mj-ea"/>
                <a:cs typeface="+mj-cs"/>
              </a:defRPr>
            </a:lvl1pPr>
            <a:lvl2pPr algn="ctr" eaLnBrk="0" hangingPunct="0">
              <a:defRPr sz="4400">
                <a:latin typeface="Verdana" panose="020B0604030504040204" pitchFamily="34" charset="0"/>
                <a:ea typeface="微软雅黑" panose="020B0503020204020204" pitchFamily="34" charset="-122"/>
              </a:defRPr>
            </a:lvl2pPr>
            <a:lvl3pPr algn="ctr" eaLnBrk="0" hangingPunct="0">
              <a:defRPr sz="4400">
                <a:latin typeface="Verdana" panose="020B0604030504040204" pitchFamily="34" charset="0"/>
                <a:ea typeface="微软雅黑" panose="020B0503020204020204" pitchFamily="34" charset="-122"/>
              </a:defRPr>
            </a:lvl3pPr>
            <a:lvl4pPr algn="ctr" eaLnBrk="0" hangingPunct="0">
              <a:defRPr sz="4400">
                <a:latin typeface="Verdana" panose="020B0604030504040204" pitchFamily="34" charset="0"/>
                <a:ea typeface="微软雅黑" panose="020B0503020204020204" pitchFamily="34" charset="-122"/>
              </a:defRPr>
            </a:lvl4pPr>
            <a:lvl5pPr algn="ctr" eaLnBrk="0" hangingPunct="0">
              <a:defRPr sz="4400">
                <a:latin typeface="Verdana" panose="020B0604030504040204" pitchFamily="34" charset="0"/>
                <a:ea typeface="微软雅黑" panose="020B0503020204020204" pitchFamily="34" charset="-122"/>
              </a:defRPr>
            </a:lvl5pPr>
            <a:lvl6pPr marL="457200" algn="ctr" fontAlgn="base">
              <a:spcBef>
                <a:spcPct val="0"/>
              </a:spcBef>
              <a:spcAft>
                <a:spcPct val="0"/>
              </a:spcAft>
              <a:defRPr sz="4400">
                <a:latin typeface="Verdana" panose="020B0604030504040204" pitchFamily="34" charset="0"/>
                <a:ea typeface="微软雅黑" panose="020B0503020204020204" pitchFamily="34" charset="-122"/>
              </a:defRPr>
            </a:lvl6pPr>
            <a:lvl7pPr marL="914400" algn="ctr" fontAlgn="base">
              <a:spcBef>
                <a:spcPct val="0"/>
              </a:spcBef>
              <a:spcAft>
                <a:spcPct val="0"/>
              </a:spcAft>
              <a:defRPr sz="4400">
                <a:latin typeface="Verdana" panose="020B0604030504040204" pitchFamily="34" charset="0"/>
                <a:ea typeface="微软雅黑" panose="020B0503020204020204" pitchFamily="34" charset="-122"/>
              </a:defRPr>
            </a:lvl7pPr>
            <a:lvl8pPr marL="1371600" algn="ctr" fontAlgn="base">
              <a:spcBef>
                <a:spcPct val="0"/>
              </a:spcBef>
              <a:spcAft>
                <a:spcPct val="0"/>
              </a:spcAft>
              <a:defRPr sz="4400">
                <a:latin typeface="Verdana" panose="020B0604030504040204" pitchFamily="34" charset="0"/>
                <a:ea typeface="微软雅黑" panose="020B0503020204020204" pitchFamily="34" charset="-122"/>
              </a:defRPr>
            </a:lvl8pPr>
            <a:lvl9pPr marL="1828800" algn="ctr" fontAlgn="base">
              <a:spcBef>
                <a:spcPct val="0"/>
              </a:spcBef>
              <a:spcAft>
                <a:spcPct val="0"/>
              </a:spcAft>
              <a:defRPr sz="4400">
                <a:latin typeface="Verdana" panose="020B0604030504040204" pitchFamily="34" charset="0"/>
                <a:ea typeface="微软雅黑" panose="020B0503020204020204" pitchFamily="34" charset="-122"/>
              </a:defRPr>
            </a:lvl9pPr>
          </a:lstStyle>
          <a:p>
            <a:r>
              <a:rPr lang="zh-CN" altLang="en-US" dirty="0"/>
              <a:t>给出物理量之间的关系</a:t>
            </a:r>
            <a:endParaRPr lang="zh-CN" altLang="en-US" dirty="0"/>
          </a:p>
        </p:txBody>
      </p:sp>
      <p:sp>
        <p:nvSpPr>
          <p:cNvPr id="7"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1. </a:t>
            </a:r>
            <a:r>
              <a:rPr lang="zh-CN" altLang="en-US" sz="5400" b="1" dirty="0">
                <a:solidFill>
                  <a:schemeClr val="bg1"/>
                </a:solidFill>
                <a:latin typeface="微软雅黑" panose="020B0503020204020204" pitchFamily="34" charset="-122"/>
                <a:ea typeface="微软雅黑" panose="020B0503020204020204" pitchFamily="34" charset="-122"/>
              </a:rPr>
              <a:t>为什么要进行数据处理</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335360" y="1034147"/>
            <a:ext cx="6624736" cy="646331"/>
          </a:xfrm>
          <a:prstGeom prst="rect">
            <a:avLst/>
          </a:prstGeom>
          <a:noFill/>
        </p:spPr>
        <p:txBody>
          <a:bodyPr wrap="square" rtlCol="0">
            <a:spAutoFit/>
          </a:bodyPr>
          <a:lstStyle/>
          <a:p>
            <a:r>
              <a:rPr lang="zh-CN" altLang="en-US" sz="3600" b="1" dirty="0">
                <a:solidFill>
                  <a:srgbClr val="CC3300"/>
                </a:solidFill>
                <a:latin typeface="微软雅黑" panose="020B0503020204020204" pitchFamily="34" charset="-122"/>
                <a:ea typeface="微软雅黑" panose="020B0503020204020204" pitchFamily="34" charset="-122"/>
              </a:rPr>
              <a:t>数据处理中要注意的事情</a:t>
            </a:r>
            <a:endParaRPr lang="zh-CN" altLang="en-US" sz="3600" b="1" dirty="0">
              <a:solidFill>
                <a:srgbClr val="CC3300"/>
              </a:solidFill>
              <a:latin typeface="微软雅黑" panose="020B0503020204020204" pitchFamily="34" charset="-122"/>
              <a:ea typeface="微软雅黑" panose="020B0503020204020204" pitchFamily="34" charset="-122"/>
            </a:endParaRPr>
          </a:p>
        </p:txBody>
      </p:sp>
      <p:sp>
        <p:nvSpPr>
          <p:cNvPr id="9" name="矩形 8"/>
          <p:cNvSpPr/>
          <p:nvPr/>
        </p:nvSpPr>
        <p:spPr>
          <a:xfrm>
            <a:off x="2787304" y="5823853"/>
            <a:ext cx="6207148" cy="646331"/>
          </a:xfrm>
          <a:prstGeom prst="rect">
            <a:avLst/>
          </a:prstGeom>
        </p:spPr>
        <p:txBody>
          <a:bodyPr wrap="none">
            <a:spAutoFit/>
          </a:bodyPr>
          <a:lstStyle/>
          <a:p>
            <a:pPr>
              <a:defRPr/>
            </a:pPr>
            <a:r>
              <a:rPr kumimoji="1" lang="zh-CN" altLang="en-US" sz="3600" b="1" dirty="0">
                <a:solidFill>
                  <a:schemeClr val="bg1"/>
                </a:solidFill>
                <a:latin typeface="微软雅黑" panose="020B0503020204020204" pitchFamily="34" charset="-122"/>
                <a:ea typeface="微软雅黑" panose="020B0503020204020204" pitchFamily="34" charset="-122"/>
              </a:rPr>
              <a:t>作图、最小二乘法、软件拟合</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animBg="1"/>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p:cNvPicPr>
            <a:picLocks noChangeAspect="1" noChangeArrowheads="1"/>
          </p:cNvPicPr>
          <p:nvPr/>
        </p:nvPicPr>
        <p:blipFill>
          <a:blip r:embed="rId1"/>
          <a:srcRect/>
          <a:stretch>
            <a:fillRect/>
          </a:stretch>
        </p:blipFill>
        <p:spPr bwMode="auto">
          <a:xfrm>
            <a:off x="2261387" y="1812780"/>
            <a:ext cx="7072313" cy="4768850"/>
          </a:xfrm>
          <a:prstGeom prst="rect">
            <a:avLst/>
          </a:prstGeom>
          <a:noFill/>
          <a:ln w="9525">
            <a:noFill/>
            <a:miter lim="800000"/>
            <a:headEnd/>
            <a:tailEnd/>
          </a:ln>
        </p:spPr>
      </p:pic>
      <p:sp>
        <p:nvSpPr>
          <p:cNvPr id="4" name="TextBox 3"/>
          <p:cNvSpPr txBox="1"/>
          <p:nvPr/>
        </p:nvSpPr>
        <p:spPr>
          <a:xfrm>
            <a:off x="5966919" y="4365104"/>
            <a:ext cx="2779110" cy="1200329"/>
          </a:xfrm>
          <a:prstGeom prst="rect">
            <a:avLst/>
          </a:prstGeom>
          <a:noFill/>
        </p:spPr>
        <p:txBody>
          <a:bodyPr wrap="square">
            <a:spAutoFit/>
          </a:bodyPr>
          <a:lstStyle/>
          <a:p>
            <a:pPr>
              <a:defRPr/>
            </a:pPr>
            <a:r>
              <a:rPr lang="zh-CN" altLang="en-US" sz="2400" dirty="0">
                <a:solidFill>
                  <a:srgbClr val="0000FF"/>
                </a:solidFill>
                <a:latin typeface="微软雅黑" panose="020B0503020204020204" pitchFamily="34" charset="-122"/>
                <a:ea typeface="微软雅黑" panose="020B0503020204020204" pitchFamily="34" charset="-122"/>
              </a:rPr>
              <a:t>在不同磁场下锑化铟的磁阻随磁场强度的变化曲线</a:t>
            </a:r>
            <a:endParaRPr lang="zh-CN" altLang="en-US" sz="2400" dirty="0">
              <a:solidFill>
                <a:srgbClr val="0000FF"/>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rot="5400000">
            <a:off x="2405371" y="4060485"/>
            <a:ext cx="3716338" cy="1588"/>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5400000">
            <a:off x="2905434" y="4060486"/>
            <a:ext cx="3716338" cy="1587"/>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621695" y="2417424"/>
            <a:ext cx="461665" cy="1246495"/>
          </a:xfrm>
          <a:prstGeom prst="rect">
            <a:avLst/>
          </a:prstGeom>
          <a:noFill/>
        </p:spPr>
        <p:txBody>
          <a:bodyPr vert="eaVert" wrap="none">
            <a:spAutoFit/>
          </a:bodyPr>
          <a:lstStyle/>
          <a:p>
            <a:pPr>
              <a:defRPr/>
            </a:pPr>
            <a:r>
              <a:rPr lang="zh-CN" altLang="en-US" dirty="0">
                <a:solidFill>
                  <a:srgbClr val="000000"/>
                </a:solidFill>
                <a:latin typeface="+mn-ea"/>
                <a:ea typeface="+mn-ea"/>
              </a:rPr>
              <a:t>较小磁场区</a:t>
            </a:r>
            <a:endParaRPr lang="zh-CN" altLang="en-US" dirty="0">
              <a:solidFill>
                <a:srgbClr val="000000"/>
              </a:solidFill>
              <a:latin typeface="+mn-ea"/>
              <a:ea typeface="+mn-ea"/>
            </a:endParaRPr>
          </a:p>
        </p:txBody>
      </p:sp>
      <p:sp>
        <p:nvSpPr>
          <p:cNvPr id="9" name="TextBox 8"/>
          <p:cNvSpPr txBox="1"/>
          <p:nvPr/>
        </p:nvSpPr>
        <p:spPr>
          <a:xfrm>
            <a:off x="4302731" y="2633324"/>
            <a:ext cx="461665" cy="784830"/>
          </a:xfrm>
          <a:prstGeom prst="rect">
            <a:avLst/>
          </a:prstGeom>
          <a:noFill/>
        </p:spPr>
        <p:txBody>
          <a:bodyPr vert="eaVert" wrap="none">
            <a:spAutoFit/>
          </a:bodyPr>
          <a:lstStyle/>
          <a:p>
            <a:pPr>
              <a:defRPr/>
            </a:pPr>
            <a:r>
              <a:rPr lang="zh-CN" altLang="en-US" dirty="0">
                <a:solidFill>
                  <a:srgbClr val="000000"/>
                </a:solidFill>
                <a:latin typeface="+mn-ea"/>
                <a:ea typeface="+mn-ea"/>
              </a:rPr>
              <a:t>过渡区</a:t>
            </a:r>
            <a:endParaRPr lang="zh-CN" altLang="en-US" dirty="0">
              <a:solidFill>
                <a:srgbClr val="000000"/>
              </a:solidFill>
              <a:latin typeface="+mn-ea"/>
              <a:ea typeface="+mn-ea"/>
            </a:endParaRPr>
          </a:p>
        </p:txBody>
      </p:sp>
      <p:sp>
        <p:nvSpPr>
          <p:cNvPr id="10" name="TextBox 9"/>
          <p:cNvSpPr txBox="1"/>
          <p:nvPr/>
        </p:nvSpPr>
        <p:spPr>
          <a:xfrm>
            <a:off x="5660045" y="2417424"/>
            <a:ext cx="461665" cy="1246495"/>
          </a:xfrm>
          <a:prstGeom prst="rect">
            <a:avLst/>
          </a:prstGeom>
          <a:noFill/>
        </p:spPr>
        <p:txBody>
          <a:bodyPr vert="eaVert" wrap="none">
            <a:spAutoFit/>
          </a:bodyPr>
          <a:lstStyle/>
          <a:p>
            <a:pPr>
              <a:defRPr/>
            </a:pPr>
            <a:r>
              <a:rPr lang="zh-CN" altLang="en-US" dirty="0">
                <a:solidFill>
                  <a:srgbClr val="000000"/>
                </a:solidFill>
                <a:latin typeface="+mn-ea"/>
                <a:ea typeface="+mn-ea"/>
              </a:rPr>
              <a:t>较大磁场区</a:t>
            </a:r>
            <a:endParaRPr lang="zh-CN" altLang="en-US" dirty="0">
              <a:solidFill>
                <a:srgbClr val="000000"/>
              </a:solidFill>
              <a:latin typeface="+mn-ea"/>
              <a:ea typeface="+mn-ea"/>
            </a:endParaRPr>
          </a:p>
        </p:txBody>
      </p:sp>
      <p:sp>
        <p:nvSpPr>
          <p:cNvPr id="15" name="TextBox 3"/>
          <p:cNvSpPr txBox="1"/>
          <p:nvPr/>
        </p:nvSpPr>
        <p:spPr>
          <a:xfrm>
            <a:off x="5890878" y="903854"/>
            <a:ext cx="5688632" cy="906915"/>
          </a:xfrm>
          <a:prstGeom prst="rect">
            <a:avLst/>
          </a:prstGeom>
          <a:noFill/>
          <a:ln w="57150">
            <a:solidFill>
              <a:srgbClr val="00B0F0"/>
            </a:solidFill>
            <a:miter lim="800000"/>
          </a:ln>
        </p:spPr>
        <p:txBody>
          <a:bodyPr vert="horz" wrap="square" lIns="91440" tIns="45720" rIns="91440" bIns="45720" numCol="1" anchor="ctr" anchorCtr="0" compatLnSpc="1"/>
          <a:lstStyle>
            <a:lvl1pPr algn="ctr" eaLnBrk="1" hangingPunct="1">
              <a:lnSpc>
                <a:spcPct val="150000"/>
              </a:lnSpc>
              <a:defRPr sz="4000" b="1">
                <a:solidFill>
                  <a:schemeClr val="bg1"/>
                </a:solidFill>
                <a:latin typeface="微软雅黑" panose="020B0503020204020204" pitchFamily="34" charset="-122"/>
                <a:ea typeface="+mj-ea"/>
                <a:cs typeface="+mj-cs"/>
              </a:defRPr>
            </a:lvl1pPr>
            <a:lvl2pPr algn="ctr" eaLnBrk="0" hangingPunct="0">
              <a:defRPr sz="4400">
                <a:latin typeface="Verdana" panose="020B0604030504040204" pitchFamily="34" charset="0"/>
                <a:ea typeface="微软雅黑" panose="020B0503020204020204" pitchFamily="34" charset="-122"/>
              </a:defRPr>
            </a:lvl2pPr>
            <a:lvl3pPr algn="ctr" eaLnBrk="0" hangingPunct="0">
              <a:defRPr sz="4400">
                <a:latin typeface="Verdana" panose="020B0604030504040204" pitchFamily="34" charset="0"/>
                <a:ea typeface="微软雅黑" panose="020B0503020204020204" pitchFamily="34" charset="-122"/>
              </a:defRPr>
            </a:lvl3pPr>
            <a:lvl4pPr algn="ctr" eaLnBrk="0" hangingPunct="0">
              <a:defRPr sz="4400">
                <a:latin typeface="Verdana" panose="020B0604030504040204" pitchFamily="34" charset="0"/>
                <a:ea typeface="微软雅黑" panose="020B0503020204020204" pitchFamily="34" charset="-122"/>
              </a:defRPr>
            </a:lvl4pPr>
            <a:lvl5pPr algn="ctr" eaLnBrk="0" hangingPunct="0">
              <a:defRPr sz="4400">
                <a:latin typeface="Verdana" panose="020B0604030504040204" pitchFamily="34" charset="0"/>
                <a:ea typeface="微软雅黑" panose="020B0503020204020204" pitchFamily="34" charset="-122"/>
              </a:defRPr>
            </a:lvl5pPr>
            <a:lvl6pPr marL="457200" algn="ctr" fontAlgn="base">
              <a:spcBef>
                <a:spcPct val="0"/>
              </a:spcBef>
              <a:spcAft>
                <a:spcPct val="0"/>
              </a:spcAft>
              <a:defRPr sz="4400">
                <a:latin typeface="Verdana" panose="020B0604030504040204" pitchFamily="34" charset="0"/>
                <a:ea typeface="微软雅黑" panose="020B0503020204020204" pitchFamily="34" charset="-122"/>
              </a:defRPr>
            </a:lvl6pPr>
            <a:lvl7pPr marL="914400" algn="ctr" fontAlgn="base">
              <a:spcBef>
                <a:spcPct val="0"/>
              </a:spcBef>
              <a:spcAft>
                <a:spcPct val="0"/>
              </a:spcAft>
              <a:defRPr sz="4400">
                <a:latin typeface="Verdana" panose="020B0604030504040204" pitchFamily="34" charset="0"/>
                <a:ea typeface="微软雅黑" panose="020B0503020204020204" pitchFamily="34" charset="-122"/>
              </a:defRPr>
            </a:lvl7pPr>
            <a:lvl8pPr marL="1371600" algn="ctr" fontAlgn="base">
              <a:spcBef>
                <a:spcPct val="0"/>
              </a:spcBef>
              <a:spcAft>
                <a:spcPct val="0"/>
              </a:spcAft>
              <a:defRPr sz="4400">
                <a:latin typeface="Verdana" panose="020B0604030504040204" pitchFamily="34" charset="0"/>
                <a:ea typeface="微软雅黑" panose="020B0503020204020204" pitchFamily="34" charset="-122"/>
              </a:defRPr>
            </a:lvl8pPr>
            <a:lvl9pPr marL="1828800" algn="ctr" fontAlgn="base">
              <a:spcBef>
                <a:spcPct val="0"/>
              </a:spcBef>
              <a:spcAft>
                <a:spcPct val="0"/>
              </a:spcAft>
              <a:defRPr sz="4400">
                <a:latin typeface="Verdana" panose="020B0604030504040204" pitchFamily="34" charset="0"/>
                <a:ea typeface="微软雅黑" panose="020B0503020204020204" pitchFamily="34" charset="-122"/>
              </a:defRPr>
            </a:lvl9pPr>
          </a:lstStyle>
          <a:p>
            <a:r>
              <a:rPr lang="zh-CN" altLang="en-US" dirty="0">
                <a:ea typeface="微软雅黑" panose="020B0503020204020204" pitchFamily="34" charset="-122"/>
              </a:rPr>
              <a:t>给出物理量之间的关系</a:t>
            </a:r>
            <a:endParaRPr lang="zh-CN" altLang="en-US" dirty="0">
              <a:ea typeface="微软雅黑" panose="020B0503020204020204" pitchFamily="34" charset="-122"/>
            </a:endParaRPr>
          </a:p>
        </p:txBody>
      </p:sp>
      <p:sp>
        <p:nvSpPr>
          <p:cNvPr id="16"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1. </a:t>
            </a:r>
            <a:r>
              <a:rPr lang="zh-CN" altLang="en-US" sz="5400" b="1" dirty="0">
                <a:solidFill>
                  <a:schemeClr val="bg1"/>
                </a:solidFill>
                <a:latin typeface="微软雅黑" panose="020B0503020204020204" pitchFamily="34" charset="-122"/>
                <a:ea typeface="微软雅黑" panose="020B0503020204020204" pitchFamily="34" charset="-122"/>
              </a:rPr>
              <a:t>为什么要进行数据处理</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a:off x="335360" y="1034147"/>
            <a:ext cx="6624736" cy="646331"/>
          </a:xfrm>
          <a:prstGeom prst="rect">
            <a:avLst/>
          </a:prstGeom>
          <a:noFill/>
        </p:spPr>
        <p:txBody>
          <a:bodyPr wrap="square" rtlCol="0">
            <a:spAutoFit/>
          </a:bodyPr>
          <a:lstStyle/>
          <a:p>
            <a:r>
              <a:rPr lang="zh-CN" altLang="en-US" sz="3600" b="1" dirty="0">
                <a:solidFill>
                  <a:srgbClr val="CC3300"/>
                </a:solidFill>
                <a:latin typeface="微软雅黑" panose="020B0503020204020204" pitchFamily="34" charset="-122"/>
                <a:ea typeface="微软雅黑" panose="020B0503020204020204" pitchFamily="34" charset="-122"/>
              </a:rPr>
              <a:t>数据处理中要注意的事情</a:t>
            </a:r>
            <a:endParaRPr lang="zh-CN" altLang="en-US" sz="3600" b="1" dirty="0">
              <a:solidFill>
                <a:srgbClr val="CC330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462237" y="3789040"/>
            <a:ext cx="2138722" cy="646331"/>
          </a:xfrm>
          <a:prstGeom prst="rect">
            <a:avLst/>
          </a:prstGeom>
          <a:noFill/>
        </p:spPr>
        <p:txBody>
          <a:bodyPr wrap="square" rtlCol="0">
            <a:spAutoFit/>
          </a:bodyPr>
          <a:lstStyle>
            <a:defPPr>
              <a:defRPr lang="zh-CN"/>
            </a:defPPr>
            <a:lvl1pPr>
              <a:defRPr sz="3600" b="1">
                <a:solidFill>
                  <a:srgbClr val="FFFF00"/>
                </a:solidFill>
                <a:latin typeface="微软雅黑" panose="020B0503020204020204" pitchFamily="34" charset="-122"/>
                <a:ea typeface="微软雅黑" panose="020B0503020204020204" pitchFamily="34" charset="-122"/>
              </a:defRPr>
            </a:lvl1pPr>
          </a:lstStyle>
          <a:p>
            <a:r>
              <a:rPr lang="zh-CN" altLang="en-US" dirty="0">
                <a:solidFill>
                  <a:srgbClr val="CC3300"/>
                </a:solidFill>
              </a:rPr>
              <a:t>分段处理</a:t>
            </a:r>
            <a:endParaRPr lang="zh-CN" altLang="en-US" dirty="0">
              <a:solidFill>
                <a:srgbClr val="CC3300"/>
              </a:solidFill>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1. </a:t>
            </a:r>
            <a:r>
              <a:rPr lang="zh-CN" altLang="en-US" sz="5400" b="1" dirty="0">
                <a:solidFill>
                  <a:schemeClr val="bg1"/>
                </a:solidFill>
                <a:latin typeface="微软雅黑" panose="020B0503020204020204" pitchFamily="34" charset="-122"/>
                <a:ea typeface="微软雅黑" panose="020B0503020204020204" pitchFamily="34" charset="-122"/>
              </a:rPr>
              <a:t>为什么要进行数据处理</a:t>
            </a:r>
            <a:endParaRPr lang="zh-CN" altLang="en-US" sz="5400" dirty="0">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68893" y="2079936"/>
            <a:ext cx="10494174" cy="3341506"/>
          </a:xfrm>
          <a:prstGeom prst="rect">
            <a:avLst/>
          </a:prstGeom>
          <a:noFill/>
        </p:spPr>
      </p:pic>
      <p:sp>
        <p:nvSpPr>
          <p:cNvPr id="5" name="TextBox 6"/>
          <p:cNvSpPr txBox="1"/>
          <p:nvPr/>
        </p:nvSpPr>
        <p:spPr>
          <a:xfrm>
            <a:off x="2207568" y="687283"/>
            <a:ext cx="7128792" cy="743986"/>
          </a:xfrm>
          <a:prstGeom prst="rect">
            <a:avLst/>
          </a:prstGeom>
          <a:noFill/>
        </p:spPr>
        <p:txBody>
          <a:bodyPr wrap="square" rtlCol="0">
            <a:spAutoFit/>
          </a:bodyPr>
          <a:lstStyle/>
          <a:p>
            <a:pPr fontAlgn="base">
              <a:lnSpc>
                <a:spcPct val="150000"/>
              </a:lnSpc>
              <a:spcBef>
                <a:spcPct val="0"/>
              </a:spcBef>
              <a:spcAft>
                <a:spcPct val="0"/>
              </a:spcAft>
            </a:pPr>
            <a:r>
              <a:rPr kumimoji="1" lang="zh-CN" altLang="en-US" sz="3200" b="1" dirty="0">
                <a:solidFill>
                  <a:srgbClr val="CC3300"/>
                </a:solidFill>
                <a:latin typeface="微软雅黑" panose="020B0503020204020204" pitchFamily="34" charset="-122"/>
                <a:ea typeface="微软雅黑" panose="020B0503020204020204" pitchFamily="34" charset="-122"/>
              </a:rPr>
              <a:t>物理实验的目的：探寻和验证物理规律。</a:t>
            </a:r>
            <a:endParaRPr lang="zh-CN" altLang="en-US" sz="3200" b="1" dirty="0">
              <a:solidFill>
                <a:srgbClr val="CC3300"/>
              </a:solidFill>
              <a:latin typeface="微软雅黑" panose="020B0503020204020204" pitchFamily="34" charset="-122"/>
              <a:ea typeface="微软雅黑" panose="020B0503020204020204" pitchFamily="34" charset="-122"/>
            </a:endParaRPr>
          </a:p>
        </p:txBody>
      </p:sp>
      <p:sp>
        <p:nvSpPr>
          <p:cNvPr id="6" name="TextBox 7"/>
          <p:cNvSpPr txBox="1"/>
          <p:nvPr/>
        </p:nvSpPr>
        <p:spPr>
          <a:xfrm>
            <a:off x="1091444" y="5445224"/>
            <a:ext cx="9649072" cy="954107"/>
          </a:xfrm>
          <a:prstGeom prst="rect">
            <a:avLst/>
          </a:prstGeom>
          <a:noFill/>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        实验得到的数据只有经过</a:t>
            </a:r>
            <a:r>
              <a:rPr lang="zh-CN" altLang="en-US" sz="2800" b="1" u="dbl" dirty="0">
                <a:solidFill>
                  <a:srgbClr val="0070C0"/>
                </a:solidFill>
                <a:uFill>
                  <a:solidFill>
                    <a:srgbClr val="FF0000"/>
                  </a:solidFill>
                </a:uFill>
                <a:latin typeface="微软雅黑" panose="020B0503020204020204" pitchFamily="34" charset="-122"/>
                <a:ea typeface="微软雅黑" panose="020B0503020204020204" pitchFamily="34" charset="-122"/>
              </a:rPr>
              <a:t>认真地</a:t>
            </a:r>
            <a:r>
              <a:rPr lang="zh-CN" altLang="en-US" sz="2800" dirty="0">
                <a:solidFill>
                  <a:schemeClr val="bg1"/>
                </a:solidFill>
                <a:latin typeface="微软雅黑" panose="020B0503020204020204" pitchFamily="34" charset="-122"/>
                <a:ea typeface="微软雅黑" panose="020B0503020204020204" pitchFamily="34" charset="-122"/>
              </a:rPr>
              <a:t>、</a:t>
            </a:r>
            <a:r>
              <a:rPr lang="zh-CN" altLang="en-US" sz="2800" b="1" u="dbl" dirty="0">
                <a:solidFill>
                  <a:srgbClr val="0070C0"/>
                </a:solidFill>
                <a:uFill>
                  <a:solidFill>
                    <a:srgbClr val="FF0000"/>
                  </a:solidFill>
                </a:uFill>
                <a:latin typeface="微软雅黑" panose="020B0503020204020204" pitchFamily="34" charset="-122"/>
                <a:ea typeface="微软雅黑" panose="020B0503020204020204" pitchFamily="34" charset="-122"/>
              </a:rPr>
              <a:t>正确地</a:t>
            </a:r>
            <a:r>
              <a:rPr lang="zh-CN" altLang="en-US" sz="2800" dirty="0">
                <a:solidFill>
                  <a:schemeClr val="bg1"/>
                </a:solidFill>
                <a:latin typeface="微软雅黑" panose="020B0503020204020204" pitchFamily="34" charset="-122"/>
                <a:ea typeface="微软雅黑" panose="020B0503020204020204" pitchFamily="34" charset="-122"/>
              </a:rPr>
              <a:t>、</a:t>
            </a:r>
            <a:r>
              <a:rPr lang="zh-CN" altLang="en-US" sz="2800" b="1" u="dbl" dirty="0">
                <a:solidFill>
                  <a:srgbClr val="0070C0"/>
                </a:solidFill>
                <a:uFill>
                  <a:solidFill>
                    <a:srgbClr val="FF0000"/>
                  </a:solidFill>
                </a:uFill>
                <a:latin typeface="微软雅黑" panose="020B0503020204020204" pitchFamily="34" charset="-122"/>
                <a:ea typeface="微软雅黑" panose="020B0503020204020204" pitchFamily="34" charset="-122"/>
              </a:rPr>
              <a:t>有效地</a:t>
            </a:r>
            <a:r>
              <a:rPr lang="zh-CN" altLang="en-US" sz="2800" dirty="0">
                <a:solidFill>
                  <a:schemeClr val="bg1"/>
                </a:solidFill>
                <a:latin typeface="微软雅黑" panose="020B0503020204020204" pitchFamily="34" charset="-122"/>
                <a:ea typeface="微软雅黑" panose="020B0503020204020204" pitchFamily="34" charset="-122"/>
              </a:rPr>
              <a:t>处理才能得出</a:t>
            </a:r>
            <a:r>
              <a:rPr lang="zh-CN" altLang="en-US" sz="2800" b="1" u="dbl" dirty="0">
                <a:solidFill>
                  <a:srgbClr val="0070C0"/>
                </a:solidFill>
                <a:uFill>
                  <a:solidFill>
                    <a:srgbClr val="FF0000"/>
                  </a:solidFill>
                </a:uFill>
                <a:latin typeface="微软雅黑" panose="020B0503020204020204" pitchFamily="34" charset="-122"/>
                <a:ea typeface="微软雅黑" panose="020B0503020204020204" pitchFamily="34" charset="-122"/>
              </a:rPr>
              <a:t>公认的</a:t>
            </a:r>
            <a:r>
              <a:rPr lang="zh-CN" altLang="en-US" sz="2800" dirty="0">
                <a:solidFill>
                  <a:schemeClr val="bg1"/>
                </a:solidFill>
                <a:latin typeface="微软雅黑" panose="020B0503020204020204" pitchFamily="34" charset="-122"/>
                <a:ea typeface="微软雅黑" panose="020B0503020204020204" pitchFamily="34" charset="-122"/>
              </a:rPr>
              <a:t>、</a:t>
            </a:r>
            <a:r>
              <a:rPr lang="zh-CN" altLang="en-US" sz="2800" b="1" u="dbl" dirty="0">
                <a:solidFill>
                  <a:srgbClr val="0070C0"/>
                </a:solidFill>
                <a:uFill>
                  <a:solidFill>
                    <a:srgbClr val="FF0000"/>
                  </a:solidFill>
                </a:uFill>
                <a:latin typeface="微软雅黑" panose="020B0503020204020204" pitchFamily="34" charset="-122"/>
                <a:ea typeface="微软雅黑" panose="020B0503020204020204" pitchFamily="34" charset="-122"/>
              </a:rPr>
              <a:t>合理的</a:t>
            </a:r>
            <a:r>
              <a:rPr lang="zh-CN" altLang="en-US" sz="2800" dirty="0">
                <a:solidFill>
                  <a:schemeClr val="bg1"/>
                </a:solidFill>
                <a:latin typeface="微软雅黑" panose="020B0503020204020204" pitchFamily="34" charset="-122"/>
                <a:ea typeface="微软雅黑" panose="020B0503020204020204" pitchFamily="34" charset="-122"/>
              </a:rPr>
              <a:t>结论。</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7" name="矩形 5"/>
          <p:cNvSpPr/>
          <p:nvPr/>
        </p:nvSpPr>
        <p:spPr>
          <a:xfrm>
            <a:off x="3566731" y="2842748"/>
            <a:ext cx="5985653" cy="181588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None/>
            </a:pPr>
            <a:r>
              <a:rPr lang="zh-CN" altLang="en-US" sz="2800" b="1" dirty="0">
                <a:solidFill>
                  <a:srgbClr val="0000FF"/>
                </a:solidFill>
                <a:latin typeface="微软雅黑" panose="020B0503020204020204" pitchFamily="34" charset="-122"/>
                <a:ea typeface="微软雅黑" panose="020B0503020204020204" pitchFamily="34" charset="-122"/>
              </a:rPr>
              <a:t>数据处理是一个过程</a:t>
            </a:r>
            <a:endParaRPr lang="en-US" altLang="zh-CN" sz="2800" b="1" dirty="0">
              <a:solidFill>
                <a:srgbClr val="0000FF"/>
              </a:solidFill>
              <a:latin typeface="微软雅黑" panose="020B0503020204020204" pitchFamily="34" charset="-122"/>
              <a:ea typeface="微软雅黑" panose="020B0503020204020204" pitchFamily="34" charset="-122"/>
            </a:endParaRPr>
          </a:p>
          <a:p>
            <a:pPr marL="0" lvl="0" indent="0" eaLnBrk="1" hangingPunct="1">
              <a:spcBef>
                <a:spcPct val="0"/>
              </a:spcBef>
              <a:buNone/>
            </a:pPr>
            <a:r>
              <a:rPr lang="zh-CN" altLang="en-US" sz="2800" dirty="0">
                <a:solidFill>
                  <a:srgbClr val="0000FF"/>
                </a:solidFill>
                <a:latin typeface="微软雅黑" panose="020B0503020204020204" pitchFamily="34" charset="-122"/>
                <a:ea typeface="微软雅黑" panose="020B0503020204020204" pitchFamily="34" charset="-122"/>
              </a:rPr>
              <a:t>从大量的、可能是杂乱无章的、难以理解的实验数据中</a:t>
            </a:r>
            <a:r>
              <a:rPr lang="zh-CN" altLang="en-US" sz="2800" b="1" dirty="0">
                <a:solidFill>
                  <a:srgbClr val="FF0000"/>
                </a:solidFill>
                <a:latin typeface="微软雅黑" panose="020B0503020204020204" pitchFamily="34" charset="-122"/>
                <a:ea typeface="微软雅黑" panose="020B0503020204020204" pitchFamily="34" charset="-122"/>
              </a:rPr>
              <a:t>抽取</a:t>
            </a:r>
            <a:r>
              <a:rPr lang="zh-CN" altLang="en-US" sz="2800" dirty="0">
                <a:solidFill>
                  <a:srgbClr val="0000FF"/>
                </a:solidFill>
                <a:latin typeface="微软雅黑" panose="020B0503020204020204" pitchFamily="34" charset="-122"/>
                <a:ea typeface="微软雅黑" panose="020B0503020204020204" pitchFamily="34" charset="-122"/>
              </a:rPr>
              <a:t>并</a:t>
            </a:r>
            <a:r>
              <a:rPr lang="zh-CN" altLang="en-US" sz="2800" b="1" dirty="0">
                <a:solidFill>
                  <a:srgbClr val="FF0000"/>
                </a:solidFill>
                <a:latin typeface="微软雅黑" panose="020B0503020204020204" pitchFamily="34" charset="-122"/>
                <a:ea typeface="微软雅黑" panose="020B0503020204020204" pitchFamily="34" charset="-122"/>
              </a:rPr>
              <a:t>归纳</a:t>
            </a:r>
            <a:r>
              <a:rPr lang="zh-CN" altLang="en-US" sz="2800" dirty="0">
                <a:solidFill>
                  <a:srgbClr val="0000FF"/>
                </a:solidFill>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推导</a:t>
            </a:r>
            <a:r>
              <a:rPr lang="zh-CN" altLang="en-US" sz="2800" dirty="0">
                <a:solidFill>
                  <a:srgbClr val="0000FF"/>
                </a:solidFill>
                <a:latin typeface="微软雅黑" panose="020B0503020204020204" pitchFamily="34" charset="-122"/>
                <a:ea typeface="微软雅黑" panose="020B0503020204020204" pitchFamily="34" charset="-122"/>
              </a:rPr>
              <a:t>出所得实验结果的</a:t>
            </a:r>
            <a:r>
              <a:rPr lang="zh-CN" altLang="en-US" sz="2800" b="1" dirty="0">
                <a:solidFill>
                  <a:srgbClr val="FF0000"/>
                </a:solidFill>
                <a:latin typeface="微软雅黑" panose="020B0503020204020204" pitchFamily="34" charset="-122"/>
                <a:ea typeface="微软雅黑" panose="020B0503020204020204" pitchFamily="34" charset="-122"/>
              </a:rPr>
              <a:t>定量、规范的表达</a:t>
            </a:r>
            <a:r>
              <a:rPr lang="zh-CN" altLang="en-US" sz="2800" dirty="0">
                <a:solidFill>
                  <a:srgbClr val="0000FF"/>
                </a:solidFill>
                <a:latin typeface="微软雅黑" panose="020B0503020204020204" pitchFamily="34" charset="-122"/>
                <a:ea typeface="微软雅黑" panose="020B0503020204020204" pitchFamily="34" charset="-122"/>
              </a:rPr>
              <a:t>。</a:t>
            </a:r>
            <a:endParaRPr lang="en-US" altLang="zh-CN" sz="2800" dirty="0">
              <a:solidFill>
                <a:srgbClr val="0000FF"/>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1469740" y="1425547"/>
            <a:ext cx="8892480" cy="523220"/>
          </a:xfrm>
          <a:prstGeom prst="rect">
            <a:avLst/>
          </a:prstGeom>
          <a:noFill/>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大多数物理规律是用物理量之间的</a:t>
            </a:r>
            <a:r>
              <a:rPr lang="zh-CN" altLang="en-US" sz="2800" b="1" u="dbl" dirty="0">
                <a:solidFill>
                  <a:schemeClr val="bg1"/>
                </a:solidFill>
                <a:uFill>
                  <a:solidFill>
                    <a:srgbClr val="FF0000"/>
                  </a:solidFill>
                </a:uFill>
                <a:latin typeface="微软雅黑" panose="020B0503020204020204" pitchFamily="34" charset="-122"/>
                <a:ea typeface="微软雅黑" panose="020B0503020204020204" pitchFamily="34" charset="-122"/>
              </a:rPr>
              <a:t>定量关系</a:t>
            </a:r>
            <a:r>
              <a:rPr lang="zh-CN" altLang="en-US" sz="2800" dirty="0">
                <a:solidFill>
                  <a:schemeClr val="bg1"/>
                </a:solidFill>
                <a:latin typeface="微软雅黑" panose="020B0503020204020204" pitchFamily="34" charset="-122"/>
                <a:ea typeface="微软雅黑" panose="020B0503020204020204" pitchFamily="34" charset="-122"/>
              </a:rPr>
              <a:t>来表述的。</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9" name="矩形标注 8"/>
          <p:cNvSpPr/>
          <p:nvPr/>
        </p:nvSpPr>
        <p:spPr>
          <a:xfrm>
            <a:off x="665026" y="4365104"/>
            <a:ext cx="2502601" cy="388280"/>
          </a:xfrm>
          <a:prstGeom prst="wedgeRectCallout">
            <a:avLst>
              <a:gd name="adj1" fmla="val 92203"/>
              <a:gd name="adj2" fmla="val 2681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FF"/>
                </a:solidFill>
                <a:latin typeface="微软雅黑" panose="020B0503020204020204" pitchFamily="34" charset="-122"/>
                <a:ea typeface="微软雅黑" panose="020B0503020204020204" pitchFamily="34" charset="-122"/>
              </a:rPr>
              <a:t>对结论做检验</a:t>
            </a:r>
            <a:endParaRPr lang="en-US" altLang="zh-CN" dirty="0">
              <a:solidFill>
                <a:srgbClr val="0000FF"/>
              </a:solidFill>
              <a:latin typeface="微软雅黑" panose="020B0503020204020204" pitchFamily="34" charset="-122"/>
              <a:ea typeface="微软雅黑" panose="020B0503020204020204" pitchFamily="34" charset="-122"/>
            </a:endParaRPr>
          </a:p>
          <a:p>
            <a:pPr algn="ctr"/>
            <a:r>
              <a:rPr lang="zh-CN" altLang="en-US" dirty="0">
                <a:solidFill>
                  <a:srgbClr val="0000FF"/>
                </a:solidFill>
                <a:latin typeface="微软雅黑" panose="020B0503020204020204" pitchFamily="34" charset="-122"/>
                <a:ea typeface="微软雅黑" panose="020B0503020204020204" pitchFamily="34" charset="-122"/>
              </a:rPr>
              <a:t>是否符合物理规律？</a:t>
            </a:r>
            <a:endParaRPr lang="zh-CN" altLang="en-US"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A54D9D6D-0819-48BE-809C-2A51D04D71F0}" type="slidenum">
              <a:rPr lang="zh-CN" altLang="en-US" smtClean="0"/>
            </a:fld>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0"/>
                            </p:stCondLst>
                            <p:childTnLst>
                              <p:par>
                                <p:cTn id="21" presetID="22" presetClass="entr" presetSubtype="4"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6"/>
          <p:cNvSpPr>
            <a:spLocks noGrp="1"/>
          </p:cNvSpPr>
          <p:nvPr>
            <p:ph idx="4294967295"/>
          </p:nvPr>
        </p:nvSpPr>
        <p:spPr>
          <a:xfrm>
            <a:off x="335360" y="1629210"/>
            <a:ext cx="11726762" cy="1439614"/>
          </a:xfrm>
        </p:spPr>
        <p:txBody>
          <a:bodyPr>
            <a:normAutofit/>
          </a:bodyPr>
          <a:lstStyle/>
          <a:p>
            <a:pPr marL="0" indent="0" eaLnBrk="1" hangingPunct="1">
              <a:buNone/>
              <a:defRPr/>
            </a:pPr>
            <a:r>
              <a:rPr lang="zh-CN" altLang="en-US" sz="2400" b="1" u="sng" dirty="0">
                <a:solidFill>
                  <a:schemeClr val="bg1"/>
                </a:solidFill>
                <a:latin typeface="微软雅黑" panose="020B0503020204020204" pitchFamily="34" charset="-122"/>
                <a:ea typeface="微软雅黑" panose="020B0503020204020204" pitchFamily="34" charset="-122"/>
              </a:rPr>
              <a:t>有效数字</a:t>
            </a:r>
            <a:r>
              <a:rPr lang="en-US" altLang="zh-CN" sz="2400" b="1" u="sng" dirty="0">
                <a:solidFill>
                  <a:schemeClr val="bg1"/>
                </a:solidFill>
                <a:latin typeface="微软雅黑" panose="020B0503020204020204" pitchFamily="34" charset="-122"/>
                <a:ea typeface="微软雅黑" panose="020B0503020204020204" pitchFamily="34" charset="-122"/>
              </a:rPr>
              <a:t>----</a:t>
            </a:r>
            <a:r>
              <a:rPr lang="zh-CN" altLang="en-US" sz="2400" b="1" u="sng" dirty="0">
                <a:solidFill>
                  <a:srgbClr val="0070C0"/>
                </a:solidFill>
                <a:latin typeface="微软雅黑" panose="020B0503020204020204" pitchFamily="34" charset="-122"/>
                <a:ea typeface="微软雅黑" panose="020B0503020204020204" pitchFamily="34" charset="-122"/>
              </a:rPr>
              <a:t>从第一个不为</a:t>
            </a:r>
            <a:r>
              <a:rPr lang="en-US" altLang="zh-CN" sz="2400" b="1" u="sng" dirty="0">
                <a:solidFill>
                  <a:srgbClr val="0070C0"/>
                </a:solidFill>
                <a:latin typeface="微软雅黑" panose="020B0503020204020204" pitchFamily="34" charset="-122"/>
                <a:ea typeface="微软雅黑" panose="020B0503020204020204" pitchFamily="34" charset="-122"/>
              </a:rPr>
              <a:t>0</a:t>
            </a:r>
            <a:r>
              <a:rPr lang="zh-CN" altLang="en-US" sz="2400" b="1" u="sng" dirty="0">
                <a:solidFill>
                  <a:srgbClr val="0070C0"/>
                </a:solidFill>
                <a:latin typeface="微软雅黑" panose="020B0503020204020204" pitchFamily="34" charset="-122"/>
                <a:ea typeface="微软雅黑" panose="020B0503020204020204" pitchFamily="34" charset="-122"/>
              </a:rPr>
              <a:t>的数开始算起</a:t>
            </a:r>
            <a:r>
              <a:rPr lang="zh-CN" altLang="en-US" sz="2400" b="1" u="sng" dirty="0">
                <a:solidFill>
                  <a:schemeClr val="bg1"/>
                </a:solidFill>
                <a:latin typeface="微软雅黑" panose="020B0503020204020204" pitchFamily="34" charset="-122"/>
                <a:ea typeface="微软雅黑" panose="020B0503020204020204" pitchFamily="34" charset="-122"/>
              </a:rPr>
              <a:t>的所有数字</a:t>
            </a:r>
            <a:r>
              <a:rPr lang="zh-CN" altLang="en-US" sz="2400" b="1" dirty="0">
                <a:solidFill>
                  <a:schemeClr val="bg1"/>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微软雅黑" panose="020B0503020204020204" pitchFamily="34" charset="-122"/>
              <a:ea typeface="微软雅黑" panose="020B0503020204020204" pitchFamily="34" charset="-122"/>
            </a:endParaRPr>
          </a:p>
          <a:p>
            <a:pPr marL="0" indent="0">
              <a:lnSpc>
                <a:spcPct val="130000"/>
              </a:lnSpc>
              <a:buNone/>
              <a:defRPr/>
            </a:pPr>
            <a:r>
              <a:rPr lang="zh-CN" altLang="en-US" sz="2400" dirty="0">
                <a:solidFill>
                  <a:schemeClr val="bg1"/>
                </a:solidFill>
                <a:latin typeface="微软雅黑" panose="020B0503020204020204" pitchFamily="34" charset="-122"/>
                <a:ea typeface="微软雅黑" panose="020B0503020204020204" pitchFamily="34" charset="-122"/>
              </a:rPr>
              <a:t>         如</a:t>
            </a:r>
            <a:r>
              <a:rPr lang="en-US" altLang="zh-CN" sz="2400" dirty="0">
                <a:solidFill>
                  <a:schemeClr val="bg1"/>
                </a:solidFill>
                <a:latin typeface="微软雅黑" panose="020B0503020204020204" pitchFamily="34" charset="-122"/>
                <a:ea typeface="微软雅黑" panose="020B0503020204020204" pitchFamily="34" charset="-122"/>
              </a:rPr>
              <a:t>, 0.35 (</a:t>
            </a:r>
            <a:r>
              <a:rPr lang="en-US" altLang="zh-CN" sz="2400" dirty="0">
                <a:solidFill>
                  <a:srgbClr val="0070C0"/>
                </a:solidFill>
                <a:latin typeface="微软雅黑" panose="020B0503020204020204" pitchFamily="34" charset="-122"/>
                <a:ea typeface="微软雅黑" panose="020B0503020204020204" pitchFamily="34" charset="-122"/>
              </a:rPr>
              <a:t>2</a:t>
            </a:r>
            <a:r>
              <a:rPr lang="zh-CN" altLang="en-US" sz="2400" dirty="0">
                <a:solidFill>
                  <a:srgbClr val="0070C0"/>
                </a:solidFill>
                <a:latin typeface="微软雅黑" panose="020B0503020204020204" pitchFamily="34" charset="-122"/>
                <a:ea typeface="微软雅黑" panose="020B0503020204020204" pitchFamily="34" charset="-122"/>
              </a:rPr>
              <a:t>个</a:t>
            </a:r>
            <a:r>
              <a:rPr lang="en-US" altLang="zh-CN" sz="2400" dirty="0">
                <a:solidFill>
                  <a:schemeClr val="bg1"/>
                </a:solidFill>
                <a:latin typeface="微软雅黑" panose="020B0503020204020204" pitchFamily="34" charset="-122"/>
                <a:ea typeface="微软雅黑" panose="020B0503020204020204" pitchFamily="34" charset="-122"/>
              </a:rPr>
              <a:t>); 3.54 (</a:t>
            </a:r>
            <a:r>
              <a:rPr lang="en-US" altLang="zh-CN" sz="2400" dirty="0">
                <a:solidFill>
                  <a:srgbClr val="0070C0"/>
                </a:solidFill>
                <a:latin typeface="微软雅黑" panose="020B0503020204020204" pitchFamily="34" charset="-122"/>
                <a:ea typeface="微软雅黑" panose="020B0503020204020204" pitchFamily="34" charset="-122"/>
              </a:rPr>
              <a:t>3</a:t>
            </a:r>
            <a:r>
              <a:rPr lang="zh-CN" altLang="en-US" sz="2400" dirty="0">
                <a:solidFill>
                  <a:srgbClr val="0070C0"/>
                </a:solidFill>
                <a:latin typeface="微软雅黑" panose="020B0503020204020204" pitchFamily="34" charset="-122"/>
                <a:ea typeface="微软雅黑" panose="020B0503020204020204" pitchFamily="34" charset="-122"/>
              </a:rPr>
              <a:t>个</a:t>
            </a:r>
            <a:r>
              <a:rPr lang="en-US" altLang="zh-CN" sz="2400" dirty="0">
                <a:solidFill>
                  <a:schemeClr val="bg1"/>
                </a:solidFill>
                <a:latin typeface="微软雅黑" panose="020B0503020204020204" pitchFamily="34" charset="-122"/>
                <a:ea typeface="微软雅黑" panose="020B0503020204020204" pitchFamily="34" charset="-122"/>
              </a:rPr>
              <a:t>); 0.003540 (</a:t>
            </a:r>
            <a:r>
              <a:rPr lang="en-US" altLang="zh-CN" sz="2400" dirty="0">
                <a:solidFill>
                  <a:srgbClr val="0070C0"/>
                </a:solidFill>
                <a:latin typeface="微软雅黑" panose="020B0503020204020204" pitchFamily="34" charset="-122"/>
                <a:ea typeface="微软雅黑" panose="020B0503020204020204" pitchFamily="34" charset="-122"/>
              </a:rPr>
              <a:t>4</a:t>
            </a:r>
            <a:r>
              <a:rPr lang="zh-CN" altLang="en-US" sz="2400" dirty="0">
                <a:solidFill>
                  <a:srgbClr val="0070C0"/>
                </a:solidFill>
                <a:latin typeface="微软雅黑" panose="020B0503020204020204" pitchFamily="34" charset="-122"/>
                <a:ea typeface="微软雅黑" panose="020B0503020204020204" pitchFamily="34" charset="-122"/>
              </a:rPr>
              <a:t>个</a:t>
            </a:r>
            <a:r>
              <a:rPr lang="en-US" altLang="zh-CN" sz="2400" dirty="0">
                <a:solidFill>
                  <a:schemeClr val="bg1"/>
                </a:solidFill>
                <a:latin typeface="微软雅黑" panose="020B0503020204020204" pitchFamily="34" charset="-122"/>
                <a:ea typeface="微软雅黑" panose="020B0503020204020204" pitchFamily="34" charset="-122"/>
              </a:rPr>
              <a:t>); 3.5400 (</a:t>
            </a:r>
            <a:r>
              <a:rPr lang="en-US" altLang="zh-CN" sz="2400" dirty="0">
                <a:solidFill>
                  <a:srgbClr val="0070C0"/>
                </a:solidFill>
                <a:latin typeface="微软雅黑" panose="020B0503020204020204" pitchFamily="34" charset="-122"/>
                <a:ea typeface="微软雅黑" panose="020B0503020204020204" pitchFamily="34" charset="-122"/>
              </a:rPr>
              <a:t>5</a:t>
            </a:r>
            <a:r>
              <a:rPr lang="zh-CN" altLang="en-US" sz="2400" dirty="0">
                <a:solidFill>
                  <a:srgbClr val="0070C0"/>
                </a:solidFill>
                <a:latin typeface="微软雅黑" panose="020B0503020204020204" pitchFamily="34" charset="-122"/>
                <a:ea typeface="微软雅黑" panose="020B0503020204020204" pitchFamily="34" charset="-122"/>
              </a:rPr>
              <a:t>个</a:t>
            </a:r>
            <a:r>
              <a:rPr lang="en-US" altLang="zh-CN" sz="2400" dirty="0">
                <a:solidFill>
                  <a:schemeClr val="bg1"/>
                </a:solidFill>
                <a:latin typeface="微软雅黑" panose="020B0503020204020204" pitchFamily="34" charset="-122"/>
                <a:ea typeface="微软雅黑" panose="020B0503020204020204" pitchFamily="34" charset="-122"/>
              </a:rPr>
              <a:t>)</a:t>
            </a:r>
            <a:r>
              <a:rPr lang="zh-CN" altLang="en-US" sz="2400" dirty="0">
                <a:solidFill>
                  <a:schemeClr val="bg1"/>
                </a:solidFill>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31754" name="标题 1"/>
          <p:cNvSpPr/>
          <p:nvPr/>
        </p:nvSpPr>
        <p:spPr bwMode="auto">
          <a:xfrm>
            <a:off x="335360" y="828646"/>
            <a:ext cx="4181365" cy="841391"/>
          </a:xfrm>
          <a:prstGeom prst="rect">
            <a:avLst/>
          </a:prstGeom>
          <a:noFill/>
          <a:ln w="9525">
            <a:noFill/>
            <a:miter lim="800000"/>
          </a:ln>
        </p:spPr>
        <p:txBody>
          <a:bodyPr anchor="ctr"/>
          <a:lstStyle/>
          <a:p>
            <a:pPr algn="l"/>
            <a:r>
              <a:rPr lang="zh-CN" altLang="en-US" sz="3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什么是有效数字</a:t>
            </a:r>
            <a:endParaRPr lang="zh-CN" altLang="en-US" sz="3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矩形 13"/>
          <p:cNvSpPr>
            <a:spLocks noChangeArrowheads="1"/>
          </p:cNvSpPr>
          <p:nvPr/>
        </p:nvSpPr>
        <p:spPr bwMode="auto">
          <a:xfrm>
            <a:off x="1258419" y="4108351"/>
            <a:ext cx="9001000" cy="584775"/>
          </a:xfrm>
          <a:prstGeom prst="rect">
            <a:avLst/>
          </a:prstGeom>
          <a:noFill/>
          <a:ln w="9525">
            <a:noFill/>
            <a:miter lim="800000"/>
          </a:ln>
        </p:spPr>
        <p:txBody>
          <a:bodyPr wrap="square">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有效数字＝所有的可靠的数字  </a:t>
            </a:r>
            <a:r>
              <a:rPr lang="en-US" altLang="zh-CN" sz="3200" b="1" dirty="0">
                <a:solidFill>
                  <a:schemeClr val="bg1"/>
                </a:solidFill>
                <a:latin typeface="微软雅黑" panose="020B0503020204020204" pitchFamily="34" charset="-122"/>
                <a:ea typeface="微软雅黑" panose="020B0503020204020204" pitchFamily="34" charset="-122"/>
              </a:rPr>
              <a:t>+ </a:t>
            </a:r>
            <a:r>
              <a:rPr lang="zh-CN" altLang="en-US" sz="3200" b="1" dirty="0">
                <a:solidFill>
                  <a:schemeClr val="bg1"/>
                </a:solidFill>
                <a:latin typeface="微软雅黑" panose="020B0503020204020204" pitchFamily="34" charset="-122"/>
                <a:ea typeface="微软雅黑" panose="020B0503020204020204" pitchFamily="34" charset="-122"/>
              </a:rPr>
              <a:t>一位可疑数字</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8"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2. </a:t>
            </a:r>
            <a:r>
              <a:rPr lang="zh-CN" altLang="en-US" sz="5400" b="1" dirty="0">
                <a:solidFill>
                  <a:schemeClr val="bg1"/>
                </a:solidFill>
                <a:latin typeface="微软雅黑" panose="020B0503020204020204" pitchFamily="34" charset="-122"/>
                <a:ea typeface="微软雅黑" panose="020B0503020204020204" pitchFamily="34" charset="-122"/>
              </a:rPr>
              <a:t>有效数字及运算规则</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11" name="Rectangle 35"/>
          <p:cNvSpPr>
            <a:spLocks noChangeArrowheads="1"/>
          </p:cNvSpPr>
          <p:nvPr/>
        </p:nvSpPr>
        <p:spPr bwMode="auto">
          <a:xfrm>
            <a:off x="351250" y="2727211"/>
            <a:ext cx="1081533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zh-CN" sz="2800" dirty="0">
                <a:solidFill>
                  <a:schemeClr val="bg1"/>
                </a:solidFill>
                <a:latin typeface="微软雅黑" panose="020B0503020204020204" pitchFamily="34" charset="-122"/>
                <a:ea typeface="微软雅黑" panose="020B0503020204020204" pitchFamily="34" charset="-122"/>
              </a:rPr>
              <a:t>物理实验中的有效数字是针对测量中的数据定义的概念</a:t>
            </a:r>
            <a:r>
              <a:rPr lang="zh-CN" altLang="en-US" sz="2800" dirty="0">
                <a:solidFill>
                  <a:schemeClr val="bg1"/>
                </a:solidFill>
                <a:latin typeface="微软雅黑" panose="020B0503020204020204" pitchFamily="34" charset="-122"/>
                <a:ea typeface="微软雅黑" panose="020B0503020204020204" pitchFamily="34" charset="-122"/>
              </a:rPr>
              <a:t>，</a:t>
            </a:r>
            <a:r>
              <a:rPr lang="zh-CN" altLang="zh-CN" sz="2800" dirty="0">
                <a:solidFill>
                  <a:schemeClr val="bg1"/>
                </a:solidFill>
                <a:latin typeface="微软雅黑" panose="020B0503020204020204" pitchFamily="34" charset="-122"/>
                <a:ea typeface="微软雅黑" panose="020B0503020204020204" pitchFamily="34" charset="-122"/>
              </a:rPr>
              <a:t>是一个有单位的数据</a:t>
            </a:r>
            <a:r>
              <a:rPr lang="zh-CN" altLang="en-US" sz="2800" dirty="0">
                <a:solidFill>
                  <a:schemeClr val="bg1"/>
                </a:solidFill>
                <a:latin typeface="微软雅黑" panose="020B0503020204020204" pitchFamily="34" charset="-122"/>
                <a:ea typeface="微软雅黑" panose="020B0503020204020204" pitchFamily="34" charset="-122"/>
              </a:rPr>
              <a:t>，</a:t>
            </a:r>
            <a:r>
              <a:rPr lang="zh-CN" altLang="zh-CN" sz="2800" dirty="0">
                <a:solidFill>
                  <a:schemeClr val="bg1"/>
                </a:solidFill>
                <a:latin typeface="微软雅黑" panose="020B0503020204020204" pitchFamily="34" charset="-122"/>
                <a:ea typeface="微软雅黑" panose="020B0503020204020204" pitchFamily="34" charset="-122"/>
              </a:rPr>
              <a:t>由若干位</a:t>
            </a:r>
            <a:r>
              <a:rPr lang="zh-CN" altLang="zh-CN" sz="2800" u="sng" dirty="0">
                <a:solidFill>
                  <a:srgbClr val="C00000"/>
                </a:solidFill>
                <a:latin typeface="微软雅黑" panose="020B0503020204020204" pitchFamily="34" charset="-122"/>
                <a:ea typeface="微软雅黑" panose="020B0503020204020204" pitchFamily="34" charset="-122"/>
              </a:rPr>
              <a:t>可靠数字</a:t>
            </a:r>
            <a:r>
              <a:rPr lang="zh-CN" altLang="zh-CN" sz="2800" dirty="0">
                <a:solidFill>
                  <a:schemeClr val="bg1"/>
                </a:solidFill>
                <a:latin typeface="微软雅黑" panose="020B0503020204020204" pitchFamily="34" charset="-122"/>
                <a:ea typeface="微软雅黑" panose="020B0503020204020204" pitchFamily="34" charset="-122"/>
              </a:rPr>
              <a:t>及末尾一位</a:t>
            </a:r>
            <a:r>
              <a:rPr lang="zh-CN" altLang="en-US" sz="2800" u="sng" dirty="0">
                <a:solidFill>
                  <a:srgbClr val="C00000"/>
                </a:solidFill>
                <a:latin typeface="微软雅黑" panose="020B0503020204020204" pitchFamily="34" charset="-122"/>
                <a:ea typeface="微软雅黑" panose="020B0503020204020204" pitchFamily="34" charset="-122"/>
              </a:rPr>
              <a:t>可</a:t>
            </a:r>
            <a:r>
              <a:rPr lang="zh-CN" altLang="zh-CN" sz="2800" u="sng" dirty="0">
                <a:solidFill>
                  <a:srgbClr val="C00000"/>
                </a:solidFill>
                <a:latin typeface="微软雅黑" panose="020B0503020204020204" pitchFamily="34" charset="-122"/>
                <a:ea typeface="微软雅黑" panose="020B0503020204020204" pitchFamily="34" charset="-122"/>
              </a:rPr>
              <a:t>疑数字</a:t>
            </a:r>
            <a:r>
              <a:rPr lang="zh-CN" altLang="zh-CN" sz="2800" dirty="0">
                <a:solidFill>
                  <a:schemeClr val="bg1"/>
                </a:solidFill>
                <a:latin typeface="微软雅黑" panose="020B0503020204020204" pitchFamily="34" charset="-122"/>
                <a:ea typeface="微软雅黑" panose="020B0503020204020204" pitchFamily="34" charset="-122"/>
              </a:rPr>
              <a:t>组成。</a:t>
            </a:r>
            <a:endParaRPr lang="zh-CN" altLang="zh-CN" sz="2800" dirty="0">
              <a:solidFill>
                <a:schemeClr val="bg1"/>
              </a:solidFill>
              <a:latin typeface="微软雅黑" panose="020B0503020204020204" pitchFamily="34" charset="-122"/>
              <a:ea typeface="微软雅黑" panose="020B0503020204020204" pitchFamily="34" charset="-122"/>
            </a:endParaRPr>
          </a:p>
        </p:txBody>
      </p:sp>
      <p:sp>
        <p:nvSpPr>
          <p:cNvPr id="15" name="Text Box 6"/>
          <p:cNvSpPr txBox="1">
            <a:spLocks noChangeArrowheads="1"/>
          </p:cNvSpPr>
          <p:nvPr/>
        </p:nvSpPr>
        <p:spPr bwMode="auto">
          <a:xfrm>
            <a:off x="1775520" y="4941168"/>
            <a:ext cx="7056438" cy="1050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2.32</a:t>
            </a:r>
            <a:r>
              <a:rPr lang="zh-CN" altLang="zh-CN" sz="2400" u="sng"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7</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kg</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有4位</a:t>
            </a:r>
            <a:r>
              <a:rPr lang="zh-CN"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有效数字</a:t>
            </a: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其中</a:t>
            </a:r>
            <a:r>
              <a:rPr lang="zh-CN" altLang="zh-CN" sz="2400" u="sng"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是</a:t>
            </a: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可</a:t>
            </a: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疑数字</a:t>
            </a: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25000"/>
              </a:lnSpc>
            </a:pP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22</a:t>
            </a:r>
            <a:r>
              <a:rPr lang="zh-CN" altLang="zh-CN" sz="2400" u="sng"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0</a:t>
            </a:r>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V  </a:t>
            </a: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有3位有效数字</a:t>
            </a: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其中0是</a:t>
            </a: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可</a:t>
            </a:r>
            <a:r>
              <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疑数字</a:t>
            </a: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4"/>
                                        </p:tgtEl>
                                        <p:attrNameLst>
                                          <p:attrName>style.visibility</p:attrName>
                                        </p:attrNameLst>
                                      </p:cBhvr>
                                      <p:to>
                                        <p:strVal val="visible"/>
                                      </p:to>
                                    </p:se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wipe(left)">
                                      <p:cBhvr>
                                        <p:cTn id="15" dur="500"/>
                                        <p:tgtEl>
                                          <p:spTgt spid="1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5">
                                            <p:txEl>
                                              <p:pRg st="1" end="1"/>
                                            </p:txEl>
                                          </p:spTgt>
                                        </p:tgtEl>
                                        <p:attrNameLst>
                                          <p:attrName>style.visibility</p:attrName>
                                        </p:attrNameLst>
                                      </p:cBhvr>
                                      <p:to>
                                        <p:strVal val="visible"/>
                                      </p:to>
                                    </p:set>
                                    <p:animEffect transition="in" filter="wipe(left)">
                                      <p:cBhvr>
                                        <p:cTn id="20"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1"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4" name="标题 1"/>
          <p:cNvSpPr/>
          <p:nvPr/>
        </p:nvSpPr>
        <p:spPr bwMode="auto">
          <a:xfrm>
            <a:off x="335360" y="828646"/>
            <a:ext cx="4181365" cy="841391"/>
          </a:xfrm>
          <a:prstGeom prst="rect">
            <a:avLst/>
          </a:prstGeom>
          <a:noFill/>
          <a:ln w="9525">
            <a:noFill/>
            <a:miter lim="800000"/>
          </a:ln>
        </p:spPr>
        <p:txBody>
          <a:bodyPr anchor="ctr"/>
          <a:lstStyle/>
          <a:p>
            <a:pPr algn="l"/>
            <a:r>
              <a:rPr lang="zh-CN" altLang="en-US"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什么是有效数字</a:t>
            </a:r>
            <a:endParaRPr lang="zh-CN" altLang="en-US"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矩形 16"/>
          <p:cNvSpPr/>
          <p:nvPr/>
        </p:nvSpPr>
        <p:spPr>
          <a:xfrm>
            <a:off x="335360" y="1729580"/>
            <a:ext cx="10627382" cy="954107"/>
          </a:xfrm>
          <a:prstGeom prst="rect">
            <a:avLst/>
          </a:prstGeom>
        </p:spPr>
        <p:txBody>
          <a:bodyPr wrap="square">
            <a:spAutoFit/>
          </a:bodyPr>
          <a:lstStyle/>
          <a:p>
            <a:pPr>
              <a:defRPr/>
            </a:pPr>
            <a:r>
              <a:rPr lang="zh-CN" altLang="en-US" sz="2800" b="1" dirty="0">
                <a:solidFill>
                  <a:schemeClr val="bg1"/>
                </a:solidFill>
                <a:latin typeface="微软雅黑" panose="020B0503020204020204" pitchFamily="34" charset="-122"/>
                <a:ea typeface="微软雅黑" panose="020B0503020204020204" pitchFamily="34" charset="-122"/>
              </a:rPr>
              <a:t> 有效数字和单位：</a:t>
            </a:r>
            <a:r>
              <a:rPr lang="en-US" altLang="zh-CN" sz="2800" dirty="0">
                <a:solidFill>
                  <a:schemeClr val="bg1"/>
                </a:solidFill>
                <a:latin typeface="微软雅黑" panose="020B0503020204020204" pitchFamily="34" charset="-122"/>
                <a:ea typeface="微软雅黑" panose="020B0503020204020204" pitchFamily="34" charset="-122"/>
              </a:rPr>
              <a:t>76.2 m =0.0762 km, </a:t>
            </a:r>
            <a:endParaRPr lang="en-US" altLang="zh-CN" sz="2800" dirty="0">
              <a:solidFill>
                <a:schemeClr val="bg1"/>
              </a:solidFill>
              <a:latin typeface="微软雅黑" panose="020B0503020204020204" pitchFamily="34" charset="-122"/>
              <a:ea typeface="微软雅黑" panose="020B0503020204020204" pitchFamily="34" charset="-122"/>
            </a:endParaRPr>
          </a:p>
          <a:p>
            <a:pPr>
              <a:defRPr/>
            </a:pP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 </a:t>
            </a:r>
            <a:r>
              <a:rPr lang="en-US" altLang="zh-CN" sz="2800" dirty="0">
                <a:solidFill>
                  <a:schemeClr val="bg1"/>
                </a:solidFill>
                <a:latin typeface="微软雅黑" panose="020B0503020204020204" pitchFamily="34" charset="-122"/>
                <a:ea typeface="微软雅黑" panose="020B0503020204020204" pitchFamily="34" charset="-122"/>
              </a:rPr>
              <a:t>7620 cm ? = 76200 mm? </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a:xfrm>
            <a:off x="1415480" y="4509120"/>
            <a:ext cx="9073008" cy="584775"/>
          </a:xfrm>
          <a:prstGeom prst="rect">
            <a:avLst/>
          </a:prstGeom>
        </p:spPr>
        <p:txBody>
          <a:bodyPr wrap="square">
            <a:spAutoFit/>
          </a:bodyPr>
          <a:lstStyle/>
          <a:p>
            <a:pPr>
              <a:defRPr/>
            </a:pPr>
            <a:r>
              <a:rPr lang="en-US" altLang="zh-CN" sz="3200" dirty="0">
                <a:solidFill>
                  <a:schemeClr val="bg1"/>
                </a:solidFill>
                <a:latin typeface="微软雅黑" panose="020B0503020204020204" pitchFamily="34" charset="-122"/>
                <a:ea typeface="微软雅黑" panose="020B0503020204020204" pitchFamily="34" charset="-122"/>
              </a:rPr>
              <a:t>76.2 m=7.62×10</a:t>
            </a:r>
            <a:r>
              <a:rPr lang="en-US" altLang="zh-CN" sz="3200" baseline="30000" dirty="0">
                <a:solidFill>
                  <a:schemeClr val="bg1"/>
                </a:solidFill>
                <a:latin typeface="微软雅黑" panose="020B0503020204020204" pitchFamily="34" charset="-122"/>
                <a:ea typeface="微软雅黑" panose="020B0503020204020204" pitchFamily="34" charset="-122"/>
              </a:rPr>
              <a:t>3 </a:t>
            </a:r>
            <a:r>
              <a:rPr lang="en-US" altLang="zh-CN" sz="3200" dirty="0">
                <a:solidFill>
                  <a:schemeClr val="bg1"/>
                </a:solidFill>
                <a:latin typeface="微软雅黑" panose="020B0503020204020204" pitchFamily="34" charset="-122"/>
                <a:ea typeface="微软雅黑" panose="020B0503020204020204" pitchFamily="34" charset="-122"/>
              </a:rPr>
              <a:t>cm =7.62×10</a:t>
            </a:r>
            <a:r>
              <a:rPr lang="en-US" altLang="zh-CN" sz="3200" baseline="30000" dirty="0">
                <a:solidFill>
                  <a:schemeClr val="bg1"/>
                </a:solidFill>
                <a:latin typeface="微软雅黑" panose="020B0503020204020204" pitchFamily="34" charset="-122"/>
                <a:ea typeface="微软雅黑" panose="020B0503020204020204" pitchFamily="34" charset="-122"/>
              </a:rPr>
              <a:t>4</a:t>
            </a:r>
            <a:r>
              <a:rPr lang="en-US" altLang="zh-CN" sz="3200" dirty="0">
                <a:solidFill>
                  <a:schemeClr val="bg1"/>
                </a:solidFill>
                <a:latin typeface="微软雅黑" panose="020B0503020204020204" pitchFamily="34" charset="-122"/>
                <a:ea typeface="微软雅黑" panose="020B0503020204020204" pitchFamily="34" charset="-122"/>
              </a:rPr>
              <a:t> mm</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21" name="爆炸形 1 20"/>
          <p:cNvSpPr/>
          <p:nvPr/>
        </p:nvSpPr>
        <p:spPr>
          <a:xfrm>
            <a:off x="8371421" y="3013374"/>
            <a:ext cx="3795496" cy="1389957"/>
          </a:xfrm>
          <a:prstGeom prst="irregularSeal1">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2">
                    <a:lumMod val="50000"/>
                  </a:schemeClr>
                </a:solidFill>
              </a:rPr>
              <a:t>科学记数法</a:t>
            </a:r>
            <a:endParaRPr lang="zh-CN" altLang="en-US" sz="2800" b="1" dirty="0">
              <a:solidFill>
                <a:schemeClr val="bg2">
                  <a:lumMod val="50000"/>
                </a:schemeClr>
              </a:solidFill>
            </a:endParaRPr>
          </a:p>
        </p:txBody>
      </p:sp>
      <p:sp>
        <p:nvSpPr>
          <p:cNvPr id="8"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2. </a:t>
            </a:r>
            <a:r>
              <a:rPr lang="zh-CN" altLang="en-US" sz="5400" b="1" dirty="0">
                <a:solidFill>
                  <a:schemeClr val="bg1"/>
                </a:solidFill>
                <a:latin typeface="微软雅黑" panose="020B0503020204020204" pitchFamily="34" charset="-122"/>
                <a:ea typeface="微软雅黑" panose="020B0503020204020204" pitchFamily="34" charset="-122"/>
              </a:rPr>
              <a:t>有效数字及运算规则</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1415480" y="3415966"/>
            <a:ext cx="7200800" cy="584775"/>
          </a:xfrm>
          <a:prstGeom prst="rect">
            <a:avLst/>
          </a:prstGeom>
        </p:spPr>
        <p:txBody>
          <a:bodyPr wrap="square">
            <a:spAutoFit/>
          </a:bodyPr>
          <a:lstStyle/>
          <a:p>
            <a:r>
              <a:rPr lang="zh-CN" altLang="en-US" sz="3200" b="1" dirty="0">
                <a:solidFill>
                  <a:srgbClr val="0070C0"/>
                </a:solidFill>
                <a:latin typeface="微软雅黑" panose="020B0503020204020204" pitchFamily="34" charset="-122"/>
                <a:ea typeface="微软雅黑" panose="020B0503020204020204" pitchFamily="34" charset="-122"/>
              </a:rPr>
              <a:t>单位的变换不能改变有效数字的位数</a:t>
            </a:r>
            <a:endParaRPr lang="zh-CN" altLang="en-US" sz="3200" b="1" dirty="0">
              <a:solidFill>
                <a:srgbClr val="0070C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linds(horizontal)">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20" grpId="0" autoUpdateAnimBg="0"/>
      <p:bldP spid="21"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8" name="组合 16"/>
          <p:cNvGrpSpPr/>
          <p:nvPr/>
        </p:nvGrpSpPr>
        <p:grpSpPr bwMode="auto">
          <a:xfrm>
            <a:off x="497788" y="1396073"/>
            <a:ext cx="9054596" cy="1143000"/>
            <a:chOff x="1403648" y="2708920"/>
            <a:chExt cx="7181345" cy="1510879"/>
          </a:xfrm>
        </p:grpSpPr>
        <p:sp>
          <p:nvSpPr>
            <p:cNvPr id="26636" name="TextBox 8"/>
            <p:cNvSpPr txBox="1">
              <a:spLocks noChangeArrowheads="1"/>
            </p:cNvSpPr>
            <p:nvPr/>
          </p:nvSpPr>
          <p:spPr bwMode="auto">
            <a:xfrm>
              <a:off x="1403648" y="2708920"/>
              <a:ext cx="7181345" cy="892374"/>
            </a:xfrm>
            <a:prstGeom prst="rect">
              <a:avLst/>
            </a:prstGeom>
            <a:noFill/>
            <a:ln w="9525">
              <a:noFill/>
              <a:miter lim="800000"/>
            </a:ln>
          </p:spPr>
          <p:txBody>
            <a:bodyPr wrap="square">
              <a:spAutoFit/>
            </a:bodyPr>
            <a:lstStyle/>
            <a:p>
              <a:pPr>
                <a:defRPr/>
              </a:pPr>
              <a:r>
                <a:rPr lang="zh-CN" altLang="en-US" sz="2800" b="1" dirty="0">
                  <a:solidFill>
                    <a:srgbClr val="0070C0"/>
                  </a:solidFill>
                  <a:latin typeface="微软雅黑" panose="020B0503020204020204" pitchFamily="34" charset="-122"/>
                  <a:ea typeface="微软雅黑" panose="020B0503020204020204" pitchFamily="34" charset="-122"/>
                </a:rPr>
                <a:t>加减法</a:t>
              </a:r>
              <a:r>
                <a:rPr lang="zh-CN" altLang="en-US" sz="2800" b="1" dirty="0">
                  <a:solidFill>
                    <a:schemeClr val="bg1"/>
                  </a:solidFill>
                  <a:latin typeface="微软雅黑" panose="020B0503020204020204" pitchFamily="34" charset="-122"/>
                  <a:ea typeface="微软雅黑" panose="020B0503020204020204" pitchFamily="34" charset="-122"/>
                </a:rPr>
                <a:t>：与</a:t>
              </a:r>
              <a:r>
                <a:rPr lang="zh-CN" altLang="en-US" sz="2800" b="1" dirty="0">
                  <a:solidFill>
                    <a:srgbClr val="0070C0"/>
                  </a:solidFill>
                  <a:latin typeface="微软雅黑" panose="020B0503020204020204" pitchFamily="34" charset="-122"/>
                  <a:ea typeface="微软雅黑" panose="020B0503020204020204" pitchFamily="34" charset="-122"/>
                </a:rPr>
                <a:t>不确定度最大项</a:t>
              </a:r>
              <a:r>
                <a:rPr lang="zh-CN" altLang="en-US" sz="2800" b="1" dirty="0">
                  <a:solidFill>
                    <a:schemeClr val="bg1"/>
                  </a:solidFill>
                  <a:latin typeface="微软雅黑" panose="020B0503020204020204" pitchFamily="34" charset="-122"/>
                  <a:ea typeface="微软雅黑" panose="020B0503020204020204" pitchFamily="34" charset="-122"/>
                </a:rPr>
                <a:t>的末位有效数字对齐</a:t>
              </a:r>
              <a:endParaRPr lang="en-US" altLang="zh-CN" sz="2800" b="1" dirty="0">
                <a:solidFill>
                  <a:schemeClr val="bg1"/>
                </a:solidFill>
                <a:latin typeface="微软雅黑" panose="020B0503020204020204" pitchFamily="34" charset="-122"/>
                <a:ea typeface="微软雅黑" panose="020B0503020204020204" pitchFamily="34" charset="-122"/>
              </a:endParaRPr>
            </a:p>
            <a:p>
              <a:pPr>
                <a:defRPr/>
              </a:pPr>
              <a:r>
                <a:rPr lang="en-US" altLang="zh-CN" sz="2400" b="1" dirty="0">
                  <a:solidFill>
                    <a:schemeClr val="bg1"/>
                  </a:solidFill>
                  <a:latin typeface="微软雅黑" panose="020B0503020204020204" pitchFamily="34" charset="-122"/>
                  <a:ea typeface="微软雅黑" panose="020B0503020204020204" pitchFamily="34" charset="-122"/>
                </a:rPr>
                <a:t>               </a:t>
              </a:r>
              <a:r>
                <a:rPr lang="en-US" altLang="zh-CN" sz="2400" b="1" u="sng" dirty="0">
                  <a:solidFill>
                    <a:schemeClr val="bg1"/>
                  </a:solidFill>
                  <a:latin typeface="微软雅黑" panose="020B0503020204020204" pitchFamily="34" charset="-122"/>
                  <a:ea typeface="微软雅黑" panose="020B0503020204020204" pitchFamily="34" charset="-122"/>
                </a:rPr>
                <a:t>57.3</a:t>
              </a:r>
              <a:r>
                <a:rPr lang="en-US" altLang="zh-CN" sz="2400" b="1" u="sng" dirty="0">
                  <a:solidFill>
                    <a:srgbClr val="FF0000"/>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a:t>
              </a:r>
              <a:r>
                <a:rPr lang="en-US" altLang="zh-CN" sz="2400" b="1" dirty="0">
                  <a:solidFill>
                    <a:schemeClr val="bg1"/>
                  </a:solidFill>
                  <a:latin typeface="微软雅黑" panose="020B0503020204020204" pitchFamily="34" charset="-122"/>
                  <a:ea typeface="微软雅黑" panose="020B0503020204020204" pitchFamily="34" charset="-122"/>
                </a:rPr>
                <a:t>0.015</a:t>
              </a:r>
              <a:r>
                <a:rPr lang="en-US" altLang="zh-CN" sz="2400" b="1" dirty="0">
                  <a:solidFill>
                    <a:srgbClr val="FF0000"/>
                  </a:solidFill>
                  <a:latin typeface="微软雅黑" panose="020B0503020204020204" pitchFamily="34" charset="-122"/>
                  <a:ea typeface="微软雅黑" panose="020B0503020204020204" pitchFamily="34" charset="-122"/>
                </a:rPr>
                <a:t>6</a:t>
              </a:r>
              <a:r>
                <a:rPr lang="zh-CN" altLang="en-US" sz="2400" b="1" dirty="0">
                  <a:solidFill>
                    <a:schemeClr val="bg1"/>
                  </a:solidFill>
                  <a:latin typeface="微软雅黑" panose="020B0503020204020204" pitchFamily="34" charset="-122"/>
                  <a:ea typeface="微软雅黑" panose="020B0503020204020204" pitchFamily="34" charset="-122"/>
                </a:rPr>
                <a:t>－</a:t>
              </a:r>
              <a:r>
                <a:rPr lang="en-US" altLang="zh-CN" sz="2400" b="1" dirty="0">
                  <a:solidFill>
                    <a:schemeClr val="bg1"/>
                  </a:solidFill>
                  <a:latin typeface="微软雅黑" panose="020B0503020204020204" pitchFamily="34" charset="-122"/>
                  <a:ea typeface="微软雅黑" panose="020B0503020204020204" pitchFamily="34" charset="-122"/>
                </a:rPr>
                <a:t>2.2434</a:t>
              </a:r>
              <a:r>
                <a:rPr lang="en-US" altLang="zh-CN" sz="2400" b="1" dirty="0">
                  <a:solidFill>
                    <a:srgbClr val="FF0000"/>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a:t>
              </a:r>
              <a:r>
                <a:rPr lang="en-US" altLang="zh-CN" sz="2400" b="1" dirty="0">
                  <a:solidFill>
                    <a:schemeClr val="bg1"/>
                  </a:solidFill>
                  <a:latin typeface="微软雅黑" panose="020B0503020204020204" pitchFamily="34" charset="-122"/>
                  <a:ea typeface="微软雅黑" panose="020B0503020204020204" pitchFamily="34" charset="-122"/>
                </a:rPr>
                <a:t>=55.0</a:t>
              </a:r>
              <a:r>
                <a:rPr lang="en-US" altLang="zh-CN" sz="2400" b="1" dirty="0">
                  <a:solidFill>
                    <a:srgbClr val="FF0000"/>
                  </a:solidFill>
                  <a:latin typeface="微软雅黑" panose="020B0503020204020204" pitchFamily="34" charset="-122"/>
                  <a:ea typeface="微软雅黑" panose="020B0503020204020204" pitchFamily="34" charset="-122"/>
                </a:rPr>
                <a:t>8</a:t>
              </a:r>
              <a:r>
                <a:rPr lang="en-US" altLang="zh-CN" sz="2400" b="1" dirty="0">
                  <a:solidFill>
                    <a:schemeClr val="bg1"/>
                  </a:solidFill>
                  <a:latin typeface="微软雅黑" panose="020B0503020204020204" pitchFamily="34" charset="-122"/>
                  <a:ea typeface="微软雅黑" panose="020B0503020204020204" pitchFamily="34" charset="-122"/>
                </a:rPr>
                <a:t>218</a:t>
              </a:r>
              <a:r>
                <a:rPr lang="zh-CN" altLang="en-US" sz="2400" b="1" dirty="0">
                  <a:solidFill>
                    <a:schemeClr val="bg1"/>
                  </a:solidFill>
                  <a:latin typeface="微软雅黑" panose="020B0503020204020204" pitchFamily="34" charset="-122"/>
                  <a:ea typeface="微软雅黑" panose="020B0503020204020204" pitchFamily="34" charset="-122"/>
                </a:rPr>
                <a:t>）</a:t>
              </a:r>
              <a:r>
                <a:rPr lang="en-US" altLang="zh-CN" sz="2400" b="1" dirty="0">
                  <a:solidFill>
                    <a:schemeClr val="bg1"/>
                  </a:solidFill>
                  <a:latin typeface="微软雅黑" panose="020B0503020204020204" pitchFamily="34" charset="-122"/>
                  <a:ea typeface="微软雅黑" panose="020B0503020204020204" pitchFamily="34" charset="-122"/>
                </a:rPr>
                <a:t>=55.08 </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
          <p:nvSpPr>
            <p:cNvPr id="26637" name="TextBox 9"/>
            <p:cNvSpPr txBox="1">
              <a:spLocks noChangeArrowheads="1"/>
            </p:cNvSpPr>
            <p:nvPr/>
          </p:nvSpPr>
          <p:spPr bwMode="auto">
            <a:xfrm>
              <a:off x="1440425" y="3763580"/>
              <a:ext cx="146513" cy="456219"/>
            </a:xfrm>
            <a:prstGeom prst="rect">
              <a:avLst/>
            </a:prstGeom>
            <a:noFill/>
            <a:ln w="9525">
              <a:noFill/>
              <a:miter lim="800000"/>
            </a:ln>
          </p:spPr>
          <p:txBody>
            <a:bodyPr wrap="none">
              <a:spAutoFit/>
            </a:bodyPr>
            <a:lstStyle/>
            <a:p>
              <a:pPr>
                <a:defRPr/>
              </a:pPr>
              <a:endParaRPr lang="en-US" altLang="zh-CN" sz="2400" b="1" dirty="0">
                <a:solidFill>
                  <a:srgbClr val="FF0000"/>
                </a:solidFill>
                <a:latin typeface="微软雅黑" panose="020B0503020204020204" pitchFamily="34" charset="-122"/>
                <a:ea typeface="微软雅黑" panose="020B0503020204020204" pitchFamily="34" charset="-122"/>
              </a:endParaRPr>
            </a:p>
          </p:txBody>
        </p:sp>
      </p:grpSp>
      <p:sp>
        <p:nvSpPr>
          <p:cNvPr id="3" name="文本框 2"/>
          <p:cNvSpPr txBox="1"/>
          <p:nvPr/>
        </p:nvSpPr>
        <p:spPr>
          <a:xfrm>
            <a:off x="9736022" y="1765092"/>
            <a:ext cx="2031325" cy="646331"/>
          </a:xfrm>
          <a:prstGeom prst="rect">
            <a:avLst/>
          </a:prstGeom>
          <a:noFill/>
        </p:spPr>
        <p:txBody>
          <a:bodyPr wrap="none" rtlCol="0">
            <a:spAutoFit/>
          </a:bodyPr>
          <a:lstStyle/>
          <a:p>
            <a:r>
              <a:rPr lang="zh-CN" altLang="en-US" sz="3600" b="1" dirty="0">
                <a:solidFill>
                  <a:srgbClr val="C00000"/>
                </a:solidFill>
                <a:latin typeface="微软雅黑" panose="020B0503020204020204" pitchFamily="34" charset="-122"/>
                <a:ea typeface="微软雅黑" panose="020B0503020204020204" pitchFamily="34" charset="-122"/>
              </a:rPr>
              <a:t>尾数对齐</a:t>
            </a:r>
            <a:endParaRPr lang="zh-CN" altLang="en-US" sz="3600" b="1" dirty="0">
              <a:solidFill>
                <a:srgbClr val="C0000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768408" y="2749744"/>
            <a:ext cx="2031325" cy="646331"/>
          </a:xfrm>
          <a:prstGeom prst="rect">
            <a:avLst/>
          </a:prstGeom>
          <a:noFill/>
        </p:spPr>
        <p:txBody>
          <a:bodyPr wrap="none" rtlCol="0">
            <a:spAutoFit/>
          </a:bodyPr>
          <a:lstStyle/>
          <a:p>
            <a:r>
              <a:rPr lang="zh-CN" altLang="en-US" sz="3600" b="1" dirty="0">
                <a:solidFill>
                  <a:srgbClr val="C00000"/>
                </a:solidFill>
                <a:latin typeface="微软雅黑" panose="020B0503020204020204" pitchFamily="34" charset="-122"/>
                <a:ea typeface="微软雅黑" panose="020B0503020204020204" pitchFamily="34" charset="-122"/>
              </a:rPr>
              <a:t>位数对齐</a:t>
            </a:r>
            <a:endParaRPr lang="zh-CN" altLang="en-US" sz="3600" b="1" dirty="0">
              <a:solidFill>
                <a:srgbClr val="C00000"/>
              </a:solidFill>
              <a:latin typeface="微软雅黑" panose="020B0503020204020204" pitchFamily="34" charset="-122"/>
              <a:ea typeface="微软雅黑" panose="020B0503020204020204" pitchFamily="34" charset="-122"/>
            </a:endParaRPr>
          </a:p>
        </p:txBody>
      </p:sp>
      <p:sp>
        <p:nvSpPr>
          <p:cNvPr id="20" name="Text Box 2052"/>
          <p:cNvSpPr txBox="1"/>
          <p:nvPr/>
        </p:nvSpPr>
        <p:spPr>
          <a:xfrm>
            <a:off x="497788" y="3785090"/>
            <a:ext cx="11203534" cy="830997"/>
          </a:xfrm>
          <a:prstGeom prst="rect">
            <a:avLst/>
          </a:prstGeom>
          <a:noFill/>
          <a:ln w="9525">
            <a:noFill/>
          </a:ln>
        </p:spPr>
        <p:txBody>
          <a:bodyPr wrap="square" anchor="t">
            <a:spAutoFit/>
          </a:bodyPr>
          <a:lstStyle/>
          <a:p>
            <a:pPr>
              <a:buFont typeface="Arial" panose="020B0604020202020204" pitchFamily="34" charset="0"/>
              <a:buNone/>
            </a:pPr>
            <a:r>
              <a:rPr lang="zh-CN" altLang="en-US" sz="2400" b="1" noProof="1">
                <a:solidFill>
                  <a:srgbClr val="0070C0"/>
                </a:solidFill>
                <a:latin typeface="微软雅黑" panose="020B0503020204020204" pitchFamily="34" charset="-122"/>
                <a:ea typeface="微软雅黑" panose="020B0503020204020204" pitchFamily="34" charset="-122"/>
                <a:cs typeface="+mn-ea"/>
              </a:rPr>
              <a:t>特殊数的有效数字位数：</a:t>
            </a:r>
            <a:r>
              <a:rPr lang="zh-CN" altLang="en-US" sz="2400" noProof="1">
                <a:solidFill>
                  <a:schemeClr val="bg1"/>
                </a:solidFill>
                <a:latin typeface="微软雅黑" panose="020B0503020204020204" pitchFamily="34" charset="-122"/>
                <a:ea typeface="微软雅黑" panose="020B0503020204020204" pitchFamily="34" charset="-122"/>
                <a:cs typeface="+mn-ea"/>
              </a:rPr>
              <a:t>参与运算的准确数字或常数，比如</a:t>
            </a:r>
            <a:r>
              <a:rPr lang="en-US" altLang="x-none" sz="2400" noProof="1">
                <a:solidFill>
                  <a:schemeClr val="bg1"/>
                </a:solidFill>
                <a:latin typeface="微软雅黑" panose="020B0503020204020204" pitchFamily="34" charset="-122"/>
                <a:ea typeface="微软雅黑" panose="020B0503020204020204" pitchFamily="34" charset="-122"/>
                <a:cs typeface="+mn-ea"/>
              </a:rPr>
              <a:t>1</a:t>
            </a:r>
            <a:r>
              <a:rPr lang="zh-CN" altLang="en-US" sz="2400" noProof="1">
                <a:solidFill>
                  <a:schemeClr val="bg1"/>
                </a:solidFill>
                <a:latin typeface="微软雅黑" panose="020B0503020204020204" pitchFamily="34" charset="-122"/>
                <a:ea typeface="微软雅黑" panose="020B0503020204020204" pitchFamily="34" charset="-122"/>
                <a:cs typeface="+mn-ea"/>
              </a:rPr>
              <a:t>、</a:t>
            </a:r>
            <a:r>
              <a:rPr lang="en-US" altLang="x-none" sz="2400" noProof="1">
                <a:solidFill>
                  <a:schemeClr val="bg1"/>
                </a:solidFill>
                <a:latin typeface="微软雅黑" panose="020B0503020204020204" pitchFamily="34" charset="-122"/>
                <a:ea typeface="微软雅黑" panose="020B0503020204020204" pitchFamily="34" charset="-122"/>
                <a:cs typeface="+mn-ea"/>
              </a:rPr>
              <a:t>π</a:t>
            </a:r>
            <a:r>
              <a:rPr lang="zh-CN" altLang="en-US" sz="2400" noProof="1">
                <a:solidFill>
                  <a:schemeClr val="bg1"/>
                </a:solidFill>
                <a:latin typeface="微软雅黑" panose="020B0503020204020204" pitchFamily="34" charset="-122"/>
                <a:ea typeface="微软雅黑" panose="020B0503020204020204" pitchFamily="34" charset="-122"/>
                <a:cs typeface="+mn-ea"/>
              </a:rPr>
              <a:t>、</a:t>
            </a:r>
            <a:r>
              <a:rPr lang="en-US" altLang="x-none" sz="2400" i="1" noProof="1">
                <a:solidFill>
                  <a:schemeClr val="bg1"/>
                </a:solidFill>
                <a:latin typeface="微软雅黑" panose="020B0503020204020204" pitchFamily="34" charset="-122"/>
                <a:ea typeface="微软雅黑" panose="020B0503020204020204" pitchFamily="34" charset="-122"/>
                <a:cs typeface="+mn-ea"/>
              </a:rPr>
              <a:t>e</a:t>
            </a:r>
            <a:r>
              <a:rPr lang="zh-CN" altLang="en-US" sz="2400" noProof="1">
                <a:solidFill>
                  <a:schemeClr val="bg1"/>
                </a:solidFill>
                <a:latin typeface="微软雅黑" panose="020B0503020204020204" pitchFamily="34" charset="-122"/>
                <a:ea typeface="微软雅黑" panose="020B0503020204020204" pitchFamily="34" charset="-122"/>
                <a:cs typeface="+mn-ea"/>
              </a:rPr>
              <a:t>等的有效数字的位数可以认为是无限多，使用时所取的位数</a:t>
            </a:r>
            <a:r>
              <a:rPr lang="zh-CN" altLang="en-US" sz="2400" b="1" noProof="1">
                <a:solidFill>
                  <a:srgbClr val="0070C0"/>
                </a:solidFill>
                <a:latin typeface="微软雅黑" panose="020B0503020204020204" pitchFamily="34" charset="-122"/>
                <a:ea typeface="微软雅黑" panose="020B0503020204020204" pitchFamily="34" charset="-122"/>
                <a:cs typeface="+mn-ea"/>
              </a:rPr>
              <a:t>至少</a:t>
            </a:r>
            <a:r>
              <a:rPr lang="zh-CN" altLang="en-US" sz="2400" noProof="1">
                <a:solidFill>
                  <a:schemeClr val="bg1"/>
                </a:solidFill>
                <a:latin typeface="微软雅黑" panose="020B0503020204020204" pitchFamily="34" charset="-122"/>
                <a:ea typeface="微软雅黑" panose="020B0503020204020204" pitchFamily="34" charset="-122"/>
                <a:cs typeface="+mn-ea"/>
              </a:rPr>
              <a:t>比运算数据中位数最少的多一位。</a:t>
            </a:r>
            <a:endParaRPr lang="zh-CN" altLang="en-US" sz="2400" noProof="1">
              <a:solidFill>
                <a:schemeClr val="bg1"/>
              </a:solidFill>
              <a:latin typeface="微软雅黑" panose="020B0503020204020204" pitchFamily="34" charset="-122"/>
              <a:ea typeface="微软雅黑" panose="020B0503020204020204" pitchFamily="34" charset="-122"/>
              <a:cs typeface="+mn-ea"/>
            </a:endParaRPr>
          </a:p>
        </p:txBody>
      </p:sp>
      <p:sp>
        <p:nvSpPr>
          <p:cNvPr id="14" name="TextBox 13"/>
          <p:cNvSpPr txBox="1"/>
          <p:nvPr/>
        </p:nvSpPr>
        <p:spPr>
          <a:xfrm>
            <a:off x="623392" y="4869160"/>
            <a:ext cx="10925902" cy="1384995"/>
          </a:xfrm>
          <a:prstGeom prst="rect">
            <a:avLst/>
          </a:prstGeom>
          <a:noFill/>
          <a:ln w="57150">
            <a:solidFill>
              <a:srgbClr val="00B0F0"/>
            </a:solidFill>
          </a:ln>
        </p:spPr>
        <p:txBody>
          <a:bodyPr wrap="square">
            <a:spAutoFit/>
          </a:bodyPr>
          <a:lstStyle/>
          <a:p>
            <a:pPr>
              <a:defRPr/>
            </a:pPr>
            <a:r>
              <a:rPr lang="zh-CN" altLang="en-US" sz="2800" b="1" dirty="0">
                <a:solidFill>
                  <a:schemeClr val="bg1"/>
                </a:solidFill>
                <a:latin typeface="微软雅黑" panose="020B0503020204020204" pitchFamily="34" charset="-122"/>
                <a:ea typeface="微软雅黑" panose="020B0503020204020204" pitchFamily="34" charset="-122"/>
              </a:rPr>
              <a:t>（</a:t>
            </a:r>
            <a:r>
              <a:rPr lang="en-US" altLang="zh-CN" sz="2800" b="1" dirty="0">
                <a:solidFill>
                  <a:schemeClr val="bg1"/>
                </a:solidFill>
                <a:latin typeface="微软雅黑" panose="020B0503020204020204" pitchFamily="34" charset="-122"/>
                <a:ea typeface="微软雅黑" panose="020B0503020204020204" pitchFamily="34" charset="-122"/>
              </a:rPr>
              <a:t>1</a:t>
            </a:r>
            <a:r>
              <a:rPr lang="zh-CN" altLang="en-US" sz="2800" b="1" dirty="0">
                <a:solidFill>
                  <a:schemeClr val="bg1"/>
                </a:solidFill>
                <a:latin typeface="微软雅黑" panose="020B0503020204020204" pitchFamily="34" charset="-122"/>
                <a:ea typeface="微软雅黑" panose="020B0503020204020204" pitchFamily="34" charset="-122"/>
              </a:rPr>
              <a:t>）计算过程中</a:t>
            </a:r>
            <a:r>
              <a:rPr lang="zh-CN" altLang="en-US" sz="2800" b="1" dirty="0">
                <a:solidFill>
                  <a:srgbClr val="FF0000"/>
                </a:solidFill>
                <a:latin typeface="微软雅黑" panose="020B0503020204020204" pitchFamily="34" charset="-122"/>
                <a:ea typeface="微软雅黑" panose="020B0503020204020204" pitchFamily="34" charset="-122"/>
              </a:rPr>
              <a:t>至少</a:t>
            </a:r>
            <a:r>
              <a:rPr lang="zh-CN" altLang="en-US" sz="2800" b="1" dirty="0">
                <a:solidFill>
                  <a:srgbClr val="0070C0"/>
                </a:solidFill>
                <a:latin typeface="微软雅黑" panose="020B0503020204020204" pitchFamily="34" charset="-122"/>
                <a:ea typeface="微软雅黑" panose="020B0503020204020204" pitchFamily="34" charset="-122"/>
              </a:rPr>
              <a:t>多保留一位</a:t>
            </a:r>
            <a:r>
              <a:rPr lang="zh-CN" altLang="en-US" sz="2800" b="1" dirty="0">
                <a:solidFill>
                  <a:schemeClr val="bg1"/>
                </a:solidFill>
                <a:latin typeface="微软雅黑" panose="020B0503020204020204" pitchFamily="34" charset="-122"/>
                <a:ea typeface="微软雅黑" panose="020B0503020204020204" pitchFamily="34" charset="-122"/>
              </a:rPr>
              <a:t>有效数字！</a:t>
            </a:r>
            <a:endParaRPr lang="en-US" altLang="zh-CN" sz="2800" b="1" dirty="0">
              <a:solidFill>
                <a:schemeClr val="bg1"/>
              </a:solidFill>
              <a:latin typeface="微软雅黑" panose="020B0503020204020204" pitchFamily="34" charset="-122"/>
              <a:ea typeface="微软雅黑" panose="020B0503020204020204" pitchFamily="34" charset="-122"/>
            </a:endParaRPr>
          </a:p>
          <a:p>
            <a:pPr>
              <a:defRPr/>
            </a:pPr>
            <a:r>
              <a:rPr lang="zh-CN" altLang="en-US" sz="2800" b="1" dirty="0">
                <a:solidFill>
                  <a:schemeClr val="bg1"/>
                </a:solidFill>
                <a:latin typeface="微软雅黑" panose="020B0503020204020204" pitchFamily="34" charset="-122"/>
                <a:ea typeface="微软雅黑" panose="020B0503020204020204" pitchFamily="34" charset="-122"/>
              </a:rPr>
              <a:t>（</a:t>
            </a:r>
            <a:r>
              <a:rPr lang="en-US" altLang="zh-CN" sz="2800" b="1" dirty="0">
                <a:solidFill>
                  <a:schemeClr val="bg1"/>
                </a:solidFill>
                <a:latin typeface="微软雅黑" panose="020B0503020204020204" pitchFamily="34" charset="-122"/>
                <a:ea typeface="微软雅黑" panose="020B0503020204020204" pitchFamily="34" charset="-122"/>
              </a:rPr>
              <a:t>2</a:t>
            </a:r>
            <a:r>
              <a:rPr lang="zh-CN" altLang="en-US" sz="2800" b="1" dirty="0">
                <a:solidFill>
                  <a:schemeClr val="bg1"/>
                </a:solidFill>
                <a:latin typeface="微软雅黑" panose="020B0503020204020204" pitchFamily="34" charset="-122"/>
                <a:ea typeface="微软雅黑" panose="020B0503020204020204" pitchFamily="34" charset="-122"/>
              </a:rPr>
              <a:t>）即便</a:t>
            </a:r>
            <a:r>
              <a:rPr lang="zh-CN" altLang="en-US" sz="2800" b="1" dirty="0">
                <a:solidFill>
                  <a:srgbClr val="0070C0"/>
                </a:solidFill>
                <a:latin typeface="微软雅黑" panose="020B0503020204020204" pitchFamily="34" charset="-122"/>
                <a:ea typeface="微软雅黑" panose="020B0503020204020204" pitchFamily="34" charset="-122"/>
              </a:rPr>
              <a:t>计算机运算</a:t>
            </a:r>
            <a:r>
              <a:rPr lang="zh-CN" altLang="en-US" sz="2800" b="1" dirty="0">
                <a:solidFill>
                  <a:schemeClr val="bg1"/>
                </a:solidFill>
                <a:latin typeface="微软雅黑" panose="020B0503020204020204" pitchFamily="34" charset="-122"/>
                <a:ea typeface="微软雅黑" panose="020B0503020204020204" pitchFamily="34" charset="-122"/>
              </a:rPr>
              <a:t>，也要对</a:t>
            </a:r>
            <a:r>
              <a:rPr lang="zh-CN" altLang="en-US" sz="2800" b="1" dirty="0">
                <a:solidFill>
                  <a:srgbClr val="0070C0"/>
                </a:solidFill>
                <a:latin typeface="微软雅黑" panose="020B0503020204020204" pitchFamily="34" charset="-122"/>
                <a:ea typeface="微软雅黑" panose="020B0503020204020204" pitchFamily="34" charset="-122"/>
              </a:rPr>
              <a:t>计算结果</a:t>
            </a:r>
            <a:r>
              <a:rPr lang="zh-CN" altLang="en-US" sz="2800" b="1" dirty="0">
                <a:solidFill>
                  <a:schemeClr val="bg1"/>
                </a:solidFill>
                <a:latin typeface="微软雅黑" panose="020B0503020204020204" pitchFamily="34" charset="-122"/>
                <a:ea typeface="微软雅黑" panose="020B0503020204020204" pitchFamily="34" charset="-122"/>
              </a:rPr>
              <a:t>，运用有效数字运算规则进行</a:t>
            </a:r>
            <a:r>
              <a:rPr lang="zh-CN" altLang="en-US" sz="2800" b="1" dirty="0">
                <a:solidFill>
                  <a:srgbClr val="0070C0"/>
                </a:solidFill>
                <a:latin typeface="微软雅黑" panose="020B0503020204020204" pitchFamily="34" charset="-122"/>
                <a:ea typeface="微软雅黑" panose="020B0503020204020204" pitchFamily="34" charset="-122"/>
              </a:rPr>
              <a:t>判别</a:t>
            </a:r>
            <a:r>
              <a:rPr lang="zh-CN" altLang="en-US" sz="2800" b="1" dirty="0">
                <a:solidFill>
                  <a:schemeClr val="bg1"/>
                </a:solidFill>
                <a:latin typeface="微软雅黑" panose="020B0503020204020204" pitchFamily="34" charset="-122"/>
                <a:ea typeface="微软雅黑" panose="020B0503020204020204" pitchFamily="34" charset="-122"/>
              </a:rPr>
              <a:t>。</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2"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2. </a:t>
            </a:r>
            <a:r>
              <a:rPr lang="zh-CN" altLang="en-US" sz="5400" b="1" dirty="0">
                <a:solidFill>
                  <a:schemeClr val="bg1"/>
                </a:solidFill>
                <a:latin typeface="微软雅黑" panose="020B0503020204020204" pitchFamily="34" charset="-122"/>
                <a:ea typeface="微软雅黑" panose="020B0503020204020204" pitchFamily="34" charset="-122"/>
              </a:rPr>
              <a:t>有效数字及运算规则</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
        <p:nvSpPr>
          <p:cNvPr id="5" name="矩形 4"/>
          <p:cNvSpPr/>
          <p:nvPr/>
        </p:nvSpPr>
        <p:spPr>
          <a:xfrm>
            <a:off x="544158" y="2539073"/>
            <a:ext cx="10160354" cy="1261884"/>
          </a:xfrm>
          <a:prstGeom prst="rect">
            <a:avLst/>
          </a:prstGeom>
        </p:spPr>
        <p:txBody>
          <a:bodyPr wrap="square">
            <a:spAutoFit/>
          </a:bodyPr>
          <a:lstStyle/>
          <a:p>
            <a:pPr>
              <a:defRPr/>
            </a:pPr>
            <a:r>
              <a:rPr lang="zh-CN" altLang="en-US" sz="2800" b="1" dirty="0">
                <a:solidFill>
                  <a:srgbClr val="0070C0"/>
                </a:solidFill>
                <a:latin typeface="微软雅黑" panose="020B0503020204020204" pitchFamily="34" charset="-122"/>
                <a:ea typeface="微软雅黑" panose="020B0503020204020204" pitchFamily="34" charset="-122"/>
              </a:rPr>
              <a:t>乘除法</a:t>
            </a:r>
            <a:r>
              <a:rPr lang="zh-CN" altLang="en-US" sz="2800" b="1" dirty="0">
                <a:solidFill>
                  <a:schemeClr val="bg1"/>
                </a:solidFill>
                <a:latin typeface="微软雅黑" panose="020B0503020204020204" pitchFamily="34" charset="-122"/>
                <a:ea typeface="微软雅黑" panose="020B0503020204020204" pitchFamily="34" charset="-122"/>
              </a:rPr>
              <a:t>：与</a:t>
            </a:r>
            <a:r>
              <a:rPr lang="zh-CN" altLang="en-US" sz="2800" b="1" dirty="0">
                <a:solidFill>
                  <a:srgbClr val="0070C0"/>
                </a:solidFill>
                <a:latin typeface="微软雅黑" panose="020B0503020204020204" pitchFamily="34" charset="-122"/>
                <a:ea typeface="微软雅黑" panose="020B0503020204020204" pitchFamily="34" charset="-122"/>
              </a:rPr>
              <a:t>最少个数的有效数字</a:t>
            </a:r>
            <a:r>
              <a:rPr lang="zh-CN" altLang="en-US" sz="2800" b="1" dirty="0">
                <a:solidFill>
                  <a:schemeClr val="bg1"/>
                </a:solidFill>
                <a:latin typeface="微软雅黑" panose="020B0503020204020204" pitchFamily="34" charset="-122"/>
                <a:ea typeface="微软雅黑" panose="020B0503020204020204" pitchFamily="34" charset="-122"/>
              </a:rPr>
              <a:t>相同</a:t>
            </a:r>
            <a:endParaRPr lang="en-US" altLang="zh-CN" sz="2800" b="1" dirty="0">
              <a:solidFill>
                <a:schemeClr val="bg1"/>
              </a:solidFill>
              <a:latin typeface="微软雅黑" panose="020B0503020204020204" pitchFamily="34" charset="-122"/>
              <a:ea typeface="微软雅黑" panose="020B0503020204020204" pitchFamily="34" charset="-122"/>
            </a:endParaRPr>
          </a:p>
          <a:p>
            <a:pPr>
              <a:defRPr/>
            </a:pPr>
            <a:r>
              <a:rPr lang="zh-CN" altLang="en-US" sz="2400" b="1" dirty="0">
                <a:solidFill>
                  <a:schemeClr val="bg1"/>
                </a:solidFill>
                <a:latin typeface="微软雅黑" panose="020B0503020204020204" pitchFamily="34" charset="-122"/>
                <a:ea typeface="微软雅黑" panose="020B0503020204020204" pitchFamily="34" charset="-122"/>
              </a:rPr>
              <a:t>               </a:t>
            </a:r>
            <a:r>
              <a:rPr lang="en-US" altLang="zh-CN" sz="2400" b="1" dirty="0">
                <a:solidFill>
                  <a:schemeClr val="bg1"/>
                </a:solidFill>
                <a:latin typeface="微软雅黑" panose="020B0503020204020204" pitchFamily="34" charset="-122"/>
                <a:ea typeface="微软雅黑" panose="020B0503020204020204" pitchFamily="34" charset="-122"/>
              </a:rPr>
              <a:t>57.3</a:t>
            </a:r>
            <a:r>
              <a:rPr lang="en-US" altLang="zh-CN" sz="2400" b="1" dirty="0">
                <a:solidFill>
                  <a:srgbClr val="FF0000"/>
                </a:solidFill>
                <a:latin typeface="微软雅黑" panose="020B0503020204020204" pitchFamily="34" charset="-122"/>
                <a:ea typeface="微软雅黑" panose="020B0503020204020204" pitchFamily="34" charset="-122"/>
              </a:rPr>
              <a:t>1</a:t>
            </a:r>
            <a:r>
              <a:rPr lang="en-US" altLang="zh-CN" sz="2400" b="1" dirty="0">
                <a:solidFill>
                  <a:schemeClr val="bg1"/>
                </a:solidFill>
                <a:latin typeface="微软雅黑" panose="020B0503020204020204" pitchFamily="34" charset="-122"/>
                <a:ea typeface="微软雅黑" panose="020B0503020204020204" pitchFamily="34" charset="-122"/>
              </a:rPr>
              <a:t>×0.0</a:t>
            </a:r>
            <a:r>
              <a:rPr lang="en-US" altLang="zh-CN" sz="2400" b="1" u="sng" dirty="0">
                <a:solidFill>
                  <a:schemeClr val="bg1"/>
                </a:solidFill>
                <a:latin typeface="微软雅黑" panose="020B0503020204020204" pitchFamily="34" charset="-122"/>
                <a:ea typeface="微软雅黑" panose="020B0503020204020204" pitchFamily="34" charset="-122"/>
              </a:rPr>
              <a:t>15</a:t>
            </a:r>
            <a:r>
              <a:rPr lang="en-US" altLang="zh-CN" sz="2400" b="1" u="sng" dirty="0">
                <a:solidFill>
                  <a:srgbClr val="FF0000"/>
                </a:solidFill>
                <a:latin typeface="微软雅黑" panose="020B0503020204020204" pitchFamily="34" charset="-122"/>
                <a:ea typeface="微软雅黑" panose="020B0503020204020204" pitchFamily="34" charset="-122"/>
              </a:rPr>
              <a:t>6</a:t>
            </a:r>
            <a:r>
              <a:rPr lang="en-US" altLang="zh-CN" sz="2400" b="1" dirty="0">
                <a:solidFill>
                  <a:schemeClr val="bg1"/>
                </a:solidFill>
                <a:latin typeface="微软雅黑" panose="020B0503020204020204" pitchFamily="34" charset="-122"/>
                <a:ea typeface="微软雅黑" panose="020B0503020204020204" pitchFamily="34" charset="-122"/>
              </a:rPr>
              <a:t>÷2.2434</a:t>
            </a:r>
            <a:r>
              <a:rPr lang="en-US" altLang="zh-CN" sz="2400" b="1" dirty="0">
                <a:solidFill>
                  <a:srgbClr val="FF0000"/>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a:t>
            </a:r>
            <a:r>
              <a:rPr lang="en-US" altLang="zh-CN" sz="2400" b="1" dirty="0">
                <a:solidFill>
                  <a:schemeClr val="bg1"/>
                </a:solidFill>
                <a:latin typeface="微软雅黑" panose="020B0503020204020204" pitchFamily="34" charset="-122"/>
                <a:ea typeface="微软雅黑" panose="020B0503020204020204" pitchFamily="34" charset="-122"/>
              </a:rPr>
              <a:t>=0.</a:t>
            </a:r>
            <a:r>
              <a:rPr lang="en-US" altLang="zh-CN" sz="2400" b="1" u="sng" dirty="0">
                <a:solidFill>
                  <a:schemeClr val="bg1"/>
                </a:solidFill>
                <a:latin typeface="微软雅黑" panose="020B0503020204020204" pitchFamily="34" charset="-122"/>
                <a:ea typeface="微软雅黑" panose="020B0503020204020204" pitchFamily="34" charset="-122"/>
              </a:rPr>
              <a:t>39</a:t>
            </a:r>
            <a:r>
              <a:rPr lang="en-US" altLang="zh-CN" sz="2400" b="1" u="sng" dirty="0">
                <a:solidFill>
                  <a:srgbClr val="FF0000"/>
                </a:solidFill>
                <a:latin typeface="微软雅黑" panose="020B0503020204020204" pitchFamily="34" charset="-122"/>
                <a:ea typeface="微软雅黑" panose="020B0503020204020204" pitchFamily="34" charset="-122"/>
              </a:rPr>
              <a:t>8</a:t>
            </a:r>
            <a:r>
              <a:rPr lang="en-US" altLang="zh-CN" sz="2400" b="1" dirty="0">
                <a:solidFill>
                  <a:schemeClr val="bg1"/>
                </a:solidFill>
                <a:latin typeface="微软雅黑" panose="020B0503020204020204" pitchFamily="34" charset="-122"/>
                <a:ea typeface="微软雅黑" panose="020B0503020204020204" pitchFamily="34" charset="-122"/>
              </a:rPr>
              <a:t>514767</a:t>
            </a:r>
            <a:r>
              <a:rPr lang="zh-CN" altLang="en-US" sz="2400" b="1" dirty="0">
                <a:solidFill>
                  <a:schemeClr val="bg1"/>
                </a:solidFill>
                <a:latin typeface="微软雅黑" panose="020B0503020204020204" pitchFamily="34" charset="-122"/>
                <a:ea typeface="微软雅黑" panose="020B0503020204020204" pitchFamily="34" charset="-122"/>
              </a:rPr>
              <a:t>）</a:t>
            </a:r>
            <a:r>
              <a:rPr lang="en-US" altLang="zh-CN" sz="2400" b="1" dirty="0">
                <a:solidFill>
                  <a:schemeClr val="bg1"/>
                </a:solidFill>
                <a:latin typeface="微软雅黑" panose="020B0503020204020204" pitchFamily="34" charset="-122"/>
                <a:ea typeface="微软雅黑" panose="020B0503020204020204" pitchFamily="34" charset="-122"/>
              </a:rPr>
              <a:t>=0.</a:t>
            </a:r>
            <a:r>
              <a:rPr lang="en-US" altLang="zh-CN" sz="2400" b="1" u="sng" dirty="0">
                <a:solidFill>
                  <a:schemeClr val="bg1"/>
                </a:solidFill>
                <a:latin typeface="微软雅黑" panose="020B0503020204020204" pitchFamily="34" charset="-122"/>
                <a:ea typeface="微软雅黑" panose="020B0503020204020204" pitchFamily="34" charset="-122"/>
              </a:rPr>
              <a:t>399</a:t>
            </a:r>
            <a:endParaRPr lang="en-US" altLang="zh-CN" sz="2400" b="1" u="sng" dirty="0">
              <a:solidFill>
                <a:schemeClr val="bg1"/>
              </a:solidFill>
              <a:latin typeface="微软雅黑" panose="020B0503020204020204" pitchFamily="34" charset="-122"/>
              <a:ea typeface="微软雅黑" panose="020B0503020204020204" pitchFamily="34" charset="-122"/>
            </a:endParaRPr>
          </a:p>
          <a:p>
            <a:pPr>
              <a:defRPr/>
            </a:pPr>
            <a:r>
              <a:rPr lang="zh-CN" altLang="en-US" sz="2400" b="1" noProof="1">
                <a:solidFill>
                  <a:srgbClr val="FF0000"/>
                </a:solidFill>
                <a:latin typeface="微软雅黑" panose="020B0503020204020204" pitchFamily="34" charset="-122"/>
                <a:ea typeface="微软雅黑" panose="020B0503020204020204" pitchFamily="34" charset="-122"/>
                <a:cs typeface="+mn-ea"/>
              </a:rPr>
              <a:t>                 四位       三位       六位                                     三位</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20" grpId="0"/>
      <p:bldP spid="14"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15"/>
          <p:cNvSpPr txBox="1">
            <a:spLocks noChangeArrowheads="1"/>
          </p:cNvSpPr>
          <p:nvPr/>
        </p:nvSpPr>
        <p:spPr bwMode="auto">
          <a:xfrm>
            <a:off x="12423775" y="5864225"/>
            <a:ext cx="2684463" cy="523220"/>
          </a:xfrm>
          <a:prstGeom prst="rect">
            <a:avLst/>
          </a:prstGeom>
          <a:noFill/>
          <a:ln w="9525">
            <a:noFill/>
            <a:miter lim="800000"/>
          </a:ln>
        </p:spPr>
        <p:txBody>
          <a:bodyPr>
            <a:spAutoFit/>
          </a:bodyPr>
          <a:lstStyle/>
          <a:p>
            <a:pPr algn="just"/>
            <a:endParaRPr lang="zh-CN" altLang="en-US" sz="1400"/>
          </a:p>
          <a:p>
            <a:pPr algn="just"/>
            <a:endParaRPr lang="zh-CN" altLang="en-US" sz="1400"/>
          </a:p>
        </p:txBody>
      </p:sp>
      <p:sp>
        <p:nvSpPr>
          <p:cNvPr id="9"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2. </a:t>
            </a:r>
            <a:r>
              <a:rPr lang="zh-CN" altLang="en-US" sz="5400" b="1" dirty="0">
                <a:solidFill>
                  <a:schemeClr val="bg1"/>
                </a:solidFill>
                <a:latin typeface="微软雅黑" panose="020B0503020204020204" pitchFamily="34" charset="-122"/>
                <a:ea typeface="微软雅黑" panose="020B0503020204020204" pitchFamily="34" charset="-122"/>
              </a:rPr>
              <a:t>有效数字及运算规则</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10" name="矩形 3"/>
          <p:cNvSpPr/>
          <p:nvPr/>
        </p:nvSpPr>
        <p:spPr>
          <a:xfrm>
            <a:off x="331674" y="1779082"/>
            <a:ext cx="11380949" cy="1077218"/>
          </a:xfrm>
          <a:prstGeom prst="rect">
            <a:avLst/>
          </a:prstGeom>
          <a:noFill/>
          <a:ln w="9525">
            <a:noFill/>
          </a:ln>
        </p:spPr>
        <p:txBody>
          <a:bodyPr wrap="square" anchor="t">
            <a:spAutoFit/>
          </a:bodyPr>
          <a:lstStyle/>
          <a:p>
            <a:pPr>
              <a:spcBef>
                <a:spcPct val="25000"/>
              </a:spcBef>
            </a:pPr>
            <a:r>
              <a:rPr lang="en-US" altLang="zh-CN"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32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有效数字的修约：</a:t>
            </a:r>
            <a:r>
              <a:rPr lang="zh-CN" altLang="en-US" sz="3200" dirty="0">
                <a:solidFill>
                  <a:schemeClr val="bg1"/>
                </a:solidFill>
                <a:latin typeface="微软雅黑" panose="020B0503020204020204" pitchFamily="34" charset="-122"/>
                <a:ea typeface="微软雅黑" panose="020B0503020204020204" pitchFamily="34" charset="-122"/>
              </a:rPr>
              <a:t>对某一表示测量结果的数值，根据保留位数的要求，去掉数据中多余的位，叫</a:t>
            </a:r>
            <a:r>
              <a:rPr lang="zh-CN" altLang="en-US" sz="3200" b="1" u="sng" dirty="0">
                <a:solidFill>
                  <a:schemeClr val="bg1"/>
                </a:solidFill>
                <a:latin typeface="微软雅黑" panose="020B0503020204020204" pitchFamily="34" charset="-122"/>
                <a:ea typeface="微软雅黑" panose="020B0503020204020204" pitchFamily="34" charset="-122"/>
              </a:rPr>
              <a:t>数值修约</a:t>
            </a:r>
            <a:r>
              <a:rPr lang="zh-CN" altLang="en-US" sz="3200" dirty="0">
                <a:solidFill>
                  <a:schemeClr val="bg1"/>
                </a:solidFill>
                <a:latin typeface="微软雅黑" panose="020B0503020204020204" pitchFamily="34" charset="-122"/>
                <a:ea typeface="微软雅黑" panose="020B0503020204020204" pitchFamily="34" charset="-122"/>
              </a:rPr>
              <a:t>。</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a:xfrm>
            <a:off x="335360" y="1000515"/>
            <a:ext cx="4392488" cy="340254"/>
          </a:xfrm>
          <a:prstGeom prst="rect">
            <a:avLst/>
          </a:prstGeom>
          <a:noFill/>
          <a:ln w="9525">
            <a:noFill/>
            <a:miter lim="800000"/>
          </a:ln>
        </p:spPr>
        <p:txBody>
          <a:bodyPr anchor="ctr"/>
          <a:lstStyle/>
          <a:p>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有效数字的修约规则</a:t>
            </a:r>
            <a:endPar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矩形 11"/>
          <p:cNvSpPr/>
          <p:nvPr/>
        </p:nvSpPr>
        <p:spPr>
          <a:xfrm>
            <a:off x="6575376" y="1053646"/>
            <a:ext cx="5616624" cy="424732"/>
          </a:xfrm>
          <a:prstGeom prst="rect">
            <a:avLst/>
          </a:prstGeom>
        </p:spPr>
        <p:txBody>
          <a:bodyPr wrap="square">
            <a:spAutoFit/>
          </a:bodyPr>
          <a:lstStyle/>
          <a:p>
            <a:pPr marL="0" lvl="4">
              <a:lnSpc>
                <a:spcPct val="90000"/>
              </a:lnSpc>
              <a:spcBef>
                <a:spcPts val="0"/>
              </a:spcBef>
            </a:pPr>
            <a:r>
              <a:rPr lang="zh-CN" altLang="en-US" sz="2400" b="1" dirty="0">
                <a:latin typeface="+mn-ea"/>
                <a:ea typeface="+mn-ea"/>
              </a:rPr>
              <a:t>数据修约国家标准（</a:t>
            </a:r>
            <a:r>
              <a:rPr lang="en-US" altLang="zh-CN" sz="2400" b="1" dirty="0">
                <a:latin typeface="+mn-ea"/>
                <a:ea typeface="+mn-ea"/>
              </a:rPr>
              <a:t>GB1807</a:t>
            </a:r>
            <a:r>
              <a:rPr lang="zh-CN" altLang="en-US" sz="2400" b="1" dirty="0">
                <a:latin typeface="+mn-ea"/>
                <a:ea typeface="+mn-ea"/>
              </a:rPr>
              <a:t>－</a:t>
            </a:r>
            <a:r>
              <a:rPr lang="en-US" altLang="zh-CN" sz="2400" b="1" dirty="0">
                <a:latin typeface="+mn-ea"/>
                <a:ea typeface="+mn-ea"/>
              </a:rPr>
              <a:t>1987</a:t>
            </a:r>
            <a:r>
              <a:rPr lang="zh-CN" altLang="en-US" sz="2400" b="1" dirty="0">
                <a:latin typeface="+mn-ea"/>
                <a:ea typeface="+mn-ea"/>
              </a:rPr>
              <a:t>）</a:t>
            </a:r>
            <a:endParaRPr lang="zh-CN" altLang="en-US" sz="2400" b="1" dirty="0">
              <a:latin typeface="+mn-ea"/>
              <a:ea typeface="+mn-ea"/>
            </a:endParaRPr>
          </a:p>
        </p:txBody>
      </p:sp>
      <p:sp>
        <p:nvSpPr>
          <p:cNvPr id="13" name="内容占位符 7"/>
          <p:cNvSpPr txBox="1"/>
          <p:nvPr/>
        </p:nvSpPr>
        <p:spPr bwMode="auto">
          <a:xfrm>
            <a:off x="331674" y="3886171"/>
            <a:ext cx="11380949" cy="2213037"/>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14000"/>
              </a:lnSpc>
              <a:buNone/>
            </a:pPr>
            <a:r>
              <a:rPr lang="en-US" altLang="zh-CN" dirty="0">
                <a:solidFill>
                  <a:schemeClr val="bg1"/>
                </a:solidFill>
                <a:latin typeface="微软雅黑" panose="020B0503020204020204" pitchFamily="34" charset="-122"/>
                <a:ea typeface="微软雅黑" panose="020B0503020204020204" pitchFamily="34" charset="-122"/>
              </a:rPr>
              <a:t>2. </a:t>
            </a:r>
            <a:r>
              <a:rPr lang="zh-CN" altLang="en-US" dirty="0">
                <a:solidFill>
                  <a:schemeClr val="bg1"/>
                </a:solidFill>
                <a:latin typeface="微软雅黑" panose="020B0503020204020204" pitchFamily="34" charset="-122"/>
                <a:ea typeface="微软雅黑" panose="020B0503020204020204" pitchFamily="34" charset="-122"/>
              </a:rPr>
              <a:t>选取修约规则的原则 </a:t>
            </a:r>
            <a:r>
              <a:rPr lang="en-US" altLang="x-none" dirty="0">
                <a:solidFill>
                  <a:schemeClr val="bg1"/>
                </a:solidFill>
                <a:latin typeface="微软雅黑" panose="020B0503020204020204" pitchFamily="34" charset="-122"/>
                <a:ea typeface="微软雅黑" panose="020B0503020204020204" pitchFamily="34" charset="-122"/>
              </a:rPr>
              <a:t>– </a:t>
            </a:r>
            <a:r>
              <a:rPr lang="zh-CN" altLang="en-US" dirty="0">
                <a:solidFill>
                  <a:schemeClr val="bg1"/>
                </a:solidFill>
                <a:latin typeface="微软雅黑" panose="020B0503020204020204" pitchFamily="34" charset="-122"/>
                <a:ea typeface="微软雅黑" panose="020B0503020204020204" pitchFamily="34" charset="-122"/>
              </a:rPr>
              <a:t>对大量数据进行修约后，</a:t>
            </a:r>
            <a:r>
              <a:rPr lang="zh-CN" altLang="en-US" dirty="0">
                <a:solidFill>
                  <a:srgbClr val="0070C0"/>
                </a:solidFill>
                <a:latin typeface="微软雅黑" panose="020B0503020204020204" pitchFamily="34" charset="-122"/>
                <a:ea typeface="微软雅黑" panose="020B0503020204020204" pitchFamily="34" charset="-122"/>
              </a:rPr>
              <a:t>修约误差</a:t>
            </a:r>
            <a:r>
              <a:rPr lang="zh-CN" altLang="en-US" dirty="0">
                <a:solidFill>
                  <a:schemeClr val="bg1"/>
                </a:solidFill>
                <a:latin typeface="微软雅黑" panose="020B0503020204020204" pitchFamily="34" charset="-122"/>
                <a:ea typeface="微软雅黑" panose="020B0503020204020204" pitchFamily="34" charset="-122"/>
              </a:rPr>
              <a:t>能达到相互</a:t>
            </a:r>
            <a:r>
              <a:rPr lang="zh-CN" altLang="en-US" dirty="0">
                <a:solidFill>
                  <a:srgbClr val="0070C0"/>
                </a:solidFill>
                <a:latin typeface="微软雅黑" panose="020B0503020204020204" pitchFamily="34" charset="-122"/>
                <a:ea typeface="微软雅黑" panose="020B0503020204020204" pitchFamily="34" charset="-122"/>
              </a:rPr>
              <a:t>抵消</a:t>
            </a:r>
            <a:r>
              <a:rPr lang="zh-CN" altLang="en-US" dirty="0">
                <a:solidFill>
                  <a:schemeClr val="bg1"/>
                </a:solidFill>
                <a:latin typeface="微软雅黑" panose="020B0503020204020204" pitchFamily="34" charset="-122"/>
                <a:ea typeface="微软雅黑" panose="020B0503020204020204" pitchFamily="34" charset="-122"/>
              </a:rPr>
              <a:t>，而不导致互相迭加而积累；</a:t>
            </a:r>
            <a:endParaRPr lang="en-US" altLang="x-none" dirty="0">
              <a:solidFill>
                <a:schemeClr val="bg1"/>
              </a:solidFill>
              <a:latin typeface="微软雅黑" panose="020B0503020204020204" pitchFamily="34" charset="-122"/>
              <a:ea typeface="微软雅黑" panose="020B0503020204020204" pitchFamily="34" charset="-122"/>
            </a:endParaRPr>
          </a:p>
          <a:p>
            <a:pPr marL="0" indent="0" algn="just">
              <a:lnSpc>
                <a:spcPct val="114000"/>
              </a:lnSpc>
              <a:spcBef>
                <a:spcPts val="1800"/>
              </a:spcBef>
              <a:buNone/>
            </a:pPr>
            <a:r>
              <a:rPr lang="en-US" altLang="zh-CN" dirty="0">
                <a:solidFill>
                  <a:schemeClr val="bg1"/>
                </a:solidFill>
                <a:latin typeface="微软雅黑" panose="020B0503020204020204" pitchFamily="34" charset="-122"/>
                <a:ea typeface="微软雅黑" panose="020B0503020204020204" pitchFamily="34" charset="-122"/>
              </a:rPr>
              <a:t>3. </a:t>
            </a:r>
            <a:r>
              <a:rPr lang="zh-CN" altLang="en-US" dirty="0">
                <a:solidFill>
                  <a:schemeClr val="bg1"/>
                </a:solidFill>
                <a:latin typeface="微软雅黑" panose="020B0503020204020204" pitchFamily="34" charset="-122"/>
                <a:ea typeface="微软雅黑" panose="020B0503020204020204" pitchFamily="34" charset="-122"/>
              </a:rPr>
              <a:t>修约规则</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x-none" b="1" dirty="0">
                <a:solidFill>
                  <a:srgbClr val="C00000"/>
                </a:solidFill>
                <a:latin typeface="微软雅黑" panose="020B0503020204020204" pitchFamily="34" charset="-122"/>
                <a:ea typeface="微软雅黑" panose="020B0503020204020204" pitchFamily="34" charset="-122"/>
              </a:rPr>
              <a:t>4</a:t>
            </a:r>
            <a:r>
              <a:rPr lang="zh-CN" altLang="en-US" b="1" dirty="0">
                <a:solidFill>
                  <a:srgbClr val="C00000"/>
                </a:solidFill>
                <a:latin typeface="微软雅黑" panose="020B0503020204020204" pitchFamily="34" charset="-122"/>
                <a:ea typeface="微软雅黑" panose="020B0503020204020204" pitchFamily="34" charset="-122"/>
              </a:rPr>
              <a:t>舍</a:t>
            </a:r>
            <a:r>
              <a:rPr lang="en-US" altLang="x-none" b="1" dirty="0">
                <a:solidFill>
                  <a:srgbClr val="C00000"/>
                </a:solidFill>
                <a:latin typeface="微软雅黑" panose="020B0503020204020204" pitchFamily="34" charset="-122"/>
                <a:ea typeface="微软雅黑" panose="020B0503020204020204" pitchFamily="34" charset="-122"/>
              </a:rPr>
              <a:t>6</a:t>
            </a:r>
            <a:r>
              <a:rPr lang="zh-CN" altLang="en-US" b="1" dirty="0">
                <a:solidFill>
                  <a:srgbClr val="C00000"/>
                </a:solidFill>
                <a:latin typeface="微软雅黑" panose="020B0503020204020204" pitchFamily="34" charset="-122"/>
                <a:ea typeface="微软雅黑" panose="020B0503020204020204" pitchFamily="34" charset="-122"/>
              </a:rPr>
              <a:t>入</a:t>
            </a:r>
            <a:r>
              <a:rPr lang="en-US" altLang="x-none" b="1" dirty="0">
                <a:solidFill>
                  <a:srgbClr val="C00000"/>
                </a:solidFill>
                <a:latin typeface="微软雅黑" panose="020B0503020204020204" pitchFamily="34" charset="-122"/>
                <a:ea typeface="微软雅黑" panose="020B0503020204020204" pitchFamily="34" charset="-122"/>
              </a:rPr>
              <a:t>5</a:t>
            </a:r>
            <a:r>
              <a:rPr lang="zh-CN" altLang="en-US" b="1" dirty="0">
                <a:solidFill>
                  <a:srgbClr val="C00000"/>
                </a:solidFill>
                <a:latin typeface="微软雅黑" panose="020B0503020204020204" pitchFamily="34" charset="-122"/>
                <a:ea typeface="微软雅黑" panose="020B0503020204020204" pitchFamily="34" charset="-122"/>
              </a:rPr>
              <a:t>成双”</a:t>
            </a:r>
            <a:r>
              <a:rPr lang="zh-CN" altLang="en-US" dirty="0">
                <a:solidFill>
                  <a:schemeClr val="bg1"/>
                </a:solidFill>
                <a:latin typeface="微软雅黑" panose="020B0503020204020204" pitchFamily="34" charset="-122"/>
                <a:ea typeface="微软雅黑" panose="020B0503020204020204" pitchFamily="34" charset="-122"/>
              </a:rPr>
              <a:t>合理假设最后第二位奇偶几率各半。这样舍去或增加最后第二位的</a:t>
            </a:r>
            <a:r>
              <a:rPr lang="en-US" altLang="x-none" dirty="0">
                <a:solidFill>
                  <a:schemeClr val="bg1"/>
                </a:solidFill>
                <a:latin typeface="微软雅黑" panose="020B0503020204020204" pitchFamily="34" charset="-122"/>
                <a:ea typeface="微软雅黑" panose="020B0503020204020204" pitchFamily="34" charset="-122"/>
              </a:rPr>
              <a:t>0.5</a:t>
            </a:r>
            <a:r>
              <a:rPr lang="zh-CN" altLang="en-US" dirty="0">
                <a:solidFill>
                  <a:schemeClr val="bg1"/>
                </a:solidFill>
                <a:latin typeface="微软雅黑" panose="020B0503020204020204" pitchFamily="34" charset="-122"/>
                <a:ea typeface="微软雅黑" panose="020B0503020204020204" pitchFamily="34" charset="-122"/>
              </a:rPr>
              <a:t>的几率一样。</a:t>
            </a:r>
            <a:endParaRPr lang="zh-CN" altLang="en-US" dirty="0">
              <a:latin typeface="微软雅黑" panose="020B0503020204020204" pitchFamily="34" charset="-122"/>
              <a:ea typeface="微软雅黑" panose="020B0503020204020204" pitchFamily="34" charset="-122"/>
            </a:endParaRPr>
          </a:p>
        </p:txBody>
      </p:sp>
      <p:sp>
        <p:nvSpPr>
          <p:cNvPr id="4" name="矩形 3"/>
          <p:cNvSpPr/>
          <p:nvPr/>
        </p:nvSpPr>
        <p:spPr>
          <a:xfrm>
            <a:off x="1487488" y="2984879"/>
            <a:ext cx="9649072" cy="732153"/>
          </a:xfrm>
          <a:prstGeom prst="rect">
            <a:avLst/>
          </a:prstGeom>
          <a:noFill/>
          <a:ln w="9525">
            <a:noFill/>
            <a:miter lim="800000"/>
          </a:ln>
        </p:spPr>
        <p:txBody>
          <a:bodyPr vert="horz" wrap="square" lIns="91440" tIns="45720" rIns="91440" bIns="45720" numCol="1" anchor="t" anchorCtr="0" compatLnSpc="1"/>
          <a:lstStyle/>
          <a:p>
            <a:pPr algn="just" eaLnBrk="0" hangingPunct="0">
              <a:lnSpc>
                <a:spcPct val="114000"/>
              </a:lnSpc>
              <a:spcBef>
                <a:spcPct val="20000"/>
              </a:spcBef>
              <a:buFont typeface="Arial" panose="020B0604020202020204" pitchFamily="34" charset="0"/>
              <a:buNone/>
            </a:pPr>
            <a:r>
              <a:rPr lang="zh-CN" altLang="en-US" sz="3200" b="1" dirty="0">
                <a:solidFill>
                  <a:srgbClr val="0070C0"/>
                </a:solidFill>
                <a:latin typeface="微软雅黑" panose="020B0503020204020204" pitchFamily="34" charset="-122"/>
                <a:ea typeface="微软雅黑" panose="020B0503020204020204" pitchFamily="34" charset="-122"/>
              </a:rPr>
              <a:t>可疑数后的数字无意义，不能在结果中出现；</a:t>
            </a:r>
            <a:endParaRPr lang="zh-CN" altLang="en-US" sz="3200" b="1" dirty="0">
              <a:solidFill>
                <a:srgbClr val="0070C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内容占位符 6"/>
          <p:cNvSpPr>
            <a:spLocks noGrp="1"/>
          </p:cNvSpPr>
          <p:nvPr>
            <p:ph idx="4294967295"/>
          </p:nvPr>
        </p:nvSpPr>
        <p:spPr>
          <a:xfrm>
            <a:off x="0" y="1101725"/>
            <a:ext cx="8229600" cy="4852988"/>
          </a:xfrm>
        </p:spPr>
        <p:txBody>
          <a:bodyPr/>
          <a:lstStyle/>
          <a:p>
            <a:pPr eaLnBrk="1" hangingPunct="1">
              <a:buFont typeface="Arial" panose="020B0604020202020204" pitchFamily="34" charset="0"/>
              <a:buNone/>
              <a:defRPr/>
            </a:pPr>
            <a:endParaRPr lang="zh-CN" altLang="en-US" sz="2400" b="1" dirty="0">
              <a:solidFill>
                <a:srgbClr val="FFC000"/>
              </a:solidFill>
              <a:latin typeface="+mn-ea"/>
            </a:endParaRPr>
          </a:p>
          <a:p>
            <a:pPr eaLnBrk="1" hangingPunct="1">
              <a:buFont typeface="Arial" panose="020B0604020202020204" pitchFamily="34" charset="0"/>
              <a:buNone/>
              <a:defRPr/>
            </a:pPr>
            <a:r>
              <a:rPr lang="zh-CN" altLang="en-US" sz="2400" b="1" dirty="0">
                <a:solidFill>
                  <a:srgbClr val="0070C0"/>
                </a:solidFill>
                <a:latin typeface="微软雅黑" panose="020B0503020204020204" pitchFamily="34" charset="-122"/>
                <a:ea typeface="微软雅黑" panose="020B0503020204020204" pitchFamily="34" charset="-122"/>
              </a:rPr>
              <a:t>   </a:t>
            </a:r>
            <a:r>
              <a:rPr lang="zh-CN" altLang="en-US" sz="4000" b="1" dirty="0">
                <a:solidFill>
                  <a:srgbClr val="0070C0"/>
                </a:solidFill>
                <a:latin typeface="微软雅黑" panose="020B0503020204020204" pitchFamily="34" charset="-122"/>
                <a:ea typeface="微软雅黑" panose="020B0503020204020204" pitchFamily="34" charset="-122"/>
              </a:rPr>
              <a:t>“</a:t>
            </a:r>
            <a:r>
              <a:rPr lang="en-US" altLang="zh-CN" sz="4000" b="1" dirty="0">
                <a:solidFill>
                  <a:srgbClr val="0070C0"/>
                </a:solidFill>
                <a:latin typeface="微软雅黑" panose="020B0503020204020204" pitchFamily="34" charset="-122"/>
                <a:ea typeface="微软雅黑" panose="020B0503020204020204" pitchFamily="34" charset="-122"/>
              </a:rPr>
              <a:t>4</a:t>
            </a:r>
            <a:r>
              <a:rPr lang="zh-CN" altLang="en-US" sz="4000" b="1" dirty="0">
                <a:solidFill>
                  <a:srgbClr val="0070C0"/>
                </a:solidFill>
                <a:latin typeface="微软雅黑" panose="020B0503020204020204" pitchFamily="34" charset="-122"/>
                <a:ea typeface="微软雅黑" panose="020B0503020204020204" pitchFamily="34" charset="-122"/>
              </a:rPr>
              <a:t>舍</a:t>
            </a:r>
            <a:r>
              <a:rPr lang="en-US" altLang="zh-CN" sz="4000" b="1" dirty="0">
                <a:solidFill>
                  <a:srgbClr val="0070C0"/>
                </a:solidFill>
                <a:latin typeface="微软雅黑" panose="020B0503020204020204" pitchFamily="34" charset="-122"/>
                <a:ea typeface="微软雅黑" panose="020B0503020204020204" pitchFamily="34" charset="-122"/>
              </a:rPr>
              <a:t>6</a:t>
            </a:r>
            <a:r>
              <a:rPr lang="zh-CN" altLang="en-US" sz="4000" b="1" dirty="0">
                <a:solidFill>
                  <a:srgbClr val="0070C0"/>
                </a:solidFill>
                <a:latin typeface="微软雅黑" panose="020B0503020204020204" pitchFamily="34" charset="-122"/>
                <a:ea typeface="微软雅黑" panose="020B0503020204020204" pitchFamily="34" charset="-122"/>
              </a:rPr>
              <a:t>入</a:t>
            </a:r>
            <a:r>
              <a:rPr lang="en-US" altLang="zh-CN" sz="4000" b="1" dirty="0">
                <a:solidFill>
                  <a:srgbClr val="0070C0"/>
                </a:solidFill>
                <a:latin typeface="微软雅黑" panose="020B0503020204020204" pitchFamily="34" charset="-122"/>
                <a:ea typeface="微软雅黑" panose="020B0503020204020204" pitchFamily="34" charset="-122"/>
              </a:rPr>
              <a:t>5</a:t>
            </a:r>
            <a:r>
              <a:rPr lang="zh-CN" altLang="en-US" sz="4000" b="1" dirty="0">
                <a:solidFill>
                  <a:srgbClr val="0070C0"/>
                </a:solidFill>
                <a:latin typeface="微软雅黑" panose="020B0503020204020204" pitchFamily="34" charset="-122"/>
                <a:ea typeface="微软雅黑" panose="020B0503020204020204" pitchFamily="34" charset="-122"/>
              </a:rPr>
              <a:t>成双”</a:t>
            </a:r>
            <a:endParaRPr lang="zh-CN" altLang="en-US" sz="2000" b="1" dirty="0">
              <a:solidFill>
                <a:srgbClr val="0070C0"/>
              </a:solidFill>
              <a:latin typeface="微软雅黑" panose="020B0503020204020204" pitchFamily="34" charset="-122"/>
              <a:ea typeface="微软雅黑" panose="020B0503020204020204" pitchFamily="34" charset="-122"/>
            </a:endParaRPr>
          </a:p>
          <a:p>
            <a:pPr eaLnBrk="1" hangingPunct="1">
              <a:buFont typeface="Arial" panose="020B0604020202020204" pitchFamily="34" charset="0"/>
              <a:buNone/>
              <a:defRPr/>
            </a:pPr>
            <a:endParaRPr lang="zh-CN" altLang="en-US" sz="2000" dirty="0">
              <a:latin typeface="+mn-ea"/>
            </a:endParaRPr>
          </a:p>
        </p:txBody>
      </p:sp>
      <p:sp>
        <p:nvSpPr>
          <p:cNvPr id="32771" name="Text Box 15"/>
          <p:cNvSpPr txBox="1">
            <a:spLocks noChangeArrowheads="1"/>
          </p:cNvSpPr>
          <p:nvPr/>
        </p:nvSpPr>
        <p:spPr bwMode="auto">
          <a:xfrm>
            <a:off x="12423775" y="5864225"/>
            <a:ext cx="2684463" cy="523220"/>
          </a:xfrm>
          <a:prstGeom prst="rect">
            <a:avLst/>
          </a:prstGeom>
          <a:noFill/>
          <a:ln w="9525">
            <a:noFill/>
            <a:miter lim="800000"/>
          </a:ln>
        </p:spPr>
        <p:txBody>
          <a:bodyPr>
            <a:spAutoFit/>
          </a:bodyPr>
          <a:lstStyle/>
          <a:p>
            <a:pPr algn="just"/>
            <a:endParaRPr lang="zh-CN" altLang="en-US" sz="1400"/>
          </a:p>
          <a:p>
            <a:pPr algn="just"/>
            <a:endParaRPr lang="zh-CN" altLang="en-US" sz="1400"/>
          </a:p>
        </p:txBody>
      </p:sp>
      <p:sp>
        <p:nvSpPr>
          <p:cNvPr id="2" name="矩形 1"/>
          <p:cNvSpPr/>
          <p:nvPr/>
        </p:nvSpPr>
        <p:spPr>
          <a:xfrm>
            <a:off x="7007091" y="1452945"/>
            <a:ext cx="4230321" cy="1154162"/>
          </a:xfrm>
          <a:prstGeom prst="rect">
            <a:avLst/>
          </a:prstGeom>
          <a:solidFill>
            <a:schemeClr val="accent6"/>
          </a:solidFill>
          <a:ln>
            <a:noFill/>
          </a:ln>
        </p:spPr>
        <p:txBody>
          <a:bodyPr wrap="square">
            <a:spAutoFit/>
          </a:bodyPr>
          <a:lstStyle/>
          <a:p>
            <a:pPr>
              <a:spcAft>
                <a:spcPts val="600"/>
              </a:spcAft>
              <a:defRPr/>
            </a:pPr>
            <a:r>
              <a:rPr lang="en-US" altLang="zh-CN" sz="3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3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代表小于</a:t>
            </a:r>
            <a:r>
              <a:rPr lang="en-US" altLang="zh-CN" sz="3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3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的数</a:t>
            </a:r>
            <a:endParaRPr lang="en-US" altLang="zh-CN" sz="3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defRPr/>
            </a:pPr>
            <a:r>
              <a:rPr lang="en-US" altLang="zh-CN" sz="3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3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代表大于</a:t>
            </a:r>
            <a:r>
              <a:rPr lang="en-US" altLang="zh-CN" sz="3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3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的数</a:t>
            </a:r>
            <a:endParaRPr lang="zh-CN" altLang="en-US" sz="320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2774" name="Picture 13" descr="修约规则图"/>
          <p:cNvPicPr>
            <a:picLocks noChangeAspect="1" noChangeArrowheads="1"/>
          </p:cNvPicPr>
          <p:nvPr/>
        </p:nvPicPr>
        <p:blipFill>
          <a:blip r:embed="rId1"/>
          <a:srcRect/>
          <a:stretch>
            <a:fillRect/>
          </a:stretch>
        </p:blipFill>
        <p:spPr bwMode="auto">
          <a:xfrm>
            <a:off x="1395289" y="2190812"/>
            <a:ext cx="5232664" cy="1431428"/>
          </a:xfrm>
          <a:prstGeom prst="rect">
            <a:avLst/>
          </a:prstGeom>
          <a:noFill/>
          <a:ln w="9525">
            <a:noFill/>
            <a:miter lim="800000"/>
            <a:headEnd/>
            <a:tailEnd/>
          </a:ln>
        </p:spPr>
      </p:pic>
      <p:sp>
        <p:nvSpPr>
          <p:cNvPr id="8" name="矩形 7"/>
          <p:cNvSpPr/>
          <p:nvPr/>
        </p:nvSpPr>
        <p:spPr>
          <a:xfrm>
            <a:off x="1402358" y="3566371"/>
            <a:ext cx="8755309" cy="1077218"/>
          </a:xfrm>
          <a:prstGeom prst="rect">
            <a:avLst/>
          </a:prstGeom>
        </p:spPr>
        <p:txBody>
          <a:bodyPr wrap="square">
            <a:spAutoFit/>
          </a:bodyPr>
          <a:lstStyle/>
          <a:p>
            <a:pPr>
              <a:buFont typeface="Arial" panose="020B0604020202020204" pitchFamily="34" charset="0"/>
              <a:buNone/>
              <a:defRPr/>
            </a:pPr>
            <a:r>
              <a:rPr lang="zh-CN" altLang="en-US" sz="3200" dirty="0">
                <a:solidFill>
                  <a:schemeClr val="bg1"/>
                </a:solidFill>
                <a:latin typeface="微软雅黑" panose="020B0503020204020204" pitchFamily="34" charset="-122"/>
                <a:ea typeface="微软雅黑" panose="020B0503020204020204" pitchFamily="34" charset="-122"/>
              </a:rPr>
              <a:t>小于</a:t>
            </a:r>
            <a:r>
              <a:rPr lang="en-US" altLang="zh-CN" sz="3200" dirty="0">
                <a:solidFill>
                  <a:schemeClr val="bg1"/>
                </a:solidFill>
                <a:latin typeface="微软雅黑" panose="020B0503020204020204" pitchFamily="34" charset="-122"/>
                <a:ea typeface="微软雅黑" panose="020B0503020204020204" pitchFamily="34" charset="-122"/>
              </a:rPr>
              <a:t>5</a:t>
            </a:r>
            <a:r>
              <a:rPr lang="zh-CN" altLang="en-US" sz="3200" dirty="0">
                <a:solidFill>
                  <a:schemeClr val="bg1"/>
                </a:solidFill>
                <a:latin typeface="微软雅黑" panose="020B0503020204020204" pitchFamily="34" charset="-122"/>
                <a:ea typeface="微软雅黑" panose="020B0503020204020204" pitchFamily="34" charset="-122"/>
              </a:rPr>
              <a:t>舍、大于</a:t>
            </a:r>
            <a:r>
              <a:rPr lang="en-US" altLang="zh-CN" sz="3200" dirty="0">
                <a:solidFill>
                  <a:schemeClr val="bg1"/>
                </a:solidFill>
                <a:latin typeface="微软雅黑" panose="020B0503020204020204" pitchFamily="34" charset="-122"/>
                <a:ea typeface="微软雅黑" panose="020B0503020204020204" pitchFamily="34" charset="-122"/>
              </a:rPr>
              <a:t>5</a:t>
            </a:r>
            <a:r>
              <a:rPr lang="zh-CN" altLang="en-US" sz="3200" dirty="0">
                <a:solidFill>
                  <a:schemeClr val="bg1"/>
                </a:solidFill>
                <a:latin typeface="微软雅黑" panose="020B0503020204020204" pitchFamily="34" charset="-122"/>
                <a:ea typeface="微软雅黑" panose="020B0503020204020204" pitchFamily="34" charset="-122"/>
              </a:rPr>
              <a:t>入</a:t>
            </a:r>
            <a:endParaRPr lang="en-US" altLang="zh-CN" sz="3200" dirty="0">
              <a:solidFill>
                <a:schemeClr val="bg1"/>
              </a:solidFill>
              <a:latin typeface="微软雅黑" panose="020B0503020204020204" pitchFamily="34" charset="-122"/>
              <a:ea typeface="微软雅黑" panose="020B0503020204020204" pitchFamily="34" charset="-122"/>
            </a:endParaRPr>
          </a:p>
          <a:p>
            <a:pPr>
              <a:buFont typeface="Arial" panose="020B0604020202020204" pitchFamily="34" charset="0"/>
              <a:buNone/>
              <a:defRPr/>
            </a:pPr>
            <a:r>
              <a:rPr lang="zh-CN" altLang="en-US" sz="3200" dirty="0">
                <a:solidFill>
                  <a:schemeClr val="bg1"/>
                </a:solidFill>
                <a:latin typeface="微软雅黑" panose="020B0503020204020204" pitchFamily="34" charset="-122"/>
                <a:ea typeface="微软雅黑" panose="020B0503020204020204" pitchFamily="34" charset="-122"/>
              </a:rPr>
              <a:t>刚好是</a:t>
            </a:r>
            <a:r>
              <a:rPr lang="en-US" altLang="zh-CN" sz="3200" dirty="0">
                <a:solidFill>
                  <a:schemeClr val="bg1"/>
                </a:solidFill>
                <a:latin typeface="微软雅黑" panose="020B0503020204020204" pitchFamily="34" charset="-122"/>
                <a:ea typeface="微软雅黑" panose="020B0503020204020204" pitchFamily="34" charset="-122"/>
              </a:rPr>
              <a:t>5</a:t>
            </a:r>
            <a:r>
              <a:rPr lang="zh-CN" altLang="en-US" sz="3200" dirty="0">
                <a:solidFill>
                  <a:schemeClr val="bg1"/>
                </a:solidFill>
                <a:latin typeface="微软雅黑" panose="020B0503020204020204" pitchFamily="34" charset="-122"/>
                <a:ea typeface="微软雅黑" panose="020B0503020204020204" pitchFamily="34" charset="-122"/>
              </a:rPr>
              <a:t>时，若</a:t>
            </a:r>
            <a:r>
              <a:rPr lang="zh-CN" altLang="en-US" sz="3200" dirty="0">
                <a:solidFill>
                  <a:srgbClr val="0070C0"/>
                </a:solidFill>
                <a:latin typeface="微软雅黑" panose="020B0503020204020204" pitchFamily="34" charset="-122"/>
                <a:ea typeface="微软雅黑" panose="020B0503020204020204" pitchFamily="34" charset="-122"/>
              </a:rPr>
              <a:t>前一位为奇数则入，为偶数则舍。</a:t>
            </a:r>
            <a:endParaRPr lang="en-US" altLang="zh-CN" sz="3200" dirty="0">
              <a:solidFill>
                <a:srgbClr val="0070C0"/>
              </a:solidFill>
              <a:latin typeface="微软雅黑" panose="020B0503020204020204" pitchFamily="34" charset="-122"/>
              <a:ea typeface="微软雅黑" panose="020B0503020204020204" pitchFamily="34" charset="-122"/>
            </a:endParaRPr>
          </a:p>
        </p:txBody>
      </p:sp>
      <p:sp>
        <p:nvSpPr>
          <p:cNvPr id="9"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2. </a:t>
            </a:r>
            <a:r>
              <a:rPr lang="zh-CN" altLang="en-US" sz="5400" b="1" dirty="0">
                <a:solidFill>
                  <a:schemeClr val="bg1"/>
                </a:solidFill>
                <a:latin typeface="微软雅黑" panose="020B0503020204020204" pitchFamily="34" charset="-122"/>
                <a:ea typeface="微软雅黑" panose="020B0503020204020204" pitchFamily="34" charset="-122"/>
              </a:rPr>
              <a:t>有效数字及运算规则</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a:xfrm>
            <a:off x="335360" y="1000514"/>
            <a:ext cx="4320480" cy="499675"/>
          </a:xfrm>
          <a:prstGeom prst="rect">
            <a:avLst/>
          </a:prstGeom>
          <a:noFill/>
          <a:ln w="9525">
            <a:noFill/>
            <a:miter lim="800000"/>
          </a:ln>
        </p:spPr>
        <p:txBody>
          <a:bodyPr anchor="ctr"/>
          <a:lstStyle/>
          <a:p>
            <a:r>
              <a:rPr lang="zh-CN" altLang="en-US"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有效数字的修约规则</a:t>
            </a:r>
            <a:endParaRPr lang="zh-CN" altLang="en-US"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335360" y="4587720"/>
            <a:ext cx="11640381"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以上是对测量结果的有效数字修约；对于</a:t>
            </a:r>
            <a:r>
              <a:rPr lang="zh-CN" altLang="en-US" sz="3200" b="1" u="sng" dirty="0">
                <a:solidFill>
                  <a:srgbClr val="0070C0"/>
                </a:solidFill>
                <a:latin typeface="微软雅黑" panose="020B0503020204020204" pitchFamily="34" charset="-122"/>
                <a:ea typeface="微软雅黑" panose="020B0503020204020204" pitchFamily="34" charset="-122"/>
              </a:rPr>
              <a:t>不确定度</a:t>
            </a:r>
            <a:r>
              <a:rPr lang="zh-CN" altLang="en-US" sz="3200" b="1" dirty="0">
                <a:solidFill>
                  <a:schemeClr val="bg1"/>
                </a:solidFill>
                <a:latin typeface="微软雅黑" panose="020B0503020204020204" pitchFamily="34" charset="-122"/>
                <a:ea typeface="微软雅黑" panose="020B0503020204020204" pitchFamily="34" charset="-122"/>
              </a:rPr>
              <a:t>呢？</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TextBox 13"/>
          <p:cNvSpPr txBox="1"/>
          <p:nvPr/>
        </p:nvSpPr>
        <p:spPr>
          <a:xfrm>
            <a:off x="1199456" y="5297244"/>
            <a:ext cx="10332168" cy="1384995"/>
          </a:xfrm>
          <a:prstGeom prst="rect">
            <a:avLst/>
          </a:prstGeom>
          <a:noFill/>
          <a:ln w="57150">
            <a:solidFill>
              <a:srgbClr val="00B0F0"/>
            </a:solidFill>
          </a:ln>
        </p:spPr>
        <p:txBody>
          <a:bodyPr wrap="square">
            <a:spAutoFit/>
          </a:bodyPr>
          <a:lstStyle/>
          <a:p>
            <a:pPr>
              <a:defRPr/>
            </a:pPr>
            <a:r>
              <a:rPr lang="zh-CN" altLang="en-US" sz="2800" b="1" dirty="0">
                <a:solidFill>
                  <a:schemeClr val="bg1"/>
                </a:solidFill>
                <a:latin typeface="微软雅黑" panose="020B0503020204020204" pitchFamily="34" charset="-122"/>
                <a:ea typeface="微软雅黑" panose="020B0503020204020204" pitchFamily="34" charset="-122"/>
              </a:rPr>
              <a:t>本课程中：</a:t>
            </a:r>
            <a:r>
              <a:rPr lang="zh-CN" altLang="en-US" sz="2800" dirty="0">
                <a:solidFill>
                  <a:schemeClr val="bg1"/>
                </a:solidFill>
                <a:latin typeface="微软雅黑" panose="020B0503020204020204" pitchFamily="34" charset="-122"/>
                <a:ea typeface="微软雅黑" panose="020B0503020204020204" pitchFamily="34" charset="-122"/>
              </a:rPr>
              <a:t>不确定度 按照“</a:t>
            </a:r>
            <a:r>
              <a:rPr lang="en-US" altLang="zh-CN" sz="2800" dirty="0">
                <a:solidFill>
                  <a:schemeClr val="bg1"/>
                </a:solidFill>
                <a:latin typeface="微软雅黑" panose="020B0503020204020204" pitchFamily="34" charset="-122"/>
                <a:ea typeface="微软雅黑" panose="020B0503020204020204" pitchFamily="34" charset="-122"/>
              </a:rPr>
              <a:t>4</a:t>
            </a:r>
            <a:r>
              <a:rPr lang="zh-CN" altLang="en-US" sz="2800" dirty="0">
                <a:solidFill>
                  <a:schemeClr val="bg1"/>
                </a:solidFill>
                <a:latin typeface="微软雅黑" panose="020B0503020204020204" pitchFamily="34" charset="-122"/>
                <a:ea typeface="微软雅黑" panose="020B0503020204020204" pitchFamily="34" charset="-122"/>
              </a:rPr>
              <a:t>舍</a:t>
            </a:r>
            <a:r>
              <a:rPr lang="en-US" altLang="zh-CN" sz="2800" dirty="0">
                <a:solidFill>
                  <a:schemeClr val="bg1"/>
                </a:solidFill>
                <a:latin typeface="微软雅黑" panose="020B0503020204020204" pitchFamily="34" charset="-122"/>
                <a:ea typeface="微软雅黑" panose="020B0503020204020204" pitchFamily="34" charset="-122"/>
              </a:rPr>
              <a:t>6</a:t>
            </a:r>
            <a:r>
              <a:rPr lang="zh-CN" altLang="en-US" sz="2800" dirty="0">
                <a:solidFill>
                  <a:schemeClr val="bg1"/>
                </a:solidFill>
                <a:latin typeface="微软雅黑" panose="020B0503020204020204" pitchFamily="34" charset="-122"/>
                <a:ea typeface="微软雅黑" panose="020B0503020204020204" pitchFamily="34" charset="-122"/>
              </a:rPr>
              <a:t>入</a:t>
            </a:r>
            <a:r>
              <a:rPr lang="en-US" altLang="zh-CN" sz="2800" dirty="0">
                <a:solidFill>
                  <a:schemeClr val="bg1"/>
                </a:solidFill>
                <a:latin typeface="微软雅黑" panose="020B0503020204020204" pitchFamily="34" charset="-122"/>
                <a:ea typeface="微软雅黑" panose="020B0503020204020204" pitchFamily="34" charset="-122"/>
              </a:rPr>
              <a:t>5</a:t>
            </a:r>
            <a:r>
              <a:rPr lang="zh-CN" altLang="en-US" sz="2800" dirty="0">
                <a:solidFill>
                  <a:schemeClr val="bg1"/>
                </a:solidFill>
                <a:latin typeface="微软雅黑" panose="020B0503020204020204" pitchFamily="34" charset="-122"/>
                <a:ea typeface="微软雅黑" panose="020B0503020204020204" pitchFamily="34" charset="-122"/>
              </a:rPr>
              <a:t>成双”修约，</a:t>
            </a:r>
            <a:endParaRPr lang="en-US" altLang="zh-CN" sz="2800" dirty="0">
              <a:solidFill>
                <a:schemeClr val="bg1"/>
              </a:solidFill>
              <a:latin typeface="微软雅黑" panose="020B0503020204020204" pitchFamily="34" charset="-122"/>
              <a:ea typeface="微软雅黑" panose="020B0503020204020204" pitchFamily="34" charset="-122"/>
            </a:endParaRPr>
          </a:p>
          <a:p>
            <a:pPr>
              <a:defRPr/>
            </a:pPr>
            <a:r>
              <a:rPr lang="zh-CN" altLang="en-US" sz="2800" dirty="0">
                <a:solidFill>
                  <a:schemeClr val="bg1"/>
                </a:solidFill>
                <a:latin typeface="微软雅黑" panose="020B0503020204020204" pitchFamily="34" charset="-122"/>
                <a:ea typeface="微软雅黑" panose="020B0503020204020204" pitchFamily="34" charset="-122"/>
              </a:rPr>
              <a:t>最后结果有效数字保留一位，计算过程中至少多保留一位。</a:t>
            </a:r>
            <a:endParaRPr lang="en-US" altLang="zh-CN" sz="2800" dirty="0">
              <a:solidFill>
                <a:schemeClr val="bg1"/>
              </a:solidFill>
              <a:latin typeface="微软雅黑" panose="020B0503020204020204" pitchFamily="34" charset="-122"/>
              <a:ea typeface="微软雅黑" panose="020B0503020204020204" pitchFamily="34" charset="-122"/>
            </a:endParaRPr>
          </a:p>
          <a:p>
            <a:pPr>
              <a:defRPr/>
            </a:pPr>
            <a:r>
              <a:rPr lang="zh-CN" altLang="en-US" sz="2800" b="1" dirty="0">
                <a:solidFill>
                  <a:schemeClr val="bg1"/>
                </a:solidFill>
                <a:latin typeface="微软雅黑" panose="020B0503020204020204" pitchFamily="34" charset="-122"/>
                <a:ea typeface="微软雅黑" panose="020B0503020204020204" pitchFamily="34" charset="-122"/>
              </a:rPr>
              <a:t>                    以后的学习和科研中遵照新的要求！ </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amond(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891631" y="2035964"/>
            <a:ext cx="6572250" cy="3286125"/>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1415480" y="1500189"/>
            <a:ext cx="9783461" cy="785813"/>
          </a:xfrm>
        </p:spPr>
        <p:txBody>
          <a:bodyPr>
            <a:normAutofit fontScale="92500" lnSpcReduction="20000"/>
          </a:bodyPr>
          <a:lstStyle/>
          <a:p>
            <a:pPr>
              <a:lnSpc>
                <a:spcPct val="95000"/>
              </a:lnSpc>
              <a:buFontTx/>
              <a:buNone/>
              <a:defRPr/>
            </a:pPr>
            <a:r>
              <a:rPr lang="zh-CN" altLang="en-US" sz="2400" b="1" dirty="0">
                <a:solidFill>
                  <a:schemeClr val="bg1"/>
                </a:solidFill>
                <a:latin typeface="微软雅黑" panose="020B0503020204020204" pitchFamily="34" charset="-122"/>
                <a:ea typeface="微软雅黑" panose="020B0503020204020204" pitchFamily="34" charset="-122"/>
              </a:rPr>
              <a:t>如：计算值         </a:t>
            </a:r>
            <a:r>
              <a:rPr lang="en-US" altLang="zh-CN" sz="2400" b="1" dirty="0">
                <a:solidFill>
                  <a:schemeClr val="bg1"/>
                </a:solidFill>
                <a:latin typeface="微软雅黑" panose="020B0503020204020204" pitchFamily="34" charset="-122"/>
                <a:ea typeface="微软雅黑" panose="020B0503020204020204" pitchFamily="34" charset="-122"/>
              </a:rPr>
              <a:t>x</a:t>
            </a:r>
            <a:r>
              <a:rPr lang="en-US" altLang="zh-CN" sz="2400" b="1" baseline="-25000" dirty="0">
                <a:solidFill>
                  <a:schemeClr val="bg1"/>
                </a:solidFill>
                <a:latin typeface="微软雅黑" panose="020B0503020204020204" pitchFamily="34" charset="-122"/>
                <a:ea typeface="微软雅黑" panose="020B0503020204020204" pitchFamily="34" charset="-122"/>
              </a:rPr>
              <a:t>1</a:t>
            </a:r>
            <a:r>
              <a:rPr lang="en-US" altLang="zh-CN" sz="2400" b="1" dirty="0">
                <a:solidFill>
                  <a:schemeClr val="bg1"/>
                </a:solidFill>
                <a:latin typeface="微软雅黑" panose="020B0503020204020204" pitchFamily="34" charset="-122"/>
                <a:ea typeface="微软雅黑" panose="020B0503020204020204" pitchFamily="34" charset="-122"/>
              </a:rPr>
              <a:t>=3.54835    x</a:t>
            </a:r>
            <a:r>
              <a:rPr lang="en-US" altLang="zh-CN" sz="2400" b="1" baseline="-25000" dirty="0">
                <a:solidFill>
                  <a:schemeClr val="bg1"/>
                </a:solidFill>
                <a:latin typeface="微软雅黑" panose="020B0503020204020204" pitchFamily="34" charset="-122"/>
                <a:ea typeface="微软雅黑" panose="020B0503020204020204" pitchFamily="34" charset="-122"/>
              </a:rPr>
              <a:t>2</a:t>
            </a:r>
            <a:r>
              <a:rPr lang="en-US" altLang="zh-CN" sz="2400" b="1" dirty="0">
                <a:solidFill>
                  <a:schemeClr val="bg1"/>
                </a:solidFill>
                <a:latin typeface="微软雅黑" panose="020B0503020204020204" pitchFamily="34" charset="-122"/>
                <a:ea typeface="微软雅黑" panose="020B0503020204020204" pitchFamily="34" charset="-122"/>
              </a:rPr>
              <a:t>=3.65325</a:t>
            </a:r>
            <a:endParaRPr lang="en-US" altLang="zh-CN" sz="2400" b="1" dirty="0">
              <a:solidFill>
                <a:schemeClr val="bg1"/>
              </a:solidFill>
              <a:latin typeface="微软雅黑" panose="020B0503020204020204" pitchFamily="34" charset="-122"/>
              <a:ea typeface="微软雅黑" panose="020B0503020204020204" pitchFamily="34" charset="-122"/>
            </a:endParaRPr>
          </a:p>
          <a:p>
            <a:pPr>
              <a:lnSpc>
                <a:spcPct val="95000"/>
              </a:lnSpc>
              <a:buFontTx/>
              <a:buNone/>
              <a:defRPr/>
            </a:pPr>
            <a:r>
              <a:rPr lang="zh-CN" altLang="en-US" sz="2400" dirty="0">
                <a:solidFill>
                  <a:schemeClr val="bg1"/>
                </a:solidFill>
                <a:latin typeface="微软雅黑" panose="020B0503020204020204" pitchFamily="34" charset="-122"/>
                <a:ea typeface="微软雅黑" panose="020B0503020204020204" pitchFamily="34" charset="-122"/>
              </a:rPr>
              <a:t>　</a:t>
            </a:r>
            <a:endParaRPr lang="en-US" altLang="zh-CN" sz="2400" dirty="0">
              <a:solidFill>
                <a:schemeClr val="bg1"/>
              </a:solidFill>
              <a:latin typeface="微软雅黑" panose="020B0503020204020204" pitchFamily="34" charset="-122"/>
              <a:ea typeface="微软雅黑" panose="020B0503020204020204" pitchFamily="34" charset="-122"/>
            </a:endParaRPr>
          </a:p>
          <a:p>
            <a:pPr>
              <a:buFont typeface="Arial" panose="020B0604020202020204" pitchFamily="34" charset="0"/>
              <a:buNone/>
              <a:defRPr/>
            </a:pPr>
            <a:endParaRPr lang="zh-CN" altLang="en-US" sz="2400"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2999656" y="2143105"/>
          <a:ext cx="6286545" cy="2952765"/>
        </p:xfrm>
        <a:graphic>
          <a:graphicData uri="http://schemas.openxmlformats.org/drawingml/2006/table">
            <a:tbl>
              <a:tblPr/>
              <a:tblGrid>
                <a:gridCol w="1823370"/>
                <a:gridCol w="2155456"/>
                <a:gridCol w="2307719"/>
              </a:tblGrid>
              <a:tr h="590553">
                <a:tc>
                  <a:txBody>
                    <a:bodyPr/>
                    <a:lstStyle/>
                    <a:p>
                      <a:pPr algn="ctr" fontAlgn="ctr"/>
                      <a:r>
                        <a:rPr lang="zh-CN" altLang="en-US" sz="2400" b="1" i="0" u="none" strike="noStrike" dirty="0">
                          <a:solidFill>
                            <a:srgbClr val="0000FF"/>
                          </a:solidFill>
                          <a:latin typeface="微软雅黑" panose="020B0503020204020204" pitchFamily="34" charset="-122"/>
                          <a:ea typeface="微软雅黑" panose="020B0503020204020204" pitchFamily="34" charset="-122"/>
                        </a:rPr>
                        <a:t>不确定度</a:t>
                      </a:r>
                      <a:endParaRPr lang="zh-CN" altLang="en-US" sz="2400" b="1" i="0" u="none" strike="noStrike" dirty="0">
                        <a:solidFill>
                          <a:srgbClr val="0000FF"/>
                        </a:solidFill>
                        <a:latin typeface="微软雅黑" panose="020B0503020204020204" pitchFamily="34" charset="-122"/>
                        <a:ea typeface="微软雅黑" panose="020B0503020204020204" pitchFamily="34" charset="-122"/>
                      </a:endParaRPr>
                    </a:p>
                  </a:txBody>
                  <a:tcPr marL="9525" marR="9525" marT="9525" marB="0" anchor="ctr">
                    <a:lnL>
                      <a:noFill/>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sz="2400" b="1" i="0" u="none" strike="noStrike" dirty="0">
                          <a:solidFill>
                            <a:srgbClr val="C00000"/>
                          </a:solidFill>
                          <a:latin typeface="微软雅黑" panose="020B0503020204020204" pitchFamily="34" charset="-122"/>
                          <a:ea typeface="微软雅黑" panose="020B0503020204020204" pitchFamily="34" charset="-122"/>
                        </a:rPr>
                        <a:t>x</a:t>
                      </a:r>
                      <a:r>
                        <a:rPr lang="en-US" sz="2400" b="1" i="0" u="none" strike="noStrike" baseline="-25000" dirty="0">
                          <a:solidFill>
                            <a:srgbClr val="C00000"/>
                          </a:solidFill>
                          <a:latin typeface="微软雅黑" panose="020B0503020204020204" pitchFamily="34" charset="-122"/>
                          <a:ea typeface="微软雅黑" panose="020B0503020204020204" pitchFamily="34" charset="-122"/>
                        </a:rPr>
                        <a:t>1 </a:t>
                      </a:r>
                      <a:r>
                        <a:rPr lang="zh-CN" altLang="en-US" sz="2400" b="1" i="0" u="none" strike="noStrike" dirty="0">
                          <a:solidFill>
                            <a:srgbClr val="C00000"/>
                          </a:solidFill>
                          <a:latin typeface="微软雅黑" panose="020B0503020204020204" pitchFamily="34" charset="-122"/>
                          <a:ea typeface="微软雅黑" panose="020B0503020204020204" pitchFamily="34" charset="-122"/>
                        </a:rPr>
                        <a:t>取值</a:t>
                      </a:r>
                      <a:endParaRPr lang="zh-CN" altLang="en-US" sz="2400" b="1" i="0" u="none" strike="noStrike" dirty="0">
                        <a:solidFill>
                          <a:srgbClr val="C00000"/>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sz="2400" b="1" i="0" u="none" strike="noStrike" dirty="0">
                          <a:solidFill>
                            <a:srgbClr val="C00000"/>
                          </a:solidFill>
                          <a:latin typeface="微软雅黑" panose="020B0503020204020204" pitchFamily="34" charset="-122"/>
                          <a:ea typeface="微软雅黑" panose="020B0503020204020204" pitchFamily="34" charset="-122"/>
                        </a:rPr>
                        <a:t>x</a:t>
                      </a:r>
                      <a:r>
                        <a:rPr lang="en-US" sz="2400" b="1" i="0" u="none" strike="noStrike" baseline="-25000" dirty="0">
                          <a:solidFill>
                            <a:srgbClr val="C00000"/>
                          </a:solidFill>
                          <a:latin typeface="微软雅黑" panose="020B0503020204020204" pitchFamily="34" charset="-122"/>
                          <a:ea typeface="微软雅黑" panose="020B0503020204020204" pitchFamily="34" charset="-122"/>
                        </a:rPr>
                        <a:t>2 </a:t>
                      </a:r>
                      <a:r>
                        <a:rPr lang="zh-CN" altLang="en-US" sz="2400" b="1" i="0" u="none" strike="noStrike" dirty="0">
                          <a:solidFill>
                            <a:srgbClr val="C00000"/>
                          </a:solidFill>
                          <a:latin typeface="微软雅黑" panose="020B0503020204020204" pitchFamily="34" charset="-122"/>
                          <a:ea typeface="微软雅黑" panose="020B0503020204020204" pitchFamily="34" charset="-122"/>
                        </a:rPr>
                        <a:t>取值</a:t>
                      </a:r>
                      <a:endParaRPr lang="zh-CN" altLang="en-US" sz="2400" b="1" i="0" u="none" strike="noStrike" dirty="0">
                        <a:solidFill>
                          <a:srgbClr val="C00000"/>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r>
              <a:tr h="590553">
                <a:tc>
                  <a:txBody>
                    <a:bodyPr/>
                    <a:lstStyle/>
                    <a:p>
                      <a:pPr algn="ctr" fontAlgn="ctr"/>
                      <a:r>
                        <a:rPr lang="en-US" altLang="zh-CN" sz="2400" b="1" i="0" u="none" strike="noStrike" dirty="0">
                          <a:solidFill>
                            <a:srgbClr val="0000FF"/>
                          </a:solidFill>
                          <a:latin typeface="微软雅黑" panose="020B0503020204020204" pitchFamily="34" charset="-122"/>
                          <a:ea typeface="微软雅黑" panose="020B0503020204020204" pitchFamily="34" charset="-122"/>
                        </a:rPr>
                        <a:t>0.0003</a:t>
                      </a:r>
                      <a:endParaRPr lang="en-US" altLang="zh-CN" sz="2400" b="1" i="0" u="none" strike="noStrike" dirty="0">
                        <a:solidFill>
                          <a:srgbClr val="0000FF"/>
                        </a:solidFill>
                        <a:latin typeface="微软雅黑" panose="020B0503020204020204" pitchFamily="34" charset="-122"/>
                        <a:ea typeface="微软雅黑" panose="020B0503020204020204" pitchFamily="34" charset="-122"/>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altLang="zh-CN" sz="2400" b="0" i="0" u="none" strike="noStrike" dirty="0">
                          <a:solidFill>
                            <a:srgbClr val="000000"/>
                          </a:solidFill>
                          <a:latin typeface="+mn-ea"/>
                          <a:ea typeface="+mn-ea"/>
                        </a:rPr>
                        <a:t>3.5484</a:t>
                      </a:r>
                      <a:r>
                        <a:rPr lang="zh-CN" altLang="en-US" sz="2400" b="0" i="0" u="none" strike="noStrike" dirty="0">
                          <a:solidFill>
                            <a:srgbClr val="000000"/>
                          </a:solidFill>
                          <a:latin typeface="+mn-ea"/>
                          <a:ea typeface="+mn-ea"/>
                        </a:rPr>
                        <a:t>　</a:t>
                      </a:r>
                      <a:endParaRPr lang="zh-CN" altLang="en-US" sz="2400" b="0" i="0" u="none" strike="noStrike" dirty="0">
                        <a:solidFill>
                          <a:srgbClr val="000000"/>
                        </a:solidFill>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altLang="zh-CN" sz="2400" b="0" i="0" u="none" strike="noStrike" dirty="0">
                          <a:solidFill>
                            <a:srgbClr val="000000"/>
                          </a:solidFill>
                          <a:latin typeface="+mn-ea"/>
                          <a:ea typeface="+mn-ea"/>
                        </a:rPr>
                        <a:t>3.6532</a:t>
                      </a:r>
                      <a:r>
                        <a:rPr lang="zh-CN" altLang="en-US" sz="2400" b="0" i="0" u="none" strike="noStrike" dirty="0">
                          <a:solidFill>
                            <a:srgbClr val="000000"/>
                          </a:solidFill>
                          <a:latin typeface="+mn-ea"/>
                          <a:ea typeface="+mn-ea"/>
                        </a:rPr>
                        <a:t>　</a:t>
                      </a:r>
                      <a:endParaRPr lang="zh-CN" altLang="en-US" sz="2400" b="0" i="0" u="none" strike="noStrike" dirty="0">
                        <a:solidFill>
                          <a:srgbClr val="000000"/>
                        </a:solidFill>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r>
              <a:tr h="590553">
                <a:tc>
                  <a:txBody>
                    <a:bodyPr/>
                    <a:lstStyle/>
                    <a:p>
                      <a:pPr algn="ctr" fontAlgn="ctr"/>
                      <a:r>
                        <a:rPr lang="en-US" altLang="zh-CN" sz="2400" b="1" i="0" u="none" strike="noStrike" dirty="0">
                          <a:solidFill>
                            <a:srgbClr val="0000FF"/>
                          </a:solidFill>
                          <a:latin typeface="微软雅黑" panose="020B0503020204020204" pitchFamily="34" charset="-122"/>
                          <a:ea typeface="微软雅黑" panose="020B0503020204020204" pitchFamily="34" charset="-122"/>
                        </a:rPr>
                        <a:t>0.002</a:t>
                      </a:r>
                      <a:endParaRPr lang="en-US" altLang="zh-CN" sz="2400" b="1" i="0" u="none" strike="noStrike" dirty="0">
                        <a:solidFill>
                          <a:srgbClr val="0000FF"/>
                        </a:solidFill>
                        <a:latin typeface="微软雅黑" panose="020B0503020204020204" pitchFamily="34" charset="-122"/>
                        <a:ea typeface="微软雅黑" panose="020B0503020204020204" pitchFamily="34" charset="-122"/>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altLang="zh-CN" sz="2400" b="0" i="0" u="none" strike="noStrike" dirty="0">
                          <a:solidFill>
                            <a:srgbClr val="000000"/>
                          </a:solidFill>
                          <a:latin typeface="+mn-ea"/>
                          <a:ea typeface="+mn-ea"/>
                        </a:rPr>
                        <a:t>3.548</a:t>
                      </a:r>
                      <a:r>
                        <a:rPr lang="zh-CN" altLang="en-US" sz="2400" b="0" i="0" u="none" strike="noStrike" dirty="0">
                          <a:solidFill>
                            <a:srgbClr val="000000"/>
                          </a:solidFill>
                          <a:latin typeface="+mn-ea"/>
                          <a:ea typeface="+mn-ea"/>
                        </a:rPr>
                        <a:t>　</a:t>
                      </a:r>
                      <a:endParaRPr lang="zh-CN" altLang="en-US" sz="2400" b="0" i="0" u="none" strike="noStrike" dirty="0">
                        <a:solidFill>
                          <a:srgbClr val="000000"/>
                        </a:solidFill>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altLang="zh-CN" sz="2400" b="0" i="0" u="none" strike="noStrike" dirty="0">
                          <a:solidFill>
                            <a:srgbClr val="000000"/>
                          </a:solidFill>
                          <a:latin typeface="+mn-ea"/>
                          <a:ea typeface="+mn-ea"/>
                        </a:rPr>
                        <a:t>3.653</a:t>
                      </a:r>
                      <a:r>
                        <a:rPr lang="zh-CN" altLang="en-US" sz="2400" b="0" i="0" u="none" strike="noStrike" dirty="0">
                          <a:solidFill>
                            <a:srgbClr val="000000"/>
                          </a:solidFill>
                          <a:latin typeface="+mn-ea"/>
                          <a:ea typeface="+mn-ea"/>
                        </a:rPr>
                        <a:t>　</a:t>
                      </a:r>
                      <a:endParaRPr lang="zh-CN" altLang="en-US" sz="2400" b="0" i="0" u="none" strike="noStrike" dirty="0">
                        <a:solidFill>
                          <a:srgbClr val="000000"/>
                        </a:solidFill>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r>
              <a:tr h="590553">
                <a:tc>
                  <a:txBody>
                    <a:bodyPr/>
                    <a:lstStyle/>
                    <a:p>
                      <a:pPr algn="ctr" fontAlgn="ctr"/>
                      <a:r>
                        <a:rPr lang="en-US" altLang="zh-CN" sz="2400" b="1" i="0" u="none" strike="noStrike" dirty="0">
                          <a:solidFill>
                            <a:srgbClr val="0000FF"/>
                          </a:solidFill>
                          <a:latin typeface="微软雅黑" panose="020B0503020204020204" pitchFamily="34" charset="-122"/>
                          <a:ea typeface="微软雅黑" panose="020B0503020204020204" pitchFamily="34" charset="-122"/>
                        </a:rPr>
                        <a:t>0.04</a:t>
                      </a:r>
                      <a:endParaRPr lang="en-US" altLang="zh-CN" sz="2400" b="1" i="0" u="none" strike="noStrike" dirty="0">
                        <a:solidFill>
                          <a:srgbClr val="0000FF"/>
                        </a:solidFill>
                        <a:latin typeface="微软雅黑" panose="020B0503020204020204" pitchFamily="34" charset="-122"/>
                        <a:ea typeface="微软雅黑" panose="020B0503020204020204" pitchFamily="34" charset="-122"/>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altLang="zh-CN" sz="2400" b="0" i="0" u="none" strike="noStrike" dirty="0">
                          <a:solidFill>
                            <a:srgbClr val="000000"/>
                          </a:solidFill>
                          <a:latin typeface="+mn-ea"/>
                          <a:ea typeface="+mn-ea"/>
                        </a:rPr>
                        <a:t>3.55</a:t>
                      </a:r>
                      <a:r>
                        <a:rPr lang="zh-CN" altLang="en-US" sz="2400" b="0" i="0" u="none" strike="noStrike" dirty="0">
                          <a:solidFill>
                            <a:srgbClr val="000000"/>
                          </a:solidFill>
                          <a:latin typeface="+mn-ea"/>
                          <a:ea typeface="+mn-ea"/>
                        </a:rPr>
                        <a:t>　</a:t>
                      </a:r>
                      <a:endParaRPr lang="zh-CN" altLang="en-US" sz="2400" b="0" i="0" u="none" strike="noStrike" dirty="0">
                        <a:solidFill>
                          <a:srgbClr val="000000"/>
                        </a:solidFill>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altLang="zh-CN" sz="2400" b="0" i="0" u="none" strike="noStrike" dirty="0">
                          <a:solidFill>
                            <a:srgbClr val="000000"/>
                          </a:solidFill>
                          <a:latin typeface="+mn-ea"/>
                          <a:ea typeface="+mn-ea"/>
                        </a:rPr>
                        <a:t>3.65</a:t>
                      </a:r>
                      <a:endParaRPr lang="zh-CN" altLang="en-US" sz="2400" b="0" i="0" u="none" strike="noStrike" dirty="0">
                        <a:solidFill>
                          <a:srgbClr val="000000"/>
                        </a:solidFill>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r>
              <a:tr h="590553">
                <a:tc>
                  <a:txBody>
                    <a:bodyPr/>
                    <a:lstStyle/>
                    <a:p>
                      <a:pPr algn="ctr" fontAlgn="ctr"/>
                      <a:r>
                        <a:rPr lang="en-US" altLang="zh-CN" sz="2400" b="1" i="0" u="none" strike="noStrike" dirty="0">
                          <a:solidFill>
                            <a:srgbClr val="0000FF"/>
                          </a:solidFill>
                          <a:latin typeface="微软雅黑" panose="020B0503020204020204" pitchFamily="34" charset="-122"/>
                          <a:ea typeface="微软雅黑" panose="020B0503020204020204" pitchFamily="34" charset="-122"/>
                        </a:rPr>
                        <a:t>0.3</a:t>
                      </a:r>
                      <a:endParaRPr lang="en-US" altLang="zh-CN" sz="2400" b="1" i="0" u="none" strike="noStrike" dirty="0">
                        <a:solidFill>
                          <a:srgbClr val="0000FF"/>
                        </a:solidFill>
                        <a:latin typeface="微软雅黑" panose="020B0503020204020204" pitchFamily="34" charset="-122"/>
                        <a:ea typeface="微软雅黑" panose="020B0503020204020204" pitchFamily="34" charset="-122"/>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altLang="zh-CN" sz="2400" b="0" i="0" u="none" strike="noStrike" dirty="0">
                          <a:solidFill>
                            <a:srgbClr val="000000"/>
                          </a:solidFill>
                          <a:latin typeface="+mn-ea"/>
                          <a:ea typeface="+mn-ea"/>
                        </a:rPr>
                        <a:t>3.5</a:t>
                      </a:r>
                      <a:r>
                        <a:rPr lang="zh-CN" altLang="en-US" sz="2400" b="0" i="0" u="none" strike="noStrike" dirty="0">
                          <a:solidFill>
                            <a:srgbClr val="000000"/>
                          </a:solidFill>
                          <a:latin typeface="+mn-ea"/>
                          <a:ea typeface="+mn-ea"/>
                        </a:rPr>
                        <a:t>　</a:t>
                      </a:r>
                      <a:endParaRPr lang="zh-CN" altLang="en-US" sz="2400" b="0" i="0" u="none" strike="noStrike" dirty="0">
                        <a:solidFill>
                          <a:srgbClr val="000000"/>
                        </a:solidFill>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altLang="zh-CN" sz="2400" b="0" i="0" u="none" strike="noStrike" dirty="0">
                          <a:solidFill>
                            <a:srgbClr val="C00000"/>
                          </a:solidFill>
                          <a:latin typeface="+mn-ea"/>
                          <a:ea typeface="+mn-ea"/>
                        </a:rPr>
                        <a:t>3.7</a:t>
                      </a:r>
                      <a:r>
                        <a:rPr lang="zh-CN" altLang="en-US" sz="2400" b="0" i="0" u="none" strike="noStrike" dirty="0">
                          <a:solidFill>
                            <a:srgbClr val="000000"/>
                          </a:solidFill>
                          <a:latin typeface="+mn-ea"/>
                          <a:ea typeface="+mn-ea"/>
                        </a:rPr>
                        <a:t>　</a:t>
                      </a:r>
                      <a:endParaRPr lang="zh-CN" altLang="en-US" sz="2400" b="0" i="0" u="none" strike="noStrike" dirty="0">
                        <a:solidFill>
                          <a:srgbClr val="000000"/>
                        </a:solidFill>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99"/>
                    </a:solidFill>
                  </a:tcPr>
                </a:tc>
              </a:tr>
            </a:tbl>
          </a:graphicData>
        </a:graphic>
      </p:graphicFrame>
      <p:sp>
        <p:nvSpPr>
          <p:cNvPr id="34845" name="矩形 6"/>
          <p:cNvSpPr>
            <a:spLocks noChangeArrowheads="1"/>
          </p:cNvSpPr>
          <p:nvPr/>
        </p:nvSpPr>
        <p:spPr bwMode="auto">
          <a:xfrm>
            <a:off x="4881564" y="5357826"/>
            <a:ext cx="2592387" cy="584200"/>
          </a:xfrm>
          <a:prstGeom prst="rect">
            <a:avLst/>
          </a:prstGeom>
          <a:noFill/>
          <a:ln w="9525">
            <a:noFill/>
            <a:miter lim="800000"/>
          </a:ln>
        </p:spPr>
        <p:txBody>
          <a:bodyPr wrap="none">
            <a:spAutoFit/>
          </a:bodyPr>
          <a:lstStyle/>
          <a:p>
            <a:r>
              <a:rPr lang="en-US" altLang="zh-CN" sz="3200" b="1" dirty="0">
                <a:solidFill>
                  <a:schemeClr val="accent1"/>
                </a:solidFill>
                <a:latin typeface="微软雅黑" panose="020B0503020204020204" pitchFamily="34" charset="-122"/>
                <a:ea typeface="微软雅黑" panose="020B0503020204020204" pitchFamily="34" charset="-122"/>
              </a:rPr>
              <a:t>4</a:t>
            </a:r>
            <a:r>
              <a:rPr lang="zh-CN" altLang="en-US" sz="3200" b="1" dirty="0">
                <a:solidFill>
                  <a:schemeClr val="accent1"/>
                </a:solidFill>
                <a:latin typeface="微软雅黑" panose="020B0503020204020204" pitchFamily="34" charset="-122"/>
                <a:ea typeface="微软雅黑" panose="020B0503020204020204" pitchFamily="34" charset="-122"/>
              </a:rPr>
              <a:t>舍</a:t>
            </a:r>
            <a:r>
              <a:rPr lang="en-US" altLang="zh-CN" sz="3200" b="1" dirty="0">
                <a:solidFill>
                  <a:schemeClr val="accent1"/>
                </a:solidFill>
                <a:latin typeface="微软雅黑" panose="020B0503020204020204" pitchFamily="34" charset="-122"/>
                <a:ea typeface="微软雅黑" panose="020B0503020204020204" pitchFamily="34" charset="-122"/>
              </a:rPr>
              <a:t>6</a:t>
            </a:r>
            <a:r>
              <a:rPr lang="zh-CN" altLang="en-US" sz="3200" b="1" dirty="0">
                <a:solidFill>
                  <a:schemeClr val="accent1"/>
                </a:solidFill>
                <a:latin typeface="微软雅黑" panose="020B0503020204020204" pitchFamily="34" charset="-122"/>
                <a:ea typeface="微软雅黑" panose="020B0503020204020204" pitchFamily="34" charset="-122"/>
              </a:rPr>
              <a:t>入</a:t>
            </a:r>
            <a:r>
              <a:rPr lang="en-US" altLang="zh-CN" sz="3200" b="1" dirty="0">
                <a:solidFill>
                  <a:schemeClr val="accent1"/>
                </a:solidFill>
                <a:latin typeface="微软雅黑" panose="020B0503020204020204" pitchFamily="34" charset="-122"/>
                <a:ea typeface="微软雅黑" panose="020B0503020204020204" pitchFamily="34" charset="-122"/>
              </a:rPr>
              <a:t>5</a:t>
            </a:r>
            <a:r>
              <a:rPr lang="zh-CN" altLang="en-US" sz="3200" b="1" dirty="0">
                <a:solidFill>
                  <a:schemeClr val="accent1"/>
                </a:solidFill>
                <a:latin typeface="微软雅黑" panose="020B0503020204020204" pitchFamily="34" charset="-122"/>
                <a:ea typeface="微软雅黑" panose="020B0503020204020204" pitchFamily="34" charset="-122"/>
              </a:rPr>
              <a:t>成双</a:t>
            </a:r>
            <a:endParaRPr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8" name="矩形 7"/>
          <p:cNvSpPr/>
          <p:nvPr/>
        </p:nvSpPr>
        <p:spPr>
          <a:xfrm>
            <a:off x="5024438" y="2857491"/>
            <a:ext cx="1643062"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9" name="矩形 8"/>
          <p:cNvSpPr/>
          <p:nvPr/>
        </p:nvSpPr>
        <p:spPr>
          <a:xfrm>
            <a:off x="7239001" y="2857491"/>
            <a:ext cx="1643063"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0" name="矩形 9"/>
          <p:cNvSpPr/>
          <p:nvPr/>
        </p:nvSpPr>
        <p:spPr>
          <a:xfrm>
            <a:off x="5024438" y="3428991"/>
            <a:ext cx="1643062"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1" name="矩形 10"/>
          <p:cNvSpPr/>
          <p:nvPr/>
        </p:nvSpPr>
        <p:spPr>
          <a:xfrm>
            <a:off x="7239001" y="3428991"/>
            <a:ext cx="1643063"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2" name="矩形 11"/>
          <p:cNvSpPr/>
          <p:nvPr/>
        </p:nvSpPr>
        <p:spPr>
          <a:xfrm>
            <a:off x="5024438" y="4043354"/>
            <a:ext cx="1643062"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3" name="矩形 12"/>
          <p:cNvSpPr/>
          <p:nvPr/>
        </p:nvSpPr>
        <p:spPr>
          <a:xfrm>
            <a:off x="5024438" y="4629141"/>
            <a:ext cx="1643062"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4" name="矩形 13"/>
          <p:cNvSpPr/>
          <p:nvPr/>
        </p:nvSpPr>
        <p:spPr>
          <a:xfrm>
            <a:off x="7239000" y="4009743"/>
            <a:ext cx="1643063"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5" name="矩形 14"/>
          <p:cNvSpPr/>
          <p:nvPr/>
        </p:nvSpPr>
        <p:spPr>
          <a:xfrm>
            <a:off x="7239001" y="4597004"/>
            <a:ext cx="1643062"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6" name="矩形 6"/>
          <p:cNvSpPr>
            <a:spLocks noChangeArrowheads="1"/>
          </p:cNvSpPr>
          <p:nvPr/>
        </p:nvSpPr>
        <p:spPr bwMode="auto">
          <a:xfrm>
            <a:off x="1595407" y="5929331"/>
            <a:ext cx="8802687" cy="585787"/>
          </a:xfrm>
          <a:prstGeom prst="rect">
            <a:avLst/>
          </a:prstGeom>
          <a:noFill/>
          <a:ln w="57150">
            <a:solidFill>
              <a:srgbClr val="00B0F0"/>
            </a:solidFill>
          </a:ln>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(2) </a:t>
            </a:r>
            <a:r>
              <a:rPr lang="zh-CN" altLang="en-US" sz="3200" dirty="0">
                <a:solidFill>
                  <a:schemeClr val="bg1"/>
                </a:solidFill>
                <a:latin typeface="微软雅黑" panose="020B0503020204020204" pitchFamily="34" charset="-122"/>
                <a:ea typeface="微软雅黑" panose="020B0503020204020204" pitchFamily="34" charset="-122"/>
              </a:rPr>
              <a:t>是不确定度大小，确定了数据可取的位数</a:t>
            </a:r>
            <a:r>
              <a:rPr lang="en-US" altLang="zh-CN" sz="3200" dirty="0">
                <a:solidFill>
                  <a:schemeClr val="bg1"/>
                </a:solidFill>
                <a:latin typeface="微软雅黑" panose="020B0503020204020204" pitchFamily="34" charset="-122"/>
                <a:ea typeface="微软雅黑" panose="020B0503020204020204" pitchFamily="34" charset="-122"/>
              </a:rPr>
              <a:t>!</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17"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2. </a:t>
            </a:r>
            <a:r>
              <a:rPr lang="zh-CN" altLang="en-US" sz="5400" b="1" dirty="0">
                <a:solidFill>
                  <a:schemeClr val="bg1"/>
                </a:solidFill>
                <a:latin typeface="微软雅黑" panose="020B0503020204020204" pitchFamily="34" charset="-122"/>
                <a:ea typeface="微软雅黑" panose="020B0503020204020204" pitchFamily="34" charset="-122"/>
              </a:rPr>
              <a:t>有效数字及运算规则</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18" name="矩形 17"/>
          <p:cNvSpPr/>
          <p:nvPr/>
        </p:nvSpPr>
        <p:spPr>
          <a:xfrm>
            <a:off x="335360" y="1000514"/>
            <a:ext cx="4320480" cy="499675"/>
          </a:xfrm>
          <a:prstGeom prst="rect">
            <a:avLst/>
          </a:prstGeom>
          <a:noFill/>
          <a:ln w="9525">
            <a:noFill/>
            <a:miter lim="800000"/>
          </a:ln>
        </p:spPr>
        <p:txBody>
          <a:bodyPr anchor="ctr"/>
          <a:lstStyle/>
          <a:p>
            <a:r>
              <a:rPr lang="zh-CN" altLang="en-US"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一个修约的例子</a:t>
            </a:r>
            <a:endParaRPr lang="zh-CN" altLang="en-US"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矩形 6"/>
          <p:cNvSpPr>
            <a:spLocks noChangeArrowheads="1"/>
          </p:cNvSpPr>
          <p:nvPr/>
        </p:nvSpPr>
        <p:spPr bwMode="auto">
          <a:xfrm>
            <a:off x="393285" y="2659884"/>
            <a:ext cx="2220671" cy="1815882"/>
          </a:xfrm>
          <a:prstGeom prst="rect">
            <a:avLst/>
          </a:prstGeom>
          <a:noFill/>
          <a:ln w="57150">
            <a:solidFill>
              <a:srgbClr val="00B0F0"/>
            </a:solidFill>
          </a:ln>
        </p:spPr>
        <p:txBody>
          <a:bodyPr wrap="square">
            <a:spAutoFit/>
          </a:bodyPr>
          <a:lstStyle/>
          <a:p>
            <a:r>
              <a:rPr lang="en-US" altLang="zh-CN" sz="2800" dirty="0">
                <a:solidFill>
                  <a:schemeClr val="bg1"/>
                </a:solidFill>
                <a:latin typeface="微软雅黑" panose="020B0503020204020204" pitchFamily="34" charset="-122"/>
                <a:ea typeface="微软雅黑" panose="020B0503020204020204" pitchFamily="34" charset="-122"/>
              </a:rPr>
              <a:t>(1)</a:t>
            </a:r>
            <a:r>
              <a:rPr lang="zh-CN" altLang="en-US" sz="2800" dirty="0">
                <a:solidFill>
                  <a:schemeClr val="bg1"/>
                </a:solidFill>
                <a:latin typeface="微软雅黑" panose="020B0503020204020204" pitchFamily="34" charset="-122"/>
                <a:ea typeface="微软雅黑" panose="020B0503020204020204" pitchFamily="34" charset="-122"/>
              </a:rPr>
              <a:t>首先将 不确定度 修约成一位有效数字</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A54D9D6D-0819-48BE-809C-2A51D04D71F0}" type="slidenum">
              <a:rPr lang="zh-CN" altLang="en-US" smtClean="0"/>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0" nodeType="clickEffect">
                                  <p:stCondLst>
                                    <p:cond delay="0"/>
                                  </p:stCondLst>
                                  <p:childTnLst>
                                    <p:animEffect transition="out" filter="blinds(horizontal)">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0" nodeType="clickEffect">
                                  <p:stCondLst>
                                    <p:cond delay="0"/>
                                  </p:stCondLst>
                                  <p:childTnLst>
                                    <p:animEffect transition="out" filter="blinds(horizontal)">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0" nodeType="clickEffect">
                                  <p:stCondLst>
                                    <p:cond delay="0"/>
                                  </p:stCondLst>
                                  <p:childTnLst>
                                    <p:animEffect transition="out" filter="blinds(horizontal)">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blinds(horizontal)">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2. </a:t>
            </a:r>
            <a:r>
              <a:rPr lang="zh-CN" altLang="en-US" sz="5400" b="1" dirty="0">
                <a:solidFill>
                  <a:schemeClr val="bg1"/>
                </a:solidFill>
                <a:latin typeface="微软雅黑" panose="020B0503020204020204" pitchFamily="34" charset="-122"/>
                <a:ea typeface="微软雅黑" panose="020B0503020204020204" pitchFamily="34" charset="-122"/>
              </a:rPr>
              <a:t>有效数字及运算规则</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5360" y="1143000"/>
            <a:ext cx="4968552" cy="357189"/>
          </a:xfrm>
          <a:prstGeom prst="rect">
            <a:avLst/>
          </a:prstGeom>
          <a:noFill/>
          <a:ln w="9525">
            <a:noFill/>
            <a:miter lim="800000"/>
          </a:ln>
        </p:spPr>
        <p:txBody>
          <a:bodyPr anchor="ctr"/>
          <a:lstStyle/>
          <a:p>
            <a:r>
              <a:rPr lang="zh-CN" altLang="en-US" sz="3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四则混合计算的例子</a:t>
            </a:r>
            <a:endParaRPr lang="zh-CN" altLang="en-US" sz="3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3"/>
          <p:cNvSpPr txBox="1">
            <a:spLocks noRot="1" noChangeArrowheads="1"/>
          </p:cNvSpPr>
          <p:nvPr/>
        </p:nvSpPr>
        <p:spPr bwMode="auto">
          <a:xfrm>
            <a:off x="499343" y="1916832"/>
            <a:ext cx="9609138" cy="2664296"/>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按运算规则</a:t>
            </a:r>
            <a:r>
              <a:rPr lang="zh-CN" altLang="en-US" sz="28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分级进行</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，每进行一级运算，按规定取舍</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90000"/>
              </a:lnSpc>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注意：</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中间结果多保留</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位，做好应保留位置的标记</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90000"/>
              </a:lnSpc>
              <a:buNone/>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不能按完计算器再随意取</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90000"/>
              </a:lnSpc>
            </a:pP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90000"/>
              </a:lnSpc>
              <a:buFont typeface="Wingdings" panose="05000000000000000000" pitchFamily="2" charset="2"/>
              <a:buNone/>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例：① </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524.5÷0.052 =</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90000"/>
              </a:lnSpc>
              <a:buFont typeface="Wingdings" panose="05000000000000000000" pitchFamily="2" charset="2"/>
              <a:buNone/>
            </a:pP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② 101.44×1.00+20.0</a:t>
            </a:r>
            <a:r>
              <a:rPr lang="en-US" altLang="zh-CN" sz="2800" baseline="30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×π = </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A54D9D6D-0819-48BE-809C-2A51D04D71F0}"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txBox="1"/>
          <p:nvPr/>
        </p:nvSpPr>
        <p:spPr>
          <a:xfrm>
            <a:off x="0" y="0"/>
            <a:ext cx="9552384" cy="1143000"/>
          </a:xfrm>
        </p:spPr>
        <p:txBody>
          <a:bodyPr/>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en-US" altLang="zh-CN" sz="5400" b="1" dirty="0">
                <a:solidFill>
                  <a:schemeClr val="bg1"/>
                </a:solidFill>
                <a:latin typeface="微软雅黑" panose="020B0503020204020204" pitchFamily="34" charset="-122"/>
                <a:ea typeface="微软雅黑" panose="020B0503020204020204" pitchFamily="34" charset="-122"/>
              </a:rPr>
              <a:t>2. </a:t>
            </a:r>
            <a:r>
              <a:rPr lang="zh-CN" altLang="en-US" sz="5400" b="1" dirty="0">
                <a:solidFill>
                  <a:schemeClr val="bg1"/>
                </a:solidFill>
                <a:latin typeface="微软雅黑" panose="020B0503020204020204" pitchFamily="34" charset="-122"/>
                <a:ea typeface="微软雅黑" panose="020B0503020204020204" pitchFamily="34" charset="-122"/>
              </a:rPr>
              <a:t>有效数字及运算规则</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5360" y="1143000"/>
            <a:ext cx="4968552" cy="357189"/>
          </a:xfrm>
          <a:prstGeom prst="rect">
            <a:avLst/>
          </a:prstGeom>
          <a:noFill/>
          <a:ln w="9525">
            <a:noFill/>
            <a:miter lim="800000"/>
          </a:ln>
        </p:spPr>
        <p:txBody>
          <a:bodyPr anchor="ctr"/>
          <a:lstStyle/>
          <a:p>
            <a:r>
              <a:rPr lang="zh-CN" altLang="en-US" sz="3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四则混合计算的例子</a:t>
            </a:r>
            <a:endParaRPr lang="zh-CN" altLang="en-US" sz="3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Rectangle 3"/>
          <p:cNvSpPr txBox="1">
            <a:spLocks noRot="1" noChangeArrowheads="1"/>
          </p:cNvSpPr>
          <p:nvPr/>
        </p:nvSpPr>
        <p:spPr bwMode="auto">
          <a:xfrm>
            <a:off x="355181" y="1700808"/>
            <a:ext cx="10133161" cy="421005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4000" b="1" dirty="0">
                <a:solidFill>
                  <a:schemeClr val="bg1"/>
                </a:solidFill>
                <a:latin typeface="Times New Roman" panose="02020603050405020304" pitchFamily="18" charset="0"/>
                <a:cs typeface="Times New Roman" panose="02020603050405020304" pitchFamily="18" charset="0"/>
              </a:rPr>
              <a:t>①524.5÷0.052=10087=1.0×10</a:t>
            </a:r>
            <a:r>
              <a:rPr lang="en-US" altLang="zh-CN" sz="4000" b="1" baseline="30000" dirty="0">
                <a:solidFill>
                  <a:schemeClr val="bg1"/>
                </a:solidFill>
                <a:latin typeface="Times New Roman" panose="02020603050405020304" pitchFamily="18" charset="0"/>
                <a:cs typeface="Times New Roman" panose="02020603050405020304" pitchFamily="18" charset="0"/>
              </a:rPr>
              <a:t>4</a:t>
            </a:r>
            <a:endParaRPr lang="en-US" altLang="zh-CN" sz="4000" b="1" baseline="30000" dirty="0">
              <a:solidFill>
                <a:schemeClr val="bg1"/>
              </a:solidFill>
              <a:latin typeface="Times New Roman" panose="02020603050405020304" pitchFamily="18" charset="0"/>
              <a:cs typeface="Times New Roman" panose="02020603050405020304" pitchFamily="18" charset="0"/>
            </a:endParaRPr>
          </a:p>
          <a:p>
            <a:endParaRPr lang="en-US" altLang="zh-CN" sz="4000" b="1" baseline="30000" dirty="0">
              <a:solidFill>
                <a:schemeClr val="bg1"/>
              </a:solidFill>
              <a:latin typeface="Times New Roman" panose="02020603050405020304" pitchFamily="18" charset="0"/>
              <a:cs typeface="Times New Roman" panose="02020603050405020304" pitchFamily="18" charset="0"/>
            </a:endParaRPr>
          </a:p>
          <a:p>
            <a:pPr marL="0" indent="0">
              <a:buNone/>
            </a:pPr>
            <a:r>
              <a:rPr lang="en-US" altLang="zh-CN" sz="4000" b="1" dirty="0">
                <a:solidFill>
                  <a:schemeClr val="bg1"/>
                </a:solidFill>
                <a:latin typeface="Times New Roman" panose="02020603050405020304" pitchFamily="18" charset="0"/>
                <a:cs typeface="Times New Roman" panose="02020603050405020304" pitchFamily="18" charset="0"/>
              </a:rPr>
              <a:t>②101.44×1.00+20.0</a:t>
            </a:r>
            <a:r>
              <a:rPr lang="en-US" altLang="zh-CN" sz="4000" b="1" baseline="30000" dirty="0">
                <a:solidFill>
                  <a:schemeClr val="bg1"/>
                </a:solidFill>
                <a:latin typeface="Times New Roman" panose="02020603050405020304" pitchFamily="18" charset="0"/>
                <a:cs typeface="Times New Roman" panose="02020603050405020304" pitchFamily="18" charset="0"/>
              </a:rPr>
              <a:t>2</a:t>
            </a:r>
            <a:r>
              <a:rPr lang="en-US" altLang="zh-CN" sz="4000" b="1" dirty="0">
                <a:solidFill>
                  <a:schemeClr val="bg1"/>
                </a:solidFill>
                <a:latin typeface="Times New Roman" panose="02020603050405020304" pitchFamily="18" charset="0"/>
                <a:cs typeface="Times New Roman" panose="02020603050405020304" pitchFamily="18" charset="0"/>
              </a:rPr>
              <a:t>×π</a:t>
            </a:r>
            <a:endParaRPr lang="en-US" altLang="zh-CN" sz="4000" b="1"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4000" b="1" dirty="0">
                <a:solidFill>
                  <a:schemeClr val="bg1"/>
                </a:solidFill>
                <a:latin typeface="Times New Roman" panose="02020603050405020304" pitchFamily="18" charset="0"/>
                <a:cs typeface="Times New Roman" panose="02020603050405020304" pitchFamily="18" charset="0"/>
              </a:rPr>
              <a:t>       =10</a:t>
            </a:r>
            <a:r>
              <a:rPr lang="en-US" altLang="zh-CN" sz="4000" b="1" u="sng" dirty="0">
                <a:solidFill>
                  <a:schemeClr val="bg1"/>
                </a:solidFill>
                <a:latin typeface="Times New Roman" panose="02020603050405020304" pitchFamily="18" charset="0"/>
                <a:cs typeface="Times New Roman" panose="02020603050405020304" pitchFamily="18" charset="0"/>
              </a:rPr>
              <a:t>1</a:t>
            </a:r>
            <a:r>
              <a:rPr lang="en-US" altLang="zh-CN" sz="4000" b="1" dirty="0">
                <a:solidFill>
                  <a:schemeClr val="bg1"/>
                </a:solidFill>
                <a:latin typeface="Times New Roman" panose="02020603050405020304" pitchFamily="18" charset="0"/>
                <a:cs typeface="Times New Roman" panose="02020603050405020304" pitchFamily="18" charset="0"/>
              </a:rPr>
              <a:t>.44+20.0×20.0×3.1416</a:t>
            </a:r>
            <a:endParaRPr lang="en-US" altLang="zh-CN" sz="4000" b="1"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4000" b="1" dirty="0">
                <a:solidFill>
                  <a:schemeClr val="bg1"/>
                </a:solidFill>
                <a:latin typeface="Times New Roman" panose="02020603050405020304" pitchFamily="18" charset="0"/>
                <a:cs typeface="Times New Roman" panose="02020603050405020304" pitchFamily="18" charset="0"/>
              </a:rPr>
              <a:t>       =10</a:t>
            </a:r>
            <a:r>
              <a:rPr lang="en-US" altLang="zh-CN" sz="4000" b="1" u="sng" dirty="0">
                <a:solidFill>
                  <a:schemeClr val="bg1"/>
                </a:solidFill>
                <a:latin typeface="Times New Roman" panose="02020603050405020304" pitchFamily="18" charset="0"/>
                <a:cs typeface="Times New Roman" panose="02020603050405020304" pitchFamily="18" charset="0"/>
              </a:rPr>
              <a:t>1</a:t>
            </a:r>
            <a:r>
              <a:rPr lang="en-US" altLang="zh-CN" sz="4000" b="1" dirty="0">
                <a:solidFill>
                  <a:schemeClr val="bg1"/>
                </a:solidFill>
                <a:latin typeface="Times New Roman" panose="02020603050405020304" pitchFamily="18" charset="0"/>
                <a:cs typeface="Times New Roman" panose="02020603050405020304" pitchFamily="18" charset="0"/>
              </a:rPr>
              <a:t>.44+12</a:t>
            </a:r>
            <a:r>
              <a:rPr lang="en-US" altLang="zh-CN" sz="4000" b="1" u="sng" dirty="0">
                <a:solidFill>
                  <a:schemeClr val="bg1"/>
                </a:solidFill>
                <a:latin typeface="Times New Roman" panose="02020603050405020304" pitchFamily="18" charset="0"/>
                <a:cs typeface="Times New Roman" panose="02020603050405020304" pitchFamily="18" charset="0"/>
              </a:rPr>
              <a:t>5</a:t>
            </a:r>
            <a:r>
              <a:rPr lang="en-US" altLang="zh-CN" sz="4000" b="1" dirty="0">
                <a:solidFill>
                  <a:schemeClr val="bg1"/>
                </a:solidFill>
                <a:latin typeface="Times New Roman" panose="02020603050405020304" pitchFamily="18" charset="0"/>
                <a:cs typeface="Times New Roman" panose="02020603050405020304" pitchFamily="18" charset="0"/>
              </a:rPr>
              <a:t>6.6</a:t>
            </a:r>
            <a:endParaRPr lang="en-US" altLang="zh-CN" sz="4000" b="1" baseline="30000"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4000" b="1" dirty="0">
                <a:solidFill>
                  <a:schemeClr val="bg1"/>
                </a:solidFill>
                <a:latin typeface="Times New Roman" panose="02020603050405020304" pitchFamily="18" charset="0"/>
                <a:cs typeface="Times New Roman" panose="02020603050405020304" pitchFamily="18" charset="0"/>
              </a:rPr>
              <a:t>       =0.10144×10</a:t>
            </a:r>
            <a:r>
              <a:rPr lang="en-US" altLang="zh-CN" sz="4000" b="1" baseline="30000" dirty="0">
                <a:solidFill>
                  <a:schemeClr val="bg1"/>
                </a:solidFill>
                <a:latin typeface="Times New Roman" panose="02020603050405020304" pitchFamily="18" charset="0"/>
                <a:cs typeface="Times New Roman" panose="02020603050405020304" pitchFamily="18" charset="0"/>
              </a:rPr>
              <a:t>3</a:t>
            </a:r>
            <a:r>
              <a:rPr lang="en-US" altLang="zh-CN" sz="4000" b="1" dirty="0">
                <a:solidFill>
                  <a:schemeClr val="bg1"/>
                </a:solidFill>
                <a:latin typeface="Times New Roman" panose="02020603050405020304" pitchFamily="18" charset="0"/>
                <a:cs typeface="Times New Roman" panose="02020603050405020304" pitchFamily="18" charset="0"/>
              </a:rPr>
              <a:t>+1.2</a:t>
            </a:r>
            <a:r>
              <a:rPr lang="en-US" altLang="zh-CN" sz="4000" b="1" u="sng" dirty="0">
                <a:solidFill>
                  <a:schemeClr val="bg1"/>
                </a:solidFill>
                <a:latin typeface="Times New Roman" panose="02020603050405020304" pitchFamily="18" charset="0"/>
                <a:cs typeface="Times New Roman" panose="02020603050405020304" pitchFamily="18" charset="0"/>
              </a:rPr>
              <a:t>5</a:t>
            </a:r>
            <a:r>
              <a:rPr lang="en-US" altLang="zh-CN" sz="4000" b="1" dirty="0">
                <a:solidFill>
                  <a:schemeClr val="bg1"/>
                </a:solidFill>
                <a:latin typeface="Times New Roman" panose="02020603050405020304" pitchFamily="18" charset="0"/>
                <a:cs typeface="Times New Roman" panose="02020603050405020304" pitchFamily="18" charset="0"/>
              </a:rPr>
              <a:t>66×10</a:t>
            </a:r>
            <a:r>
              <a:rPr lang="en-US" altLang="zh-CN" sz="4000" b="1" baseline="30000" dirty="0">
                <a:solidFill>
                  <a:schemeClr val="bg1"/>
                </a:solidFill>
                <a:latin typeface="Times New Roman" panose="02020603050405020304" pitchFamily="18" charset="0"/>
                <a:cs typeface="Times New Roman" panose="02020603050405020304" pitchFamily="18" charset="0"/>
              </a:rPr>
              <a:t>3</a:t>
            </a:r>
            <a:endParaRPr lang="en-US" altLang="zh-CN" sz="4000" b="1" baseline="30000"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4000" b="1" dirty="0">
                <a:solidFill>
                  <a:schemeClr val="bg1"/>
                </a:solidFill>
                <a:latin typeface="Times New Roman" panose="02020603050405020304" pitchFamily="18" charset="0"/>
                <a:cs typeface="Times New Roman" panose="02020603050405020304" pitchFamily="18" charset="0"/>
              </a:rPr>
              <a:t>       =1.3</a:t>
            </a:r>
            <a:r>
              <a:rPr lang="en-US" altLang="zh-CN" sz="4000" b="1" u="sng" dirty="0">
                <a:solidFill>
                  <a:schemeClr val="bg1"/>
                </a:solidFill>
                <a:latin typeface="Times New Roman" panose="02020603050405020304" pitchFamily="18" charset="0"/>
                <a:cs typeface="Times New Roman" panose="02020603050405020304" pitchFamily="18" charset="0"/>
              </a:rPr>
              <a:t>5</a:t>
            </a:r>
            <a:r>
              <a:rPr lang="en-US" altLang="zh-CN" sz="4000" b="1" dirty="0">
                <a:solidFill>
                  <a:schemeClr val="bg1"/>
                </a:solidFill>
                <a:latin typeface="Times New Roman" panose="02020603050405020304" pitchFamily="18" charset="0"/>
                <a:cs typeface="Times New Roman" panose="02020603050405020304" pitchFamily="18" charset="0"/>
              </a:rPr>
              <a:t>804×10</a:t>
            </a:r>
            <a:r>
              <a:rPr lang="en-US" altLang="zh-CN" sz="4000" b="1" baseline="30000" dirty="0">
                <a:solidFill>
                  <a:schemeClr val="bg1"/>
                </a:solidFill>
                <a:latin typeface="Times New Roman" panose="02020603050405020304" pitchFamily="18" charset="0"/>
                <a:cs typeface="Times New Roman" panose="02020603050405020304" pitchFamily="18" charset="0"/>
              </a:rPr>
              <a:t>3</a:t>
            </a:r>
            <a:r>
              <a:rPr lang="en-US" altLang="zh-CN" sz="4000" b="1" dirty="0">
                <a:solidFill>
                  <a:schemeClr val="bg1"/>
                </a:solidFill>
                <a:latin typeface="Times New Roman" panose="02020603050405020304" pitchFamily="18" charset="0"/>
                <a:cs typeface="Times New Roman" panose="02020603050405020304" pitchFamily="18" charset="0"/>
              </a:rPr>
              <a:t> =1.3</a:t>
            </a:r>
            <a:r>
              <a:rPr lang="en-US" altLang="zh-CN" sz="4000" b="1" u="sng" dirty="0">
                <a:solidFill>
                  <a:schemeClr val="bg1"/>
                </a:solidFill>
                <a:latin typeface="Times New Roman" panose="02020603050405020304" pitchFamily="18" charset="0"/>
                <a:cs typeface="Times New Roman" panose="02020603050405020304" pitchFamily="18" charset="0"/>
              </a:rPr>
              <a:t>6</a:t>
            </a:r>
            <a:r>
              <a:rPr lang="en-US" altLang="zh-CN" sz="4000" b="1" dirty="0">
                <a:solidFill>
                  <a:schemeClr val="bg1"/>
                </a:solidFill>
                <a:latin typeface="Times New Roman" panose="02020603050405020304" pitchFamily="18" charset="0"/>
                <a:cs typeface="Times New Roman" panose="02020603050405020304" pitchFamily="18" charset="0"/>
              </a:rPr>
              <a:t>×10</a:t>
            </a:r>
            <a:r>
              <a:rPr lang="en-US" altLang="zh-CN" sz="4000" b="1" baseline="30000" dirty="0">
                <a:solidFill>
                  <a:schemeClr val="bg1"/>
                </a:solidFill>
                <a:latin typeface="Times New Roman" panose="02020603050405020304" pitchFamily="18" charset="0"/>
                <a:cs typeface="Times New Roman" panose="02020603050405020304" pitchFamily="18" charset="0"/>
              </a:rPr>
              <a:t>3</a:t>
            </a:r>
            <a:endParaRPr lang="en-US" altLang="zh-CN" sz="4000" b="1" baseline="30000" dirty="0">
              <a:solidFill>
                <a:schemeClr val="bg1"/>
              </a:solidFill>
              <a:latin typeface="Times New Roman" panose="02020603050405020304" pitchFamily="18" charset="0"/>
              <a:cs typeface="Times New Roman" panose="02020603050405020304" pitchFamily="18" charset="0"/>
            </a:endParaRPr>
          </a:p>
        </p:txBody>
      </p:sp>
      <p:sp>
        <p:nvSpPr>
          <p:cNvPr id="11" name="圆角矩形标注 10"/>
          <p:cNvSpPr/>
          <p:nvPr/>
        </p:nvSpPr>
        <p:spPr>
          <a:xfrm>
            <a:off x="6960096" y="2764935"/>
            <a:ext cx="4392488" cy="648072"/>
          </a:xfrm>
          <a:prstGeom prst="wedgeRoundRectCallout">
            <a:avLst>
              <a:gd name="adj1" fmla="val -152513"/>
              <a:gd name="adj2" fmla="val 121607"/>
              <a:gd name="adj3" fmla="val 1666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至少</a:t>
            </a:r>
            <a:r>
              <a:rPr lang="zh-CN" altLang="en-US" dirty="0">
                <a:solidFill>
                  <a:schemeClr val="bg1"/>
                </a:solidFill>
                <a:latin typeface="微软雅黑" panose="020B0503020204020204" pitchFamily="34" charset="-122"/>
                <a:ea typeface="微软雅黑" panose="020B0503020204020204" pitchFamily="34" charset="-122"/>
              </a:rPr>
              <a:t>比法则结果多保留</a:t>
            </a: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a:solidFill>
                  <a:schemeClr val="bg1"/>
                </a:solidFill>
                <a:latin typeface="微软雅黑" panose="020B0503020204020204" pitchFamily="34" charset="-122"/>
                <a:ea typeface="微软雅黑" panose="020B0503020204020204" pitchFamily="34" charset="-122"/>
              </a:rPr>
              <a:t>位</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zh-CN" altLang="en-US" dirty="0">
                <a:solidFill>
                  <a:schemeClr val="bg1"/>
                </a:solidFill>
                <a:latin typeface="微软雅黑" panose="020B0503020204020204" pitchFamily="34" charset="-122"/>
                <a:ea typeface="微软雅黑" panose="020B0503020204020204" pitchFamily="34" charset="-122"/>
              </a:rPr>
              <a:t>按法则的应留位置，用</a:t>
            </a:r>
            <a:r>
              <a:rPr lang="zh-CN" altLang="en-US" b="1" dirty="0">
                <a:solidFill>
                  <a:schemeClr val="bg1"/>
                </a:solidFill>
                <a:latin typeface="微软雅黑" panose="020B0503020204020204" pitchFamily="34" charset="-122"/>
                <a:ea typeface="微软雅黑" panose="020B0503020204020204" pitchFamily="34" charset="-122"/>
              </a:rPr>
              <a:t>下划线</a:t>
            </a:r>
            <a:r>
              <a:rPr lang="zh-CN" altLang="en-US" dirty="0">
                <a:solidFill>
                  <a:schemeClr val="bg1"/>
                </a:solidFill>
                <a:latin typeface="微软雅黑" panose="020B0503020204020204" pitchFamily="34" charset="-122"/>
                <a:ea typeface="微软雅黑" panose="020B0503020204020204" pitchFamily="34" charset="-122"/>
              </a:rPr>
              <a:t>做好标记</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2" name="圆角矩形标注 11"/>
          <p:cNvSpPr/>
          <p:nvPr/>
        </p:nvSpPr>
        <p:spPr>
          <a:xfrm>
            <a:off x="7608168" y="3689824"/>
            <a:ext cx="4320480" cy="459256"/>
          </a:xfrm>
          <a:prstGeom prst="wedgeRoundRectCallout">
            <a:avLst>
              <a:gd name="adj1" fmla="val -56849"/>
              <a:gd name="adj2" fmla="val 21673"/>
              <a:gd name="adj3" fmla="val 1666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常数，</a:t>
            </a:r>
            <a:r>
              <a:rPr lang="zh-CN" altLang="en-US" b="1" dirty="0">
                <a:solidFill>
                  <a:schemeClr val="bg1"/>
                </a:solidFill>
                <a:latin typeface="微软雅黑" panose="020B0503020204020204" pitchFamily="34" charset="-122"/>
                <a:ea typeface="微软雅黑" panose="020B0503020204020204" pitchFamily="34" charset="-122"/>
              </a:rPr>
              <a:t>至少</a:t>
            </a:r>
            <a:r>
              <a:rPr lang="zh-CN" altLang="en-US" dirty="0">
                <a:solidFill>
                  <a:schemeClr val="bg1"/>
                </a:solidFill>
                <a:latin typeface="微软雅黑" panose="020B0503020204020204" pitchFamily="34" charset="-122"/>
                <a:ea typeface="微软雅黑" panose="020B0503020204020204" pitchFamily="34" charset="-122"/>
              </a:rPr>
              <a:t>比其它最少的位数多保留</a:t>
            </a: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a:solidFill>
                  <a:schemeClr val="bg1"/>
                </a:solidFill>
                <a:latin typeface="微软雅黑" panose="020B0503020204020204" pitchFamily="34" charset="-122"/>
                <a:ea typeface="微软雅黑" panose="020B0503020204020204" pitchFamily="34" charset="-122"/>
              </a:rPr>
              <a:t>位</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3" name="圆角矩形标注 12"/>
          <p:cNvSpPr/>
          <p:nvPr/>
        </p:nvSpPr>
        <p:spPr>
          <a:xfrm>
            <a:off x="7752184" y="5382306"/>
            <a:ext cx="3456384" cy="459256"/>
          </a:xfrm>
          <a:prstGeom prst="wedgeRoundRectCallout">
            <a:avLst>
              <a:gd name="adj1" fmla="val -67420"/>
              <a:gd name="adj2" fmla="val -18006"/>
              <a:gd name="adj3" fmla="val 1666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用科学计数法，保证有效数字</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4" name="圆角矩形标注 13"/>
          <p:cNvSpPr/>
          <p:nvPr/>
        </p:nvSpPr>
        <p:spPr>
          <a:xfrm>
            <a:off x="7176120" y="4389311"/>
            <a:ext cx="4392488" cy="648072"/>
          </a:xfrm>
          <a:prstGeom prst="wedgeRoundRectCallout">
            <a:avLst>
              <a:gd name="adj1" fmla="val -114254"/>
              <a:gd name="adj2" fmla="val 37712"/>
              <a:gd name="adj3" fmla="val 1666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多保留</a:t>
            </a:r>
            <a:r>
              <a:rPr lang="en-US" altLang="zh-CN" dirty="0">
                <a:solidFill>
                  <a:schemeClr val="bg1"/>
                </a:solidFill>
                <a:latin typeface="微软雅黑" panose="020B0503020204020204" pitchFamily="34" charset="-122"/>
                <a:ea typeface="微软雅黑" panose="020B0503020204020204" pitchFamily="34" charset="-122"/>
              </a:rPr>
              <a:t>1-2</a:t>
            </a:r>
            <a:r>
              <a:rPr lang="zh-CN" altLang="en-US" dirty="0">
                <a:solidFill>
                  <a:schemeClr val="bg1"/>
                </a:solidFill>
                <a:latin typeface="微软雅黑" panose="020B0503020204020204" pitchFamily="34" charset="-122"/>
                <a:ea typeface="微软雅黑" panose="020B0503020204020204" pitchFamily="34" charset="-122"/>
              </a:rPr>
              <a:t>位</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zh-CN" altLang="en-US" dirty="0">
                <a:solidFill>
                  <a:schemeClr val="bg1"/>
                </a:solidFill>
                <a:latin typeface="微软雅黑" panose="020B0503020204020204" pitchFamily="34" charset="-122"/>
                <a:ea typeface="微软雅黑" panose="020B0503020204020204" pitchFamily="34" charset="-122"/>
              </a:rPr>
              <a:t>按法则的应留位置，用下划线做好标记</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9" name="圆角矩形标注 8"/>
          <p:cNvSpPr/>
          <p:nvPr/>
        </p:nvSpPr>
        <p:spPr>
          <a:xfrm>
            <a:off x="7068108" y="6169382"/>
            <a:ext cx="3636404" cy="459256"/>
          </a:xfrm>
          <a:prstGeom prst="wedgeRoundRectCallout">
            <a:avLst>
              <a:gd name="adj1" fmla="val -79805"/>
              <a:gd name="adj2" fmla="val 24228"/>
              <a:gd name="adj3" fmla="val 1666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最后结果，舍到</a:t>
            </a:r>
            <a:r>
              <a:rPr lang="zh-CN" altLang="en-US" b="1" dirty="0">
                <a:solidFill>
                  <a:schemeClr val="bg1"/>
                </a:solidFill>
                <a:latin typeface="微软雅黑" panose="020B0503020204020204" pitchFamily="34" charset="-122"/>
                <a:ea typeface="微软雅黑" panose="020B0503020204020204" pitchFamily="34" charset="-122"/>
              </a:rPr>
              <a:t>下划线</a:t>
            </a:r>
            <a:r>
              <a:rPr lang="zh-CN" altLang="en-US" dirty="0">
                <a:solidFill>
                  <a:schemeClr val="bg1"/>
                </a:solidFill>
                <a:latin typeface="微软雅黑" panose="020B0503020204020204" pitchFamily="34" charset="-122"/>
                <a:ea typeface="微软雅黑" panose="020B0503020204020204" pitchFamily="34" charset="-122"/>
              </a:rPr>
              <a:t>那一位</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 name="圆角矩形标注 9"/>
          <p:cNvSpPr/>
          <p:nvPr/>
        </p:nvSpPr>
        <p:spPr>
          <a:xfrm>
            <a:off x="6939028" y="1216124"/>
            <a:ext cx="2901388" cy="648072"/>
          </a:xfrm>
          <a:prstGeom prst="wedgeRoundRectCallout">
            <a:avLst>
              <a:gd name="adj1" fmla="val -117552"/>
              <a:gd name="adj2" fmla="val 88827"/>
              <a:gd name="adj3" fmla="val 1666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数值很大，有效数字很少</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zh-CN" altLang="en-US" dirty="0">
                <a:solidFill>
                  <a:schemeClr val="bg1"/>
                </a:solidFill>
                <a:latin typeface="微软雅黑" panose="020B0503020204020204" pitchFamily="34" charset="-122"/>
                <a:ea typeface="微软雅黑" panose="020B0503020204020204" pitchFamily="34" charset="-122"/>
              </a:rPr>
              <a:t>用科学计数法</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A54D9D6D-0819-48BE-809C-2A51D04D71F0}" type="slidenum">
              <a:rPr lang="zh-CN" altLang="en-US" smtClean="0"/>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
          <p:cNvSpPr>
            <a:spLocks noChangeArrowheads="1"/>
          </p:cNvSpPr>
          <p:nvPr/>
        </p:nvSpPr>
        <p:spPr bwMode="auto">
          <a:xfrm>
            <a:off x="46758" y="11219"/>
            <a:ext cx="6120680" cy="923330"/>
          </a:xfrm>
          <a:prstGeom prst="rect">
            <a:avLst/>
          </a:prstGeom>
        </p:spPr>
        <p:txBody>
          <a:bodyPr/>
          <a:lstStyle/>
          <a:p>
            <a:r>
              <a:rPr lang="en-US" altLang="zh-CN" sz="5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5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不确定度的评定</a:t>
            </a:r>
            <a:endParaRPr lang="en-US" altLang="zh-CN" sz="5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196" name="文本框 5"/>
          <p:cNvSpPr txBox="1">
            <a:spLocks noChangeArrowheads="1"/>
          </p:cNvSpPr>
          <p:nvPr/>
        </p:nvSpPr>
        <p:spPr bwMode="auto">
          <a:xfrm>
            <a:off x="983432" y="2924944"/>
            <a:ext cx="10081120"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r>
              <a:rPr lang="zh-CN" altLang="en-US" dirty="0">
                <a:solidFill>
                  <a:schemeClr val="bg1"/>
                </a:solidFill>
                <a:latin typeface="微软雅黑" panose="020B0503020204020204" pitchFamily="34" charset="-122"/>
              </a:rPr>
              <a:t>         测量者</a:t>
            </a:r>
            <a:endParaRPr lang="en-US" altLang="zh-CN" dirty="0">
              <a:solidFill>
                <a:schemeClr val="bg1"/>
              </a:solidFill>
              <a:latin typeface="微软雅黑" panose="020B0503020204020204" pitchFamily="34" charset="-122"/>
            </a:endParaRPr>
          </a:p>
          <a:p>
            <a:pPr>
              <a:spcBef>
                <a:spcPct val="0"/>
              </a:spcBef>
              <a:buFontTx/>
              <a:buNone/>
            </a:pPr>
            <a:r>
              <a:rPr lang="zh-CN" altLang="en-US" b="1" dirty="0">
                <a:solidFill>
                  <a:schemeClr val="bg1"/>
                </a:solidFill>
                <a:latin typeface="微软雅黑" panose="020B0503020204020204" pitchFamily="34" charset="-122"/>
              </a:rPr>
              <a:t>测量</a:t>
            </a:r>
            <a:r>
              <a:rPr lang="zh-CN" altLang="en-US" dirty="0">
                <a:solidFill>
                  <a:schemeClr val="bg1"/>
                </a:solidFill>
                <a:latin typeface="微软雅黑" panose="020B0503020204020204" pitchFamily="34" charset="-122"/>
              </a:rPr>
              <a:t>  测量方法       将待测量与标准量比较            </a:t>
            </a:r>
            <a:endParaRPr lang="en-US" altLang="zh-CN" dirty="0">
              <a:solidFill>
                <a:schemeClr val="bg1"/>
              </a:solidFill>
              <a:latin typeface="微软雅黑" panose="020B0503020204020204" pitchFamily="34" charset="-122"/>
            </a:endParaRPr>
          </a:p>
          <a:p>
            <a:pPr>
              <a:spcBef>
                <a:spcPct val="0"/>
              </a:spcBef>
              <a:buFontTx/>
              <a:buNone/>
            </a:pPr>
            <a:r>
              <a:rPr lang="zh-CN" altLang="en-US" dirty="0">
                <a:solidFill>
                  <a:schemeClr val="bg1"/>
                </a:solidFill>
                <a:latin typeface="微软雅黑" panose="020B0503020204020204" pitchFamily="34" charset="-122"/>
              </a:rPr>
              <a:t>         测量仪器</a:t>
            </a:r>
            <a:endParaRPr lang="en-US" altLang="zh-CN" dirty="0">
              <a:solidFill>
                <a:schemeClr val="bg1"/>
              </a:solidFill>
              <a:latin typeface="微软雅黑" panose="020B0503020204020204" pitchFamily="34" charset="-122"/>
            </a:endParaRPr>
          </a:p>
          <a:p>
            <a:pPr>
              <a:spcBef>
                <a:spcPct val="0"/>
              </a:spcBef>
              <a:buFontTx/>
              <a:buNone/>
            </a:pPr>
            <a:endParaRPr lang="en-US" altLang="zh-CN" dirty="0">
              <a:solidFill>
                <a:schemeClr val="bg1"/>
              </a:solidFill>
              <a:latin typeface="微软雅黑" panose="020B0503020204020204" pitchFamily="34" charset="-122"/>
            </a:endParaRPr>
          </a:p>
          <a:p>
            <a:pPr>
              <a:spcBef>
                <a:spcPct val="0"/>
              </a:spcBef>
              <a:buFontTx/>
              <a:buNone/>
            </a:pPr>
            <a:r>
              <a:rPr lang="zh-CN" altLang="en-US" sz="2800" b="1" dirty="0">
                <a:solidFill>
                  <a:schemeClr val="bg1"/>
                </a:solidFill>
                <a:latin typeface="微软雅黑" panose="020B0503020204020204" pitchFamily="34" charset="-122"/>
                <a:cs typeface="楷体_GB2312"/>
              </a:rPr>
              <a:t>直接测量：用游标卡尺测长度、秒表测时间、温度计测温度等</a:t>
            </a:r>
            <a:endParaRPr lang="en-US" altLang="zh-CN" sz="2800" b="1" dirty="0">
              <a:solidFill>
                <a:schemeClr val="bg1"/>
              </a:solidFill>
              <a:latin typeface="微软雅黑" panose="020B0503020204020204" pitchFamily="34" charset="-122"/>
              <a:cs typeface="楷体_GB2312"/>
            </a:endParaRPr>
          </a:p>
          <a:p>
            <a:pPr>
              <a:spcBef>
                <a:spcPct val="0"/>
              </a:spcBef>
              <a:buFontTx/>
              <a:buNone/>
            </a:pPr>
            <a:r>
              <a:rPr lang="zh-CN" altLang="en-US" sz="2800" b="1" dirty="0">
                <a:solidFill>
                  <a:schemeClr val="bg1"/>
                </a:solidFill>
                <a:latin typeface="微软雅黑" panose="020B0503020204020204" pitchFamily="34" charset="-122"/>
                <a:cs typeface="楷体_GB2312"/>
              </a:rPr>
              <a:t>间接测量：测量重力加速度、体积、密度、黏度等</a:t>
            </a:r>
            <a:endParaRPr lang="zh-CN" altLang="en-US" sz="2800" b="1" dirty="0">
              <a:solidFill>
                <a:schemeClr val="bg1"/>
              </a:solidFill>
              <a:latin typeface="微软雅黑" panose="020B0503020204020204" pitchFamily="34" charset="-122"/>
            </a:endParaRPr>
          </a:p>
        </p:txBody>
      </p:sp>
      <p:sp>
        <p:nvSpPr>
          <p:cNvPr id="8" name="右大括号 7"/>
          <p:cNvSpPr/>
          <p:nvPr/>
        </p:nvSpPr>
        <p:spPr>
          <a:xfrm>
            <a:off x="4151784" y="3129377"/>
            <a:ext cx="357758" cy="1224136"/>
          </a:xfrm>
          <a:prstGeom prst="rightBrace">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 name="文本框 2"/>
          <p:cNvSpPr txBox="1"/>
          <p:nvPr/>
        </p:nvSpPr>
        <p:spPr>
          <a:xfrm>
            <a:off x="3791744" y="1733732"/>
            <a:ext cx="3526110" cy="830997"/>
          </a:xfrm>
          <a:prstGeom prst="rect">
            <a:avLst/>
          </a:prstGeom>
          <a:noFill/>
        </p:spPr>
        <p:txBody>
          <a:bodyPr wrap="square" rtlCol="0">
            <a:spAutoFit/>
          </a:bodyPr>
          <a:lstStyle/>
          <a:p>
            <a:pPr algn="ctr"/>
            <a:r>
              <a:rPr lang="zh-CN" altLang="en-US" sz="4800" b="1" dirty="0">
                <a:solidFill>
                  <a:schemeClr val="bg1"/>
                </a:solidFill>
                <a:latin typeface="微软雅黑" panose="020B0503020204020204" pitchFamily="34" charset="-122"/>
                <a:ea typeface="微软雅黑" panose="020B0503020204020204" pitchFamily="34" charset="-122"/>
              </a:rPr>
              <a:t>关于测量</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AE22331B-DDB2-4A6C-BBB5-587AE5A83E42}" type="slidenum">
              <a:rPr lang="zh-CN" altLang="en-US" sz="2800">
                <a:solidFill>
                  <a:srgbClr val="FFFFFF"/>
                </a:solidFill>
                <a:latin typeface="Calibri" panose="020F0502020204030204" charset="0"/>
                <a:ea typeface="宋体" panose="02010600030101010101" pitchFamily="2" charset="-122"/>
              </a:rPr>
            </a:fld>
            <a:endParaRPr lang="zh-CN" altLang="en-US" sz="2800" dirty="0">
              <a:solidFill>
                <a:srgbClr val="FFFFFF"/>
              </a:solidFill>
              <a:latin typeface="Calibri" panose="020F0502020204030204" charset="0"/>
              <a:ea typeface="宋体" panose="02010600030101010101" pitchFamily="2" charset="-122"/>
            </a:endParaRPr>
          </a:p>
        </p:txBody>
      </p:sp>
      <p:sp>
        <p:nvSpPr>
          <p:cNvPr id="4" name="矩形 2"/>
          <p:cNvSpPr>
            <a:spLocks noChangeArrowheads="1"/>
          </p:cNvSpPr>
          <p:nvPr/>
        </p:nvSpPr>
        <p:spPr bwMode="auto">
          <a:xfrm>
            <a:off x="1774826" y="90488"/>
            <a:ext cx="7993063" cy="1069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lgn="ctr" eaLnBrk="1" hangingPunct="1">
              <a:lnSpc>
                <a:spcPct val="150000"/>
              </a:lnSpc>
              <a:spcBef>
                <a:spcPct val="0"/>
              </a:spcBef>
              <a:buFontTx/>
              <a:buNone/>
              <a:defRPr/>
            </a:pPr>
            <a:r>
              <a:rPr lang="zh-CN" altLang="en-US" sz="4800" b="1" dirty="0">
                <a:solidFill>
                  <a:schemeClr val="bg1"/>
                </a:solidFill>
                <a:latin typeface="微软雅黑" panose="020B0503020204020204" pitchFamily="34" charset="-122"/>
              </a:rPr>
              <a:t>关于误差</a:t>
            </a:r>
            <a:endParaRPr lang="en-US" altLang="zh-CN" sz="4800" b="1" dirty="0">
              <a:solidFill>
                <a:schemeClr val="bg1"/>
              </a:solidFill>
              <a:latin typeface="微软雅黑" panose="020B0503020204020204" pitchFamily="34" charset="-122"/>
            </a:endParaRPr>
          </a:p>
        </p:txBody>
      </p:sp>
      <p:sp>
        <p:nvSpPr>
          <p:cNvPr id="9220" name="文本框 5"/>
          <p:cNvSpPr txBox="1">
            <a:spLocks noChangeArrowheads="1"/>
          </p:cNvSpPr>
          <p:nvPr/>
        </p:nvSpPr>
        <p:spPr bwMode="auto">
          <a:xfrm>
            <a:off x="1055440" y="1893591"/>
            <a:ext cx="1008112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r>
              <a:rPr lang="zh-CN" altLang="en-US" sz="2800" b="1" dirty="0">
                <a:solidFill>
                  <a:schemeClr val="bg1"/>
                </a:solidFill>
                <a:latin typeface="微软雅黑" panose="020B0503020204020204" pitchFamily="34" charset="-122"/>
              </a:rPr>
              <a:t>真值</a:t>
            </a:r>
            <a:r>
              <a:rPr lang="zh-CN" altLang="en-US" sz="2800" dirty="0">
                <a:solidFill>
                  <a:schemeClr val="bg1"/>
                </a:solidFill>
                <a:latin typeface="微软雅黑" panose="020B0503020204020204" pitchFamily="34" charset="-122"/>
              </a:rPr>
              <a:t>    物理量客观上应该有一个真实的数值</a:t>
            </a:r>
            <a:endParaRPr lang="en-US" altLang="zh-CN" sz="2800" dirty="0">
              <a:solidFill>
                <a:schemeClr val="bg1"/>
              </a:solidFill>
              <a:latin typeface="微软雅黑" panose="020B0503020204020204" pitchFamily="34" charset="-122"/>
            </a:endParaRPr>
          </a:p>
          <a:p>
            <a:pPr>
              <a:spcBef>
                <a:spcPct val="0"/>
              </a:spcBef>
              <a:buFontTx/>
              <a:buNone/>
            </a:pPr>
            <a:endParaRPr lang="en-US" altLang="zh-CN" sz="2800" dirty="0">
              <a:solidFill>
                <a:schemeClr val="bg1"/>
              </a:solidFill>
              <a:latin typeface="微软雅黑" panose="020B0503020204020204" pitchFamily="34" charset="-122"/>
            </a:endParaRPr>
          </a:p>
          <a:p>
            <a:pPr>
              <a:spcBef>
                <a:spcPct val="0"/>
              </a:spcBef>
              <a:buFontTx/>
              <a:buNone/>
            </a:pPr>
            <a:r>
              <a:rPr lang="en-US" altLang="zh-CN" sz="2800" dirty="0">
                <a:solidFill>
                  <a:schemeClr val="bg1"/>
                </a:solidFill>
                <a:latin typeface="微软雅黑" panose="020B0503020204020204" pitchFamily="34" charset="-122"/>
              </a:rPr>
              <a:t>             </a:t>
            </a:r>
            <a:r>
              <a:rPr lang="zh-CN" altLang="en-US" sz="2800" dirty="0">
                <a:solidFill>
                  <a:schemeClr val="bg1"/>
                </a:solidFill>
                <a:latin typeface="微软雅黑" panose="020B0503020204020204" pitchFamily="34" charset="-122"/>
              </a:rPr>
              <a:t>测量者</a:t>
            </a:r>
            <a:endParaRPr lang="en-US" altLang="zh-CN" sz="2800" dirty="0">
              <a:solidFill>
                <a:schemeClr val="bg1"/>
              </a:solidFill>
              <a:latin typeface="微软雅黑" panose="020B0503020204020204" pitchFamily="34" charset="-122"/>
            </a:endParaRPr>
          </a:p>
          <a:p>
            <a:pPr>
              <a:spcBef>
                <a:spcPct val="0"/>
              </a:spcBef>
              <a:buFontTx/>
              <a:buNone/>
            </a:pPr>
            <a:r>
              <a:rPr lang="zh-CN" altLang="en-US" sz="2800" dirty="0">
                <a:solidFill>
                  <a:schemeClr val="bg1"/>
                </a:solidFill>
                <a:latin typeface="微软雅黑" panose="020B0503020204020204" pitchFamily="34" charset="-122"/>
              </a:rPr>
              <a:t>             测量方法            测量值与真值之差</a:t>
            </a:r>
            <a:endParaRPr lang="en-US" altLang="zh-CN" sz="2800" dirty="0">
              <a:solidFill>
                <a:schemeClr val="bg1"/>
              </a:solidFill>
              <a:latin typeface="微软雅黑" panose="020B0503020204020204" pitchFamily="34" charset="-122"/>
            </a:endParaRPr>
          </a:p>
          <a:p>
            <a:pPr>
              <a:spcBef>
                <a:spcPct val="0"/>
              </a:spcBef>
              <a:buFontTx/>
              <a:buNone/>
            </a:pPr>
            <a:r>
              <a:rPr lang="zh-CN" altLang="en-US" sz="2800" b="1" dirty="0">
                <a:solidFill>
                  <a:schemeClr val="bg1"/>
                </a:solidFill>
                <a:latin typeface="微软雅黑" panose="020B0503020204020204" pitchFamily="34" charset="-122"/>
              </a:rPr>
              <a:t>误差</a:t>
            </a:r>
            <a:r>
              <a:rPr lang="zh-CN" altLang="en-US" sz="2800" dirty="0">
                <a:solidFill>
                  <a:schemeClr val="bg1"/>
                </a:solidFill>
                <a:latin typeface="微软雅黑" panose="020B0503020204020204" pitchFamily="34" charset="-122"/>
              </a:rPr>
              <a:t>      测量仪器</a:t>
            </a:r>
            <a:endParaRPr lang="en-US" altLang="zh-CN" sz="2800" dirty="0">
              <a:solidFill>
                <a:schemeClr val="bg1"/>
              </a:solidFill>
              <a:latin typeface="微软雅黑" panose="020B0503020204020204" pitchFamily="34" charset="-122"/>
            </a:endParaRPr>
          </a:p>
          <a:p>
            <a:pPr>
              <a:spcBef>
                <a:spcPct val="0"/>
              </a:spcBef>
              <a:buFontTx/>
              <a:buNone/>
            </a:pPr>
            <a:r>
              <a:rPr lang="en-US" altLang="zh-CN" sz="2800" dirty="0">
                <a:solidFill>
                  <a:schemeClr val="bg1"/>
                </a:solidFill>
                <a:latin typeface="微软雅黑" panose="020B0503020204020204" pitchFamily="34" charset="-122"/>
              </a:rPr>
              <a:t>             </a:t>
            </a:r>
            <a:r>
              <a:rPr lang="zh-CN" altLang="en-US" sz="2800" dirty="0">
                <a:solidFill>
                  <a:schemeClr val="bg1"/>
                </a:solidFill>
                <a:latin typeface="微软雅黑" panose="020B0503020204020204" pitchFamily="34" charset="-122"/>
              </a:rPr>
              <a:t>测量条件</a:t>
            </a:r>
            <a:endParaRPr lang="en-US" altLang="zh-CN" sz="2800" dirty="0">
              <a:solidFill>
                <a:schemeClr val="bg1"/>
              </a:solidFill>
              <a:latin typeface="微软雅黑" panose="020B0503020204020204" pitchFamily="34" charset="-122"/>
            </a:endParaRPr>
          </a:p>
          <a:p>
            <a:pPr>
              <a:spcBef>
                <a:spcPct val="0"/>
              </a:spcBef>
              <a:buFontTx/>
              <a:buNone/>
            </a:pPr>
            <a:endParaRPr lang="en-US" altLang="zh-CN" sz="2800" dirty="0">
              <a:solidFill>
                <a:schemeClr val="bg1"/>
              </a:solidFill>
              <a:latin typeface="微软雅黑" panose="020B0503020204020204" pitchFamily="34" charset="-122"/>
            </a:endParaRPr>
          </a:p>
          <a:p>
            <a:pPr algn="just">
              <a:spcBef>
                <a:spcPct val="0"/>
              </a:spcBef>
              <a:buFontTx/>
              <a:buNone/>
            </a:pPr>
            <a:r>
              <a:rPr lang="zh-CN" altLang="en-US" sz="2800" dirty="0">
                <a:solidFill>
                  <a:schemeClr val="bg1"/>
                </a:solidFill>
                <a:latin typeface="微软雅黑" panose="020B0503020204020204" pitchFamily="34" charset="-122"/>
              </a:rPr>
              <a:t>       真值是不可知的，故误差的值从根本上也是不可知的，只能估计其</a:t>
            </a:r>
            <a:r>
              <a:rPr lang="zh-CN" altLang="en-US" sz="2800" b="1" dirty="0">
                <a:solidFill>
                  <a:schemeClr val="bg1"/>
                </a:solidFill>
                <a:latin typeface="微软雅黑" panose="020B0503020204020204" pitchFamily="34" charset="-122"/>
              </a:rPr>
              <a:t>范围或限度</a:t>
            </a:r>
            <a:r>
              <a:rPr lang="zh-CN" altLang="en-US" sz="2800" dirty="0">
                <a:solidFill>
                  <a:schemeClr val="bg1"/>
                </a:solidFill>
                <a:latin typeface="微软雅黑" panose="020B0503020204020204" pitchFamily="34" charset="-122"/>
              </a:rPr>
              <a:t>，因此科学的测量还要给出结果的精确度或误差范围。</a:t>
            </a:r>
            <a:r>
              <a:rPr lang="en-US" altLang="zh-CN" sz="2800" b="1" dirty="0">
                <a:solidFill>
                  <a:srgbClr val="0070C0"/>
                </a:solidFill>
                <a:latin typeface="微软雅黑" panose="020B0503020204020204" pitchFamily="34" charset="-122"/>
              </a:rPr>
              <a:t>--</a:t>
            </a:r>
            <a:r>
              <a:rPr lang="zh-CN" altLang="en-US" sz="2800" b="1" dirty="0">
                <a:solidFill>
                  <a:srgbClr val="0070C0"/>
                </a:solidFill>
                <a:latin typeface="微软雅黑" panose="020B0503020204020204" pitchFamily="34" charset="-122"/>
              </a:rPr>
              <a:t>使用不确定度来进行评定</a:t>
            </a:r>
            <a:endParaRPr lang="en-US" altLang="zh-CN" sz="2800" b="1" dirty="0">
              <a:solidFill>
                <a:srgbClr val="0070C0"/>
              </a:solidFill>
              <a:latin typeface="微软雅黑" panose="020B0503020204020204" pitchFamily="34" charset="-122"/>
            </a:endParaRPr>
          </a:p>
        </p:txBody>
      </p:sp>
      <p:sp>
        <p:nvSpPr>
          <p:cNvPr id="7" name="右大括号 6"/>
          <p:cNvSpPr/>
          <p:nvPr/>
        </p:nvSpPr>
        <p:spPr>
          <a:xfrm>
            <a:off x="4223792" y="2924944"/>
            <a:ext cx="501055" cy="1440160"/>
          </a:xfrm>
          <a:prstGeom prst="rightBrace">
            <a:avLst>
              <a:gd name="adj1" fmla="val 65000"/>
              <a:gd name="adj2" fmla="val 50000"/>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pPr eaLnBrk="1" fontAlgn="auto" hangingPunct="1">
              <a:spcAft>
                <a:spcPts val="0"/>
              </a:spcAft>
              <a:defRPr/>
            </a:pPr>
            <a:r>
              <a:rPr lang="zh-CN" altLang="en-US" sz="4800" b="1" dirty="0">
                <a:solidFill>
                  <a:schemeClr val="bg1"/>
                </a:solidFill>
                <a:latin typeface="微软雅黑" panose="020B0503020204020204" pitchFamily="34" charset="-122"/>
                <a:ea typeface="微软雅黑" panose="020B0503020204020204" pitchFamily="34" charset="-122"/>
              </a:rPr>
              <a:t>不确定度的评定</a:t>
            </a:r>
            <a:endParaRPr lang="en-US" altLang="zh-CN" sz="4800" b="1" dirty="0">
              <a:solidFill>
                <a:schemeClr val="bg1"/>
              </a:solidFill>
              <a:latin typeface="微软雅黑" panose="020B0503020204020204" pitchFamily="34" charset="-122"/>
              <a:ea typeface="微软雅黑" panose="020B0503020204020204" pitchFamily="34" charset="-122"/>
            </a:endParaRPr>
          </a:p>
        </p:txBody>
      </p:sp>
      <p:sp>
        <p:nvSpPr>
          <p:cNvPr id="26626" name="内容占位符 2"/>
          <p:cNvSpPr>
            <a:spLocks noGrp="1"/>
          </p:cNvSpPr>
          <p:nvPr>
            <p:ph idx="1"/>
          </p:nvPr>
        </p:nvSpPr>
        <p:spPr>
          <a:xfrm>
            <a:off x="839416" y="1536420"/>
            <a:ext cx="10441160" cy="4868862"/>
          </a:xfrm>
        </p:spPr>
        <p:txBody>
          <a:bodyPr>
            <a:normAutofit lnSpcReduction="10000"/>
          </a:bodyPr>
          <a:lstStyle/>
          <a:p>
            <a:pPr marL="0" indent="0" algn="just" eaLnBrk="1" hangingPunct="1">
              <a:lnSpc>
                <a:spcPct val="120000"/>
              </a:lnSpc>
              <a:buNone/>
              <a:defRPr/>
            </a:pPr>
            <a:r>
              <a:rPr lang="zh-CN" altLang="en-US" sz="3000" b="1" dirty="0">
                <a:solidFill>
                  <a:srgbClr val="C00000"/>
                </a:solidFill>
                <a:latin typeface="微软雅黑" panose="020B0503020204020204" pitchFamily="34" charset="-122"/>
                <a:ea typeface="微软雅黑" panose="020B0503020204020204" pitchFamily="34" charset="-122"/>
              </a:rPr>
              <a:t>不确定度（</a:t>
            </a:r>
            <a:r>
              <a:rPr lang="en-US" altLang="zh-CN" sz="3000" b="1" dirty="0">
                <a:solidFill>
                  <a:srgbClr val="C00000"/>
                </a:solidFill>
                <a:latin typeface="微软雅黑" panose="020B0503020204020204" pitchFamily="34" charset="-122"/>
                <a:ea typeface="微软雅黑" panose="020B0503020204020204" pitchFamily="34" charset="-122"/>
              </a:rPr>
              <a:t>uncertainty of measurement） </a:t>
            </a:r>
            <a:endParaRPr lang="en-US" altLang="zh-CN" sz="3000" b="1" dirty="0">
              <a:solidFill>
                <a:srgbClr val="C00000"/>
              </a:solidFill>
              <a:latin typeface="微软雅黑" panose="020B0503020204020204" pitchFamily="34" charset="-122"/>
              <a:ea typeface="微软雅黑" panose="020B0503020204020204" pitchFamily="34" charset="-122"/>
            </a:endParaRPr>
          </a:p>
          <a:p>
            <a:pPr marL="0" indent="0" algn="just" eaLnBrk="1" hangingPunct="1">
              <a:lnSpc>
                <a:spcPct val="120000"/>
              </a:lnSpc>
              <a:spcAft>
                <a:spcPts val="1800"/>
              </a:spcAft>
              <a:buNone/>
              <a:defRPr/>
            </a:pPr>
            <a:r>
              <a:rPr lang="zh-CN" altLang="en-US" sz="2800" b="1" dirty="0">
                <a:solidFill>
                  <a:schemeClr val="bg1"/>
                </a:solidFill>
                <a:latin typeface="微软雅黑" panose="020B0503020204020204" pitchFamily="34" charset="-122"/>
                <a:ea typeface="微软雅黑" panose="020B0503020204020204" pitchFamily="34" charset="-122"/>
              </a:rPr>
              <a:t>      表征测量结果具有分散性的一个参数，是被测量的真值在某个量值范围内的一个评定。</a:t>
            </a:r>
            <a:endParaRPr lang="en-US" altLang="zh-CN" sz="2800" b="1" dirty="0">
              <a:solidFill>
                <a:schemeClr val="bg1"/>
              </a:solidFill>
              <a:latin typeface="微软雅黑" panose="020B0503020204020204" pitchFamily="34" charset="-122"/>
              <a:ea typeface="微软雅黑" panose="020B0503020204020204" pitchFamily="34" charset="-122"/>
            </a:endParaRPr>
          </a:p>
          <a:p>
            <a:pPr algn="just" eaLnBrk="1" hangingPunct="1">
              <a:lnSpc>
                <a:spcPct val="120000"/>
              </a:lnSpc>
              <a:buFont typeface="Wingdings" panose="05000000000000000000" pitchFamily="2" charset="2"/>
              <a:buChar char="u"/>
              <a:defRPr/>
            </a:pPr>
            <a:r>
              <a:rPr lang="zh-CN" altLang="en-US" sz="2800" b="1" dirty="0">
                <a:solidFill>
                  <a:schemeClr val="bg1"/>
                </a:solidFill>
                <a:latin typeface="微软雅黑" panose="020B0503020204020204" pitchFamily="34" charset="-122"/>
                <a:ea typeface="微软雅黑" panose="020B0503020204020204" pitchFamily="34" charset="-122"/>
              </a:rPr>
              <a:t>任何测量都</a:t>
            </a:r>
            <a:r>
              <a:rPr lang="zh-CN" altLang="en-US" sz="2800" b="1" dirty="0">
                <a:solidFill>
                  <a:srgbClr val="0070C0"/>
                </a:solidFill>
                <a:latin typeface="微软雅黑" panose="020B0503020204020204" pitchFamily="34" charset="-122"/>
                <a:ea typeface="微软雅黑" panose="020B0503020204020204" pitchFamily="34" charset="-122"/>
              </a:rPr>
              <a:t>存在不确定度</a:t>
            </a:r>
            <a:r>
              <a:rPr lang="zh-CN" altLang="en-US" sz="2800" b="1" dirty="0">
                <a:solidFill>
                  <a:schemeClr val="bg1"/>
                </a:solidFill>
                <a:latin typeface="微软雅黑" panose="020B0503020204020204" pitchFamily="34" charset="-122"/>
                <a:ea typeface="微软雅黑" panose="020B0503020204020204" pitchFamily="34" charset="-122"/>
              </a:rPr>
              <a:t>——不确定度存在原理。</a:t>
            </a:r>
            <a:endParaRPr lang="en-US" altLang="zh-CN" sz="2800" b="1" dirty="0">
              <a:solidFill>
                <a:schemeClr val="bg1"/>
              </a:solidFill>
              <a:latin typeface="微软雅黑" panose="020B0503020204020204" pitchFamily="34" charset="-122"/>
              <a:ea typeface="微软雅黑" panose="020B0503020204020204" pitchFamily="34" charset="-122"/>
            </a:endParaRPr>
          </a:p>
          <a:p>
            <a:pPr algn="just" eaLnBrk="1" hangingPunct="1">
              <a:lnSpc>
                <a:spcPct val="120000"/>
              </a:lnSpc>
              <a:buFont typeface="Wingdings" panose="05000000000000000000" pitchFamily="2" charset="2"/>
              <a:buChar char="u"/>
              <a:defRPr/>
            </a:pPr>
            <a:r>
              <a:rPr lang="zh-CN" altLang="en-US" sz="2800" b="1" dirty="0">
                <a:solidFill>
                  <a:schemeClr val="bg1"/>
                </a:solidFill>
                <a:latin typeface="微软雅黑" panose="020B0503020204020204" pitchFamily="34" charset="-122"/>
                <a:ea typeface="微软雅黑" panose="020B0503020204020204" pitchFamily="34" charset="-122"/>
              </a:rPr>
              <a:t>不确定度是</a:t>
            </a:r>
            <a:r>
              <a:rPr lang="zh-CN" altLang="en-US" sz="2800" b="1" dirty="0">
                <a:solidFill>
                  <a:srgbClr val="0070C0"/>
                </a:solidFill>
                <a:latin typeface="微软雅黑" panose="020B0503020204020204" pitchFamily="34" charset="-122"/>
                <a:ea typeface="微软雅黑" panose="020B0503020204020204" pitchFamily="34" charset="-122"/>
              </a:rPr>
              <a:t>测量结果不能肯定的程度</a:t>
            </a:r>
            <a:r>
              <a:rPr lang="zh-CN" altLang="en-US" sz="2800" b="1" dirty="0">
                <a:solidFill>
                  <a:schemeClr val="bg1"/>
                </a:solidFill>
                <a:latin typeface="微软雅黑" panose="020B0503020204020204" pitchFamily="34" charset="-122"/>
                <a:ea typeface="微软雅黑" panose="020B0503020204020204" pitchFamily="34" charset="-122"/>
              </a:rPr>
              <a:t>，是测量质量的量度（使用者能评价其</a:t>
            </a:r>
            <a:r>
              <a:rPr lang="zh-CN" altLang="en-US" sz="2800" b="1" dirty="0">
                <a:solidFill>
                  <a:srgbClr val="0070C0"/>
                </a:solidFill>
                <a:latin typeface="微软雅黑" panose="020B0503020204020204" pitchFamily="34" charset="-122"/>
                <a:ea typeface="微软雅黑" panose="020B0503020204020204" pitchFamily="34" charset="-122"/>
              </a:rPr>
              <a:t>可靠程度</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a:p>
            <a:pPr algn="just" eaLnBrk="1" hangingPunct="1">
              <a:lnSpc>
                <a:spcPct val="120000"/>
              </a:lnSpc>
              <a:buFont typeface="Wingdings" panose="05000000000000000000" pitchFamily="2" charset="2"/>
              <a:buChar char="u"/>
              <a:defRPr/>
            </a:pPr>
            <a:r>
              <a:rPr lang="zh-CN" altLang="en-US" sz="2800" b="1" dirty="0">
                <a:solidFill>
                  <a:srgbClr val="0070C0"/>
                </a:solidFill>
                <a:latin typeface="微软雅黑" panose="020B0503020204020204" pitchFamily="34" charset="-122"/>
                <a:ea typeface="微软雅黑" panose="020B0503020204020204" pitchFamily="34" charset="-122"/>
              </a:rPr>
              <a:t>测量结果</a:t>
            </a:r>
            <a:r>
              <a:rPr lang="zh-CN" altLang="en-US" sz="2800" b="1" dirty="0">
                <a:solidFill>
                  <a:schemeClr val="bg1"/>
                </a:solidFill>
                <a:latin typeface="微软雅黑" panose="020B0503020204020204" pitchFamily="34" charset="-122"/>
                <a:ea typeface="微软雅黑" panose="020B0503020204020204" pitchFamily="34" charset="-122"/>
              </a:rPr>
              <a:t>只是被测量值的近似或估计，只有当该值</a:t>
            </a:r>
            <a:r>
              <a:rPr lang="zh-CN" altLang="en-US" sz="2800" b="1" dirty="0">
                <a:solidFill>
                  <a:srgbClr val="0070C0"/>
                </a:solidFill>
                <a:latin typeface="微软雅黑" panose="020B0503020204020204" pitchFamily="34" charset="-122"/>
                <a:ea typeface="微软雅黑" panose="020B0503020204020204" pitchFamily="34" charset="-122"/>
              </a:rPr>
              <a:t>附有不确定度声明时，它才是完整的</a:t>
            </a:r>
            <a:r>
              <a:rPr lang="zh-CN" altLang="en-US" sz="2800" b="1" dirty="0">
                <a:solidFill>
                  <a:schemeClr val="bg1"/>
                </a:solidFill>
                <a:latin typeface="微软雅黑" panose="020B0503020204020204" pitchFamily="34" charset="-122"/>
                <a:ea typeface="微软雅黑" panose="020B0503020204020204" pitchFamily="34" charset="-122"/>
              </a:rPr>
              <a:t>。</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1772816"/>
            <a:ext cx="10297144" cy="4464496"/>
          </a:xfrm>
        </p:spPr>
        <p:txBody>
          <a:bodyPr>
            <a:normAutofit/>
          </a:bodyPr>
          <a:lstStyle/>
          <a:p>
            <a:pPr marL="0" indent="0">
              <a:buNone/>
            </a:pPr>
            <a:r>
              <a:rPr lang="zh-CN" altLang="en-US" sz="3200" b="1" dirty="0">
                <a:solidFill>
                  <a:srgbClr val="C00000"/>
                </a:solidFill>
                <a:latin typeface="微软雅黑" panose="020B0503020204020204" pitchFamily="34" charset="-122"/>
                <a:ea typeface="微软雅黑" panose="020B0503020204020204" pitchFamily="34" charset="-122"/>
              </a:rPr>
              <a:t>氢同位素的发现</a:t>
            </a:r>
            <a:endParaRPr lang="en-US" altLang="zh-CN" sz="3200" b="1" dirty="0">
              <a:solidFill>
                <a:srgbClr val="C00000"/>
              </a:solidFill>
              <a:latin typeface="微软雅黑" panose="020B0503020204020204" pitchFamily="34" charset="-122"/>
              <a:ea typeface="微软雅黑" panose="020B0503020204020204" pitchFamily="34" charset="-122"/>
            </a:endParaRPr>
          </a:p>
          <a:p>
            <a:pPr marL="0" indent="0">
              <a:buNone/>
            </a:pPr>
            <a:r>
              <a:rPr lang="en-US" altLang="zh-CN" sz="3200" dirty="0">
                <a:solidFill>
                  <a:schemeClr val="bg1"/>
                </a:solidFill>
                <a:latin typeface="微软雅黑" panose="020B0503020204020204" pitchFamily="34" charset="-122"/>
                <a:ea typeface="微软雅黑" panose="020B0503020204020204" pitchFamily="34" charset="-122"/>
              </a:rPr>
              <a:t>       1913</a:t>
            </a:r>
            <a:r>
              <a:rPr lang="zh-CN" altLang="en-US" sz="3200" dirty="0">
                <a:solidFill>
                  <a:schemeClr val="bg1"/>
                </a:solidFill>
                <a:latin typeface="微软雅黑" panose="020B0503020204020204" pitchFamily="34" charset="-122"/>
                <a:ea typeface="微软雅黑" panose="020B0503020204020204" pitchFamily="34" charset="-122"/>
              </a:rPr>
              <a:t>年纽约大学的科学家对纯水密度做了非常精密的测量。他们在报告中指出：</a:t>
            </a:r>
            <a:endParaRPr lang="en-US" altLang="zh-CN" sz="3200" dirty="0">
              <a:solidFill>
                <a:schemeClr val="bg1"/>
              </a:solidFill>
              <a:latin typeface="微软雅黑" panose="020B0503020204020204" pitchFamily="34" charset="-122"/>
              <a:ea typeface="微软雅黑" panose="020B0503020204020204" pitchFamily="34" charset="-122"/>
            </a:endParaRPr>
          </a:p>
          <a:p>
            <a:pPr marL="400050" lvl="1" indent="0">
              <a:buNone/>
            </a:pPr>
            <a:r>
              <a:rPr lang="en-US" altLang="zh-CN" sz="2800" b="1" dirty="0">
                <a:solidFill>
                  <a:srgbClr val="0070C0"/>
                </a:solidFill>
                <a:latin typeface="微软雅黑" panose="020B0503020204020204" pitchFamily="34" charset="-122"/>
                <a:ea typeface="微软雅黑" panose="020B0503020204020204" pitchFamily="34" charset="-122"/>
              </a:rPr>
              <a:t>1.</a:t>
            </a:r>
            <a:r>
              <a:rPr lang="zh-CN" altLang="en-US" sz="2800" b="1" dirty="0">
                <a:solidFill>
                  <a:srgbClr val="0070C0"/>
                </a:solidFill>
                <a:latin typeface="微软雅黑" panose="020B0503020204020204" pitchFamily="34" charset="-122"/>
                <a:ea typeface="微软雅黑" panose="020B0503020204020204" pitchFamily="34" charset="-122"/>
              </a:rPr>
              <a:t>测量的不确定度为</a:t>
            </a:r>
            <a:r>
              <a:rPr lang="en-US" altLang="zh-CN" sz="2800" b="1" dirty="0">
                <a:solidFill>
                  <a:srgbClr val="0070C0"/>
                </a:solidFill>
                <a:latin typeface="微软雅黑" panose="020B0503020204020204" pitchFamily="34" charset="-122"/>
                <a:ea typeface="微软雅黑" panose="020B0503020204020204" pitchFamily="34" charset="-122"/>
              </a:rPr>
              <a:t>2X10</a:t>
            </a:r>
            <a:r>
              <a:rPr lang="en-US" altLang="zh-CN" sz="2800" b="1" baseline="30000" dirty="0">
                <a:solidFill>
                  <a:srgbClr val="0070C0"/>
                </a:solidFill>
                <a:latin typeface="微软雅黑" panose="020B0503020204020204" pitchFamily="34" charset="-122"/>
                <a:ea typeface="微软雅黑" panose="020B0503020204020204" pitchFamily="34" charset="-122"/>
              </a:rPr>
              <a:t>-7</a:t>
            </a:r>
            <a:r>
              <a:rPr lang="en-US" altLang="zh-CN" sz="2800" b="1" dirty="0">
                <a:solidFill>
                  <a:srgbClr val="0070C0"/>
                </a:solidFill>
                <a:latin typeface="微软雅黑" panose="020B0503020204020204" pitchFamily="34" charset="-122"/>
                <a:ea typeface="微软雅黑" panose="020B0503020204020204" pitchFamily="34" charset="-122"/>
              </a:rPr>
              <a:t>g/cm</a:t>
            </a:r>
            <a:r>
              <a:rPr lang="en-US" altLang="zh-CN" sz="2800" b="1" baseline="30000" dirty="0">
                <a:solidFill>
                  <a:srgbClr val="0070C0"/>
                </a:solidFill>
                <a:latin typeface="微软雅黑" panose="020B0503020204020204" pitchFamily="34" charset="-122"/>
                <a:ea typeface="微软雅黑" panose="020B0503020204020204" pitchFamily="34" charset="-122"/>
              </a:rPr>
              <a:t>3</a:t>
            </a:r>
            <a:endParaRPr lang="en-US" altLang="zh-CN" sz="2800" b="1" dirty="0">
              <a:solidFill>
                <a:srgbClr val="0070C0"/>
              </a:solidFill>
              <a:latin typeface="微软雅黑" panose="020B0503020204020204" pitchFamily="34" charset="-122"/>
              <a:ea typeface="微软雅黑" panose="020B0503020204020204" pitchFamily="34" charset="-122"/>
            </a:endParaRPr>
          </a:p>
          <a:p>
            <a:pPr marL="400050" lvl="1" indent="0">
              <a:buNone/>
            </a:pPr>
            <a:r>
              <a:rPr lang="en-US" altLang="zh-CN" sz="2800" dirty="0">
                <a:solidFill>
                  <a:schemeClr val="bg1"/>
                </a:solidFill>
                <a:latin typeface="微软雅黑" panose="020B0503020204020204" pitchFamily="34" charset="-122"/>
                <a:ea typeface="微软雅黑" panose="020B0503020204020204" pitchFamily="34" charset="-122"/>
              </a:rPr>
              <a:t>2.</a:t>
            </a:r>
            <a:r>
              <a:rPr lang="zh-CN" altLang="en-US" sz="2800" dirty="0">
                <a:solidFill>
                  <a:schemeClr val="bg1"/>
                </a:solidFill>
                <a:latin typeface="微软雅黑" panose="020B0503020204020204" pitchFamily="34" charset="-122"/>
                <a:ea typeface="微软雅黑" panose="020B0503020204020204" pitchFamily="34" charset="-122"/>
              </a:rPr>
              <a:t>精制出的各种水样品的</a:t>
            </a:r>
            <a:r>
              <a:rPr lang="zh-CN" altLang="en-US" sz="2800" b="1" dirty="0">
                <a:solidFill>
                  <a:srgbClr val="0070C0"/>
                </a:solidFill>
                <a:latin typeface="微软雅黑" panose="020B0503020204020204" pitchFamily="34" charset="-122"/>
                <a:ea typeface="微软雅黑" panose="020B0503020204020204" pitchFamily="34" charset="-122"/>
              </a:rPr>
              <a:t>密度差不多有</a:t>
            </a:r>
            <a:r>
              <a:rPr lang="en-US" altLang="zh-CN" sz="2800" b="1" dirty="0">
                <a:solidFill>
                  <a:srgbClr val="0070C0"/>
                </a:solidFill>
                <a:latin typeface="微软雅黑" panose="020B0503020204020204" pitchFamily="34" charset="-122"/>
                <a:ea typeface="微软雅黑" panose="020B0503020204020204" pitchFamily="34" charset="-122"/>
              </a:rPr>
              <a:t>8X10</a:t>
            </a:r>
            <a:r>
              <a:rPr lang="en-US" altLang="zh-CN" sz="2800" b="1" baseline="30000" dirty="0">
                <a:solidFill>
                  <a:srgbClr val="0070C0"/>
                </a:solidFill>
                <a:latin typeface="微软雅黑" panose="020B0503020204020204" pitchFamily="34" charset="-122"/>
                <a:ea typeface="微软雅黑" panose="020B0503020204020204" pitchFamily="34" charset="-122"/>
              </a:rPr>
              <a:t>-7</a:t>
            </a:r>
            <a:r>
              <a:rPr lang="en-US" altLang="zh-CN" sz="2800" b="1" dirty="0">
                <a:solidFill>
                  <a:srgbClr val="0070C0"/>
                </a:solidFill>
                <a:latin typeface="微软雅黑" panose="020B0503020204020204" pitchFamily="34" charset="-122"/>
                <a:ea typeface="微软雅黑" panose="020B0503020204020204" pitchFamily="34" charset="-122"/>
              </a:rPr>
              <a:t>g/cm</a:t>
            </a:r>
            <a:r>
              <a:rPr lang="en-US" altLang="zh-CN" sz="2800" b="1" baseline="30000" dirty="0">
                <a:solidFill>
                  <a:srgbClr val="0070C0"/>
                </a:solidFill>
                <a:latin typeface="微软雅黑" panose="020B0503020204020204" pitchFamily="34" charset="-122"/>
                <a:ea typeface="微软雅黑" panose="020B0503020204020204" pitchFamily="34" charset="-122"/>
              </a:rPr>
              <a:t>3</a:t>
            </a:r>
            <a:r>
              <a:rPr lang="zh-CN" altLang="en-US" sz="2800" b="1" dirty="0">
                <a:solidFill>
                  <a:srgbClr val="0070C0"/>
                </a:solidFill>
                <a:latin typeface="微软雅黑" panose="020B0503020204020204" pitchFamily="34" charset="-122"/>
                <a:ea typeface="微软雅黑" panose="020B0503020204020204" pitchFamily="34" charset="-122"/>
              </a:rPr>
              <a:t>的变化</a:t>
            </a:r>
            <a:endParaRPr lang="en-US" altLang="zh-CN" sz="2800" b="1" dirty="0">
              <a:solidFill>
                <a:srgbClr val="0070C0"/>
              </a:solidFill>
              <a:latin typeface="微软雅黑" panose="020B0503020204020204" pitchFamily="34" charset="-122"/>
              <a:ea typeface="微软雅黑" panose="020B0503020204020204" pitchFamily="34" charset="-122"/>
            </a:endParaRPr>
          </a:p>
          <a:p>
            <a:pPr marL="400050" lvl="1" indent="0">
              <a:buNone/>
            </a:pPr>
            <a:r>
              <a:rPr lang="zh-CN" altLang="en-US" sz="2800" dirty="0">
                <a:solidFill>
                  <a:schemeClr val="bg1"/>
                </a:solidFill>
                <a:latin typeface="微软雅黑" panose="020B0503020204020204" pitchFamily="34" charset="-122"/>
                <a:ea typeface="微软雅黑" panose="020B0503020204020204" pitchFamily="34" charset="-122"/>
              </a:rPr>
              <a:t>结论：各种纯水的密度是不一样的</a:t>
            </a:r>
            <a:endParaRPr lang="en-US" altLang="zh-CN" sz="2800"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32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这是证明同位素存在的最早的实验证据，引导科学家最终发现了</a:t>
            </a:r>
            <a:r>
              <a:rPr lang="zh-CN" altLang="en-US" sz="2800" b="1" dirty="0">
                <a:solidFill>
                  <a:srgbClr val="0070C0"/>
                </a:solidFill>
                <a:latin typeface="微软雅黑" panose="020B0503020204020204" pitchFamily="34" charset="-122"/>
                <a:ea typeface="微软雅黑" panose="020B0503020204020204" pitchFamily="34" charset="-122"/>
              </a:rPr>
              <a:t>氢的同位素</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氘和氚</a:t>
            </a:r>
            <a:r>
              <a:rPr lang="zh-CN" altLang="en-US" sz="2800" dirty="0">
                <a:solidFill>
                  <a:schemeClr val="bg1"/>
                </a:solidFill>
                <a:latin typeface="微软雅黑" panose="020B0503020204020204" pitchFamily="34" charset="-122"/>
                <a:ea typeface="微软雅黑" panose="020B0503020204020204" pitchFamily="34" charset="-122"/>
              </a:rPr>
              <a:t>。</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5" name="标题 1"/>
          <p:cNvSpPr>
            <a:spLocks noGrp="1"/>
          </p:cNvSpPr>
          <p:nvPr>
            <p:ph type="title"/>
          </p:nvPr>
        </p:nvSpPr>
        <p:spPr>
          <a:xfrm>
            <a:off x="609600" y="274638"/>
            <a:ext cx="10972800" cy="1143000"/>
          </a:xfrm>
        </p:spPr>
        <p:txBody>
          <a:bodyPr/>
          <a:lstStyle/>
          <a:p>
            <a:pPr eaLnBrk="1" fontAlgn="auto" hangingPunct="1">
              <a:spcAft>
                <a:spcPts val="0"/>
              </a:spcAft>
              <a:defRPr/>
            </a:pPr>
            <a:r>
              <a:rPr lang="zh-CN" altLang="en-US" sz="4800" b="1" dirty="0">
                <a:solidFill>
                  <a:schemeClr val="bg1"/>
                </a:solidFill>
                <a:latin typeface="微软雅黑" panose="020B0503020204020204" pitchFamily="34" charset="-122"/>
                <a:ea typeface="微软雅黑" panose="020B0503020204020204" pitchFamily="34" charset="-122"/>
              </a:rPr>
              <a:t>案例：不确定度分析的意义</a:t>
            </a:r>
            <a:endParaRPr lang="en-US" altLang="zh-CN" sz="4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不确定度的评定方法</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09600" y="1340768"/>
            <a:ext cx="10972800" cy="5380707"/>
          </a:xfrm>
        </p:spPr>
        <p:txBody>
          <a:bodyPr/>
          <a:lstStyle/>
          <a:p>
            <a:pPr marL="514350" indent="-514350">
              <a:lnSpc>
                <a:spcPct val="130000"/>
              </a:lnSpc>
              <a:buClr>
                <a:srgbClr val="7030A0"/>
              </a:buClr>
              <a:buFont typeface="+mj-ea"/>
              <a:buAutoNum type="circleNumDbPlain"/>
            </a:pPr>
            <a:r>
              <a:rPr lang="zh-CN" altLang="en-US" sz="2800" dirty="0">
                <a:solidFill>
                  <a:schemeClr val="bg1"/>
                </a:solidFill>
                <a:latin typeface="微软雅黑" panose="020B0503020204020204" pitchFamily="34" charset="-122"/>
                <a:ea typeface="微软雅黑" panose="020B0503020204020204" pitchFamily="34" charset="-122"/>
              </a:rPr>
              <a:t>构建：</a:t>
            </a:r>
            <a:r>
              <a:rPr lang="zh-CN" altLang="en-US" sz="2800" dirty="0">
                <a:solidFill>
                  <a:srgbClr val="0070C0"/>
                </a:solidFill>
                <a:latin typeface="微软雅黑" panose="020B0503020204020204" pitchFamily="34" charset="-122"/>
                <a:ea typeface="微软雅黑" panose="020B0503020204020204" pitchFamily="34" charset="-122"/>
              </a:rPr>
              <a:t>待测量</a:t>
            </a:r>
            <a:r>
              <a:rPr lang="zh-CN" altLang="en-US" sz="2800" dirty="0">
                <a:solidFill>
                  <a:schemeClr val="bg1"/>
                </a:solidFill>
                <a:latin typeface="微软雅黑" panose="020B0503020204020204" pitchFamily="34" charset="-122"/>
                <a:ea typeface="微软雅黑" panose="020B0503020204020204" pitchFamily="34" charset="-122"/>
              </a:rPr>
              <a:t>的</a:t>
            </a:r>
            <a:r>
              <a:rPr lang="zh-CN" altLang="en-US" sz="2800" b="1" dirty="0">
                <a:solidFill>
                  <a:schemeClr val="bg1"/>
                </a:solidFill>
                <a:latin typeface="微软雅黑" panose="020B0503020204020204" pitchFamily="34" charset="-122"/>
                <a:ea typeface="微软雅黑" panose="020B0503020204020204" pitchFamily="34" charset="-122"/>
              </a:rPr>
              <a:t>测量模型</a:t>
            </a:r>
            <a:endParaRPr lang="en-US" altLang="zh-CN" sz="2800" dirty="0">
              <a:solidFill>
                <a:schemeClr val="bg1"/>
              </a:solidFill>
              <a:latin typeface="微软雅黑" panose="020B0503020204020204" pitchFamily="34" charset="-122"/>
              <a:ea typeface="微软雅黑" panose="020B0503020204020204" pitchFamily="34" charset="-122"/>
            </a:endParaRPr>
          </a:p>
          <a:p>
            <a:pPr marL="857250" lvl="1" indent="-457200">
              <a:lnSpc>
                <a:spcPct val="130000"/>
              </a:lnSpc>
              <a:buClr>
                <a:srgbClr val="7030A0"/>
              </a:buClr>
            </a:pPr>
            <a:r>
              <a:rPr lang="zh-CN" altLang="en-US" sz="2400" dirty="0">
                <a:solidFill>
                  <a:schemeClr val="bg1"/>
                </a:solidFill>
                <a:latin typeface="微软雅黑" panose="020B0503020204020204" pitchFamily="34" charset="-122"/>
                <a:ea typeface="微软雅黑" panose="020B0503020204020204" pitchFamily="34" charset="-122"/>
              </a:rPr>
              <a:t>模型应尽可能详细地考虑对“测量结果的不确定度”有贡献的量</a:t>
            </a:r>
            <a:endParaRPr lang="zh-CN" altLang="en-US" sz="2400" dirty="0">
              <a:solidFill>
                <a:schemeClr val="bg1"/>
              </a:solidFill>
              <a:latin typeface="微软雅黑" panose="020B0503020204020204" pitchFamily="34" charset="-122"/>
              <a:ea typeface="微软雅黑" panose="020B0503020204020204" pitchFamily="34" charset="-122"/>
            </a:endParaRPr>
          </a:p>
          <a:p>
            <a:pPr marL="514350" indent="-514350">
              <a:lnSpc>
                <a:spcPct val="130000"/>
              </a:lnSpc>
              <a:buClr>
                <a:srgbClr val="7030A0"/>
              </a:buClr>
              <a:buFont typeface="+mj-ea"/>
              <a:buAutoNum type="circleNumDbPlain"/>
            </a:pPr>
            <a:r>
              <a:rPr lang="zh-CN" altLang="en-US" sz="2800" dirty="0">
                <a:solidFill>
                  <a:schemeClr val="bg1"/>
                </a:solidFill>
                <a:latin typeface="微软雅黑" panose="020B0503020204020204" pitchFamily="34" charset="-122"/>
                <a:ea typeface="微软雅黑" panose="020B0503020204020204" pitchFamily="34" charset="-122"/>
              </a:rPr>
              <a:t>分析：模型中每个</a:t>
            </a:r>
            <a:r>
              <a:rPr lang="zh-CN" altLang="en-US" sz="2800" dirty="0">
                <a:solidFill>
                  <a:srgbClr val="0070C0"/>
                </a:solidFill>
                <a:latin typeface="微软雅黑" panose="020B0503020204020204" pitchFamily="34" charset="-122"/>
                <a:ea typeface="微软雅黑" panose="020B0503020204020204" pitchFamily="34" charset="-122"/>
              </a:rPr>
              <a:t>输入量</a:t>
            </a:r>
            <a:r>
              <a:rPr lang="zh-CN" altLang="en-US" sz="2800" dirty="0">
                <a:solidFill>
                  <a:schemeClr val="bg1"/>
                </a:solidFill>
                <a:latin typeface="微软雅黑" panose="020B0503020204020204" pitchFamily="34" charset="-122"/>
                <a:ea typeface="微软雅黑" panose="020B0503020204020204" pitchFamily="34" charset="-122"/>
              </a:rPr>
              <a:t>的</a:t>
            </a:r>
            <a:r>
              <a:rPr lang="zh-CN" altLang="en-US" sz="2800" dirty="0">
                <a:solidFill>
                  <a:srgbClr val="0070C0"/>
                </a:solidFill>
                <a:latin typeface="微软雅黑" panose="020B0503020204020204" pitchFamily="34" charset="-122"/>
                <a:ea typeface="微软雅黑" panose="020B0503020204020204" pitchFamily="34" charset="-122"/>
              </a:rPr>
              <a:t>标准不确定度</a:t>
            </a:r>
            <a:endParaRPr lang="en-US" altLang="zh-CN" sz="2800" dirty="0">
              <a:solidFill>
                <a:srgbClr val="0070C0"/>
              </a:solidFill>
              <a:latin typeface="微软雅黑" panose="020B0503020204020204" pitchFamily="34" charset="-122"/>
              <a:ea typeface="微软雅黑" panose="020B0503020204020204" pitchFamily="34" charset="-122"/>
            </a:endParaRPr>
          </a:p>
          <a:p>
            <a:pPr marL="857250" lvl="1" indent="-457200">
              <a:lnSpc>
                <a:spcPct val="130000"/>
              </a:lnSpc>
              <a:buClr>
                <a:srgbClr val="7030A0"/>
              </a:buClr>
            </a:pPr>
            <a:r>
              <a:rPr lang="zh-CN" altLang="en-US" sz="2400" dirty="0">
                <a:solidFill>
                  <a:schemeClr val="bg1"/>
                </a:solidFill>
                <a:latin typeface="微软雅黑" panose="020B0503020204020204" pitchFamily="34" charset="-122"/>
                <a:ea typeface="微软雅黑" panose="020B0503020204020204" pitchFamily="34" charset="-122"/>
              </a:rPr>
              <a:t>“</a:t>
            </a:r>
            <a:r>
              <a:rPr lang="en-US" altLang="zh-CN" sz="2400" dirty="0">
                <a:solidFill>
                  <a:schemeClr val="bg1"/>
                </a:solidFill>
                <a:latin typeface="微软雅黑" panose="020B0503020204020204" pitchFamily="34" charset="-122"/>
                <a:ea typeface="微软雅黑" panose="020B0503020204020204" pitchFamily="34" charset="-122"/>
              </a:rPr>
              <a:t>A</a:t>
            </a:r>
            <a:r>
              <a:rPr lang="zh-CN" altLang="en-US" sz="2400" dirty="0">
                <a:solidFill>
                  <a:schemeClr val="bg1"/>
                </a:solidFill>
                <a:latin typeface="微软雅黑" panose="020B0503020204020204" pitchFamily="34" charset="-122"/>
                <a:ea typeface="微软雅黑" panose="020B0503020204020204" pitchFamily="34" charset="-122"/>
              </a:rPr>
              <a:t>类”和</a:t>
            </a:r>
            <a:r>
              <a:rPr lang="en-US" altLang="zh-CN" sz="2400" dirty="0">
                <a:solidFill>
                  <a:schemeClr val="bg1"/>
                </a:solidFill>
                <a:latin typeface="微软雅黑" panose="020B0503020204020204" pitchFamily="34" charset="-122"/>
                <a:ea typeface="微软雅黑" panose="020B0503020204020204" pitchFamily="34" charset="-122"/>
              </a:rPr>
              <a:t>/</a:t>
            </a:r>
            <a:r>
              <a:rPr lang="zh-CN" altLang="en-US" sz="2400" dirty="0">
                <a:solidFill>
                  <a:schemeClr val="bg1"/>
                </a:solidFill>
                <a:latin typeface="微软雅黑" panose="020B0503020204020204" pitchFamily="34" charset="-122"/>
                <a:ea typeface="微软雅黑" panose="020B0503020204020204" pitchFamily="34" charset="-122"/>
              </a:rPr>
              <a:t>或“</a:t>
            </a:r>
            <a:r>
              <a:rPr lang="en-US" altLang="zh-CN" sz="2400" dirty="0">
                <a:solidFill>
                  <a:schemeClr val="bg1"/>
                </a:solidFill>
                <a:latin typeface="微软雅黑" panose="020B0503020204020204" pitchFamily="34" charset="-122"/>
                <a:ea typeface="微软雅黑" panose="020B0503020204020204" pitchFamily="34" charset="-122"/>
              </a:rPr>
              <a:t>B</a:t>
            </a:r>
            <a:r>
              <a:rPr lang="zh-CN" altLang="en-US" sz="2400" dirty="0">
                <a:solidFill>
                  <a:schemeClr val="bg1"/>
                </a:solidFill>
                <a:latin typeface="微软雅黑" panose="020B0503020204020204" pitchFamily="34" charset="-122"/>
                <a:ea typeface="微软雅黑" panose="020B0503020204020204" pitchFamily="34" charset="-122"/>
              </a:rPr>
              <a:t>类”评定</a:t>
            </a:r>
            <a:endParaRPr lang="zh-CN" altLang="en-US" sz="2400" dirty="0">
              <a:solidFill>
                <a:schemeClr val="bg1"/>
              </a:solidFill>
              <a:latin typeface="微软雅黑" panose="020B0503020204020204" pitchFamily="34" charset="-122"/>
              <a:ea typeface="微软雅黑" panose="020B0503020204020204" pitchFamily="34" charset="-122"/>
            </a:endParaRPr>
          </a:p>
          <a:p>
            <a:pPr marL="514350" indent="-514350">
              <a:lnSpc>
                <a:spcPct val="130000"/>
              </a:lnSpc>
              <a:buClr>
                <a:srgbClr val="7030A0"/>
              </a:buClr>
              <a:buFont typeface="+mj-ea"/>
              <a:buAutoNum type="circleNumDbPlain"/>
            </a:pPr>
            <a:r>
              <a:rPr lang="zh-CN" altLang="en-US" sz="2800" dirty="0">
                <a:solidFill>
                  <a:schemeClr val="bg1"/>
                </a:solidFill>
                <a:latin typeface="微软雅黑" panose="020B0503020204020204" pitchFamily="34" charset="-122"/>
                <a:ea typeface="微软雅黑" panose="020B0503020204020204" pitchFamily="34" charset="-122"/>
              </a:rPr>
              <a:t>合成：获得</a:t>
            </a:r>
            <a:r>
              <a:rPr lang="zh-CN" altLang="en-US" sz="2800" dirty="0">
                <a:solidFill>
                  <a:srgbClr val="0070C0"/>
                </a:solidFill>
                <a:latin typeface="微软雅黑" panose="020B0503020204020204" pitchFamily="34" charset="-122"/>
                <a:ea typeface="微软雅黑" panose="020B0503020204020204" pitchFamily="34" charset="-122"/>
              </a:rPr>
              <a:t>待测量</a:t>
            </a:r>
            <a:r>
              <a:rPr lang="zh-CN" altLang="en-US" sz="2800" dirty="0">
                <a:solidFill>
                  <a:schemeClr val="bg1"/>
                </a:solidFill>
                <a:latin typeface="微软雅黑" panose="020B0503020204020204" pitchFamily="34" charset="-122"/>
                <a:ea typeface="微软雅黑" panose="020B0503020204020204" pitchFamily="34" charset="-122"/>
              </a:rPr>
              <a:t>的</a:t>
            </a:r>
            <a:r>
              <a:rPr lang="zh-CN" altLang="en-US" sz="2800" dirty="0">
                <a:solidFill>
                  <a:srgbClr val="0070C0"/>
                </a:solidFill>
                <a:latin typeface="微软雅黑" panose="020B0503020204020204" pitchFamily="34" charset="-122"/>
                <a:ea typeface="微软雅黑" panose="020B0503020204020204" pitchFamily="34" charset="-122"/>
              </a:rPr>
              <a:t>合成标准不确定度</a:t>
            </a:r>
            <a:endParaRPr lang="en-US" altLang="zh-CN" sz="2800" dirty="0">
              <a:solidFill>
                <a:srgbClr val="0070C0"/>
              </a:solidFill>
              <a:latin typeface="微软雅黑" panose="020B0503020204020204" pitchFamily="34" charset="-122"/>
              <a:ea typeface="微软雅黑" panose="020B0503020204020204" pitchFamily="34" charset="-122"/>
            </a:endParaRPr>
          </a:p>
          <a:p>
            <a:pPr marL="857250" lvl="1" indent="-457200">
              <a:lnSpc>
                <a:spcPct val="130000"/>
              </a:lnSpc>
              <a:buClr>
                <a:srgbClr val="7030A0"/>
              </a:buClr>
            </a:pPr>
            <a:r>
              <a:rPr lang="zh-CN" altLang="en-US" sz="2400" dirty="0">
                <a:solidFill>
                  <a:schemeClr val="bg1"/>
                </a:solidFill>
                <a:latin typeface="微软雅黑" panose="020B0503020204020204" pitchFamily="34" charset="-122"/>
                <a:ea typeface="微软雅黑" panose="020B0503020204020204" pitchFamily="34" charset="-122"/>
              </a:rPr>
              <a:t>通过公式对每个输入量的标准不确定度进行合成</a:t>
            </a:r>
            <a:endParaRPr lang="en-US" altLang="zh-CN" sz="2400" dirty="0">
              <a:solidFill>
                <a:schemeClr val="bg1"/>
              </a:solidFill>
              <a:latin typeface="微软雅黑" panose="020B0503020204020204" pitchFamily="34" charset="-122"/>
              <a:ea typeface="微软雅黑" panose="020B0503020204020204" pitchFamily="34" charset="-122"/>
            </a:endParaRPr>
          </a:p>
          <a:p>
            <a:pPr marL="514350" indent="-514350">
              <a:lnSpc>
                <a:spcPct val="130000"/>
              </a:lnSpc>
              <a:buClr>
                <a:srgbClr val="7030A0"/>
              </a:buClr>
              <a:buFont typeface="+mj-ea"/>
              <a:buAutoNum type="circleNumDbPlain"/>
            </a:pPr>
            <a:r>
              <a:rPr lang="zh-CN" altLang="en-US" sz="2800" dirty="0">
                <a:solidFill>
                  <a:schemeClr val="bg1"/>
                </a:solidFill>
                <a:latin typeface="微软雅黑" panose="020B0503020204020204" pitchFamily="34" charset="-122"/>
                <a:ea typeface="微软雅黑" panose="020B0503020204020204" pitchFamily="34" charset="-122"/>
              </a:rPr>
              <a:t>扩展：获得高置信水平的</a:t>
            </a:r>
            <a:r>
              <a:rPr lang="zh-CN" altLang="en-US" sz="2800" dirty="0">
                <a:solidFill>
                  <a:srgbClr val="0070C0"/>
                </a:solidFill>
                <a:latin typeface="微软雅黑" panose="020B0503020204020204" pitchFamily="34" charset="-122"/>
                <a:ea typeface="微软雅黑" panose="020B0503020204020204" pitchFamily="34" charset="-122"/>
              </a:rPr>
              <a:t>扩展不确定度</a:t>
            </a:r>
            <a:endParaRPr lang="en-US" altLang="zh-CN" sz="2800" dirty="0">
              <a:solidFill>
                <a:srgbClr val="0070C0"/>
              </a:solidFill>
              <a:latin typeface="微软雅黑" panose="020B0503020204020204" pitchFamily="34" charset="-122"/>
              <a:ea typeface="微软雅黑" panose="020B0503020204020204" pitchFamily="34" charset="-122"/>
            </a:endParaRPr>
          </a:p>
          <a:p>
            <a:pPr marL="857250" lvl="1" indent="-457200">
              <a:lnSpc>
                <a:spcPct val="130000"/>
              </a:lnSpc>
              <a:buClr>
                <a:srgbClr val="7030A0"/>
              </a:buClr>
            </a:pPr>
            <a:r>
              <a:rPr lang="zh-CN" altLang="en-US" sz="2400" dirty="0">
                <a:solidFill>
                  <a:schemeClr val="bg1"/>
                </a:solidFill>
                <a:latin typeface="微软雅黑" panose="020B0503020204020204" pitchFamily="34" charset="-122"/>
                <a:ea typeface="微软雅黑" panose="020B0503020204020204" pitchFamily="34" charset="-122"/>
              </a:rPr>
              <a:t>通过</a:t>
            </a:r>
            <a:r>
              <a:rPr lang="zh-CN" altLang="en-US" sz="2800" dirty="0">
                <a:solidFill>
                  <a:srgbClr val="0070C0"/>
                </a:solidFill>
                <a:latin typeface="微软雅黑" panose="020B0503020204020204" pitchFamily="34" charset="-122"/>
                <a:ea typeface="微软雅黑" panose="020B0503020204020204" pitchFamily="34" charset="-122"/>
              </a:rPr>
              <a:t>包含因子</a:t>
            </a:r>
            <a:r>
              <a:rPr lang="zh-CN" altLang="en-US" sz="2400" dirty="0">
                <a:solidFill>
                  <a:schemeClr val="bg1"/>
                </a:solidFill>
                <a:latin typeface="微软雅黑" panose="020B0503020204020204" pitchFamily="34" charset="-122"/>
                <a:ea typeface="微软雅黑" panose="020B0503020204020204" pitchFamily="34" charset="-122"/>
              </a:rPr>
              <a:t>扩大置信区间</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609600" y="5229200"/>
            <a:ext cx="10801200" cy="1291282"/>
            <a:chOff x="578423" y="4946030"/>
            <a:chExt cx="10801200" cy="1291282"/>
          </a:xfrm>
        </p:grpSpPr>
        <p:sp>
          <p:nvSpPr>
            <p:cNvPr id="5" name="文本框 4"/>
            <p:cNvSpPr txBox="1"/>
            <p:nvPr/>
          </p:nvSpPr>
          <p:spPr>
            <a:xfrm>
              <a:off x="7824192" y="5053062"/>
              <a:ext cx="3096344" cy="107721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3200" dirty="0">
                  <a:solidFill>
                    <a:schemeClr val="accent6"/>
                  </a:solidFill>
                  <a:latin typeface="微软雅黑" panose="020B0503020204020204" pitchFamily="34" charset="-122"/>
                  <a:ea typeface="微软雅黑" panose="020B0503020204020204" pitchFamily="34" charset="-122"/>
                </a:rPr>
                <a:t>扩展部分本课程不做要求</a:t>
              </a:r>
              <a:endParaRPr lang="zh-CN" altLang="en-US" sz="3200" dirty="0">
                <a:solidFill>
                  <a:schemeClr val="accent6"/>
                </a:solidFill>
                <a:latin typeface="微软雅黑" panose="020B0503020204020204" pitchFamily="34" charset="-122"/>
                <a:ea typeface="微软雅黑" panose="020B0503020204020204" pitchFamily="34" charset="-122"/>
              </a:endParaRPr>
            </a:p>
          </p:txBody>
        </p:sp>
        <p:sp>
          <p:nvSpPr>
            <p:cNvPr id="6" name="矩形 5"/>
            <p:cNvSpPr/>
            <p:nvPr/>
          </p:nvSpPr>
          <p:spPr>
            <a:xfrm>
              <a:off x="578423" y="4946030"/>
              <a:ext cx="10801200" cy="12912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b="1" dirty="0">
                <a:solidFill>
                  <a:schemeClr val="bg1"/>
                </a:solidFill>
                <a:latin typeface="微软雅黑" panose="020B0503020204020204" pitchFamily="34" charset="-122"/>
                <a:ea typeface="微软雅黑" panose="020B0503020204020204" pitchFamily="34" charset="-122"/>
              </a:rPr>
              <a:t>测量不确定度的来源</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 name="内容占位符 7"/>
          <p:cNvSpPr>
            <a:spLocks noGrp="1"/>
          </p:cNvSpPr>
          <p:nvPr>
            <p:ph idx="1"/>
          </p:nvPr>
        </p:nvSpPr>
        <p:spPr>
          <a:xfrm>
            <a:off x="1103312" y="1703406"/>
            <a:ext cx="8946541" cy="4544993"/>
          </a:xfrm>
        </p:spPr>
        <p:txBody>
          <a:bodyPr>
            <a:normAutofit lnSpcReduction="10000"/>
          </a:bodyPr>
          <a:lstStyle/>
          <a:p>
            <a:pPr lvl="1" indent="-539750">
              <a:lnSpc>
                <a:spcPct val="120000"/>
              </a:lnSpc>
              <a:spcBef>
                <a:spcPts val="600"/>
              </a:spcBef>
              <a:buClr>
                <a:srgbClr val="7030A0"/>
              </a:buClr>
              <a:buFont typeface="+mj-lt"/>
              <a:buAutoNum type="arabicPeriod"/>
              <a:defRPr/>
            </a:pPr>
            <a:r>
              <a:rPr lang="zh-CN" altLang="en-US" sz="2400" dirty="0">
                <a:solidFill>
                  <a:schemeClr val="bg1"/>
                </a:solidFill>
                <a:latin typeface="微软雅黑" panose="020B0503020204020204" pitchFamily="34" charset="-122"/>
                <a:ea typeface="微软雅黑" panose="020B0503020204020204" pitchFamily="34" charset="-122"/>
              </a:rPr>
              <a:t>被测量定义的不完整性或复现不完善；</a:t>
            </a:r>
            <a:endParaRPr lang="zh-CN" altLang="en-US" sz="2400" dirty="0">
              <a:solidFill>
                <a:schemeClr val="bg1"/>
              </a:solidFill>
              <a:latin typeface="微软雅黑" panose="020B0503020204020204" pitchFamily="34" charset="-122"/>
              <a:ea typeface="微软雅黑" panose="020B0503020204020204" pitchFamily="34" charset="-122"/>
            </a:endParaRPr>
          </a:p>
          <a:p>
            <a:pPr lvl="1" indent="-539750">
              <a:lnSpc>
                <a:spcPct val="120000"/>
              </a:lnSpc>
              <a:spcBef>
                <a:spcPts val="600"/>
              </a:spcBef>
              <a:buClr>
                <a:srgbClr val="7030A0"/>
              </a:buClr>
              <a:buFont typeface="+mj-lt"/>
              <a:buAutoNum type="arabicPeriod"/>
              <a:defRPr/>
            </a:pPr>
            <a:r>
              <a:rPr lang="zh-CN" altLang="en-US" sz="2400" dirty="0">
                <a:solidFill>
                  <a:schemeClr val="bg1"/>
                </a:solidFill>
                <a:latin typeface="微软雅黑" panose="020B0503020204020204" pitchFamily="34" charset="-122"/>
                <a:ea typeface="微软雅黑" panose="020B0503020204020204" pitchFamily="34" charset="-122"/>
              </a:rPr>
              <a:t>取样的代表性不足；</a:t>
            </a:r>
            <a:endParaRPr lang="en-US" altLang="zh-CN" sz="2400" dirty="0">
              <a:solidFill>
                <a:schemeClr val="bg1"/>
              </a:solidFill>
              <a:latin typeface="微软雅黑" panose="020B0503020204020204" pitchFamily="34" charset="-122"/>
              <a:ea typeface="微软雅黑" panose="020B0503020204020204" pitchFamily="34" charset="-122"/>
            </a:endParaRPr>
          </a:p>
          <a:p>
            <a:pPr lvl="1" indent="-539750">
              <a:lnSpc>
                <a:spcPct val="120000"/>
              </a:lnSpc>
              <a:spcBef>
                <a:spcPts val="600"/>
              </a:spcBef>
              <a:buClr>
                <a:srgbClr val="7030A0"/>
              </a:buClr>
              <a:buFont typeface="+mj-lt"/>
              <a:buAutoNum type="arabicPeriod"/>
              <a:defRPr/>
            </a:pPr>
            <a:r>
              <a:rPr lang="zh-CN" altLang="en-US" sz="2400" dirty="0">
                <a:solidFill>
                  <a:schemeClr val="bg1"/>
                </a:solidFill>
                <a:latin typeface="微软雅黑" panose="020B0503020204020204" pitchFamily="34" charset="-122"/>
                <a:ea typeface="微软雅黑" panose="020B0503020204020204" pitchFamily="34" charset="-122"/>
              </a:rPr>
              <a:t>环境条件的影响及其认识不足；</a:t>
            </a:r>
            <a:endParaRPr lang="zh-CN" altLang="en-US" sz="2400" dirty="0">
              <a:solidFill>
                <a:schemeClr val="bg1"/>
              </a:solidFill>
              <a:latin typeface="微软雅黑" panose="020B0503020204020204" pitchFamily="34" charset="-122"/>
              <a:ea typeface="微软雅黑" panose="020B0503020204020204" pitchFamily="34" charset="-122"/>
            </a:endParaRPr>
          </a:p>
          <a:p>
            <a:pPr lvl="1" indent="-539750">
              <a:lnSpc>
                <a:spcPct val="120000"/>
              </a:lnSpc>
              <a:spcBef>
                <a:spcPts val="600"/>
              </a:spcBef>
              <a:buClr>
                <a:srgbClr val="7030A0"/>
              </a:buClr>
              <a:buFont typeface="+mj-lt"/>
              <a:buAutoNum type="arabicPeriod"/>
              <a:defRPr/>
            </a:pPr>
            <a:r>
              <a:rPr lang="zh-CN" altLang="en-US" sz="2400" dirty="0">
                <a:solidFill>
                  <a:schemeClr val="bg1"/>
                </a:solidFill>
                <a:latin typeface="微软雅黑" panose="020B0503020204020204" pitchFamily="34" charset="-122"/>
                <a:ea typeface="微软雅黑" panose="020B0503020204020204" pitchFamily="34" charset="-122"/>
              </a:rPr>
              <a:t>人为因素，如仪器读数偏倚；</a:t>
            </a:r>
            <a:endParaRPr lang="en-US" altLang="zh-CN" sz="2400" dirty="0">
              <a:solidFill>
                <a:schemeClr val="bg1"/>
              </a:solidFill>
              <a:latin typeface="微软雅黑" panose="020B0503020204020204" pitchFamily="34" charset="-122"/>
              <a:ea typeface="微软雅黑" panose="020B0503020204020204" pitchFamily="34" charset="-122"/>
            </a:endParaRPr>
          </a:p>
          <a:p>
            <a:pPr lvl="1" indent="-539750">
              <a:lnSpc>
                <a:spcPct val="120000"/>
              </a:lnSpc>
              <a:spcBef>
                <a:spcPts val="600"/>
              </a:spcBef>
              <a:buClr>
                <a:srgbClr val="7030A0"/>
              </a:buClr>
              <a:buFont typeface="+mj-lt"/>
              <a:buAutoNum type="arabicPeriod"/>
              <a:defRPr/>
            </a:pPr>
            <a:r>
              <a:rPr lang="zh-CN" altLang="en-US" sz="2400" dirty="0">
                <a:solidFill>
                  <a:schemeClr val="bg1"/>
                </a:solidFill>
                <a:latin typeface="微软雅黑" panose="020B0503020204020204" pitchFamily="34" charset="-122"/>
                <a:ea typeface="微软雅黑" panose="020B0503020204020204" pitchFamily="34" charset="-122"/>
              </a:rPr>
              <a:t>技术限制，如仪器分辨率或识别阈值；</a:t>
            </a:r>
            <a:endParaRPr lang="en-US" altLang="zh-CN" sz="2400" dirty="0">
              <a:solidFill>
                <a:schemeClr val="bg1"/>
              </a:solidFill>
              <a:latin typeface="微软雅黑" panose="020B0503020204020204" pitchFamily="34" charset="-122"/>
              <a:ea typeface="微软雅黑" panose="020B0503020204020204" pitchFamily="34" charset="-122"/>
            </a:endParaRPr>
          </a:p>
          <a:p>
            <a:pPr lvl="1" indent="-539750">
              <a:lnSpc>
                <a:spcPct val="120000"/>
              </a:lnSpc>
              <a:spcBef>
                <a:spcPts val="600"/>
              </a:spcBef>
              <a:buClr>
                <a:srgbClr val="7030A0"/>
              </a:buClr>
              <a:buFont typeface="+mj-lt"/>
              <a:buAutoNum type="arabicPeriod"/>
              <a:defRPr/>
            </a:pPr>
            <a:r>
              <a:rPr lang="zh-CN" altLang="en-US" sz="2400" dirty="0">
                <a:solidFill>
                  <a:schemeClr val="bg1"/>
                </a:solidFill>
                <a:latin typeface="微软雅黑" panose="020B0503020204020204" pitchFamily="34" charset="-122"/>
                <a:ea typeface="微软雅黑" panose="020B0503020204020204" pitchFamily="34" charset="-122"/>
              </a:rPr>
              <a:t>测量标准和标准物质的不准确性；</a:t>
            </a:r>
            <a:endParaRPr lang="en-US" altLang="zh-CN" sz="2400" dirty="0">
              <a:solidFill>
                <a:schemeClr val="bg1"/>
              </a:solidFill>
              <a:latin typeface="微软雅黑" panose="020B0503020204020204" pitchFamily="34" charset="-122"/>
              <a:ea typeface="微软雅黑" panose="020B0503020204020204" pitchFamily="34" charset="-122"/>
            </a:endParaRPr>
          </a:p>
          <a:p>
            <a:pPr lvl="1" indent="-539750">
              <a:lnSpc>
                <a:spcPct val="120000"/>
              </a:lnSpc>
              <a:spcBef>
                <a:spcPts val="600"/>
              </a:spcBef>
              <a:buClr>
                <a:srgbClr val="7030A0"/>
              </a:buClr>
              <a:buFont typeface="+mj-lt"/>
              <a:buAutoNum type="arabicPeriod"/>
              <a:defRPr/>
            </a:pPr>
            <a:r>
              <a:rPr lang="zh-CN" altLang="en-US" sz="2400" dirty="0">
                <a:solidFill>
                  <a:schemeClr val="bg1"/>
                </a:solidFill>
                <a:latin typeface="微软雅黑" panose="020B0503020204020204" pitchFamily="34" charset="-122"/>
                <a:ea typeface="微软雅黑" panose="020B0503020204020204" pitchFamily="34" charset="-122"/>
              </a:rPr>
              <a:t>数据处理中常数和参数的不准确性；</a:t>
            </a:r>
            <a:endParaRPr lang="en-US" altLang="zh-CN" sz="2400" dirty="0">
              <a:solidFill>
                <a:schemeClr val="bg1"/>
              </a:solidFill>
              <a:latin typeface="微软雅黑" panose="020B0503020204020204" pitchFamily="34" charset="-122"/>
              <a:ea typeface="微软雅黑" panose="020B0503020204020204" pitchFamily="34" charset="-122"/>
            </a:endParaRPr>
          </a:p>
          <a:p>
            <a:pPr lvl="1" indent="-539750">
              <a:lnSpc>
                <a:spcPct val="120000"/>
              </a:lnSpc>
              <a:spcBef>
                <a:spcPts val="600"/>
              </a:spcBef>
              <a:buClr>
                <a:srgbClr val="7030A0"/>
              </a:buClr>
              <a:buFont typeface="+mj-lt"/>
              <a:buAutoNum type="arabicPeriod"/>
              <a:defRPr/>
            </a:pPr>
            <a:r>
              <a:rPr lang="zh-CN" altLang="en-US" sz="2400" dirty="0">
                <a:solidFill>
                  <a:schemeClr val="bg1"/>
                </a:solidFill>
                <a:latin typeface="微软雅黑" panose="020B0503020204020204" pitchFamily="34" charset="-122"/>
                <a:ea typeface="微软雅黑" panose="020B0503020204020204" pitchFamily="34" charset="-122"/>
              </a:rPr>
              <a:t>测量方法和程序中的近似和假设；</a:t>
            </a:r>
            <a:endParaRPr lang="zh-CN" altLang="en-US" sz="2400" dirty="0">
              <a:solidFill>
                <a:schemeClr val="bg1"/>
              </a:solidFill>
              <a:latin typeface="微软雅黑" panose="020B0503020204020204" pitchFamily="34" charset="-122"/>
              <a:ea typeface="微软雅黑" panose="020B0503020204020204" pitchFamily="34" charset="-122"/>
            </a:endParaRPr>
          </a:p>
          <a:p>
            <a:pPr lvl="1" indent="-539750">
              <a:lnSpc>
                <a:spcPct val="120000"/>
              </a:lnSpc>
              <a:spcBef>
                <a:spcPts val="600"/>
              </a:spcBef>
              <a:buClr>
                <a:srgbClr val="7030A0"/>
              </a:buClr>
              <a:buFont typeface="+mj-lt"/>
              <a:buAutoNum type="arabicPeriod"/>
              <a:defRPr/>
            </a:pPr>
            <a:r>
              <a:rPr lang="zh-CN" altLang="en-US" sz="2400" dirty="0">
                <a:solidFill>
                  <a:schemeClr val="bg1"/>
                </a:solidFill>
                <a:latin typeface="微软雅黑" panose="020B0503020204020204" pitchFamily="34" charset="-122"/>
                <a:ea typeface="微软雅黑" panose="020B0503020204020204" pitchFamily="34" charset="-122"/>
              </a:rPr>
              <a:t>在看似相同条件下，被测量的重复观测中的随机变异性。</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11" name="矩形 10"/>
          <p:cNvSpPr/>
          <p:nvPr/>
        </p:nvSpPr>
        <p:spPr>
          <a:xfrm>
            <a:off x="911424" y="5013176"/>
            <a:ext cx="6447738" cy="47545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11424" y="3212977"/>
            <a:ext cx="6408712" cy="864096"/>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7896200" y="1703406"/>
            <a:ext cx="4118248" cy="1384995"/>
          </a:xfrm>
          <a:prstGeom prst="rect">
            <a:avLst/>
          </a:prstGeom>
          <a:noFill/>
        </p:spPr>
        <p:txBody>
          <a:bodyPr wrap="square" rtlCol="0">
            <a:spAutoFit/>
          </a:bodyPr>
          <a:lstStyle/>
          <a:p>
            <a:r>
              <a:rPr lang="zh-CN" altLang="en-US" sz="2800" dirty="0">
                <a:solidFill>
                  <a:srgbClr val="0070C0"/>
                </a:solidFill>
                <a:latin typeface="微软雅黑" panose="020B0503020204020204" pitchFamily="34" charset="-122"/>
                <a:ea typeface="微软雅黑" panose="020B0503020204020204" pitchFamily="34" charset="-122"/>
              </a:rPr>
              <a:t>测量对象、测量准确度、测量环境、测量方法、</a:t>
            </a:r>
            <a:endParaRPr lang="en-US" altLang="zh-CN" sz="2800" dirty="0">
              <a:solidFill>
                <a:srgbClr val="0070C0"/>
              </a:solidFill>
              <a:latin typeface="微软雅黑" panose="020B0503020204020204" pitchFamily="34" charset="-122"/>
              <a:ea typeface="微软雅黑" panose="020B0503020204020204" pitchFamily="34" charset="-122"/>
            </a:endParaRPr>
          </a:p>
          <a:p>
            <a:r>
              <a:rPr lang="zh-CN" altLang="en-US" sz="2800" dirty="0">
                <a:solidFill>
                  <a:srgbClr val="0070C0"/>
                </a:solidFill>
                <a:latin typeface="微软雅黑" panose="020B0503020204020204" pitchFamily="34" charset="-122"/>
                <a:ea typeface="微软雅黑" panose="020B0503020204020204" pitchFamily="34" charset="-122"/>
              </a:rPr>
              <a:t>测量程序</a:t>
            </a:r>
            <a:r>
              <a:rPr lang="en-US" altLang="zh-CN" sz="2800" dirty="0">
                <a:solidFill>
                  <a:srgbClr val="0070C0"/>
                </a:solidFill>
                <a:latin typeface="微软雅黑" panose="020B0503020204020204" pitchFamily="34" charset="-122"/>
                <a:ea typeface="微软雅黑" panose="020B0503020204020204" pitchFamily="34" charset="-122"/>
              </a:rPr>
              <a:t>……</a:t>
            </a:r>
            <a:endParaRPr lang="zh-CN" altLang="en-US" sz="2800" dirty="0">
              <a:solidFill>
                <a:srgbClr val="0070C0"/>
              </a:solidFill>
              <a:latin typeface="微软雅黑" panose="020B0503020204020204" pitchFamily="34" charset="-122"/>
              <a:ea typeface="微软雅黑" panose="020B0503020204020204" pitchFamily="34" charset="-122"/>
            </a:endParaRPr>
          </a:p>
        </p:txBody>
      </p:sp>
      <p:sp>
        <p:nvSpPr>
          <p:cNvPr id="10" name="矩形 9"/>
          <p:cNvSpPr/>
          <p:nvPr/>
        </p:nvSpPr>
        <p:spPr>
          <a:xfrm>
            <a:off x="911424" y="2665511"/>
            <a:ext cx="6408712" cy="47545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1" grpId="0" animBg="1"/>
      <p:bldP spid="12"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构建待测量的测量模型</a:t>
            </a:r>
            <a:endParaRPr lang="zh-CN" altLang="en-US" sz="4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内容占位符 2"/>
          <p:cNvSpPr>
            <a:spLocks noGrp="1"/>
          </p:cNvSpPr>
          <p:nvPr>
            <p:ph idx="1"/>
          </p:nvPr>
        </p:nvSpPr>
        <p:spPr>
          <a:xfrm>
            <a:off x="754380" y="1406525"/>
            <a:ext cx="10791509" cy="4351338"/>
          </a:xfrm>
        </p:spPr>
        <p:txBody>
          <a:bodyPr/>
          <a:lstStyle/>
          <a:p>
            <a:pPr marL="0" indent="0">
              <a:lnSpc>
                <a:spcPct val="120000"/>
              </a:lnSpc>
              <a:buNone/>
            </a:pPr>
            <a:r>
              <a:rPr lang="zh-CN"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测量模型的</a:t>
            </a:r>
            <a:r>
              <a:rPr lang="zh-CN" altLang="zh-CN" sz="2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en-US" sz="2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原则：</a:t>
            </a:r>
            <a:endParaRPr lang="en-US" altLang="zh-CN" sz="2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20000"/>
              </a:lnSpc>
              <a:buNone/>
            </a:pPr>
            <a:r>
              <a:rPr lang="zh-CN"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综合考虑</a:t>
            </a:r>
            <a:r>
              <a:rPr lang="zh-CN" altLang="zh-CN" sz="2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所有</a:t>
            </a:r>
            <a:r>
              <a:rPr lang="zh-CN"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可能影响测量结果的因素，确保模型能够准确地反映实际测量情况</a:t>
            </a:r>
            <a:r>
              <a:rPr lang="zh-CN" altLang="en-US"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20000"/>
              </a:lnSpc>
              <a:buNone/>
            </a:pPr>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例：用秒表测量单摆的周期</a:t>
            </a:r>
            <a:endParaRPr lang="en-US" altLang="zh-CN"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 name="组合 8"/>
          <p:cNvGrpSpPr/>
          <p:nvPr/>
        </p:nvGrpSpPr>
        <p:grpSpPr>
          <a:xfrm>
            <a:off x="1919536" y="4149080"/>
            <a:ext cx="9001000" cy="1827360"/>
            <a:chOff x="2279576" y="5517232"/>
            <a:chExt cx="7418946" cy="1827360"/>
          </a:xfrm>
        </p:grpSpPr>
        <mc:AlternateContent xmlns:mc="http://schemas.openxmlformats.org/markup-compatibility/2006">
          <mc:Choice xmlns:a14="http://schemas.microsoft.com/office/drawing/2010/main" Requires="a14">
            <p:sp>
              <p:nvSpPr>
                <p:cNvPr id="7" name="文本框 6"/>
                <p:cNvSpPr txBox="1"/>
                <p:nvPr/>
              </p:nvSpPr>
              <p:spPr>
                <a:xfrm>
                  <a:off x="2279576" y="5877272"/>
                  <a:ext cx="3235901" cy="1065869"/>
                </a:xfrm>
                <a:prstGeom prst="rect">
                  <a:avLst/>
                </a:prstGeom>
                <a:noFill/>
              </p:spPr>
              <p:txBody>
                <a:bodyPr wrap="square" rtlCol="0">
                  <a:spAutoFit/>
                </a:bodyPr>
                <a:lstStyle/>
                <a:p>
                  <a:pPr>
                    <a:defRPr/>
                  </a:pPr>
                  <a14:m>
                    <m:oMathPara xmlns:m="http://schemas.openxmlformats.org/officeDocument/2006/math">
                      <m:oMathParaPr>
                        <m:jc m:val="centerGroup"/>
                      </m:oMathParaPr>
                      <m:oMath xmlns:m="http://schemas.openxmlformats.org/officeDocument/2006/math">
                        <m:r>
                          <a:rPr lang="en-US" altLang="zh-CN" sz="3200" b="1" i="1" smtClean="0">
                            <a:solidFill>
                              <a:srgbClr val="0070C0"/>
                            </a:solidFill>
                            <a:latin typeface="Cambria Math" panose="02040503050406030204" pitchFamily="18" charset="0"/>
                          </a:rPr>
                          <m:t>𝑻</m:t>
                        </m:r>
                        <m:r>
                          <a:rPr lang="en-US" altLang="zh-CN" sz="3200" b="1" i="1" smtClean="0">
                            <a:solidFill>
                              <a:srgbClr val="0070C0"/>
                            </a:solidFill>
                            <a:latin typeface="Cambria Math" panose="02040503050406030204" pitchFamily="18" charset="0"/>
                          </a:rPr>
                          <m:t>=</m:t>
                        </m:r>
                        <m:sSub>
                          <m:sSubPr>
                            <m:ctrlPr>
                              <a:rPr lang="en-US" altLang="zh-CN" sz="3200" b="1" i="1" smtClean="0">
                                <a:solidFill>
                                  <a:srgbClr val="0070C0"/>
                                </a:solidFill>
                                <a:latin typeface="Cambria Math" panose="02040503050406030204" pitchFamily="18" charset="0"/>
                              </a:rPr>
                            </m:ctrlPr>
                          </m:sSubPr>
                          <m:e>
                            <m:r>
                              <a:rPr lang="en-US" altLang="zh-CN" sz="3200" b="1" i="1" smtClean="0">
                                <a:solidFill>
                                  <a:srgbClr val="0070C0"/>
                                </a:solidFill>
                                <a:latin typeface="Cambria Math" panose="02040503050406030204" pitchFamily="18" charset="0"/>
                              </a:rPr>
                              <m:t>𝑻</m:t>
                            </m:r>
                          </m:e>
                          <m:sub>
                            <m:r>
                              <a:rPr lang="en-US" altLang="zh-CN" sz="3200" b="1" i="0" smtClean="0">
                                <a:solidFill>
                                  <a:srgbClr val="0070C0"/>
                                </a:solidFill>
                                <a:latin typeface="Cambria Math" panose="02040503050406030204" pitchFamily="18" charset="0"/>
                              </a:rPr>
                              <m:t>𝟎</m:t>
                            </m:r>
                          </m:sub>
                        </m:sSub>
                        <m:r>
                          <a:rPr lang="en-US" altLang="zh-CN" sz="3200" b="1">
                            <a:solidFill>
                              <a:srgbClr val="0070C0"/>
                            </a:solidFill>
                            <a:latin typeface="Cambria Math" panose="02040503050406030204" pitchFamily="18" charset="0"/>
                          </a:rPr>
                          <m:t>+</m:t>
                        </m:r>
                        <m:sSub>
                          <m:sSubPr>
                            <m:ctrlPr>
                              <a:rPr lang="en-US" altLang="zh-CN" sz="3200" b="1" i="1">
                                <a:solidFill>
                                  <a:srgbClr val="0070C0"/>
                                </a:solidFill>
                                <a:latin typeface="Cambria Math" panose="02040503050406030204" pitchFamily="18" charset="0"/>
                              </a:rPr>
                            </m:ctrlPr>
                          </m:sSubPr>
                          <m:e>
                            <m:r>
                              <a:rPr lang="en-US" altLang="zh-CN" sz="3200" b="1" i="1">
                                <a:solidFill>
                                  <a:srgbClr val="0070C0"/>
                                </a:solidFill>
                                <a:latin typeface="Cambria Math" panose="02040503050406030204" pitchFamily="18" charset="0"/>
                              </a:rPr>
                              <m:t>𝑻</m:t>
                            </m:r>
                          </m:e>
                          <m:sub>
                            <m:r>
                              <a:rPr lang="en-US" altLang="zh-CN" sz="3200" b="1" i="1">
                                <a:solidFill>
                                  <a:srgbClr val="0070C0"/>
                                </a:solidFill>
                                <a:latin typeface="Cambria Math" panose="02040503050406030204" pitchFamily="18" charset="0"/>
                              </a:rPr>
                              <m:t>𝟏</m:t>
                            </m:r>
                          </m:sub>
                        </m:sSub>
                        <m:r>
                          <a:rPr lang="en-US" altLang="zh-CN" sz="3200" b="1" i="1">
                            <a:solidFill>
                              <a:srgbClr val="0070C0"/>
                            </a:solidFill>
                            <a:latin typeface="Cambria Math" panose="02040503050406030204" pitchFamily="18" charset="0"/>
                          </a:rPr>
                          <m:t>+</m:t>
                        </m:r>
                        <m:sSub>
                          <m:sSubPr>
                            <m:ctrlPr>
                              <a:rPr lang="en-US" altLang="zh-CN" sz="3200" b="1" i="1">
                                <a:solidFill>
                                  <a:srgbClr val="0070C0"/>
                                </a:solidFill>
                                <a:latin typeface="Cambria Math" panose="02040503050406030204" pitchFamily="18" charset="0"/>
                              </a:rPr>
                            </m:ctrlPr>
                          </m:sSubPr>
                          <m:e>
                            <m:r>
                              <a:rPr lang="en-US" altLang="zh-CN" sz="3200" b="1" i="1">
                                <a:solidFill>
                                  <a:srgbClr val="0070C0"/>
                                </a:solidFill>
                                <a:latin typeface="Cambria Math" panose="02040503050406030204" pitchFamily="18" charset="0"/>
                              </a:rPr>
                              <m:t>𝑻</m:t>
                            </m:r>
                          </m:e>
                          <m:sub>
                            <m:r>
                              <a:rPr lang="en-US" altLang="zh-CN" sz="3200" b="1" i="1">
                                <a:solidFill>
                                  <a:srgbClr val="0070C0"/>
                                </a:solidFill>
                                <a:latin typeface="Cambria Math" panose="02040503050406030204" pitchFamily="18" charset="0"/>
                              </a:rPr>
                              <m:t>𝟐</m:t>
                            </m:r>
                          </m:sub>
                        </m:sSub>
                      </m:oMath>
                    </m:oMathPara>
                  </a14:m>
                  <a:endParaRPr lang="zh-CN" altLang="en-US" sz="32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2279576" y="5877272"/>
                  <a:ext cx="3235901" cy="1065869"/>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5951984" y="5517232"/>
                  <a:ext cx="3746538" cy="1827360"/>
                </a:xfrm>
                <a:prstGeom prst="rect">
                  <a:avLst/>
                </a:prstGeom>
                <a:noFill/>
              </p:spPr>
              <p:txBody>
                <a:bodyPr wrap="square" rtlCol="0">
                  <a:spAutoFit/>
                </a:bodyPr>
                <a:lstStyle/>
                <a:p>
                  <a:pPr eaLnBrk="0" fontAlgn="base" hangingPunct="0">
                    <a:lnSpc>
                      <a:spcPct val="120000"/>
                    </a:lnSpc>
                    <a:spcBef>
                      <a:spcPct val="0"/>
                    </a:spcBef>
                    <a:spcAft>
                      <a:spcPct val="0"/>
                    </a:spcAft>
                    <a:defRPr/>
                  </a:pPr>
                  <a14:m>
                    <m:oMath xmlns:m="http://schemas.openxmlformats.org/officeDocument/2006/math">
                      <m:sSub>
                        <m:sSubPr>
                          <m:ctrlPr>
                            <a:rPr lang="en-US" altLang="zh-CN" sz="2400" b="0" i="1" dirty="0"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dirty="0"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400" b="0" i="1" dirty="0"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0</m:t>
                          </m:r>
                        </m:sub>
                      </m:sSub>
                    </m:oMath>
                  </a14:m>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：秒表的示值</a:t>
                  </a:r>
                  <a:endPar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eaLnBrk="0" fontAlgn="base" hangingPunct="0">
                    <a:lnSpc>
                      <a:spcPct val="120000"/>
                    </a:lnSpc>
                    <a:spcBef>
                      <a:spcPct val="0"/>
                    </a:spcBef>
                    <a:spcAft>
                      <a:spcPct val="0"/>
                    </a:spcAft>
                    <a:defRPr/>
                  </a:pPr>
                  <a:r>
                    <a:rPr lang="en-US" altLang="zh-CN" sz="24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：秒表的仪器误差</a:t>
                  </a:r>
                  <a:endPar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eaLnBrk="0" fontAlgn="base" hangingPunct="0">
                    <a:lnSpc>
                      <a:spcPct val="120000"/>
                    </a:lnSpc>
                    <a:spcBef>
                      <a:spcPct val="0"/>
                    </a:spcBef>
                    <a:spcAft>
                      <a:spcPct val="0"/>
                    </a:spcAft>
                    <a:defRPr/>
                  </a:pPr>
                  <a:r>
                    <a:rPr lang="en-US" altLang="zh-CN" sz="24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：人在启停秒表时的反应时间</a:t>
                  </a:r>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5951984" y="5517232"/>
                  <a:ext cx="3746538" cy="1827360"/>
                </a:xfrm>
                <a:prstGeom prst="rect">
                  <a:avLst/>
                </a:prstGeom>
                <a:blipFill rotWithShape="1">
                  <a:blip r:embed="rId2"/>
                </a:blipFill>
              </p:spPr>
              <p:txBody>
                <a:bodyPr/>
                <a:lstStyle/>
                <a:p>
                  <a:r>
                    <a:rPr lang="zh-CN" altLang="en-US">
                      <a:noFill/>
                    </a:rPr>
                    <a:t> </a:t>
                  </a:r>
                </a:p>
              </p:txBody>
            </p:sp>
          </mc:Fallback>
        </mc:AlternateContent>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400" b="1" dirty="0">
                <a:solidFill>
                  <a:schemeClr val="bg1"/>
                </a:solidFill>
                <a:latin typeface="微软雅黑" panose="020B0503020204020204" pitchFamily="34" charset="-122"/>
                <a:ea typeface="微软雅黑" panose="020B0503020204020204" pitchFamily="34" charset="-122"/>
              </a:rPr>
              <a:t>分析每个输入量的标准不确定度</a:t>
            </a:r>
            <a:endParaRPr lang="zh-CN" altLang="en-US" sz="4400" dirty="0">
              <a:solidFill>
                <a:schemeClr val="bg1"/>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767408" y="1628800"/>
            <a:ext cx="6912768" cy="4351338"/>
          </a:xfrm>
        </p:spPr>
        <p:txBody>
          <a:bodyPr>
            <a:normAutofit/>
          </a:bodyPr>
          <a:lstStyle/>
          <a:p>
            <a:pPr marL="0" indent="0">
              <a:lnSpc>
                <a:spcPct val="200000"/>
              </a:lnSpc>
              <a:buNone/>
            </a:pPr>
            <a:r>
              <a:rPr lang="zh-CN" altLang="en-US" sz="32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例：用秒表测量单摆的周期</a:t>
            </a:r>
            <a:endParaRPr lang="en-US" altLang="zh-CN" sz="32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200000"/>
              </a:lnSpc>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多次测量之间的差异</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200000"/>
              </a:lnSpc>
            </a:pPr>
            <a:r>
              <a:rPr lang="zh-CN" altLang="en-US" sz="28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秒表的仪器偏差</a:t>
            </a:r>
            <a:endParaRPr lang="en-US" altLang="zh-CN" sz="28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200000"/>
              </a:lnSpc>
            </a:pPr>
            <a:r>
              <a:rPr lang="zh-CN" altLang="en-US" sz="28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人在启停秒表时的反应时间</a:t>
            </a:r>
            <a:endParaRPr lang="en-US" altLang="zh-CN" sz="28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pPr>
            <a:endParaRPr lang="zh-CN" altLang="en-US" sz="3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 name="组合 16"/>
          <p:cNvGrpSpPr/>
          <p:nvPr/>
        </p:nvGrpSpPr>
        <p:grpSpPr>
          <a:xfrm>
            <a:off x="4946046" y="2899490"/>
            <a:ext cx="6209860" cy="584775"/>
            <a:chOff x="4655840" y="2697792"/>
            <a:chExt cx="6209860" cy="584775"/>
          </a:xfrm>
        </p:grpSpPr>
        <p:sp>
          <p:nvSpPr>
            <p:cNvPr id="4" name="文本框 3"/>
            <p:cNvSpPr txBox="1"/>
            <p:nvPr/>
          </p:nvSpPr>
          <p:spPr>
            <a:xfrm>
              <a:off x="7398084" y="2697792"/>
              <a:ext cx="3467616" cy="584775"/>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CN" altLang="en-US" sz="3200" dirty="0">
                  <a:solidFill>
                    <a:schemeClr val="accent2"/>
                  </a:solidFill>
                  <a:latin typeface="微软雅黑" panose="020B0503020204020204" pitchFamily="34" charset="-122"/>
                  <a:ea typeface="微软雅黑" panose="020B0503020204020204" pitchFamily="34" charset="-122"/>
                </a:rPr>
                <a:t>用统计的方法计算</a:t>
              </a:r>
              <a:endParaRPr lang="zh-CN" altLang="en-US" sz="3200" dirty="0">
                <a:solidFill>
                  <a:schemeClr val="accent2"/>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4655840" y="3068960"/>
              <a:ext cx="2590114" cy="0"/>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4295800" y="4271948"/>
            <a:ext cx="6860106" cy="1082318"/>
            <a:chOff x="3693199" y="3815596"/>
            <a:chExt cx="6860106" cy="1082318"/>
          </a:xfrm>
        </p:grpSpPr>
        <p:sp>
          <p:nvSpPr>
            <p:cNvPr id="5" name="文本框 4"/>
            <p:cNvSpPr txBox="1"/>
            <p:nvPr/>
          </p:nvSpPr>
          <p:spPr>
            <a:xfrm>
              <a:off x="7906427" y="4313139"/>
              <a:ext cx="2646878" cy="584775"/>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CN" altLang="en-US" sz="3200" dirty="0">
                  <a:solidFill>
                    <a:schemeClr val="accent2"/>
                  </a:solidFill>
                  <a:latin typeface="微软雅黑" panose="020B0503020204020204" pitchFamily="34" charset="-122"/>
                  <a:ea typeface="微软雅黑" panose="020B0503020204020204" pitchFamily="34" charset="-122"/>
                </a:rPr>
                <a:t>根据经验推算</a:t>
              </a:r>
              <a:endParaRPr lang="zh-CN" altLang="en-US" sz="3200" dirty="0">
                <a:solidFill>
                  <a:schemeClr val="accent2"/>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3693199" y="3815596"/>
              <a:ext cx="4032448" cy="78993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5447928" y="4605526"/>
              <a:ext cx="2277719" cy="128329"/>
            </a:xfrm>
            <a:prstGeom prst="line">
              <a:avLst/>
            </a:prstGeom>
            <a:ln w="57150"/>
          </p:spPr>
          <p:style>
            <a:lnRef idx="1">
              <a:schemeClr val="accent1"/>
            </a:lnRef>
            <a:fillRef idx="0">
              <a:schemeClr val="accent1"/>
            </a:fillRef>
            <a:effectRef idx="0">
              <a:schemeClr val="accent1"/>
            </a:effectRef>
            <a:fontRef idx="minor">
              <a:schemeClr val="tx1"/>
            </a:fontRef>
          </p:style>
        </p:cxnSp>
      </p:grpSp>
      <p:sp>
        <p:nvSpPr>
          <p:cNvPr id="15" name="文本框 14"/>
          <p:cNvSpPr txBox="1"/>
          <p:nvPr/>
        </p:nvSpPr>
        <p:spPr>
          <a:xfrm>
            <a:off x="9564963" y="2149788"/>
            <a:ext cx="971741" cy="646331"/>
          </a:xfrm>
          <a:prstGeom prst="rect">
            <a:avLst/>
          </a:prstGeom>
          <a:noFill/>
        </p:spPr>
        <p:txBody>
          <a:bodyPr wrap="none" rtlCol="0">
            <a:spAutoFit/>
          </a:bodyPr>
          <a:lstStyle/>
          <a:p>
            <a:r>
              <a:rPr lang="en-US" altLang="zh-CN" sz="3600" dirty="0">
                <a:solidFill>
                  <a:schemeClr val="bg1"/>
                </a:solidFill>
                <a:latin typeface="微软雅黑" panose="020B0503020204020204" pitchFamily="34" charset="-122"/>
                <a:ea typeface="微软雅黑" panose="020B0503020204020204" pitchFamily="34" charset="-122"/>
              </a:rPr>
              <a:t>A</a:t>
            </a:r>
            <a:r>
              <a:rPr lang="zh-CN" altLang="en-US" sz="3600" dirty="0">
                <a:solidFill>
                  <a:schemeClr val="bg1"/>
                </a:solidFill>
                <a:latin typeface="微软雅黑" panose="020B0503020204020204" pitchFamily="34" charset="-122"/>
                <a:ea typeface="微软雅黑" panose="020B0503020204020204" pitchFamily="34" charset="-122"/>
              </a:rPr>
              <a:t>类</a:t>
            </a:r>
            <a:endParaRPr lang="zh-CN" altLang="en-US" sz="3600" dirty="0">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9556067" y="5408945"/>
            <a:ext cx="936475" cy="646331"/>
          </a:xfrm>
          <a:prstGeom prst="rect">
            <a:avLst/>
          </a:prstGeom>
          <a:noFill/>
        </p:spPr>
        <p:txBody>
          <a:bodyPr wrap="none" rtlCol="0">
            <a:spAutoFit/>
          </a:bodyPr>
          <a:lstStyle/>
          <a:p>
            <a:r>
              <a:rPr lang="en-US" altLang="zh-CN" sz="3600" dirty="0">
                <a:solidFill>
                  <a:schemeClr val="bg1"/>
                </a:solidFill>
                <a:latin typeface="微软雅黑" panose="020B0503020204020204" pitchFamily="34" charset="-122"/>
                <a:ea typeface="微软雅黑" panose="020B0503020204020204" pitchFamily="34" charset="-122"/>
              </a:rPr>
              <a:t>B</a:t>
            </a:r>
            <a:r>
              <a:rPr lang="zh-CN" altLang="en-US" sz="3600" dirty="0">
                <a:solidFill>
                  <a:schemeClr val="bg1"/>
                </a:solidFill>
                <a:latin typeface="微软雅黑" panose="020B0503020204020204" pitchFamily="34" charset="-122"/>
                <a:ea typeface="微软雅黑" panose="020B0503020204020204" pitchFamily="34" charset="-122"/>
              </a:rPr>
              <a:t>类</a:t>
            </a:r>
            <a:endParaRPr lang="zh-CN" altLang="en-US" sz="3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400" b="1" dirty="0">
                <a:solidFill>
                  <a:schemeClr val="bg1"/>
                </a:solidFill>
                <a:latin typeface="微软雅黑" panose="020B0503020204020204" pitchFamily="34" charset="-122"/>
                <a:ea typeface="微软雅黑" panose="020B0503020204020204" pitchFamily="34" charset="-122"/>
              </a:rPr>
              <a:t>标准不确定度的</a:t>
            </a:r>
            <a:r>
              <a:rPr lang="en-US" altLang="zh-CN" sz="4400" b="1" dirty="0">
                <a:solidFill>
                  <a:srgbClr val="0070C0"/>
                </a:solidFill>
                <a:latin typeface="微软雅黑" panose="020B0503020204020204" pitchFamily="34" charset="-122"/>
                <a:ea typeface="微软雅黑" panose="020B0503020204020204" pitchFamily="34" charset="-122"/>
              </a:rPr>
              <a:t>A</a:t>
            </a:r>
            <a:r>
              <a:rPr lang="zh-CN" altLang="en-US" sz="4400" b="1" dirty="0">
                <a:solidFill>
                  <a:srgbClr val="0070C0"/>
                </a:solidFill>
                <a:latin typeface="微软雅黑" panose="020B0503020204020204" pitchFamily="34" charset="-122"/>
                <a:ea typeface="微软雅黑" panose="020B0503020204020204" pitchFamily="34" charset="-122"/>
              </a:rPr>
              <a:t>类</a:t>
            </a:r>
            <a:r>
              <a:rPr lang="zh-CN" altLang="en-US" sz="4400" b="1" dirty="0">
                <a:solidFill>
                  <a:schemeClr val="bg1"/>
                </a:solidFill>
                <a:latin typeface="微软雅黑" panose="020B0503020204020204" pitchFamily="34" charset="-122"/>
                <a:ea typeface="微软雅黑" panose="020B0503020204020204" pitchFamily="34" charset="-122"/>
              </a:rPr>
              <a:t>评定</a:t>
            </a:r>
            <a:endParaRPr lang="zh-CN" altLang="en-US" sz="44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63352" y="1556792"/>
            <a:ext cx="11031016" cy="2405980"/>
          </a:xfrm>
          <a:prstGeom prst="rect">
            <a:avLst/>
          </a:prstGeom>
          <a:noFill/>
        </p:spPr>
        <p:txBody>
          <a:bodyPr wrap="square">
            <a:spAutoFit/>
          </a:bodyPr>
          <a:lstStyle/>
          <a:p>
            <a:pPr marL="914400" lvl="1" indent="-457200" algn="l">
              <a:lnSpc>
                <a:spcPct val="120000"/>
              </a:lnSpc>
              <a:buFont typeface="Arial" panose="020B0604020202020204" pitchFamily="34" charset="0"/>
              <a:buChar char="•"/>
            </a:pPr>
            <a:r>
              <a:rPr lang="zh-CN" altLang="en-US"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用</a:t>
            </a:r>
            <a:r>
              <a:rPr lang="zh-CN" altLang="zh-CN" sz="3200" dirty="0">
                <a:solidFill>
                  <a:srgbClr val="0070C0"/>
                </a:solidFill>
                <a:latin typeface="微软雅黑" panose="020B0503020204020204" pitchFamily="34" charset="-122"/>
                <a:ea typeface="微软雅黑" panose="020B0503020204020204" pitchFamily="34" charset="-122"/>
                <a:cs typeface="Segoe UI" panose="020B0502040204020203" pitchFamily="34" charset="0"/>
              </a:rPr>
              <a:t>统计</a:t>
            </a:r>
            <a:r>
              <a:rPr lang="zh-CN" altLang="en-US" sz="3200" dirty="0">
                <a:solidFill>
                  <a:srgbClr val="0070C0"/>
                </a:solidFill>
                <a:latin typeface="微软雅黑" panose="020B0503020204020204" pitchFamily="34" charset="-122"/>
                <a:ea typeface="微软雅黑" panose="020B0503020204020204" pitchFamily="34" charset="-122"/>
                <a:cs typeface="Segoe UI" panose="020B0502040204020203" pitchFamily="34" charset="0"/>
              </a:rPr>
              <a:t>方法</a:t>
            </a:r>
            <a:r>
              <a:rPr lang="zh-CN" altLang="en-US"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评定</a:t>
            </a:r>
            <a:endParaRPr lang="en-US" altLang="zh-CN"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marL="914400" lvl="1" indent="-457200" algn="l">
              <a:lnSpc>
                <a:spcPct val="120000"/>
              </a:lnSpc>
              <a:buFont typeface="Arial" panose="020B0604020202020204" pitchFamily="34" charset="0"/>
              <a:buChar char="•"/>
            </a:pPr>
            <a:r>
              <a:rPr lang="zh-CN" altLang="zh-CN"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用于量化测量中随机变量的不确定度</a:t>
            </a:r>
            <a:endParaRPr lang="en-US" altLang="zh-CN"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marL="914400" lvl="1" indent="-457200" algn="l">
              <a:lnSpc>
                <a:spcPct val="120000"/>
              </a:lnSpc>
              <a:buFont typeface="Arial" panose="020B0604020202020204" pitchFamily="34" charset="0"/>
              <a:buChar char="•"/>
            </a:pPr>
            <a:r>
              <a:rPr lang="zh-CN" altLang="zh-CN"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对于</a:t>
            </a:r>
            <a:r>
              <a:rPr lang="zh-CN" altLang="en-US"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一组</a:t>
            </a:r>
            <a:r>
              <a:rPr lang="zh-CN" altLang="zh-CN"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多次独立</a:t>
            </a:r>
            <a:r>
              <a:rPr lang="zh-CN" altLang="en-US"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的</a:t>
            </a:r>
            <a:r>
              <a:rPr lang="zh-CN" altLang="zh-CN"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观测值，其标准不确定度</a:t>
            </a:r>
            <a:r>
              <a:rPr lang="zh-CN" altLang="en-US"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由该组数据的</a:t>
            </a:r>
            <a:r>
              <a:rPr lang="zh-CN" altLang="zh-CN" sz="3200" b="1" dirty="0">
                <a:solidFill>
                  <a:srgbClr val="0070C0"/>
                </a:solidFill>
                <a:latin typeface="微软雅黑" panose="020B0503020204020204" pitchFamily="34" charset="-122"/>
                <a:ea typeface="微软雅黑" panose="020B0503020204020204" pitchFamily="34" charset="-122"/>
                <a:cs typeface="Segoe UI" panose="020B0502040204020203" pitchFamily="34" charset="0"/>
              </a:rPr>
              <a:t>实验标准差</a:t>
            </a:r>
            <a:r>
              <a:rPr lang="zh-CN" altLang="zh-CN"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计算得出</a:t>
            </a:r>
            <a:r>
              <a:rPr lang="zh-CN" altLang="en-US" sz="32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zh-CN" altLang="en-US" sz="2800"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Object 22"/>
              <p:cNvSpPr txBox="1"/>
              <p:nvPr/>
            </p:nvSpPr>
            <p:spPr bwMode="auto">
              <a:xfrm>
                <a:off x="1121792" y="4365377"/>
                <a:ext cx="8929042" cy="1871662"/>
              </a:xfrm>
              <a:prstGeom prst="rect">
                <a:avLst/>
              </a:prstGeom>
              <a:noFill/>
              <a:ln>
                <a:noFill/>
              </a:ln>
            </p:spPr>
            <p:txBody>
              <a:bodyPr>
                <a:noAutofit/>
              </a:bodyPr>
              <a:lstStyle/>
              <a:p>
                <a14:m>
                  <m:oMathPara xmlns:m="http://schemas.openxmlformats.org/officeDocument/2006/math">
                    <m:oMathParaPr>
                      <m:jc m:val="centerGroup"/>
                    </m:oMathParaPr>
                    <m:oMath xmlns:m="http://schemas.openxmlformats.org/officeDocument/2006/math">
                      <m:r>
                        <a:rPr lang="en-US" altLang="zh-CN" sz="3200" b="0" i="1" smtClean="0">
                          <a:solidFill>
                            <a:srgbClr val="000000"/>
                          </a:solidFill>
                          <a:latin typeface="Cambria Math" panose="02040503050406030204" pitchFamily="18" charset="0"/>
                        </a:rPr>
                        <m:t>𝑢</m:t>
                      </m:r>
                      <m:r>
                        <m:rPr>
                          <m:sty m:val="p"/>
                        </m:rPr>
                        <a:rPr lang="en-US" altLang="zh-CN" sz="3200" i="1" baseline="-25000">
                          <a:solidFill>
                            <a:srgbClr val="000000"/>
                          </a:solidFill>
                          <a:latin typeface="Cambria Math" panose="02040503050406030204" pitchFamily="18" charset="0"/>
                        </a:rPr>
                        <m:t>A</m:t>
                      </m:r>
                      <m:d>
                        <m:dPr>
                          <m:ctrlPr>
                            <a:rPr lang="zh-CN" altLang="en-US" sz="3200" i="1">
                              <a:solidFill>
                                <a:srgbClr val="000000"/>
                              </a:solidFill>
                              <a:latin typeface="Cambria Math" panose="02040503050406030204" pitchFamily="18" charset="0"/>
                            </a:rPr>
                          </m:ctrlPr>
                        </m:dPr>
                        <m:e>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𝑥</m:t>
                              </m:r>
                            </m:e>
                          </m:acc>
                        </m:e>
                      </m:d>
                      <m:r>
                        <a:rPr lang="zh-CN" altLang="en-US" sz="3200" i="1">
                          <a:solidFill>
                            <a:srgbClr val="000000"/>
                          </a:solidFill>
                          <a:latin typeface="Cambria Math" panose="02040503050406030204" pitchFamily="18" charset="0"/>
                        </a:rPr>
                        <m:t>=</m:t>
                      </m:r>
                      <m:rad>
                        <m:radPr>
                          <m:degHide m:val="on"/>
                          <m:ctrlPr>
                            <a:rPr lang="zh-CN" altLang="en-US" sz="3200" i="1">
                              <a:solidFill>
                                <a:srgbClr val="000000"/>
                              </a:solidFill>
                              <a:latin typeface="Cambria Math" panose="02040503050406030204" pitchFamily="18" charset="0"/>
                            </a:rPr>
                          </m:ctrlPr>
                        </m:radPr>
                        <m:deg/>
                        <m:e>
                          <m:f>
                            <m:fPr>
                              <m:ctrlPr>
                                <a:rPr lang="zh-CN" altLang="en-US" sz="3200" i="1">
                                  <a:solidFill>
                                    <a:srgbClr val="000000"/>
                                  </a:solidFill>
                                  <a:latin typeface="Cambria Math" panose="02040503050406030204" pitchFamily="18" charset="0"/>
                                </a:rPr>
                              </m:ctrlPr>
                            </m:fPr>
                            <m:num>
                              <m:nary>
                                <m:naryPr>
                                  <m:chr m:val="∑"/>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𝑖</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1</m:t>
                                  </m:r>
                                </m:sub>
                                <m:sup>
                                  <m:r>
                                    <a:rPr lang="zh-CN" altLang="en-US" sz="3200" i="1">
                                      <a:solidFill>
                                        <a:srgbClr val="000000"/>
                                      </a:solidFill>
                                      <a:latin typeface="Cambria Math" panose="02040503050406030204" pitchFamily="18" charset="0"/>
                                    </a:rPr>
                                    <m:t>𝑛</m:t>
                                  </m:r>
                                </m:sup>
                                <m:e>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𝑥</m:t>
                                      </m:r>
                                    </m:e>
                                    <m:sub>
                                      <m:r>
                                        <a:rPr lang="zh-CN" altLang="en-US" sz="3200" i="1">
                                          <a:solidFill>
                                            <a:srgbClr val="000000"/>
                                          </a:solidFill>
                                          <a:latin typeface="Cambria Math" panose="02040503050406030204" pitchFamily="18" charset="0"/>
                                        </a:rPr>
                                        <m:t>𝑖</m:t>
                                      </m:r>
                                    </m:sub>
                                  </m:sSub>
                                  <m:r>
                                    <a:rPr lang="zh-CN" altLang="en-US" sz="3200" i="1">
                                      <a:solidFill>
                                        <a:srgbClr val="000000"/>
                                      </a:solidFill>
                                      <a:latin typeface="Cambria Math" panose="02040503050406030204" pitchFamily="18" charset="0"/>
                                    </a:rPr>
                                    <m:t>−</m:t>
                                  </m:r>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𝑥</m:t>
                                      </m:r>
                                    </m:e>
                                  </m:acc>
                                </m:e>
                              </m:nary>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m:t>
                                  </m:r>
                                </m:e>
                                <m:sup>
                                  <m:r>
                                    <a:rPr lang="zh-CN" altLang="en-US" sz="3200" i="1">
                                      <a:solidFill>
                                        <a:srgbClr val="000000"/>
                                      </a:solidFill>
                                      <a:latin typeface="Cambria Math" panose="02040503050406030204" pitchFamily="18" charset="0"/>
                                    </a:rPr>
                                    <m:t>2</m:t>
                                  </m:r>
                                </m:sup>
                              </m:sSup>
                            </m:num>
                            <m:den>
                              <m:r>
                                <a:rPr lang="zh-CN" altLang="en-US" sz="3200" i="1">
                                  <a:solidFill>
                                    <a:srgbClr val="000000"/>
                                  </a:solidFill>
                                  <a:latin typeface="Cambria Math" panose="02040503050406030204" pitchFamily="18" charset="0"/>
                                </a:rPr>
                                <m:t>𝑛</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𝑛</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1</m:t>
                              </m:r>
                              <m:r>
                                <a:rPr lang="zh-CN" altLang="en-US" sz="3200" i="1">
                                  <a:solidFill>
                                    <a:srgbClr val="000000"/>
                                  </a:solidFill>
                                  <a:latin typeface="Cambria Math" panose="02040503050406030204" pitchFamily="18" charset="0"/>
                                </a:rPr>
                                <m:t>)</m:t>
                              </m:r>
                            </m:den>
                          </m:f>
                        </m:e>
                      </m:rad>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其中平均值</m:t>
                      </m:r>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𝑥</m:t>
                          </m:r>
                        </m:e>
                      </m:acc>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𝑛</m:t>
                          </m:r>
                        </m:den>
                      </m:f>
                      <m:nary>
                        <m:naryPr>
                          <m:chr m:val="∑"/>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𝑖</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1</m:t>
                          </m:r>
                        </m:sub>
                        <m:sup>
                          <m:r>
                            <a:rPr lang="zh-CN" altLang="en-US" sz="3200" i="1">
                              <a:solidFill>
                                <a:srgbClr val="000000"/>
                              </a:solidFill>
                              <a:latin typeface="Cambria Math" panose="02040503050406030204" pitchFamily="18" charset="0"/>
                            </a:rPr>
                            <m:t>𝑛</m:t>
                          </m:r>
                        </m:sup>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𝑥</m:t>
                              </m:r>
                            </m:e>
                            <m:sub>
                              <m:r>
                                <a:rPr lang="zh-CN" altLang="en-US" sz="3200" i="1">
                                  <a:solidFill>
                                    <a:srgbClr val="000000"/>
                                  </a:solidFill>
                                  <a:latin typeface="Cambria Math" panose="02040503050406030204" pitchFamily="18" charset="0"/>
                                </a:rPr>
                                <m:t>𝑖</m:t>
                              </m:r>
                            </m:sub>
                          </m:sSub>
                        </m:e>
                      </m:nary>
                    </m:oMath>
                  </m:oMathPara>
                </a14:m>
                <a:endParaRPr lang="zh-CN" altLang="en-US" sz="3200" dirty="0"/>
              </a:p>
            </p:txBody>
          </p:sp>
        </mc:Choice>
        <mc:Fallback>
          <p:sp>
            <p:nvSpPr>
              <p:cNvPr id="10" name="Object 22"/>
              <p:cNvSpPr txBox="1">
                <a:spLocks noRot="1" noChangeAspect="1" noMove="1" noResize="1" noEditPoints="1" noAdjustHandles="1" noChangeArrowheads="1" noChangeShapeType="1" noTextEdit="1"/>
              </p:cNvSpPr>
              <p:nvPr/>
            </p:nvSpPr>
            <p:spPr bwMode="auto">
              <a:xfrm>
                <a:off x="1121792" y="4365377"/>
                <a:ext cx="8929042" cy="1871662"/>
              </a:xfrm>
              <a:prstGeom prst="rect">
                <a:avLst/>
              </a:prstGeom>
              <a:blipFill rotWithShape="1">
                <a:blip r:embed="rId1"/>
                <a:stretch>
                  <a:fillRect l="-4" t="-21" r="1" b="4"/>
                </a:stretch>
              </a:blipFill>
              <a:ln>
                <a:noFill/>
              </a:ln>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6"/>
          <p:cNvSpPr txBox="1">
            <a:spLocks noChangeArrowheads="1"/>
          </p:cNvSpPr>
          <p:nvPr/>
        </p:nvSpPr>
        <p:spPr bwMode="auto">
          <a:xfrm>
            <a:off x="748561" y="245739"/>
            <a:ext cx="284084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黑体" panose="02010609060101010101" pitchFamily="49" charset="-122"/>
              </a:defRPr>
            </a:lvl1pPr>
            <a:lvl2pPr marL="742950" indent="-285750">
              <a:defRPr>
                <a:solidFill>
                  <a:schemeClr val="tx1"/>
                </a:solidFill>
                <a:latin typeface="Arial" panose="020B0604020202020204" pitchFamily="34" charset="0"/>
                <a:ea typeface="黑体" panose="02010609060101010101" pitchFamily="49" charset="-122"/>
              </a:defRPr>
            </a:lvl2pPr>
            <a:lvl3pPr marL="1143000" indent="-228600">
              <a:defRPr>
                <a:solidFill>
                  <a:schemeClr val="tx1"/>
                </a:solidFill>
                <a:latin typeface="Arial" panose="020B0604020202020204" pitchFamily="34" charset="0"/>
                <a:ea typeface="黑体" panose="02010609060101010101" pitchFamily="49" charset="-122"/>
              </a:defRPr>
            </a:lvl3pPr>
            <a:lvl4pPr marL="1600200" indent="-228600">
              <a:defRPr>
                <a:solidFill>
                  <a:schemeClr val="tx1"/>
                </a:solidFill>
                <a:latin typeface="Arial" panose="020B0604020202020204" pitchFamily="34" charset="0"/>
                <a:ea typeface="黑体" panose="02010609060101010101" pitchFamily="49" charset="-122"/>
              </a:defRPr>
            </a:lvl4pPr>
            <a:lvl5pPr marL="2057400" indent="-228600">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9pPr>
          </a:lstStyle>
          <a:p>
            <a:pPr eaLnBrk="1" fontAlgn="auto" hangingPunct="1">
              <a:spcBef>
                <a:spcPts val="0"/>
              </a:spcBef>
              <a:spcAft>
                <a:spcPts val="0"/>
              </a:spcAft>
            </a:pPr>
            <a:r>
              <a:rPr lang="en-US" altLang="zh-CN" sz="3600" b="1" dirty="0">
                <a:solidFill>
                  <a:schemeClr val="bg1"/>
                </a:solidFill>
                <a:latin typeface="微软雅黑" panose="020B0503020204020204" pitchFamily="34" charset="-122"/>
                <a:ea typeface="微软雅黑" panose="020B0503020204020204" pitchFamily="34" charset="-122"/>
              </a:rPr>
              <a:t>A</a:t>
            </a:r>
            <a:r>
              <a:rPr lang="zh-CN" altLang="en-US" sz="3600" b="1" dirty="0">
                <a:solidFill>
                  <a:schemeClr val="bg1"/>
                </a:solidFill>
                <a:latin typeface="微软雅黑" panose="020B0503020204020204" pitchFamily="34" charset="-122"/>
                <a:ea typeface="微软雅黑" panose="020B0503020204020204" pitchFamily="34" charset="-122"/>
              </a:rPr>
              <a:t>类评定实例</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Rectangle 8"/>
          <p:cNvSpPr>
            <a:spLocks noChangeArrowheads="1"/>
          </p:cNvSpPr>
          <p:nvPr/>
        </p:nvSpPr>
        <p:spPr bwMode="auto">
          <a:xfrm>
            <a:off x="767408" y="1159471"/>
            <a:ext cx="10009112" cy="867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lgn="just" eaLnBrk="1" fontAlgn="auto" hangingPunct="1">
              <a:lnSpc>
                <a:spcPct val="120000"/>
              </a:lnSpc>
              <a:spcAft>
                <a:spcPts val="0"/>
              </a:spcAft>
              <a:buNone/>
            </a:pP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测量一个球的直径</a:t>
            </a:r>
            <a:r>
              <a:rPr lang="en-US" altLang="zh-CN" sz="24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，测量了</a:t>
            </a:r>
            <a:r>
              <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次，结果如下表，求该球的直径及其标准不确定度。</a:t>
            </a:r>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8"/>
          <p:cNvSpPr>
            <a:spLocks noChangeArrowheads="1"/>
          </p:cNvSpPr>
          <p:nvPr/>
        </p:nvSpPr>
        <p:spPr bwMode="auto">
          <a:xfrm>
            <a:off x="900055" y="3057633"/>
            <a:ext cx="938963" cy="556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auto" hangingPunct="1">
              <a:lnSpc>
                <a:spcPct val="90000"/>
              </a:lnSpc>
              <a:spcAft>
                <a:spcPts val="0"/>
              </a:spcAft>
              <a:buNone/>
            </a:pPr>
            <a:r>
              <a:rPr lang="zh-CN" altLang="en-US" sz="3600" b="1" dirty="0">
                <a:solidFill>
                  <a:schemeClr val="bg1"/>
                </a:solidFill>
                <a:latin typeface="微软雅黑" panose="020B0503020204020204" pitchFamily="34" charset="-122"/>
                <a:ea typeface="微软雅黑" panose="020B0503020204020204" pitchFamily="34" charset="-122"/>
              </a:rPr>
              <a:t>解：</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6" name="对象 5"/>
              <p:cNvSpPr txBox="1"/>
              <p:nvPr/>
            </p:nvSpPr>
            <p:spPr bwMode="auto">
              <a:xfrm>
                <a:off x="3931313" y="2830181"/>
                <a:ext cx="5192235" cy="64770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bar>
                        <m:barPr>
                          <m:pos m:val="top"/>
                          <m:ctrlPr>
                            <a:rPr lang="zh-CN" altLang="en-US" sz="2400" i="1" smtClean="0">
                              <a:solidFill>
                                <a:schemeClr val="bg1"/>
                              </a:solidFill>
                              <a:latin typeface="Cambria Math" panose="02040503050406030204" pitchFamily="18" charset="0"/>
                            </a:rPr>
                          </m:ctrlPr>
                        </m:barPr>
                        <m:e>
                          <m:r>
                            <a:rPr lang="zh-CN" altLang="en-US" sz="2400" i="1">
                              <a:solidFill>
                                <a:schemeClr val="bg1"/>
                              </a:solidFill>
                              <a:latin typeface="Cambria Math" panose="02040503050406030204" pitchFamily="18" charset="0"/>
                            </a:rPr>
                            <m:t>𝐷</m:t>
                          </m:r>
                        </m:e>
                      </m:bar>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1</m:t>
                          </m:r>
                        </m:num>
                        <m:den>
                          <m:r>
                            <a:rPr lang="zh-CN" altLang="en-US" sz="2400" i="1">
                              <a:solidFill>
                                <a:schemeClr val="bg1"/>
                              </a:solidFill>
                              <a:latin typeface="Cambria Math" panose="02040503050406030204" pitchFamily="18" charset="0"/>
                            </a:rPr>
                            <m:t>𝑛</m:t>
                          </m:r>
                        </m:den>
                      </m:f>
                      <m:nary>
                        <m:naryPr>
                          <m:chr m:val="∑"/>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𝑖</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sub>
                        <m:sup>
                          <m:r>
                            <a:rPr lang="zh-CN" altLang="en-US" sz="2400" i="1">
                              <a:solidFill>
                                <a:schemeClr val="bg1"/>
                              </a:solidFill>
                              <a:latin typeface="Cambria Math" panose="02040503050406030204" pitchFamily="18" charset="0"/>
                            </a:rPr>
                            <m:t>𝑛</m:t>
                          </m:r>
                        </m:sup>
                        <m:e>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𝐷</m:t>
                              </m:r>
                            </m:e>
                            <m:sub>
                              <m:r>
                                <a:rPr lang="zh-CN" altLang="en-US" sz="2400" i="1">
                                  <a:solidFill>
                                    <a:schemeClr val="bg1"/>
                                  </a:solidFill>
                                  <a:latin typeface="Cambria Math" panose="02040503050406030204" pitchFamily="18" charset="0"/>
                                </a:rPr>
                                <m:t>𝑖</m:t>
                              </m:r>
                            </m:sub>
                          </m:sSub>
                        </m:e>
                      </m:nary>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12</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345</m:t>
                      </m:r>
                      <m:r>
                        <a:rPr lang="en-US" altLang="zh-CN" sz="2400" b="0" i="1" smtClean="0">
                          <a:solidFill>
                            <a:srgbClr val="C00000"/>
                          </a:solidFill>
                          <a:latin typeface="Cambria Math" panose="02040503050406030204" pitchFamily="18" charset="0"/>
                        </a:rPr>
                        <m:t>2</m:t>
                      </m:r>
                      <m:r>
                        <a:rPr lang="en-US" altLang="zh-CN" sz="2400" i="1">
                          <a:solidFill>
                            <a:schemeClr val="bg1"/>
                          </a:solidFill>
                          <a:latin typeface="Cambria Math" panose="02040503050406030204" pitchFamily="18" charset="0"/>
                        </a:rPr>
                        <m:t> </m:t>
                      </m:r>
                      <m:m>
                        <m:mPr>
                          <m:mcs>
                            <m:mc>
                              <m:mcPr>
                                <m:count m:val="2"/>
                                <m:mcJc m:val="center"/>
                              </m:mcPr>
                            </m:mc>
                          </m:mcs>
                          <m:plcHide m:val="on"/>
                          <m:ctrlPr>
                            <a:rPr lang="zh-CN" altLang="en-US" sz="2400" i="1">
                              <a:solidFill>
                                <a:schemeClr val="bg1"/>
                              </a:solidFill>
                              <a:latin typeface="Cambria Math" panose="02040503050406030204" pitchFamily="18" charset="0"/>
                            </a:rPr>
                          </m:ctrlPr>
                        </m:mPr>
                        <m:mr>
                          <m:e>
                            <m:r>
                              <m:rPr>
                                <m:nor/>
                              </m:rPr>
                              <a:rPr lang="zh-CN" altLang="en-US" sz="2400">
                                <a:solidFill>
                                  <a:schemeClr val="bg1"/>
                                </a:solidFill>
                                <a:latin typeface="微软雅黑" panose="020B0503020204020204" pitchFamily="34" charset="-122"/>
                                <a:ea typeface="微软雅黑" panose="020B0503020204020204" pitchFamily="34" charset="-122"/>
                              </a:rPr>
                              <m:t>mm</m:t>
                            </m:r>
                          </m:e>
                          <m:e/>
                        </m:mr>
                      </m:m>
                    </m:oMath>
                  </m:oMathPara>
                </a14:m>
                <a:endParaRPr lang="zh-CN" altLang="en-US" sz="2400" dirty="0">
                  <a:solidFill>
                    <a:schemeClr val="bg1"/>
                  </a:solidFill>
                  <a:latin typeface="微软雅黑" panose="020B0503020204020204" pitchFamily="34" charset="-122"/>
                  <a:ea typeface="微软雅黑" panose="020B0503020204020204" pitchFamily="34" charset="-122"/>
                </a:endParaRPr>
              </a:p>
            </p:txBody>
          </p:sp>
        </mc:Choice>
        <mc:Fallback>
          <p:sp>
            <p:nvSpPr>
              <p:cNvPr id="6" name="对象 5"/>
              <p:cNvSpPr txBox="1">
                <a:spLocks noRot="1" noChangeAspect="1" noMove="1" noResize="1" noEditPoints="1" noAdjustHandles="1" noChangeArrowheads="1" noChangeShapeType="1" noTextEdit="1"/>
              </p:cNvSpPr>
              <p:nvPr/>
            </p:nvSpPr>
            <p:spPr bwMode="auto">
              <a:xfrm>
                <a:off x="3931313" y="2830181"/>
                <a:ext cx="5192235" cy="647700"/>
              </a:xfrm>
              <a:prstGeom prst="rect">
                <a:avLst/>
              </a:prstGeom>
              <a:blipFill rotWithShape="1">
                <a:blip r:embed="rId1"/>
                <a:stretch>
                  <a:fillRect l="-1" t="-96" r="10" b="-61081"/>
                </a:stretch>
              </a:blipFill>
              <a:ln>
                <a:noFill/>
              </a:ln>
            </p:spPr>
            <p:txBody>
              <a:bodyPr/>
              <a:lstStyle/>
              <a:p>
                <a:r>
                  <a:rPr lang="zh-CN" altLang="en-US">
                    <a:noFill/>
                  </a:rPr>
                  <a:t> </a:t>
                </a:r>
              </a:p>
            </p:txBody>
          </p:sp>
        </mc:Fallback>
      </mc:AlternateContent>
      <p:sp>
        <p:nvSpPr>
          <p:cNvPr id="11" name="TextBox 10"/>
          <p:cNvSpPr txBox="1"/>
          <p:nvPr/>
        </p:nvSpPr>
        <p:spPr>
          <a:xfrm>
            <a:off x="1991544" y="3029542"/>
            <a:ext cx="1826141" cy="584775"/>
          </a:xfrm>
          <a:prstGeom prst="rect">
            <a:avLst/>
          </a:prstGeom>
          <a:noFill/>
        </p:spPr>
        <p:txBody>
          <a:bodyPr wrap="none" rtlCol="0">
            <a:spAutoFit/>
          </a:bodyPr>
          <a:lstStyle/>
          <a:p>
            <a:pPr eaLnBrk="1" fontAlgn="auto" hangingPunct="1">
              <a:spcBef>
                <a:spcPts val="0"/>
              </a:spcBef>
              <a:spcAft>
                <a:spcPts val="0"/>
              </a:spcAft>
            </a:pPr>
            <a:r>
              <a:rPr lang="zh-CN" altLang="en-US" sz="3200" dirty="0">
                <a:solidFill>
                  <a:schemeClr val="bg1"/>
                </a:solidFill>
                <a:latin typeface="微软雅黑" panose="020B0503020204020204" pitchFamily="34" charset="-122"/>
                <a:ea typeface="微软雅黑" panose="020B0503020204020204" pitchFamily="34" charset="-122"/>
              </a:rPr>
              <a:t>平均值：</a:t>
            </a:r>
            <a:endParaRPr lang="zh-CN" altLang="en-US" sz="3200"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9" name="对象 18"/>
              <p:cNvSpPr txBox="1"/>
              <p:nvPr/>
            </p:nvSpPr>
            <p:spPr bwMode="auto">
              <a:xfrm>
                <a:off x="3931313" y="4125064"/>
                <a:ext cx="6531186" cy="78105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lang="en-US" altLang="zh-CN" sz="2400" b="0" i="1" smtClean="0">
                              <a:solidFill>
                                <a:schemeClr val="bg1"/>
                              </a:solidFill>
                              <a:latin typeface="Cambria Math" panose="02040503050406030204" pitchFamily="18" charset="0"/>
                            </a:rPr>
                          </m:ctrlPr>
                        </m:sSubPr>
                        <m:e>
                          <m:r>
                            <a:rPr lang="en-US" altLang="zh-CN" sz="2400" i="1" smtClean="0">
                              <a:solidFill>
                                <a:schemeClr val="bg1"/>
                              </a:solidFill>
                              <a:latin typeface="Cambria Math" panose="02040503050406030204" pitchFamily="18" charset="0"/>
                            </a:rPr>
                            <m:t>𝑢</m:t>
                          </m:r>
                        </m:e>
                        <m:sub>
                          <m:r>
                            <a:rPr lang="en-US" altLang="zh-CN" sz="2400" b="0" i="1" smtClean="0">
                              <a:solidFill>
                                <a:schemeClr val="bg1"/>
                              </a:solidFill>
                              <a:latin typeface="Cambria Math" panose="02040503050406030204" pitchFamily="18" charset="0"/>
                            </a:rPr>
                            <m:t>𝐴</m:t>
                          </m:r>
                        </m:sub>
                      </m:sSub>
                      <m:r>
                        <a:rPr lang="en-US" altLang="zh-CN" sz="2400" b="0" i="1" smtClean="0">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zh-CN" altLang="en-US" sz="2400" i="1">
                              <a:solidFill>
                                <a:schemeClr val="bg1"/>
                              </a:solidFill>
                              <a:latin typeface="Cambria Math" panose="02040503050406030204" pitchFamily="18" charset="0"/>
                            </a:rPr>
                            <m:t>𝐷</m:t>
                          </m:r>
                        </m:e>
                      </m:bar>
                      <m:r>
                        <a:rPr lang="en-US" altLang="zh-CN" sz="2400" b="0" i="1" smtClean="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f>
                            <m:fPr>
                              <m:ctrlPr>
                                <a:rPr lang="zh-CN" altLang="en-US" sz="2400" i="1">
                                  <a:solidFill>
                                    <a:schemeClr val="bg1"/>
                                  </a:solidFill>
                                  <a:latin typeface="Cambria Math" panose="02040503050406030204" pitchFamily="18" charset="0"/>
                                </a:rPr>
                              </m:ctrlPr>
                            </m:fPr>
                            <m:num>
                              <m:nary>
                                <m:naryPr>
                                  <m:chr m:val="∑"/>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𝑖</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sub>
                                <m:sup>
                                  <m:r>
                                    <a:rPr lang="zh-CN" altLang="en-US" sz="2400" i="1">
                                      <a:solidFill>
                                        <a:schemeClr val="bg1"/>
                                      </a:solidFill>
                                      <a:latin typeface="Cambria Math" panose="02040503050406030204" pitchFamily="18" charset="0"/>
                                    </a:rPr>
                                    <m:t>𝑛</m:t>
                                  </m:r>
                                </m:sup>
                                <m:e>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𝐷</m:t>
                                      </m:r>
                                    </m:e>
                                    <m:sub>
                                      <m:r>
                                        <a:rPr lang="zh-CN" altLang="en-US" sz="2400" i="1">
                                          <a:solidFill>
                                            <a:schemeClr val="bg1"/>
                                          </a:solidFill>
                                          <a:latin typeface="Cambria Math" panose="02040503050406030204" pitchFamily="18" charset="0"/>
                                        </a:rPr>
                                        <m:t>𝑖</m:t>
                                      </m:r>
                                    </m:sub>
                                  </m:sSub>
                                  <m:r>
                                    <a:rPr lang="zh-CN" altLang="en-US" sz="2400" i="1">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zh-CN" altLang="en-US" sz="2400" i="1">
                                          <a:solidFill>
                                            <a:schemeClr val="bg1"/>
                                          </a:solidFill>
                                          <a:latin typeface="Cambria Math" panose="02040503050406030204" pitchFamily="18" charset="0"/>
                                        </a:rPr>
                                        <m:t>𝐷</m:t>
                                      </m:r>
                                    </m:e>
                                  </m:ba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m:t>
                                      </m:r>
                                    </m:e>
                                    <m:sup>
                                      <m:r>
                                        <a:rPr lang="zh-CN" altLang="en-US" sz="2400" i="1">
                                          <a:solidFill>
                                            <a:schemeClr val="bg1"/>
                                          </a:solidFill>
                                          <a:latin typeface="Cambria Math" panose="02040503050406030204" pitchFamily="18" charset="0"/>
                                        </a:rPr>
                                        <m:t>2</m:t>
                                      </m:r>
                                    </m:sup>
                                  </m:sSup>
                                </m:e>
                              </m:nary>
                            </m:num>
                            <m:den>
                              <m:r>
                                <a:rPr lang="en-US" altLang="zh-CN" sz="2400" i="1">
                                  <a:solidFill>
                                    <a:schemeClr val="bg1"/>
                                  </a:solidFill>
                                  <a:latin typeface="Cambria Math" panose="02040503050406030204" pitchFamily="18" charset="0"/>
                                </a:rPr>
                                <m:t>𝑛</m:t>
                              </m:r>
                              <m:r>
                                <a:rPr lang="en-US" altLang="zh-CN"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𝑛</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r>
                                <a:rPr lang="zh-CN" altLang="en-US" sz="2400" i="1">
                                  <a:solidFill>
                                    <a:schemeClr val="bg1"/>
                                  </a:solidFill>
                                  <a:latin typeface="Cambria Math" panose="02040503050406030204" pitchFamily="18" charset="0"/>
                                </a:rPr>
                                <m:t>)</m:t>
                              </m:r>
                            </m:den>
                          </m:f>
                        </m:e>
                      </m:rad>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i="1" smtClean="0">
                          <a:solidFill>
                            <a:schemeClr val="bg1"/>
                          </a:solidFill>
                          <a:latin typeface="Cambria Math" panose="02040503050406030204" pitchFamily="18" charset="0"/>
                        </a:rPr>
                        <m:t>2</m:t>
                      </m:r>
                      <m:r>
                        <a:rPr lang="en-US" altLang="zh-CN" sz="2400" b="0" i="1" smtClean="0">
                          <a:solidFill>
                            <a:srgbClr val="C00000"/>
                          </a:solidFill>
                          <a:latin typeface="Cambria Math" panose="02040503050406030204" pitchFamily="18" charset="0"/>
                        </a:rPr>
                        <m:t>4</m:t>
                      </m:r>
                      <m:m>
                        <m:mPr>
                          <m:mcs>
                            <m:mc>
                              <m:mcPr>
                                <m:count m:val="2"/>
                                <m:mcJc m:val="center"/>
                              </m:mcPr>
                            </m:mc>
                          </m:mcs>
                          <m:plcHide m:val="on"/>
                          <m:ctrlPr>
                            <a:rPr lang="zh-CN" altLang="en-US" sz="2400" i="1">
                              <a:solidFill>
                                <a:schemeClr val="bg1"/>
                              </a:solidFill>
                              <a:latin typeface="Cambria Math" panose="02040503050406030204" pitchFamily="18" charset="0"/>
                            </a:rPr>
                          </m:ctrlPr>
                        </m:mPr>
                        <m:mr>
                          <m:e>
                            <m:r>
                              <m:rPr>
                                <m:nor/>
                              </m:rPr>
                              <a:rPr lang="en-US" altLang="zh-CN" sz="2400">
                                <a:solidFill>
                                  <a:schemeClr val="bg1"/>
                                </a:solidFill>
                                <a:latin typeface="微软雅黑" panose="020B0503020204020204" pitchFamily="34" charset="-122"/>
                                <a:ea typeface="微软雅黑" panose="020B0503020204020204" pitchFamily="34" charset="-122"/>
                              </a:rPr>
                              <m:t> </m:t>
                            </m:r>
                            <m:r>
                              <m:rPr>
                                <m:nor/>
                              </m:rPr>
                              <a:rPr lang="zh-CN" altLang="en-US" sz="2400">
                                <a:solidFill>
                                  <a:schemeClr val="bg1"/>
                                </a:solidFill>
                                <a:latin typeface="微软雅黑" panose="020B0503020204020204" pitchFamily="34" charset="-122"/>
                                <a:ea typeface="微软雅黑" panose="020B0503020204020204" pitchFamily="34" charset="-122"/>
                              </a:rPr>
                              <m:t>mm</m:t>
                            </m:r>
                          </m:e>
                          <m:e/>
                        </m:mr>
                      </m:m>
                    </m:oMath>
                  </m:oMathPara>
                </a14:m>
                <a:endParaRPr lang="zh-CN" altLang="en-US" sz="2400" dirty="0">
                  <a:solidFill>
                    <a:schemeClr val="bg1"/>
                  </a:solidFill>
                  <a:latin typeface="微软雅黑" panose="020B0503020204020204" pitchFamily="34" charset="-122"/>
                  <a:ea typeface="微软雅黑" panose="020B0503020204020204" pitchFamily="34" charset="-122"/>
                </a:endParaRPr>
              </a:p>
            </p:txBody>
          </p:sp>
        </mc:Choice>
        <mc:Fallback>
          <p:sp>
            <p:nvSpPr>
              <p:cNvPr id="19" name="对象 18"/>
              <p:cNvSpPr txBox="1">
                <a:spLocks noRot="1" noChangeAspect="1" noMove="1" noResize="1" noEditPoints="1" noAdjustHandles="1" noChangeArrowheads="1" noChangeShapeType="1" noTextEdit="1"/>
              </p:cNvSpPr>
              <p:nvPr/>
            </p:nvSpPr>
            <p:spPr bwMode="auto">
              <a:xfrm>
                <a:off x="3931313" y="4125064"/>
                <a:ext cx="6531186" cy="781050"/>
              </a:xfrm>
              <a:prstGeom prst="rect">
                <a:avLst/>
              </a:prstGeom>
              <a:blipFill rotWithShape="1">
                <a:blip r:embed="rId2"/>
                <a:stretch>
                  <a:fillRect t="-13" r="4" b="-43483"/>
                </a:stretch>
              </a:blipFill>
              <a:ln>
                <a:noFill/>
              </a:ln>
              <a:effectLst/>
            </p:spPr>
            <p:txBody>
              <a:bodyPr/>
              <a:lstStyle/>
              <a:p>
                <a:r>
                  <a:rPr lang="zh-CN" altLang="en-US">
                    <a:noFill/>
                  </a:rPr>
                  <a:t> </a:t>
                </a:r>
              </a:p>
            </p:txBody>
          </p:sp>
        </mc:Fallback>
      </mc:AlternateContent>
      <p:graphicFrame>
        <p:nvGraphicFramePr>
          <p:cNvPr id="21" name="Group 6"/>
          <p:cNvGraphicFramePr/>
          <p:nvPr/>
        </p:nvGraphicFramePr>
        <p:xfrm>
          <a:off x="767408" y="2216201"/>
          <a:ext cx="10225137" cy="457837"/>
        </p:xfrm>
        <a:graphic>
          <a:graphicData uri="http://schemas.openxmlformats.org/drawingml/2006/table">
            <a:tbl>
              <a:tblPr>
                <a:tableStyleId>{5940675A-B579-460E-94D1-54222C63F5DA}</a:tableStyleId>
              </a:tblPr>
              <a:tblGrid>
                <a:gridCol w="929446"/>
                <a:gridCol w="929447"/>
                <a:gridCol w="930672"/>
                <a:gridCol w="928223"/>
                <a:gridCol w="930672"/>
                <a:gridCol w="929446"/>
                <a:gridCol w="929446"/>
                <a:gridCol w="929446"/>
                <a:gridCol w="929446"/>
                <a:gridCol w="929446"/>
                <a:gridCol w="929447"/>
              </a:tblGrid>
              <a:tr h="45783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i="1"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D</a:t>
                      </a: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/mm</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12.337</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12.349</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12.333</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12.353</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12.339</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12.352</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12.345</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12.348</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12.356</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a:ln>
                            <a:solidFill>
                              <a:srgbClr val="0070C0"/>
                            </a:solidFill>
                          </a:ln>
                          <a:solidFill>
                            <a:sysClr val="windowText" lastClr="000000"/>
                          </a:solidFill>
                          <a:effectLst/>
                          <a:latin typeface="Times New Roman" panose="02020603050405020304" pitchFamily="18" charset="0"/>
                          <a:cs typeface="Times New Roman" panose="02020603050405020304" pitchFamily="18" charset="0"/>
                        </a:rPr>
                        <a:t>12.340</a:t>
                      </a:r>
                      <a:endParaRPr kumimoji="0" lang="en-US" altLang="zh-CN" sz="2000" b="0" i="0" u="none" strike="noStrike" cap="none" normalizeH="0" baseline="0" dirty="0">
                        <a:ln>
                          <a:solidFill>
                            <a:srgbClr val="0070C0"/>
                          </a:solid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
        <p:nvSpPr>
          <p:cNvPr id="24" name="TextBox 13"/>
          <p:cNvSpPr txBox="1"/>
          <p:nvPr/>
        </p:nvSpPr>
        <p:spPr>
          <a:xfrm>
            <a:off x="900055" y="4388683"/>
            <a:ext cx="3057247" cy="584775"/>
          </a:xfrm>
          <a:prstGeom prst="rect">
            <a:avLst/>
          </a:prstGeom>
          <a:noFill/>
        </p:spPr>
        <p:txBody>
          <a:bodyPr wrap="none" rtlCol="0">
            <a:spAutoFit/>
          </a:bodyPr>
          <a:lstStyle/>
          <a:p>
            <a:pPr eaLnBrk="1" fontAlgn="auto" hangingPunct="1">
              <a:spcBef>
                <a:spcPts val="0"/>
              </a:spcBef>
              <a:spcAft>
                <a:spcPts val="0"/>
              </a:spcAft>
            </a:pPr>
            <a:r>
              <a:rPr lang="zh-CN" altLang="en-US" sz="3200" dirty="0">
                <a:solidFill>
                  <a:schemeClr val="bg1"/>
                </a:solidFill>
                <a:latin typeface="微软雅黑" panose="020B0503020204020204" pitchFamily="34" charset="-122"/>
                <a:ea typeface="微软雅黑" panose="020B0503020204020204" pitchFamily="34" charset="-122"/>
              </a:rPr>
              <a:t>标准不确定度：</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900055" y="5489789"/>
            <a:ext cx="6996145" cy="1130246"/>
          </a:xfrm>
          <a:prstGeom prst="rect">
            <a:avLst/>
          </a:prstGeom>
          <a:noFill/>
          <a:ln w="28575">
            <a:solidFill>
              <a:schemeClr val="accent1"/>
            </a:solid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lnSpc>
                <a:spcPct val="150000"/>
              </a:lnSpc>
            </a:pP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注意：此时并未完成关于</a:t>
            </a:r>
            <a:r>
              <a:rPr lang="en-US" altLang="zh-CN" sz="24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的所有不确定度评定！</a:t>
            </a:r>
            <a:endPar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50000"/>
              </a:lnSpc>
            </a:pP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计算中作为中间过程，所有数值多保留了</a:t>
            </a:r>
            <a:r>
              <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位数字</a:t>
            </a:r>
            <a:endParaRPr lang="en-US" altLang="zh-CN" sz="24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11" grpId="0"/>
      <p:bldP spid="19" grpId="0"/>
      <p:bldP spid="24" grpId="0"/>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gray">
          <a:xfrm>
            <a:off x="1286978" y="544662"/>
            <a:ext cx="8233540" cy="48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黑体" panose="02010609060101010101" pitchFamily="49" charset="-122"/>
              </a:defRPr>
            </a:lvl1pPr>
            <a:lvl2pPr marL="742950" indent="-285750">
              <a:defRPr>
                <a:solidFill>
                  <a:schemeClr val="tx1"/>
                </a:solidFill>
                <a:latin typeface="Arial" panose="020B0604020202020204" pitchFamily="34" charset="0"/>
                <a:ea typeface="黑体" panose="02010609060101010101" pitchFamily="49" charset="-122"/>
              </a:defRPr>
            </a:lvl2pPr>
            <a:lvl3pPr marL="1143000" indent="-228600">
              <a:defRPr>
                <a:solidFill>
                  <a:schemeClr val="tx1"/>
                </a:solidFill>
                <a:latin typeface="Arial" panose="020B0604020202020204" pitchFamily="34" charset="0"/>
                <a:ea typeface="黑体" panose="02010609060101010101" pitchFamily="49" charset="-122"/>
              </a:defRPr>
            </a:lvl3pPr>
            <a:lvl4pPr marL="1600200" indent="-228600">
              <a:defRPr>
                <a:solidFill>
                  <a:schemeClr val="tx1"/>
                </a:solidFill>
                <a:latin typeface="Arial" panose="020B0604020202020204" pitchFamily="34" charset="0"/>
                <a:ea typeface="黑体" panose="02010609060101010101" pitchFamily="49" charset="-122"/>
              </a:defRPr>
            </a:lvl4pPr>
            <a:lvl5pPr marL="2057400" indent="-228600">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9pPr>
          </a:lstStyle>
          <a:p>
            <a:pPr algn="ctr" defTabSz="685800">
              <a:lnSpc>
                <a:spcPts val="2700"/>
              </a:lnSpc>
            </a:pPr>
            <a:r>
              <a:rPr lang="zh-CN" altLang="en-US" sz="4400" b="1" dirty="0">
                <a:solidFill>
                  <a:schemeClr val="bg1"/>
                </a:solidFill>
                <a:latin typeface="微软雅黑" panose="020B0503020204020204" pitchFamily="34" charset="-122"/>
                <a:ea typeface="微软雅黑" panose="020B0503020204020204" pitchFamily="34" charset="-122"/>
              </a:rPr>
              <a:t>标准不确定度的</a:t>
            </a:r>
            <a:r>
              <a:rPr lang="en-US" altLang="zh-CN" sz="4400" b="1" dirty="0">
                <a:solidFill>
                  <a:schemeClr val="bg1"/>
                </a:solidFill>
                <a:latin typeface="微软雅黑" panose="020B0503020204020204" pitchFamily="34" charset="-122"/>
                <a:ea typeface="微软雅黑" panose="020B0503020204020204" pitchFamily="34" charset="-122"/>
              </a:rPr>
              <a:t>B</a:t>
            </a:r>
            <a:r>
              <a:rPr lang="zh-CN" altLang="en-US" sz="4400" b="1" dirty="0">
                <a:solidFill>
                  <a:schemeClr val="bg1"/>
                </a:solidFill>
                <a:latin typeface="微软雅黑" panose="020B0503020204020204" pitchFamily="34" charset="-122"/>
                <a:ea typeface="微软雅黑" panose="020B0503020204020204" pitchFamily="34" charset="-122"/>
              </a:rPr>
              <a:t>类评定</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23392" y="1030949"/>
            <a:ext cx="10945216" cy="5551648"/>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a:spAutoFit/>
          </a:bodyPr>
          <a:lstStyle/>
          <a:p>
            <a:pPr marL="457200" indent="-457200" algn="l">
              <a:lnSpc>
                <a:spcPct val="130000"/>
              </a:lnSpc>
              <a:buFont typeface="Arial" panose="020B0604020202020204" pitchFamily="34" charset="0"/>
              <a:buChar char="•"/>
            </a:pPr>
            <a:r>
              <a:rPr lang="en-US" altLang="zh-CN"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类评定</a:t>
            </a:r>
            <a:endParaRPr lang="en-US" altLang="zh-CN"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30000"/>
              </a:lnSpc>
            </a:pP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适用条件：当被测量的估计值不是由重复观测得到的</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30000"/>
              </a:lnSpc>
            </a:pP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评定方式：由被测量可能变化的全部有关信息来评定</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30000"/>
              </a:lnSpc>
              <a:buFont typeface="Arial" panose="020B0604020202020204" pitchFamily="34" charset="0"/>
              <a:buChar char="•"/>
            </a:pPr>
            <a:r>
              <a:rPr lang="en-US" altLang="zh-CN"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如何评定？依赖于各种非实验性的信息源</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lvl="1">
              <a:spcBef>
                <a:spcPts val="600"/>
              </a:spcBef>
            </a:pP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历史测量数据</a:t>
            </a:r>
            <a:endPar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lvl="1">
              <a:spcBef>
                <a:spcPts val="600"/>
              </a:spcBef>
            </a:pP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校准证书、认证数据</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lvl="1">
              <a:spcBef>
                <a:spcPts val="600"/>
              </a:spcBef>
            </a:pP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制造商技术说明</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lvl="1">
              <a:spcBef>
                <a:spcPts val="600"/>
              </a:spcBef>
            </a:pP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技术经验</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lvl="1">
              <a:spcBef>
                <a:spcPts val="600"/>
              </a:spcBef>
            </a:pP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参考手册数据</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30000"/>
              </a:lnSpc>
              <a:spcBef>
                <a:spcPts val="600"/>
              </a:spcBef>
              <a:buFont typeface="Arial" panose="020B0604020202020204" pitchFamily="34" charset="0"/>
              <a:buChar char="•"/>
            </a:pPr>
            <a:r>
              <a:rPr lang="zh-CN" altLang="en-US"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计算方法：</a:t>
            </a:r>
            <a:endParaRPr lang="en-US" altLang="zh-CN"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30000"/>
              </a:lnSpc>
              <a:spcBef>
                <a:spcPts val="600"/>
              </a:spcBef>
            </a:pP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假定数据服从某种特定的分布规律，求该分布的实验标准差</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03610"/>
            <a:ext cx="10972800" cy="1143000"/>
          </a:xfrm>
        </p:spPr>
        <p:txBody>
          <a:bodyPr/>
          <a:lstStyle/>
          <a:p>
            <a:r>
              <a:rPr lang="zh-CN" altLang="en-US" dirty="0">
                <a:solidFill>
                  <a:schemeClr val="bg1"/>
                </a:solidFill>
                <a:latin typeface="微软雅黑" panose="020B0503020204020204" pitchFamily="34" charset="-122"/>
                <a:ea typeface="微软雅黑" panose="020B0503020204020204" pitchFamily="34" charset="-122"/>
              </a:rPr>
              <a:t>常见情形：测量工具（仪器）的影响</a:t>
            </a:r>
            <a:endParaRPr lang="zh-CN" altLang="en-US"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内容占位符 4"/>
              <p:cNvSpPr txBox="1">
                <a:spLocks noGrp="1"/>
              </p:cNvSpPr>
              <p:nvPr>
                <p:ph idx="1"/>
              </p:nvPr>
            </p:nvSpPr>
            <p:spPr>
              <a:xfrm>
                <a:off x="418033" y="3212976"/>
                <a:ext cx="5533952" cy="2655599"/>
              </a:xfrm>
              <a:prstGeom prst="rect">
                <a:avLst/>
              </a:prstGeom>
              <a:noFill/>
            </p:spPr>
            <p:txBody>
              <a:bodyPr wrap="square">
                <a:spAutoFit/>
              </a:bodyPr>
              <a:lstStyle/>
              <a:p>
                <a:pPr marL="0" indent="0">
                  <a:lnSpc>
                    <a:spcPct val="120000"/>
                  </a:lnSpc>
                  <a:spcBef>
                    <a:spcPts val="600"/>
                  </a:spcBef>
                  <a:buNone/>
                </a:pPr>
                <a14:m>
                  <m:oMath xmlns:m="http://schemas.openxmlformats.org/officeDocument/2006/math">
                    <m:r>
                      <a:rPr lang="en-US" altLang="zh-CN" sz="2400" b="1" i="1" dirty="0" smtClean="0">
                        <a:solidFill>
                          <a:schemeClr val="bg1"/>
                        </a:solidFill>
                        <a:latin typeface="Cambria Math" panose="02040503050406030204" pitchFamily="18" charset="0"/>
                        <a:ea typeface="宋体" panose="02010600030101010101" pitchFamily="2" charset="-122"/>
                      </a:rPr>
                      <m:t>𝒂</m:t>
                    </m:r>
                  </m:oMath>
                </a14:m>
                <a:r>
                  <a:rPr lang="zh-CN" altLang="en-US" sz="2400" b="1" dirty="0">
                    <a:solidFill>
                      <a:schemeClr val="bg1"/>
                    </a:solidFill>
                    <a:latin typeface="微软雅黑" panose="020B0503020204020204" pitchFamily="34" charset="-122"/>
                    <a:ea typeface="微软雅黑" panose="020B0503020204020204" pitchFamily="34" charset="-122"/>
                  </a:rPr>
                  <a:t>：仪器</a:t>
                </a:r>
                <a:r>
                  <a:rPr lang="zh-CN" altLang="en-US" sz="2400" b="1" i="0" dirty="0">
                    <a:solidFill>
                      <a:schemeClr val="bg1"/>
                    </a:solidFill>
                    <a:effectLst/>
                    <a:latin typeface="微软雅黑" panose="020B0503020204020204" pitchFamily="34" charset="-122"/>
                    <a:ea typeface="微软雅黑" panose="020B0503020204020204" pitchFamily="34" charset="-122"/>
                  </a:rPr>
                  <a:t>最大允许误差</a:t>
                </a:r>
                <a:r>
                  <a:rPr lang="zh-CN" altLang="en-US" sz="2400" b="0" i="0" dirty="0">
                    <a:solidFill>
                      <a:schemeClr val="bg1"/>
                    </a:solidFill>
                    <a:effectLst/>
                    <a:latin typeface="微软雅黑" panose="020B0503020204020204" pitchFamily="34" charset="-122"/>
                    <a:ea typeface="微软雅黑" panose="020B0503020204020204" pitchFamily="34" charset="-122"/>
                  </a:rPr>
                  <a:t>（又称为“示值误差限”）</a:t>
                </a:r>
                <a:endParaRPr lang="zh-CN" altLang="en-US" sz="2400" b="0" i="0" dirty="0">
                  <a:solidFill>
                    <a:schemeClr val="bg1"/>
                  </a:solidFill>
                  <a:effectLst/>
                  <a:latin typeface="微软雅黑" panose="020B0503020204020204" pitchFamily="34" charset="-122"/>
                  <a:ea typeface="微软雅黑" panose="020B0503020204020204" pitchFamily="34" charset="-122"/>
                </a:endParaRPr>
              </a:p>
              <a:p>
                <a:pPr lvl="1">
                  <a:lnSpc>
                    <a:spcPct val="120000"/>
                  </a:lnSpc>
                  <a:spcBef>
                    <a:spcPts val="600"/>
                  </a:spcBef>
                </a:pPr>
                <a:r>
                  <a:rPr lang="zh-CN" altLang="en-US" sz="2000" b="0" i="0" dirty="0">
                    <a:solidFill>
                      <a:schemeClr val="bg1"/>
                    </a:solidFill>
                    <a:effectLst/>
                    <a:latin typeface="微软雅黑" panose="020B0503020204020204" pitchFamily="34" charset="-122"/>
                    <a:ea typeface="微软雅黑" panose="020B0503020204020204" pitchFamily="34" charset="-122"/>
                  </a:rPr>
                  <a:t>通常在产品说明书或手册中标明</a:t>
                </a:r>
                <a:endParaRPr lang="en-US" altLang="zh-CN" sz="2000" b="0" i="0" dirty="0">
                  <a:solidFill>
                    <a:schemeClr val="bg1"/>
                  </a:solidFill>
                  <a:effectLst/>
                  <a:latin typeface="微软雅黑" panose="020B0503020204020204" pitchFamily="34" charset="-122"/>
                  <a:ea typeface="微软雅黑" panose="020B0503020204020204" pitchFamily="34" charset="-122"/>
                </a:endParaRPr>
              </a:p>
              <a:p>
                <a:pPr lvl="1">
                  <a:lnSpc>
                    <a:spcPct val="120000"/>
                  </a:lnSpc>
                  <a:spcBef>
                    <a:spcPts val="600"/>
                  </a:spcBef>
                </a:pPr>
                <a:r>
                  <a:rPr lang="zh-CN" altLang="en-US" sz="2000" dirty="0">
                    <a:solidFill>
                      <a:schemeClr val="bg1"/>
                    </a:solidFill>
                    <a:latin typeface="微软雅黑" panose="020B0503020204020204" pitchFamily="34" charset="-122"/>
                    <a:ea typeface="微软雅黑" panose="020B0503020204020204" pitchFamily="34" charset="-122"/>
                  </a:rPr>
                  <a:t>大约对应于仪器最小分度值</a:t>
                </a:r>
                <a:endParaRPr lang="en-US" altLang="zh-CN" sz="2000" dirty="0">
                  <a:solidFill>
                    <a:schemeClr val="bg1"/>
                  </a:solidFill>
                  <a:latin typeface="微软雅黑" panose="020B0503020204020204" pitchFamily="34" charset="-122"/>
                  <a:ea typeface="微软雅黑" panose="020B0503020204020204" pitchFamily="34" charset="-122"/>
                </a:endParaRPr>
              </a:p>
              <a:p>
                <a:pPr lvl="1">
                  <a:lnSpc>
                    <a:spcPct val="120000"/>
                  </a:lnSpc>
                  <a:spcBef>
                    <a:spcPts val="600"/>
                  </a:spcBef>
                </a:pPr>
                <a:r>
                  <a:rPr lang="zh-CN" altLang="en-US" sz="2000" b="0" i="0" dirty="0">
                    <a:solidFill>
                      <a:schemeClr val="bg1"/>
                    </a:solidFill>
                    <a:effectLst/>
                    <a:latin typeface="微软雅黑" panose="020B0503020204020204" pitchFamily="34" charset="-122"/>
                    <a:ea typeface="微软雅黑" panose="020B0503020204020204" pitchFamily="34" charset="-122"/>
                  </a:rPr>
                  <a:t>包括仪器生产中的系统误差和正常使用中的随机涨落</a:t>
                </a:r>
                <a:endParaRPr lang="en-US" altLang="zh-CN" sz="2000" dirty="0">
                  <a:solidFill>
                    <a:schemeClr val="bg1"/>
                  </a:solidFill>
                  <a:latin typeface="微软雅黑" panose="020B0503020204020204" pitchFamily="34" charset="-122"/>
                  <a:ea typeface="微软雅黑" panose="020B0503020204020204" pitchFamily="34" charset="-122"/>
                </a:endParaRPr>
              </a:p>
            </p:txBody>
          </p:sp>
        </mc:Choice>
        <mc:Fallback>
          <p:sp>
            <p:nvSpPr>
              <p:cNvPr id="5" name="内容占位符 4"/>
              <p:cNvSpPr txBox="1">
                <a:spLocks noRot="1" noChangeAspect="1" noMove="1" noResize="1" noEditPoints="1" noAdjustHandles="1" noChangeArrowheads="1" noChangeShapeType="1" noTextEdit="1"/>
              </p:cNvSpPr>
              <p:nvPr>
                <p:ph idx="1"/>
              </p:nvPr>
            </p:nvSpPr>
            <p:spPr>
              <a:xfrm>
                <a:off x="418033" y="3212976"/>
                <a:ext cx="5533952" cy="2655599"/>
              </a:xfrm>
              <a:prstGeom prst="rect">
                <a:avLst/>
              </a:prstGeom>
              <a:blipFill rotWithShape="1">
                <a:blip r:embed="rId1"/>
                <a:stretch>
                  <a:fillRect l="-4" t="-19" r="2" b="20"/>
                </a:stretch>
              </a:blipFill>
            </p:spPr>
            <p:txBody>
              <a:bodyPr/>
              <a:lstStyle/>
              <a:p>
                <a:r>
                  <a:rPr lang="zh-CN" altLang="en-US">
                    <a:noFill/>
                  </a:rPr>
                  <a:t> </a:t>
                </a:r>
              </a:p>
            </p:txBody>
          </p:sp>
        </mc:Fallback>
      </mc:AlternateContent>
      <p:pic>
        <p:nvPicPr>
          <p:cNvPr id="6" name="图片 5"/>
          <p:cNvPicPr>
            <a:picLocks noChangeAspect="1"/>
          </p:cNvPicPr>
          <p:nvPr/>
        </p:nvPicPr>
        <p:blipFill rotWithShape="1">
          <a:blip r:embed="rId2"/>
          <a:srcRect l="5198" t="26967" r="3516" b="2887"/>
          <a:stretch>
            <a:fillRect/>
          </a:stretch>
        </p:blipFill>
        <p:spPr>
          <a:xfrm>
            <a:off x="6687224" y="3753859"/>
            <a:ext cx="4945458" cy="2888767"/>
          </a:xfrm>
          <a:prstGeom prst="rect">
            <a:avLst/>
          </a:prstGeom>
        </p:spPr>
      </p:pic>
      <p:grpSp>
        <p:nvGrpSpPr>
          <p:cNvPr id="11" name="组合 10"/>
          <p:cNvGrpSpPr/>
          <p:nvPr/>
        </p:nvGrpSpPr>
        <p:grpSpPr>
          <a:xfrm>
            <a:off x="7194419" y="6263999"/>
            <a:ext cx="4258183" cy="378628"/>
            <a:chOff x="7633195" y="5488556"/>
            <a:chExt cx="4258183" cy="378628"/>
          </a:xfrm>
        </p:grpSpPr>
        <mc:AlternateContent xmlns:mc="http://schemas.openxmlformats.org/markup-compatibility/2006">
          <mc:Choice xmlns:a14="http://schemas.microsoft.com/office/drawing/2010/main" Requires="a14">
            <p:sp>
              <p:nvSpPr>
                <p:cNvPr id="7" name="文本框 6"/>
                <p:cNvSpPr txBox="1"/>
                <p:nvPr/>
              </p:nvSpPr>
              <p:spPr>
                <a:xfrm>
                  <a:off x="7633195" y="5523115"/>
                  <a:ext cx="1117229" cy="34406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000" b="0" i="1" smtClean="0">
                            <a:solidFill>
                              <a:schemeClr val="bg1"/>
                            </a:solidFill>
                            <a:latin typeface="Cambria Math" panose="02040503050406030204" pitchFamily="18" charset="0"/>
                          </a:rPr>
                          <m:t>𝑥</m:t>
                        </m:r>
                        <m:r>
                          <a:rPr lang="en-US" altLang="zh-CN"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𝑎</m:t>
                        </m:r>
                        <m:r>
                          <a:rPr lang="en-US" altLang="zh-CN" sz="2000" b="0" i="1" smtClean="0">
                            <a:solidFill>
                              <a:schemeClr val="bg1"/>
                            </a:solidFill>
                            <a:latin typeface="Cambria Math" panose="02040503050406030204" pitchFamily="18" charset="0"/>
                          </a:rPr>
                          <m:t>/</m:t>
                        </m:r>
                        <m:rad>
                          <m:radPr>
                            <m:degHide m:val="on"/>
                            <m:ctrlPr>
                              <a:rPr lang="en-US" altLang="zh-CN" sz="2000" b="1" i="1" dirty="0">
                                <a:solidFill>
                                  <a:schemeClr val="bg1"/>
                                </a:solidFill>
                                <a:latin typeface="Cambria Math" panose="02040503050406030204" pitchFamily="18" charset="0"/>
                              </a:rPr>
                            </m:ctrlPr>
                          </m:radPr>
                          <m:deg/>
                          <m:e>
                            <m:r>
                              <a:rPr lang="en-US" altLang="zh-CN" sz="2000" b="1" i="1" dirty="0">
                                <a:solidFill>
                                  <a:schemeClr val="bg1"/>
                                </a:solidFill>
                                <a:latin typeface="Cambria Math" panose="02040503050406030204" pitchFamily="18" charset="0"/>
                              </a:rPr>
                              <m:t>𝟑</m:t>
                            </m:r>
                          </m:e>
                        </m:rad>
                      </m:oMath>
                    </m:oMathPara>
                  </a14:m>
                  <a:endParaRPr lang="zh-CN" altLang="en-US" sz="2000" dirty="0">
                    <a:solidFill>
                      <a:schemeClr val="bg1"/>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7633195" y="5523115"/>
                  <a:ext cx="1117229" cy="344069"/>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10774149" y="5488556"/>
                  <a:ext cx="1117229" cy="34406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000" b="0" i="1" smtClean="0">
                            <a:solidFill>
                              <a:schemeClr val="bg1"/>
                            </a:solidFill>
                            <a:latin typeface="Cambria Math" panose="02040503050406030204" pitchFamily="18" charset="0"/>
                          </a:rPr>
                          <m:t>𝑥</m:t>
                        </m:r>
                        <m:r>
                          <a:rPr lang="en-US" altLang="zh-CN"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𝑎</m:t>
                        </m:r>
                        <m:r>
                          <a:rPr lang="en-US" altLang="zh-CN" sz="2000" b="0" i="1" smtClean="0">
                            <a:solidFill>
                              <a:schemeClr val="bg1"/>
                            </a:solidFill>
                            <a:latin typeface="Cambria Math" panose="02040503050406030204" pitchFamily="18" charset="0"/>
                          </a:rPr>
                          <m:t>/</m:t>
                        </m:r>
                        <m:rad>
                          <m:radPr>
                            <m:degHide m:val="on"/>
                            <m:ctrlPr>
                              <a:rPr lang="en-US" altLang="zh-CN" sz="2000" b="1" i="1" dirty="0">
                                <a:solidFill>
                                  <a:schemeClr val="bg1"/>
                                </a:solidFill>
                                <a:latin typeface="Cambria Math" panose="02040503050406030204" pitchFamily="18" charset="0"/>
                              </a:rPr>
                            </m:ctrlPr>
                          </m:radPr>
                          <m:deg/>
                          <m:e>
                            <m:r>
                              <a:rPr lang="en-US" altLang="zh-CN" sz="2000" b="1" i="1" dirty="0">
                                <a:solidFill>
                                  <a:schemeClr val="bg1"/>
                                </a:solidFill>
                                <a:latin typeface="Cambria Math" panose="02040503050406030204" pitchFamily="18" charset="0"/>
                              </a:rPr>
                              <m:t>𝟑</m:t>
                            </m:r>
                          </m:e>
                        </m:rad>
                      </m:oMath>
                    </m:oMathPara>
                  </a14:m>
                  <a:endParaRPr lang="zh-CN" altLang="en-US" sz="2000" dirty="0">
                    <a:solidFill>
                      <a:schemeClr val="bg1"/>
                    </a:solidFill>
                  </a:endParaRPr>
                </a:p>
              </p:txBody>
            </p:sp>
          </mc:Choice>
          <mc:Fallback>
            <p:sp>
              <p:nvSpPr>
                <p:cNvPr id="8" name="文本框 7"/>
                <p:cNvSpPr txBox="1">
                  <a:spLocks noRot="1" noChangeAspect="1" noMove="1" noResize="1" noEditPoints="1" noAdjustHandles="1" noChangeArrowheads="1" noChangeShapeType="1" noTextEdit="1"/>
                </p:cNvSpPr>
                <p:nvPr/>
              </p:nvSpPr>
              <p:spPr>
                <a:xfrm>
                  <a:off x="10774149" y="5488556"/>
                  <a:ext cx="1117229" cy="344069"/>
                </a:xfrm>
                <a:prstGeom prst="rect">
                  <a:avLst/>
                </a:prstGeom>
                <a:blipFill rotWithShape="1">
                  <a:blip r:embed="rId4"/>
                </a:blipFill>
              </p:spPr>
              <p:txBody>
                <a:bodyPr/>
                <a:lstStyle/>
                <a:p>
                  <a:r>
                    <a:rPr lang="zh-CN" altLang="en-US">
                      <a:noFill/>
                    </a:rPr>
                    <a:t> </a:t>
                  </a:r>
                </a:p>
              </p:txBody>
            </p:sp>
          </mc:Fallback>
        </mc:AlternateContent>
        <p:cxnSp>
          <p:nvCxnSpPr>
            <p:cNvPr id="10" name="直接箭头连接符 9"/>
            <p:cNvCxnSpPr>
              <a:stCxn id="7" idx="3"/>
            </p:cNvCxnSpPr>
            <p:nvPr/>
          </p:nvCxnSpPr>
          <p:spPr>
            <a:xfrm flipV="1">
              <a:off x="8750424" y="5517232"/>
              <a:ext cx="441920" cy="177918"/>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2" name="直接箭头连接符 11"/>
            <p:cNvCxnSpPr/>
            <p:nvPr/>
          </p:nvCxnSpPr>
          <p:spPr>
            <a:xfrm flipH="1" flipV="1">
              <a:off x="10160000" y="5526077"/>
              <a:ext cx="576014" cy="169072"/>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grpSp>
      <mc:AlternateContent xmlns:mc="http://schemas.openxmlformats.org/markup-compatibility/2006">
        <mc:Choice xmlns:a14="http://schemas.microsoft.com/office/drawing/2010/main" Requires="a14">
          <p:sp>
            <p:nvSpPr>
              <p:cNvPr id="9" name="矩形 8"/>
              <p:cNvSpPr/>
              <p:nvPr/>
            </p:nvSpPr>
            <p:spPr>
              <a:xfrm>
                <a:off x="6240016" y="1608229"/>
                <a:ext cx="5832648" cy="1908471"/>
              </a:xfrm>
              <a:prstGeom prst="rect">
                <a:avLst/>
              </a:prstGeom>
            </p:spPr>
            <p:txBody>
              <a:bodyPr wrap="square">
                <a:spAutoFit/>
              </a:bodyPr>
              <a:lstStyle/>
              <a:p>
                <a:pPr lvl="0">
                  <a:lnSpc>
                    <a:spcPct val="120000"/>
                  </a:lnSpc>
                  <a:spcBef>
                    <a:spcPts val="600"/>
                  </a:spcBef>
                </a:pPr>
                <a14:m>
                  <m:oMath xmlns:m="http://schemas.openxmlformats.org/officeDocument/2006/math">
                    <m:r>
                      <a:rPr lang="en-US" altLang="zh-CN" sz="2400" b="1" i="1" dirty="0" smtClean="0">
                        <a:solidFill>
                          <a:schemeClr val="bg1"/>
                        </a:solidFill>
                        <a:latin typeface="Cambria Math" panose="02040503050406030204" pitchFamily="18" charset="0"/>
                      </a:rPr>
                      <m:t>𝒄</m:t>
                    </m:r>
                  </m:oMath>
                </a14:m>
                <a:r>
                  <a:rPr lang="en-US" altLang="zh-CN" sz="2400" b="1" dirty="0">
                    <a:solidFill>
                      <a:schemeClr val="bg1"/>
                    </a:solidFill>
                    <a:latin typeface="微软雅黑" panose="020B0503020204020204" pitchFamily="34" charset="-122"/>
                    <a:ea typeface="微软雅黑" panose="020B0503020204020204" pitchFamily="34" charset="-122"/>
                  </a:rPr>
                  <a:t> : </a:t>
                </a:r>
                <a:r>
                  <a:rPr lang="zh-CN" altLang="en-US" sz="2400" b="1" dirty="0">
                    <a:solidFill>
                      <a:schemeClr val="bg1"/>
                    </a:solidFill>
                    <a:latin typeface="微软雅黑" panose="020B0503020204020204" pitchFamily="34" charset="-122"/>
                    <a:ea typeface="微软雅黑" panose="020B0503020204020204" pitchFamily="34" charset="-122"/>
                  </a:rPr>
                  <a:t>和概率分布相关的置信因子</a:t>
                </a:r>
                <a:endParaRPr lang="en-US" altLang="zh-CN" sz="2400" b="1" dirty="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ts val="600"/>
                  </a:spcBef>
                  <a:buFont typeface="Arial" panose="020B0604020202020204" pitchFamily="34" charset="0"/>
                  <a:buChar char="–"/>
                </a:pPr>
                <a:r>
                  <a:rPr lang="zh-CN" altLang="en-US" sz="2000" dirty="0">
                    <a:solidFill>
                      <a:schemeClr val="bg1"/>
                    </a:solidFill>
                    <a:latin typeface="微软雅黑" panose="020B0503020204020204" pitchFamily="34" charset="-122"/>
                    <a:ea typeface="微软雅黑" panose="020B0503020204020204" pitchFamily="34" charset="-122"/>
                  </a:rPr>
                  <a:t>假设为矩形分布（等概率分布）时，</a:t>
                </a:r>
                <a14:m>
                  <m:oMath xmlns:m="http://schemas.openxmlformats.org/officeDocument/2006/math">
                    <m:r>
                      <a:rPr lang="en-US" altLang="zh-CN" sz="2000" i="1" dirty="0">
                        <a:solidFill>
                          <a:schemeClr val="bg1"/>
                        </a:solidFill>
                        <a:latin typeface="Cambria Math" panose="02040503050406030204" pitchFamily="18" charset="0"/>
                      </a:rPr>
                      <m:t>𝑐</m:t>
                    </m:r>
                    <m:r>
                      <a:rPr lang="en-US" altLang="zh-CN" sz="2000" dirty="0">
                        <a:solidFill>
                          <a:schemeClr val="bg1"/>
                        </a:solidFill>
                        <a:latin typeface="Cambria Math" panose="02040503050406030204" pitchFamily="18" charset="0"/>
                      </a:rPr>
                      <m:t>=</m:t>
                    </m:r>
                    <m:rad>
                      <m:radPr>
                        <m:degHide m:val="on"/>
                        <m:ctrlPr>
                          <a:rPr lang="en-US" altLang="zh-CN" sz="2000" i="1" dirty="0">
                            <a:solidFill>
                              <a:schemeClr val="bg1"/>
                            </a:solidFill>
                            <a:latin typeface="Cambria Math" panose="02040503050406030204" pitchFamily="18" charset="0"/>
                          </a:rPr>
                        </m:ctrlPr>
                      </m:radPr>
                      <m:deg/>
                      <m:e>
                        <m:r>
                          <a:rPr lang="en-US" altLang="zh-CN" sz="2000" i="1" dirty="0">
                            <a:solidFill>
                              <a:schemeClr val="bg1"/>
                            </a:solidFill>
                            <a:latin typeface="Cambria Math" panose="02040503050406030204" pitchFamily="18" charset="0"/>
                          </a:rPr>
                          <m:t>3</m:t>
                        </m:r>
                      </m:e>
                    </m:rad>
                  </m:oMath>
                </a14:m>
                <a:r>
                  <a:rPr lang="en-US" altLang="zh-CN" sz="2000" dirty="0">
                    <a:solidFill>
                      <a:schemeClr val="bg1"/>
                    </a:solidFill>
                    <a:latin typeface="微软雅黑" panose="020B0503020204020204" pitchFamily="34" charset="-122"/>
                    <a:ea typeface="微软雅黑" panose="020B0503020204020204" pitchFamily="34" charset="-122"/>
                  </a:rPr>
                  <a:t> </a:t>
                </a:r>
                <a:endParaRPr lang="en-US" altLang="zh-CN" sz="2000" dirty="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ts val="600"/>
                  </a:spcBef>
                  <a:buFont typeface="Arial" panose="020B0604020202020204" pitchFamily="34" charset="0"/>
                  <a:buChar char="–"/>
                </a:pPr>
                <a:r>
                  <a:rPr lang="zh-CN" altLang="en-US" sz="2000" dirty="0">
                    <a:solidFill>
                      <a:schemeClr val="bg1"/>
                    </a:solidFill>
                    <a:latin typeface="微软雅黑" panose="020B0503020204020204" pitchFamily="34" charset="-122"/>
                    <a:ea typeface="微软雅黑" panose="020B0503020204020204" pitchFamily="34" charset="-122"/>
                  </a:rPr>
                  <a:t>假设为正态分布时，</a:t>
                </a:r>
                <a:r>
                  <a:rPr lang="en-US" altLang="zh-CN" sz="2000" dirty="0">
                    <a:solidFill>
                      <a:schemeClr val="bg1"/>
                    </a:solidFill>
                    <a:latin typeface="Verdana" panose="020B0604030504040204"/>
                  </a:rPr>
                  <a:t> </a:t>
                </a:r>
                <a14:m>
                  <m:oMath xmlns:m="http://schemas.openxmlformats.org/officeDocument/2006/math">
                    <m:r>
                      <a:rPr lang="en-US" altLang="zh-CN" sz="2000" i="1" dirty="0">
                        <a:solidFill>
                          <a:schemeClr val="bg1"/>
                        </a:solidFill>
                        <a:latin typeface="Cambria Math" panose="02040503050406030204" pitchFamily="18" charset="0"/>
                      </a:rPr>
                      <m:t>𝑐</m:t>
                    </m:r>
                    <m:r>
                      <a:rPr lang="en-US" altLang="zh-CN" sz="2000" dirty="0">
                        <a:solidFill>
                          <a:schemeClr val="bg1"/>
                        </a:solidFill>
                        <a:latin typeface="Cambria Math" panose="02040503050406030204" pitchFamily="18" charset="0"/>
                      </a:rPr>
                      <m:t>=</m:t>
                    </m:r>
                    <m:r>
                      <a:rPr lang="en-US" altLang="zh-CN" sz="2000" i="1" dirty="0">
                        <a:solidFill>
                          <a:schemeClr val="bg1"/>
                        </a:solidFill>
                        <a:latin typeface="Cambria Math" panose="02040503050406030204" pitchFamily="18" charset="0"/>
                      </a:rPr>
                      <m:t>3</m:t>
                    </m:r>
                  </m:oMath>
                </a14:m>
                <a:endParaRPr lang="en-US" altLang="zh-CN" sz="2000" dirty="0">
                  <a:solidFill>
                    <a:schemeClr val="bg1"/>
                  </a:solidFill>
                  <a:latin typeface="Verdana" panose="020B0604030504040204"/>
                </a:endParaRPr>
              </a:p>
              <a:p>
                <a:pPr marL="742950" lvl="1" indent="-285750">
                  <a:lnSpc>
                    <a:spcPct val="120000"/>
                  </a:lnSpc>
                  <a:spcBef>
                    <a:spcPts val="600"/>
                  </a:spcBef>
                  <a:buFont typeface="Arial" panose="020B0604020202020204" pitchFamily="34" charset="0"/>
                  <a:buChar char="–"/>
                </a:pPr>
                <a:r>
                  <a:rPr lang="zh-CN" altLang="en-US" sz="2000" dirty="0">
                    <a:solidFill>
                      <a:schemeClr val="bg1"/>
                    </a:solidFill>
                    <a:latin typeface="微软雅黑" panose="020B0503020204020204" pitchFamily="34" charset="-122"/>
                    <a:ea typeface="微软雅黑" panose="020B0503020204020204" pitchFamily="34" charset="-122"/>
                  </a:rPr>
                  <a:t>假设为三角分布时，</a:t>
                </a:r>
                <a:r>
                  <a:rPr lang="en-US" altLang="zh-CN" sz="2000" dirty="0">
                    <a:solidFill>
                      <a:schemeClr val="bg1"/>
                    </a:solidFill>
                  </a:rPr>
                  <a:t> </a:t>
                </a:r>
                <a14:m>
                  <m:oMath xmlns:m="http://schemas.openxmlformats.org/officeDocument/2006/math">
                    <m:r>
                      <a:rPr lang="en-US" altLang="zh-CN" sz="2000" i="1" dirty="0">
                        <a:solidFill>
                          <a:schemeClr val="bg1"/>
                        </a:solidFill>
                        <a:latin typeface="Cambria Math" panose="02040503050406030204" pitchFamily="18" charset="0"/>
                      </a:rPr>
                      <m:t>𝑐</m:t>
                    </m:r>
                    <m:r>
                      <a:rPr lang="en-US" altLang="zh-CN" sz="2000" dirty="0">
                        <a:solidFill>
                          <a:schemeClr val="bg1"/>
                        </a:solidFill>
                        <a:latin typeface="Cambria Math" panose="02040503050406030204" pitchFamily="18" charset="0"/>
                      </a:rPr>
                      <m:t>=</m:t>
                    </m:r>
                    <m:rad>
                      <m:radPr>
                        <m:degHide m:val="on"/>
                        <m:ctrlPr>
                          <a:rPr lang="en-US" altLang="zh-CN" sz="2000" i="1" dirty="0">
                            <a:solidFill>
                              <a:schemeClr val="bg1"/>
                            </a:solidFill>
                            <a:latin typeface="Cambria Math" panose="02040503050406030204" pitchFamily="18" charset="0"/>
                          </a:rPr>
                        </m:ctrlPr>
                      </m:radPr>
                      <m:deg/>
                      <m:e>
                        <m:r>
                          <a:rPr lang="en-US" altLang="zh-CN" sz="2000" b="0" i="1" dirty="0" smtClean="0">
                            <a:solidFill>
                              <a:schemeClr val="bg1"/>
                            </a:solidFill>
                            <a:latin typeface="Cambria Math" panose="02040503050406030204" pitchFamily="18" charset="0"/>
                          </a:rPr>
                          <m:t>6</m:t>
                        </m:r>
                      </m:e>
                    </m:rad>
                  </m:oMath>
                </a14:m>
                <a:r>
                  <a:rPr lang="en-US" altLang="zh-CN" sz="2000" dirty="0">
                    <a:solidFill>
                      <a:schemeClr val="bg1"/>
                    </a:solidFill>
                    <a:latin typeface="微软雅黑" panose="020B0503020204020204" pitchFamily="34" charset="-122"/>
                    <a:ea typeface="微软雅黑" panose="020B0503020204020204" pitchFamily="34" charset="-122"/>
                  </a:rPr>
                  <a:t> </a:t>
                </a:r>
                <a:endParaRPr lang="en-US" altLang="zh-CN" sz="2000" dirty="0">
                  <a:solidFill>
                    <a:schemeClr val="bg1"/>
                  </a:solidFill>
                  <a:latin typeface="微软雅黑" panose="020B0503020204020204" pitchFamily="34" charset="-122"/>
                  <a:ea typeface="微软雅黑" panose="020B0503020204020204" pitchFamily="34" charset="-122"/>
                </a:endParaRPr>
              </a:p>
            </p:txBody>
          </p:sp>
        </mc:Choice>
        <mc:Fallback>
          <p:sp>
            <p:nvSpPr>
              <p:cNvPr id="9" name="矩形 8"/>
              <p:cNvSpPr>
                <a:spLocks noRot="1" noChangeAspect="1" noMove="1" noResize="1" noEditPoints="1" noAdjustHandles="1" noChangeArrowheads="1" noChangeShapeType="1" noTextEdit="1"/>
              </p:cNvSpPr>
              <p:nvPr/>
            </p:nvSpPr>
            <p:spPr>
              <a:xfrm>
                <a:off x="6240016" y="1608229"/>
                <a:ext cx="5832648" cy="1908471"/>
              </a:xfrm>
              <a:prstGeom prst="rect">
                <a:avLst/>
              </a:prstGeom>
              <a:blipFill rotWithShape="1">
                <a:blip r:embed="rId5"/>
                <a:stretch>
                  <a:fillRect l="-9" t="-21" r="1" b="4"/>
                </a:stretch>
              </a:blipFill>
            </p:spPr>
            <p:txBody>
              <a:bodyPr/>
              <a:lstStyle/>
              <a:p>
                <a:r>
                  <a:rPr lang="zh-CN" altLang="en-US">
                    <a:noFill/>
                  </a:rPr>
                  <a:t> </a:t>
                </a:r>
              </a:p>
            </p:txBody>
          </p:sp>
        </mc:Fallback>
      </mc:AlternateContent>
      <p:sp>
        <p:nvSpPr>
          <p:cNvPr id="3" name="矩形 2"/>
          <p:cNvSpPr/>
          <p:nvPr/>
        </p:nvSpPr>
        <p:spPr>
          <a:xfrm>
            <a:off x="418033" y="1409888"/>
            <a:ext cx="4669855" cy="14300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17" name="组合 16"/>
          <p:cNvGrpSpPr/>
          <p:nvPr/>
        </p:nvGrpSpPr>
        <p:grpSpPr>
          <a:xfrm>
            <a:off x="6687224" y="1276622"/>
            <a:ext cx="5385440" cy="1353832"/>
            <a:chOff x="6687224" y="1276622"/>
            <a:chExt cx="5385440" cy="1353832"/>
          </a:xfrm>
        </p:grpSpPr>
        <p:sp>
          <p:nvSpPr>
            <p:cNvPr id="13" name="矩形 12"/>
            <p:cNvSpPr/>
            <p:nvPr/>
          </p:nvSpPr>
          <p:spPr>
            <a:xfrm>
              <a:off x="6687224" y="2132856"/>
              <a:ext cx="5328592" cy="4975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16" name="组合 15"/>
            <p:cNvGrpSpPr/>
            <p:nvPr/>
          </p:nvGrpSpPr>
          <p:grpSpPr>
            <a:xfrm>
              <a:off x="8887177" y="1276622"/>
              <a:ext cx="3185487" cy="784226"/>
              <a:chOff x="8887177" y="1276622"/>
              <a:chExt cx="3185487" cy="784226"/>
            </a:xfrm>
          </p:grpSpPr>
          <p:sp>
            <p:nvSpPr>
              <p:cNvPr id="14" name="文本框 13"/>
              <p:cNvSpPr txBox="1"/>
              <p:nvPr/>
            </p:nvSpPr>
            <p:spPr>
              <a:xfrm>
                <a:off x="8887177" y="1276622"/>
                <a:ext cx="3185487" cy="369332"/>
              </a:xfrm>
              <a:prstGeom prst="rect">
                <a:avLst/>
              </a:prstGeom>
              <a:noFill/>
            </p:spPr>
            <p:txBody>
              <a:bodyPr wrap="non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本课程中均采用矩形分布假定</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5" name="箭头: 下 14"/>
              <p:cNvSpPr/>
              <p:nvPr/>
            </p:nvSpPr>
            <p:spPr>
              <a:xfrm>
                <a:off x="11280576" y="1659757"/>
                <a:ext cx="301824" cy="40109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grpSp>
      <mc:AlternateContent xmlns:mc="http://schemas.openxmlformats.org/markup-compatibility/2006">
        <mc:Choice xmlns:a14="http://schemas.microsoft.com/office/drawing/2010/main" Requires="a14">
          <p:sp>
            <p:nvSpPr>
              <p:cNvPr id="19" name="矩形 18"/>
              <p:cNvSpPr/>
              <p:nvPr/>
            </p:nvSpPr>
            <p:spPr>
              <a:xfrm>
                <a:off x="609600" y="1645954"/>
                <a:ext cx="4866204" cy="1080745"/>
              </a:xfrm>
              <a:prstGeom prst="rect">
                <a:avLst/>
              </a:prstGeom>
            </p:spPr>
            <p:txBody>
              <a:bodyPr wrap="none">
                <a:spAutoFit/>
              </a:bodyPr>
              <a:lstStyle/>
              <a:p>
                <a:pPr lvl="0">
                  <a:lnSpc>
                    <a:spcPct val="120000"/>
                  </a:lnSpc>
                  <a:spcBef>
                    <a:spcPts val="600"/>
                  </a:spcBef>
                </a:pPr>
                <a:r>
                  <a:rPr lang="zh-CN" altLang="en-US" sz="3200" dirty="0">
                    <a:solidFill>
                      <a:schemeClr val="bg1"/>
                    </a:solidFill>
                    <a:latin typeface="微软雅黑" panose="020B0503020204020204" pitchFamily="34" charset="-122"/>
                    <a:ea typeface="微软雅黑" panose="020B0503020204020204" pitchFamily="34" charset="-122"/>
                  </a:rPr>
                  <a:t>标准不确定度 </a:t>
                </a:r>
                <a:r>
                  <a:rPr lang="en-US" altLang="zh-CN" sz="32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3200"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B</a:t>
                </a:r>
                <a14:m>
                  <m:oMath xmlns:m="http://schemas.openxmlformats.org/officeDocument/2006/math">
                    <m:r>
                      <a:rPr lang="en-US" altLang="zh-CN" sz="4000" b="0" i="0" smtClean="0">
                        <a:solidFill>
                          <a:schemeClr val="bg1"/>
                        </a:solidFill>
                        <a:latin typeface="Cambria Math" panose="02040503050406030204" pitchFamily="18" charset="0"/>
                      </a:rPr>
                      <m:t>(</m:t>
                    </m:r>
                    <m:r>
                      <a:rPr lang="en-US" altLang="zh-CN" sz="4000" b="0" i="1" smtClean="0">
                        <a:solidFill>
                          <a:schemeClr val="bg1"/>
                        </a:solidFill>
                        <a:latin typeface="Cambria Math" panose="02040503050406030204" pitchFamily="18" charset="0"/>
                      </a:rPr>
                      <m:t>𝑥</m:t>
                    </m:r>
                    <m:r>
                      <a:rPr lang="en-US" altLang="zh-CN" sz="4000" b="0" i="0" smtClean="0">
                        <a:solidFill>
                          <a:schemeClr val="bg1"/>
                        </a:solidFill>
                        <a:latin typeface="Cambria Math" panose="02040503050406030204" pitchFamily="18" charset="0"/>
                      </a:rPr>
                      <m:t>)</m:t>
                    </m:r>
                    <m:r>
                      <a:rPr lang="en-US" altLang="zh-CN" sz="4000" i="1">
                        <a:solidFill>
                          <a:schemeClr val="bg1"/>
                        </a:solidFill>
                        <a:latin typeface="Cambria Math" panose="02040503050406030204" pitchFamily="18" charset="0"/>
                      </a:rPr>
                      <m:t>=</m:t>
                    </m:r>
                    <m:f>
                      <m:fPr>
                        <m:ctrlPr>
                          <a:rPr lang="en-US" altLang="zh-CN" sz="4000" i="1">
                            <a:solidFill>
                              <a:schemeClr val="bg1"/>
                            </a:solidFill>
                            <a:latin typeface="Cambria Math" panose="02040503050406030204" pitchFamily="18" charset="0"/>
                          </a:rPr>
                        </m:ctrlPr>
                      </m:fPr>
                      <m:num>
                        <m:r>
                          <a:rPr lang="en-US" altLang="zh-CN" sz="4000" i="1">
                            <a:solidFill>
                              <a:schemeClr val="bg1"/>
                            </a:solidFill>
                            <a:latin typeface="Cambria Math" panose="02040503050406030204" pitchFamily="18" charset="0"/>
                          </a:rPr>
                          <m:t>𝑎</m:t>
                        </m:r>
                      </m:num>
                      <m:den>
                        <m:r>
                          <a:rPr lang="en-US" altLang="zh-CN" sz="4000" i="1">
                            <a:solidFill>
                              <a:schemeClr val="bg1"/>
                            </a:solidFill>
                            <a:latin typeface="Cambria Math" panose="02040503050406030204" pitchFamily="18" charset="0"/>
                          </a:rPr>
                          <m:t>𝑐</m:t>
                        </m:r>
                      </m:den>
                    </m:f>
                  </m:oMath>
                </a14:m>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19" name="矩形 18"/>
              <p:cNvSpPr>
                <a:spLocks noRot="1" noChangeAspect="1" noMove="1" noResize="1" noEditPoints="1" noAdjustHandles="1" noChangeArrowheads="1" noChangeShapeType="1" noTextEdit="1"/>
              </p:cNvSpPr>
              <p:nvPr/>
            </p:nvSpPr>
            <p:spPr>
              <a:xfrm>
                <a:off x="609600" y="1645954"/>
                <a:ext cx="4866204" cy="1080745"/>
              </a:xfrm>
              <a:prstGeom prst="rect">
                <a:avLst/>
              </a:prstGeom>
              <a:blipFill rotWithShape="1">
                <a:blip r:embed="rId6"/>
                <a:stretch>
                  <a:fillRect t="-3" r="4" b="-2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4367490" y="5589130"/>
                <a:ext cx="2602753" cy="1124795"/>
              </a:xfrm>
              <a:prstGeom prst="rect">
                <a:avLst/>
              </a:prstGeom>
              <a:noFill/>
            </p:spPr>
            <p:txBody>
              <a:bodyPr wrap="squar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标准不确定度</a:t>
                </a:r>
                <a:endParaRPr lang="en-US" altLang="zh-CN" sz="2800" dirty="0">
                  <a:solidFill>
                    <a:schemeClr val="bg1"/>
                  </a:solidFill>
                  <a:latin typeface="微软雅黑" panose="020B0503020204020204" pitchFamily="34" charset="-122"/>
                  <a:ea typeface="微软雅黑" panose="020B0503020204020204" pitchFamily="34" charset="-122"/>
                </a:endParaRPr>
              </a:p>
              <a:p>
                <a:r>
                  <a:rPr lang="en-US" altLang="zh-CN" sz="20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000"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B</a:t>
                </a:r>
                <a14:m>
                  <m:oMath xmlns:m="http://schemas.openxmlformats.org/officeDocument/2006/math">
                    <m:r>
                      <a:rPr lang="en-US" altLang="zh-CN" sz="2800">
                        <a:solidFill>
                          <a:schemeClr val="bg1"/>
                        </a:solidFill>
                        <a:latin typeface="Cambria Math" panose="02040503050406030204" pitchFamily="18" charset="0"/>
                      </a:rPr>
                      <m:t>(</m:t>
                    </m:r>
                    <m:r>
                      <a:rPr lang="en-US" altLang="zh-CN" sz="2800" i="1">
                        <a:solidFill>
                          <a:schemeClr val="bg1"/>
                        </a:solidFill>
                        <a:latin typeface="Cambria Math" panose="02040503050406030204" pitchFamily="18" charset="0"/>
                      </a:rPr>
                      <m:t>𝑥</m:t>
                    </m:r>
                    <m:r>
                      <a:rPr lang="en-US" altLang="zh-CN" sz="2800">
                        <a:solidFill>
                          <a:schemeClr val="bg1"/>
                        </a:solidFill>
                        <a:latin typeface="Cambria Math" panose="02040503050406030204" pitchFamily="18" charset="0"/>
                      </a:rPr>
                      <m:t>)</m:t>
                    </m:r>
                    <m:r>
                      <a:rPr lang="en-US" altLang="zh-CN" sz="2800" i="1">
                        <a:solidFill>
                          <a:schemeClr val="bg1"/>
                        </a:solidFill>
                        <a:latin typeface="Cambria Math" panose="02040503050406030204" pitchFamily="18" charset="0"/>
                      </a:rPr>
                      <m:t>=</m:t>
                    </m:r>
                    <m:f>
                      <m:fPr>
                        <m:ctrlPr>
                          <a:rPr lang="en-US" altLang="zh-CN" sz="2800" i="1">
                            <a:solidFill>
                              <a:schemeClr val="bg1"/>
                            </a:solidFill>
                            <a:latin typeface="Cambria Math" panose="02040503050406030204" pitchFamily="18" charset="0"/>
                          </a:rPr>
                        </m:ctrlPr>
                      </m:fPr>
                      <m:num>
                        <m:r>
                          <a:rPr lang="en-US" altLang="zh-CN" sz="2800" i="1">
                            <a:solidFill>
                              <a:schemeClr val="bg1"/>
                            </a:solidFill>
                            <a:latin typeface="Cambria Math" panose="02040503050406030204" pitchFamily="18" charset="0"/>
                          </a:rPr>
                          <m:t>𝑎</m:t>
                        </m:r>
                      </m:num>
                      <m:den>
                        <m:rad>
                          <m:radPr>
                            <m:degHide m:val="on"/>
                            <m:ctrlPr>
                              <a:rPr lang="en-US" altLang="zh-CN" sz="2800" i="1" dirty="0">
                                <a:solidFill>
                                  <a:schemeClr val="bg1"/>
                                </a:solidFill>
                                <a:latin typeface="Cambria Math" panose="02040503050406030204" pitchFamily="18" charset="0"/>
                              </a:rPr>
                            </m:ctrlPr>
                          </m:radPr>
                          <m:deg/>
                          <m:e>
                            <m:r>
                              <a:rPr lang="en-US" altLang="zh-CN" sz="2800" i="1" dirty="0">
                                <a:solidFill>
                                  <a:schemeClr val="bg1"/>
                                </a:solidFill>
                                <a:latin typeface="Cambria Math" panose="02040503050406030204" pitchFamily="18" charset="0"/>
                              </a:rPr>
                              <m:t>3</m:t>
                            </m:r>
                          </m:e>
                        </m:rad>
                      </m:den>
                    </m:f>
                  </m:oMath>
                </a14:m>
                <a:endParaRPr lang="zh-CN" altLang="en-US" sz="2800" dirty="0">
                  <a:solidFill>
                    <a:schemeClr val="bg1"/>
                  </a:solidFill>
                  <a:latin typeface="微软雅黑" panose="020B0503020204020204" pitchFamily="34" charset="-122"/>
                  <a:ea typeface="微软雅黑" panose="020B0503020204020204" pitchFamily="34" charset="-122"/>
                </a:endParaRPr>
              </a:p>
            </p:txBody>
          </p:sp>
        </mc:Choice>
        <mc:Fallback>
          <p:sp>
            <p:nvSpPr>
              <p:cNvPr id="4" name="矩形 3"/>
              <p:cNvSpPr>
                <a:spLocks noRot="1" noChangeAspect="1" noMove="1" noResize="1" noEditPoints="1" noAdjustHandles="1" noChangeArrowheads="1" noChangeShapeType="1" noTextEdit="1"/>
              </p:cNvSpPr>
              <p:nvPr/>
            </p:nvSpPr>
            <p:spPr>
              <a:xfrm>
                <a:off x="4367490" y="5589130"/>
                <a:ext cx="2602753" cy="1124795"/>
              </a:xfrm>
              <a:prstGeom prst="rect">
                <a:avLst/>
              </a:prstGeom>
              <a:blipFill rotWithShape="1">
                <a:blip r:embed="rId7"/>
                <a:stretch>
                  <a:fillRect l="-23" t="-44" r="19" b="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p:bldP spid="3" grpId="0" animBg="1"/>
      <p:bldP spid="19"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2404" y="36865"/>
            <a:ext cx="8148743" cy="6574016"/>
          </a:xfrm>
          <a:prstGeom prst="rect">
            <a:avLst/>
          </a:prstGeom>
        </p:spPr>
      </p:pic>
      <p:sp>
        <p:nvSpPr>
          <p:cNvPr id="9" name="矩形 8"/>
          <p:cNvSpPr/>
          <p:nvPr/>
        </p:nvSpPr>
        <p:spPr>
          <a:xfrm>
            <a:off x="6096000" y="369054"/>
            <a:ext cx="2016224" cy="6193111"/>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 name="矩形 1"/>
              <p:cNvSpPr/>
              <p:nvPr/>
            </p:nvSpPr>
            <p:spPr>
              <a:xfrm>
                <a:off x="8903930" y="2781160"/>
                <a:ext cx="2602753" cy="1124795"/>
              </a:xfrm>
              <a:prstGeom prst="rect">
                <a:avLst/>
              </a:prstGeom>
              <a:noFill/>
            </p:spPr>
            <p:txBody>
              <a:bodyPr wrap="squar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标准不确定度</a:t>
                </a:r>
                <a:endParaRPr lang="en-US" altLang="zh-CN" sz="2800" dirty="0">
                  <a:solidFill>
                    <a:schemeClr val="bg1"/>
                  </a:solidFill>
                  <a:latin typeface="微软雅黑" panose="020B0503020204020204" pitchFamily="34" charset="-122"/>
                  <a:ea typeface="微软雅黑" panose="020B0503020204020204" pitchFamily="34" charset="-122"/>
                </a:endParaRPr>
              </a:p>
              <a:p>
                <a:r>
                  <a:rPr lang="en-US" altLang="zh-CN" sz="20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000"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B</a:t>
                </a:r>
                <a14:m>
                  <m:oMath xmlns:m="http://schemas.openxmlformats.org/officeDocument/2006/math">
                    <m:r>
                      <a:rPr lang="en-US" altLang="zh-CN" sz="2800">
                        <a:solidFill>
                          <a:schemeClr val="bg1"/>
                        </a:solidFill>
                        <a:latin typeface="Cambria Math" panose="02040503050406030204" pitchFamily="18" charset="0"/>
                      </a:rPr>
                      <m:t>(</m:t>
                    </m:r>
                    <m:r>
                      <a:rPr lang="en-US" altLang="zh-CN" sz="2800" i="1">
                        <a:solidFill>
                          <a:schemeClr val="bg1"/>
                        </a:solidFill>
                        <a:latin typeface="Cambria Math" panose="02040503050406030204" pitchFamily="18" charset="0"/>
                      </a:rPr>
                      <m:t>𝑥</m:t>
                    </m:r>
                    <m:r>
                      <a:rPr lang="en-US" altLang="zh-CN" sz="2800">
                        <a:solidFill>
                          <a:schemeClr val="bg1"/>
                        </a:solidFill>
                        <a:latin typeface="Cambria Math" panose="02040503050406030204" pitchFamily="18" charset="0"/>
                      </a:rPr>
                      <m:t>)</m:t>
                    </m:r>
                    <m:r>
                      <a:rPr lang="en-US" altLang="zh-CN" sz="2800" i="1">
                        <a:solidFill>
                          <a:schemeClr val="bg1"/>
                        </a:solidFill>
                        <a:latin typeface="Cambria Math" panose="02040503050406030204" pitchFamily="18" charset="0"/>
                      </a:rPr>
                      <m:t>=</m:t>
                    </m:r>
                    <m:f>
                      <m:fPr>
                        <m:ctrlPr>
                          <a:rPr lang="en-US" altLang="zh-CN" sz="2800" i="1">
                            <a:solidFill>
                              <a:schemeClr val="bg1"/>
                            </a:solidFill>
                            <a:latin typeface="Cambria Math" panose="02040503050406030204" pitchFamily="18" charset="0"/>
                          </a:rPr>
                        </m:ctrlPr>
                      </m:fPr>
                      <m:num>
                        <m:r>
                          <a:rPr lang="en-US" altLang="zh-CN" sz="2800" i="1">
                            <a:solidFill>
                              <a:schemeClr val="bg1"/>
                            </a:solidFill>
                            <a:latin typeface="Cambria Math" panose="02040503050406030204" pitchFamily="18" charset="0"/>
                          </a:rPr>
                          <m:t>𝑎</m:t>
                        </m:r>
                      </m:num>
                      <m:den>
                        <m:rad>
                          <m:radPr>
                            <m:degHide m:val="on"/>
                            <m:ctrlPr>
                              <a:rPr lang="en-US" altLang="zh-CN" sz="2800" i="1" dirty="0">
                                <a:solidFill>
                                  <a:schemeClr val="bg1"/>
                                </a:solidFill>
                                <a:latin typeface="Cambria Math" panose="02040503050406030204" pitchFamily="18" charset="0"/>
                              </a:rPr>
                            </m:ctrlPr>
                          </m:radPr>
                          <m:deg/>
                          <m:e>
                            <m:r>
                              <a:rPr lang="en-US" altLang="zh-CN" sz="2800" i="1" dirty="0">
                                <a:solidFill>
                                  <a:schemeClr val="bg1"/>
                                </a:solidFill>
                                <a:latin typeface="Cambria Math" panose="02040503050406030204" pitchFamily="18" charset="0"/>
                              </a:rPr>
                              <m:t>3</m:t>
                            </m:r>
                          </m:e>
                        </m:rad>
                      </m:den>
                    </m:f>
                  </m:oMath>
                </a14:m>
                <a:endParaRPr lang="zh-CN" altLang="en-US" sz="2800" dirty="0">
                  <a:solidFill>
                    <a:schemeClr val="bg1"/>
                  </a:solidFill>
                  <a:latin typeface="微软雅黑" panose="020B0503020204020204" pitchFamily="34" charset="-122"/>
                  <a:ea typeface="微软雅黑" panose="020B0503020204020204" pitchFamily="34" charset="-122"/>
                </a:endParaRPr>
              </a:p>
            </p:txBody>
          </p:sp>
        </mc:Choice>
        <mc:Fallback>
          <p:sp>
            <p:nvSpPr>
              <p:cNvPr id="2" name="矩形 1"/>
              <p:cNvSpPr>
                <a:spLocks noRot="1" noChangeAspect="1" noMove="1" noResize="1" noEditPoints="1" noAdjustHandles="1" noChangeArrowheads="1" noChangeShapeType="1" noTextEdit="1"/>
              </p:cNvSpPr>
              <p:nvPr/>
            </p:nvSpPr>
            <p:spPr>
              <a:xfrm>
                <a:off x="8903930" y="2781160"/>
                <a:ext cx="2602753" cy="1124795"/>
              </a:xfrm>
              <a:prstGeom prst="rect">
                <a:avLst/>
              </a:prstGeom>
              <a:blipFill rotWithShape="1">
                <a:blip r:embed="rId2"/>
                <a:stretch>
                  <a:fillRect l="-23" t="-44" r="19"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8976320" y="1564577"/>
                <a:ext cx="597920" cy="707886"/>
              </a:xfrm>
              <a:prstGeom prst="rect">
                <a:avLst/>
              </a:prstGeom>
              <a:solidFill>
                <a:srgbClr val="FFFF99"/>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sz="4000" i="1" smtClean="0">
                          <a:solidFill>
                            <a:srgbClr val="000000"/>
                          </a:solidFill>
                          <a:latin typeface="Cambria Math" panose="02040503050406030204" pitchFamily="18" charset="0"/>
                        </a:rPr>
                        <m:t>𝑎</m:t>
                      </m:r>
                    </m:oMath>
                  </m:oMathPara>
                </a14:m>
                <a:endParaRPr lang="zh-CN" altLang="en-US" sz="4000" dirty="0">
                  <a:solidFill>
                    <a:srgbClr val="000000"/>
                  </a:solidFill>
                </a:endParaRPr>
              </a:p>
            </p:txBody>
          </p:sp>
        </mc:Choice>
        <mc:Fallback>
          <p:sp>
            <p:nvSpPr>
              <p:cNvPr id="3" name="矩形 2"/>
              <p:cNvSpPr>
                <a:spLocks noRot="1" noChangeAspect="1" noMove="1" noResize="1" noEditPoints="1" noAdjustHandles="1" noChangeArrowheads="1" noChangeShapeType="1" noTextEdit="1"/>
              </p:cNvSpPr>
              <p:nvPr/>
            </p:nvSpPr>
            <p:spPr>
              <a:xfrm>
                <a:off x="8976320" y="1564577"/>
                <a:ext cx="597920" cy="707886"/>
              </a:xfrm>
              <a:prstGeom prst="rect">
                <a:avLst/>
              </a:prstGeom>
              <a:blipFill rotWithShape="1">
                <a:blip r:embed="rId3"/>
                <a:stretch>
                  <a:fillRect l="-100" t="-81" r="58" b="61"/>
                </a:stretch>
              </a:blipFill>
            </p:spPr>
            <p:txBody>
              <a:bodyPr/>
              <a:lstStyle/>
              <a:p>
                <a:r>
                  <a:rPr lang="zh-CN" altLang="en-US">
                    <a:noFill/>
                  </a:rPr>
                  <a:t> </a:t>
                </a:r>
              </a:p>
            </p:txBody>
          </p:sp>
        </mc:Fallback>
      </mc:AlternateContent>
      <p:sp>
        <p:nvSpPr>
          <p:cNvPr id="10" name="箭头: 左 9"/>
          <p:cNvSpPr/>
          <p:nvPr/>
        </p:nvSpPr>
        <p:spPr>
          <a:xfrm>
            <a:off x="7972726" y="1628800"/>
            <a:ext cx="764874" cy="576064"/>
          </a:xfrm>
          <a:prstGeom prst="leftArrow">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3"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1384" y="188640"/>
            <a:ext cx="8825657" cy="772316"/>
          </a:xfrm>
        </p:spPr>
        <p:txBody>
          <a:bodyPr/>
          <a:lstStyle/>
          <a:p>
            <a:pPr eaLnBrk="1" hangingPunct="1"/>
            <a:r>
              <a:rPr lang="zh-CN" altLang="en-US" b="1" dirty="0">
                <a:solidFill>
                  <a:schemeClr val="bg1"/>
                </a:solidFill>
                <a:latin typeface="微软雅黑" panose="020B0503020204020204" pitchFamily="34" charset="-122"/>
                <a:ea typeface="微软雅黑" panose="020B0503020204020204" pitchFamily="34" charset="-122"/>
              </a:rPr>
              <a:t>获得</a:t>
            </a:r>
            <a:r>
              <a:rPr lang="zh-CN" altLang="en-US" b="1" dirty="0">
                <a:solidFill>
                  <a:srgbClr val="0070C0"/>
                </a:solidFill>
                <a:latin typeface="微软雅黑" panose="020B0503020204020204" pitchFamily="34" charset="-122"/>
                <a:ea typeface="微软雅黑" panose="020B0503020204020204" pitchFamily="34" charset="-122"/>
              </a:rPr>
              <a:t>待测量</a:t>
            </a:r>
            <a:r>
              <a:rPr lang="zh-CN" altLang="en-US" b="1" dirty="0">
                <a:solidFill>
                  <a:schemeClr val="bg1"/>
                </a:solidFill>
                <a:latin typeface="微软雅黑" panose="020B0503020204020204" pitchFamily="34" charset="-122"/>
                <a:ea typeface="微软雅黑" panose="020B0503020204020204" pitchFamily="34" charset="-122"/>
              </a:rPr>
              <a:t>的</a:t>
            </a:r>
            <a:r>
              <a:rPr lang="zh-CN" altLang="en-US" b="1" dirty="0">
                <a:solidFill>
                  <a:srgbClr val="0070C0"/>
                </a:solidFill>
                <a:latin typeface="微软雅黑" panose="020B0503020204020204" pitchFamily="34" charset="-122"/>
                <a:ea typeface="微软雅黑" panose="020B0503020204020204" pitchFamily="34" charset="-122"/>
              </a:rPr>
              <a:t>合成标准不确定度</a:t>
            </a:r>
            <a:endParaRPr lang="en-US" altLang="zh-CN" b="1" dirty="0">
              <a:solidFill>
                <a:srgbClr val="0070C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6" name="矩形 5"/>
              <p:cNvSpPr/>
              <p:nvPr/>
            </p:nvSpPr>
            <p:spPr>
              <a:xfrm>
                <a:off x="5087888" y="2267280"/>
                <a:ext cx="5184576" cy="688715"/>
              </a:xfrm>
              <a:prstGeom prst="rect">
                <a:avLst/>
              </a:prstGeom>
              <a:ln>
                <a:noFill/>
              </a:ln>
            </p:spPr>
            <p:txBody>
              <a:bodyPr wrap="square">
                <a:spAutoFit/>
              </a:bodyPr>
              <a:lstStyle/>
              <a:p>
                <a:r>
                  <a:rPr lang="zh-CN" altLang="en-US" sz="3200" dirty="0">
                    <a:solidFill>
                      <a:schemeClr val="bg1"/>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3200" i="1">
                        <a:solidFill>
                          <a:schemeClr val="bg1"/>
                        </a:solidFill>
                        <a:latin typeface="Cambria Math" panose="02040503050406030204" pitchFamily="18" charset="0"/>
                      </a:rPr>
                      <m:t>𝑢</m:t>
                    </m:r>
                    <m:d>
                      <m:dPr>
                        <m:ctrlPr>
                          <a:rPr lang="en-US" altLang="zh-CN" sz="3200" i="1">
                            <a:solidFill>
                              <a:schemeClr val="bg1"/>
                            </a:solidFill>
                            <a:latin typeface="Cambria Math" panose="02040503050406030204" pitchFamily="18" charset="0"/>
                          </a:rPr>
                        </m:ctrlPr>
                      </m:dPr>
                      <m:e>
                        <m:r>
                          <a:rPr lang="en-US" altLang="zh-CN" sz="3200" b="0" i="1" smtClean="0">
                            <a:solidFill>
                              <a:schemeClr val="bg1"/>
                            </a:solidFill>
                            <a:latin typeface="Cambria Math" panose="02040503050406030204" pitchFamily="18" charset="0"/>
                          </a:rPr>
                          <m:t>𝐿</m:t>
                        </m:r>
                      </m:e>
                    </m:d>
                    <m:r>
                      <a:rPr lang="en-US" altLang="zh-CN" sz="3200" b="0" i="1" smtClean="0">
                        <a:solidFill>
                          <a:schemeClr val="bg1"/>
                        </a:solidFill>
                        <a:latin typeface="Cambria Math" panose="02040503050406030204" pitchFamily="18" charset="0"/>
                      </a:rPr>
                      <m:t>=</m:t>
                    </m:r>
                    <m:rad>
                      <m:radPr>
                        <m:degHide m:val="on"/>
                        <m:ctrlPr>
                          <a:rPr lang="en-US" altLang="zh-CN" sz="3200" b="0" i="1" smtClean="0">
                            <a:solidFill>
                              <a:schemeClr val="bg1"/>
                            </a:solidFill>
                            <a:latin typeface="Cambria Math" panose="02040503050406030204" pitchFamily="18" charset="0"/>
                          </a:rPr>
                        </m:ctrlPr>
                      </m:radPr>
                      <m:deg/>
                      <m:e>
                        <m:r>
                          <a:rPr lang="en-US" altLang="zh-CN" sz="3200" i="1">
                            <a:solidFill>
                              <a:schemeClr val="bg1"/>
                            </a:solidFill>
                            <a:latin typeface="Cambria Math" panose="02040503050406030204" pitchFamily="18" charset="0"/>
                          </a:rPr>
                          <m:t>𝑢</m:t>
                        </m:r>
                        <m:r>
                          <m:rPr>
                            <m:sty m:val="p"/>
                          </m:rPr>
                          <a:rPr lang="en-US" altLang="zh-CN" sz="3200" i="1" baseline="-25000">
                            <a:solidFill>
                              <a:schemeClr val="bg1"/>
                            </a:solidFill>
                            <a:latin typeface="Cambria Math" panose="02040503050406030204" pitchFamily="18" charset="0"/>
                          </a:rPr>
                          <m:t>A</m:t>
                        </m:r>
                        <m:sSup>
                          <m:sSupPr>
                            <m:ctrlPr>
                              <a:rPr lang="en-US" altLang="zh-CN" sz="3200" b="0" i="1" smtClean="0">
                                <a:solidFill>
                                  <a:schemeClr val="bg1"/>
                                </a:solidFill>
                                <a:latin typeface="Cambria Math" panose="02040503050406030204" pitchFamily="18" charset="0"/>
                              </a:rPr>
                            </m:ctrlPr>
                          </m:sSupPr>
                          <m:e>
                            <m:d>
                              <m:dPr>
                                <m:ctrlPr>
                                  <a:rPr lang="en-US" altLang="zh-CN" sz="3200" i="1">
                                    <a:solidFill>
                                      <a:schemeClr val="bg1"/>
                                    </a:solidFill>
                                    <a:latin typeface="Cambria Math" panose="02040503050406030204" pitchFamily="18" charset="0"/>
                                  </a:rPr>
                                </m:ctrlPr>
                              </m:dPr>
                              <m:e>
                                <m:sSub>
                                  <m:sSubPr>
                                    <m:ctrlPr>
                                      <a:rPr lang="en-US" altLang="zh-CN" sz="3200" i="1">
                                        <a:solidFill>
                                          <a:schemeClr val="bg1"/>
                                        </a:solidFill>
                                        <a:latin typeface="Cambria Math" panose="02040503050406030204" pitchFamily="18" charset="0"/>
                                      </a:rPr>
                                    </m:ctrlPr>
                                  </m:sSubPr>
                                  <m:e>
                                    <m:r>
                                      <a:rPr lang="en-US" altLang="zh-CN" sz="3200" i="1">
                                        <a:solidFill>
                                          <a:schemeClr val="bg1"/>
                                        </a:solidFill>
                                        <a:latin typeface="Cambria Math" panose="02040503050406030204" pitchFamily="18" charset="0"/>
                                      </a:rPr>
                                      <m:t>𝐿</m:t>
                                    </m:r>
                                  </m:e>
                                  <m:sub>
                                    <m:r>
                                      <a:rPr lang="en-US" altLang="zh-CN" sz="3200" b="0" i="1" smtClean="0">
                                        <a:solidFill>
                                          <a:schemeClr val="bg1"/>
                                        </a:solidFill>
                                        <a:latin typeface="Cambria Math" panose="02040503050406030204" pitchFamily="18" charset="0"/>
                                      </a:rPr>
                                      <m:t>0</m:t>
                                    </m:r>
                                  </m:sub>
                                </m:sSub>
                              </m:e>
                            </m:d>
                          </m:e>
                          <m:sup>
                            <m:r>
                              <a:rPr lang="en-US" altLang="zh-CN" sz="3200" b="0" i="1" smtClean="0">
                                <a:solidFill>
                                  <a:schemeClr val="bg1"/>
                                </a:solidFill>
                                <a:latin typeface="Cambria Math" panose="02040503050406030204" pitchFamily="18" charset="0"/>
                              </a:rPr>
                              <m:t>2</m:t>
                            </m:r>
                          </m:sup>
                        </m:sSup>
                        <m:r>
                          <a:rPr lang="en-US" altLang="zh-CN" sz="3200" b="0" i="1" smtClean="0">
                            <a:solidFill>
                              <a:schemeClr val="bg1"/>
                            </a:solidFill>
                            <a:latin typeface="Cambria Math" panose="02040503050406030204" pitchFamily="18" charset="0"/>
                          </a:rPr>
                          <m:t>+</m:t>
                        </m:r>
                        <m:r>
                          <a:rPr lang="en-US" altLang="zh-CN" sz="3200" i="1">
                            <a:solidFill>
                              <a:schemeClr val="bg1"/>
                            </a:solidFill>
                            <a:latin typeface="Cambria Math" panose="02040503050406030204" pitchFamily="18" charset="0"/>
                          </a:rPr>
                          <m:t>𝑢</m:t>
                        </m:r>
                        <m:r>
                          <m:rPr>
                            <m:sty m:val="p"/>
                          </m:rPr>
                          <a:rPr lang="en-US" altLang="zh-CN" sz="3200" i="1" baseline="-25000">
                            <a:solidFill>
                              <a:schemeClr val="bg1"/>
                            </a:solidFill>
                            <a:latin typeface="Cambria Math" panose="02040503050406030204" pitchFamily="18" charset="0"/>
                          </a:rPr>
                          <m:t>B</m:t>
                        </m:r>
                        <m:sSup>
                          <m:sSupPr>
                            <m:ctrlPr>
                              <a:rPr lang="en-US" altLang="zh-CN" sz="3200" b="0" i="1" smtClean="0">
                                <a:solidFill>
                                  <a:schemeClr val="bg1"/>
                                </a:solidFill>
                                <a:latin typeface="Cambria Math" panose="02040503050406030204" pitchFamily="18" charset="0"/>
                              </a:rPr>
                            </m:ctrlPr>
                          </m:sSupPr>
                          <m:e>
                            <m:d>
                              <m:dPr>
                                <m:ctrlPr>
                                  <a:rPr lang="en-US" altLang="zh-CN" sz="3200" i="1">
                                    <a:solidFill>
                                      <a:schemeClr val="bg1"/>
                                    </a:solidFill>
                                    <a:latin typeface="Cambria Math" panose="02040503050406030204" pitchFamily="18" charset="0"/>
                                  </a:rPr>
                                </m:ctrlPr>
                              </m:dPr>
                              <m:e>
                                <m:sSub>
                                  <m:sSubPr>
                                    <m:ctrlPr>
                                      <a:rPr lang="en-US" altLang="zh-CN" sz="3200" i="1">
                                        <a:solidFill>
                                          <a:schemeClr val="bg1"/>
                                        </a:solidFill>
                                        <a:latin typeface="Cambria Math" panose="02040503050406030204" pitchFamily="18" charset="0"/>
                                      </a:rPr>
                                    </m:ctrlPr>
                                  </m:sSubPr>
                                  <m:e>
                                    <m:r>
                                      <a:rPr lang="en-US" altLang="zh-CN" sz="3200" i="1">
                                        <a:solidFill>
                                          <a:schemeClr val="bg1"/>
                                        </a:solidFill>
                                        <a:latin typeface="Cambria Math" panose="02040503050406030204" pitchFamily="18" charset="0"/>
                                      </a:rPr>
                                      <m:t>𝐿</m:t>
                                    </m:r>
                                  </m:e>
                                  <m:sub>
                                    <m:r>
                                      <a:rPr lang="en-US" altLang="zh-CN" sz="3200" i="1">
                                        <a:solidFill>
                                          <a:schemeClr val="bg1"/>
                                        </a:solidFill>
                                        <a:latin typeface="Cambria Math" panose="02040503050406030204" pitchFamily="18" charset="0"/>
                                      </a:rPr>
                                      <m:t>1</m:t>
                                    </m:r>
                                  </m:sub>
                                </m:sSub>
                              </m:e>
                            </m:d>
                          </m:e>
                          <m:sup>
                            <m:r>
                              <a:rPr lang="en-US" altLang="zh-CN" sz="3200" b="0" i="1" smtClean="0">
                                <a:solidFill>
                                  <a:schemeClr val="bg1"/>
                                </a:solidFill>
                                <a:latin typeface="Cambria Math" panose="02040503050406030204" pitchFamily="18" charset="0"/>
                              </a:rPr>
                              <m:t>2</m:t>
                            </m:r>
                          </m:sup>
                        </m:sSup>
                      </m:e>
                    </m:rad>
                  </m:oMath>
                </a14:m>
                <a:endParaRPr lang="en-US" altLang="zh-CN" sz="3200" dirty="0">
                  <a:solidFill>
                    <a:schemeClr val="bg1"/>
                  </a:solidFill>
                  <a:latin typeface="微软雅黑" panose="020B0503020204020204" pitchFamily="34" charset="-122"/>
                  <a:ea typeface="微软雅黑" panose="020B0503020204020204" pitchFamily="34" charset="-122"/>
                </a:endParaRPr>
              </a:p>
            </p:txBody>
          </p:sp>
        </mc:Choice>
        <mc:Fallback>
          <p:sp>
            <p:nvSpPr>
              <p:cNvPr id="6" name="矩形 5"/>
              <p:cNvSpPr>
                <a:spLocks noRot="1" noChangeAspect="1" noMove="1" noResize="1" noEditPoints="1" noAdjustHandles="1" noChangeArrowheads="1" noChangeShapeType="1" noTextEdit="1"/>
              </p:cNvSpPr>
              <p:nvPr/>
            </p:nvSpPr>
            <p:spPr>
              <a:xfrm>
                <a:off x="5087888" y="2267280"/>
                <a:ext cx="5184576" cy="688715"/>
              </a:xfrm>
              <a:prstGeom prst="rect">
                <a:avLst/>
              </a:prstGeom>
              <a:blipFill rotWithShape="1">
                <a:blip r:embed="rId1"/>
                <a:stretch>
                  <a:fillRect l="-5" t="-48" r="1" b="-10777"/>
                </a:stretch>
              </a:blipFill>
              <a:ln>
                <a:noFill/>
              </a:ln>
            </p:spPr>
            <p:txBody>
              <a:bodyPr/>
              <a:lstStyle/>
              <a:p>
                <a:r>
                  <a:rPr lang="zh-CN" altLang="en-US">
                    <a:noFill/>
                  </a:rPr>
                  <a:t> </a:t>
                </a:r>
              </a:p>
            </p:txBody>
          </p:sp>
        </mc:Fallback>
      </mc:AlternateContent>
      <p:sp>
        <p:nvSpPr>
          <p:cNvPr id="7" name="矩形 6"/>
          <p:cNvSpPr/>
          <p:nvPr/>
        </p:nvSpPr>
        <p:spPr>
          <a:xfrm>
            <a:off x="3199140" y="3162934"/>
            <a:ext cx="1980029" cy="523220"/>
          </a:xfrm>
          <a:prstGeom prst="rect">
            <a:avLst/>
          </a:prstGeom>
        </p:spPr>
        <p:txBody>
          <a:bodyPr wrap="non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单次测量：</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3199139" y="2453497"/>
            <a:ext cx="1980029" cy="523220"/>
          </a:xfrm>
          <a:prstGeom prst="rect">
            <a:avLst/>
          </a:prstGeom>
        </p:spPr>
        <p:txBody>
          <a:bodyPr wrap="non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多次测量：</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552262" y="2484113"/>
            <a:ext cx="2646878" cy="584775"/>
          </a:xfrm>
          <a:prstGeom prst="rect">
            <a:avLst/>
          </a:prstGeom>
        </p:spPr>
        <p:txBody>
          <a:bodyPr wrap="none">
            <a:spAutoFit/>
          </a:bodyPr>
          <a:lstStyle/>
          <a:p>
            <a:r>
              <a:rPr lang="zh-CN" altLang="en-US" sz="3200" dirty="0">
                <a:solidFill>
                  <a:schemeClr val="bg1"/>
                </a:solidFill>
                <a:latin typeface="微软雅黑" panose="020B0503020204020204" pitchFamily="34" charset="-122"/>
                <a:ea typeface="微软雅黑" panose="020B0503020204020204" pitchFamily="34" charset="-122"/>
              </a:rPr>
              <a:t>直接测量量：</a:t>
            </a:r>
            <a:endParaRPr lang="en-US" altLang="zh-CN" sz="3200" dirty="0">
              <a:solidFill>
                <a:schemeClr val="bg1"/>
              </a:solidFill>
              <a:latin typeface="微软雅黑" panose="020B0503020204020204" pitchFamily="34" charset="-122"/>
              <a:ea typeface="微软雅黑" panose="020B0503020204020204" pitchFamily="34" charset="-122"/>
            </a:endParaRPr>
          </a:p>
        </p:txBody>
      </p:sp>
      <p:sp>
        <p:nvSpPr>
          <p:cNvPr id="10" name="左大括号 9"/>
          <p:cNvSpPr/>
          <p:nvPr/>
        </p:nvSpPr>
        <p:spPr>
          <a:xfrm>
            <a:off x="2855640" y="2071127"/>
            <a:ext cx="343500" cy="14263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左大括号 14"/>
          <p:cNvSpPr/>
          <p:nvPr/>
        </p:nvSpPr>
        <p:spPr>
          <a:xfrm>
            <a:off x="221858" y="2776501"/>
            <a:ext cx="473542" cy="259671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矩形 15"/>
          <p:cNvSpPr/>
          <p:nvPr/>
        </p:nvSpPr>
        <p:spPr>
          <a:xfrm>
            <a:off x="695400" y="5069380"/>
            <a:ext cx="2646878" cy="584775"/>
          </a:xfrm>
          <a:prstGeom prst="rect">
            <a:avLst/>
          </a:prstGeom>
        </p:spPr>
        <p:txBody>
          <a:bodyPr wrap="none">
            <a:spAutoFit/>
          </a:bodyPr>
          <a:lstStyle/>
          <a:p>
            <a:r>
              <a:rPr lang="zh-CN" altLang="en-US" sz="3200" dirty="0">
                <a:solidFill>
                  <a:schemeClr val="bg1"/>
                </a:solidFill>
                <a:latin typeface="微软雅黑" panose="020B0503020204020204" pitchFamily="34" charset="-122"/>
                <a:ea typeface="微软雅黑" panose="020B0503020204020204" pitchFamily="34" charset="-122"/>
              </a:rPr>
              <a:t>间接测量量：</a:t>
            </a:r>
            <a:endParaRPr lang="en-US" altLang="zh-CN" sz="3200"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3199139" y="1741553"/>
            <a:ext cx="8406468"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若测量模型为：</a:t>
            </a:r>
            <a:r>
              <a:rPr lang="en-US" altLang="zh-CN" sz="2800"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L=L</a:t>
            </a:r>
            <a:r>
              <a:rPr lang="en-US" altLang="zh-CN" sz="2800" b="1" baseline="-25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（仪器示值）</a:t>
            </a:r>
            <a:r>
              <a:rPr lang="en-US" altLang="zh-CN" sz="2800"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800" b="1" baseline="-25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（仪器偏差）</a:t>
            </a:r>
            <a:endParaRPr lang="en-US" altLang="zh-CN" sz="2800" b="1" baseline="-25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5" grpId="0" animBg="1"/>
      <p:bldP spid="16" grpId="0"/>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内容占位符 6"/>
              <p:cNvSpPr>
                <a:spLocks noGrp="1"/>
              </p:cNvSpPr>
              <p:nvPr>
                <p:ph idx="1"/>
              </p:nvPr>
            </p:nvSpPr>
            <p:spPr>
              <a:xfrm>
                <a:off x="624313" y="1332062"/>
                <a:ext cx="10526960" cy="1561265"/>
              </a:xfrm>
            </p:spPr>
            <p:txBody>
              <a:bodyPr rtlCol="0">
                <a:normAutofit/>
              </a:bodyPr>
              <a:lstStyle/>
              <a:p>
                <a:pPr marL="0" indent="0" eaLnBrk="1" fontAlgn="auto" hangingPunct="1">
                  <a:spcAft>
                    <a:spcPts val="0"/>
                  </a:spcAft>
                  <a:buNone/>
                  <a:defRPr/>
                </a:pPr>
                <a:r>
                  <a:rPr lang="zh-CN" altLang="en-US" sz="2800" dirty="0">
                    <a:solidFill>
                      <a:schemeClr val="bg1"/>
                    </a:solidFill>
                    <a:latin typeface="微软雅黑" panose="020B0503020204020204" pitchFamily="34" charset="-122"/>
                    <a:ea typeface="微软雅黑" panose="020B0503020204020204" pitchFamily="34" charset="-122"/>
                  </a:rPr>
                  <a:t>间接测量量</a:t>
                </a:r>
                <a14:m>
                  <m:oMath xmlns:m="http://schemas.openxmlformats.org/officeDocument/2006/math">
                    <m:r>
                      <m:rPr>
                        <m:lit/>
                      </m:rPr>
                      <a:rPr lang="en-US" altLang="zh-CN" sz="2800" i="1" dirty="0">
                        <a:solidFill>
                          <a:schemeClr val="bg1"/>
                        </a:solidFill>
                        <a:latin typeface="Cambria Math" panose="02040503050406030204" pitchFamily="18" charset="0"/>
                      </a:rPr>
                      <m:t> </m:t>
                    </m:r>
                    <m:r>
                      <a:rPr lang="en-US" altLang="zh-CN" sz="2800" i="1" dirty="0">
                        <a:solidFill>
                          <a:schemeClr val="bg1"/>
                        </a:solidFill>
                        <a:latin typeface="Cambria Math" panose="02040503050406030204" pitchFamily="18" charset="0"/>
                      </a:rPr>
                      <m:t>𝑦</m:t>
                    </m:r>
                  </m:oMath>
                </a14:m>
                <a:r>
                  <a:rPr lang="zh-CN" altLang="en-US" sz="2800" dirty="0">
                    <a:solidFill>
                      <a:schemeClr val="bg1"/>
                    </a:solidFill>
                    <a:latin typeface="微软雅黑" panose="020B0503020204020204" pitchFamily="34" charset="-122"/>
                    <a:ea typeface="微软雅黑" panose="020B0503020204020204" pitchFamily="34" charset="-122"/>
                  </a:rPr>
                  <a:t>的标准不确定度</a:t>
                </a:r>
                <a14:m>
                  <m:oMath xmlns:m="http://schemas.openxmlformats.org/officeDocument/2006/math">
                    <m:sSub>
                      <m:sSubPr>
                        <m:ctrlPr>
                          <a:rPr lang="en-US" altLang="zh-CN" sz="2800" i="1" dirty="0">
                            <a:solidFill>
                              <a:schemeClr val="bg1"/>
                            </a:solidFill>
                            <a:latin typeface="Cambria Math" panose="02040503050406030204" pitchFamily="18" charset="0"/>
                          </a:rPr>
                        </m:ctrlPr>
                      </m:sSubPr>
                      <m:e>
                        <m:r>
                          <a:rPr lang="en-US" altLang="zh-CN" sz="2800" i="1" dirty="0">
                            <a:solidFill>
                              <a:schemeClr val="bg1"/>
                            </a:solidFill>
                            <a:latin typeface="Cambria Math" panose="02040503050406030204" pitchFamily="18" charset="0"/>
                          </a:rPr>
                          <m:t>𝑢</m:t>
                        </m:r>
                      </m:e>
                      <m:sub>
                        <m:r>
                          <a:rPr lang="en-US" altLang="zh-CN" sz="2800" i="1" dirty="0">
                            <a:solidFill>
                              <a:schemeClr val="bg1"/>
                            </a:solidFill>
                            <a:latin typeface="Cambria Math" panose="02040503050406030204" pitchFamily="18" charset="0"/>
                          </a:rPr>
                          <m:t>𝑐</m:t>
                        </m:r>
                      </m:sub>
                    </m:sSub>
                    <m:d>
                      <m:dPr>
                        <m:begChr m:val=""/>
                        <m:ctrlPr>
                          <a:rPr lang="en-US" altLang="zh-CN" sz="2800" i="1" dirty="0">
                            <a:solidFill>
                              <a:schemeClr val="bg1"/>
                            </a:solidFill>
                            <a:latin typeface="Cambria Math" panose="02040503050406030204" pitchFamily="18" charset="0"/>
                          </a:rPr>
                        </m:ctrlPr>
                      </m:dPr>
                      <m:e>
                        <m:d>
                          <m:dPr>
                            <m:endChr m:val=""/>
                            <m:ctrlPr>
                              <a:rPr lang="en-US" altLang="zh-CN" sz="2800" i="1" dirty="0">
                                <a:solidFill>
                                  <a:schemeClr val="bg1"/>
                                </a:solidFill>
                                <a:latin typeface="Cambria Math" panose="02040503050406030204" pitchFamily="18" charset="0"/>
                              </a:rPr>
                            </m:ctrlPr>
                          </m:dPr>
                          <m:e>
                            <m:r>
                              <a:rPr lang="en-US" altLang="zh-CN" sz="2800" i="1" dirty="0">
                                <a:solidFill>
                                  <a:schemeClr val="bg1"/>
                                </a:solidFill>
                                <a:latin typeface="Cambria Math" panose="02040503050406030204" pitchFamily="18" charset="0"/>
                              </a:rPr>
                              <m:t>𝑦</m:t>
                            </m:r>
                          </m:e>
                        </m:d>
                      </m:e>
                    </m:d>
                    <m:r>
                      <a:rPr lang="en-US" altLang="zh-CN" sz="2800" i="1" dirty="0">
                        <a:solidFill>
                          <a:schemeClr val="bg1"/>
                        </a:solidFill>
                        <a:latin typeface="Cambria Math" panose="02040503050406030204" pitchFamily="18" charset="0"/>
                      </a:rPr>
                      <m:t> </m:t>
                    </m:r>
                  </m:oMath>
                </a14:m>
                <a:r>
                  <a:rPr lang="zh-CN" altLang="en-US" sz="2800" dirty="0">
                    <a:solidFill>
                      <a:schemeClr val="bg1"/>
                    </a:solidFill>
                    <a:latin typeface="微软雅黑" panose="020B0503020204020204" pitchFamily="34" charset="-122"/>
                    <a:ea typeface="微软雅黑" panose="020B0503020204020204" pitchFamily="34" charset="-122"/>
                  </a:rPr>
                  <a:t>，由直接测量量</a:t>
                </a:r>
                <a14:m>
                  <m:oMath xmlns:m="http://schemas.openxmlformats.org/officeDocument/2006/math">
                    <m:d>
                      <m:dPr>
                        <m:ctrlPr>
                          <a:rPr lang="en-US" altLang="zh-CN" sz="2800" i="1" dirty="0">
                            <a:solidFill>
                              <a:schemeClr val="bg1"/>
                            </a:solidFill>
                            <a:latin typeface="Cambria Math" panose="02040503050406030204" pitchFamily="18" charset="0"/>
                          </a:rPr>
                        </m:ctrlPr>
                      </m:dPr>
                      <m:e>
                        <m:sSub>
                          <m:sSubPr>
                            <m:ctrlPr>
                              <a:rPr lang="en-US" altLang="zh-CN" sz="2800" i="1" dirty="0">
                                <a:solidFill>
                                  <a:schemeClr val="bg1"/>
                                </a:solidFill>
                                <a:latin typeface="Cambria Math" panose="02040503050406030204" pitchFamily="18" charset="0"/>
                              </a:rPr>
                            </m:ctrlPr>
                          </m:sSubPr>
                          <m:e>
                            <m:r>
                              <a:rPr lang="en-US" altLang="zh-CN" sz="2800" i="1" dirty="0">
                                <a:solidFill>
                                  <a:schemeClr val="bg1"/>
                                </a:solidFill>
                                <a:latin typeface="Cambria Math" panose="02040503050406030204" pitchFamily="18" charset="0"/>
                              </a:rPr>
                              <m:t>𝑥</m:t>
                            </m:r>
                          </m:e>
                          <m:sub>
                            <m:r>
                              <a:rPr lang="en-US" altLang="zh-CN" sz="2800" i="1" dirty="0">
                                <a:solidFill>
                                  <a:schemeClr val="bg1"/>
                                </a:solidFill>
                                <a:latin typeface="Cambria Math" panose="02040503050406030204" pitchFamily="18" charset="0"/>
                              </a:rPr>
                              <m:t>1</m:t>
                            </m:r>
                          </m:sub>
                        </m:sSub>
                        <m:r>
                          <a:rPr lang="en-US" altLang="zh-CN" sz="2800" i="1" dirty="0">
                            <a:solidFill>
                              <a:schemeClr val="bg1"/>
                            </a:solidFill>
                            <a:latin typeface="Cambria Math" panose="02040503050406030204" pitchFamily="18" charset="0"/>
                          </a:rPr>
                          <m:t>,</m:t>
                        </m:r>
                        <m:sSub>
                          <m:sSubPr>
                            <m:ctrlPr>
                              <a:rPr lang="en-US" altLang="zh-CN" sz="2800" i="1" dirty="0">
                                <a:solidFill>
                                  <a:schemeClr val="bg1"/>
                                </a:solidFill>
                                <a:latin typeface="Cambria Math" panose="02040503050406030204" pitchFamily="18" charset="0"/>
                              </a:rPr>
                            </m:ctrlPr>
                          </m:sSubPr>
                          <m:e>
                            <m:r>
                              <a:rPr lang="en-US" altLang="zh-CN" sz="2800" i="1" dirty="0">
                                <a:solidFill>
                                  <a:schemeClr val="bg1"/>
                                </a:solidFill>
                                <a:latin typeface="Cambria Math" panose="02040503050406030204" pitchFamily="18" charset="0"/>
                              </a:rPr>
                              <m:t>𝑥</m:t>
                            </m:r>
                          </m:e>
                          <m:sub>
                            <m:r>
                              <a:rPr lang="en-US" altLang="zh-CN" sz="2800" i="1" dirty="0">
                                <a:solidFill>
                                  <a:schemeClr val="bg1"/>
                                </a:solidFill>
                                <a:latin typeface="Cambria Math" panose="02040503050406030204" pitchFamily="18" charset="0"/>
                              </a:rPr>
                              <m:t>2</m:t>
                            </m:r>
                          </m:sub>
                        </m:sSub>
                        <m:r>
                          <a:rPr lang="en-US" altLang="zh-CN" sz="2800" i="1" dirty="0">
                            <a:solidFill>
                              <a:schemeClr val="bg1"/>
                            </a:solidFill>
                            <a:latin typeface="Cambria Math" panose="02040503050406030204" pitchFamily="18" charset="0"/>
                          </a:rPr>
                          <m:t>,…</m:t>
                        </m:r>
                        <m:r>
                          <a:rPr lang="en-US" altLang="zh-CN" sz="2800" i="1" dirty="0" err="1">
                            <a:solidFill>
                              <a:schemeClr val="bg1"/>
                            </a:solidFill>
                            <a:latin typeface="Cambria Math" panose="02040503050406030204" pitchFamily="18" charset="0"/>
                          </a:rPr>
                          <m:t>,</m:t>
                        </m:r>
                        <m:sSub>
                          <m:sSubPr>
                            <m:ctrlPr>
                              <a:rPr lang="en-US" altLang="zh-CN" sz="2800" i="1" dirty="0" err="1">
                                <a:solidFill>
                                  <a:schemeClr val="bg1"/>
                                </a:solidFill>
                                <a:latin typeface="Cambria Math" panose="02040503050406030204" pitchFamily="18" charset="0"/>
                              </a:rPr>
                            </m:ctrlPr>
                          </m:sSubPr>
                          <m:e>
                            <m:r>
                              <a:rPr lang="en-US" altLang="zh-CN" sz="2800" i="1" dirty="0" err="1">
                                <a:solidFill>
                                  <a:schemeClr val="bg1"/>
                                </a:solidFill>
                                <a:latin typeface="Cambria Math" panose="02040503050406030204" pitchFamily="18" charset="0"/>
                              </a:rPr>
                              <m:t>𝑥</m:t>
                            </m:r>
                          </m:e>
                          <m:sub>
                            <m:r>
                              <a:rPr lang="en-US" altLang="zh-CN" sz="2800" b="0" i="1" dirty="0" smtClean="0">
                                <a:solidFill>
                                  <a:schemeClr val="bg1"/>
                                </a:solidFill>
                                <a:latin typeface="Cambria Math" panose="02040503050406030204" pitchFamily="18" charset="0"/>
                              </a:rPr>
                              <m:t>𝑛</m:t>
                            </m:r>
                          </m:sub>
                        </m:sSub>
                      </m:e>
                    </m:d>
                  </m:oMath>
                </a14:m>
                <a:r>
                  <a:rPr lang="zh-CN" altLang="en-US" sz="2800" dirty="0">
                    <a:solidFill>
                      <a:schemeClr val="bg1"/>
                    </a:solidFill>
                    <a:latin typeface="微软雅黑" panose="020B0503020204020204" pitchFamily="34" charset="-122"/>
                    <a:ea typeface="微软雅黑" panose="020B0503020204020204" pitchFamily="34" charset="-122"/>
                  </a:rPr>
                  <a:t>的标准不确定度分量</a:t>
                </a:r>
                <a14:m>
                  <m:oMath xmlns:m="http://schemas.openxmlformats.org/officeDocument/2006/math">
                    <m:r>
                      <a:rPr lang="en-US" altLang="zh-CN" sz="2800" b="0" i="1" smtClean="0">
                        <a:solidFill>
                          <a:schemeClr val="bg1"/>
                        </a:solidFill>
                        <a:latin typeface="Cambria Math" panose="02040503050406030204" pitchFamily="18" charset="0"/>
                      </a:rPr>
                      <m:t>𝑢</m:t>
                    </m:r>
                    <m:r>
                      <a:rPr lang="en-US" altLang="zh-CN" sz="2800" b="0" i="1" smtClean="0">
                        <a:solidFill>
                          <a:schemeClr val="bg1"/>
                        </a:solidFill>
                        <a:latin typeface="Cambria Math" panose="02040503050406030204" pitchFamily="18" charset="0"/>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panose="02040503050406030204" pitchFamily="18" charset="0"/>
                          </a:rPr>
                          <m:t>𝑥</m:t>
                        </m:r>
                      </m:e>
                      <m:sub>
                        <m:r>
                          <a:rPr lang="en-US" altLang="zh-CN" sz="2800" b="0" i="1" smtClean="0">
                            <a:solidFill>
                              <a:schemeClr val="bg1"/>
                            </a:solidFill>
                            <a:latin typeface="Cambria Math" panose="02040503050406030204" pitchFamily="18" charset="0"/>
                          </a:rPr>
                          <m:t>𝑖</m:t>
                        </m:r>
                      </m:sub>
                    </m:sSub>
                    <m:r>
                      <a:rPr lang="en-US" altLang="zh-CN" sz="2800" b="0" i="1" smtClean="0">
                        <a:solidFill>
                          <a:schemeClr val="bg1"/>
                        </a:solidFill>
                        <a:latin typeface="Cambria Math" panose="02040503050406030204" pitchFamily="18" charset="0"/>
                      </a:rPr>
                      <m:t>)</m:t>
                    </m:r>
                  </m:oMath>
                </a14:m>
                <a:r>
                  <a:rPr lang="zh-CN" altLang="en-US" sz="2800" dirty="0">
                    <a:solidFill>
                      <a:schemeClr val="bg1"/>
                    </a:solidFill>
                    <a:latin typeface="微软雅黑" panose="020B0503020204020204" pitchFamily="34" charset="-122"/>
                    <a:ea typeface="微软雅黑" panose="020B0503020204020204" pitchFamily="34" charset="-122"/>
                  </a:rPr>
                  <a:t>合成：</a:t>
                </a:r>
                <a:endParaRPr lang="zh-CN" altLang="en-US" sz="2800" dirty="0">
                  <a:solidFill>
                    <a:schemeClr val="bg1"/>
                  </a:solidFill>
                  <a:latin typeface="微软雅黑" panose="020B0503020204020204" pitchFamily="34" charset="-122"/>
                  <a:ea typeface="微软雅黑" panose="020B0503020204020204" pitchFamily="34" charset="-122"/>
                </a:endParaRPr>
              </a:p>
              <a:p>
                <a:pPr marL="0" indent="0" eaLnBrk="1" fontAlgn="auto" hangingPunct="1">
                  <a:spcAft>
                    <a:spcPts val="0"/>
                  </a:spcAft>
                  <a:buNone/>
                  <a:defRPr/>
                </a:pPr>
                <a:r>
                  <a:rPr lang="zh-CN" altLang="en-US" sz="2400" dirty="0">
                    <a:solidFill>
                      <a:schemeClr val="bg1"/>
                    </a:solidFill>
                    <a:latin typeface="微软雅黑" panose="020B0503020204020204" pitchFamily="34" charset="-122"/>
                    <a:ea typeface="微软雅黑" panose="020B0503020204020204" pitchFamily="34" charset="-122"/>
                  </a:rPr>
                  <a:t>注意：各输入值相互独立无关</a:t>
                </a:r>
                <a:endParaRPr lang="zh-CN" altLang="en-US" sz="2400" dirty="0">
                  <a:solidFill>
                    <a:schemeClr val="bg1"/>
                  </a:solidFill>
                  <a:latin typeface="微软雅黑" panose="020B0503020204020204" pitchFamily="34" charset="-122"/>
                  <a:ea typeface="微软雅黑" panose="020B0503020204020204" pitchFamily="34" charset="-122"/>
                </a:endParaRPr>
              </a:p>
            </p:txBody>
          </p:sp>
        </mc:Choice>
        <mc:Fallback>
          <p:sp>
            <p:nvSpPr>
              <p:cNvPr id="7" name="内容占位符 6"/>
              <p:cNvSpPr>
                <a:spLocks noRot="1" noChangeAspect="1" noMove="1" noResize="1" noEditPoints="1" noAdjustHandles="1" noChangeArrowheads="1" noChangeShapeType="1" noTextEdit="1"/>
              </p:cNvSpPr>
              <p:nvPr>
                <p:ph idx="1"/>
              </p:nvPr>
            </p:nvSpPr>
            <p:spPr>
              <a:xfrm>
                <a:off x="624313" y="1332062"/>
                <a:ext cx="10526960" cy="1561265"/>
              </a:xfrm>
              <a:blipFill rotWithShape="1">
                <a:blip r:embed="rId1"/>
                <a:stretch>
                  <a:fillRect l="-1" t="-30"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4"/>
              <p:cNvSpPr txBox="1"/>
              <p:nvPr/>
            </p:nvSpPr>
            <p:spPr>
              <a:xfrm>
                <a:off x="547362" y="5574931"/>
                <a:ext cx="11097276" cy="555408"/>
              </a:xfrm>
              <a:prstGeom prst="rect">
                <a:avLst/>
              </a:prstGeom>
              <a:noFill/>
              <a:ln w="9525">
                <a:noFill/>
              </a:ln>
            </p:spPr>
            <p:txBody>
              <a:bodyPr wrap="square">
                <a:spAutoFit/>
              </a:bodyPr>
              <a:lstStyle/>
              <a:p>
                <a:pPr>
                  <a:lnSpc>
                    <a:spcPct val="140000"/>
                  </a:lnSpc>
                  <a:defRPr/>
                </a:pPr>
                <a:r>
                  <a:rPr lang="zh-CN" altLang="en-US" sz="2400" b="1" dirty="0">
                    <a:solidFill>
                      <a:srgbClr val="0070C0"/>
                    </a:solidFill>
                    <a:latin typeface="微软雅黑" panose="020B0503020204020204" pitchFamily="34" charset="-122"/>
                    <a:ea typeface="微软雅黑" panose="020B0503020204020204" pitchFamily="34" charset="-122"/>
                  </a:rPr>
                  <a:t>灵敏系数（偏导）：</a:t>
                </a:r>
                <a:r>
                  <a:rPr lang="zh-CN" altLang="en-US" sz="2400" dirty="0">
                    <a:solidFill>
                      <a:schemeClr val="bg1"/>
                    </a:solidFill>
                    <a:latin typeface="微软雅黑" panose="020B0503020204020204" pitchFamily="34" charset="-122"/>
                    <a:ea typeface="微软雅黑" panose="020B0503020204020204" pitchFamily="34" charset="-122"/>
                  </a:rPr>
                  <a:t>测量结果</a:t>
                </a:r>
                <a14:m>
                  <m:oMath xmlns:m="http://schemas.openxmlformats.org/officeDocument/2006/math">
                    <m:r>
                      <m:rPr>
                        <m:lit/>
                      </m:rPr>
                      <a:rPr lang="en-US" altLang="zh-CN" sz="2400" i="1" dirty="0">
                        <a:solidFill>
                          <a:schemeClr val="bg1"/>
                        </a:solidFill>
                        <a:latin typeface="Cambria Math" panose="02040503050406030204" pitchFamily="18" charset="0"/>
                      </a:rPr>
                      <m:t> </m:t>
                    </m:r>
                    <m:r>
                      <a:rPr lang="en-US" altLang="zh-CN" sz="2400" i="1" dirty="0">
                        <a:solidFill>
                          <a:schemeClr val="bg1"/>
                        </a:solidFill>
                        <a:latin typeface="Cambria Math" panose="02040503050406030204" pitchFamily="18" charset="0"/>
                      </a:rPr>
                      <m:t>𝑦</m:t>
                    </m:r>
                  </m:oMath>
                </a14:m>
                <a:r>
                  <a:rPr lang="zh-CN" altLang="en-US" sz="2400" b="1" dirty="0">
                    <a:solidFill>
                      <a:schemeClr val="bg1"/>
                    </a:solidFill>
                    <a:latin typeface="微软雅黑" panose="020B0503020204020204" pitchFamily="34" charset="-122"/>
                    <a:ea typeface="微软雅黑" panose="020B0503020204020204" pitchFamily="34" charset="-122"/>
                  </a:rPr>
                  <a:t>对该自变量</a:t>
                </a:r>
                <a14:m>
                  <m:oMath xmlns:m="http://schemas.openxmlformats.org/officeDocument/2006/math">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𝑥</m:t>
                        </m:r>
                      </m:e>
                      <m:sub>
                        <m:r>
                          <a:rPr lang="en-US" altLang="zh-CN" sz="2400" i="1">
                            <a:solidFill>
                              <a:schemeClr val="bg1"/>
                            </a:solidFill>
                            <a:latin typeface="Cambria Math" panose="02040503050406030204" pitchFamily="18" charset="0"/>
                          </a:rPr>
                          <m:t>𝑖</m:t>
                        </m:r>
                      </m:sub>
                    </m:sSub>
                  </m:oMath>
                </a14:m>
                <a:r>
                  <a:rPr lang="zh-CN" altLang="en-US" sz="2400" b="1" dirty="0">
                    <a:solidFill>
                      <a:schemeClr val="bg1"/>
                    </a:solidFill>
                    <a:latin typeface="微软雅黑" panose="020B0503020204020204" pitchFamily="34" charset="-122"/>
                    <a:ea typeface="微软雅黑" panose="020B0503020204020204" pitchFamily="34" charset="-122"/>
                  </a:rPr>
                  <a:t>的变化率</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mc:Choice>
        <mc:Fallback>
          <p:sp>
            <p:nvSpPr>
              <p:cNvPr id="18" name="文本框 4"/>
              <p:cNvSpPr txBox="1">
                <a:spLocks noRot="1" noChangeAspect="1" noMove="1" noResize="1" noEditPoints="1" noAdjustHandles="1" noChangeArrowheads="1" noChangeShapeType="1" noTextEdit="1"/>
              </p:cNvSpPr>
              <p:nvPr/>
            </p:nvSpPr>
            <p:spPr>
              <a:xfrm>
                <a:off x="547362" y="5574931"/>
                <a:ext cx="11097276" cy="555408"/>
              </a:xfrm>
              <a:prstGeom prst="rect">
                <a:avLst/>
              </a:prstGeom>
              <a:blipFill rotWithShape="1">
                <a:blip r:embed="rId2"/>
                <a:stretch>
                  <a:fillRect l="-6" t="-48" b="-334"/>
                </a:stretch>
              </a:blipFill>
              <a:ln w="9525">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765934" y="3369436"/>
                <a:ext cx="3163020" cy="43088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800" b="0" i="1" smtClean="0">
                          <a:solidFill>
                            <a:srgbClr val="000000"/>
                          </a:solidFill>
                          <a:latin typeface="Cambria Math" panose="02040503050406030204" pitchFamily="18" charset="0"/>
                        </a:rPr>
                        <m:t>𝑦</m:t>
                      </m:r>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𝑓</m:t>
                      </m:r>
                      <m:r>
                        <a:rPr lang="en-US" altLang="zh-CN" sz="2800" b="0" i="1" smtClean="0">
                          <a:solidFill>
                            <a:srgbClr val="000000"/>
                          </a:solidFill>
                          <a:latin typeface="Cambria Math" panose="02040503050406030204" pitchFamily="18" charset="0"/>
                        </a:rPr>
                        <m:t>(</m:t>
                      </m:r>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1</m:t>
                          </m:r>
                        </m:sub>
                      </m:sSub>
                      <m:r>
                        <a:rPr lang="en-US" altLang="zh-CN" sz="2800" b="0" i="1" smtClean="0">
                          <a:solidFill>
                            <a:srgbClr val="000000"/>
                          </a:solidFill>
                          <a:latin typeface="Cambria Math" panose="02040503050406030204" pitchFamily="18" charset="0"/>
                        </a:rPr>
                        <m:t>,</m:t>
                      </m:r>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2</m:t>
                          </m:r>
                        </m:sub>
                      </m:sSub>
                      <m:r>
                        <a:rPr lang="en-US" altLang="zh-CN" sz="2800" b="0" i="1" smtClean="0">
                          <a:solidFill>
                            <a:srgbClr val="000000"/>
                          </a:solidFill>
                          <a:latin typeface="Cambria Math" panose="02040503050406030204" pitchFamily="18" charset="0"/>
                        </a:rPr>
                        <m:t>,…,</m:t>
                      </m:r>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𝑛</m:t>
                          </m:r>
                        </m:sub>
                      </m:sSub>
                      <m:r>
                        <a:rPr lang="en-US" altLang="zh-CN" sz="2800" b="0" i="1" smtClean="0">
                          <a:solidFill>
                            <a:srgbClr val="000000"/>
                          </a:solidFill>
                          <a:latin typeface="Cambria Math" panose="02040503050406030204" pitchFamily="18" charset="0"/>
                        </a:rPr>
                        <m:t>)</m:t>
                      </m:r>
                    </m:oMath>
                  </m:oMathPara>
                </a14:m>
                <a:endParaRPr lang="zh-CN" altLang="en-US" sz="2800" dirty="0">
                  <a:solidFill>
                    <a:srgbClr val="000000"/>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765934" y="3369436"/>
                <a:ext cx="3163020" cy="430887"/>
              </a:xfrm>
              <a:prstGeom prst="rect">
                <a:avLst/>
              </a:prstGeom>
              <a:blipFill rotWithShape="1">
                <a:blip r:embed="rId3"/>
                <a:stretch>
                  <a:fillRect l="-4" t="-29" r="7" b="11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5807968" y="2672532"/>
                <a:ext cx="3736536" cy="143686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b="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𝑢</m:t>
                          </m:r>
                        </m:e>
                        <m:sub>
                          <m:r>
                            <a:rPr lang="en-US" altLang="zh-CN" sz="2400" b="0" i="1" smtClean="0">
                              <a:solidFill>
                                <a:srgbClr val="000000"/>
                              </a:solidFill>
                              <a:latin typeface="Cambria Math" panose="02040503050406030204" pitchFamily="18" charset="0"/>
                            </a:rPr>
                            <m:t>𝑐</m:t>
                          </m:r>
                        </m:sub>
                      </m:sSub>
                      <m:r>
                        <a:rPr lang="en-US" altLang="zh-CN" sz="2400" b="0" i="1" smtClean="0">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𝑦</m:t>
                      </m:r>
                      <m:r>
                        <a:rPr lang="en-US" altLang="zh-CN" sz="2400" b="0" i="1" smtClean="0">
                          <a:solidFill>
                            <a:srgbClr val="000000"/>
                          </a:solidFill>
                          <a:latin typeface="Cambria Math" panose="02040503050406030204" pitchFamily="18" charset="0"/>
                        </a:rPr>
                        <m:t>)=</m:t>
                      </m:r>
                      <m:rad>
                        <m:radPr>
                          <m:degHide m:val="on"/>
                          <m:ctrlPr>
                            <a:rPr lang="en-US" altLang="zh-CN" sz="2400" b="0" i="1" smtClean="0">
                              <a:solidFill>
                                <a:srgbClr val="000000"/>
                              </a:solidFill>
                              <a:latin typeface="Cambria Math" panose="02040503050406030204" pitchFamily="18" charset="0"/>
                            </a:rPr>
                          </m:ctrlPr>
                        </m:radPr>
                        <m:deg/>
                        <m:e>
                          <m:nary>
                            <m:naryPr>
                              <m:chr m:val="∑"/>
                              <m:ctrlPr>
                                <a:rPr lang="en-US" altLang="zh-CN" sz="2400" b="0" i="1" smtClean="0">
                                  <a:solidFill>
                                    <a:srgbClr val="000000"/>
                                  </a:solidFill>
                                  <a:latin typeface="Cambria Math" panose="02040503050406030204" pitchFamily="18" charset="0"/>
                                </a:rPr>
                              </m:ctrlPr>
                            </m:naryPr>
                            <m:sub>
                              <m:r>
                                <m:rPr>
                                  <m:brk m:alnAt="23"/>
                                </m:rPr>
                                <a:rPr lang="en-US" altLang="zh-CN" sz="2400" b="0" i="1" smtClean="0">
                                  <a:solidFill>
                                    <a:srgbClr val="000000"/>
                                  </a:solidFill>
                                  <a:latin typeface="Cambria Math" panose="02040503050406030204" pitchFamily="18" charset="0"/>
                                </a:rPr>
                                <m:t>𝑖</m:t>
                              </m:r>
                              <m:r>
                                <a:rPr lang="en-US" altLang="zh-CN" sz="2400" b="0" i="1" smtClean="0">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1</m:t>
                              </m:r>
                            </m:sub>
                            <m:sup>
                              <m:r>
                                <a:rPr lang="en-US" altLang="zh-CN" sz="2400" b="0" i="1" smtClean="0">
                                  <a:solidFill>
                                    <a:srgbClr val="000000"/>
                                  </a:solidFill>
                                  <a:latin typeface="Cambria Math" panose="02040503050406030204" pitchFamily="18" charset="0"/>
                                </a:rPr>
                                <m:t>𝑛</m:t>
                              </m:r>
                            </m:sup>
                            <m:e>
                              <m:sSup>
                                <m:sSupPr>
                                  <m:ctrlPr>
                                    <a:rPr lang="en-US" altLang="zh-CN" sz="2400" b="0" i="1" smtClean="0">
                                      <a:solidFill>
                                        <a:srgbClr val="000000"/>
                                      </a:solidFill>
                                      <a:latin typeface="Cambria Math" panose="02040503050406030204" pitchFamily="18" charset="0"/>
                                    </a:rPr>
                                  </m:ctrlPr>
                                </m:sSupPr>
                                <m:e>
                                  <m:d>
                                    <m:dPr>
                                      <m:ctrlPr>
                                        <a:rPr lang="en-US" altLang="zh-CN" sz="2400" i="1">
                                          <a:solidFill>
                                            <a:srgbClr val="000000"/>
                                          </a:solidFill>
                                          <a:latin typeface="Cambria Math" panose="02040503050406030204" pitchFamily="18" charset="0"/>
                                        </a:rPr>
                                      </m:ctrlPr>
                                    </m:dPr>
                                    <m:e>
                                      <m:f>
                                        <m:fPr>
                                          <m:ctrlPr>
                                            <a:rPr lang="en-US" altLang="zh-CN"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𝑓</m:t>
                                          </m:r>
                                        </m:num>
                                        <m:den>
                                          <m:r>
                                            <a:rPr lang="zh-CN" altLang="en-US" sz="2400" i="1">
                                              <a:solidFill>
                                                <a:srgbClr val="000000"/>
                                              </a:solidFill>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𝑥</m:t>
                                              </m:r>
                                            </m:e>
                                            <m:sub>
                                              <m:r>
                                                <a:rPr lang="en-US" altLang="zh-CN" sz="2400" i="1">
                                                  <a:solidFill>
                                                    <a:srgbClr val="000000"/>
                                                  </a:solidFill>
                                                  <a:latin typeface="Cambria Math" panose="02040503050406030204" pitchFamily="18" charset="0"/>
                                                </a:rPr>
                                                <m:t>𝑖</m:t>
                                              </m:r>
                                            </m:sub>
                                          </m:sSub>
                                        </m:den>
                                      </m:f>
                                    </m:e>
                                  </m:d>
                                </m:e>
                                <m:sup>
                                  <m:r>
                                    <a:rPr lang="en-US" altLang="zh-CN" sz="2400" b="0" i="1" smtClean="0">
                                      <a:solidFill>
                                        <a:srgbClr val="000000"/>
                                      </a:solidFill>
                                      <a:latin typeface="Cambria Math" panose="02040503050406030204" pitchFamily="18" charset="0"/>
                                    </a:rPr>
                                    <m:t>2</m:t>
                                  </m:r>
                                </m:sup>
                              </m:sSup>
                            </m:e>
                          </m:nary>
                          <m:sSup>
                            <m:sSupPr>
                              <m:ctrlPr>
                                <a:rPr lang="en-US" altLang="zh-CN" sz="2400" b="0" i="1" smtClean="0">
                                  <a:solidFill>
                                    <a:srgbClr val="000000"/>
                                  </a:solidFill>
                                  <a:latin typeface="Cambria Math" panose="02040503050406030204" pitchFamily="18" charset="0"/>
                                </a:rPr>
                              </m:ctrlPr>
                            </m:sSupPr>
                            <m:e>
                              <m:r>
                                <a:rPr lang="en-US" altLang="zh-CN" sz="2400" b="0" i="1" smtClean="0">
                                  <a:solidFill>
                                    <a:srgbClr val="000000"/>
                                  </a:solidFill>
                                  <a:latin typeface="Cambria Math" panose="02040503050406030204" pitchFamily="18" charset="0"/>
                                </a:rPr>
                                <m:t>𝑢</m:t>
                              </m:r>
                            </m:e>
                            <m:sup>
                              <m:r>
                                <a:rPr lang="en-US" altLang="zh-CN" sz="2400" b="0" i="1" smtClean="0">
                                  <a:solidFill>
                                    <a:srgbClr val="000000"/>
                                  </a:solidFill>
                                  <a:latin typeface="Cambria Math" panose="02040503050406030204" pitchFamily="18" charset="0"/>
                                </a:rPr>
                                <m:t>2</m:t>
                              </m:r>
                            </m:sup>
                          </m:sSup>
                          <m:r>
                            <a:rPr lang="en-US" altLang="zh-CN" sz="2400" b="0" i="1" smtClean="0">
                              <a:solidFill>
                                <a:srgbClr val="000000"/>
                              </a:solidFill>
                              <a:latin typeface="Cambria Math" panose="02040503050406030204" pitchFamily="18" charset="0"/>
                            </a:rPr>
                            <m:t>(</m:t>
                          </m:r>
                          <m:sSub>
                            <m:sSubPr>
                              <m:ctrlPr>
                                <a:rPr lang="en-US" altLang="zh-CN" sz="2400" b="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𝑖</m:t>
                              </m:r>
                            </m:sub>
                          </m:sSub>
                          <m:r>
                            <a:rPr lang="en-US" altLang="zh-CN" sz="2400" b="0" i="1" smtClean="0">
                              <a:solidFill>
                                <a:srgbClr val="000000"/>
                              </a:solidFill>
                              <a:latin typeface="Cambria Math" panose="02040503050406030204" pitchFamily="18" charset="0"/>
                            </a:rPr>
                            <m:t>)</m:t>
                          </m:r>
                        </m:e>
                      </m:rad>
                    </m:oMath>
                  </m:oMathPara>
                </a14:m>
                <a:endParaRPr lang="zh-CN" altLang="en-US" sz="2400" dirty="0"/>
              </a:p>
            </p:txBody>
          </p:sp>
        </mc:Choice>
        <mc:Fallback>
          <p:sp>
            <p:nvSpPr>
              <p:cNvPr id="13" name="文本框 12"/>
              <p:cNvSpPr txBox="1">
                <a:spLocks noRot="1" noChangeAspect="1" noMove="1" noResize="1" noEditPoints="1" noAdjustHandles="1" noChangeArrowheads="1" noChangeShapeType="1" noTextEdit="1"/>
              </p:cNvSpPr>
              <p:nvPr/>
            </p:nvSpPr>
            <p:spPr>
              <a:xfrm>
                <a:off x="5807968" y="2672532"/>
                <a:ext cx="3736536" cy="1436868"/>
              </a:xfrm>
              <a:prstGeom prst="rect">
                <a:avLst/>
              </a:prstGeom>
              <a:blipFill rotWithShape="1">
                <a:blip r:embed="rId4"/>
                <a:stretch>
                  <a:fillRect l="-7" t="-31" r="12"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600108" y="4276168"/>
                <a:ext cx="10341805" cy="876843"/>
              </a:xfrm>
              <a:prstGeom prst="rect">
                <a:avLst/>
              </a:prstGeom>
              <a:noFill/>
            </p:spPr>
            <p:txBody>
              <a:bodyPr wrap="none" lIns="0" tIns="0" rIns="0" bIns="0" rtlCol="0">
                <a:spAutoFit/>
              </a:bodyPr>
              <a:lstStyle/>
              <a:p>
                <a:r>
                  <a:rPr lang="zh-CN" altLang="en-US" sz="2400" dirty="0">
                    <a:solidFill>
                      <a:srgbClr val="000000"/>
                    </a:solidFill>
                    <a:latin typeface="微软雅黑" panose="020B0503020204020204" pitchFamily="34" charset="-122"/>
                    <a:ea typeface="微软雅黑" panose="020B0503020204020204" pitchFamily="34" charset="-122"/>
                  </a:rPr>
                  <a:t>展开写</a:t>
                </a:r>
                <a14:m>
                  <m:oMath xmlns:m="http://schemas.openxmlformats.org/officeDocument/2006/math">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𝑢</m:t>
                        </m:r>
                      </m:e>
                      <m:sub>
                        <m:r>
                          <a:rPr lang="en-US" altLang="zh-CN" sz="2800" b="0" i="1" smtClean="0">
                            <a:solidFill>
                              <a:srgbClr val="000000"/>
                            </a:solidFill>
                            <a:latin typeface="Cambria Math" panose="02040503050406030204" pitchFamily="18" charset="0"/>
                          </a:rPr>
                          <m:t>𝑐</m:t>
                        </m:r>
                      </m:sub>
                    </m:sSub>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𝑦</m:t>
                    </m:r>
                    <m:r>
                      <a:rPr lang="en-US" altLang="zh-CN" sz="2800" b="0" i="1" smtClean="0">
                        <a:solidFill>
                          <a:srgbClr val="000000"/>
                        </a:solidFill>
                        <a:latin typeface="Cambria Math" panose="02040503050406030204" pitchFamily="18" charset="0"/>
                      </a:rPr>
                      <m:t>)=</m:t>
                    </m:r>
                    <m:rad>
                      <m:radPr>
                        <m:degHide m:val="on"/>
                        <m:ctrlPr>
                          <a:rPr lang="en-US" altLang="zh-CN" sz="2800" b="0" i="1" smtClean="0">
                            <a:solidFill>
                              <a:srgbClr val="000000"/>
                            </a:solidFill>
                            <a:latin typeface="Cambria Math" panose="02040503050406030204" pitchFamily="18" charset="0"/>
                          </a:rPr>
                        </m:ctrlPr>
                      </m:radPr>
                      <m:deg/>
                      <m:e>
                        <m:sSup>
                          <m:sSupPr>
                            <m:ctrlPr>
                              <a:rPr lang="en-US" altLang="zh-CN" sz="2800" i="1">
                                <a:solidFill>
                                  <a:srgbClr val="000000"/>
                                </a:solidFill>
                                <a:latin typeface="Cambria Math" panose="02040503050406030204" pitchFamily="18" charset="0"/>
                              </a:rPr>
                            </m:ctrlPr>
                          </m:sSupPr>
                          <m:e>
                            <m:d>
                              <m:dPr>
                                <m:ctrlPr>
                                  <a:rPr lang="en-US" altLang="zh-CN" sz="2800" i="1">
                                    <a:solidFill>
                                      <a:srgbClr val="000000"/>
                                    </a:solidFill>
                                    <a:latin typeface="Cambria Math" panose="02040503050406030204" pitchFamily="18" charset="0"/>
                                  </a:rPr>
                                </m:ctrlPr>
                              </m:dPr>
                              <m:e>
                                <m:f>
                                  <m:fPr>
                                    <m:ctrlPr>
                                      <a:rPr lang="en-US" altLang="zh-CN"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𝑓</m:t>
                                    </m:r>
                                  </m:num>
                                  <m:den>
                                    <m:r>
                                      <a:rPr lang="zh-CN" altLang="en-US"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1</m:t>
                                        </m:r>
                                      </m:sub>
                                    </m:sSub>
                                  </m:den>
                                </m:f>
                              </m:e>
                            </m:d>
                          </m:e>
                          <m:sup>
                            <m:r>
                              <a:rPr lang="en-US" altLang="zh-CN" sz="2800" i="1">
                                <a:solidFill>
                                  <a:srgbClr val="000000"/>
                                </a:solidFill>
                                <a:latin typeface="Cambria Math" panose="02040503050406030204" pitchFamily="18" charset="0"/>
                              </a:rPr>
                              <m:t>2</m:t>
                            </m:r>
                          </m:sup>
                        </m:sSup>
                        <m:sSup>
                          <m:sSupPr>
                            <m:ctrlPr>
                              <a:rPr lang="en-US" altLang="zh-CN" sz="2800" b="0" i="1" smtClean="0">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𝑢</m:t>
                            </m:r>
                          </m:e>
                          <m:sup>
                            <m:r>
                              <a:rPr lang="en-US" altLang="zh-CN" sz="2800" b="0" i="1" smtClean="0">
                                <a:solidFill>
                                  <a:srgbClr val="000000"/>
                                </a:solidFill>
                                <a:latin typeface="Cambria Math" panose="02040503050406030204" pitchFamily="18" charset="0"/>
                              </a:rPr>
                              <m:t>2</m:t>
                            </m:r>
                          </m:sup>
                        </m:sSup>
                        <m:d>
                          <m:dPr>
                            <m:ctrlPr>
                              <a:rPr lang="en-US" altLang="zh-CN" sz="2800" b="0" i="1" smtClean="0">
                                <a:solidFill>
                                  <a:srgbClr val="000000"/>
                                </a:solidFill>
                                <a:latin typeface="Cambria Math" panose="02040503050406030204" pitchFamily="18" charset="0"/>
                              </a:rPr>
                            </m:ctrlPr>
                          </m:dPr>
                          <m:e>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1</m:t>
                                </m:r>
                              </m:sub>
                            </m:sSub>
                          </m:e>
                        </m:d>
                        <m:r>
                          <a:rPr lang="en-US" altLang="zh-CN" sz="2800" b="0" i="1" smtClean="0">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d>
                              <m:dPr>
                                <m:ctrlPr>
                                  <a:rPr lang="en-US" altLang="zh-CN" sz="2800" i="1">
                                    <a:solidFill>
                                      <a:srgbClr val="000000"/>
                                    </a:solidFill>
                                    <a:latin typeface="Cambria Math" panose="02040503050406030204" pitchFamily="18" charset="0"/>
                                  </a:rPr>
                                </m:ctrlPr>
                              </m:dPr>
                              <m:e>
                                <m:f>
                                  <m:fPr>
                                    <m:ctrlPr>
                                      <a:rPr lang="en-US" altLang="zh-CN"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𝑓</m:t>
                                    </m:r>
                                  </m:num>
                                  <m:den>
                                    <m:r>
                                      <a:rPr lang="zh-CN" altLang="en-US"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2</m:t>
                                        </m:r>
                                      </m:sub>
                                    </m:sSub>
                                  </m:den>
                                </m:f>
                              </m:e>
                            </m:d>
                          </m:e>
                          <m:sup>
                            <m:r>
                              <a:rPr lang="en-US" altLang="zh-CN" sz="2800" i="1">
                                <a:solidFill>
                                  <a:srgbClr val="000000"/>
                                </a:solidFill>
                                <a:latin typeface="Cambria Math" panose="02040503050406030204" pitchFamily="18" charset="0"/>
                              </a:rPr>
                              <m:t>2</m:t>
                            </m:r>
                          </m:sup>
                        </m:sSup>
                        <m:sSup>
                          <m:sSupPr>
                            <m:ctrlPr>
                              <a:rPr lang="en-US" altLang="zh-CN"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𝑢</m:t>
                            </m:r>
                          </m:e>
                          <m:sup>
                            <m:r>
                              <a:rPr lang="en-US" altLang="zh-CN" sz="2800" i="1">
                                <a:solidFill>
                                  <a:srgbClr val="000000"/>
                                </a:solidFill>
                                <a:latin typeface="Cambria Math" panose="02040503050406030204" pitchFamily="18" charset="0"/>
                              </a:rPr>
                              <m:t>2</m:t>
                            </m:r>
                          </m:sup>
                        </m:sSup>
                        <m:d>
                          <m:dPr>
                            <m:ctrlPr>
                              <a:rPr lang="en-US" altLang="zh-CN" sz="2800" i="1">
                                <a:solidFill>
                                  <a:srgbClr val="000000"/>
                                </a:solidFill>
                                <a:latin typeface="Cambria Math" panose="02040503050406030204" pitchFamily="18" charset="0"/>
                              </a:rPr>
                            </m:ctrlPr>
                          </m:dPr>
                          <m:e>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2</m:t>
                                </m:r>
                              </m:sub>
                            </m:sSub>
                          </m:e>
                        </m:d>
                        <m:r>
                          <a:rPr lang="en-US" altLang="zh-CN" sz="2800" b="0" i="1" smtClean="0">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d>
                              <m:dPr>
                                <m:ctrlPr>
                                  <a:rPr lang="en-US" altLang="zh-CN" sz="2800" i="1">
                                    <a:solidFill>
                                      <a:srgbClr val="000000"/>
                                    </a:solidFill>
                                    <a:latin typeface="Cambria Math" panose="02040503050406030204" pitchFamily="18" charset="0"/>
                                  </a:rPr>
                                </m:ctrlPr>
                              </m:dPr>
                              <m:e>
                                <m:f>
                                  <m:fPr>
                                    <m:ctrlPr>
                                      <a:rPr lang="en-US" altLang="zh-CN"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𝑓</m:t>
                                    </m:r>
                                  </m:num>
                                  <m:den>
                                    <m:r>
                                      <a:rPr lang="zh-CN" altLang="en-US"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3</m:t>
                                        </m:r>
                                      </m:sub>
                                    </m:sSub>
                                  </m:den>
                                </m:f>
                              </m:e>
                            </m:d>
                          </m:e>
                          <m:sup>
                            <m:r>
                              <a:rPr lang="en-US" altLang="zh-CN" sz="2800" i="1">
                                <a:solidFill>
                                  <a:srgbClr val="000000"/>
                                </a:solidFill>
                                <a:latin typeface="Cambria Math" panose="02040503050406030204" pitchFamily="18" charset="0"/>
                              </a:rPr>
                              <m:t>2</m:t>
                            </m:r>
                          </m:sup>
                        </m:sSup>
                        <m:sSup>
                          <m:sSupPr>
                            <m:ctrlPr>
                              <a:rPr lang="en-US" altLang="zh-CN"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𝑢</m:t>
                            </m:r>
                          </m:e>
                          <m:sup>
                            <m:r>
                              <a:rPr lang="en-US" altLang="zh-CN" sz="2800" i="1">
                                <a:solidFill>
                                  <a:srgbClr val="000000"/>
                                </a:solidFill>
                                <a:latin typeface="Cambria Math" panose="02040503050406030204" pitchFamily="18" charset="0"/>
                              </a:rPr>
                              <m:t>2</m:t>
                            </m:r>
                          </m:sup>
                        </m:sSup>
                        <m:d>
                          <m:dPr>
                            <m:ctrlPr>
                              <a:rPr lang="en-US" altLang="zh-CN" sz="2800" i="1">
                                <a:solidFill>
                                  <a:srgbClr val="000000"/>
                                </a:solidFill>
                                <a:latin typeface="Cambria Math" panose="02040503050406030204" pitchFamily="18" charset="0"/>
                              </a:rPr>
                            </m:ctrlPr>
                          </m:dPr>
                          <m:e>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3</m:t>
                                </m:r>
                              </m:sub>
                            </m:sSub>
                          </m:e>
                        </m:d>
                        <m:r>
                          <a:rPr lang="en-US" altLang="zh-CN" sz="2800" b="0" i="1" smtClean="0">
                            <a:solidFill>
                              <a:srgbClr val="000000"/>
                            </a:solidFill>
                            <a:latin typeface="Cambria Math" panose="02040503050406030204" pitchFamily="18" charset="0"/>
                          </a:rPr>
                          <m:t>+…</m:t>
                        </m:r>
                      </m:e>
                    </m:rad>
                  </m:oMath>
                </a14:m>
                <a:endParaRPr lang="zh-CN" altLang="en-US" sz="2400" dirty="0"/>
              </a:p>
            </p:txBody>
          </p:sp>
        </mc:Choice>
        <mc:Fallback>
          <p:sp>
            <p:nvSpPr>
              <p:cNvPr id="14" name="文本框 13"/>
              <p:cNvSpPr txBox="1">
                <a:spLocks noRot="1" noChangeAspect="1" noMove="1" noResize="1" noEditPoints="1" noAdjustHandles="1" noChangeArrowheads="1" noChangeShapeType="1" noTextEdit="1"/>
              </p:cNvSpPr>
              <p:nvPr/>
            </p:nvSpPr>
            <p:spPr>
              <a:xfrm>
                <a:off x="600108" y="4276168"/>
                <a:ext cx="10341805" cy="876843"/>
              </a:xfrm>
              <a:prstGeom prst="rect">
                <a:avLst/>
              </a:prstGeom>
              <a:blipFill rotWithShape="1">
                <a:blip r:embed="rId5"/>
                <a:stretch>
                  <a:fillRect t="-9" r="2" b="71"/>
                </a:stretch>
              </a:blipFill>
            </p:spPr>
            <p:txBody>
              <a:bodyPr/>
              <a:lstStyle/>
              <a:p>
                <a:r>
                  <a:rPr lang="zh-CN" altLang="en-US">
                    <a:noFill/>
                  </a:rPr>
                  <a:t> </a:t>
                </a:r>
              </a:p>
            </p:txBody>
          </p:sp>
        </mc:Fallback>
      </mc:AlternateContent>
      <p:sp>
        <p:nvSpPr>
          <p:cNvPr id="19" name="椭圆 18"/>
          <p:cNvSpPr/>
          <p:nvPr/>
        </p:nvSpPr>
        <p:spPr>
          <a:xfrm>
            <a:off x="3011646" y="4324859"/>
            <a:ext cx="991935" cy="108956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3" name="箭头: 右 2"/>
          <p:cNvSpPr/>
          <p:nvPr/>
        </p:nvSpPr>
        <p:spPr>
          <a:xfrm>
            <a:off x="4264513" y="3111932"/>
            <a:ext cx="991935" cy="6321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5423184" y="4276168"/>
            <a:ext cx="991935" cy="108956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22" name="椭圆 21"/>
          <p:cNvSpPr/>
          <p:nvPr/>
        </p:nvSpPr>
        <p:spPr>
          <a:xfrm>
            <a:off x="7968208" y="4324858"/>
            <a:ext cx="991935" cy="108956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5" name="标题 4"/>
          <p:cNvSpPr>
            <a:spLocks noGrp="1"/>
          </p:cNvSpPr>
          <p:nvPr>
            <p:ph type="title"/>
          </p:nvPr>
        </p:nvSpPr>
        <p:spPr/>
        <p:txBody>
          <a:bodyPr/>
          <a:lstStyle/>
          <a:p>
            <a:r>
              <a:rPr lang="zh-CN" altLang="en-US" sz="4800" b="1" dirty="0">
                <a:solidFill>
                  <a:schemeClr val="bg1"/>
                </a:solidFill>
                <a:latin typeface="微软雅黑" panose="020B0503020204020204" pitchFamily="34" charset="-122"/>
                <a:ea typeface="微软雅黑" panose="020B0503020204020204" pitchFamily="34" charset="-122"/>
              </a:rPr>
              <a:t>间接测量量：</a:t>
            </a:r>
            <a:endParaRPr lang="zh-CN" altLang="en-US" sz="4400" b="1" dirty="0"/>
          </a:p>
        </p:txBody>
      </p:sp>
      <p:sp>
        <p:nvSpPr>
          <p:cNvPr id="4" name="矩形 3"/>
          <p:cNvSpPr/>
          <p:nvPr/>
        </p:nvSpPr>
        <p:spPr>
          <a:xfrm>
            <a:off x="772870" y="2964926"/>
            <a:ext cx="1723549" cy="461665"/>
          </a:xfrm>
          <a:prstGeom prst="rect">
            <a:avLst/>
          </a:prstGeom>
        </p:spPr>
        <p:txBody>
          <a:bodyPr wrap="none">
            <a:spAutoFit/>
          </a:bodyPr>
          <a:lstStyle/>
          <a:p>
            <a:r>
              <a:rPr lang="zh-CN" altLang="en-US" sz="2400" b="1" dirty="0">
                <a:solidFill>
                  <a:srgbClr val="0070C0"/>
                </a:solidFill>
                <a:latin typeface="微软雅黑" panose="020B0503020204020204" pitchFamily="34" charset="-122"/>
                <a:ea typeface="微软雅黑" panose="020B0503020204020204" pitchFamily="34" charset="-122"/>
              </a:rPr>
              <a:t>测量模型：</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8" grpId="0"/>
      <p:bldP spid="2" grpId="0"/>
      <p:bldP spid="13" grpId="0"/>
      <p:bldP spid="14" grpId="0"/>
      <p:bldP spid="19" grpId="0" animBg="1"/>
      <p:bldP spid="3" grpId="0" animBg="1"/>
      <p:bldP spid="21" grpId="0" animBg="1"/>
      <p:bldP spid="22" grpId="0" animBg="1"/>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表格 13"/>
          <p:cNvGraphicFramePr>
            <a:graphicFrameLocks noGrp="1"/>
          </p:cNvGraphicFramePr>
          <p:nvPr/>
        </p:nvGraphicFramePr>
        <p:xfrm>
          <a:off x="642555" y="1038592"/>
          <a:ext cx="9994126" cy="5682884"/>
        </p:xfrm>
        <a:graphic>
          <a:graphicData uri="http://schemas.openxmlformats.org/drawingml/2006/table">
            <a:tbl>
              <a:tblPr firstRow="1" bandRow="1">
                <a:tableStyleId>{7DF18680-E054-41AD-8BC1-D1AEF772440D}</a:tableStyleId>
              </a:tblPr>
              <a:tblGrid>
                <a:gridCol w="4997063"/>
                <a:gridCol w="4997063"/>
              </a:tblGrid>
              <a:tr h="1420721">
                <a:tc>
                  <a:txBody>
                    <a:bodyPr/>
                    <a:lstStyle/>
                    <a:p>
                      <a:endParaRPr lang="zh-CN" altLang="en-US" dirty="0">
                        <a:ln>
                          <a:solidFill>
                            <a:schemeClr val="accent6">
                              <a:lumMod val="60000"/>
                              <a:lumOff val="40000"/>
                            </a:schemeClr>
                          </a:solidFill>
                        </a:ln>
                        <a:solidFill>
                          <a:srgbClr val="000000"/>
                        </a:solidFill>
                      </a:endParaRPr>
                    </a:p>
                  </a:txBody>
                  <a:tcPr/>
                </a:tc>
                <a:tc>
                  <a:txBody>
                    <a:bodyPr/>
                    <a:lstStyle/>
                    <a:p>
                      <a:endParaRPr lang="zh-CN" altLang="en-US" dirty="0">
                        <a:ln>
                          <a:solidFill>
                            <a:schemeClr val="accent6">
                              <a:lumMod val="60000"/>
                              <a:lumOff val="40000"/>
                            </a:schemeClr>
                          </a:solidFill>
                        </a:ln>
                        <a:solidFill>
                          <a:srgbClr val="000000"/>
                        </a:solidFill>
                      </a:endParaRPr>
                    </a:p>
                  </a:txBody>
                  <a:tcPr/>
                </a:tc>
              </a:tr>
              <a:tr h="1420721">
                <a:tc>
                  <a:txBody>
                    <a:bodyPr/>
                    <a:lstStyle/>
                    <a:p>
                      <a:endParaRPr lang="zh-CN" altLang="en-US" dirty="0">
                        <a:ln>
                          <a:solidFill>
                            <a:schemeClr val="accent6">
                              <a:lumMod val="60000"/>
                              <a:lumOff val="40000"/>
                            </a:schemeClr>
                          </a:solidFill>
                        </a:ln>
                        <a:solidFill>
                          <a:srgbClr val="000000"/>
                        </a:solidFill>
                      </a:endParaRPr>
                    </a:p>
                  </a:txBody>
                  <a:tcPr/>
                </a:tc>
                <a:tc>
                  <a:txBody>
                    <a:bodyPr/>
                    <a:lstStyle/>
                    <a:p>
                      <a:endParaRPr lang="zh-CN" altLang="en-US" dirty="0">
                        <a:ln>
                          <a:solidFill>
                            <a:schemeClr val="accent6">
                              <a:lumMod val="60000"/>
                              <a:lumOff val="40000"/>
                            </a:schemeClr>
                          </a:solidFill>
                        </a:ln>
                        <a:solidFill>
                          <a:srgbClr val="000000"/>
                        </a:solidFill>
                      </a:endParaRPr>
                    </a:p>
                  </a:txBody>
                  <a:tcPr/>
                </a:tc>
              </a:tr>
              <a:tr h="1420721">
                <a:tc>
                  <a:txBody>
                    <a:bodyPr/>
                    <a:lstStyle/>
                    <a:p>
                      <a:endParaRPr lang="zh-CN" altLang="en-US">
                        <a:ln>
                          <a:solidFill>
                            <a:schemeClr val="accent6">
                              <a:lumMod val="60000"/>
                              <a:lumOff val="40000"/>
                            </a:schemeClr>
                          </a:solidFill>
                        </a:ln>
                        <a:solidFill>
                          <a:srgbClr val="000000"/>
                        </a:solidFill>
                      </a:endParaRPr>
                    </a:p>
                  </a:txBody>
                  <a:tcPr/>
                </a:tc>
                <a:tc>
                  <a:txBody>
                    <a:bodyPr/>
                    <a:lstStyle/>
                    <a:p>
                      <a:endParaRPr lang="zh-CN" altLang="en-US">
                        <a:ln>
                          <a:solidFill>
                            <a:schemeClr val="accent6">
                              <a:lumMod val="60000"/>
                              <a:lumOff val="40000"/>
                            </a:schemeClr>
                          </a:solidFill>
                        </a:ln>
                        <a:solidFill>
                          <a:srgbClr val="000000"/>
                        </a:solidFill>
                      </a:endParaRPr>
                    </a:p>
                  </a:txBody>
                  <a:tcPr/>
                </a:tc>
              </a:tr>
              <a:tr h="1420721">
                <a:tc>
                  <a:txBody>
                    <a:bodyPr/>
                    <a:lstStyle/>
                    <a:p>
                      <a:endParaRPr lang="zh-CN" altLang="en-US">
                        <a:ln>
                          <a:solidFill>
                            <a:schemeClr val="accent6">
                              <a:lumMod val="60000"/>
                              <a:lumOff val="40000"/>
                            </a:schemeClr>
                          </a:solidFill>
                        </a:ln>
                        <a:solidFill>
                          <a:srgbClr val="000000"/>
                        </a:solidFill>
                      </a:endParaRPr>
                    </a:p>
                  </a:txBody>
                  <a:tcPr/>
                </a:tc>
                <a:tc>
                  <a:txBody>
                    <a:bodyPr/>
                    <a:lstStyle/>
                    <a:p>
                      <a:endParaRPr lang="zh-CN" altLang="en-US" dirty="0">
                        <a:ln>
                          <a:solidFill>
                            <a:schemeClr val="accent6">
                              <a:lumMod val="60000"/>
                              <a:lumOff val="40000"/>
                            </a:schemeClr>
                          </a:solidFill>
                        </a:ln>
                        <a:solidFill>
                          <a:srgbClr val="000000"/>
                        </a:solidFill>
                      </a:endParaRPr>
                    </a:p>
                  </a:txBody>
                  <a:tcPr/>
                </a:tc>
              </a:tr>
            </a:tbl>
          </a:graphicData>
        </a:graphic>
      </p:graphicFrame>
      <p:sp>
        <p:nvSpPr>
          <p:cNvPr id="5126" name="标题 1"/>
          <p:cNvSpPr>
            <a:spLocks noGrp="1"/>
          </p:cNvSpPr>
          <p:nvPr>
            <p:ph type="title"/>
          </p:nvPr>
        </p:nvSpPr>
        <p:spPr>
          <a:xfrm>
            <a:off x="638362" y="109166"/>
            <a:ext cx="8229600" cy="1143000"/>
          </a:xfrm>
        </p:spPr>
        <p:txBody>
          <a:bodyPr/>
          <a:lstStyle/>
          <a:p>
            <a:pPr eaLnBrk="1" hangingPunct="1">
              <a:defRPr/>
            </a:pPr>
            <a:r>
              <a:rPr lang="zh-CN" altLang="en-US" b="1" dirty="0">
                <a:solidFill>
                  <a:schemeClr val="bg1"/>
                </a:solidFill>
                <a:latin typeface="微软雅黑" panose="020B0503020204020204" pitchFamily="34" charset="-122"/>
                <a:ea typeface="微软雅黑" panose="020B0503020204020204" pitchFamily="34" charset="-122"/>
              </a:rPr>
              <a:t>几个常见的合成公式</a:t>
            </a:r>
            <a:endParaRPr lang="zh-CN" altLang="en-US" dirty="0">
              <a:latin typeface="微软雅黑" panose="020B0503020204020204" pitchFamily="34" charset="-122"/>
              <a:ea typeface="微软雅黑" panose="020B0503020204020204" pitchFamily="34" charset="-122"/>
            </a:endParaRPr>
          </a:p>
        </p:txBody>
      </p:sp>
      <p:sp>
        <p:nvSpPr>
          <p:cNvPr id="5130" name="TextBox 7"/>
          <p:cNvSpPr txBox="1">
            <a:spLocks noChangeArrowheads="1"/>
          </p:cNvSpPr>
          <p:nvPr/>
        </p:nvSpPr>
        <p:spPr bwMode="auto">
          <a:xfrm>
            <a:off x="812410" y="2749427"/>
            <a:ext cx="863600" cy="461665"/>
          </a:xfrm>
          <a:prstGeom prst="rect">
            <a:avLst/>
          </a:prstGeom>
          <a:noFill/>
          <a:ln w="9525">
            <a:noFill/>
            <a:miter lim="800000"/>
          </a:ln>
        </p:spPr>
        <p:txBody>
          <a:bodyPr>
            <a:spAutoFit/>
          </a:bodyPr>
          <a:lstStyle/>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加减：</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5131" name="TextBox 9"/>
          <p:cNvSpPr txBox="1">
            <a:spLocks noChangeArrowheads="1"/>
          </p:cNvSpPr>
          <p:nvPr/>
        </p:nvSpPr>
        <p:spPr bwMode="auto">
          <a:xfrm>
            <a:off x="757106" y="5675747"/>
            <a:ext cx="1159292" cy="523220"/>
          </a:xfrm>
          <a:prstGeom prst="rect">
            <a:avLst/>
          </a:prstGeom>
          <a:noFill/>
          <a:ln w="9525">
            <a:noFill/>
            <a:miter lim="800000"/>
          </a:ln>
        </p:spPr>
        <p:txBody>
          <a:bodyPr wrap="none">
            <a:spAutoFit/>
          </a:bodyPr>
          <a:lstStyle/>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乘方</a:t>
            </a:r>
            <a:r>
              <a:rPr lang="zh-CN" altLang="en-US" sz="2800" dirty="0">
                <a:solidFill>
                  <a:srgbClr val="000000"/>
                </a:solidFill>
                <a:latin typeface="+mn-ea"/>
                <a:ea typeface="+mn-ea"/>
              </a:rPr>
              <a:t>：</a:t>
            </a:r>
            <a:endParaRPr lang="zh-CN" altLang="en-US" sz="2800" dirty="0">
              <a:solidFill>
                <a:srgbClr val="000000"/>
              </a:solidFill>
              <a:latin typeface="+mn-ea"/>
              <a:ea typeface="+mn-ea"/>
            </a:endParaRPr>
          </a:p>
        </p:txBody>
      </p:sp>
      <p:sp>
        <p:nvSpPr>
          <p:cNvPr id="5133" name="TextBox 13"/>
          <p:cNvSpPr txBox="1">
            <a:spLocks noChangeArrowheads="1"/>
          </p:cNvSpPr>
          <p:nvPr/>
        </p:nvSpPr>
        <p:spPr bwMode="auto">
          <a:xfrm>
            <a:off x="782394" y="4343392"/>
            <a:ext cx="1107996" cy="461665"/>
          </a:xfrm>
          <a:prstGeom prst="rect">
            <a:avLst/>
          </a:prstGeom>
          <a:noFill/>
          <a:ln w="9525">
            <a:noFill/>
            <a:miter lim="800000"/>
          </a:ln>
        </p:spPr>
        <p:txBody>
          <a:bodyPr wrap="none">
            <a:spAutoFit/>
          </a:bodyPr>
          <a:lstStyle/>
          <a:p>
            <a:pPr>
              <a:defRPr/>
            </a:pPr>
            <a:r>
              <a:rPr lang="zh-CN" altLang="en-US" sz="2400" dirty="0">
                <a:solidFill>
                  <a:srgbClr val="000000"/>
                </a:solidFill>
                <a:latin typeface="微软雅黑" panose="020B0503020204020204" pitchFamily="34" charset="-122"/>
                <a:ea typeface="微软雅黑" panose="020B0503020204020204" pitchFamily="34" charset="-122"/>
              </a:rPr>
              <a:t>乘除：</a:t>
            </a:r>
            <a:endParaRPr lang="zh-CN" altLang="en-US" sz="240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4344" name="Object 18"/>
              <p:cNvSpPr txBox="1"/>
              <p:nvPr/>
            </p:nvSpPr>
            <p:spPr bwMode="auto">
              <a:xfrm>
                <a:off x="1790506" y="5738138"/>
                <a:ext cx="1345621" cy="598022"/>
              </a:xfrm>
              <a:prstGeom prst="rect">
                <a:avLst/>
              </a:prstGeom>
              <a:noFill/>
              <a:ln>
                <a:noFill/>
              </a:ln>
            </p:spPr>
            <p:txBody>
              <a:bodyPr>
                <a:noAutofit/>
              </a:bodyPr>
              <a:lstStyle/>
              <a:p>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𝑦</m:t>
                      </m:r>
                      <m:r>
                        <a:rPr lang="zh-CN" altLang="en-US" sz="280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𝑥</m:t>
                          </m:r>
                        </m:e>
                        <m:sup>
                          <m:r>
                            <a:rPr lang="zh-CN" altLang="en-US" sz="2800" i="1">
                              <a:solidFill>
                                <a:srgbClr val="000000"/>
                              </a:solidFill>
                              <a:latin typeface="Cambria Math" panose="02040503050406030204" pitchFamily="18" charset="0"/>
                            </a:rPr>
                            <m:t>𝑛</m:t>
                          </m:r>
                        </m:sup>
                      </m:sSup>
                    </m:oMath>
                  </m:oMathPara>
                </a14:m>
                <a:endParaRPr lang="zh-CN" altLang="en-US" sz="2800" dirty="0"/>
              </a:p>
            </p:txBody>
          </p:sp>
        </mc:Choice>
        <mc:Fallback>
          <p:sp>
            <p:nvSpPr>
              <p:cNvPr id="14344" name="Object 18"/>
              <p:cNvSpPr txBox="1">
                <a:spLocks noRot="1" noChangeAspect="1" noMove="1" noResize="1" noEditPoints="1" noAdjustHandles="1" noChangeArrowheads="1" noChangeShapeType="1" noTextEdit="1"/>
              </p:cNvSpPr>
              <p:nvPr/>
            </p:nvSpPr>
            <p:spPr bwMode="auto">
              <a:xfrm>
                <a:off x="1790506" y="5738138"/>
                <a:ext cx="1345621" cy="598022"/>
              </a:xfrm>
              <a:prstGeom prst="rect">
                <a:avLst/>
              </a:prstGeom>
              <a:blipFill rotWithShape="1">
                <a:blip r:embed="rId1"/>
                <a:stretch>
                  <a:fillRect l="-33" t="-46" r="37" b="22"/>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345" name="Object 19"/>
              <p:cNvSpPr txBox="1"/>
              <p:nvPr/>
            </p:nvSpPr>
            <p:spPr bwMode="auto">
              <a:xfrm>
                <a:off x="1790506" y="4110809"/>
                <a:ext cx="3163020" cy="926830"/>
              </a:xfrm>
              <a:prstGeom prst="rect">
                <a:avLst/>
              </a:prstGeom>
              <a:noFill/>
              <a:ln>
                <a:noFill/>
              </a:ln>
            </p:spPr>
            <p:txBody>
              <a:bodyPr>
                <a:noAutofit/>
              </a:bodyPr>
              <a:lstStyle/>
              <a:p>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𝑦</m:t>
                      </m:r>
                      <m:r>
                        <a:rPr lang="zh-CN" altLang="en-US" sz="280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或</m:t>
                      </m:r>
                      <m:r>
                        <a:rPr lang="zh-CN" altLang="en-US" sz="2800" i="1">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1</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2</m:t>
                              </m:r>
                            </m:sub>
                          </m:sSub>
                        </m:den>
                      </m:f>
                    </m:oMath>
                  </m:oMathPara>
                </a14:m>
                <a:endParaRPr lang="zh-CN" altLang="en-US" sz="2800" dirty="0"/>
              </a:p>
            </p:txBody>
          </p:sp>
        </mc:Choice>
        <mc:Fallback>
          <p:sp>
            <p:nvSpPr>
              <p:cNvPr id="14345" name="Object 19"/>
              <p:cNvSpPr txBox="1">
                <a:spLocks noRot="1" noChangeAspect="1" noMove="1" noResize="1" noEditPoints="1" noAdjustHandles="1" noChangeArrowheads="1" noChangeShapeType="1" noTextEdit="1"/>
              </p:cNvSpPr>
              <p:nvPr/>
            </p:nvSpPr>
            <p:spPr bwMode="auto">
              <a:xfrm>
                <a:off x="1790506" y="4110809"/>
                <a:ext cx="3163020" cy="926830"/>
              </a:xfrm>
              <a:prstGeom prst="rect">
                <a:avLst/>
              </a:prstGeom>
              <a:blipFill rotWithShape="1">
                <a:blip r:embed="rId2"/>
                <a:stretch>
                  <a:fillRect l="-14" t="-49" r="17" b="20"/>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346" name="Object 21"/>
              <p:cNvSpPr txBox="1"/>
              <p:nvPr/>
            </p:nvSpPr>
            <p:spPr bwMode="auto">
              <a:xfrm>
                <a:off x="1820522" y="2640534"/>
                <a:ext cx="2088232" cy="679450"/>
              </a:xfrm>
              <a:prstGeom prst="rect">
                <a:avLst/>
              </a:prstGeom>
              <a:noFill/>
              <a:ln>
                <a:noFill/>
              </a:ln>
            </p:spPr>
            <p:txBody>
              <a:bodyPr>
                <a:noAutofit/>
              </a:bodyPr>
              <a:lstStyle/>
              <a:p>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𝑦</m:t>
                      </m:r>
                      <m:r>
                        <a:rPr lang="zh-CN" altLang="en-US" sz="280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p:sp>
            <p:nvSpPr>
              <p:cNvPr id="14346" name="Object 21"/>
              <p:cNvSpPr txBox="1">
                <a:spLocks noRot="1" noChangeAspect="1" noMove="1" noResize="1" noEditPoints="1" noAdjustHandles="1" noChangeArrowheads="1" noChangeShapeType="1" noTextEdit="1"/>
              </p:cNvSpPr>
              <p:nvPr/>
            </p:nvSpPr>
            <p:spPr bwMode="auto">
              <a:xfrm>
                <a:off x="1820522" y="2640534"/>
                <a:ext cx="2088232" cy="679450"/>
              </a:xfrm>
              <a:prstGeom prst="rect">
                <a:avLst/>
              </a:prstGeom>
              <a:blipFill rotWithShape="1">
                <a:blip r:embed="rId3"/>
                <a:stretch>
                  <a:fillRect l="-29" t="-30" r="16" b="30"/>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839416" y="1438921"/>
                <a:ext cx="3163020" cy="43088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800" b="0" i="1" smtClean="0">
                          <a:solidFill>
                            <a:srgbClr val="000000"/>
                          </a:solidFill>
                          <a:latin typeface="Cambria Math" panose="02040503050406030204" pitchFamily="18" charset="0"/>
                        </a:rPr>
                        <m:t>𝑦</m:t>
                      </m:r>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𝑓</m:t>
                      </m:r>
                      <m:r>
                        <a:rPr lang="en-US" altLang="zh-CN" sz="2800" b="0" i="1" smtClean="0">
                          <a:solidFill>
                            <a:srgbClr val="000000"/>
                          </a:solidFill>
                          <a:latin typeface="Cambria Math" panose="02040503050406030204" pitchFamily="18" charset="0"/>
                        </a:rPr>
                        <m:t>(</m:t>
                      </m:r>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1</m:t>
                          </m:r>
                        </m:sub>
                      </m:sSub>
                      <m:r>
                        <a:rPr lang="en-US" altLang="zh-CN" sz="2800" b="0" i="1" smtClean="0">
                          <a:solidFill>
                            <a:srgbClr val="000000"/>
                          </a:solidFill>
                          <a:latin typeface="Cambria Math" panose="02040503050406030204" pitchFamily="18" charset="0"/>
                        </a:rPr>
                        <m:t>,</m:t>
                      </m:r>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2</m:t>
                          </m:r>
                        </m:sub>
                      </m:sSub>
                      <m:r>
                        <a:rPr lang="en-US" altLang="zh-CN" sz="2800" b="0" i="1" smtClean="0">
                          <a:solidFill>
                            <a:srgbClr val="000000"/>
                          </a:solidFill>
                          <a:latin typeface="Cambria Math" panose="02040503050406030204" pitchFamily="18" charset="0"/>
                        </a:rPr>
                        <m:t>,…,</m:t>
                      </m:r>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𝑛</m:t>
                          </m:r>
                        </m:sub>
                      </m:sSub>
                      <m:r>
                        <a:rPr lang="en-US" altLang="zh-CN" sz="2800" b="0" i="1" smtClean="0">
                          <a:solidFill>
                            <a:srgbClr val="000000"/>
                          </a:solidFill>
                          <a:latin typeface="Cambria Math" panose="02040503050406030204" pitchFamily="18" charset="0"/>
                        </a:rPr>
                        <m:t>)</m:t>
                      </m:r>
                    </m:oMath>
                  </m:oMathPara>
                </a14:m>
                <a:endParaRPr lang="zh-CN" altLang="en-US" sz="2800" dirty="0">
                  <a:solidFill>
                    <a:srgbClr val="000000"/>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839416" y="1438921"/>
                <a:ext cx="3163020" cy="430887"/>
              </a:xfrm>
              <a:prstGeom prst="rect">
                <a:avLst/>
              </a:prstGeom>
              <a:blipFill rotWithShape="1">
                <a:blip r:embed="rId4"/>
                <a:stretch>
                  <a:fillRect l="-18" t="-3" r="1" b="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5807968" y="2718649"/>
                <a:ext cx="4111575" cy="523220"/>
              </a:xfrm>
              <a:prstGeom prst="rect">
                <a:avLst/>
              </a:prstGeom>
              <a:noFill/>
            </p:spPr>
            <p:txBody>
              <a:bodyPr wrap="none">
                <a:spAutoFit/>
              </a:bodyPr>
              <a:lstStyle/>
              <a:p>
                <a14:m>
                  <m:oMathPara xmlns:m="http://schemas.openxmlformats.org/officeDocument/2006/math">
                    <m:oMathParaPr>
                      <m:jc m:val="centerGroup"/>
                    </m:oMathParaPr>
                    <m:oMath xmlns:m="http://schemas.openxmlformats.org/officeDocument/2006/math">
                      <m:sSubSup>
                        <m:sSubSupPr>
                          <m:ctrlPr>
                            <a:rPr lang="en-US" altLang="zh-CN"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𝑢</m:t>
                          </m:r>
                        </m:e>
                        <m:sub>
                          <m:r>
                            <a:rPr lang="en-US" altLang="zh-CN" sz="2800" i="1">
                              <a:solidFill>
                                <a:srgbClr val="000000"/>
                              </a:solidFill>
                              <a:latin typeface="Cambria Math" panose="02040503050406030204" pitchFamily="18" charset="0"/>
                            </a:rPr>
                            <m:t>𝑐</m:t>
                          </m:r>
                        </m:sub>
                        <m:sup>
                          <m:r>
                            <a:rPr lang="zh-CN" altLang="en-US" sz="2800" i="1">
                              <a:solidFill>
                                <a:srgbClr val="000000"/>
                              </a:solidFill>
                              <a:latin typeface="Cambria Math" panose="02040503050406030204" pitchFamily="18" charset="0"/>
                            </a:rPr>
                            <m:t>2</m:t>
                          </m:r>
                        </m:sup>
                      </m:sSub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𝑢</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𝑢</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oMath>
                  </m:oMathPara>
                </a14:m>
                <a:endParaRPr lang="zh-CN" altLang="en-US" dirty="0"/>
              </a:p>
            </p:txBody>
          </p:sp>
        </mc:Choice>
        <mc:Fallback>
          <p:sp>
            <p:nvSpPr>
              <p:cNvPr id="10" name="矩形 9"/>
              <p:cNvSpPr>
                <a:spLocks noRot="1" noChangeAspect="1" noMove="1" noResize="1" noEditPoints="1" noAdjustHandles="1" noChangeArrowheads="1" noChangeShapeType="1" noTextEdit="1"/>
              </p:cNvSpPr>
              <p:nvPr/>
            </p:nvSpPr>
            <p:spPr>
              <a:xfrm>
                <a:off x="5807968" y="2718649"/>
                <a:ext cx="4111575" cy="523220"/>
              </a:xfrm>
              <a:prstGeom prst="rect">
                <a:avLst/>
              </a:prstGeom>
              <a:blipFill rotWithShape="1">
                <a:blip r:embed="rId5"/>
                <a:stretch>
                  <a:fillRect l="-6" t="-41" r="5"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5807968" y="4076652"/>
                <a:ext cx="4730782" cy="995144"/>
              </a:xfrm>
              <a:prstGeom prst="rect">
                <a:avLst/>
              </a:prstGeom>
              <a:noFill/>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sSub>
                                    <m:sSubPr>
                                      <m:ctrlPr>
                                        <a:rPr lang="en-US" altLang="zh-CN"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𝑢</m:t>
                                      </m:r>
                                    </m:e>
                                    <m:sub>
                                      <m:r>
                                        <a:rPr lang="en-US" altLang="zh-CN" sz="2400" i="1">
                                          <a:solidFill>
                                            <a:srgbClr val="000000"/>
                                          </a:solidFill>
                                          <a:latin typeface="Cambria Math" panose="02040503050406030204" pitchFamily="18" charset="0"/>
                                        </a:rPr>
                                        <m:t>𝑐</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num>
                                <m:den>
                                  <m:r>
                                    <a:rPr lang="zh-CN" altLang="en-US" sz="2400" i="1">
                                      <a:solidFill>
                                        <a:srgbClr val="000000"/>
                                      </a:solidFill>
                                      <a:latin typeface="Cambria Math" panose="02040503050406030204" pitchFamily="18" charset="0"/>
                                    </a:rPr>
                                    <m:t>𝑦</m:t>
                                  </m:r>
                                </m:den>
                              </m:f>
                            </m:e>
                          </m:d>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𝑢</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num>
                                <m:den>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1</m:t>
                                      </m:r>
                                    </m:sub>
                                  </m:sSub>
                                </m:den>
                              </m:f>
                            </m:e>
                          </m:d>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𝑢</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num>
                                <m:den>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2</m:t>
                                      </m:r>
                                    </m:sub>
                                  </m:sSub>
                                </m:den>
                              </m:f>
                            </m:e>
                          </m:d>
                        </m:e>
                        <m:sup>
                          <m:r>
                            <a:rPr lang="zh-CN" altLang="en-US" sz="2400" i="1">
                              <a:solidFill>
                                <a:srgbClr val="000000"/>
                              </a:solidFill>
                              <a:latin typeface="Cambria Math" panose="02040503050406030204" pitchFamily="18" charset="0"/>
                            </a:rPr>
                            <m:t>2</m:t>
                          </m:r>
                        </m:sup>
                      </m:sSup>
                    </m:oMath>
                  </m:oMathPara>
                </a14:m>
                <a:endParaRPr lang="zh-CN" altLang="en-US" sz="2400" dirty="0"/>
              </a:p>
            </p:txBody>
          </p:sp>
        </mc:Choice>
        <mc:Fallback>
          <p:sp>
            <p:nvSpPr>
              <p:cNvPr id="11" name="矩形 10"/>
              <p:cNvSpPr>
                <a:spLocks noRot="1" noChangeAspect="1" noMove="1" noResize="1" noEditPoints="1" noAdjustHandles="1" noChangeArrowheads="1" noChangeShapeType="1" noTextEdit="1"/>
              </p:cNvSpPr>
              <p:nvPr/>
            </p:nvSpPr>
            <p:spPr>
              <a:xfrm>
                <a:off x="5807968" y="4076652"/>
                <a:ext cx="4730782" cy="995144"/>
              </a:xfrm>
              <a:prstGeom prst="rect">
                <a:avLst/>
              </a:prstGeom>
              <a:blipFill rotWithShape="1">
                <a:blip r:embed="rId6"/>
                <a:stretch>
                  <a:fillRect l="-5" t="-59" r="6" b="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矩形 12"/>
              <p:cNvSpPr/>
              <p:nvPr/>
            </p:nvSpPr>
            <p:spPr>
              <a:xfrm>
                <a:off x="5828790" y="5539577"/>
                <a:ext cx="3234925" cy="995144"/>
              </a:xfrm>
              <a:prstGeom prst="rect">
                <a:avLst/>
              </a:prstGeom>
              <a:noFill/>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sSub>
                                    <m:sSubPr>
                                      <m:ctrlPr>
                                        <a:rPr lang="en-US" altLang="zh-CN"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𝑢</m:t>
                                      </m:r>
                                    </m:e>
                                    <m:sub>
                                      <m:r>
                                        <a:rPr lang="en-US" altLang="zh-CN" sz="2400" i="1">
                                          <a:solidFill>
                                            <a:srgbClr val="000000"/>
                                          </a:solidFill>
                                          <a:latin typeface="Cambria Math" panose="02040503050406030204" pitchFamily="18" charset="0"/>
                                        </a:rPr>
                                        <m:t>𝑐</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num>
                                <m:den>
                                  <m:r>
                                    <a:rPr lang="zh-CN" altLang="en-US" sz="2400" i="1">
                                      <a:solidFill>
                                        <a:srgbClr val="000000"/>
                                      </a:solidFill>
                                      <a:latin typeface="Cambria Math" panose="02040503050406030204" pitchFamily="18" charset="0"/>
                                    </a:rPr>
                                    <m:t>𝑦</m:t>
                                  </m:r>
                                </m:den>
                              </m:f>
                            </m:e>
                          </m:d>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r>
                                <a:rPr lang="zh-CN" altLang="en-US" sz="2400" i="1" smtClean="0">
                                  <a:solidFill>
                                    <a:srgbClr val="FF0000"/>
                                  </a:solidFill>
                                  <a:latin typeface="Cambria Math" panose="02040503050406030204" pitchFamily="18" charset="0"/>
                                </a:rPr>
                                <m:t>𝑛</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𝑢</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num>
                                <m:den>
                                  <m:r>
                                    <a:rPr lang="zh-CN" altLang="en-US" sz="2400" i="1">
                                      <a:solidFill>
                                        <a:srgbClr val="000000"/>
                                      </a:solidFill>
                                      <a:latin typeface="Cambria Math" panose="02040503050406030204" pitchFamily="18" charset="0"/>
                                    </a:rPr>
                                    <m:t>𝑥</m:t>
                                  </m:r>
                                </m:den>
                              </m:f>
                            </m:e>
                          </m:d>
                        </m:e>
                        <m:sup>
                          <m:r>
                            <a:rPr lang="zh-CN" altLang="en-US" sz="2400" i="1">
                              <a:solidFill>
                                <a:srgbClr val="000000"/>
                              </a:solidFill>
                              <a:latin typeface="Cambria Math" panose="02040503050406030204" pitchFamily="18" charset="0"/>
                            </a:rPr>
                            <m:t>2</m:t>
                          </m:r>
                        </m:sup>
                      </m:sSup>
                    </m:oMath>
                  </m:oMathPara>
                </a14:m>
                <a:endParaRPr lang="zh-CN" altLang="en-US" sz="2400" dirty="0"/>
              </a:p>
            </p:txBody>
          </p:sp>
        </mc:Choice>
        <mc:Fallback>
          <p:sp>
            <p:nvSpPr>
              <p:cNvPr id="13" name="矩形 12"/>
              <p:cNvSpPr>
                <a:spLocks noRot="1" noChangeAspect="1" noMove="1" noResize="1" noEditPoints="1" noAdjustHandles="1" noChangeArrowheads="1" noChangeShapeType="1" noTextEdit="1"/>
              </p:cNvSpPr>
              <p:nvPr/>
            </p:nvSpPr>
            <p:spPr>
              <a:xfrm>
                <a:off x="5828790" y="5539577"/>
                <a:ext cx="3234925" cy="995144"/>
              </a:xfrm>
              <a:prstGeom prst="rect">
                <a:avLst/>
              </a:prstGeom>
              <a:blipFill rotWithShape="1">
                <a:blip r:embed="rId7"/>
                <a:stretch>
                  <a:fillRect l="-4" t="-47" r="11" b="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6274529" y="1115098"/>
                <a:ext cx="3115340" cy="119737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0" i="1" smtClean="0">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𝑢</m:t>
                          </m:r>
                        </m:e>
                        <m:sub>
                          <m:r>
                            <a:rPr lang="en-US" altLang="zh-CN" sz="2000" b="0" i="1" smtClean="0">
                              <a:solidFill>
                                <a:srgbClr val="000000"/>
                              </a:solidFill>
                              <a:latin typeface="Cambria Math" panose="02040503050406030204" pitchFamily="18" charset="0"/>
                            </a:rPr>
                            <m:t>𝑐</m:t>
                          </m:r>
                        </m:sub>
                      </m:sSub>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𝑦</m:t>
                      </m:r>
                      <m:r>
                        <a:rPr lang="en-US" altLang="zh-CN" sz="2000" b="0" i="1" smtClean="0">
                          <a:solidFill>
                            <a:srgbClr val="000000"/>
                          </a:solidFill>
                          <a:latin typeface="Cambria Math" panose="02040503050406030204" pitchFamily="18" charset="0"/>
                        </a:rPr>
                        <m:t>)=</m:t>
                      </m:r>
                      <m:rad>
                        <m:radPr>
                          <m:degHide m:val="on"/>
                          <m:ctrlPr>
                            <a:rPr lang="en-US" altLang="zh-CN" sz="2000" b="0" i="1" smtClean="0">
                              <a:solidFill>
                                <a:srgbClr val="000000"/>
                              </a:solidFill>
                              <a:latin typeface="Cambria Math" panose="02040503050406030204" pitchFamily="18" charset="0"/>
                            </a:rPr>
                          </m:ctrlPr>
                        </m:radPr>
                        <m:deg/>
                        <m:e>
                          <m:nary>
                            <m:naryPr>
                              <m:chr m:val="∑"/>
                              <m:ctrlPr>
                                <a:rPr lang="en-US" altLang="zh-CN" sz="2000" b="0" i="1" smtClean="0">
                                  <a:solidFill>
                                    <a:srgbClr val="000000"/>
                                  </a:solidFill>
                                  <a:latin typeface="Cambria Math" panose="02040503050406030204" pitchFamily="18" charset="0"/>
                                </a:rPr>
                              </m:ctrlPr>
                            </m:naryPr>
                            <m:sub>
                              <m:r>
                                <m:rPr>
                                  <m:brk m:alnAt="23"/>
                                </m:rPr>
                                <a:rPr lang="en-US" altLang="zh-CN" sz="2000" b="0" i="1" smtClean="0">
                                  <a:solidFill>
                                    <a:srgbClr val="000000"/>
                                  </a:solidFill>
                                  <a:latin typeface="Cambria Math" panose="02040503050406030204" pitchFamily="18" charset="0"/>
                                </a:rPr>
                                <m:t>𝑖</m:t>
                              </m:r>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1</m:t>
                              </m:r>
                            </m:sub>
                            <m:sup>
                              <m:r>
                                <a:rPr lang="en-US" altLang="zh-CN" sz="2000" b="0" i="1" smtClean="0">
                                  <a:solidFill>
                                    <a:srgbClr val="000000"/>
                                  </a:solidFill>
                                  <a:latin typeface="Cambria Math" panose="02040503050406030204" pitchFamily="18" charset="0"/>
                                </a:rPr>
                                <m:t>𝑛</m:t>
                              </m:r>
                            </m:sup>
                            <m:e>
                              <m:sSup>
                                <m:sSupPr>
                                  <m:ctrlPr>
                                    <a:rPr lang="en-US" altLang="zh-CN" sz="2000" b="0" i="1" smtClean="0">
                                      <a:solidFill>
                                        <a:srgbClr val="000000"/>
                                      </a:solidFill>
                                      <a:latin typeface="Cambria Math" panose="02040503050406030204" pitchFamily="18" charset="0"/>
                                    </a:rPr>
                                  </m:ctrlPr>
                                </m:sSupPr>
                                <m:e>
                                  <m:d>
                                    <m:dPr>
                                      <m:ctrlPr>
                                        <a:rPr lang="en-US" altLang="zh-CN" sz="2000" i="1">
                                          <a:solidFill>
                                            <a:srgbClr val="000000"/>
                                          </a:solidFill>
                                          <a:latin typeface="Cambria Math" panose="02040503050406030204" pitchFamily="18" charset="0"/>
                                        </a:rPr>
                                      </m:ctrlPr>
                                    </m:dPr>
                                    <m:e>
                                      <m:f>
                                        <m:fPr>
                                          <m:ctrlPr>
                                            <a:rPr lang="en-US" altLang="zh-CN"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𝑓</m:t>
                                          </m:r>
                                        </m:num>
                                        <m:den>
                                          <m:r>
                                            <a:rPr lang="zh-CN" altLang="en-US" sz="2000" i="1">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𝑥</m:t>
                                              </m:r>
                                            </m:e>
                                            <m:sub>
                                              <m:r>
                                                <a:rPr lang="en-US" altLang="zh-CN" sz="2000" i="1">
                                                  <a:solidFill>
                                                    <a:srgbClr val="000000"/>
                                                  </a:solidFill>
                                                  <a:latin typeface="Cambria Math" panose="02040503050406030204" pitchFamily="18" charset="0"/>
                                                </a:rPr>
                                                <m:t>𝑖</m:t>
                                              </m:r>
                                            </m:sub>
                                          </m:sSub>
                                        </m:den>
                                      </m:f>
                                    </m:e>
                                  </m:d>
                                </m:e>
                                <m:sup>
                                  <m:r>
                                    <a:rPr lang="en-US" altLang="zh-CN" sz="2000" b="0" i="1" smtClean="0">
                                      <a:solidFill>
                                        <a:srgbClr val="000000"/>
                                      </a:solidFill>
                                      <a:latin typeface="Cambria Math" panose="02040503050406030204" pitchFamily="18" charset="0"/>
                                    </a:rPr>
                                    <m:t>2</m:t>
                                  </m:r>
                                </m:sup>
                              </m:sSup>
                            </m:e>
                          </m:nary>
                          <m:sSup>
                            <m:sSupPr>
                              <m:ctrlPr>
                                <a:rPr lang="en-US" altLang="zh-CN" sz="2000" b="0" i="1" smtClean="0">
                                  <a:solidFill>
                                    <a:srgbClr val="000000"/>
                                  </a:solidFill>
                                  <a:latin typeface="Cambria Math" panose="02040503050406030204" pitchFamily="18" charset="0"/>
                                </a:rPr>
                              </m:ctrlPr>
                            </m:sSupPr>
                            <m:e>
                              <m:r>
                                <a:rPr lang="en-US" altLang="zh-CN" sz="2000" b="0" i="1" smtClean="0">
                                  <a:solidFill>
                                    <a:srgbClr val="000000"/>
                                  </a:solidFill>
                                  <a:latin typeface="Cambria Math" panose="02040503050406030204" pitchFamily="18" charset="0"/>
                                </a:rPr>
                                <m:t>𝑢</m:t>
                              </m:r>
                            </m:e>
                            <m:sup>
                              <m:r>
                                <a:rPr lang="en-US" altLang="zh-CN" sz="2000" b="0" i="1" smtClean="0">
                                  <a:solidFill>
                                    <a:srgbClr val="000000"/>
                                  </a:solidFill>
                                  <a:latin typeface="Cambria Math" panose="02040503050406030204" pitchFamily="18" charset="0"/>
                                </a:rPr>
                                <m:t>2</m:t>
                              </m:r>
                            </m:sup>
                          </m:sSup>
                          <m:r>
                            <a:rPr lang="en-US" altLang="zh-CN" sz="2000" b="0" i="1" smtClean="0">
                              <a:solidFill>
                                <a:srgbClr val="000000"/>
                              </a:solidFill>
                              <a:latin typeface="Cambria Math" panose="02040503050406030204" pitchFamily="18" charset="0"/>
                            </a:rPr>
                            <m:t>(</m:t>
                          </m:r>
                          <m:sSub>
                            <m:sSubPr>
                              <m:ctrlPr>
                                <a:rPr lang="en-US" altLang="zh-CN" sz="2000" b="0" i="1" smtClean="0">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𝑥</m:t>
                              </m:r>
                            </m:e>
                            <m:sub>
                              <m:r>
                                <a:rPr lang="en-US" altLang="zh-CN" sz="2000" b="0" i="1" smtClean="0">
                                  <a:solidFill>
                                    <a:srgbClr val="000000"/>
                                  </a:solidFill>
                                  <a:latin typeface="Cambria Math" panose="02040503050406030204" pitchFamily="18" charset="0"/>
                                </a:rPr>
                                <m:t>𝑖</m:t>
                              </m:r>
                            </m:sub>
                          </m:sSub>
                          <m:r>
                            <a:rPr lang="en-US" altLang="zh-CN" sz="2000" b="0" i="1" smtClean="0">
                              <a:solidFill>
                                <a:srgbClr val="000000"/>
                              </a:solidFill>
                              <a:latin typeface="Cambria Math" panose="02040503050406030204" pitchFamily="18" charset="0"/>
                            </a:rPr>
                            <m:t>)</m:t>
                          </m:r>
                        </m:e>
                      </m:rad>
                    </m:oMath>
                  </m:oMathPara>
                </a14:m>
                <a:endParaRPr lang="zh-CN" altLang="en-US" sz="2000" dirty="0">
                  <a:solidFill>
                    <a:srgbClr val="000000"/>
                  </a:solidFill>
                </a:endParaRPr>
              </a:p>
            </p:txBody>
          </p:sp>
        </mc:Choice>
        <mc:Fallback>
          <p:sp>
            <p:nvSpPr>
              <p:cNvPr id="23" name="文本框 22"/>
              <p:cNvSpPr txBox="1">
                <a:spLocks noRot="1" noChangeAspect="1" noMove="1" noResize="1" noEditPoints="1" noAdjustHandles="1" noChangeArrowheads="1" noChangeShapeType="1" noTextEdit="1"/>
              </p:cNvSpPr>
              <p:nvPr/>
            </p:nvSpPr>
            <p:spPr>
              <a:xfrm>
                <a:off x="6274529" y="1115098"/>
                <a:ext cx="3115340" cy="1197379"/>
              </a:xfrm>
              <a:prstGeom prst="rect">
                <a:avLst/>
              </a:prstGeom>
              <a:blipFill rotWithShape="1">
                <a:blip r:embed="rId8"/>
                <a:stretch>
                  <a:fillRect l="-3" t="-3" r="4" b="37"/>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8"/>
          <p:cNvSpPr>
            <a:spLocks noChangeArrowheads="1"/>
          </p:cNvSpPr>
          <p:nvPr/>
        </p:nvSpPr>
        <p:spPr bwMode="auto">
          <a:xfrm>
            <a:off x="551384" y="665536"/>
            <a:ext cx="11305256" cy="938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935990" indent="-935990" algn="just" eaLnBrk="1" fontAlgn="auto" hangingPunct="1">
              <a:lnSpc>
                <a:spcPct val="120000"/>
              </a:lnSpc>
              <a:spcAft>
                <a:spcPts val="0"/>
              </a:spcAft>
              <a:buNone/>
              <a:defRPr/>
            </a:pPr>
            <a:r>
              <a:rPr lang="zh-CN" altLang="en-US"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示例：</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用千分尺测量一个球的直径</a:t>
            </a:r>
            <a:r>
              <a:rPr lang="en-US" altLang="zh-CN" sz="28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测量了</a:t>
            </a:r>
            <a:r>
              <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次，结果如下表，</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marL="935990" indent="-935990" algn="just" eaLnBrk="1" fontAlgn="auto" hangingPunct="1">
              <a:lnSpc>
                <a:spcPct val="120000"/>
              </a:lnSpc>
              <a:spcAft>
                <a:spcPts val="0"/>
              </a:spcAft>
              <a:buNone/>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求该球的直径及其不确定度。</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文本框 7"/>
              <p:cNvSpPr txBox="1"/>
              <p:nvPr/>
            </p:nvSpPr>
            <p:spPr>
              <a:xfrm>
                <a:off x="695400" y="5278784"/>
                <a:ext cx="3349058" cy="461665"/>
              </a:xfrm>
              <a:prstGeom prst="rect">
                <a:avLst/>
              </a:prstGeom>
              <a:noFill/>
            </p:spPr>
            <p:txBody>
              <a:bodyPr wrap="none" rtlCol="0">
                <a:spAutoFit/>
              </a:bodyPr>
              <a:lstStyle/>
              <a:p>
                <a:pPr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US" altLang="zh-CN" sz="2400" i="1" smtClean="0">
                          <a:solidFill>
                            <a:schemeClr val="bg1"/>
                          </a:solidFill>
                          <a:latin typeface="Cambria Math" panose="02040503050406030204" pitchFamily="18" charset="0"/>
                        </a:rPr>
                        <m:t>𝐷</m:t>
                      </m:r>
                      <m:r>
                        <a:rPr lang="en-US" altLang="zh-CN" sz="2400" i="1" smtClean="0">
                          <a:solidFill>
                            <a:schemeClr val="bg1"/>
                          </a:solidFill>
                          <a:latin typeface="Cambria Math" panose="02040503050406030204" pitchFamily="18" charset="0"/>
                        </a:rPr>
                        <m:t>=</m:t>
                      </m:r>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0</m:t>
                          </m:r>
                        </m:sub>
                      </m:sSub>
                      <m:r>
                        <a:rPr lang="en-US" altLang="zh-CN" sz="2400">
                          <a:solidFill>
                            <a:schemeClr val="bg1"/>
                          </a:solidFill>
                          <a:latin typeface="Cambria Math" panose="02040503050406030204" pitchFamily="18" charset="0"/>
                        </a:rPr>
                        <m:t>+</m:t>
                      </m:r>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1</m:t>
                          </m:r>
                        </m:sub>
                      </m:sSub>
                      <m:r>
                        <a:rPr lang="en-US" altLang="zh-CN" sz="2400" i="1">
                          <a:solidFill>
                            <a:schemeClr val="bg1"/>
                          </a:solidFill>
                          <a:latin typeface="Cambria Math" panose="02040503050406030204" pitchFamily="18" charset="0"/>
                        </a:rPr>
                        <m:t>+</m:t>
                      </m:r>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2</m:t>
                          </m:r>
                        </m:sub>
                      </m:sSub>
                      <m:r>
                        <a:rPr lang="en-US" altLang="zh-CN" sz="2400" i="1">
                          <a:solidFill>
                            <a:schemeClr val="bg1"/>
                          </a:solidFill>
                          <a:latin typeface="Cambria Math" panose="02040503050406030204" pitchFamily="18" charset="0"/>
                        </a:rPr>
                        <m:t>+</m:t>
                      </m:r>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3</m:t>
                          </m:r>
                        </m:sub>
                      </m:sSub>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695400" y="5278784"/>
                <a:ext cx="3349058" cy="461665"/>
              </a:xfrm>
              <a:prstGeom prst="rect">
                <a:avLst/>
              </a:prstGeom>
              <a:blipFill rotWithShape="1">
                <a:blip r:embed="rId1"/>
                <a:stretch>
                  <a:fillRect l="-2" t="-6" r="4" b="11"/>
                </a:stretch>
              </a:blipFill>
            </p:spPr>
            <p:txBody>
              <a:bodyPr/>
              <a:lstStyle/>
              <a:p>
                <a:r>
                  <a:rPr lang="zh-CN" altLang="en-US">
                    <a:noFill/>
                  </a:rPr>
                  <a:t> </a:t>
                </a:r>
              </a:p>
            </p:txBody>
          </p:sp>
        </mc:Fallback>
      </mc:AlternateContent>
      <p:sp>
        <p:nvSpPr>
          <p:cNvPr id="9" name="文本框 8"/>
          <p:cNvSpPr txBox="1"/>
          <p:nvPr/>
        </p:nvSpPr>
        <p:spPr>
          <a:xfrm>
            <a:off x="551384" y="4387526"/>
            <a:ext cx="2908168" cy="523220"/>
          </a:xfrm>
          <a:prstGeom prst="rect">
            <a:avLst/>
          </a:prstGeom>
          <a:noFill/>
        </p:spPr>
        <p:txBody>
          <a:bodyPr wrap="none" rtlCol="0">
            <a:spAutoFit/>
          </a:bodyPr>
          <a:lstStyle/>
          <a:p>
            <a:pPr eaLnBrk="1" fontAlgn="auto" hangingPunct="1">
              <a:spcBef>
                <a:spcPts val="0"/>
              </a:spcBef>
              <a:spcAft>
                <a:spcPts val="0"/>
              </a:spcAft>
              <a:defRPr/>
            </a:pPr>
            <a:r>
              <a:rPr lang="zh-CN" altLang="en-US" sz="2800" dirty="0">
                <a:solidFill>
                  <a:schemeClr val="bg1"/>
                </a:solidFill>
                <a:latin typeface="微软雅黑" panose="020B0503020204020204" pitchFamily="34" charset="-122"/>
                <a:ea typeface="微软雅黑" panose="020B0503020204020204" pitchFamily="34" charset="-122"/>
              </a:rPr>
              <a:t>（</a:t>
            </a:r>
            <a:r>
              <a:rPr lang="en-US" altLang="zh-CN" sz="2800" dirty="0">
                <a:solidFill>
                  <a:schemeClr val="bg1"/>
                </a:solidFill>
                <a:latin typeface="微软雅黑" panose="020B0503020204020204" pitchFamily="34" charset="-122"/>
                <a:ea typeface="微软雅黑" panose="020B0503020204020204" pitchFamily="34" charset="-122"/>
              </a:rPr>
              <a:t>1</a:t>
            </a:r>
            <a:r>
              <a:rPr lang="zh-CN" altLang="en-US" sz="2800" dirty="0">
                <a:solidFill>
                  <a:schemeClr val="bg1"/>
                </a:solidFill>
                <a:latin typeface="微软雅黑" panose="020B0503020204020204" pitchFamily="34" charset="-122"/>
                <a:ea typeface="微软雅黑" panose="020B0503020204020204" pitchFamily="34" charset="-122"/>
              </a:rPr>
              <a:t>）测量模型：</a:t>
            </a:r>
            <a:endParaRPr lang="zh-CN" altLang="en-US" sz="2800"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文本框 9"/>
              <p:cNvSpPr txBox="1"/>
              <p:nvPr/>
            </p:nvSpPr>
            <p:spPr>
              <a:xfrm>
                <a:off x="4665650" y="4365104"/>
                <a:ext cx="7301935" cy="1827360"/>
              </a:xfrm>
              <a:prstGeom prst="rect">
                <a:avLst/>
              </a:prstGeom>
              <a:noFill/>
            </p:spPr>
            <p:txBody>
              <a:bodyPr wrap="none" rtlCol="0">
                <a:spAutoFit/>
              </a:bodyPr>
              <a:lstStyle/>
              <a:p>
                <a:pPr eaLnBrk="1" fontAlgn="auto" hangingPunct="1">
                  <a:lnSpc>
                    <a:spcPct val="120000"/>
                  </a:lnSpc>
                  <a:spcBef>
                    <a:spcPts val="0"/>
                  </a:spcBef>
                  <a:spcAft>
                    <a:spcPts val="0"/>
                  </a:spcAft>
                  <a:defRPr/>
                </a:pPr>
                <a14:m>
                  <m:oMath xmlns:m="http://schemas.openxmlformats.org/officeDocument/2006/math">
                    <m:sSub>
                      <m:sSubPr>
                        <m:ctrlPr>
                          <a:rPr lang="en-US" altLang="zh-CN" sz="2400" i="1" smtClean="0">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0</m:t>
                        </m:r>
                      </m:sub>
                    </m:sSub>
                  </m:oMath>
                </a14:m>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：千分尺的视读长度</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eaLnBrk="1" fontAlgn="auto" hangingPunct="1">
                  <a:lnSpc>
                    <a:spcPct val="120000"/>
                  </a:lnSpc>
                  <a:spcBef>
                    <a:spcPts val="0"/>
                  </a:spcBef>
                  <a:spcAft>
                    <a:spcPts val="0"/>
                  </a:spcAft>
                  <a:defRPr/>
                </a:pPr>
                <a14:m>
                  <m:oMath xmlns:m="http://schemas.openxmlformats.org/officeDocument/2006/math">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1</m:t>
                        </m:r>
                      </m:sub>
                    </m:sSub>
                  </m:oMath>
                </a14:m>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：千分尺校准证书给出的仪器偏差</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eaLnBrk="1" fontAlgn="auto" hangingPunct="1">
                  <a:lnSpc>
                    <a:spcPct val="120000"/>
                  </a:lnSpc>
                  <a:spcBef>
                    <a:spcPts val="0"/>
                  </a:spcBef>
                  <a:spcAft>
                    <a:spcPts val="0"/>
                  </a:spcAft>
                  <a:defRPr/>
                </a:pPr>
                <a14:m>
                  <m:oMath xmlns:m="http://schemas.openxmlformats.org/officeDocument/2006/math">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2</m:t>
                        </m:r>
                      </m:sub>
                    </m:sSub>
                  </m:oMath>
                </a14:m>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：千分尺卡钳与待测球接触点偏离直径引起的偏差</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eaLnBrk="1" fontAlgn="auto" hangingPunct="1">
                  <a:lnSpc>
                    <a:spcPct val="120000"/>
                  </a:lnSpc>
                  <a:spcBef>
                    <a:spcPts val="0"/>
                  </a:spcBef>
                  <a:spcAft>
                    <a:spcPts val="0"/>
                  </a:spcAft>
                  <a:defRPr/>
                </a:pPr>
                <a14:m>
                  <m:oMath xmlns:m="http://schemas.openxmlformats.org/officeDocument/2006/math">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3</m:t>
                        </m:r>
                      </m:sub>
                    </m:sSub>
                  </m:oMath>
                </a14:m>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：加持球时形变或者温度波动引起的偏差</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4665650" y="4365104"/>
                <a:ext cx="7301935" cy="1827360"/>
              </a:xfrm>
              <a:prstGeom prst="rect">
                <a:avLst/>
              </a:prstGeom>
              <a:blipFill rotWithShape="1">
                <a:blip r:embed="rId2"/>
                <a:stretch>
                  <a:fillRect l="-4" t="-6" r="-12" b="32"/>
                </a:stretch>
              </a:blipFill>
            </p:spPr>
            <p:txBody>
              <a:bodyPr/>
              <a:lstStyle/>
              <a:p>
                <a:r>
                  <a:rPr lang="zh-CN" altLang="en-US">
                    <a:noFill/>
                  </a:rPr>
                  <a:t> </a:t>
                </a:r>
              </a:p>
            </p:txBody>
          </p:sp>
        </mc:Fallback>
      </mc:AlternateContent>
      <p:graphicFrame>
        <p:nvGraphicFramePr>
          <p:cNvPr id="4" name="表格 3"/>
          <p:cNvGraphicFramePr>
            <a:graphicFrameLocks noGrp="1"/>
          </p:cNvGraphicFramePr>
          <p:nvPr/>
        </p:nvGraphicFramePr>
        <p:xfrm>
          <a:off x="839416" y="2194489"/>
          <a:ext cx="10441156" cy="1539078"/>
        </p:xfrm>
        <a:graphic>
          <a:graphicData uri="http://schemas.openxmlformats.org/drawingml/2006/table">
            <a:tbl>
              <a:tblPr/>
              <a:tblGrid>
                <a:gridCol w="949196"/>
                <a:gridCol w="949196"/>
                <a:gridCol w="949196"/>
                <a:gridCol w="949196"/>
                <a:gridCol w="949196"/>
                <a:gridCol w="949196"/>
                <a:gridCol w="949196"/>
                <a:gridCol w="949196"/>
                <a:gridCol w="949196"/>
                <a:gridCol w="949196"/>
                <a:gridCol w="949196"/>
              </a:tblGrid>
              <a:tr h="513026">
                <a:tc>
                  <a:txBody>
                    <a:bodyPr/>
                    <a:lstStyle/>
                    <a:p>
                      <a:pPr algn="ctr" rtl="0" fontAlgn="ctr"/>
                      <a:r>
                        <a:rPr lang="en-US" sz="2000" b="0" i="1" u="none" strike="noStrike">
                          <a:solidFill>
                            <a:srgbClr val="000000"/>
                          </a:solidFill>
                          <a:effectLst/>
                          <a:latin typeface="Times New Roman" panose="02020603050405020304" pitchFamily="18" charset="0"/>
                          <a:ea typeface="等线" panose="02010600030101010101" pitchFamily="2" charset="-122"/>
                        </a:rPr>
                        <a:t>d</a:t>
                      </a:r>
                      <a:r>
                        <a:rPr lang="en-US" sz="2000" b="0" i="0" u="none" strike="noStrike" baseline="-25000">
                          <a:solidFill>
                            <a:srgbClr val="000000"/>
                          </a:solidFill>
                          <a:effectLst/>
                          <a:latin typeface="Times New Roman" panose="02020603050405020304" pitchFamily="18" charset="0"/>
                          <a:ea typeface="等线" panose="02010600030101010101" pitchFamily="2" charset="-122"/>
                        </a:rPr>
                        <a:t>1</a:t>
                      </a:r>
                      <a:r>
                        <a:rPr lang="en-US" sz="2000" b="0" i="0" u="none" strike="noStrike">
                          <a:solidFill>
                            <a:srgbClr val="000000"/>
                          </a:solidFill>
                          <a:effectLst/>
                          <a:latin typeface="Times New Roman" panose="02020603050405020304" pitchFamily="18" charset="0"/>
                          <a:ea typeface="等线" panose="02010600030101010101" pitchFamily="2" charset="-122"/>
                        </a:rPr>
                        <a:t>/mm</a:t>
                      </a:r>
                      <a:endParaRPr lang="en-US" sz="2000" b="0" i="1"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12.337</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12.349</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12.333</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12.353</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12.339</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12.352</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12.345</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12.348</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12.356</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altLang="zh-CN" sz="2000" b="0" i="0" u="none" strike="noStrike" dirty="0">
                          <a:solidFill>
                            <a:srgbClr val="000000"/>
                          </a:solidFill>
                          <a:effectLst/>
                          <a:latin typeface="Times New Roman" panose="02020603050405020304" pitchFamily="18" charset="0"/>
                          <a:ea typeface="等线" panose="02010600030101010101" pitchFamily="2" charset="-122"/>
                        </a:rPr>
                        <a:t>12.340</a:t>
                      </a:r>
                      <a:endParaRPr lang="en-US" altLang="zh-CN" sz="2000" b="0" i="0" u="none" strike="noStrike" dirty="0">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026">
                <a:tc>
                  <a:txBody>
                    <a:bodyPr/>
                    <a:lstStyle/>
                    <a:p>
                      <a:pPr algn="ctr" rtl="0" fontAlgn="ctr"/>
                      <a:r>
                        <a:rPr lang="en-US" sz="2000" b="0" i="1" u="none" strike="noStrike">
                          <a:solidFill>
                            <a:srgbClr val="000000"/>
                          </a:solidFill>
                          <a:effectLst/>
                          <a:latin typeface="Times New Roman" panose="02020603050405020304" pitchFamily="18" charset="0"/>
                          <a:ea typeface="等线" panose="02010600030101010101" pitchFamily="2" charset="-122"/>
                        </a:rPr>
                        <a:t>d</a:t>
                      </a:r>
                      <a:r>
                        <a:rPr lang="en-US" sz="2000" b="0" i="0" u="none" strike="noStrike" baseline="-25000">
                          <a:solidFill>
                            <a:srgbClr val="000000"/>
                          </a:solidFill>
                          <a:effectLst/>
                          <a:latin typeface="Times New Roman" panose="02020603050405020304" pitchFamily="18" charset="0"/>
                          <a:ea typeface="等线" panose="02010600030101010101" pitchFamily="2" charset="-122"/>
                        </a:rPr>
                        <a:t>0</a:t>
                      </a:r>
                      <a:r>
                        <a:rPr lang="en-US" sz="2000" b="0" i="0" u="none" strike="noStrike">
                          <a:solidFill>
                            <a:srgbClr val="000000"/>
                          </a:solidFill>
                          <a:effectLst/>
                          <a:latin typeface="Times New Roman" panose="02020603050405020304" pitchFamily="18" charset="0"/>
                          <a:ea typeface="等线" panose="02010600030101010101" pitchFamily="2" charset="-122"/>
                        </a:rPr>
                        <a:t>/mm</a:t>
                      </a:r>
                      <a:endParaRPr lang="en-US" sz="2000" b="0" i="1"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0.002</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0.003</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0.002</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0.001</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0.003</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0.002</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0.001</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0.002</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0.002</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0.002</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026">
                <a:tc>
                  <a:txBody>
                    <a:bodyPr/>
                    <a:lstStyle/>
                    <a:p>
                      <a:pPr algn="ctr" fontAlgn="ctr"/>
                      <a:r>
                        <a:rPr lang="en-US" sz="2000" b="0" i="1" u="none" strike="noStrike">
                          <a:solidFill>
                            <a:srgbClr val="000000"/>
                          </a:solidFill>
                          <a:effectLst/>
                          <a:latin typeface="Times New Roman" panose="02020603050405020304" pitchFamily="18" charset="0"/>
                          <a:ea typeface="等线" panose="02010600030101010101" pitchFamily="2" charset="-122"/>
                        </a:rPr>
                        <a:t>D</a:t>
                      </a:r>
                      <a:r>
                        <a:rPr lang="en-US" sz="2000" b="0" i="0" u="none" strike="noStrike" baseline="-25000">
                          <a:solidFill>
                            <a:srgbClr val="000000"/>
                          </a:solidFill>
                          <a:effectLst/>
                          <a:latin typeface="Times New Roman" panose="02020603050405020304" pitchFamily="18" charset="0"/>
                          <a:ea typeface="等线" panose="02010600030101010101" pitchFamily="2" charset="-122"/>
                        </a:rPr>
                        <a:t>0</a:t>
                      </a:r>
                      <a:r>
                        <a:rPr lang="en-US" sz="2000" b="0" i="0" u="none" strike="noStrike">
                          <a:solidFill>
                            <a:srgbClr val="000000"/>
                          </a:solidFill>
                          <a:effectLst/>
                          <a:latin typeface="Times New Roman" panose="02020603050405020304" pitchFamily="18" charset="0"/>
                          <a:ea typeface="等线" panose="02010600030101010101" pitchFamily="2" charset="-122"/>
                        </a:rPr>
                        <a:t>/mm</a:t>
                      </a:r>
                      <a:endParaRPr lang="en-US"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12.335</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12.346</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12.331</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12.352</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12.336</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dirty="0">
                          <a:solidFill>
                            <a:srgbClr val="000000"/>
                          </a:solidFill>
                          <a:effectLst/>
                          <a:latin typeface="Times New Roman" panose="02020603050405020304" pitchFamily="18" charset="0"/>
                          <a:ea typeface="等线" panose="02010600030101010101" pitchFamily="2" charset="-122"/>
                        </a:rPr>
                        <a:t>12.350</a:t>
                      </a:r>
                      <a:endParaRPr lang="en-US" altLang="zh-CN" sz="2000" b="0" i="0" u="none" strike="noStrike" dirty="0">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12.344</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12.346</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a:solidFill>
                            <a:srgbClr val="000000"/>
                          </a:solidFill>
                          <a:effectLst/>
                          <a:latin typeface="Times New Roman" panose="02020603050405020304" pitchFamily="18" charset="0"/>
                          <a:ea typeface="等线" panose="02010600030101010101" pitchFamily="2" charset="-122"/>
                        </a:rPr>
                        <a:t>12.354</a:t>
                      </a:r>
                      <a:endParaRPr lang="en-US" altLang="zh-CN" sz="2000" b="0" i="0" u="none" strike="noStrike">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2000" b="0" i="0" u="none" strike="noStrike" dirty="0">
                          <a:solidFill>
                            <a:srgbClr val="000000"/>
                          </a:solidFill>
                          <a:effectLst/>
                          <a:latin typeface="Times New Roman" panose="02020603050405020304" pitchFamily="18" charset="0"/>
                          <a:ea typeface="等线" panose="02010600030101010101" pitchFamily="2" charset="-122"/>
                        </a:rPr>
                        <a:t>12.338</a:t>
                      </a:r>
                      <a:endParaRPr lang="en-US" altLang="zh-CN" sz="2000" b="0" i="0" u="none" strike="noStrike" dirty="0">
                        <a:solidFill>
                          <a:srgbClr val="000000"/>
                        </a:solidFill>
                        <a:effectLst/>
                        <a:latin typeface="Times New Roman" panose="02020603050405020304" pitchFamily="18" charset="0"/>
                        <a:ea typeface="等线" panose="02010600030101010101" pitchFamily="2" charset="-122"/>
                      </a:endParaRPr>
                    </a:p>
                  </a:txBody>
                  <a:tcPr marL="7177" marR="7177" marT="717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矩形 4"/>
          <p:cNvSpPr/>
          <p:nvPr/>
        </p:nvSpPr>
        <p:spPr>
          <a:xfrm>
            <a:off x="839416" y="3875880"/>
            <a:ext cx="4397358" cy="369332"/>
          </a:xfrm>
          <a:prstGeom prst="rect">
            <a:avLst/>
          </a:prstGeom>
        </p:spPr>
        <p:txBody>
          <a:bodyPr wrap="none">
            <a:spAutoFit/>
          </a:bodyPr>
          <a:lstStyle/>
          <a:p>
            <a:r>
              <a:rPr lang="en-US" altLang="zh-CN"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baseline="-25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千分尺的直接读数，</a:t>
            </a:r>
            <a:r>
              <a:rPr lang="en-US" altLang="zh-CN"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d</a:t>
            </a:r>
            <a:r>
              <a:rPr lang="en-US" altLang="zh-CN" baseline="-25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千分尺的零读数</a:t>
            </a:r>
            <a:endParaRPr lang="zh-CN" altLang="en-US"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896097" y="893837"/>
            <a:ext cx="291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800" eaLnBrk="1" fontAlgn="auto" hangingPunct="1">
              <a:spcBef>
                <a:spcPct val="0"/>
              </a:spcBef>
              <a:spcAft>
                <a:spcPts val="0"/>
              </a:spcAft>
              <a:buNone/>
              <a:defRPr/>
            </a:pPr>
            <a:endParaRPr lang="zh-CN" altLang="zh-CN" sz="2400">
              <a:solidFill>
                <a:schemeClr val="bg1"/>
              </a:solidFill>
            </a:endParaRPr>
          </a:p>
        </p:txBody>
      </p:sp>
      <mc:AlternateContent xmlns:mc="http://schemas.openxmlformats.org/markup-compatibility/2006">
        <mc:Choice xmlns:a14="http://schemas.microsoft.com/office/drawing/2010/main" Requires="a14">
          <p:sp>
            <p:nvSpPr>
              <p:cNvPr id="6" name="对象 6"/>
              <p:cNvSpPr txBox="1"/>
              <p:nvPr/>
            </p:nvSpPr>
            <p:spPr bwMode="auto">
              <a:xfrm>
                <a:off x="1682528" y="548680"/>
                <a:ext cx="5373548" cy="652564"/>
              </a:xfrm>
              <a:prstGeom prst="rect">
                <a:avLst/>
              </a:prstGeom>
              <a:noFill/>
              <a:ln>
                <a:noFill/>
              </a:ln>
            </p:spPr>
            <p:txBody>
              <a:bodyPr>
                <a:noAutofit/>
              </a:bodyPr>
              <a:lstStyle/>
              <a:p>
                <a:pPr eaLnBrk="1" fontAlgn="auto" hangingPunct="1">
                  <a:spcBef>
                    <a:spcPts val="0"/>
                  </a:spcBef>
                  <a:spcAft>
                    <a:spcPts val="0"/>
                  </a:spcAft>
                  <a:defRPr/>
                </a:pPr>
                <a14:m>
                  <m:oMathPara xmlns:m="http://schemas.openxmlformats.org/officeDocument/2006/math">
                    <m:oMathParaPr>
                      <m:jc m:val="left"/>
                    </m:oMathParaPr>
                    <m:oMath xmlns:m="http://schemas.openxmlformats.org/officeDocument/2006/math">
                      <m:sSub>
                        <m:sSubPr>
                          <m:ctrlPr>
                            <a:rPr lang="en-US" altLang="zh-CN" sz="2400" i="1" smtClean="0">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0</m:t>
                          </m:r>
                        </m:sub>
                      </m:sSub>
                      <m:r>
                        <a:rPr lang="en-US" altLang="zh-CN" sz="2400" i="1">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zh-CN" altLang="en-US" sz="2400" i="1">
                              <a:solidFill>
                                <a:schemeClr val="bg1"/>
                              </a:solidFill>
                              <a:latin typeface="Cambria Math" panose="02040503050406030204" pitchFamily="18" charset="0"/>
                            </a:rPr>
                            <m:t>𝐷</m:t>
                          </m:r>
                          <m:r>
                            <a:rPr lang="en-US" altLang="zh-CN" sz="2400" b="0" i="1" baseline="-25000" smtClean="0">
                              <a:solidFill>
                                <a:schemeClr val="bg1"/>
                              </a:solidFill>
                              <a:latin typeface="Cambria Math" panose="02040503050406030204" pitchFamily="18" charset="0"/>
                            </a:rPr>
                            <m:t>0</m:t>
                          </m:r>
                        </m:e>
                      </m:bar>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1</m:t>
                          </m:r>
                        </m:num>
                        <m:den>
                          <m:r>
                            <a:rPr lang="zh-CN" altLang="en-US" sz="2400" i="1">
                              <a:solidFill>
                                <a:schemeClr val="bg1"/>
                              </a:solidFill>
                              <a:latin typeface="Cambria Math" panose="02040503050406030204" pitchFamily="18" charset="0"/>
                            </a:rPr>
                            <m:t>𝑛</m:t>
                          </m:r>
                        </m:den>
                      </m:f>
                      <m:nary>
                        <m:naryPr>
                          <m:chr m:val="∑"/>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𝑖</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sub>
                        <m:sup>
                          <m:r>
                            <a:rPr lang="zh-CN" altLang="en-US" sz="2400" i="1">
                              <a:solidFill>
                                <a:schemeClr val="bg1"/>
                              </a:solidFill>
                              <a:latin typeface="Cambria Math" panose="02040503050406030204" pitchFamily="18" charset="0"/>
                            </a:rPr>
                            <m:t>𝑛</m:t>
                          </m:r>
                        </m:sup>
                        <m:e>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𝐷</m:t>
                              </m:r>
                            </m:e>
                            <m:sub>
                              <m:r>
                                <a:rPr lang="zh-CN" altLang="en-US" sz="2400" i="1">
                                  <a:solidFill>
                                    <a:schemeClr val="bg1"/>
                                  </a:solidFill>
                                  <a:latin typeface="Cambria Math" panose="02040503050406030204" pitchFamily="18" charset="0"/>
                                </a:rPr>
                                <m:t>𝑖</m:t>
                              </m:r>
                            </m:sub>
                          </m:sSub>
                        </m:e>
                      </m:nary>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12</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34</m:t>
                      </m:r>
                      <m:r>
                        <a:rPr lang="en-US" altLang="zh-CN" sz="2400" b="0" i="1" smtClean="0">
                          <a:solidFill>
                            <a:schemeClr val="bg1"/>
                          </a:solidFill>
                          <a:latin typeface="Cambria Math" panose="02040503050406030204" pitchFamily="18" charset="0"/>
                        </a:rPr>
                        <m:t>3</m:t>
                      </m:r>
                      <m:r>
                        <a:rPr lang="en-US" altLang="zh-CN" sz="2400" b="0" i="1" smtClean="0">
                          <a:solidFill>
                            <a:srgbClr val="CC3300"/>
                          </a:solidFill>
                          <a:latin typeface="Cambria Math" panose="02040503050406030204" pitchFamily="18" charset="0"/>
                        </a:rPr>
                        <m:t>2</m:t>
                      </m:r>
                      <m:m>
                        <m:mPr>
                          <m:mcs>
                            <m:mc>
                              <m:mcPr>
                                <m:count m:val="2"/>
                                <m:mcJc m:val="center"/>
                              </m:mcPr>
                            </m:mc>
                          </m:mcs>
                          <m:plcHide m:val="on"/>
                          <m:ctrlPr>
                            <a:rPr lang="zh-CN" altLang="en-US" sz="2400" i="1">
                              <a:solidFill>
                                <a:schemeClr val="bg1"/>
                              </a:solidFill>
                              <a:latin typeface="Cambria Math" panose="02040503050406030204" pitchFamily="18" charset="0"/>
                            </a:rPr>
                          </m:ctrlPr>
                        </m:mPr>
                        <m:mr>
                          <m:e>
                            <m:r>
                              <m:rPr>
                                <m:nor/>
                              </m:rPr>
                              <a:rPr lang="en-US" altLang="zh-CN" sz="2400">
                                <a:solidFill>
                                  <a:schemeClr val="bg1"/>
                                </a:solidFill>
                                <a:latin typeface="Cambria Math" panose="02040503050406030204" pitchFamily="18" charset="0"/>
                              </a:rPr>
                              <m:t> </m:t>
                            </m:r>
                            <m:r>
                              <m:rPr>
                                <m:nor/>
                              </m:rPr>
                              <a:rPr lang="zh-CN" altLang="en-US" sz="2400">
                                <a:solidFill>
                                  <a:schemeClr val="bg1"/>
                                </a:solidFill>
                                <a:latin typeface="微软雅黑" panose="020B0503020204020204" pitchFamily="34" charset="-122"/>
                                <a:ea typeface="微软雅黑" panose="020B0503020204020204" pitchFamily="34" charset="-122"/>
                              </a:rPr>
                              <m:t>mm</m:t>
                            </m:r>
                          </m:e>
                          <m:e/>
                        </m:mr>
                      </m:m>
                    </m:oMath>
                  </m:oMathPara>
                </a14:m>
                <a:endParaRPr lang="zh-CN" altLang="en-US" sz="2400" dirty="0">
                  <a:solidFill>
                    <a:schemeClr val="bg1"/>
                  </a:solidFill>
                  <a:latin typeface="微软雅黑" panose="020B0503020204020204" pitchFamily="34" charset="-122"/>
                  <a:ea typeface="微软雅黑" panose="020B0503020204020204" pitchFamily="34" charset="-122"/>
                </a:endParaRPr>
              </a:p>
            </p:txBody>
          </p:sp>
        </mc:Choice>
        <mc:Fallback>
          <p:sp>
            <p:nvSpPr>
              <p:cNvPr id="6" name="对象 6"/>
              <p:cNvSpPr txBox="1">
                <a:spLocks noRot="1" noChangeAspect="1" noMove="1" noResize="1" noEditPoints="1" noAdjustHandles="1" noChangeArrowheads="1" noChangeShapeType="1" noTextEdit="1"/>
              </p:cNvSpPr>
              <p:nvPr/>
            </p:nvSpPr>
            <p:spPr bwMode="auto">
              <a:xfrm>
                <a:off x="1682528" y="548680"/>
                <a:ext cx="5373548" cy="652564"/>
              </a:xfrm>
              <a:prstGeom prst="rect">
                <a:avLst/>
              </a:prstGeom>
              <a:blipFill rotWithShape="1">
                <a:blip r:embed="rId1"/>
                <a:stretch>
                  <a:fillRect l="-8" t="-6" r="11" b="-69311"/>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10"/>
              <p:cNvSpPr txBox="1"/>
              <p:nvPr/>
            </p:nvSpPr>
            <p:spPr>
              <a:xfrm>
                <a:off x="455550" y="856087"/>
                <a:ext cx="1245790" cy="461665"/>
              </a:xfrm>
              <a:prstGeom prst="rect">
                <a:avLst/>
              </a:prstGeom>
              <a:noFill/>
            </p:spPr>
            <p:txBody>
              <a:bodyPr wrap="none" rtlCol="0">
                <a:spAutoFit/>
              </a:bodyPr>
              <a:lstStyle/>
              <a:p>
                <a:pPr eaLnBrk="1" fontAlgn="auto" hangingPunct="1">
                  <a:spcBef>
                    <a:spcPts val="0"/>
                  </a:spcBef>
                  <a:spcAft>
                    <a:spcPts val="0"/>
                  </a:spcAft>
                  <a:defRPr/>
                </a:pPr>
                <a:r>
                  <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a:t>
                </a:r>
                <a14:m>
                  <m:oMath xmlns:m="http://schemas.openxmlformats.org/officeDocument/2006/math">
                    <m:sSub>
                      <m:sSubPr>
                        <m:ctrlPr>
                          <a:rPr lang="en-US" altLang="zh-CN" sz="2400" b="1" i="1">
                            <a:solidFill>
                              <a:srgbClr val="0070C0"/>
                            </a:solidFill>
                            <a:latin typeface="Cambria Math" panose="02040503050406030204" pitchFamily="18" charset="0"/>
                          </a:rPr>
                        </m:ctrlPr>
                      </m:sSubPr>
                      <m:e>
                        <m:r>
                          <a:rPr lang="en-US" altLang="zh-CN" sz="2400" b="1" i="1">
                            <a:solidFill>
                              <a:srgbClr val="0070C0"/>
                            </a:solidFill>
                            <a:latin typeface="Cambria Math" panose="02040503050406030204" pitchFamily="18" charset="0"/>
                          </a:rPr>
                          <m:t>𝑫</m:t>
                        </m:r>
                      </m:e>
                      <m:sub>
                        <m:r>
                          <a:rPr lang="en-US" altLang="zh-CN" sz="2400" b="1" i="1">
                            <a:solidFill>
                              <a:srgbClr val="0070C0"/>
                            </a:solidFill>
                            <a:latin typeface="Cambria Math" panose="02040503050406030204" pitchFamily="18" charset="0"/>
                          </a:rPr>
                          <m:t>𝟎</m:t>
                        </m:r>
                      </m:sub>
                    </m:sSub>
                    <m:r>
                      <a:rPr lang="en-US" altLang="zh-CN" sz="2400" b="1" i="1">
                        <a:solidFill>
                          <a:srgbClr val="0070C0"/>
                        </a:solidFill>
                        <a:latin typeface="Cambria Math" panose="02040503050406030204" pitchFamily="18" charset="0"/>
                      </a:rPr>
                      <m:t> </m:t>
                    </m:r>
                  </m:oMath>
                </a14:m>
                <a:r>
                  <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7" name="TextBox 10"/>
              <p:cNvSpPr txBox="1">
                <a:spLocks noRot="1" noChangeAspect="1" noMove="1" noResize="1" noEditPoints="1" noAdjustHandles="1" noChangeArrowheads="1" noChangeShapeType="1" noTextEdit="1"/>
              </p:cNvSpPr>
              <p:nvPr/>
            </p:nvSpPr>
            <p:spPr>
              <a:xfrm>
                <a:off x="455550" y="856087"/>
                <a:ext cx="1245790" cy="461665"/>
              </a:xfrm>
              <a:prstGeom prst="rect">
                <a:avLst/>
              </a:prstGeom>
              <a:blipFill rotWithShape="1">
                <a:blip r:embed="rId2"/>
                <a:stretch>
                  <a:fillRect l="-20" t="-23" r="14"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对象 8"/>
              <p:cNvSpPr txBox="1"/>
              <p:nvPr/>
            </p:nvSpPr>
            <p:spPr bwMode="auto">
              <a:xfrm>
                <a:off x="3955661" y="1388853"/>
                <a:ext cx="6628743" cy="971550"/>
              </a:xfrm>
              <a:prstGeom prst="rect">
                <a:avLst/>
              </a:prstGeom>
              <a:noFill/>
              <a:ln>
                <a:noFill/>
              </a:ln>
            </p:spPr>
            <p:txBody>
              <a:bodyPr>
                <a:noAutofit/>
              </a:bodyPr>
              <a:lstStyle/>
              <a:p>
                <a:pPr eaLnBrk="1" fontAlgn="auto" hangingPunct="1">
                  <a:spcBef>
                    <a:spcPts val="0"/>
                  </a:spcBef>
                  <a:spcAft>
                    <a:spcPts val="0"/>
                  </a:spcAft>
                  <a:defRPr/>
                </a:pPr>
                <a14:m>
                  <m:oMathPara xmlns:m="http://schemas.openxmlformats.org/officeDocument/2006/math">
                    <m:oMathParaPr>
                      <m:jc m:val="left"/>
                    </m:oMathParaPr>
                    <m:oMath xmlns:m="http://schemas.openxmlformats.org/officeDocument/2006/math">
                      <m:sSub>
                        <m:sSubPr>
                          <m:ctrlPr>
                            <a:rPr lang="zh-CN" altLang="en-US" sz="2400" i="1" smtClean="0">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𝑢</m:t>
                          </m:r>
                        </m:e>
                        <m:sub>
                          <m:r>
                            <a:rPr lang="en-US" altLang="zh-CN" sz="2400" b="0" i="1" smtClean="0">
                              <a:solidFill>
                                <a:schemeClr val="bg1"/>
                              </a:solidFill>
                              <a:latin typeface="Cambria Math" panose="02040503050406030204" pitchFamily="18" charset="0"/>
                            </a:rPr>
                            <m:t>𝐴</m:t>
                          </m:r>
                        </m:sub>
                      </m:sSub>
                      <m:d>
                        <m:dPr>
                          <m:ctrlPr>
                            <a:rPr lang="en-US" altLang="zh-CN" sz="2400" b="0" i="1" smtClean="0">
                              <a:solidFill>
                                <a:schemeClr val="bg1"/>
                              </a:solidFill>
                              <a:latin typeface="Cambria Math" panose="02040503050406030204" pitchFamily="18" charset="0"/>
                            </a:rPr>
                          </m:ctrlPr>
                        </m:dPr>
                        <m:e>
                          <m:acc>
                            <m:accPr>
                              <m:chr m:val="̅"/>
                              <m:ctrlPr>
                                <a:rPr lang="en-US" altLang="zh-CN" sz="2400" b="0" i="1" smtClean="0">
                                  <a:solidFill>
                                    <a:schemeClr val="bg1"/>
                                  </a:solidFill>
                                  <a:latin typeface="Cambria Math" panose="02040503050406030204" pitchFamily="18" charset="0"/>
                                </a:rPr>
                              </m:ctrlPr>
                            </m:accPr>
                            <m:e>
                              <m:sSub>
                                <m:sSubPr>
                                  <m:ctrlPr>
                                    <a:rPr lang="en-US" altLang="zh-CN" sz="2400" b="0" i="1" smtClean="0">
                                      <a:solidFill>
                                        <a:schemeClr val="bg1"/>
                                      </a:solidFill>
                                      <a:latin typeface="Cambria Math" panose="02040503050406030204" pitchFamily="18" charset="0"/>
                                    </a:rPr>
                                  </m:ctrlPr>
                                </m:sSubPr>
                                <m:e>
                                  <m:r>
                                    <a:rPr lang="en-US" altLang="zh-CN" sz="2400" b="0" i="1" smtClean="0">
                                      <a:solidFill>
                                        <a:schemeClr val="bg1"/>
                                      </a:solidFill>
                                      <a:latin typeface="Cambria Math" panose="02040503050406030204" pitchFamily="18" charset="0"/>
                                    </a:rPr>
                                    <m:t>𝐷</m:t>
                                  </m:r>
                                </m:e>
                                <m:sub>
                                  <m:r>
                                    <a:rPr lang="en-US" altLang="zh-CN" sz="2400" b="0" i="1" smtClean="0">
                                      <a:solidFill>
                                        <a:schemeClr val="bg1"/>
                                      </a:solidFill>
                                      <a:latin typeface="Cambria Math" panose="02040503050406030204" pitchFamily="18" charset="0"/>
                                    </a:rPr>
                                    <m:t>0</m:t>
                                  </m:r>
                                </m:sub>
                              </m:sSub>
                            </m:e>
                          </m:acc>
                        </m:e>
                      </m:d>
                      <m:r>
                        <a:rPr lang="en-US" altLang="zh-CN" sz="2400" b="0" i="1" smtClean="0">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f>
                            <m:fPr>
                              <m:ctrlPr>
                                <a:rPr lang="zh-CN" altLang="en-US" sz="2400" i="1">
                                  <a:solidFill>
                                    <a:schemeClr val="bg1"/>
                                  </a:solidFill>
                                  <a:latin typeface="Cambria Math" panose="02040503050406030204" pitchFamily="18" charset="0"/>
                                </a:rPr>
                              </m:ctrlPr>
                            </m:fPr>
                            <m:num>
                              <m:nary>
                                <m:naryPr>
                                  <m:chr m:val="∑"/>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𝑖</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sub>
                                <m:sup>
                                  <m:r>
                                    <a:rPr lang="zh-CN" altLang="en-US" sz="2400" i="1">
                                      <a:solidFill>
                                        <a:schemeClr val="bg1"/>
                                      </a:solidFill>
                                      <a:latin typeface="Cambria Math" panose="02040503050406030204" pitchFamily="18" charset="0"/>
                                    </a:rPr>
                                    <m:t>𝑛</m:t>
                                  </m:r>
                                </m:sup>
                                <m:e>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𝐷</m:t>
                                      </m:r>
                                    </m:e>
                                    <m:sub>
                                      <m:r>
                                        <a:rPr lang="zh-CN" altLang="en-US" sz="2400" i="1">
                                          <a:solidFill>
                                            <a:schemeClr val="bg1"/>
                                          </a:solidFill>
                                          <a:latin typeface="Cambria Math" panose="02040503050406030204" pitchFamily="18" charset="0"/>
                                        </a:rPr>
                                        <m:t>𝑖</m:t>
                                      </m:r>
                                    </m:sub>
                                  </m:sSub>
                                  <m:r>
                                    <a:rPr lang="zh-CN" altLang="en-US" sz="2400" i="1">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zh-CN" altLang="en-US" sz="2400" i="1">
                                          <a:solidFill>
                                            <a:schemeClr val="bg1"/>
                                          </a:solidFill>
                                          <a:latin typeface="Cambria Math" panose="02040503050406030204" pitchFamily="18" charset="0"/>
                                        </a:rPr>
                                        <m:t>𝐷</m:t>
                                      </m:r>
                                    </m:e>
                                  </m:ba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m:t>
                                      </m:r>
                                    </m:e>
                                    <m:sup>
                                      <m:r>
                                        <a:rPr lang="zh-CN" altLang="en-US" sz="2400" i="1">
                                          <a:solidFill>
                                            <a:schemeClr val="bg1"/>
                                          </a:solidFill>
                                          <a:latin typeface="Cambria Math" panose="02040503050406030204" pitchFamily="18" charset="0"/>
                                        </a:rPr>
                                        <m:t>2</m:t>
                                      </m:r>
                                    </m:sup>
                                  </m:sSup>
                                </m:e>
                              </m:nary>
                            </m:num>
                            <m:den>
                              <m:r>
                                <a:rPr lang="en-US" altLang="zh-CN" sz="2400" i="1">
                                  <a:solidFill>
                                    <a:schemeClr val="bg1"/>
                                  </a:solidFill>
                                  <a:latin typeface="Cambria Math" panose="02040503050406030204" pitchFamily="18" charset="0"/>
                                </a:rPr>
                                <m:t>𝑛</m:t>
                              </m:r>
                              <m:r>
                                <a:rPr lang="en-US" altLang="zh-CN"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𝑛</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r>
                                <a:rPr lang="zh-CN" altLang="en-US" sz="2400" i="1">
                                  <a:solidFill>
                                    <a:schemeClr val="bg1"/>
                                  </a:solidFill>
                                  <a:latin typeface="Cambria Math" panose="02040503050406030204" pitchFamily="18" charset="0"/>
                                </a:rPr>
                                <m:t>)</m:t>
                              </m:r>
                            </m:den>
                          </m:f>
                        </m:e>
                      </m:rad>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2</m:t>
                      </m:r>
                      <m:r>
                        <a:rPr lang="en-US" altLang="zh-CN" sz="2400" b="0" i="1" smtClean="0">
                          <a:solidFill>
                            <a:srgbClr val="C00000"/>
                          </a:solidFill>
                          <a:latin typeface="Cambria Math" panose="02040503050406030204" pitchFamily="18" charset="0"/>
                        </a:rPr>
                        <m:t>5</m:t>
                      </m:r>
                      <m:m>
                        <m:mPr>
                          <m:mcs>
                            <m:mc>
                              <m:mcPr>
                                <m:count m:val="2"/>
                                <m:mcJc m:val="center"/>
                              </m:mcPr>
                            </m:mc>
                          </m:mcs>
                          <m:plcHide m:val="on"/>
                          <m:ctrlPr>
                            <a:rPr lang="zh-CN" altLang="en-US" sz="2400" i="1">
                              <a:solidFill>
                                <a:schemeClr val="bg1"/>
                              </a:solidFill>
                              <a:latin typeface="Cambria Math" panose="02040503050406030204" pitchFamily="18" charset="0"/>
                            </a:rPr>
                          </m:ctrlPr>
                        </m:mPr>
                        <m:mr>
                          <m:e>
                            <m:r>
                              <m:rPr>
                                <m:nor/>
                              </m:rPr>
                              <a:rPr lang="zh-CN" altLang="en-US" sz="24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m:t>mm</m:t>
                            </m:r>
                          </m:e>
                          <m:e/>
                        </m:mr>
                      </m:m>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8" name="对象 8"/>
              <p:cNvSpPr txBox="1">
                <a:spLocks noRot="1" noChangeAspect="1" noMove="1" noResize="1" noEditPoints="1" noAdjustHandles="1" noChangeArrowheads="1" noChangeShapeType="1" noTextEdit="1"/>
              </p:cNvSpPr>
              <p:nvPr/>
            </p:nvSpPr>
            <p:spPr bwMode="auto">
              <a:xfrm>
                <a:off x="3955661" y="1388853"/>
                <a:ext cx="6628743" cy="971550"/>
              </a:xfrm>
              <a:prstGeom prst="rect">
                <a:avLst/>
              </a:prstGeom>
              <a:blipFill rotWithShape="1">
                <a:blip r:embed="rId3"/>
                <a:stretch>
                  <a:fillRect l="-4" t="-11" r="3" b="-15348"/>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Box 10"/>
              <p:cNvSpPr txBox="1"/>
              <p:nvPr/>
            </p:nvSpPr>
            <p:spPr>
              <a:xfrm>
                <a:off x="448094" y="2621288"/>
                <a:ext cx="1236172" cy="461665"/>
              </a:xfrm>
              <a:prstGeom prst="rect">
                <a:avLst/>
              </a:prstGeom>
              <a:noFill/>
            </p:spPr>
            <p:txBody>
              <a:bodyPr wrap="none" rtlCol="0">
                <a:spAutoFit/>
              </a:bodyPr>
              <a:lstStyle>
                <a:defPPr>
                  <a:defRPr lang="en-US"/>
                </a:defPPr>
                <a:lvl1pPr fontAlgn="auto">
                  <a:spcBef>
                    <a:spcPts val="0"/>
                  </a:spcBef>
                  <a:spcAft>
                    <a:spcPts val="0"/>
                  </a:spcAft>
                  <a:defRPr sz="2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对</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𝑫</m:t>
                        </m:r>
                      </m:e>
                      <m:sub>
                        <m:r>
                          <a:rPr lang="en-US" altLang="zh-CN">
                            <a:latin typeface="Cambria Math" panose="02040503050406030204" pitchFamily="18" charset="0"/>
                          </a:rPr>
                          <m:t>1</m:t>
                        </m:r>
                      </m:sub>
                    </m:sSub>
                    <m:r>
                      <a:rPr lang="en-US" altLang="zh-CN">
                        <a:latin typeface="Cambria Math" panose="02040503050406030204" pitchFamily="18" charset="0"/>
                      </a:rPr>
                      <m:t> </m:t>
                    </m:r>
                  </m:oMath>
                </a14:m>
                <a:r>
                  <a:rPr lang="zh-CN" altLang="en-US" dirty="0"/>
                  <a:t>：</a:t>
                </a:r>
                <a:endParaRPr lang="zh-CN" altLang="en-US" dirty="0"/>
              </a:p>
            </p:txBody>
          </p:sp>
        </mc:Choice>
        <mc:Fallback>
          <p:sp>
            <p:nvSpPr>
              <p:cNvPr id="9" name="TextBox 10"/>
              <p:cNvSpPr txBox="1">
                <a:spLocks noRot="1" noChangeAspect="1" noMove="1" noResize="1" noEditPoints="1" noAdjustHandles="1" noChangeArrowheads="1" noChangeShapeType="1" noTextEdit="1"/>
              </p:cNvSpPr>
              <p:nvPr/>
            </p:nvSpPr>
            <p:spPr>
              <a:xfrm>
                <a:off x="448094" y="2621288"/>
                <a:ext cx="1236172" cy="461665"/>
              </a:xfrm>
              <a:prstGeom prst="rect">
                <a:avLst/>
              </a:prstGeom>
              <a:blipFill rotWithShape="1">
                <a:blip r:embed="rId4"/>
                <a:stretch>
                  <a:fillRect l="-34" t="-2" r="20" b="6"/>
                </a:stretch>
              </a:blipFill>
            </p:spPr>
            <p:txBody>
              <a:bodyPr/>
              <a:lstStyle/>
              <a:p>
                <a:r>
                  <a:rPr lang="zh-CN" altLang="en-US">
                    <a:noFill/>
                  </a:rPr>
                  <a:t> </a:t>
                </a:r>
              </a:p>
            </p:txBody>
          </p:sp>
        </mc:Fallback>
      </mc:AlternateContent>
      <p:sp>
        <p:nvSpPr>
          <p:cNvPr id="10" name="文本框 9"/>
          <p:cNvSpPr txBox="1"/>
          <p:nvPr/>
        </p:nvSpPr>
        <p:spPr>
          <a:xfrm>
            <a:off x="3991904" y="2648090"/>
            <a:ext cx="2339102" cy="461665"/>
          </a:xfrm>
          <a:prstGeom prst="rect">
            <a:avLst/>
          </a:prstGeom>
          <a:noFill/>
        </p:spPr>
        <p:txBody>
          <a:bodyPr wrap="none" rtlCol="0">
            <a:spAutoFit/>
          </a:bodyPr>
          <a:lstStyle/>
          <a:p>
            <a:pPr eaLnBrk="1" fontAlgn="auto" hangingPunct="1">
              <a:spcBef>
                <a:spcPts val="0"/>
              </a:spcBef>
              <a:spcAft>
                <a:spcPts val="0"/>
              </a:spcAft>
              <a:defRPr/>
            </a:pPr>
            <a:r>
              <a:rPr lang="zh-CN" altLang="en-US" sz="2400" dirty="0">
                <a:solidFill>
                  <a:schemeClr val="bg1"/>
                </a:solidFill>
                <a:latin typeface="微软雅黑" panose="020B0503020204020204" pitchFamily="34" charset="-122"/>
                <a:ea typeface="微软雅黑" panose="020B0503020204020204" pitchFamily="34" charset="-122"/>
              </a:rPr>
              <a:t>标准不确定度</a:t>
            </a:r>
            <a:r>
              <a:rPr lang="zh-CN" altLang="en-US" sz="2400" dirty="0">
                <a:solidFill>
                  <a:schemeClr val="bg1"/>
                </a:solidFill>
                <a:latin typeface="宋体" panose="02010600030101010101" pitchFamily="2" charset="-122"/>
              </a:rPr>
              <a:t>：</a:t>
            </a:r>
            <a:endParaRPr lang="zh-CN" altLang="en-US" sz="2400" dirty="0">
              <a:solidFill>
                <a:schemeClr val="bg1"/>
              </a:solidFill>
              <a:latin typeface="宋体" panose="02010600030101010101" pitchFamily="2" charset="-122"/>
            </a:endParaRPr>
          </a:p>
        </p:txBody>
      </p:sp>
      <p:sp>
        <p:nvSpPr>
          <p:cNvPr id="11" name="文本框 10"/>
          <p:cNvSpPr txBox="1"/>
          <p:nvPr/>
        </p:nvSpPr>
        <p:spPr>
          <a:xfrm>
            <a:off x="1607595" y="1748893"/>
            <a:ext cx="2339102" cy="461665"/>
          </a:xfrm>
          <a:prstGeom prst="rect">
            <a:avLst/>
          </a:prstGeom>
          <a:noFill/>
        </p:spPr>
        <p:txBody>
          <a:bodyPr wrap="none" rtlCol="0">
            <a:spAutoFit/>
          </a:bodyPr>
          <a:lstStyle/>
          <a:p>
            <a:pPr eaLnBrk="1" fontAlgn="auto" hangingPunct="1">
              <a:spcBef>
                <a:spcPts val="0"/>
              </a:spcBef>
              <a:spcAft>
                <a:spcPts val="0"/>
              </a:spcAft>
              <a:defRPr/>
            </a:pPr>
            <a:r>
              <a:rPr lang="zh-CN" altLang="en-US" sz="2400" dirty="0">
                <a:solidFill>
                  <a:schemeClr val="bg1"/>
                </a:solidFill>
                <a:latin typeface="微软雅黑" panose="020B0503020204020204" pitchFamily="34" charset="-122"/>
                <a:ea typeface="微软雅黑" panose="020B0503020204020204" pitchFamily="34" charset="-122"/>
              </a:rPr>
              <a:t>标准不确定度：</a:t>
            </a:r>
            <a:endParaRPr lang="zh-CN" altLang="en-US" sz="2400"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2" name="文本框 11"/>
              <p:cNvSpPr txBox="1"/>
              <p:nvPr/>
            </p:nvSpPr>
            <p:spPr>
              <a:xfrm>
                <a:off x="1682528" y="2652066"/>
                <a:ext cx="2264169" cy="461665"/>
              </a:xfrm>
              <a:prstGeom prst="rect">
                <a:avLst/>
              </a:prstGeom>
              <a:noFill/>
            </p:spPr>
            <p:txBody>
              <a:bodyPr wrap="square">
                <a:spAutoFit/>
              </a:bodyPr>
              <a:lstStyle/>
              <a:p>
                <a:pPr>
                  <a:defRPr/>
                </a:pPr>
                <a14:m>
                  <m:oMath xmlns:m="http://schemas.openxmlformats.org/officeDocument/2006/math">
                    <m:sSub>
                      <m:sSubPr>
                        <m:ctrlPr>
                          <a:rPr lang="en-US" altLang="zh-CN" sz="2400" i="1" smtClean="0">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1</m:t>
                        </m:r>
                      </m:sub>
                    </m:sSub>
                    <m:r>
                      <a:rPr lang="en-US" altLang="zh-CN" sz="2400" i="1">
                        <a:solidFill>
                          <a:schemeClr val="bg1"/>
                        </a:solidFill>
                        <a:latin typeface="Cambria Math" panose="02040503050406030204" pitchFamily="18" charset="0"/>
                      </a:rPr>
                      <m:t>= </m:t>
                    </m:r>
                  </m:oMath>
                </a14:m>
                <a:r>
                  <a:rPr lang="en-US" altLang="zh-CN" sz="2400" dirty="0">
                    <a:solidFill>
                      <a:schemeClr val="bg1"/>
                    </a:solidFill>
                    <a:latin typeface="Times New Roman" panose="02020603050405020304" pitchFamily="18" charset="0"/>
                    <a:cs typeface="Times New Roman" panose="02020603050405020304" pitchFamily="18" charset="0"/>
                  </a:rPr>
                  <a:t>0 mm</a:t>
                </a:r>
                <a:endParaRPr lang="zh-CN" altLang="en-US" sz="2400" dirty="0">
                  <a:solidFill>
                    <a:schemeClr val="bg1"/>
                  </a:solidFill>
                  <a:latin typeface="Times New Roman" panose="02020603050405020304" pitchFamily="18" charset="0"/>
                  <a:cs typeface="Times New Roman" panose="020206030504050203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1682528" y="2652066"/>
                <a:ext cx="2264169" cy="461665"/>
              </a:xfrm>
              <a:prstGeom prst="rect">
                <a:avLst/>
              </a:prstGeom>
              <a:blipFill rotWithShape="1">
                <a:blip r:embed="rId5"/>
                <a:stretch>
                  <a:fillRect l="-18" t="-66" r="8" b="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6299828" y="2621288"/>
                <a:ext cx="4076511" cy="638123"/>
              </a:xfrm>
              <a:prstGeom prst="rect">
                <a:avLst/>
              </a:prstGeom>
              <a:noFill/>
            </p:spPr>
            <p:txBody>
              <a:bodyPr wrap="square">
                <a:spAutoFit/>
              </a:bodyPr>
              <a:lstStyle/>
              <a:p>
                <a:pPr eaLnBrk="1" fontAlgn="auto" hangingPunct="1">
                  <a:spcBef>
                    <a:spcPts val="0"/>
                  </a:spcBef>
                  <a:spcAft>
                    <a:spcPts val="0"/>
                  </a:spcAft>
                  <a:defRPr/>
                </a:pPr>
                <a14:m>
                  <m:oMath xmlns:m="http://schemas.openxmlformats.org/officeDocument/2006/math">
                    <m:sSub>
                      <m:sSubPr>
                        <m:ctrlPr>
                          <a:rPr lang="zh-CN" altLang="en-US" sz="2400" i="1" smtClean="0">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𝑢</m:t>
                        </m:r>
                      </m:e>
                      <m:sub>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i="1">
                                <a:solidFill>
                                  <a:schemeClr val="bg1"/>
                                </a:solidFill>
                                <a:latin typeface="Cambria Math" panose="02040503050406030204" pitchFamily="18" charset="0"/>
                              </a:rPr>
                              <m:t>1</m:t>
                            </m:r>
                          </m:sub>
                        </m:sSub>
                      </m:sub>
                    </m:sSub>
                    <m:r>
                      <a:rPr lang="en-US" altLang="zh-CN" sz="2400" i="1">
                        <a:solidFill>
                          <a:schemeClr val="bg1"/>
                        </a:solidFill>
                        <a:latin typeface="Cambria Math" panose="02040503050406030204" pitchFamily="18" charset="0"/>
                      </a:rPr>
                      <m:t>=</m:t>
                    </m:r>
                    <m:f>
                      <m:fPr>
                        <m:ctrlPr>
                          <a:rPr lang="en-US" altLang="zh-CN" sz="2400" i="1">
                            <a:solidFill>
                              <a:schemeClr val="bg1"/>
                            </a:solidFill>
                            <a:latin typeface="Cambria Math" panose="02040503050406030204" pitchFamily="18" charset="0"/>
                          </a:rPr>
                        </m:ctrlPr>
                      </m:fPr>
                      <m:num>
                        <m:r>
                          <a:rPr lang="en-US" altLang="zh-CN"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004</m:t>
                        </m:r>
                      </m:num>
                      <m:den>
                        <m:rad>
                          <m:radPr>
                            <m:degHide m:val="on"/>
                            <m:ctrlPr>
                              <a:rPr lang="en-US" altLang="zh-CN" sz="2400" i="1" smtClean="0">
                                <a:solidFill>
                                  <a:schemeClr val="bg1"/>
                                </a:solidFill>
                                <a:latin typeface="Cambria Math" panose="02040503050406030204" pitchFamily="18" charset="0"/>
                              </a:rPr>
                            </m:ctrlPr>
                          </m:radPr>
                          <m:deg/>
                          <m:e>
                            <m:r>
                              <a:rPr lang="en-US" altLang="zh-CN" sz="2400" i="1">
                                <a:solidFill>
                                  <a:schemeClr val="bg1"/>
                                </a:solidFill>
                                <a:latin typeface="Cambria Math" panose="02040503050406030204" pitchFamily="18" charset="0"/>
                              </a:rPr>
                              <m:t>3</m:t>
                            </m:r>
                          </m:e>
                        </m:rad>
                      </m:den>
                    </m:f>
                    <m:r>
                      <a:rPr lang="en-US" altLang="zh-CN" sz="2400" i="1">
                        <a:solidFill>
                          <a:schemeClr val="bg1"/>
                        </a:solidFill>
                        <a:latin typeface="Cambria Math" panose="02040503050406030204" pitchFamily="18" charset="0"/>
                      </a:rPr>
                      <m:t>=</m:t>
                    </m:r>
                  </m:oMath>
                </a14:m>
                <a:r>
                  <a:rPr lang="en-US" altLang="zh-CN" sz="2400" dirty="0">
                    <a:solidFill>
                      <a:schemeClr val="bg1"/>
                    </a:solidFill>
                    <a:latin typeface="Cambria Math" panose="02040503050406030204" pitchFamily="18" charset="0"/>
                  </a:rPr>
                  <a:t>0.002</a:t>
                </a:r>
                <a:r>
                  <a:rPr lang="en-US" altLang="zh-CN" sz="2400" dirty="0">
                    <a:solidFill>
                      <a:srgbClr val="CC3300"/>
                    </a:solidFill>
                    <a:latin typeface="Cambria Math" panose="02040503050406030204" pitchFamily="18" charset="0"/>
                  </a:rPr>
                  <a:t>3</a:t>
                </a:r>
                <a:r>
                  <a:rPr lang="en-US" altLang="zh-CN" sz="2400" i="1" dirty="0">
                    <a:solidFill>
                      <a:schemeClr val="bg1"/>
                    </a:solidFill>
                    <a:latin typeface="Cambria Math" panose="02040503050406030204" pitchFamily="18" charset="0"/>
                  </a:rPr>
                  <a:t> </a:t>
                </a:r>
                <a:r>
                  <a:rPr lang="en-US" altLang="zh-CN" sz="2400" dirty="0">
                    <a:solidFill>
                      <a:schemeClr val="bg1"/>
                    </a:solidFill>
                    <a:latin typeface="Cambria Math" panose="02040503050406030204" pitchFamily="18" charset="0"/>
                  </a:rPr>
                  <a:t>mm</a:t>
                </a:r>
                <a:endParaRPr lang="zh-CN" altLang="en-US" sz="2400" dirty="0">
                  <a:solidFill>
                    <a:schemeClr val="bg1"/>
                  </a:solidFill>
                  <a:latin typeface="Cambria Math" panose="02040503050406030204" pitchFamily="18"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6299828" y="2621288"/>
                <a:ext cx="4076511" cy="638123"/>
              </a:xfrm>
              <a:prstGeom prst="rect">
                <a:avLst/>
              </a:prstGeom>
              <a:blipFill rotWithShape="1">
                <a:blip r:embed="rId6"/>
                <a:stretch>
                  <a:fillRect l="-15" t="-1" r="11" b="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0" y="3239904"/>
                <a:ext cx="12294133" cy="430374"/>
              </a:xfrm>
              <a:prstGeom prst="rect">
                <a:avLst/>
              </a:prstGeom>
              <a:noFill/>
            </p:spPr>
            <p:txBody>
              <a:bodyPr wrap="square" rtlCol="0">
                <a:spAutoFit/>
              </a:bodyPr>
              <a:lstStyle/>
              <a:p>
                <a:pPr indent="457200">
                  <a:lnSpc>
                    <a:spcPct val="120000"/>
                  </a:lnSpc>
                  <a:defRPr/>
                </a:pPr>
                <a:r>
                  <a:rPr lang="zh-CN" altLang="en-US" sz="2000" dirty="0">
                    <a:solidFill>
                      <a:schemeClr val="bg1"/>
                    </a:solidFill>
                    <a:latin typeface="微软雅黑" panose="020B0503020204020204" pitchFamily="34" charset="-122"/>
                    <a:ea typeface="微软雅黑" panose="020B0503020204020204" pitchFamily="34" charset="-122"/>
                  </a:rPr>
                  <a:t>如果测量过程中较为仔细，或精度要求不太高，可认为</a:t>
                </a:r>
                <a14:m>
                  <m:oMath xmlns:m="http://schemas.openxmlformats.org/officeDocument/2006/math">
                    <m:sSub>
                      <m:sSubPr>
                        <m:ctrlPr>
                          <a:rPr lang="en-US" altLang="zh-CN" sz="2000" b="1" i="1" smtClean="0">
                            <a:solidFill>
                              <a:srgbClr val="0070C0"/>
                            </a:solidFill>
                            <a:latin typeface="Cambria Math" panose="02040503050406030204" pitchFamily="18" charset="0"/>
                            <a:ea typeface="微软雅黑" panose="020B0503020204020204" pitchFamily="34" charset="-122"/>
                          </a:rPr>
                        </m:ctrlPr>
                      </m:sSubPr>
                      <m:e>
                        <m:r>
                          <a:rPr lang="en-US" altLang="zh-CN" sz="2000" b="1" i="1">
                            <a:solidFill>
                              <a:srgbClr val="0070C0"/>
                            </a:solidFill>
                            <a:latin typeface="Cambria Math" panose="02040503050406030204" pitchFamily="18" charset="0"/>
                            <a:ea typeface="微软雅黑" panose="020B0503020204020204" pitchFamily="34" charset="-122"/>
                          </a:rPr>
                          <m:t>𝑫</m:t>
                        </m:r>
                      </m:e>
                      <m:sub>
                        <m:r>
                          <a:rPr lang="en-US" altLang="zh-CN" sz="2000" b="1" i="1">
                            <a:solidFill>
                              <a:srgbClr val="0070C0"/>
                            </a:solidFill>
                            <a:latin typeface="Cambria Math" panose="02040503050406030204" pitchFamily="18" charset="0"/>
                            <a:ea typeface="微软雅黑" panose="020B0503020204020204" pitchFamily="34" charset="-122"/>
                          </a:rPr>
                          <m:t>𝟐</m:t>
                        </m:r>
                      </m:sub>
                    </m:sSub>
                    <m:r>
                      <a:rPr lang="zh-CN" altLang="en-US" sz="2000" b="1">
                        <a:solidFill>
                          <a:srgbClr val="0070C0"/>
                        </a:solidFill>
                        <a:latin typeface="Cambria Math" panose="02040503050406030204" pitchFamily="18" charset="0"/>
                        <a:ea typeface="微软雅黑" panose="020B0503020204020204" pitchFamily="34" charset="-122"/>
                      </a:rPr>
                      <m:t>和</m:t>
                    </m:r>
                    <m:sSub>
                      <m:sSubPr>
                        <m:ctrlPr>
                          <a:rPr lang="en-US" altLang="zh-CN" sz="2000" b="1" i="1">
                            <a:solidFill>
                              <a:srgbClr val="0070C0"/>
                            </a:solidFill>
                            <a:latin typeface="Cambria Math" panose="02040503050406030204" pitchFamily="18" charset="0"/>
                            <a:ea typeface="微软雅黑" panose="020B0503020204020204" pitchFamily="34" charset="-122"/>
                          </a:rPr>
                        </m:ctrlPr>
                      </m:sSubPr>
                      <m:e>
                        <m:r>
                          <a:rPr lang="en-US" altLang="zh-CN" sz="2000" b="1" i="1">
                            <a:solidFill>
                              <a:srgbClr val="0070C0"/>
                            </a:solidFill>
                            <a:latin typeface="Cambria Math" panose="02040503050406030204" pitchFamily="18" charset="0"/>
                            <a:ea typeface="微软雅黑" panose="020B0503020204020204" pitchFamily="34" charset="-122"/>
                          </a:rPr>
                          <m:t>𝑫</m:t>
                        </m:r>
                      </m:e>
                      <m:sub>
                        <m:r>
                          <a:rPr lang="en-US" altLang="zh-CN" sz="2000" b="1" i="1">
                            <a:solidFill>
                              <a:srgbClr val="0070C0"/>
                            </a:solidFill>
                            <a:latin typeface="Cambria Math" panose="02040503050406030204" pitchFamily="18" charset="0"/>
                            <a:ea typeface="微软雅黑" panose="020B0503020204020204" pitchFamily="34" charset="-122"/>
                          </a:rPr>
                          <m:t>𝟑</m:t>
                        </m:r>
                      </m:sub>
                    </m:sSub>
                  </m:oMath>
                </a14:m>
                <a:r>
                  <a:rPr lang="zh-CN" altLang="en-US" sz="2000" dirty="0">
                    <a:solidFill>
                      <a:schemeClr val="bg1"/>
                    </a:solidFill>
                    <a:latin typeface="微软雅黑" panose="020B0503020204020204" pitchFamily="34" charset="-122"/>
                    <a:ea typeface="微软雅黑" panose="020B0503020204020204" pitchFamily="34" charset="-122"/>
                  </a:rPr>
                  <a:t>的影响可忽略</a:t>
                </a:r>
                <a:endParaRPr lang="zh-CN" altLang="en-US" sz="2000" dirty="0">
                  <a:solidFill>
                    <a:schemeClr val="bg1"/>
                  </a:solidFill>
                  <a:latin typeface="微软雅黑" panose="020B0503020204020204" pitchFamily="34" charset="-122"/>
                  <a:ea typeface="微软雅黑" panose="020B0503020204020204" pitchFamily="34" charset="-122"/>
                </a:endParaRPr>
              </a:p>
            </p:txBody>
          </p:sp>
        </mc:Choice>
        <mc:Fallback>
          <p:sp>
            <p:nvSpPr>
              <p:cNvPr id="19" name="文本框 18"/>
              <p:cNvSpPr txBox="1">
                <a:spLocks noRot="1" noChangeAspect="1" noMove="1" noResize="1" noEditPoints="1" noAdjustHandles="1" noChangeArrowheads="1" noChangeShapeType="1" noTextEdit="1"/>
              </p:cNvSpPr>
              <p:nvPr/>
            </p:nvSpPr>
            <p:spPr>
              <a:xfrm>
                <a:off x="0" y="3239904"/>
                <a:ext cx="12294133" cy="430374"/>
              </a:xfrm>
              <a:prstGeom prst="rect">
                <a:avLst/>
              </a:prstGeom>
              <a:blipFill rotWithShape="1">
                <a:blip r:embed="rId7"/>
                <a:stretch>
                  <a:fillRect t="-31" r="4" b="1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1181438" y="4925027"/>
                <a:ext cx="5910208" cy="44723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𝑢</m:t>
                    </m:r>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𝐷</m:t>
                    </m:r>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m:t>
                    </m:r>
                    <m:rad>
                      <m:radPr>
                        <m:degHide m:val="on"/>
                        <m:ctrlP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ctrlPr>
                      </m:radPr>
                      <m:deg/>
                      <m:e>
                        <m:sSup>
                          <m:sSupPr>
                            <m:ctrlP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ctrlPr>
                          </m:sSupPr>
                          <m:e>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𝑢</m:t>
                            </m:r>
                            <m:r>
                              <a:rPr kumimoji="0" lang="en-US" altLang="zh-CN" sz="2400" b="0" i="1" u="none" strike="noStrike" kern="1200" cap="none" spc="0" normalizeH="0" baseline="-25000" noProof="0" smtClean="0">
                                <a:ln>
                                  <a:noFill/>
                                </a:ln>
                                <a:solidFill>
                                  <a:schemeClr val="bg1"/>
                                </a:solidFill>
                                <a:effectLst/>
                                <a:uLnTx/>
                                <a:uFillTx/>
                                <a:latin typeface="Cambria Math" panose="02040503050406030204" pitchFamily="18" charset="0"/>
                                <a:cs typeface="+mn-cs"/>
                              </a:rPr>
                              <m:t>𝐴</m:t>
                            </m:r>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𝐷</m:t>
                            </m:r>
                            <m:r>
                              <a:rPr kumimoji="0" lang="en-US" altLang="zh-CN" sz="2400" b="0" i="1" u="none" strike="noStrike" kern="1200" cap="none" spc="0" normalizeH="0" baseline="-25000" noProof="0" smtClean="0">
                                <a:ln>
                                  <a:noFill/>
                                </a:ln>
                                <a:solidFill>
                                  <a:schemeClr val="bg1"/>
                                </a:solidFill>
                                <a:effectLst/>
                                <a:uLnTx/>
                                <a:uFillTx/>
                                <a:latin typeface="Cambria Math" panose="02040503050406030204" pitchFamily="18" charset="0"/>
                                <a:cs typeface="+mn-cs"/>
                              </a:rPr>
                              <m:t>0</m:t>
                            </m:r>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m:t>
                            </m:r>
                          </m:e>
                          <m:sup>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2</m:t>
                            </m:r>
                          </m:sup>
                        </m:sSup>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m:t>
                        </m:r>
                        <m:sSup>
                          <m:sSupPr>
                            <m:ctrlP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ctrlPr>
                          </m:sSupPr>
                          <m:e>
                            <m:sSub>
                              <m:sSubPr>
                                <m:ctrlPr>
                                  <a:rPr kumimoji="0" lang="zh-CN" altLang="en-US" sz="2400" b="0" i="1" u="none" strike="noStrike" kern="1200" cap="none" spc="0" normalizeH="0" baseline="0" noProof="0">
                                    <a:ln>
                                      <a:noFill/>
                                    </a:ln>
                                    <a:solidFill>
                                      <a:schemeClr val="bg1"/>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𝑢</m:t>
                                </m:r>
                              </m:e>
                              <m:sub>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𝐵</m:t>
                                </m:r>
                              </m:sub>
                            </m:sSub>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𝐷</m:t>
                            </m:r>
                            <m:r>
                              <a:rPr kumimoji="0" lang="en-US" altLang="zh-CN" sz="2400" b="0" i="1" u="none" strike="noStrike" kern="1200" cap="none" spc="0" normalizeH="0" baseline="-25000" noProof="0" smtClean="0">
                                <a:ln>
                                  <a:noFill/>
                                </a:ln>
                                <a:solidFill>
                                  <a:schemeClr val="bg1"/>
                                </a:solidFill>
                                <a:effectLst/>
                                <a:uLnTx/>
                                <a:uFillTx/>
                                <a:latin typeface="Cambria Math" panose="02040503050406030204" pitchFamily="18" charset="0"/>
                                <a:cs typeface="+mn-cs"/>
                              </a:rPr>
                              <m:t>1</m:t>
                            </m:r>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m:t>
                            </m:r>
                          </m:e>
                          <m:sup>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2</m:t>
                            </m:r>
                          </m:sup>
                        </m:sSup>
                      </m:e>
                    </m:rad>
                    <m:r>
                      <a:rPr kumimoji="0" lang="en-US" altLang="zh-CN" sz="2400" b="0" i="1" u="none" strike="noStrike" kern="1200" cap="none" spc="0" normalizeH="0" baseline="0" noProof="0" smtClean="0">
                        <a:ln>
                          <a:noFill/>
                        </a:ln>
                        <a:solidFill>
                          <a:schemeClr val="bg1"/>
                        </a:solidFill>
                        <a:effectLst/>
                        <a:uLnTx/>
                        <a:uFillTx/>
                        <a:latin typeface="Cambria Math" panose="02040503050406030204" pitchFamily="18" charset="0"/>
                        <a:cs typeface="+mn-cs"/>
                      </a:rPr>
                      <m:t>=</m:t>
                    </m:r>
                  </m:oMath>
                </a14:m>
                <a:r>
                  <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0.003</a:t>
                </a:r>
                <a:r>
                  <a:rPr kumimoji="0"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a:t>
                </a:r>
                <a:r>
                  <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 mm</a:t>
                </a:r>
                <a:endPar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mc:Choice>
        <mc:Fallback>
          <p:sp>
            <p:nvSpPr>
              <p:cNvPr id="20" name="文本框 19"/>
              <p:cNvSpPr txBox="1">
                <a:spLocks noRot="1" noChangeAspect="1" noMove="1" noResize="1" noEditPoints="1" noAdjustHandles="1" noChangeArrowheads="1" noChangeShapeType="1" noTextEdit="1"/>
              </p:cNvSpPr>
              <p:nvPr/>
            </p:nvSpPr>
            <p:spPr>
              <a:xfrm>
                <a:off x="1181438" y="4925027"/>
                <a:ext cx="5910208" cy="447238"/>
              </a:xfrm>
              <a:prstGeom prst="rect">
                <a:avLst/>
              </a:prstGeom>
              <a:blipFill rotWithShape="1">
                <a:blip r:embed="rId8"/>
                <a:stretch>
                  <a:fillRect l="-6" t="-135" r="10" b="-20125"/>
                </a:stretch>
              </a:blipFill>
            </p:spPr>
            <p:txBody>
              <a:bodyPr/>
              <a:lstStyle/>
              <a:p>
                <a:r>
                  <a:rPr lang="zh-CN" altLang="en-US">
                    <a:noFill/>
                  </a:rPr>
                  <a:t> </a:t>
                </a:r>
              </a:p>
            </p:txBody>
          </p:sp>
        </mc:Fallback>
      </mc:AlternateContent>
      <p:sp>
        <p:nvSpPr>
          <p:cNvPr id="21" name="文本框 20"/>
          <p:cNvSpPr txBox="1"/>
          <p:nvPr/>
        </p:nvSpPr>
        <p:spPr>
          <a:xfrm>
            <a:off x="473552" y="4213657"/>
            <a:ext cx="37930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直径</a:t>
            </a:r>
            <a:r>
              <a:rPr kumimoji="0" lang="en-US" altLang="zh-CN" sz="2400" b="0" i="1" u="none" strike="noStrike" kern="1200" cap="none" spc="0" normalizeH="0" baseline="0" noProof="0" dirty="0">
                <a:ln>
                  <a:noFill/>
                </a:ln>
                <a:solidFill>
                  <a:schemeClr val="bg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的标准不确定度为：</a:t>
            </a:r>
            <a:endPar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4" name="文本框 23"/>
          <p:cNvSpPr txBox="1"/>
          <p:nvPr/>
        </p:nvSpPr>
        <p:spPr>
          <a:xfrm>
            <a:off x="194767" y="66316"/>
            <a:ext cx="5421677" cy="523220"/>
          </a:xfrm>
          <a:prstGeom prst="rect">
            <a:avLst/>
          </a:prstGeom>
          <a:noFill/>
        </p:spPr>
        <p:txBody>
          <a:bodyPr wrap="none" rtlCol="0">
            <a:spAutoFit/>
          </a:bodyPr>
          <a:lstStyle/>
          <a:p>
            <a:pPr eaLnBrk="1" fontAlgn="auto" hangingPunct="1">
              <a:spcBef>
                <a:spcPts val="0"/>
              </a:spcBef>
              <a:spcAft>
                <a:spcPts val="0"/>
              </a:spcAft>
              <a:defRPr/>
            </a:pPr>
            <a:r>
              <a:rPr lang="zh-CN" altLang="en-US" sz="2800" dirty="0">
                <a:solidFill>
                  <a:schemeClr val="bg1"/>
                </a:solidFill>
                <a:latin typeface="微软雅黑" panose="020B0503020204020204" pitchFamily="34" charset="-122"/>
                <a:ea typeface="微软雅黑" panose="020B0503020204020204" pitchFamily="34" charset="-122"/>
              </a:rPr>
              <a:t>（</a:t>
            </a:r>
            <a:r>
              <a:rPr lang="en-US" altLang="zh-CN" sz="2800" dirty="0">
                <a:solidFill>
                  <a:schemeClr val="bg1"/>
                </a:solidFill>
                <a:latin typeface="微软雅黑" panose="020B0503020204020204" pitchFamily="34" charset="-122"/>
                <a:ea typeface="微软雅黑" panose="020B0503020204020204" pitchFamily="34" charset="-122"/>
              </a:rPr>
              <a:t>2</a:t>
            </a:r>
            <a:r>
              <a:rPr lang="zh-CN" altLang="en-US" sz="2800" dirty="0">
                <a:solidFill>
                  <a:schemeClr val="bg1"/>
                </a:solidFill>
                <a:latin typeface="微软雅黑" panose="020B0503020204020204" pitchFamily="34" charset="-122"/>
                <a:ea typeface="微软雅黑" panose="020B0503020204020204" pitchFamily="34" charset="-122"/>
              </a:rPr>
              <a:t>）分析每一项的标准不确定度</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200622" y="3700844"/>
            <a:ext cx="5421677" cy="523220"/>
          </a:xfrm>
          <a:prstGeom prst="rect">
            <a:avLst/>
          </a:prstGeom>
          <a:noFill/>
        </p:spPr>
        <p:txBody>
          <a:bodyPr wrap="none" rtlCol="0">
            <a:spAutoFit/>
          </a:bodyPr>
          <a:lstStyle/>
          <a:p>
            <a:pPr eaLnBrk="1" fontAlgn="auto" hangingPunct="1">
              <a:spcBef>
                <a:spcPts val="0"/>
              </a:spcBef>
              <a:spcAft>
                <a:spcPts val="0"/>
              </a:spcAft>
              <a:defRPr/>
            </a:pPr>
            <a:r>
              <a:rPr lang="zh-CN" altLang="en-US" sz="2800" dirty="0">
                <a:solidFill>
                  <a:schemeClr val="bg1"/>
                </a:solidFill>
                <a:latin typeface="微软雅黑" panose="020B0503020204020204" pitchFamily="34" charset="-122"/>
                <a:ea typeface="微软雅黑" panose="020B0503020204020204" pitchFamily="34" charset="-122"/>
              </a:rPr>
              <a:t>（</a:t>
            </a:r>
            <a:r>
              <a:rPr lang="en-US" altLang="zh-CN" sz="2800" dirty="0">
                <a:solidFill>
                  <a:schemeClr val="bg1"/>
                </a:solidFill>
                <a:latin typeface="微软雅黑" panose="020B0503020204020204" pitchFamily="34" charset="-122"/>
                <a:ea typeface="微软雅黑" panose="020B0503020204020204" pitchFamily="34" charset="-122"/>
              </a:rPr>
              <a:t>3</a:t>
            </a:r>
            <a:r>
              <a:rPr lang="zh-CN" altLang="en-US" sz="2800" dirty="0">
                <a:solidFill>
                  <a:schemeClr val="bg1"/>
                </a:solidFill>
                <a:latin typeface="微软雅黑" panose="020B0503020204020204" pitchFamily="34" charset="-122"/>
                <a:ea typeface="微软雅黑" panose="020B0503020204020204" pitchFamily="34" charset="-122"/>
              </a:rPr>
              <a:t>）合成测量量的标准不确定度</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1181438" y="5662896"/>
            <a:ext cx="4798072" cy="858377"/>
            <a:chOff x="335360" y="5661248"/>
            <a:chExt cx="4798072" cy="858377"/>
          </a:xfrm>
        </p:grpSpPr>
        <mc:AlternateContent xmlns:mc="http://schemas.openxmlformats.org/markup-compatibility/2006">
          <mc:Choice xmlns:a14="http://schemas.microsoft.com/office/drawing/2010/main" Requires="a14">
            <p:sp>
              <p:nvSpPr>
                <p:cNvPr id="22" name="文本框 21"/>
                <p:cNvSpPr txBox="1"/>
                <p:nvPr/>
              </p:nvSpPr>
              <p:spPr>
                <a:xfrm>
                  <a:off x="2172895" y="5795273"/>
                  <a:ext cx="2813014" cy="461665"/>
                </a:xfrm>
                <a:prstGeom prst="rect">
                  <a:avLst/>
                </a:prstGeom>
                <a:noFill/>
                <a:ln>
                  <a:solidFill>
                    <a:srgbClr val="0070C0"/>
                  </a:solidFill>
                </a:ln>
              </p:spPr>
              <p:txBody>
                <a:bodyPr wrap="none" rtlCol="0">
                  <a:spAutoFit/>
                </a:bodyPr>
                <a:lstStyle/>
                <a:p>
                  <a:pPr lvl="0" eaLnBrk="1" fontAlgn="auto" hangingPunct="1">
                    <a:spcBef>
                      <a:spcPts val="0"/>
                    </a:spcBef>
                    <a:spcAft>
                      <a:spcPts val="0"/>
                    </a:spcAft>
                    <a:defRPr/>
                  </a:pPr>
                  <a14:m>
                    <m:oMath xmlns:m="http://schemas.openxmlformats.org/officeDocument/2006/math">
                      <m:r>
                        <a:rPr lang="en-US" altLang="zh-CN" sz="2400" i="1" smtClean="0">
                          <a:solidFill>
                            <a:srgbClr val="C00000"/>
                          </a:solidFill>
                          <a:latin typeface="Cambria Math" panose="02040503050406030204" pitchFamily="18" charset="0"/>
                        </a:rPr>
                        <m:t>𝐷</m:t>
                      </m:r>
                      <m:r>
                        <a:rPr lang="en-US" altLang="zh-CN" sz="2400" i="1" smtClean="0">
                          <a:solidFill>
                            <a:srgbClr val="C00000"/>
                          </a:solidFill>
                          <a:latin typeface="Cambria Math" panose="02040503050406030204" pitchFamily="18" charset="0"/>
                        </a:rPr>
                        <m:t>=</m:t>
                      </m:r>
                      <m:r>
                        <a:rPr lang="en-US" altLang="zh-CN" sz="2400" i="1" smtClean="0">
                          <a:solidFill>
                            <a:srgbClr val="C00000"/>
                          </a:solidFill>
                          <a:latin typeface="Cambria Math" panose="02040503050406030204" pitchFamily="18" charset="0"/>
                        </a:rPr>
                        <m:t>12</m:t>
                      </m:r>
                      <m:r>
                        <a:rPr lang="en-US" altLang="zh-CN" sz="2400" i="1" smtClean="0">
                          <a:solidFill>
                            <a:srgbClr val="C00000"/>
                          </a:solidFill>
                          <a:latin typeface="Cambria Math" panose="02040503050406030204" pitchFamily="18" charset="0"/>
                        </a:rPr>
                        <m:t>.</m:t>
                      </m:r>
                      <m:r>
                        <a:rPr lang="en-US" altLang="zh-CN" sz="2400" i="1" smtClean="0">
                          <a:solidFill>
                            <a:srgbClr val="C00000"/>
                          </a:solidFill>
                          <a:latin typeface="Cambria Math" panose="02040503050406030204" pitchFamily="18" charset="0"/>
                        </a:rPr>
                        <m:t>343</m:t>
                      </m:r>
                      <m:d>
                        <m:dPr>
                          <m:ctrlPr>
                            <a:rPr kumimoji="0" lang="en-US" altLang="zh-CN" sz="2400" b="0"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dPr>
                        <m:e>
                          <m:r>
                            <a:rPr kumimoji="0" lang="en-US" altLang="zh-CN" sz="2400" b="0"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3</m:t>
                          </m:r>
                        </m:e>
                      </m:d>
                    </m:oMath>
                  </a14:m>
                  <a:r>
                    <a:rPr kumimoji="0"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mm</a:t>
                  </a:r>
                  <a:endParaRPr kumimoji="0"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mc:Choice>
          <mc:Fallback>
            <p:sp>
              <p:nvSpPr>
                <p:cNvPr id="22" name="文本框 21"/>
                <p:cNvSpPr txBox="1">
                  <a:spLocks noRot="1" noChangeAspect="1" noMove="1" noResize="1" noEditPoints="1" noAdjustHandles="1" noChangeArrowheads="1" noChangeShapeType="1" noTextEdit="1"/>
                </p:cNvSpPr>
                <p:nvPr/>
              </p:nvSpPr>
              <p:spPr>
                <a:xfrm>
                  <a:off x="2172895" y="5795273"/>
                  <a:ext cx="2813014" cy="461665"/>
                </a:xfrm>
                <a:prstGeom prst="rect">
                  <a:avLst/>
                </a:prstGeom>
                <a:blipFill rotWithShape="1">
                  <a:blip r:embed="rId9"/>
                </a:blipFill>
                <a:ln>
                  <a:solidFill>
                    <a:srgbClr val="0070C0"/>
                  </a:solidFill>
                </a:ln>
              </p:spPr>
              <p:txBody>
                <a:bodyPr/>
                <a:lstStyle/>
                <a:p>
                  <a:r>
                    <a:rPr lang="zh-CN" altLang="en-US">
                      <a:noFill/>
                    </a:rPr>
                    <a:t> </a:t>
                  </a:r>
                </a:p>
              </p:txBody>
            </p:sp>
          </mc:Fallback>
        </mc:AlternateContent>
        <p:sp>
          <p:nvSpPr>
            <p:cNvPr id="23" name="文本框 22"/>
            <p:cNvSpPr txBox="1"/>
            <p:nvPr/>
          </p:nvSpPr>
          <p:spPr>
            <a:xfrm>
              <a:off x="473552" y="5784236"/>
              <a:ext cx="1415772" cy="461665"/>
            </a:xfrm>
            <a:prstGeom prst="rect">
              <a:avLst/>
            </a:prstGeom>
            <a:noFill/>
            <a:ln>
              <a:solidFill>
                <a:srgbClr val="0070C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最终结果</a:t>
              </a:r>
              <a:endPar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335360" y="5661248"/>
              <a:ext cx="4798072" cy="85837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矩形 25"/>
          <p:cNvSpPr/>
          <p:nvPr/>
        </p:nvSpPr>
        <p:spPr>
          <a:xfrm>
            <a:off x="7691508" y="4288757"/>
            <a:ext cx="4112023" cy="2256387"/>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lnSpc>
                <a:spcPct val="150000"/>
              </a:lnSpc>
            </a:pPr>
            <a:r>
              <a:rPr lang="zh-CN" altLang="en-US" sz="2400" dirty="0">
                <a:solidFill>
                  <a:schemeClr val="bg1"/>
                </a:solidFill>
                <a:latin typeface="微软雅黑" panose="020B0503020204020204" pitchFamily="34" charset="-122"/>
                <a:ea typeface="微软雅黑" panose="020B0503020204020204" pitchFamily="34" charset="-122"/>
              </a:rPr>
              <a:t>不确定度的表达：</a:t>
            </a:r>
            <a:endParaRPr lang="en-US" altLang="zh-CN" sz="2400" dirty="0">
              <a:solidFill>
                <a:schemeClr val="bg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不确定度</a:t>
            </a:r>
            <a:r>
              <a:rPr lang="zh-CN" altLang="en-US" b="1" dirty="0">
                <a:solidFill>
                  <a:srgbClr val="0070C0"/>
                </a:solidFill>
                <a:latin typeface="微软雅黑" panose="020B0503020204020204" pitchFamily="34" charset="-122"/>
                <a:ea typeface="微软雅黑" panose="020B0503020204020204" pitchFamily="34" charset="-122"/>
              </a:rPr>
              <a:t>只取一位</a:t>
            </a:r>
            <a:r>
              <a:rPr lang="zh-CN" altLang="en-US" dirty="0">
                <a:solidFill>
                  <a:schemeClr val="bg1"/>
                </a:solidFill>
                <a:latin typeface="微软雅黑" panose="020B0503020204020204" pitchFamily="34" charset="-122"/>
                <a:ea typeface="微软雅黑" panose="020B0503020204020204" pitchFamily="34" charset="-122"/>
              </a:rPr>
              <a:t>有效数字</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用括号里的数字表示。</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根据不确定度，确定测量结果的有效数字。</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5" name="矩形 14"/>
          <p:cNvSpPr/>
          <p:nvPr/>
        </p:nvSpPr>
        <p:spPr>
          <a:xfrm>
            <a:off x="9023098" y="1357910"/>
            <a:ext cx="2930780" cy="400110"/>
          </a:xfrm>
          <a:prstGeom prst="rect">
            <a:avLst/>
          </a:prstGeom>
        </p:spPr>
        <p:txBody>
          <a:bodyPr wrap="square">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运算过程中多保留几位</a:t>
            </a:r>
            <a:endParaRPr lang="zh-CN" altLang="en-US" sz="2000" dirty="0">
              <a:solidFill>
                <a:srgbClr val="0070C0"/>
              </a:solidFill>
              <a:latin typeface="微软雅黑" panose="020B0503020204020204" pitchFamily="34" charset="-122"/>
              <a:ea typeface="微软雅黑" panose="020B0503020204020204" pitchFamily="34" charset="-122"/>
            </a:endParaRPr>
          </a:p>
        </p:txBody>
      </p:sp>
      <p:grpSp>
        <p:nvGrpSpPr>
          <p:cNvPr id="29" name="组合 28"/>
          <p:cNvGrpSpPr/>
          <p:nvPr/>
        </p:nvGrpSpPr>
        <p:grpSpPr>
          <a:xfrm>
            <a:off x="8904312" y="4473186"/>
            <a:ext cx="2825128" cy="853819"/>
            <a:chOff x="8904312" y="4473186"/>
            <a:chExt cx="2825128" cy="853819"/>
          </a:xfrm>
        </p:grpSpPr>
        <p:sp>
          <p:nvSpPr>
            <p:cNvPr id="16" name="文本框 15"/>
            <p:cNvSpPr txBox="1"/>
            <p:nvPr/>
          </p:nvSpPr>
          <p:spPr>
            <a:xfrm>
              <a:off x="10390612" y="4473186"/>
              <a:ext cx="1338828" cy="369332"/>
            </a:xfrm>
            <a:prstGeom prst="rect">
              <a:avLst/>
            </a:prstGeom>
            <a:noFill/>
          </p:spPr>
          <p:txBody>
            <a:bodyPr wrap="none" rtlCol="0">
              <a:spAutoFit/>
            </a:bodyPr>
            <a:lstStyle/>
            <a:p>
              <a:r>
                <a:rPr lang="zh-CN" altLang="en-US" dirty="0">
                  <a:solidFill>
                    <a:srgbClr val="C00000"/>
                  </a:solidFill>
                  <a:latin typeface="微软雅黑" panose="020B0503020204020204" pitchFamily="34" charset="-122"/>
                  <a:ea typeface="微软雅黑" panose="020B0503020204020204" pitchFamily="34" charset="-122"/>
                </a:rPr>
                <a:t>本课程要求</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7" name="椭圆 16"/>
            <p:cNvSpPr/>
            <p:nvPr/>
          </p:nvSpPr>
          <p:spPr>
            <a:xfrm>
              <a:off x="8904312" y="4869160"/>
              <a:ext cx="1081286" cy="45784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a:stCxn id="17" idx="7"/>
            </p:cNvCxnSpPr>
            <p:nvPr/>
          </p:nvCxnSpPr>
          <p:spPr>
            <a:xfrm flipV="1">
              <a:off x="9827247" y="4725144"/>
              <a:ext cx="661241" cy="211066"/>
            </a:xfrm>
            <a:prstGeom prst="line">
              <a:avLst/>
            </a:prstGeom>
            <a:ln w="3175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9" grpId="0"/>
      <p:bldP spid="20" grpId="0"/>
      <p:bldP spid="21" grpId="0"/>
      <p:bldP spid="25" grpId="0"/>
      <p:bldP spid="26" grpId="0" animBg="1"/>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eaLnBrk="1" hangingPunct="1">
              <a:defRPr/>
            </a:pPr>
            <a:r>
              <a:rPr lang="zh-CN" altLang="en-US" b="1" dirty="0">
                <a:solidFill>
                  <a:schemeClr val="bg1"/>
                </a:solidFill>
                <a:latin typeface="微软雅黑" panose="020B0503020204020204" pitchFamily="34" charset="-122"/>
                <a:ea typeface="微软雅黑" panose="020B0503020204020204" pitchFamily="34" charset="-122"/>
              </a:rPr>
              <a:t>示例</a:t>
            </a:r>
            <a:r>
              <a:rPr lang="en-US" altLang="zh-CN" b="1"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测量</a:t>
            </a:r>
            <a:r>
              <a:rPr lang="zh-CN" altLang="en-US" kern="0" dirty="0">
                <a:solidFill>
                  <a:schemeClr val="bg1"/>
                </a:solidFill>
                <a:latin typeface="微软雅黑" panose="020B0503020204020204" pitchFamily="34" charset="-122"/>
                <a:ea typeface="微软雅黑" panose="020B0503020204020204" pitchFamily="34" charset="-122"/>
              </a:rPr>
              <a:t>圆柱体合金</a:t>
            </a:r>
            <a:r>
              <a:rPr lang="zh-CN" altLang="en-US" dirty="0">
                <a:solidFill>
                  <a:schemeClr val="bg1"/>
                </a:solidFill>
                <a:latin typeface="微软雅黑" panose="020B0503020204020204" pitchFamily="34" charset="-122"/>
                <a:ea typeface="微软雅黑" panose="020B0503020204020204" pitchFamily="34" charset="-122"/>
              </a:rPr>
              <a:t>的密度</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7651" name="内容占位符 2"/>
          <p:cNvSpPr>
            <a:spLocks noGrp="1"/>
          </p:cNvSpPr>
          <p:nvPr>
            <p:ph idx="1"/>
          </p:nvPr>
        </p:nvSpPr>
        <p:spPr>
          <a:xfrm>
            <a:off x="646111" y="1391164"/>
            <a:ext cx="8686800" cy="4525963"/>
          </a:xfrm>
          <a:noFill/>
        </p:spPr>
        <p:txBody>
          <a:bodyPr>
            <a:normAutofit/>
          </a:bodyPr>
          <a:lstStyle/>
          <a:p>
            <a:pPr eaLnBrk="1" hangingPunct="1"/>
            <a:endParaRPr lang="en-US" altLang="zh-CN" sz="2800" dirty="0">
              <a:solidFill>
                <a:schemeClr val="bg1"/>
              </a:solidFill>
              <a:latin typeface="微软雅黑" panose="020B0503020204020204" pitchFamily="34" charset="-122"/>
              <a:ea typeface="微软雅黑" panose="020B0503020204020204" pitchFamily="34" charset="-122"/>
            </a:endParaRPr>
          </a:p>
          <a:p>
            <a:pPr eaLnBrk="1" hangingPunct="1"/>
            <a:endParaRPr lang="en-US" altLang="zh-CN" sz="2800" dirty="0">
              <a:solidFill>
                <a:schemeClr val="bg1"/>
              </a:solidFill>
              <a:latin typeface="微软雅黑" panose="020B0503020204020204" pitchFamily="34" charset="-122"/>
              <a:ea typeface="微软雅黑" panose="020B0503020204020204" pitchFamily="34" charset="-122"/>
            </a:endParaRPr>
          </a:p>
          <a:p>
            <a:pPr eaLnBrk="1" hangingPunct="1"/>
            <a:r>
              <a:rPr lang="zh-CN" altLang="en-US" sz="2800" dirty="0">
                <a:solidFill>
                  <a:schemeClr val="bg1"/>
                </a:solidFill>
                <a:latin typeface="微软雅黑" panose="020B0503020204020204" pitchFamily="34" charset="-122"/>
                <a:ea typeface="微软雅黑" panose="020B0503020204020204" pitchFamily="34" charset="-122"/>
              </a:rPr>
              <a:t>分析待测量</a:t>
            </a:r>
            <a:endParaRPr lang="en-US" altLang="zh-CN" sz="2800" dirty="0">
              <a:solidFill>
                <a:schemeClr val="bg1"/>
              </a:solidFill>
              <a:latin typeface="微软雅黑" panose="020B0503020204020204" pitchFamily="34" charset="-122"/>
              <a:ea typeface="微软雅黑" panose="020B0503020204020204" pitchFamily="34" charset="-122"/>
            </a:endParaRPr>
          </a:p>
          <a:p>
            <a:pPr marL="0" indent="0" eaLnBrk="1" hangingPunct="1">
              <a:buNone/>
            </a:pPr>
            <a:endParaRPr lang="en-US" altLang="zh-CN" sz="2800" dirty="0">
              <a:solidFill>
                <a:schemeClr val="bg1"/>
              </a:solidFill>
              <a:latin typeface="微软雅黑" panose="020B0503020204020204" pitchFamily="34" charset="-122"/>
              <a:ea typeface="微软雅黑" panose="020B0503020204020204" pitchFamily="34" charset="-122"/>
            </a:endParaRPr>
          </a:p>
          <a:p>
            <a:pPr eaLnBrk="1" hangingPunct="1"/>
            <a:endParaRPr lang="en-US" altLang="zh-CN" sz="2800" dirty="0">
              <a:solidFill>
                <a:schemeClr val="bg1"/>
              </a:solidFill>
              <a:latin typeface="微软雅黑" panose="020B0503020204020204" pitchFamily="34" charset="-122"/>
              <a:ea typeface="微软雅黑" panose="020B0503020204020204" pitchFamily="34" charset="-122"/>
            </a:endParaRPr>
          </a:p>
          <a:p>
            <a:pPr eaLnBrk="1" hangingPunct="1"/>
            <a:endParaRPr lang="en-US" altLang="zh-CN" sz="2800" dirty="0">
              <a:solidFill>
                <a:schemeClr val="bg1"/>
              </a:solidFill>
              <a:latin typeface="微软雅黑" panose="020B0503020204020204" pitchFamily="34" charset="-122"/>
              <a:ea typeface="微软雅黑" panose="020B0503020204020204" pitchFamily="34" charset="-122"/>
            </a:endParaRPr>
          </a:p>
          <a:p>
            <a:pPr eaLnBrk="1" hangingPunct="1"/>
            <a:endParaRPr lang="en-US" altLang="zh-CN" sz="2800" dirty="0">
              <a:solidFill>
                <a:schemeClr val="bg1"/>
              </a:solidFill>
              <a:latin typeface="微软雅黑" panose="020B0503020204020204" pitchFamily="34" charset="-122"/>
              <a:ea typeface="微软雅黑" panose="020B0503020204020204" pitchFamily="34" charset="-122"/>
            </a:endParaRPr>
          </a:p>
          <a:p>
            <a:pPr eaLnBrk="1" hangingPunct="1"/>
            <a:r>
              <a:rPr lang="zh-CN" altLang="en-US" sz="2800" dirty="0">
                <a:solidFill>
                  <a:schemeClr val="bg1"/>
                </a:solidFill>
                <a:latin typeface="微软雅黑" panose="020B0503020204020204" pitchFamily="34" charset="-122"/>
                <a:ea typeface="微软雅黑" panose="020B0503020204020204" pitchFamily="34" charset="-122"/>
              </a:rPr>
              <a:t>间接测量量</a:t>
            </a:r>
            <a:r>
              <a:rPr lang="zh-CN" altLang="en-US" sz="2800"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 </a:t>
            </a:r>
            <a:r>
              <a:rPr lang="zh-CN" altLang="en-US" sz="2800" dirty="0">
                <a:solidFill>
                  <a:schemeClr val="bg1"/>
                </a:solidFill>
                <a:latin typeface="微软雅黑" panose="020B0503020204020204" pitchFamily="34" charset="-122"/>
                <a:ea typeface="微软雅黑" panose="020B0503020204020204" pitchFamily="34" charset="-122"/>
              </a:rPr>
              <a:t>转化为</a:t>
            </a:r>
            <a:r>
              <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个直接测量量</a:t>
            </a:r>
            <a:r>
              <a:rPr lang="en-US" altLang="zh-CN" sz="28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H</a:t>
            </a:r>
            <a:endParaRPr lang="en-US" altLang="zh-CN" sz="28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endParaRPr lang="en-US" altLang="zh-CN" sz="2800" dirty="0">
              <a:solidFill>
                <a:schemeClr val="bg1"/>
              </a:solidFill>
              <a:latin typeface="微软雅黑" panose="020B0503020204020204" pitchFamily="34" charset="-122"/>
              <a:ea typeface="微软雅黑" panose="020B0503020204020204" pitchFamily="34" charset="-122"/>
            </a:endParaRPr>
          </a:p>
          <a:p>
            <a:pPr eaLnBrk="1" hangingPunct="1"/>
            <a:endParaRPr lang="en-US" altLang="zh-CN" sz="2800" dirty="0">
              <a:solidFill>
                <a:schemeClr val="bg1"/>
              </a:solidFill>
              <a:latin typeface="微软雅黑" panose="020B0503020204020204" pitchFamily="34" charset="-122"/>
              <a:ea typeface="微软雅黑" panose="020B0503020204020204" pitchFamily="34" charset="-122"/>
            </a:endParaRPr>
          </a:p>
          <a:p>
            <a:pPr eaLnBrk="1" hangingPunct="1">
              <a:buFont typeface="Arial" panose="020B0604020202020204" pitchFamily="34" charset="0"/>
              <a:buNone/>
            </a:pP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5" name="圆柱形 4"/>
          <p:cNvSpPr/>
          <p:nvPr/>
        </p:nvSpPr>
        <p:spPr>
          <a:xfrm>
            <a:off x="8712770" y="1657399"/>
            <a:ext cx="2327920" cy="3600400"/>
          </a:xfrm>
          <a:prstGeom prst="can">
            <a:avLst>
              <a:gd name="adj" fmla="val 34877"/>
            </a:avLst>
          </a:prstGeom>
          <a:solidFill>
            <a:schemeClr val="accent5">
              <a:lumMod val="20000"/>
              <a:lumOff val="80000"/>
            </a:scheme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mc:AlternateContent xmlns:mc="http://schemas.openxmlformats.org/markup-compatibility/2006">
        <mc:Choice xmlns:a14="http://schemas.microsoft.com/office/drawing/2010/main" Requires="a14">
          <p:sp>
            <p:nvSpPr>
              <p:cNvPr id="27653" name="Object 8"/>
              <p:cNvSpPr txBox="1"/>
              <p:nvPr/>
            </p:nvSpPr>
            <p:spPr bwMode="auto">
              <a:xfrm>
                <a:off x="1151310" y="3345437"/>
                <a:ext cx="6168826" cy="1659316"/>
              </a:xfrm>
              <a:prstGeom prst="rect">
                <a:avLst/>
              </a:prstGeom>
              <a:noFill/>
              <a:ln>
                <a:noFill/>
              </a:ln>
              <a:effectLst/>
            </p:spPr>
            <p:txBody>
              <a:bodyPr>
                <a:noAutofit/>
              </a:bodyPr>
              <a:lstStyle/>
              <a:p>
                <a14:m>
                  <m:oMathPara xmlns:m="http://schemas.openxmlformats.org/officeDocument/2006/math">
                    <m:oMathParaPr>
                      <m:jc m:val="centerGroup"/>
                    </m:oMathParaPr>
                    <m:oMath xmlns:m="http://schemas.openxmlformats.org/officeDocument/2006/math">
                      <m:r>
                        <a:rPr lang="zh-CN" altLang="en-US" sz="3600" i="1" smtClean="0">
                          <a:solidFill>
                            <a:srgbClr val="000000"/>
                          </a:solidFill>
                          <a:latin typeface="Cambria Math" panose="02040503050406030204" pitchFamily="18" charset="0"/>
                        </a:rPr>
                        <m:t>𝜌</m:t>
                      </m:r>
                      <m:r>
                        <a:rPr lang="zh-CN" altLang="en-US" sz="3600" i="1" smtClean="0">
                          <a:solidFill>
                            <a:srgbClr val="000000"/>
                          </a:solidFill>
                          <a:latin typeface="Cambria Math" panose="02040503050406030204" pitchFamily="18" charset="0"/>
                        </a:rPr>
                        <m:t>=</m:t>
                      </m:r>
                      <m:f>
                        <m:fPr>
                          <m:ctrlPr>
                            <a:rPr lang="zh-CN" altLang="en-US" sz="3600" i="1">
                              <a:solidFill>
                                <a:srgbClr val="000000"/>
                              </a:solidFill>
                              <a:latin typeface="Cambria Math" panose="02040503050406030204" pitchFamily="18" charset="0"/>
                            </a:rPr>
                          </m:ctrlPr>
                        </m:fPr>
                        <m:num>
                          <m:r>
                            <a:rPr lang="en-US" altLang="zh-CN" sz="3600" b="0" i="1" smtClean="0">
                              <a:solidFill>
                                <a:srgbClr val="000000"/>
                              </a:solidFill>
                              <a:latin typeface="Cambria Math" panose="02040503050406030204" pitchFamily="18" charset="0"/>
                            </a:rPr>
                            <m:t>𝑚</m:t>
                          </m:r>
                        </m:num>
                        <m:den>
                          <m:r>
                            <a:rPr lang="zh-CN" altLang="en-US" sz="3600" i="1">
                              <a:solidFill>
                                <a:srgbClr val="000000"/>
                              </a:solidFill>
                              <a:latin typeface="Cambria Math" panose="02040503050406030204" pitchFamily="18" charset="0"/>
                            </a:rPr>
                            <m:t>𝑉</m:t>
                          </m:r>
                        </m:den>
                      </m:f>
                      <m:r>
                        <a:rPr lang="zh-CN" altLang="en-US" sz="3600" i="1">
                          <a:solidFill>
                            <a:srgbClr val="000000"/>
                          </a:solidFill>
                          <a:latin typeface="Cambria Math" panose="02040503050406030204" pitchFamily="18" charset="0"/>
                        </a:rPr>
                        <m:t>=</m:t>
                      </m:r>
                      <m:f>
                        <m:fPr>
                          <m:ctrlPr>
                            <a:rPr lang="zh-CN" altLang="en-US" sz="3600" i="1">
                              <a:solidFill>
                                <a:srgbClr val="000000"/>
                              </a:solidFill>
                              <a:latin typeface="Cambria Math" panose="02040503050406030204" pitchFamily="18" charset="0"/>
                            </a:rPr>
                          </m:ctrlPr>
                        </m:fPr>
                        <m:num>
                          <m:r>
                            <a:rPr lang="zh-CN" altLang="en-US" sz="3600" i="1">
                              <a:solidFill>
                                <a:srgbClr val="000000"/>
                              </a:solidFill>
                              <a:latin typeface="Cambria Math" panose="02040503050406030204" pitchFamily="18" charset="0"/>
                            </a:rPr>
                            <m:t>4</m:t>
                          </m:r>
                          <m:r>
                            <a:rPr lang="en-US" altLang="zh-CN" sz="3600" b="0" i="1" smtClean="0">
                              <a:solidFill>
                                <a:srgbClr val="000000"/>
                              </a:solidFill>
                              <a:latin typeface="Cambria Math" panose="02040503050406030204" pitchFamily="18" charset="0"/>
                            </a:rPr>
                            <m:t>𝑚</m:t>
                          </m:r>
                        </m:num>
                        <m:den>
                          <m:r>
                            <a:rPr lang="zh-CN" altLang="en-US" sz="3600" i="1">
                              <a:solidFill>
                                <a:srgbClr val="000000"/>
                              </a:solidFill>
                              <a:latin typeface="Cambria Math" panose="02040503050406030204" pitchFamily="18" charset="0"/>
                            </a:rPr>
                            <m:t>𝜋</m:t>
                          </m:r>
                          <m:sSup>
                            <m:sSupPr>
                              <m:ctrlPr>
                                <a:rPr lang="zh-CN" altLang="en-US" sz="3600" i="1">
                                  <a:solidFill>
                                    <a:srgbClr val="000000"/>
                                  </a:solidFill>
                                  <a:latin typeface="Cambria Math" panose="02040503050406030204" pitchFamily="18" charset="0"/>
                                </a:rPr>
                              </m:ctrlPr>
                            </m:sSupPr>
                            <m:e>
                              <m:bar>
                                <m:barPr>
                                  <m:pos m:val="top"/>
                                  <m:ctrlPr>
                                    <a:rPr lang="zh-CN" altLang="en-US" sz="3600" i="1">
                                      <a:solidFill>
                                        <a:srgbClr val="000000"/>
                                      </a:solidFill>
                                      <a:latin typeface="Cambria Math" panose="02040503050406030204" pitchFamily="18" charset="0"/>
                                    </a:rPr>
                                  </m:ctrlPr>
                                </m:barPr>
                                <m:e>
                                  <m:r>
                                    <a:rPr lang="zh-CN" altLang="en-US" sz="3600" i="1">
                                      <a:solidFill>
                                        <a:srgbClr val="000000"/>
                                      </a:solidFill>
                                      <a:latin typeface="Cambria Math" panose="02040503050406030204" pitchFamily="18" charset="0"/>
                                    </a:rPr>
                                    <m:t>𝐷</m:t>
                                  </m:r>
                                </m:e>
                              </m:bar>
                            </m:e>
                            <m:sup>
                              <m:r>
                                <a:rPr lang="zh-CN" altLang="en-US" sz="3600" i="1">
                                  <a:solidFill>
                                    <a:srgbClr val="000000"/>
                                  </a:solidFill>
                                  <a:latin typeface="Cambria Math" panose="02040503050406030204" pitchFamily="18" charset="0"/>
                                </a:rPr>
                                <m:t>2</m:t>
                              </m:r>
                            </m:sup>
                          </m:sSup>
                          <m:r>
                            <a:rPr lang="en-US" altLang="zh-CN" sz="3600" b="0" i="1" smtClean="0">
                              <a:solidFill>
                                <a:srgbClr val="000000"/>
                              </a:solidFill>
                              <a:latin typeface="Cambria Math" panose="02040503050406030204" pitchFamily="18" charset="0"/>
                            </a:rPr>
                            <m:t>𝐻</m:t>
                          </m:r>
                        </m:den>
                      </m:f>
                    </m:oMath>
                  </m:oMathPara>
                </a14:m>
                <a:endParaRPr lang="zh-CN" altLang="en-US" sz="3600" dirty="0"/>
              </a:p>
            </p:txBody>
          </p:sp>
        </mc:Choice>
        <mc:Fallback>
          <p:sp>
            <p:nvSpPr>
              <p:cNvPr id="27653" name="Object 8"/>
              <p:cNvSpPr txBox="1">
                <a:spLocks noRot="1" noChangeAspect="1" noMove="1" noResize="1" noEditPoints="1" noAdjustHandles="1" noChangeArrowheads="1" noChangeShapeType="1" noTextEdit="1"/>
              </p:cNvSpPr>
              <p:nvPr/>
            </p:nvSpPr>
            <p:spPr bwMode="auto">
              <a:xfrm>
                <a:off x="1151310" y="3345437"/>
                <a:ext cx="6168826" cy="1659316"/>
              </a:xfrm>
              <a:prstGeom prst="rect">
                <a:avLst/>
              </a:prstGeom>
              <a:blipFill rotWithShape="1">
                <a:blip r:embed="rId1"/>
                <a:stretch>
                  <a:fillRect l="-1" t="-15" r="8" b="19"/>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6"/>
          <p:cNvSpPr txBox="1">
            <a:spLocks noChangeArrowheads="1"/>
          </p:cNvSpPr>
          <p:nvPr/>
        </p:nvSpPr>
        <p:spPr bwMode="auto">
          <a:xfrm>
            <a:off x="407368" y="129491"/>
            <a:ext cx="13564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黑体" panose="02010609060101010101" pitchFamily="49" charset="-122"/>
              </a:defRPr>
            </a:lvl1pPr>
            <a:lvl2pPr marL="742950" indent="-285750">
              <a:defRPr>
                <a:solidFill>
                  <a:schemeClr val="tx1"/>
                </a:solidFill>
                <a:latin typeface="Arial" panose="020B0604020202020204" pitchFamily="34" charset="0"/>
                <a:ea typeface="黑体" panose="02010609060101010101" pitchFamily="49" charset="-122"/>
              </a:defRPr>
            </a:lvl2pPr>
            <a:lvl3pPr marL="1143000" indent="-228600">
              <a:defRPr>
                <a:solidFill>
                  <a:schemeClr val="tx1"/>
                </a:solidFill>
                <a:latin typeface="Arial" panose="020B0604020202020204" pitchFamily="34" charset="0"/>
                <a:ea typeface="黑体" panose="02010609060101010101" pitchFamily="49" charset="-122"/>
              </a:defRPr>
            </a:lvl3pPr>
            <a:lvl4pPr marL="1600200" indent="-228600">
              <a:defRPr>
                <a:solidFill>
                  <a:schemeClr val="tx1"/>
                </a:solidFill>
                <a:latin typeface="Arial" panose="020B0604020202020204" pitchFamily="34" charset="0"/>
                <a:ea typeface="黑体" panose="02010609060101010101" pitchFamily="49" charset="-122"/>
              </a:defRPr>
            </a:lvl4pPr>
            <a:lvl5pPr marL="2057400" indent="-228600">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9pPr>
          </a:lstStyle>
          <a:p>
            <a:pPr defTabSz="685800" eaLnBrk="1" fontAlgn="auto" hangingPunct="1">
              <a:spcBef>
                <a:spcPts val="0"/>
              </a:spcBef>
              <a:spcAft>
                <a:spcPts val="0"/>
              </a:spcAft>
              <a:defRPr/>
            </a:pPr>
            <a:r>
              <a:rPr lang="zh-CN" altLang="en-US" sz="4000" b="1" dirty="0">
                <a:solidFill>
                  <a:schemeClr val="bg1"/>
                </a:solidFill>
                <a:latin typeface="微软雅黑" panose="020B0503020204020204" pitchFamily="34" charset="-122"/>
                <a:ea typeface="微软雅黑" panose="020B0503020204020204" pitchFamily="34" charset="-122"/>
              </a:rPr>
              <a:t>示例</a:t>
            </a:r>
            <a:r>
              <a:rPr lang="en-US" altLang="zh-CN" sz="4000" b="1" dirty="0">
                <a:solidFill>
                  <a:schemeClr val="bg1"/>
                </a:solidFill>
                <a:latin typeface="微软雅黑" panose="020B0503020204020204" pitchFamily="34" charset="-122"/>
                <a:ea typeface="微软雅黑" panose="020B0503020204020204" pitchFamily="34" charset="-122"/>
              </a:rPr>
              <a:t>:</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6" name="Text Box 3"/>
          <p:cNvSpPr txBox="1">
            <a:spLocks noChangeArrowheads="1"/>
          </p:cNvSpPr>
          <p:nvPr/>
        </p:nvSpPr>
        <p:spPr bwMode="auto">
          <a:xfrm>
            <a:off x="1331758" y="221824"/>
            <a:ext cx="62764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indent="457200" eaLnBrk="1" fontAlgn="auto" hangingPunct="1">
              <a:spcBef>
                <a:spcPct val="50000"/>
              </a:spcBef>
              <a:spcAft>
                <a:spcPts val="0"/>
              </a:spcAft>
              <a:buNone/>
              <a:defRPr/>
            </a:pPr>
            <a:r>
              <a:rPr lang="zh-CN" altLang="en-US" kern="0" dirty="0">
                <a:solidFill>
                  <a:schemeClr val="bg1"/>
                </a:solidFill>
                <a:latin typeface="微软雅黑" panose="020B0503020204020204" pitchFamily="34" charset="-122"/>
                <a:ea typeface="微软雅黑" panose="020B0503020204020204" pitchFamily="34" charset="-122"/>
              </a:rPr>
              <a:t>测量圆柱体合金的密度</a:t>
            </a:r>
            <a:endParaRPr lang="el-GR" altLang="zh-CN" kern="0" dirty="0">
              <a:solidFill>
                <a:schemeClr val="bg1"/>
              </a:solidFill>
              <a:latin typeface="微软雅黑" panose="020B0503020204020204" pitchFamily="34" charset="-122"/>
              <a:ea typeface="微软雅黑" panose="020B0503020204020204" pitchFamily="34" charset="-122"/>
            </a:endParaRPr>
          </a:p>
        </p:txBody>
      </p:sp>
      <p:graphicFrame>
        <p:nvGraphicFramePr>
          <p:cNvPr id="7" name="Group 6"/>
          <p:cNvGraphicFramePr/>
          <p:nvPr/>
        </p:nvGraphicFramePr>
        <p:xfrm>
          <a:off x="809938" y="2272754"/>
          <a:ext cx="8888968" cy="1228254"/>
        </p:xfrm>
        <a:graphic>
          <a:graphicData uri="http://schemas.openxmlformats.org/drawingml/2006/table">
            <a:tbl>
              <a:tblPr/>
              <a:tblGrid>
                <a:gridCol w="1481169"/>
                <a:gridCol w="1481170"/>
                <a:gridCol w="1483121"/>
                <a:gridCol w="1479218"/>
                <a:gridCol w="1483121"/>
                <a:gridCol w="1481169"/>
              </a:tblGrid>
              <a:tr h="611030">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/mm</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10.502</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10.488</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10.516</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10.480</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10.495</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617224">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/mm</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20.00</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20.02</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19.98</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20.00</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20.00</a:t>
                      </a:r>
                      <a:endParaRPr kumimoji="0" lang="en-US" altLang="zh-CN" sz="2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8" name="TextBox 3"/>
              <p:cNvSpPr txBox="1">
                <a:spLocks noChangeArrowheads="1"/>
              </p:cNvSpPr>
              <p:nvPr/>
            </p:nvSpPr>
            <p:spPr bwMode="auto">
              <a:xfrm>
                <a:off x="416564" y="1080188"/>
                <a:ext cx="112470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None/>
                  <a:defRPr/>
                </a:pP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直径</a:t>
                </a:r>
                <a:r>
                  <a:rPr lang="en-US" altLang="zh-CN" sz="24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用千分尺（</a:t>
                </a:r>
                <a14:m>
                  <m:oMath xmlns:m="http://schemas.openxmlformats.org/officeDocument/2006/math">
                    <m:r>
                      <a:rPr lang="en-US" altLang="zh-CN" sz="240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𝑎</m:t>
                    </m:r>
                    <m:r>
                      <a:rPr lang="en-US" altLang="zh-CN" sz="2400" i="1" kern="100">
                        <a:solidFill>
                          <a:schemeClr val="bg1"/>
                        </a:solidFill>
                        <a:latin typeface="Cambria Math" panose="02040503050406030204" pitchFamily="18" charset="0"/>
                        <a:cs typeface="Times New Roman" panose="02020603050405020304" pitchFamily="18" charset="0"/>
                      </a:rPr>
                      <m:t>=</m:t>
                    </m:r>
                    <m:r>
                      <a:rPr lang="en-US" altLang="zh-CN" sz="2400" i="1" kern="100">
                        <a:solidFill>
                          <a:schemeClr val="bg1"/>
                        </a:solidFill>
                        <a:latin typeface="Cambria Math" panose="02040503050406030204" pitchFamily="18" charset="0"/>
                        <a:cs typeface="Times New Roman" panose="02020603050405020304" pitchFamily="18" charset="0"/>
                      </a:rPr>
                      <m:t>0</m:t>
                    </m:r>
                  </m:oMath>
                </a14:m>
                <a:r>
                  <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.004mm</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）测量，高</a:t>
                </a:r>
                <a:r>
                  <a:rPr lang="en-US" altLang="zh-CN" sz="24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用游标卡尺（</a:t>
                </a:r>
                <a14:m>
                  <m:oMath xmlns:m="http://schemas.openxmlformats.org/officeDocument/2006/math">
                    <m:r>
                      <a:rPr lang="en-US" altLang="zh-C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𝑎</m:t>
                    </m:r>
                    <m:r>
                      <a:rPr lang="en-US" altLang="zh-CN" sz="2400" i="1" kern="100">
                        <a:solidFill>
                          <a:schemeClr val="bg1"/>
                        </a:solidFill>
                        <a:latin typeface="Cambria Math" panose="02040503050406030204" pitchFamily="18" charset="0"/>
                        <a:cs typeface="Times New Roman" panose="02020603050405020304" pitchFamily="18" charset="0"/>
                      </a:rPr>
                      <m:t>=</m:t>
                    </m:r>
                    <m:r>
                      <a:rPr lang="en-US" altLang="zh-CN" sz="2400" i="1" kern="100">
                        <a:solidFill>
                          <a:schemeClr val="bg1"/>
                        </a:solidFill>
                        <a:latin typeface="Cambria Math" panose="02040503050406030204" pitchFamily="18" charset="0"/>
                        <a:cs typeface="Times New Roman" panose="02020603050405020304" pitchFamily="18" charset="0"/>
                      </a:rPr>
                      <m:t>0</m:t>
                    </m:r>
                  </m:oMath>
                </a14:m>
                <a:r>
                  <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.02mm)</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测量，测量数据如下（千分尺读数零读数已扣除）：</a:t>
                </a:r>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8" name="TextBox 3"/>
              <p:cNvSpPr txBox="1">
                <a:spLocks noRot="1" noChangeAspect="1" noMove="1" noResize="1" noEditPoints="1" noAdjustHandles="1" noChangeArrowheads="1" noChangeShapeType="1" noTextEdit="1"/>
              </p:cNvSpPr>
              <p:nvPr/>
            </p:nvSpPr>
            <p:spPr bwMode="auto">
              <a:xfrm>
                <a:off x="416564" y="1080188"/>
                <a:ext cx="11247040" cy="830997"/>
              </a:xfrm>
              <a:prstGeom prst="rect">
                <a:avLst/>
              </a:prstGeom>
              <a:blipFill rotWithShape="1">
                <a:blip r:embed="rId1"/>
                <a:stretch>
                  <a:fillRect t="-6" r="5" b="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9" name="TextBox 3"/>
          <p:cNvSpPr txBox="1">
            <a:spLocks noChangeArrowheads="1"/>
          </p:cNvSpPr>
          <p:nvPr/>
        </p:nvSpPr>
        <p:spPr bwMode="auto">
          <a:xfrm>
            <a:off x="528455" y="3709560"/>
            <a:ext cx="9062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None/>
              <a:defRPr/>
            </a:pP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质量用电子天平测量，天平的仪器允差为</a:t>
            </a:r>
            <a:r>
              <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0.04 g</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，测量数据如下：</a:t>
            </a:r>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 name="Group 6"/>
          <p:cNvGraphicFramePr/>
          <p:nvPr/>
        </p:nvGraphicFramePr>
        <p:xfrm>
          <a:off x="841918" y="4725144"/>
          <a:ext cx="8856986" cy="518160"/>
        </p:xfrm>
        <a:graphic>
          <a:graphicData uri="http://schemas.openxmlformats.org/drawingml/2006/table">
            <a:tbl>
              <a:tblPr/>
              <a:tblGrid>
                <a:gridCol w="1646410"/>
                <a:gridCol w="1421804"/>
                <a:gridCol w="1218689"/>
                <a:gridCol w="1421804"/>
                <a:gridCol w="1624918"/>
                <a:gridCol w="1523361"/>
              </a:tblGrid>
              <a:tr h="469900">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1"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rPr>
                        <a:t>/g</a:t>
                      </a:r>
                      <a:endPar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rPr>
                        <a:t>14.01</a:t>
                      </a:r>
                      <a:endPar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rPr>
                        <a:t>13.99</a:t>
                      </a:r>
                      <a:endPar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rPr>
                        <a:t>14.00</a:t>
                      </a:r>
                      <a:endPar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rPr>
                        <a:t>14.01</a:t>
                      </a:r>
                      <a:endPar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rPr>
                        <a:t>13.99</a:t>
                      </a:r>
                      <a:endParaRPr kumimoji="0" lang="en-US" altLang="zh-CN" sz="2800" b="0" i="0" u="none" strike="noStrike" cap="none" normalizeH="0" baseline="0" dirty="0">
                        <a:ln>
                          <a:noFill/>
                        </a:ln>
                        <a:solidFill>
                          <a:sysClr val="windowText" lastClr="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09200" y="43121"/>
            <a:ext cx="3416320" cy="524054"/>
          </a:xfrm>
          <a:prstGeom prst="rect">
            <a:avLst/>
          </a:prstGeom>
        </p:spPr>
        <p:txBody>
          <a:bodyPr wrap="none">
            <a:spAutoFit/>
          </a:bodyPr>
          <a:lstStyle/>
          <a:p>
            <a:pPr>
              <a:lnSpc>
                <a:spcPts val="3600"/>
              </a:lnSpc>
              <a:defRPr/>
            </a:pPr>
            <a:r>
              <a:rPr lang="zh-CN" altLang="en-US" sz="2800" b="1" dirty="0">
                <a:solidFill>
                  <a:schemeClr val="bg1"/>
                </a:solidFill>
                <a:latin typeface="微软雅黑" panose="020B0503020204020204" pitchFamily="34" charset="-122"/>
                <a:ea typeface="微软雅黑" panose="020B0503020204020204" pitchFamily="34" charset="-122"/>
              </a:rPr>
              <a:t>评定直径的不确定度</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6" name="Object 29"/>
              <p:cNvSpPr txBox="1"/>
              <p:nvPr/>
            </p:nvSpPr>
            <p:spPr bwMode="auto">
              <a:xfrm>
                <a:off x="1042352" y="2871987"/>
                <a:ext cx="2486025" cy="457200"/>
              </a:xfrm>
              <a:prstGeom prst="rect">
                <a:avLst/>
              </a:prstGeom>
              <a:noFill/>
              <a:ln>
                <a:noFill/>
              </a:ln>
            </p:spPr>
            <p:txBody>
              <a:bodyPr>
                <a:normAutofit fontScale="92500"/>
              </a:bodyPr>
              <a:lstStyle/>
              <a:p>
                <a14:m>
                  <m:oMathPara xmlns:m="http://schemas.openxmlformats.org/officeDocument/2006/math">
                    <m:oMathParaPr>
                      <m:jc m:val="left"/>
                    </m:oMathParaPr>
                    <m:oMath xmlns:m="http://schemas.openxmlformats.org/officeDocument/2006/math">
                      <m:acc>
                        <m:accPr>
                          <m:chr m:val="̅"/>
                          <m:ctrlPr>
                            <a:rPr lang="zh-CN" altLang="en-US" sz="2400" i="1" smtClean="0">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𝐷</m:t>
                          </m:r>
                          <m:r>
                            <a:rPr lang="en-US" altLang="zh-CN" sz="2400" i="1" baseline="-25000">
                              <a:solidFill>
                                <a:schemeClr val="bg1"/>
                              </a:solidFill>
                              <a:latin typeface="Cambria Math" panose="02040503050406030204" pitchFamily="18" charset="0"/>
                            </a:rPr>
                            <m:t>0</m:t>
                          </m:r>
                        </m:e>
                      </m:acc>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49</m:t>
                      </m:r>
                      <m:r>
                        <a:rPr lang="en-US" altLang="zh-CN" sz="2400" b="0" i="1" smtClean="0">
                          <a:solidFill>
                            <a:schemeClr val="bg1"/>
                          </a:solidFill>
                          <a:latin typeface="Cambria Math" panose="02040503050406030204" pitchFamily="18" charset="0"/>
                        </a:rPr>
                        <m:t>62</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m:oMathPara>
                </a14:m>
                <a:endParaRPr lang="zh-CN" altLang="en-US" sz="2400" dirty="0">
                  <a:solidFill>
                    <a:schemeClr val="bg1"/>
                  </a:solidFill>
                  <a:latin typeface="Arial" panose="020B0604020202020204" pitchFamily="34" charset="0"/>
                </a:endParaRPr>
              </a:p>
            </p:txBody>
          </p:sp>
        </mc:Choice>
        <mc:Fallback>
          <p:sp>
            <p:nvSpPr>
              <p:cNvPr id="6" name="Object 29"/>
              <p:cNvSpPr txBox="1">
                <a:spLocks noRot="1" noChangeAspect="1" noMove="1" noResize="1" noEditPoints="1" noAdjustHandles="1" noChangeArrowheads="1" noChangeShapeType="1" noTextEdit="1"/>
              </p:cNvSpPr>
              <p:nvPr/>
            </p:nvSpPr>
            <p:spPr bwMode="auto">
              <a:xfrm>
                <a:off x="1042352" y="2871987"/>
                <a:ext cx="2486025" cy="457200"/>
              </a:xfrm>
              <a:prstGeom prst="rect">
                <a:avLst/>
              </a:prstGeom>
              <a:blipFill rotWithShape="1">
                <a:blip r:embed="rId1"/>
                <a:stretch>
                  <a:fillRect l="-13" t="-113" r="13" b="113"/>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30"/>
              <p:cNvSpPr txBox="1"/>
              <p:nvPr/>
            </p:nvSpPr>
            <p:spPr bwMode="auto">
              <a:xfrm>
                <a:off x="4619879" y="2435355"/>
                <a:ext cx="5437190" cy="83820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en-US" altLang="zh-CN" sz="2400" b="0" i="1" smtClean="0">
                          <a:solidFill>
                            <a:schemeClr val="bg1"/>
                          </a:solidFill>
                          <a:latin typeface="Cambria Math" panose="02040503050406030204" pitchFamily="18" charset="0"/>
                        </a:rPr>
                        <m:t>𝑢</m:t>
                      </m:r>
                      <m:r>
                        <a:rPr lang="en-US" altLang="zh-CN" sz="2400" b="0" i="1" baseline="-25000" smtClean="0">
                          <a:solidFill>
                            <a:schemeClr val="bg1"/>
                          </a:solidFill>
                          <a:latin typeface="Cambria Math" panose="02040503050406030204" pitchFamily="18" charset="0"/>
                        </a:rPr>
                        <m:t>𝐴</m:t>
                      </m:r>
                      <m:r>
                        <a:rPr lang="en-US" altLang="zh-CN" sz="2400" b="0" i="1" smtClean="0">
                          <a:solidFill>
                            <a:schemeClr val="bg1"/>
                          </a:solidFill>
                          <a:latin typeface="Cambria Math" panose="02040503050406030204" pitchFamily="18" charset="0"/>
                        </a:rPr>
                        <m:t>(</m:t>
                      </m:r>
                      <m:acc>
                        <m:accPr>
                          <m:chr m:val="̅"/>
                          <m:ctrlPr>
                            <a:rPr lang="zh-CN" altLang="en-US" sz="2400" i="1">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𝐷</m:t>
                          </m:r>
                          <m:r>
                            <a:rPr lang="en-US" altLang="zh-CN" sz="2400" i="1" baseline="-25000">
                              <a:solidFill>
                                <a:schemeClr val="bg1"/>
                              </a:solidFill>
                              <a:latin typeface="Cambria Math" panose="02040503050406030204" pitchFamily="18" charset="0"/>
                            </a:rPr>
                            <m:t>0</m:t>
                          </m:r>
                        </m:e>
                      </m:acc>
                      <m:r>
                        <a:rPr lang="en-US" altLang="zh-CN" sz="2400" b="0" i="1" smtClean="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f>
                            <m:fPr>
                              <m:ctrlPr>
                                <a:rPr lang="zh-CN" altLang="en-US" sz="2400" i="1">
                                  <a:solidFill>
                                    <a:schemeClr val="bg1"/>
                                  </a:solidFill>
                                  <a:latin typeface="Cambria Math" panose="02040503050406030204" pitchFamily="18" charset="0"/>
                                </a:rPr>
                              </m:ctrlPr>
                            </m:fPr>
                            <m:num>
                              <m:nary>
                                <m:naryPr>
                                  <m:chr m:val="∑"/>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𝑖</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sub>
                                <m:sup>
                                  <m:r>
                                    <a:rPr lang="zh-CN" altLang="en-US" sz="2400" i="1">
                                      <a:solidFill>
                                        <a:schemeClr val="bg1"/>
                                      </a:solidFill>
                                      <a:latin typeface="Cambria Math" panose="02040503050406030204" pitchFamily="18" charset="0"/>
                                    </a:rPr>
                                    <m:t>𝑛</m:t>
                                  </m:r>
                                </m:sup>
                                <m:e>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zh-CN" altLang="en-US" sz="2400" i="1">
                                          <a:solidFill>
                                            <a:schemeClr val="bg1"/>
                                          </a:solidFill>
                                          <a:latin typeface="Cambria Math" panose="02040503050406030204" pitchFamily="18" charset="0"/>
                                        </a:rPr>
                                        <m:t>𝑖</m:t>
                                      </m:r>
                                    </m:sub>
                                  </m:sSub>
                                  <m:r>
                                    <a:rPr lang="zh-CN" altLang="en-US" sz="2400" i="1">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𝐷</m:t>
                                      </m:r>
                                    </m:e>
                                  </m:ba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m:t>
                                      </m:r>
                                    </m:e>
                                    <m:sup>
                                      <m:r>
                                        <a:rPr lang="zh-CN" altLang="en-US" sz="2400" i="1">
                                          <a:solidFill>
                                            <a:schemeClr val="bg1"/>
                                          </a:solidFill>
                                          <a:latin typeface="Cambria Math" panose="02040503050406030204" pitchFamily="18" charset="0"/>
                                        </a:rPr>
                                        <m:t>2</m:t>
                                      </m:r>
                                    </m:sup>
                                  </m:sSup>
                                </m:e>
                              </m:nary>
                            </m:num>
                            <m:den>
                              <m:r>
                                <a:rPr lang="zh-CN" altLang="en-US" sz="2400" i="1">
                                  <a:solidFill>
                                    <a:schemeClr val="bg1"/>
                                  </a:solidFill>
                                  <a:latin typeface="Cambria Math" panose="02040503050406030204" pitchFamily="18" charset="0"/>
                                </a:rPr>
                                <m:t>𝑛</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𝑛</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r>
                                <a:rPr lang="zh-CN" altLang="en-US" sz="2400" i="1">
                                  <a:solidFill>
                                    <a:schemeClr val="bg1"/>
                                  </a:solidFill>
                                  <a:latin typeface="Cambria Math" panose="02040503050406030204" pitchFamily="18" charset="0"/>
                                </a:rPr>
                                <m:t>)</m:t>
                              </m:r>
                            </m:den>
                          </m:f>
                        </m:e>
                      </m:rad>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62</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m:oMathPara>
                </a14:m>
                <a:endParaRPr lang="zh-CN" altLang="en-US" sz="2400" dirty="0">
                  <a:solidFill>
                    <a:schemeClr val="bg1"/>
                  </a:solidFill>
                  <a:latin typeface="Arial" panose="020B0604020202020204" pitchFamily="34" charset="0"/>
                </a:endParaRPr>
              </a:p>
            </p:txBody>
          </p:sp>
        </mc:Choice>
        <mc:Fallback>
          <p:sp>
            <p:nvSpPr>
              <p:cNvPr id="7" name="Object 30"/>
              <p:cNvSpPr txBox="1">
                <a:spLocks noRot="1" noChangeAspect="1" noMove="1" noResize="1" noEditPoints="1" noAdjustHandles="1" noChangeArrowheads="1" noChangeShapeType="1" noTextEdit="1"/>
              </p:cNvSpPr>
              <p:nvPr/>
            </p:nvSpPr>
            <p:spPr bwMode="auto">
              <a:xfrm>
                <a:off x="4619879" y="2435355"/>
                <a:ext cx="5437190" cy="838200"/>
              </a:xfrm>
              <a:prstGeom prst="rect">
                <a:avLst/>
              </a:prstGeom>
              <a:blipFill rotWithShape="1">
                <a:blip r:embed="rId2"/>
                <a:stretch>
                  <a:fillRect l="-5" t="-16" r="11" b="-77333"/>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bject 42"/>
              <p:cNvSpPr txBox="1"/>
              <p:nvPr/>
            </p:nvSpPr>
            <p:spPr bwMode="auto">
              <a:xfrm>
                <a:off x="4571488" y="3953978"/>
                <a:ext cx="6013254" cy="78740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en-US" altLang="zh-CN" sz="2400" i="1" smtClean="0">
                          <a:solidFill>
                            <a:schemeClr val="bg1"/>
                          </a:solidFill>
                          <a:latin typeface="Cambria Math" panose="02040503050406030204" pitchFamily="18" charset="0"/>
                        </a:rPr>
                        <m:t>𝑢</m:t>
                      </m:r>
                      <m:r>
                        <a:rPr lang="en-US" altLang="zh-CN" sz="2400" b="0" i="1" baseline="-25000" smtClean="0">
                          <a:solidFill>
                            <a:schemeClr val="bg1"/>
                          </a:solidFill>
                          <a:latin typeface="Cambria Math" panose="02040503050406030204" pitchFamily="18" charset="0"/>
                        </a:rPr>
                        <m:t>𝐵</m:t>
                      </m:r>
                      <m:r>
                        <a:rPr lang="en-US" altLang="zh-CN" sz="2400" b="0" i="1" smtClean="0">
                          <a:solidFill>
                            <a:schemeClr val="bg1"/>
                          </a:solidFill>
                          <a:latin typeface="Cambria Math" panose="02040503050406030204" pitchFamily="18" charset="0"/>
                        </a:rPr>
                        <m:t>(</m:t>
                      </m:r>
                      <m:r>
                        <a:rPr lang="en-US" altLang="zh-CN" sz="2400" b="0" i="1" smtClean="0">
                          <a:solidFill>
                            <a:schemeClr val="bg1"/>
                          </a:solidFill>
                          <a:latin typeface="Cambria Math" panose="02040503050406030204" pitchFamily="18" charset="0"/>
                        </a:rPr>
                        <m:t>𝐷</m:t>
                      </m:r>
                      <m:r>
                        <a:rPr lang="en-US" altLang="zh-CN" sz="2400" b="0" i="1" baseline="-25000" smtClean="0">
                          <a:solidFill>
                            <a:schemeClr val="bg1"/>
                          </a:solidFill>
                          <a:latin typeface="Cambria Math" panose="02040503050406030204" pitchFamily="18" charset="0"/>
                        </a:rPr>
                        <m:t>1</m:t>
                      </m:r>
                      <m:r>
                        <a:rPr lang="en-US" altLang="zh-CN" sz="2400" b="0" i="1" smtClean="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sSub>
                            <m:sSubPr>
                              <m:ctrlPr>
                                <a:rPr lang="zh-CN" altLang="en-US" sz="2400" i="1">
                                  <a:solidFill>
                                    <a:schemeClr val="bg1"/>
                                  </a:solidFill>
                                  <a:latin typeface="Cambria Math" panose="02040503050406030204" pitchFamily="18" charset="0"/>
                                </a:rPr>
                              </m:ctrlPr>
                            </m:sSubPr>
                            <m:e>
                              <m:r>
                                <m:rPr>
                                  <m:sty m:val="p"/>
                                </m:rPr>
                                <a:rPr lang="zh-CN" altLang="en-US" sz="2400" i="1">
                                  <a:solidFill>
                                    <a:schemeClr val="bg1"/>
                                  </a:solidFill>
                                  <a:latin typeface="Cambria Math" panose="02040503050406030204" pitchFamily="18" charset="0"/>
                                </a:rPr>
                                <m:t>Δ</m:t>
                              </m:r>
                            </m:e>
                            <m:sub>
                              <m:r>
                                <a:rPr lang="zh-CN" altLang="en-US" sz="2400" i="1">
                                  <a:solidFill>
                                    <a:schemeClr val="bg1"/>
                                  </a:solidFill>
                                  <a:latin typeface="Cambria Math" panose="02040503050406030204" pitchFamily="18" charset="0"/>
                                </a:rPr>
                                <m:t>仪</m:t>
                              </m:r>
                            </m:sub>
                          </m:sSub>
                        </m:num>
                        <m:den>
                          <m:r>
                            <a:rPr lang="zh-CN" altLang="en-US" sz="2400" i="1">
                              <a:solidFill>
                                <a:schemeClr val="bg1"/>
                              </a:solidFill>
                              <a:latin typeface="Cambria Math" panose="02040503050406030204" pitchFamily="18" charset="0"/>
                            </a:rPr>
                            <m:t>𝐶</m:t>
                          </m:r>
                        </m:den>
                      </m:f>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004</m:t>
                          </m:r>
                        </m:num>
                        <m:den>
                          <m:rad>
                            <m:radPr>
                              <m:degHide m:val="on"/>
                              <m:ctrlPr>
                                <a:rPr lang="zh-CN" altLang="en-US" sz="2400" i="1" smtClean="0">
                                  <a:solidFill>
                                    <a:schemeClr val="bg1"/>
                                  </a:solidFill>
                                  <a:latin typeface="Cambria Math" panose="02040503050406030204" pitchFamily="18" charset="0"/>
                                </a:rPr>
                              </m:ctrlPr>
                            </m:radPr>
                            <m:deg/>
                            <m:e>
                              <m:r>
                                <a:rPr lang="en-US" altLang="zh-CN" sz="2400" b="0" i="1" smtClean="0">
                                  <a:solidFill>
                                    <a:schemeClr val="bg1"/>
                                  </a:solidFill>
                                  <a:latin typeface="Cambria Math" panose="02040503050406030204" pitchFamily="18" charset="0"/>
                                </a:rPr>
                                <m:t>3</m:t>
                              </m:r>
                            </m:e>
                          </m:rad>
                        </m:den>
                      </m:f>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2</m:t>
                      </m:r>
                      <m:r>
                        <a:rPr lang="zh-CN" altLang="en-US" sz="2400" i="1">
                          <a:solidFill>
                            <a:schemeClr val="bg1"/>
                          </a:solidFill>
                          <a:latin typeface="Cambria Math" panose="02040503050406030204" pitchFamily="18" charset="0"/>
                        </a:rPr>
                        <m:t>3</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m:oMathPara>
                </a14:m>
                <a:endParaRPr lang="zh-CN" altLang="en-US" sz="2400" dirty="0">
                  <a:solidFill>
                    <a:schemeClr val="bg1"/>
                  </a:solidFill>
                  <a:latin typeface="Arial" panose="020B0604020202020204" pitchFamily="34" charset="0"/>
                </a:endParaRPr>
              </a:p>
            </p:txBody>
          </p:sp>
        </mc:Choice>
        <mc:Fallback>
          <p:sp>
            <p:nvSpPr>
              <p:cNvPr id="12" name="Object 42"/>
              <p:cNvSpPr txBox="1">
                <a:spLocks noRot="1" noChangeAspect="1" noMove="1" noResize="1" noEditPoints="1" noAdjustHandles="1" noChangeArrowheads="1" noChangeShapeType="1" noTextEdit="1"/>
              </p:cNvSpPr>
              <p:nvPr/>
            </p:nvSpPr>
            <p:spPr bwMode="auto">
              <a:xfrm>
                <a:off x="4571488" y="3953978"/>
                <a:ext cx="6013254" cy="787400"/>
              </a:xfrm>
              <a:prstGeom prst="rect">
                <a:avLst/>
              </a:prstGeom>
              <a:blipFill rotWithShape="1">
                <a:blip r:embed="rId3"/>
                <a:stretch>
                  <a:fillRect l="-2" t="-59" r="9" b="-8650"/>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43"/>
              <p:cNvSpPr txBox="1"/>
              <p:nvPr/>
            </p:nvSpPr>
            <p:spPr bwMode="auto">
              <a:xfrm>
                <a:off x="1325472" y="4819136"/>
                <a:ext cx="4909632" cy="1857375"/>
              </a:xfrm>
              <a:prstGeom prst="rect">
                <a:avLst/>
              </a:prstGeom>
              <a:noFill/>
              <a:ln>
                <a:noFill/>
              </a:ln>
            </p:spPr>
            <p:txBody>
              <a:bodyPr>
                <a:noAutofit/>
              </a:bodyPr>
              <a:lstStyle/>
              <a:p>
                <a:pPr>
                  <a:lnSpc>
                    <a:spcPct val="120000"/>
                  </a:lnSpc>
                </a:pPr>
                <a14:m>
                  <m:oMathPara xmlns:m="http://schemas.openxmlformats.org/officeDocument/2006/math">
                    <m:oMathParaPr>
                      <m:jc m:val="left"/>
                    </m:oMathParaPr>
                    <m:oMath xmlns:m="http://schemas.openxmlformats.org/officeDocument/2006/math">
                      <m:r>
                        <a:rPr lang="en-US" altLang="zh-CN" sz="2400" b="0" i="1" smtClean="0">
                          <a:solidFill>
                            <a:schemeClr val="bg1"/>
                          </a:solidFill>
                          <a:latin typeface="Cambria Math" panose="02040503050406030204" pitchFamily="18" charset="0"/>
                        </a:rPr>
                        <m:t>𝑢</m:t>
                      </m:r>
                      <m:r>
                        <a:rPr lang="en-US" altLang="zh-CN" sz="2400" b="0" i="1" smtClean="0">
                          <a:solidFill>
                            <a:schemeClr val="bg1"/>
                          </a:solidFill>
                          <a:latin typeface="Cambria Math" panose="02040503050406030204" pitchFamily="18" charset="0"/>
                        </a:rPr>
                        <m:t>(</m:t>
                      </m:r>
                      <m:r>
                        <a:rPr lang="en-US" altLang="zh-CN" sz="2400" b="0" i="1" smtClean="0">
                          <a:solidFill>
                            <a:schemeClr val="bg1"/>
                          </a:solidFill>
                          <a:latin typeface="Cambria Math" panose="02040503050406030204" pitchFamily="18" charset="0"/>
                        </a:rPr>
                        <m:t>𝐷</m:t>
                      </m:r>
                      <m:r>
                        <a:rPr lang="en-US" altLang="zh-CN" sz="2400" b="0" i="1" smtClean="0">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sSup>
                            <m:sSupPr>
                              <m:ctrlPr>
                                <a:rPr lang="zh-CN" altLang="en-US" sz="2400" i="1">
                                  <a:solidFill>
                                    <a:schemeClr val="bg1"/>
                                  </a:solidFill>
                                  <a:latin typeface="Cambria Math" panose="02040503050406030204" pitchFamily="18" charset="0"/>
                                </a:rPr>
                              </m:ctrlPr>
                            </m:sSupPr>
                            <m:e>
                              <m:d>
                                <m:dPr>
                                  <m:ctrlPr>
                                    <a:rPr lang="zh-CN" altLang="en-US" sz="2400" i="1">
                                      <a:solidFill>
                                        <a:schemeClr val="bg1"/>
                                      </a:solidFill>
                                      <a:latin typeface="Cambria Math" panose="02040503050406030204" pitchFamily="18" charset="0"/>
                                    </a:rPr>
                                  </m:ctrlPr>
                                </m:dPr>
                                <m:e>
                                  <m:r>
                                    <a:rPr lang="en-US" altLang="zh-CN" sz="2400" i="1">
                                      <a:solidFill>
                                        <a:schemeClr val="bg1"/>
                                      </a:solidFill>
                                      <a:latin typeface="Cambria Math" panose="02040503050406030204" pitchFamily="18" charset="0"/>
                                    </a:rPr>
                                    <m:t>𝑢</m:t>
                                  </m:r>
                                  <m:r>
                                    <a:rPr lang="en-US" altLang="zh-CN" sz="2400" i="1" baseline="-25000">
                                      <a:solidFill>
                                        <a:schemeClr val="bg1"/>
                                      </a:solidFill>
                                      <a:latin typeface="Cambria Math" panose="02040503050406030204" pitchFamily="18" charset="0"/>
                                    </a:rPr>
                                    <m:t>𝐴</m:t>
                                  </m:r>
                                  <m:r>
                                    <a:rPr lang="en-US" altLang="zh-CN" sz="2400" i="1">
                                      <a:solidFill>
                                        <a:schemeClr val="bg1"/>
                                      </a:solidFill>
                                      <a:latin typeface="Cambria Math" panose="02040503050406030204" pitchFamily="18" charset="0"/>
                                    </a:rPr>
                                    <m:t>(</m:t>
                                  </m:r>
                                  <m:acc>
                                    <m:accPr>
                                      <m:chr m:val="̅"/>
                                      <m:ctrlPr>
                                        <a:rPr lang="zh-CN" altLang="en-US" sz="2400" i="1">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𝐷</m:t>
                                      </m:r>
                                      <m:r>
                                        <a:rPr lang="en-US" altLang="zh-CN" sz="2400" i="1" baseline="-25000">
                                          <a:solidFill>
                                            <a:schemeClr val="bg1"/>
                                          </a:solidFill>
                                          <a:latin typeface="Cambria Math" panose="02040503050406030204" pitchFamily="18" charset="0"/>
                                        </a:rPr>
                                        <m:t>0</m:t>
                                      </m:r>
                                    </m:e>
                                  </m:acc>
                                  <m:r>
                                    <a:rPr lang="en-US" altLang="zh-CN" sz="2400" i="1">
                                      <a:solidFill>
                                        <a:schemeClr val="bg1"/>
                                      </a:solidFill>
                                      <a:latin typeface="Cambria Math" panose="02040503050406030204" pitchFamily="18" charset="0"/>
                                    </a:rPr>
                                    <m:t>)</m:t>
                                  </m:r>
                                </m:e>
                              </m:d>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sSup>
                            <m:sSupPr>
                              <m:ctrlPr>
                                <a:rPr lang="zh-CN" altLang="en-US" sz="2400" i="1">
                                  <a:solidFill>
                                    <a:schemeClr val="bg1"/>
                                  </a:solidFill>
                                  <a:latin typeface="Cambria Math" panose="02040503050406030204" pitchFamily="18" charset="0"/>
                                </a:rPr>
                              </m:ctrlPr>
                            </m:sSupPr>
                            <m:e>
                              <m:r>
                                <a:rPr lang="en-US" altLang="zh-CN" sz="2400" b="0" i="1" smtClean="0">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𝑢</m:t>
                              </m:r>
                              <m:r>
                                <a:rPr lang="en-US" altLang="zh-CN" sz="2400" i="1" baseline="-25000">
                                  <a:solidFill>
                                    <a:schemeClr val="bg1"/>
                                  </a:solidFill>
                                  <a:latin typeface="Cambria Math" panose="02040503050406030204" pitchFamily="18" charset="0"/>
                                </a:rPr>
                                <m:t>𝐵</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𝐷</m:t>
                              </m:r>
                              <m:r>
                                <a:rPr lang="en-US" altLang="zh-CN" sz="2400" i="1" baseline="-25000">
                                  <a:solidFill>
                                    <a:schemeClr val="bg1"/>
                                  </a:solidFill>
                                  <a:latin typeface="Cambria Math" panose="02040503050406030204" pitchFamily="18" charset="0"/>
                                </a:rPr>
                                <m:t>1</m:t>
                              </m:r>
                              <m:r>
                                <a:rPr lang="en-US" altLang="zh-CN" sz="2400" i="1">
                                  <a:solidFill>
                                    <a:schemeClr val="bg1"/>
                                  </a:solidFill>
                                  <a:latin typeface="Cambria Math" panose="02040503050406030204" pitchFamily="18" charset="0"/>
                                </a:rPr>
                                <m:t>))</m:t>
                              </m:r>
                            </m:e>
                            <m:sup>
                              <m:r>
                                <a:rPr lang="zh-CN" altLang="en-US" sz="2400" i="1">
                                  <a:solidFill>
                                    <a:schemeClr val="bg1"/>
                                  </a:solidFill>
                                  <a:latin typeface="Cambria Math" panose="02040503050406030204" pitchFamily="18" charset="0"/>
                                </a:rPr>
                                <m:t>2</m:t>
                              </m:r>
                            </m:sup>
                          </m:sSup>
                        </m:e>
                      </m:rad>
                    </m:oMath>
                    <m:oMath xmlns:m="http://schemas.openxmlformats.org/officeDocument/2006/math">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r>
                        <a:rPr lang="zh-CN" altLang="en-US" sz="2400" i="1">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62</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2</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3</m:t>
                              </m:r>
                            </m:e>
                            <m:sup>
                              <m:r>
                                <a:rPr lang="zh-CN" altLang="en-US" sz="2400" i="1">
                                  <a:solidFill>
                                    <a:schemeClr val="bg1"/>
                                  </a:solidFill>
                                  <a:latin typeface="Cambria Math" panose="02040503050406030204" pitchFamily="18" charset="0"/>
                                </a:rPr>
                                <m:t>2</m:t>
                              </m:r>
                            </m:sup>
                          </m:sSup>
                        </m:e>
                      </m:rad>
                    </m:oMath>
                    <m:oMath xmlns:m="http://schemas.openxmlformats.org/officeDocument/2006/math">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r>
                        <m:rPr>
                          <m:nor/>
                        </m:rPr>
                        <a:rPr lang="zh-CN" altLang="en-US" sz="2400">
                          <a:solidFill>
                            <a:schemeClr val="bg1"/>
                          </a:solidFill>
                          <a:latin typeface="Cambria Math" panose="02040503050406030204" pitchFamily="18" charset="0"/>
                        </a:rPr>
                        <m:t>= </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66</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m:oMathPara>
                </a14:m>
                <a:endParaRPr lang="zh-CN" altLang="en-US" sz="2400" dirty="0">
                  <a:solidFill>
                    <a:schemeClr val="bg1"/>
                  </a:solidFill>
                  <a:latin typeface="Arial" panose="020B0604020202020204" pitchFamily="34" charset="0"/>
                </a:endParaRPr>
              </a:p>
            </p:txBody>
          </p:sp>
        </mc:Choice>
        <mc:Fallback>
          <p:sp>
            <p:nvSpPr>
              <p:cNvPr id="13" name="Object 43"/>
              <p:cNvSpPr txBox="1">
                <a:spLocks noRot="1" noChangeAspect="1" noMove="1" noResize="1" noEditPoints="1" noAdjustHandles="1" noChangeArrowheads="1" noChangeShapeType="1" noTextEdit="1"/>
              </p:cNvSpPr>
              <p:nvPr/>
            </p:nvSpPr>
            <p:spPr bwMode="auto">
              <a:xfrm>
                <a:off x="1325472" y="4819136"/>
                <a:ext cx="4909632" cy="1857375"/>
              </a:xfrm>
              <a:prstGeom prst="rect">
                <a:avLst/>
              </a:prstGeom>
              <a:blipFill rotWithShape="1">
                <a:blip r:embed="rId4"/>
                <a:stretch>
                  <a:fillRect l="-5" t="-7" r="1" b="7"/>
                </a:stretch>
              </a:blipFill>
              <a:ln>
                <a:noFill/>
              </a:ln>
            </p:spPr>
            <p:txBody>
              <a:bodyPr/>
              <a:lstStyle/>
              <a:p>
                <a:r>
                  <a:rPr lang="zh-CN" altLang="en-US">
                    <a:noFill/>
                  </a:rPr>
                  <a:t> </a:t>
                </a:r>
              </a:p>
            </p:txBody>
          </p:sp>
        </mc:Fallback>
      </mc:AlternateContent>
      <p:graphicFrame>
        <p:nvGraphicFramePr>
          <p:cNvPr id="14" name="Group 6"/>
          <p:cNvGraphicFramePr/>
          <p:nvPr/>
        </p:nvGraphicFramePr>
        <p:xfrm>
          <a:off x="1835015" y="1187934"/>
          <a:ext cx="7231062" cy="469900"/>
        </p:xfrm>
        <a:graphic>
          <a:graphicData uri="http://schemas.openxmlformats.org/drawingml/2006/table">
            <a:tbl>
              <a:tblPr/>
              <a:tblGrid>
                <a:gridCol w="1204912"/>
                <a:gridCol w="1204913"/>
                <a:gridCol w="1206500"/>
                <a:gridCol w="1203325"/>
                <a:gridCol w="1206500"/>
                <a:gridCol w="1204912"/>
              </a:tblGrid>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/mm</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10.502</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10.488</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10.516</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10.480</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10.495</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2" name="文本框 1"/>
              <p:cNvSpPr txBox="1"/>
              <p:nvPr/>
            </p:nvSpPr>
            <p:spPr>
              <a:xfrm>
                <a:off x="2831302" y="1844824"/>
                <a:ext cx="1922193" cy="461665"/>
              </a:xfrm>
              <a:prstGeom prst="rect">
                <a:avLst/>
              </a:prstGeom>
              <a:noFill/>
            </p:spPr>
            <p:txBody>
              <a:bodyPr wrap="none" rtlCol="0">
                <a:spAutoFit/>
              </a:bodyPr>
              <a:lstStyle/>
              <a:p>
                <a:pPr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US" altLang="zh-CN" sz="2400" i="1" smtClean="0">
                          <a:solidFill>
                            <a:schemeClr val="bg1"/>
                          </a:solidFill>
                          <a:latin typeface="Cambria Math" panose="02040503050406030204" pitchFamily="18" charset="0"/>
                        </a:rPr>
                        <m:t>𝐷</m:t>
                      </m:r>
                      <m:r>
                        <a:rPr lang="en-US" altLang="zh-CN" sz="2400" i="1" smtClean="0">
                          <a:solidFill>
                            <a:schemeClr val="bg1"/>
                          </a:solidFill>
                          <a:latin typeface="Cambria Math" panose="02040503050406030204" pitchFamily="18" charset="0"/>
                        </a:rPr>
                        <m:t>=</m:t>
                      </m:r>
                      <m:acc>
                        <m:accPr>
                          <m:chr m:val="̅"/>
                          <m:ctrlPr>
                            <a:rPr lang="zh-CN" altLang="en-US" sz="2400" i="1" smtClean="0">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𝐷</m:t>
                          </m:r>
                          <m:r>
                            <a:rPr lang="en-US" altLang="zh-CN" sz="2400" b="0" i="1" baseline="-25000" smtClean="0">
                              <a:solidFill>
                                <a:schemeClr val="bg1"/>
                              </a:solidFill>
                              <a:latin typeface="Cambria Math" panose="02040503050406030204" pitchFamily="18" charset="0"/>
                            </a:rPr>
                            <m:t>0</m:t>
                          </m:r>
                        </m:e>
                      </m:acc>
                      <m:r>
                        <a:rPr lang="en-US" altLang="zh-CN" sz="2400">
                          <a:solidFill>
                            <a:schemeClr val="bg1"/>
                          </a:solidFill>
                          <a:latin typeface="Cambria Math" panose="02040503050406030204" pitchFamily="18" charset="0"/>
                        </a:rPr>
                        <m:t>+</m:t>
                      </m:r>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b="0" i="1" smtClean="0">
                              <a:solidFill>
                                <a:schemeClr val="bg1"/>
                              </a:solidFill>
                              <a:latin typeface="Cambria Math" panose="02040503050406030204" pitchFamily="18" charset="0"/>
                            </a:rPr>
                            <m:t>1</m:t>
                          </m:r>
                        </m:sub>
                      </m:sSub>
                    </m:oMath>
                  </m:oMathPara>
                </a14:m>
                <a:endParaRPr lang="zh-CN" altLang="en-US" sz="2400" dirty="0">
                  <a:solidFill>
                    <a:schemeClr val="bg1"/>
                  </a:solidFill>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2831302" y="1844824"/>
                <a:ext cx="1922193" cy="461665"/>
              </a:xfrm>
              <a:prstGeom prst="rect">
                <a:avLst/>
              </a:prstGeom>
              <a:blipFill rotWithShape="1">
                <a:blip r:embed="rId5"/>
                <a:stretch>
                  <a:fillRect l="-25" t="-32" r="-832" b="-3540"/>
                </a:stretch>
              </a:blipFill>
            </p:spPr>
            <p:txBody>
              <a:bodyPr/>
              <a:lstStyle/>
              <a:p>
                <a:r>
                  <a:rPr lang="zh-CN" altLang="en-US">
                    <a:noFill/>
                  </a:rPr>
                  <a:t> </a:t>
                </a:r>
              </a:p>
            </p:txBody>
          </p:sp>
        </mc:Fallback>
      </mc:AlternateContent>
      <p:sp>
        <p:nvSpPr>
          <p:cNvPr id="4" name="文本框 3"/>
          <p:cNvSpPr txBox="1"/>
          <p:nvPr/>
        </p:nvSpPr>
        <p:spPr>
          <a:xfrm>
            <a:off x="1345168" y="1844824"/>
            <a:ext cx="1723549" cy="461665"/>
          </a:xfrm>
          <a:prstGeom prst="rect">
            <a:avLst/>
          </a:prstGeom>
          <a:noFill/>
        </p:spPr>
        <p:txBody>
          <a:bodyPr wrap="none" rtlCol="0">
            <a:spAutoFit/>
          </a:bodyPr>
          <a:lstStyle/>
          <a:p>
            <a:pPr eaLnBrk="1" fontAlgn="auto" hangingPunct="1">
              <a:spcBef>
                <a:spcPts val="0"/>
              </a:spcBef>
              <a:spcAft>
                <a:spcPts val="0"/>
              </a:spcAft>
              <a:defRPr/>
            </a:pPr>
            <a:r>
              <a:rPr lang="zh-CN" altLang="en-US" sz="2400" dirty="0">
                <a:solidFill>
                  <a:schemeClr val="bg1"/>
                </a:solidFill>
                <a:latin typeface="微软雅黑" panose="020B0503020204020204" pitchFamily="34" charset="-122"/>
                <a:ea typeface="微软雅黑" panose="020B0503020204020204" pitchFamily="34" charset="-122"/>
              </a:rPr>
              <a:t>测量模型：</a:t>
            </a:r>
            <a:endParaRPr lang="zh-CN" altLang="en-US" sz="2400"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1" name="Object 29"/>
              <p:cNvSpPr txBox="1"/>
              <p:nvPr/>
            </p:nvSpPr>
            <p:spPr bwMode="auto">
              <a:xfrm>
                <a:off x="1042352" y="4146215"/>
                <a:ext cx="2486025" cy="457200"/>
              </a:xfrm>
              <a:prstGeom prst="rect">
                <a:avLst/>
              </a:prstGeom>
              <a:noFill/>
              <a:ln>
                <a:noFill/>
              </a:ln>
            </p:spPr>
            <p:txBody>
              <a:bodyPr>
                <a:normAutofit/>
              </a:bodyPr>
              <a:lstStyle/>
              <a:p>
                <a14:m>
                  <m:oMathPara xmlns:m="http://schemas.openxmlformats.org/officeDocument/2006/math">
                    <m:oMathParaPr>
                      <m:jc m:val="left"/>
                    </m:oMathParaPr>
                    <m:oMath xmlns:m="http://schemas.openxmlformats.org/officeDocument/2006/math">
                      <m:sSub>
                        <m:sSubPr>
                          <m:ctrlPr>
                            <a:rPr lang="en-US" altLang="zh-CN" sz="2400" i="1" smtClean="0">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𝐷</m:t>
                          </m:r>
                        </m:e>
                        <m:sub>
                          <m:r>
                            <a:rPr lang="en-US" altLang="zh-CN" sz="2400" b="0" i="1" smtClean="0">
                              <a:solidFill>
                                <a:schemeClr val="bg1"/>
                              </a:solidFill>
                              <a:latin typeface="Cambria Math" panose="02040503050406030204" pitchFamily="18" charset="0"/>
                            </a:rPr>
                            <m:t>1</m:t>
                          </m:r>
                        </m:sub>
                      </m:sSub>
                      <m:r>
                        <a:rPr lang="zh-CN" altLang="en-US"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m:oMathPara>
                </a14:m>
                <a:endParaRPr lang="zh-CN" altLang="en-US" sz="2400" dirty="0">
                  <a:solidFill>
                    <a:schemeClr val="bg1"/>
                  </a:solidFill>
                  <a:latin typeface="Arial" panose="020B0604020202020204" pitchFamily="34" charset="0"/>
                </a:endParaRPr>
              </a:p>
            </p:txBody>
          </p:sp>
        </mc:Choice>
        <mc:Fallback>
          <p:sp>
            <p:nvSpPr>
              <p:cNvPr id="21" name="Object 29"/>
              <p:cNvSpPr txBox="1">
                <a:spLocks noRot="1" noChangeAspect="1" noMove="1" noResize="1" noEditPoints="1" noAdjustHandles="1" noChangeArrowheads="1" noChangeShapeType="1" noTextEdit="1"/>
              </p:cNvSpPr>
              <p:nvPr/>
            </p:nvSpPr>
            <p:spPr bwMode="auto">
              <a:xfrm>
                <a:off x="1042352" y="4146215"/>
                <a:ext cx="2486025" cy="457200"/>
              </a:xfrm>
              <a:prstGeom prst="rect">
                <a:avLst/>
              </a:prstGeom>
              <a:blipFill rotWithShape="1">
                <a:blip r:embed="rId6"/>
                <a:stretch>
                  <a:fillRect l="-13" t="-66" r="13" b="66"/>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Object 7"/>
              <p:cNvSpPr txBox="1"/>
              <p:nvPr/>
            </p:nvSpPr>
            <p:spPr bwMode="auto">
              <a:xfrm>
                <a:off x="6456040" y="5235724"/>
                <a:ext cx="4248472" cy="48895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en-US" altLang="zh-CN" sz="3200" i="1" smtClean="0">
                          <a:solidFill>
                            <a:schemeClr val="bg1"/>
                          </a:solidFill>
                          <a:latin typeface="Cambria Math" panose="02040503050406030204" pitchFamily="18" charset="0"/>
                        </a:rPr>
                        <m:t>𝐷</m:t>
                      </m:r>
                      <m:r>
                        <a:rPr lang="zh-CN" altLang="en-US" sz="3200" i="1">
                          <a:solidFill>
                            <a:schemeClr val="bg1"/>
                          </a:solidFill>
                          <a:latin typeface="Cambria Math" panose="02040503050406030204" pitchFamily="18" charset="0"/>
                        </a:rPr>
                        <m:t>=</m:t>
                      </m:r>
                      <m:r>
                        <a:rPr lang="en-US" altLang="zh-CN" sz="3200" i="1">
                          <a:solidFill>
                            <a:schemeClr val="bg1"/>
                          </a:solidFill>
                          <a:latin typeface="Cambria Math" panose="02040503050406030204" pitchFamily="18" charset="0"/>
                        </a:rPr>
                        <m:t>10</m:t>
                      </m:r>
                      <m:r>
                        <a:rPr lang="en-US" altLang="zh-CN" sz="3200" i="1">
                          <a:solidFill>
                            <a:schemeClr val="bg1"/>
                          </a:solidFill>
                          <a:latin typeface="Cambria Math" panose="02040503050406030204" pitchFamily="18" charset="0"/>
                        </a:rPr>
                        <m:t>.</m:t>
                      </m:r>
                      <m:r>
                        <a:rPr lang="en-US" altLang="zh-CN" sz="3200" i="1">
                          <a:solidFill>
                            <a:schemeClr val="bg1"/>
                          </a:solidFill>
                          <a:latin typeface="Cambria Math" panose="02040503050406030204" pitchFamily="18" charset="0"/>
                        </a:rPr>
                        <m:t>49</m:t>
                      </m:r>
                      <m:r>
                        <a:rPr lang="en-US" altLang="zh-CN" sz="3200" b="0" i="1" smtClean="0">
                          <a:solidFill>
                            <a:schemeClr val="bg1"/>
                          </a:solidFill>
                          <a:latin typeface="Cambria Math" panose="02040503050406030204" pitchFamily="18" charset="0"/>
                        </a:rPr>
                        <m:t>62</m:t>
                      </m:r>
                      <m:d>
                        <m:dPr>
                          <m:ctrlPr>
                            <a:rPr lang="en-US" altLang="zh-CN" sz="3200" i="1">
                              <a:solidFill>
                                <a:schemeClr val="bg1"/>
                              </a:solidFill>
                              <a:latin typeface="Cambria Math" panose="02040503050406030204" pitchFamily="18" charset="0"/>
                            </a:rPr>
                          </m:ctrlPr>
                        </m:dPr>
                        <m:e>
                          <m:r>
                            <a:rPr lang="en-US" altLang="zh-CN" sz="3200" b="0" i="1" smtClean="0">
                              <a:solidFill>
                                <a:schemeClr val="bg1"/>
                              </a:solidFill>
                              <a:latin typeface="Cambria Math" panose="02040503050406030204" pitchFamily="18" charset="0"/>
                            </a:rPr>
                            <m:t>66</m:t>
                          </m:r>
                        </m:e>
                      </m:d>
                      <m:r>
                        <a:rPr lang="en-US" altLang="zh-CN" sz="3200" i="1">
                          <a:solidFill>
                            <a:schemeClr val="bg1"/>
                          </a:solidFill>
                          <a:latin typeface="Cambria Math" panose="02040503050406030204" pitchFamily="18" charset="0"/>
                        </a:rPr>
                        <m:t> </m:t>
                      </m:r>
                      <m:r>
                        <m:rPr>
                          <m:sty m:val="p"/>
                        </m:rPr>
                        <a:rPr lang="en-US" altLang="zh-CN" sz="3200">
                          <a:solidFill>
                            <a:schemeClr val="bg1"/>
                          </a:solidFill>
                          <a:latin typeface="Cambria Math" panose="02040503050406030204" pitchFamily="18" charset="0"/>
                        </a:rPr>
                        <m:t>mm</m:t>
                      </m:r>
                    </m:oMath>
                  </m:oMathPara>
                </a14:m>
                <a:endParaRPr lang="zh-CN" altLang="en-US" sz="3200" dirty="0">
                  <a:solidFill>
                    <a:schemeClr val="bg1"/>
                  </a:solidFill>
                  <a:latin typeface="Arial" panose="020B0604020202020204" pitchFamily="34" charset="0"/>
                </a:endParaRPr>
              </a:p>
            </p:txBody>
          </p:sp>
        </mc:Choice>
        <mc:Fallback>
          <p:sp>
            <p:nvSpPr>
              <p:cNvPr id="24" name="Object 7"/>
              <p:cNvSpPr txBox="1">
                <a:spLocks noRot="1" noChangeAspect="1" noMove="1" noResize="1" noEditPoints="1" noAdjustHandles="1" noChangeArrowheads="1" noChangeShapeType="1" noTextEdit="1"/>
              </p:cNvSpPr>
              <p:nvPr/>
            </p:nvSpPr>
            <p:spPr bwMode="auto">
              <a:xfrm>
                <a:off x="6456040" y="5235724"/>
                <a:ext cx="4248472" cy="488950"/>
              </a:xfrm>
              <a:prstGeom prst="rect">
                <a:avLst/>
              </a:prstGeom>
              <a:blipFill rotWithShape="1">
                <a:blip r:embed="rId7"/>
                <a:stretch>
                  <a:fillRect l="-15" t="-30" r="7" b="-9060"/>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509200" y="635792"/>
                <a:ext cx="5747599" cy="461665"/>
              </a:xfrm>
              <a:prstGeom prst="rect">
                <a:avLst/>
              </a:prstGeom>
            </p:spPr>
            <p:txBody>
              <a:bodyPr wrap="none">
                <a:spAutoFit/>
              </a:bodyPr>
              <a:lstStyle/>
              <a:p>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直径</a:t>
                </a:r>
                <a:r>
                  <a:rPr lang="en-US" altLang="zh-CN" sz="24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用千分尺（</a:t>
                </a:r>
                <a14:m>
                  <m:oMath xmlns:m="http://schemas.openxmlformats.org/officeDocument/2006/math">
                    <m:r>
                      <a:rPr lang="en-US" altLang="zh-C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𝑎</m:t>
                    </m:r>
                    <m:r>
                      <a:rPr lang="en-US" altLang="zh-CN" sz="2400" i="1" kern="100">
                        <a:solidFill>
                          <a:schemeClr val="bg1"/>
                        </a:solidFill>
                        <a:latin typeface="Cambria Math" panose="02040503050406030204" pitchFamily="18" charset="0"/>
                        <a:cs typeface="Times New Roman" panose="02020603050405020304" pitchFamily="18" charset="0"/>
                      </a:rPr>
                      <m:t>=</m:t>
                    </m:r>
                    <m:r>
                      <a:rPr lang="en-US" altLang="zh-CN" sz="2400" i="1" kern="100">
                        <a:solidFill>
                          <a:schemeClr val="bg1"/>
                        </a:solidFill>
                        <a:latin typeface="Cambria Math" panose="02040503050406030204" pitchFamily="18" charset="0"/>
                        <a:cs typeface="Times New Roman" panose="02020603050405020304" pitchFamily="18" charset="0"/>
                      </a:rPr>
                      <m:t>0</m:t>
                    </m:r>
                  </m:oMath>
                </a14:m>
                <a:r>
                  <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.004mm</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a:t>
                </a:r>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509200" y="635792"/>
                <a:ext cx="5747599" cy="461665"/>
              </a:xfrm>
              <a:prstGeom prst="rect">
                <a:avLst/>
              </a:prstGeom>
              <a:blipFill rotWithShape="1">
                <a:blip r:embed="rId8"/>
                <a:stretch>
                  <a:fillRect l="-10" t="-34" r="3" b="38"/>
                </a:stretch>
              </a:blipFill>
            </p:spPr>
            <p:txBody>
              <a:bodyPr/>
              <a:lstStyle/>
              <a:p>
                <a:r>
                  <a:rPr lang="zh-CN" altLang="en-US">
                    <a:noFill/>
                  </a:rPr>
                  <a:t> </a:t>
                </a:r>
              </a:p>
            </p:txBody>
          </p:sp>
        </mc:Fallback>
      </mc:AlternateContent>
      <p:cxnSp>
        <p:nvCxnSpPr>
          <p:cNvPr id="16" name="直接连接符 15"/>
          <p:cNvCxnSpPr/>
          <p:nvPr/>
        </p:nvCxnSpPr>
        <p:spPr>
          <a:xfrm>
            <a:off x="509200" y="2408396"/>
            <a:ext cx="91151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23392" y="4869160"/>
            <a:ext cx="943304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39541" y="1821285"/>
            <a:ext cx="902811" cy="523220"/>
          </a:xfrm>
          <a:prstGeom prst="rect">
            <a:avLst/>
          </a:prstGeom>
          <a:noFill/>
        </p:spPr>
        <p:txBody>
          <a:bodyPr wrap="none" rtlCol="0">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构建</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139540" y="3377168"/>
            <a:ext cx="902811" cy="523220"/>
          </a:xfrm>
          <a:prstGeom prst="rect">
            <a:avLst/>
          </a:prstGeom>
          <a:noFill/>
        </p:spPr>
        <p:txBody>
          <a:bodyPr wrap="none" rtlCol="0">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分析</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71986" y="5472347"/>
            <a:ext cx="902811" cy="523220"/>
          </a:xfrm>
          <a:prstGeom prst="rect">
            <a:avLst/>
          </a:prstGeom>
          <a:noFill/>
        </p:spPr>
        <p:txBody>
          <a:bodyPr wrap="none" rtlCol="0">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合成</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22" name="矩形 21"/>
          <p:cNvSpPr/>
          <p:nvPr/>
        </p:nvSpPr>
        <p:spPr>
          <a:xfrm>
            <a:off x="6680382" y="6091237"/>
            <a:ext cx="3808106" cy="461665"/>
          </a:xfrm>
          <a:prstGeom prst="rect">
            <a:avLst/>
          </a:prstGeom>
        </p:spPr>
        <p:txBody>
          <a:bodyPr wrap="square">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运算过程中多保留几位</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p:bldP spid="13" grpId="0"/>
      <p:bldP spid="2" grpId="0"/>
      <p:bldP spid="4" grpId="0"/>
      <p:bldP spid="21" grpId="0"/>
      <p:bldP spid="24" grpId="0"/>
      <p:bldP spid="19" grpId="0"/>
      <p:bldP spid="25" grpId="0"/>
      <p:bldP spid="26" grpId="0"/>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09200" y="90960"/>
            <a:ext cx="3416320" cy="524054"/>
          </a:xfrm>
          <a:prstGeom prst="rect">
            <a:avLst/>
          </a:prstGeom>
        </p:spPr>
        <p:txBody>
          <a:bodyPr wrap="none">
            <a:spAutoFit/>
          </a:bodyPr>
          <a:lstStyle/>
          <a:p>
            <a:pPr>
              <a:lnSpc>
                <a:spcPts val="3600"/>
              </a:lnSpc>
              <a:defRPr/>
            </a:pPr>
            <a:r>
              <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评定高度的不确定度</a:t>
            </a:r>
            <a:endPar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1345168" y="1844824"/>
            <a:ext cx="1723549" cy="461665"/>
          </a:xfrm>
          <a:prstGeom prst="rect">
            <a:avLst/>
          </a:prstGeom>
          <a:noFill/>
        </p:spPr>
        <p:txBody>
          <a:bodyPr wrap="none" rtlCol="0">
            <a:spAutoFit/>
          </a:bodyPr>
          <a:lstStyle/>
          <a:p>
            <a:pPr eaLnBrk="1" fontAlgn="auto" hangingPunct="1">
              <a:spcBef>
                <a:spcPts val="0"/>
              </a:spcBef>
              <a:spcAft>
                <a:spcPts val="0"/>
              </a:spcAft>
              <a:defRPr/>
            </a:pP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测量模型：</a:t>
            </a:r>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矩形 7"/>
              <p:cNvSpPr/>
              <p:nvPr/>
            </p:nvSpPr>
            <p:spPr>
              <a:xfrm>
                <a:off x="509200" y="635792"/>
                <a:ext cx="5366084" cy="461665"/>
              </a:xfrm>
              <a:prstGeom prst="rect">
                <a:avLst/>
              </a:prstGeom>
            </p:spPr>
            <p:txBody>
              <a:bodyPr wrap="none">
                <a:spAutoFit/>
              </a:bodyPr>
              <a:lstStyle/>
              <a:p>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高</a:t>
                </a:r>
                <a:r>
                  <a:rPr lang="en-US" altLang="zh-CN" sz="24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用游标卡尺（</a:t>
                </a:r>
                <a14:m>
                  <m:oMath xmlns:m="http://schemas.openxmlformats.org/officeDocument/2006/math">
                    <m:r>
                      <a:rPr lang="en-US" altLang="zh-C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𝑎</m:t>
                    </m:r>
                    <m:r>
                      <a:rPr lang="en-US" altLang="zh-CN" sz="2400" i="1" kern="100">
                        <a:solidFill>
                          <a:schemeClr val="bg1"/>
                        </a:solidFill>
                        <a:latin typeface="Cambria Math" panose="02040503050406030204" pitchFamily="18" charset="0"/>
                        <a:cs typeface="Times New Roman" panose="02020603050405020304" pitchFamily="18" charset="0"/>
                      </a:rPr>
                      <m:t>=</m:t>
                    </m:r>
                    <m:r>
                      <a:rPr lang="en-US" altLang="zh-CN" sz="2400" i="1" kern="100">
                        <a:solidFill>
                          <a:schemeClr val="bg1"/>
                        </a:solidFill>
                        <a:latin typeface="Cambria Math" panose="02040503050406030204" pitchFamily="18" charset="0"/>
                        <a:cs typeface="Times New Roman" panose="02020603050405020304" pitchFamily="18" charset="0"/>
                      </a:rPr>
                      <m:t>0</m:t>
                    </m:r>
                  </m:oMath>
                </a14:m>
                <a:r>
                  <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.02mm)</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a:t>
                </a:r>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509200" y="635792"/>
                <a:ext cx="5366084" cy="461665"/>
              </a:xfrm>
              <a:prstGeom prst="rect">
                <a:avLst/>
              </a:prstGeom>
              <a:blipFill rotWithShape="1">
                <a:blip r:embed="rId1"/>
                <a:stretch>
                  <a:fillRect l="-11" t="-34" r="5" b="38"/>
                </a:stretch>
              </a:blipFill>
            </p:spPr>
            <p:txBody>
              <a:bodyPr/>
              <a:lstStyle/>
              <a:p>
                <a:r>
                  <a:rPr lang="zh-CN" altLang="en-US">
                    <a:noFill/>
                  </a:rPr>
                  <a:t> </a:t>
                </a:r>
              </a:p>
            </p:txBody>
          </p:sp>
        </mc:Fallback>
      </mc:AlternateContent>
      <p:cxnSp>
        <p:nvCxnSpPr>
          <p:cNvPr id="16" name="直接连接符 15"/>
          <p:cNvCxnSpPr/>
          <p:nvPr/>
        </p:nvCxnSpPr>
        <p:spPr>
          <a:xfrm>
            <a:off x="509200" y="2408396"/>
            <a:ext cx="91151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23392" y="4869160"/>
            <a:ext cx="943304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39541" y="1821285"/>
            <a:ext cx="902811" cy="523220"/>
          </a:xfrm>
          <a:prstGeom prst="rect">
            <a:avLst/>
          </a:prstGeom>
          <a:noFill/>
        </p:spPr>
        <p:txBody>
          <a:bodyPr wrap="none" rtlCol="0">
            <a:spAutoFit/>
          </a:bodyPr>
          <a:lstStyle/>
          <a:p>
            <a:r>
              <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构建</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文本框 24"/>
          <p:cNvSpPr txBox="1"/>
          <p:nvPr/>
        </p:nvSpPr>
        <p:spPr>
          <a:xfrm>
            <a:off x="139540" y="3377168"/>
            <a:ext cx="902811" cy="523220"/>
          </a:xfrm>
          <a:prstGeom prst="rect">
            <a:avLst/>
          </a:prstGeom>
          <a:noFill/>
        </p:spPr>
        <p:txBody>
          <a:bodyPr wrap="none" rtlCol="0">
            <a:spAutoFit/>
          </a:bodyPr>
          <a:lstStyle/>
          <a:p>
            <a:r>
              <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文本框 25"/>
          <p:cNvSpPr txBox="1"/>
          <p:nvPr/>
        </p:nvSpPr>
        <p:spPr>
          <a:xfrm>
            <a:off x="171986" y="5472347"/>
            <a:ext cx="902811" cy="523220"/>
          </a:xfrm>
          <a:prstGeom prst="rect">
            <a:avLst/>
          </a:prstGeom>
          <a:noFill/>
        </p:spPr>
        <p:txBody>
          <a:bodyPr wrap="none" rtlCol="0">
            <a:spAutoFit/>
          </a:bodyPr>
          <a:lstStyle/>
          <a:p>
            <a:r>
              <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合成</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8" name="表格 17"/>
          <p:cNvGraphicFramePr>
            <a:graphicFrameLocks noGrp="1"/>
          </p:cNvGraphicFramePr>
          <p:nvPr/>
        </p:nvGraphicFramePr>
        <p:xfrm>
          <a:off x="784342" y="1209436"/>
          <a:ext cx="8552018" cy="474663"/>
        </p:xfrm>
        <a:graphic>
          <a:graphicData uri="http://schemas.openxmlformats.org/drawingml/2006/table">
            <a:tbl>
              <a:tblPr/>
              <a:tblGrid>
                <a:gridCol w="1425023"/>
                <a:gridCol w="1425024"/>
                <a:gridCol w="1426901"/>
                <a:gridCol w="1423146"/>
                <a:gridCol w="1426901"/>
                <a:gridCol w="1425023"/>
              </a:tblGrid>
              <a:tr h="47466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/mm</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20.00</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20.02</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19.98</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20.00</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20.00</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22" name="文本框 21"/>
              <p:cNvSpPr txBox="1"/>
              <p:nvPr/>
            </p:nvSpPr>
            <p:spPr>
              <a:xfrm>
                <a:off x="3010852" y="1790450"/>
                <a:ext cx="1941429" cy="502766"/>
              </a:xfrm>
              <a:prstGeom prst="rect">
                <a:avLst/>
              </a:prstGeom>
              <a:noFill/>
            </p:spPr>
            <p:txBody>
              <a:bodyPr wrap="none" rtlCol="0">
                <a:spAutoFit/>
              </a:bodyPr>
              <a:lstStyle/>
              <a:p>
                <a:pPr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US" altLang="zh-CN" sz="2400" i="1" smtClean="0">
                          <a:solidFill>
                            <a:schemeClr val="bg1"/>
                          </a:solidFill>
                          <a:latin typeface="Cambria Math" panose="02040503050406030204" pitchFamily="18" charset="0"/>
                        </a:rPr>
                        <m:t>𝐻</m:t>
                      </m:r>
                      <m:r>
                        <a:rPr lang="en-US" altLang="zh-CN" sz="2400" i="1" smtClean="0">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𝐻</m:t>
                          </m:r>
                          <m:r>
                            <a:rPr lang="en-US" altLang="zh-CN" sz="2400" b="0" i="1" baseline="-25000" smtClean="0">
                              <a:solidFill>
                                <a:schemeClr val="bg1"/>
                              </a:solidFill>
                              <a:latin typeface="Cambria Math" panose="02040503050406030204" pitchFamily="18" charset="0"/>
                            </a:rPr>
                            <m:t>0</m:t>
                          </m:r>
                        </m:e>
                      </m:bar>
                      <m:r>
                        <a:rPr lang="en-US" altLang="zh-CN" sz="2400">
                          <a:solidFill>
                            <a:schemeClr val="bg1"/>
                          </a:solidFill>
                          <a:latin typeface="Cambria Math" panose="02040503050406030204" pitchFamily="18" charset="0"/>
                        </a:rPr>
                        <m:t>+</m:t>
                      </m:r>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𝐻</m:t>
                          </m:r>
                        </m:e>
                        <m:sub>
                          <m:r>
                            <a:rPr lang="en-US" altLang="zh-CN" sz="2400" b="0" i="1" smtClean="0">
                              <a:solidFill>
                                <a:schemeClr val="bg1"/>
                              </a:solidFill>
                              <a:latin typeface="Cambria Math" panose="02040503050406030204" pitchFamily="18" charset="0"/>
                            </a:rPr>
                            <m:t>1</m:t>
                          </m:r>
                        </m:sub>
                      </m:sSub>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3010852" y="1790450"/>
                <a:ext cx="1941429" cy="502766"/>
              </a:xfrm>
              <a:prstGeom prst="rect">
                <a:avLst/>
              </a:prstGeom>
              <a:blipFill rotWithShape="1">
                <a:blip r:embed="rId2"/>
                <a:stretch>
                  <a:fillRect l="-16" t="-77" r="28" b="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Object 29"/>
              <p:cNvSpPr txBox="1"/>
              <p:nvPr/>
            </p:nvSpPr>
            <p:spPr bwMode="auto">
              <a:xfrm>
                <a:off x="1890169" y="2860232"/>
                <a:ext cx="3176627" cy="457200"/>
              </a:xfrm>
              <a:prstGeom prst="rect">
                <a:avLst/>
              </a:prstGeom>
              <a:noFill/>
              <a:ln>
                <a:noFill/>
              </a:ln>
            </p:spPr>
            <p:txBody>
              <a:bodyPr>
                <a:normAutofit fontScale="85000" lnSpcReduction="10000"/>
              </a:bodyPr>
              <a:lstStyle/>
              <a:p>
                <a14:m>
                  <m:oMathPara xmlns:m="http://schemas.openxmlformats.org/officeDocument/2006/math">
                    <m:oMathParaPr>
                      <m:jc m:val="left"/>
                    </m:oMathParaPr>
                    <m:oMath xmlns:m="http://schemas.openxmlformats.org/officeDocument/2006/math">
                      <m:bar>
                        <m:barPr>
                          <m:pos m:val="top"/>
                          <m:ctrlPr>
                            <a:rPr lang="zh-CN" altLang="en-US" sz="2400" i="1" smtClean="0">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𝐻</m:t>
                          </m:r>
                          <m:r>
                            <a:rPr lang="en-US" altLang="zh-CN" sz="2400" b="0" i="1" baseline="-25000" smtClean="0">
                              <a:solidFill>
                                <a:schemeClr val="bg1"/>
                              </a:solidFill>
                              <a:latin typeface="Cambria Math" panose="02040503050406030204" pitchFamily="18" charset="0"/>
                            </a:rPr>
                            <m:t>0</m:t>
                          </m:r>
                        </m:e>
                      </m:bar>
                      <m:r>
                        <a:rPr lang="zh-CN" altLang="en-US"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2</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23" name="Object 29"/>
              <p:cNvSpPr txBox="1">
                <a:spLocks noRot="1" noChangeAspect="1" noMove="1" noResize="1" noEditPoints="1" noAdjustHandles="1" noChangeArrowheads="1" noChangeShapeType="1" noTextEdit="1"/>
              </p:cNvSpPr>
              <p:nvPr/>
            </p:nvSpPr>
            <p:spPr bwMode="auto">
              <a:xfrm>
                <a:off x="1890169" y="2860232"/>
                <a:ext cx="3176627" cy="457200"/>
              </a:xfrm>
              <a:prstGeom prst="rect">
                <a:avLst/>
              </a:prstGeom>
              <a:blipFill rotWithShape="1">
                <a:blip r:embed="rId3"/>
                <a:stretch>
                  <a:fillRect l="-13" t="-42" r="4" b="42"/>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Object 30"/>
              <p:cNvSpPr txBox="1"/>
              <p:nvPr/>
            </p:nvSpPr>
            <p:spPr bwMode="auto">
              <a:xfrm>
                <a:off x="4799856" y="2481503"/>
                <a:ext cx="5888728" cy="83820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en-US" altLang="zh-CN" sz="2400" b="0" i="1" smtClean="0">
                          <a:solidFill>
                            <a:schemeClr val="bg1"/>
                          </a:solidFill>
                          <a:latin typeface="Cambria Math" panose="02040503050406030204" pitchFamily="18" charset="0"/>
                        </a:rPr>
                        <m:t>𝑢</m:t>
                      </m:r>
                      <m:r>
                        <a:rPr lang="en-US" altLang="zh-CN" sz="2400" b="0" i="1" baseline="-25000" smtClean="0">
                          <a:solidFill>
                            <a:schemeClr val="bg1"/>
                          </a:solidFill>
                          <a:latin typeface="Cambria Math" panose="02040503050406030204" pitchFamily="18" charset="0"/>
                        </a:rPr>
                        <m:t>𝐴</m:t>
                      </m:r>
                      <m:r>
                        <a:rPr lang="en-US" altLang="zh-CN" sz="2400" b="0" i="1" smtClean="0">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𝐻</m:t>
                          </m:r>
                          <m:r>
                            <a:rPr lang="en-US" altLang="zh-CN" sz="2400" i="1" baseline="-25000">
                              <a:solidFill>
                                <a:schemeClr val="bg1"/>
                              </a:solidFill>
                              <a:latin typeface="Cambria Math" panose="02040503050406030204" pitchFamily="18" charset="0"/>
                            </a:rPr>
                            <m:t>0</m:t>
                          </m:r>
                        </m:e>
                      </m:bar>
                      <m:r>
                        <a:rPr lang="en-US" altLang="zh-CN" sz="2400" b="0" i="1" smtClean="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f>
                            <m:fPr>
                              <m:ctrlPr>
                                <a:rPr lang="zh-CN" altLang="en-US" sz="2400" i="1">
                                  <a:solidFill>
                                    <a:schemeClr val="bg1"/>
                                  </a:solidFill>
                                  <a:latin typeface="Cambria Math" panose="02040503050406030204" pitchFamily="18" charset="0"/>
                                </a:rPr>
                              </m:ctrlPr>
                            </m:fPr>
                            <m:num>
                              <m:nary>
                                <m:naryPr>
                                  <m:chr m:val="∑"/>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𝑖</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sub>
                                <m:sup>
                                  <m:r>
                                    <a:rPr lang="zh-CN" altLang="en-US" sz="2400" i="1">
                                      <a:solidFill>
                                        <a:schemeClr val="bg1"/>
                                      </a:solidFill>
                                      <a:latin typeface="Cambria Math" panose="02040503050406030204" pitchFamily="18" charset="0"/>
                                    </a:rPr>
                                    <m:t>𝑛</m:t>
                                  </m:r>
                                </m:sup>
                                <m:e>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𝐻</m:t>
                                      </m:r>
                                    </m:e>
                                    <m:sub>
                                      <m:r>
                                        <a:rPr lang="zh-CN" altLang="en-US" sz="2400" i="1">
                                          <a:solidFill>
                                            <a:schemeClr val="bg1"/>
                                          </a:solidFill>
                                          <a:latin typeface="Cambria Math" panose="02040503050406030204" pitchFamily="18" charset="0"/>
                                        </a:rPr>
                                        <m:t>𝑖</m:t>
                                      </m:r>
                                    </m:sub>
                                  </m:sSub>
                                  <m:r>
                                    <a:rPr lang="zh-CN" altLang="en-US" sz="2400" i="1">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𝐻</m:t>
                                      </m:r>
                                    </m:e>
                                  </m:ba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m:t>
                                      </m:r>
                                    </m:e>
                                    <m:sup>
                                      <m:r>
                                        <a:rPr lang="zh-CN" altLang="en-US" sz="2400" i="1">
                                          <a:solidFill>
                                            <a:schemeClr val="bg1"/>
                                          </a:solidFill>
                                          <a:latin typeface="Cambria Math" panose="02040503050406030204" pitchFamily="18" charset="0"/>
                                        </a:rPr>
                                        <m:t>2</m:t>
                                      </m:r>
                                    </m:sup>
                                  </m:sSup>
                                </m:e>
                              </m:nary>
                            </m:num>
                            <m:den>
                              <m:r>
                                <a:rPr lang="zh-CN" altLang="en-US" sz="2400" i="1">
                                  <a:solidFill>
                                    <a:schemeClr val="bg1"/>
                                  </a:solidFill>
                                  <a:latin typeface="Cambria Math" panose="02040503050406030204" pitchFamily="18" charset="0"/>
                                </a:rPr>
                                <m:t>𝑛</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𝑛</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r>
                                <a:rPr lang="zh-CN" altLang="en-US" sz="2400" i="1">
                                  <a:solidFill>
                                    <a:schemeClr val="bg1"/>
                                  </a:solidFill>
                                  <a:latin typeface="Cambria Math" panose="02040503050406030204" pitchFamily="18" charset="0"/>
                                </a:rPr>
                                <m:t>)</m:t>
                              </m:r>
                            </m:den>
                          </m:f>
                        </m:e>
                      </m:rad>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i="1">
                          <a:solidFill>
                            <a:schemeClr val="bg1"/>
                          </a:solidFill>
                          <a:latin typeface="Cambria Math" panose="02040503050406030204" pitchFamily="18" charset="0"/>
                        </a:rPr>
                        <m:t>6</m:t>
                      </m:r>
                      <m:r>
                        <a:rPr lang="en-US" altLang="zh-CN" sz="2400" b="0" i="1" smtClean="0">
                          <a:solidFill>
                            <a:schemeClr val="bg1"/>
                          </a:solidFill>
                          <a:latin typeface="Cambria Math" panose="02040503050406030204" pitchFamily="18" charset="0"/>
                        </a:rPr>
                        <m:t>3</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27" name="Object 30"/>
              <p:cNvSpPr txBox="1">
                <a:spLocks noRot="1" noChangeAspect="1" noMove="1" noResize="1" noEditPoints="1" noAdjustHandles="1" noChangeArrowheads="1" noChangeShapeType="1" noTextEdit="1"/>
              </p:cNvSpPr>
              <p:nvPr/>
            </p:nvSpPr>
            <p:spPr bwMode="auto">
              <a:xfrm>
                <a:off x="4799856" y="2481503"/>
                <a:ext cx="5888728" cy="838200"/>
              </a:xfrm>
              <a:prstGeom prst="rect">
                <a:avLst/>
              </a:prstGeom>
              <a:blipFill rotWithShape="1">
                <a:blip r:embed="rId4"/>
                <a:stretch>
                  <a:fillRect l="-9" t="-67" r="4" b="-40918"/>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Object 42"/>
              <p:cNvSpPr txBox="1"/>
              <p:nvPr/>
            </p:nvSpPr>
            <p:spPr bwMode="auto">
              <a:xfrm>
                <a:off x="4831610" y="3778544"/>
                <a:ext cx="5517514" cy="787400"/>
              </a:xfrm>
              <a:prstGeom prst="rect">
                <a:avLst/>
              </a:prstGeom>
              <a:noFill/>
              <a:ln>
                <a:noFill/>
              </a:ln>
            </p:spPr>
            <p:txBody>
              <a:bodyPr>
                <a:noAutofit/>
              </a:bodyPr>
              <a:lstStyle/>
              <a:p>
                <a:r>
                  <a:rPr lang="en-US" altLang="zh-CN" sz="2400" i="1" dirty="0" err="1">
                    <a:solidFill>
                      <a:schemeClr val="bg1"/>
                    </a:solidFill>
                    <a:latin typeface="Times New Roman" panose="02020603050405020304" pitchFamily="18" charset="0"/>
                    <a:cs typeface="Times New Roman" panose="02020603050405020304" pitchFamily="18" charset="0"/>
                  </a:rPr>
                  <a:t>u</a:t>
                </a:r>
                <a:r>
                  <a:rPr lang="en-US" altLang="zh-CN" sz="2400" baseline="-25000" dirty="0" err="1">
                    <a:solidFill>
                      <a:schemeClr val="bg1"/>
                    </a:solidFill>
                    <a:latin typeface="Times New Roman" panose="02020603050405020304" pitchFamily="18" charset="0"/>
                    <a:cs typeface="Times New Roman" panose="02020603050405020304" pitchFamily="18" charset="0"/>
                  </a:rPr>
                  <a:t>B</a:t>
                </a:r>
                <a:r>
                  <a:rPr lang="en-US" altLang="zh-CN" sz="2400" dirty="0">
                    <a:solidFill>
                      <a:schemeClr val="bg1"/>
                    </a:solidFill>
                    <a:latin typeface="Times New Roman" panose="02020603050405020304" pitchFamily="18" charset="0"/>
                    <a:cs typeface="Times New Roman" panose="02020603050405020304" pitchFamily="18" charset="0"/>
                  </a:rPr>
                  <a:t>(</a:t>
                </a:r>
                <a:r>
                  <a:rPr lang="en-US" altLang="zh-CN" sz="2400" i="1" dirty="0">
                    <a:solidFill>
                      <a:schemeClr val="bg1"/>
                    </a:solidFill>
                    <a:latin typeface="Times New Roman" panose="02020603050405020304" pitchFamily="18" charset="0"/>
                    <a:cs typeface="Times New Roman" panose="02020603050405020304" pitchFamily="18" charset="0"/>
                  </a:rPr>
                  <a:t>H</a:t>
                </a:r>
                <a:r>
                  <a:rPr lang="en-US" altLang="zh-CN" sz="2400" baseline="-25000" dirty="0">
                    <a:solidFill>
                      <a:schemeClr val="bg1"/>
                    </a:solidFill>
                    <a:latin typeface="Times New Roman" panose="02020603050405020304" pitchFamily="18" charset="0"/>
                    <a:cs typeface="Times New Roman" panose="02020603050405020304" pitchFamily="18" charset="0"/>
                  </a:rPr>
                  <a:t>1</a:t>
                </a:r>
                <a:r>
                  <a:rPr lang="en-US" altLang="zh-CN" sz="2400" dirty="0">
                    <a:solidFill>
                      <a:schemeClr val="bg1"/>
                    </a:solidFill>
                    <a:latin typeface="Times New Roman" panose="02020603050405020304" pitchFamily="18" charset="0"/>
                    <a:cs typeface="Times New Roman" panose="02020603050405020304" pitchFamily="18" charset="0"/>
                  </a:rPr>
                  <a:t>)</a:t>
                </a:r>
                <a14:m>
                  <m:oMath xmlns:m="http://schemas.openxmlformats.org/officeDocument/2006/math">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smtClean="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仪</m:t>
                        </m:r>
                      </m:num>
                      <m:den>
                        <m:r>
                          <a:rPr lang="zh-CN" altLang="en-US" sz="2400" i="1">
                            <a:solidFill>
                              <a:schemeClr val="bg1"/>
                            </a:solidFill>
                            <a:latin typeface="Cambria Math" panose="02040503050406030204" pitchFamily="18" charset="0"/>
                          </a:rPr>
                          <m:t>𝐶</m:t>
                        </m:r>
                      </m:den>
                    </m:f>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2</m:t>
                        </m:r>
                      </m:num>
                      <m:den>
                        <m:rad>
                          <m:radPr>
                            <m:degHide m:val="on"/>
                            <m:ctrlPr>
                              <a:rPr lang="zh-CN" altLang="en-US" sz="2400" i="1">
                                <a:solidFill>
                                  <a:schemeClr val="bg1"/>
                                </a:solidFill>
                                <a:latin typeface="Cambria Math" panose="02040503050406030204" pitchFamily="18" charset="0"/>
                              </a:rPr>
                            </m:ctrlPr>
                          </m:radPr>
                          <m:deg/>
                          <m:e>
                            <m:r>
                              <a:rPr lang="en-US" altLang="zh-CN" sz="2400" i="1">
                                <a:solidFill>
                                  <a:schemeClr val="bg1"/>
                                </a:solidFill>
                                <a:latin typeface="Cambria Math" panose="02040503050406030204" pitchFamily="18" charset="0"/>
                              </a:rPr>
                              <m:t>3</m:t>
                            </m:r>
                          </m:e>
                        </m:rad>
                      </m:den>
                    </m:f>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01</m:t>
                    </m:r>
                    <m:r>
                      <a:rPr lang="en-US" altLang="zh-CN" sz="2400" i="1">
                        <a:solidFill>
                          <a:schemeClr val="bg1"/>
                        </a:solidFill>
                        <a:latin typeface="Cambria Math" panose="02040503050406030204" pitchFamily="18" charset="0"/>
                      </a:rPr>
                      <m:t>2</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28" name="Object 42"/>
              <p:cNvSpPr txBox="1">
                <a:spLocks noRot="1" noChangeAspect="1" noMove="1" noResize="1" noEditPoints="1" noAdjustHandles="1" noChangeArrowheads="1" noChangeShapeType="1" noTextEdit="1"/>
              </p:cNvSpPr>
              <p:nvPr/>
            </p:nvSpPr>
            <p:spPr bwMode="auto">
              <a:xfrm>
                <a:off x="4831610" y="3778544"/>
                <a:ext cx="5517514" cy="787400"/>
              </a:xfrm>
              <a:prstGeom prst="rect">
                <a:avLst/>
              </a:prstGeom>
              <a:blipFill rotWithShape="1">
                <a:blip r:embed="rId5"/>
                <a:stretch>
                  <a:fillRect l="-10" t="-37" r="10" b="37"/>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Object 29"/>
              <p:cNvSpPr txBox="1"/>
              <p:nvPr/>
            </p:nvSpPr>
            <p:spPr bwMode="auto">
              <a:xfrm>
                <a:off x="1876815" y="4023357"/>
                <a:ext cx="2048705" cy="457200"/>
              </a:xfrm>
              <a:prstGeom prst="rect">
                <a:avLst/>
              </a:prstGeom>
              <a:noFill/>
              <a:ln>
                <a:noFill/>
              </a:ln>
            </p:spPr>
            <p:txBody>
              <a:bodyPr>
                <a:normAutofit/>
              </a:bodyPr>
              <a:lstStyle/>
              <a:p>
                <a14:m>
                  <m:oMathPara xmlns:m="http://schemas.openxmlformats.org/officeDocument/2006/math">
                    <m:oMathParaPr>
                      <m:jc m:val="left"/>
                    </m:oMathParaPr>
                    <m:oMath xmlns:m="http://schemas.openxmlformats.org/officeDocument/2006/math">
                      <m:sSub>
                        <m:sSubPr>
                          <m:ctrlPr>
                            <a:rPr lang="en-US" altLang="zh-CN" sz="2400" i="1" smtClean="0">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𝐻</m:t>
                          </m:r>
                        </m:e>
                        <m:sub>
                          <m:r>
                            <a:rPr lang="en-US" altLang="zh-CN" sz="2400" b="0" i="1" smtClean="0">
                              <a:solidFill>
                                <a:schemeClr val="bg1"/>
                              </a:solidFill>
                              <a:latin typeface="Cambria Math" panose="02040503050406030204" pitchFamily="18" charset="0"/>
                            </a:rPr>
                            <m:t>1</m:t>
                          </m:r>
                        </m:sub>
                      </m:sSub>
                      <m:r>
                        <a:rPr lang="zh-CN" altLang="en-US"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29" name="Object 29"/>
              <p:cNvSpPr txBox="1">
                <a:spLocks noRot="1" noChangeAspect="1" noMove="1" noResize="1" noEditPoints="1" noAdjustHandles="1" noChangeArrowheads="1" noChangeShapeType="1" noTextEdit="1"/>
              </p:cNvSpPr>
              <p:nvPr/>
            </p:nvSpPr>
            <p:spPr bwMode="auto">
              <a:xfrm>
                <a:off x="1876815" y="4023357"/>
                <a:ext cx="2048705" cy="457200"/>
              </a:xfrm>
              <a:prstGeom prst="rect">
                <a:avLst/>
              </a:prstGeom>
              <a:blipFill rotWithShape="1">
                <a:blip r:embed="rId6"/>
                <a:stretch>
                  <a:fillRect l="-19" t="-138" r="29" b="138"/>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Object 43"/>
              <p:cNvSpPr txBox="1"/>
              <p:nvPr/>
            </p:nvSpPr>
            <p:spPr bwMode="auto">
              <a:xfrm>
                <a:off x="1641456" y="4869160"/>
                <a:ext cx="4525148" cy="1857375"/>
              </a:xfrm>
              <a:prstGeom prst="rect">
                <a:avLst/>
              </a:prstGeom>
              <a:noFill/>
              <a:ln>
                <a:noFill/>
              </a:ln>
            </p:spPr>
            <p:txBody>
              <a:bodyPr>
                <a:noAutofit/>
              </a:bodyPr>
              <a:lstStyle/>
              <a:p>
                <a:pPr>
                  <a:lnSpc>
                    <a:spcPct val="120000"/>
                  </a:lnSpc>
                </a:pPr>
                <a14:m>
                  <m:oMathPara xmlns:m="http://schemas.openxmlformats.org/officeDocument/2006/math">
                    <m:oMathParaPr>
                      <m:jc m:val="left"/>
                    </m:oMathParaPr>
                    <m:oMath xmlns:m="http://schemas.openxmlformats.org/officeDocument/2006/math">
                      <m:r>
                        <a:rPr lang="en-US" altLang="zh-CN" sz="2400" b="0" i="1" smtClean="0">
                          <a:solidFill>
                            <a:schemeClr val="bg1"/>
                          </a:solidFill>
                          <a:latin typeface="Cambria Math" panose="02040503050406030204" pitchFamily="18" charset="0"/>
                        </a:rPr>
                        <m:t>𝑢</m:t>
                      </m:r>
                      <m:r>
                        <a:rPr lang="en-US" altLang="zh-CN" sz="2400" b="0" i="1" smtClean="0">
                          <a:solidFill>
                            <a:schemeClr val="bg1"/>
                          </a:solidFill>
                          <a:latin typeface="Cambria Math" panose="02040503050406030204" pitchFamily="18" charset="0"/>
                        </a:rPr>
                        <m:t>(</m:t>
                      </m:r>
                      <m:r>
                        <a:rPr lang="en-US" altLang="zh-CN" sz="2400" b="0" i="1" smtClean="0">
                          <a:solidFill>
                            <a:schemeClr val="bg1"/>
                          </a:solidFill>
                          <a:latin typeface="Cambria Math" panose="02040503050406030204" pitchFamily="18" charset="0"/>
                        </a:rPr>
                        <m:t>𝐻</m:t>
                      </m:r>
                      <m:r>
                        <a:rPr lang="en-US" altLang="zh-CN" sz="2400" b="0" i="1" smtClean="0">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sSup>
                            <m:sSupPr>
                              <m:ctrlPr>
                                <a:rPr lang="zh-CN" altLang="en-US" sz="2400" i="1">
                                  <a:solidFill>
                                    <a:schemeClr val="bg1"/>
                                  </a:solidFill>
                                  <a:latin typeface="Cambria Math" panose="02040503050406030204" pitchFamily="18" charset="0"/>
                                </a:rPr>
                              </m:ctrlPr>
                            </m:sSupPr>
                            <m:e>
                              <m:d>
                                <m:dPr>
                                  <m:ctrlPr>
                                    <a:rPr lang="zh-CN" altLang="en-US" sz="2400" i="1">
                                      <a:solidFill>
                                        <a:schemeClr val="bg1"/>
                                      </a:solidFill>
                                      <a:latin typeface="Cambria Math" panose="02040503050406030204" pitchFamily="18" charset="0"/>
                                    </a:rPr>
                                  </m:ctrlPr>
                                </m:dPr>
                                <m:e>
                                  <m:r>
                                    <a:rPr lang="en-US" altLang="zh-CN" sz="2400" i="1">
                                      <a:solidFill>
                                        <a:schemeClr val="bg1"/>
                                      </a:solidFill>
                                      <a:latin typeface="Cambria Math" panose="02040503050406030204" pitchFamily="18" charset="0"/>
                                    </a:rPr>
                                    <m:t>𝑢</m:t>
                                  </m:r>
                                  <m:r>
                                    <a:rPr lang="en-US" altLang="zh-CN" sz="2400" i="1" baseline="-25000">
                                      <a:solidFill>
                                        <a:schemeClr val="bg1"/>
                                      </a:solidFill>
                                      <a:latin typeface="Cambria Math" panose="02040503050406030204" pitchFamily="18" charset="0"/>
                                    </a:rPr>
                                    <m:t>𝐴</m:t>
                                  </m:r>
                                  <m:r>
                                    <a:rPr lang="en-US" altLang="zh-CN" sz="2400" i="1">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𝐻</m:t>
                                      </m:r>
                                      <m:r>
                                        <a:rPr lang="en-US" altLang="zh-CN" sz="2400" i="1" baseline="-25000">
                                          <a:solidFill>
                                            <a:schemeClr val="bg1"/>
                                          </a:solidFill>
                                          <a:latin typeface="Cambria Math" panose="02040503050406030204" pitchFamily="18" charset="0"/>
                                        </a:rPr>
                                        <m:t>0</m:t>
                                      </m:r>
                                    </m:e>
                                  </m:bar>
                                  <m:r>
                                    <a:rPr lang="en-US" altLang="zh-CN" sz="2400" i="1">
                                      <a:solidFill>
                                        <a:schemeClr val="bg1"/>
                                      </a:solidFill>
                                      <a:latin typeface="Cambria Math" panose="02040503050406030204" pitchFamily="18" charset="0"/>
                                    </a:rPr>
                                    <m:t>)</m:t>
                                  </m:r>
                                </m:e>
                              </m:d>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sSup>
                            <m:sSupPr>
                              <m:ctrlPr>
                                <a:rPr lang="zh-CN" altLang="en-US" sz="2400" i="1">
                                  <a:solidFill>
                                    <a:schemeClr val="bg1"/>
                                  </a:solidFill>
                                  <a:latin typeface="Cambria Math" panose="02040503050406030204" pitchFamily="18" charset="0"/>
                                </a:rPr>
                              </m:ctrlPr>
                            </m:sSupPr>
                            <m:e>
                              <m:r>
                                <a:rPr lang="en-US" altLang="zh-CN" sz="2400" b="0" i="1" smtClean="0">
                                  <a:solidFill>
                                    <a:schemeClr val="bg1"/>
                                  </a:solidFill>
                                  <a:latin typeface="Cambria Math" panose="02040503050406030204" pitchFamily="18" charset="0"/>
                                </a:rPr>
                                <m:t>(</m:t>
                              </m:r>
                              <m:r>
                                <m:rPr>
                                  <m:nor/>
                                </m:rPr>
                                <a:rPr lang="en-US" altLang="zh-CN" sz="2400" i="1" dirty="0">
                                  <a:solidFill>
                                    <a:schemeClr val="bg1"/>
                                  </a:solidFill>
                                  <a:latin typeface="Times New Roman" panose="02020603050405020304" pitchFamily="18" charset="0"/>
                                  <a:cs typeface="Times New Roman" panose="02020603050405020304" pitchFamily="18" charset="0"/>
                                </a:rPr>
                                <m:t>u</m:t>
                              </m:r>
                              <m:r>
                                <m:rPr>
                                  <m:nor/>
                                </m:rPr>
                                <a:rPr lang="en-US" altLang="zh-CN" sz="2400" baseline="-25000" dirty="0">
                                  <a:solidFill>
                                    <a:schemeClr val="bg1"/>
                                  </a:solidFill>
                                  <a:latin typeface="Times New Roman" panose="02020603050405020304" pitchFamily="18" charset="0"/>
                                  <a:cs typeface="Times New Roman" panose="02020603050405020304" pitchFamily="18" charset="0"/>
                                </a:rPr>
                                <m:t>B</m:t>
                              </m:r>
                              <m:r>
                                <m:rPr>
                                  <m:nor/>
                                </m:rPr>
                                <a:rPr lang="en-US" altLang="zh-CN" sz="2400" dirty="0">
                                  <a:solidFill>
                                    <a:schemeClr val="bg1"/>
                                  </a:solidFill>
                                  <a:latin typeface="Times New Roman" panose="02020603050405020304" pitchFamily="18" charset="0"/>
                                  <a:cs typeface="Times New Roman" panose="02020603050405020304" pitchFamily="18" charset="0"/>
                                </a:rPr>
                                <m:t>(</m:t>
                              </m:r>
                              <m:r>
                                <m:rPr>
                                  <m:nor/>
                                </m:rPr>
                                <a:rPr lang="en-US" altLang="zh-CN" sz="2400" i="1" dirty="0">
                                  <a:solidFill>
                                    <a:schemeClr val="bg1"/>
                                  </a:solidFill>
                                  <a:latin typeface="Times New Roman" panose="02020603050405020304" pitchFamily="18" charset="0"/>
                                  <a:cs typeface="Times New Roman" panose="02020603050405020304" pitchFamily="18" charset="0"/>
                                </a:rPr>
                                <m:t>H</m:t>
                              </m:r>
                              <m:r>
                                <m:rPr>
                                  <m:nor/>
                                </m:rPr>
                                <a:rPr lang="en-US" altLang="zh-CN" sz="2400" baseline="-25000" dirty="0">
                                  <a:solidFill>
                                    <a:schemeClr val="bg1"/>
                                  </a:solidFill>
                                  <a:latin typeface="Times New Roman" panose="02020603050405020304" pitchFamily="18" charset="0"/>
                                  <a:cs typeface="Times New Roman" panose="02020603050405020304" pitchFamily="18" charset="0"/>
                                </a:rPr>
                                <m:t>1</m:t>
                              </m:r>
                              <m:r>
                                <m:rPr>
                                  <m:nor/>
                                </m:rPr>
                                <a:rPr lang="en-US" altLang="zh-CN" sz="2400" dirty="0">
                                  <a:solidFill>
                                    <a:schemeClr val="bg1"/>
                                  </a:solidFill>
                                  <a:latin typeface="Times New Roman" panose="02020603050405020304" pitchFamily="18" charset="0"/>
                                  <a:cs typeface="Times New Roman" panose="02020603050405020304" pitchFamily="18" charset="0"/>
                                </a:rPr>
                                <m:t>)</m:t>
                              </m:r>
                              <m:r>
                                <a:rPr lang="en-US" altLang="zh-CN" sz="2400" i="1">
                                  <a:solidFill>
                                    <a:schemeClr val="bg1"/>
                                  </a:solidFill>
                                  <a:latin typeface="Cambria Math" panose="02040503050406030204" pitchFamily="18" charset="0"/>
                                </a:rPr>
                                <m:t>)</m:t>
                              </m:r>
                            </m:e>
                            <m:sup>
                              <m:r>
                                <a:rPr lang="zh-CN" altLang="en-US" sz="2400" i="1">
                                  <a:solidFill>
                                    <a:schemeClr val="bg1"/>
                                  </a:solidFill>
                                  <a:latin typeface="Cambria Math" panose="02040503050406030204" pitchFamily="18" charset="0"/>
                                </a:rPr>
                                <m:t>2</m:t>
                              </m:r>
                            </m:sup>
                          </m:sSup>
                        </m:e>
                      </m:rad>
                    </m:oMath>
                    <m:oMath xmlns:m="http://schemas.openxmlformats.org/officeDocument/2006/math">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r>
                        <a:rPr lang="zh-CN" altLang="en-US" sz="2400" i="1">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006</m:t>
                              </m:r>
                              <m:r>
                                <a:rPr lang="en-US" altLang="zh-CN" sz="2400" b="0" i="1" smtClean="0">
                                  <a:solidFill>
                                    <a:schemeClr val="bg1"/>
                                  </a:solidFill>
                                  <a:latin typeface="Cambria Math" panose="02040503050406030204" pitchFamily="18" charset="0"/>
                                </a:rPr>
                                <m:t>3</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01</m:t>
                              </m:r>
                              <m:r>
                                <a:rPr lang="en-US" altLang="zh-CN" sz="2400" i="1">
                                  <a:solidFill>
                                    <a:schemeClr val="bg1"/>
                                  </a:solidFill>
                                  <a:latin typeface="Cambria Math" panose="02040503050406030204" pitchFamily="18" charset="0"/>
                                </a:rPr>
                                <m:t>2</m:t>
                              </m:r>
                            </m:e>
                            <m:sup>
                              <m:r>
                                <a:rPr lang="zh-CN" altLang="en-US" sz="2400" i="1">
                                  <a:solidFill>
                                    <a:schemeClr val="bg1"/>
                                  </a:solidFill>
                                  <a:latin typeface="Cambria Math" panose="02040503050406030204" pitchFamily="18" charset="0"/>
                                </a:rPr>
                                <m:t>2</m:t>
                              </m:r>
                            </m:sup>
                          </m:sSup>
                        </m:e>
                      </m:rad>
                    </m:oMath>
                    <m:oMath xmlns:m="http://schemas.openxmlformats.org/officeDocument/2006/math">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r>
                        <m:rPr>
                          <m:nor/>
                        </m:rPr>
                        <a:rPr lang="zh-CN" altLang="en-US" sz="2400">
                          <a:solidFill>
                            <a:schemeClr val="bg1"/>
                          </a:solidFill>
                          <a:latin typeface="Cambria Math" panose="02040503050406030204" pitchFamily="18" charset="0"/>
                        </a:rPr>
                        <m:t>= </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1</m:t>
                      </m:r>
                      <m:r>
                        <a:rPr lang="en-US" altLang="zh-CN" sz="2400" b="0" i="1" smtClean="0">
                          <a:solidFill>
                            <a:schemeClr val="bg1"/>
                          </a:solidFill>
                          <a:latin typeface="Cambria Math" panose="02040503050406030204" pitchFamily="18" charset="0"/>
                        </a:rPr>
                        <m:t>4</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mm</m:t>
                      </m:r>
                    </m:oMath>
                  </m:oMathPara>
                </a14:m>
                <a:endParaRPr lang="zh-CN" altLang="en-US" sz="2400" dirty="0">
                  <a:solidFill>
                    <a:schemeClr val="bg1"/>
                  </a:solidFill>
                  <a:latin typeface="Arial" panose="020B0604020202020204" pitchFamily="34" charset="0"/>
                </a:endParaRPr>
              </a:p>
            </p:txBody>
          </p:sp>
        </mc:Choice>
        <mc:Fallback>
          <p:sp>
            <p:nvSpPr>
              <p:cNvPr id="30" name="Object 43"/>
              <p:cNvSpPr txBox="1">
                <a:spLocks noRot="1" noChangeAspect="1" noMove="1" noResize="1" noEditPoints="1" noAdjustHandles="1" noChangeArrowheads="1" noChangeShapeType="1" noTextEdit="1"/>
              </p:cNvSpPr>
              <p:nvPr/>
            </p:nvSpPr>
            <p:spPr bwMode="auto">
              <a:xfrm>
                <a:off x="1641456" y="4869160"/>
                <a:ext cx="4525148" cy="1857375"/>
              </a:xfrm>
              <a:prstGeom prst="rect">
                <a:avLst/>
              </a:prstGeom>
              <a:blipFill rotWithShape="1">
                <a:blip r:embed="rId7"/>
                <a:stretch>
                  <a:fillRect l="-14" t="-33" r="3" b="-2018"/>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Object 7"/>
              <p:cNvSpPr txBox="1"/>
              <p:nvPr/>
            </p:nvSpPr>
            <p:spPr bwMode="auto">
              <a:xfrm>
                <a:off x="6528048" y="5593458"/>
                <a:ext cx="3716413" cy="48895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zh-CN" altLang="en-US" sz="2800" i="1" smtClean="0">
                          <a:solidFill>
                            <a:schemeClr val="bg1"/>
                          </a:solidFill>
                          <a:latin typeface="Cambria Math" panose="02040503050406030204" pitchFamily="18" charset="0"/>
                        </a:rPr>
                        <m:t>𝐻</m:t>
                      </m:r>
                      <m:r>
                        <a:rPr lang="zh-CN" altLang="en-US" sz="2800" i="1" smtClean="0">
                          <a:solidFill>
                            <a:schemeClr val="bg1"/>
                          </a:solidFill>
                          <a:latin typeface="Cambria Math" panose="02040503050406030204" pitchFamily="18" charset="0"/>
                        </a:rPr>
                        <m:t>= </m:t>
                      </m:r>
                      <m:r>
                        <a:rPr lang="zh-CN" altLang="en-US" sz="2800" i="1" smtClean="0">
                          <a:solidFill>
                            <a:schemeClr val="bg1"/>
                          </a:solidFill>
                          <a:latin typeface="Cambria Math" panose="02040503050406030204" pitchFamily="18" charset="0"/>
                        </a:rPr>
                        <m:t>20</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000</m:t>
                      </m:r>
                      <m:d>
                        <m:dPr>
                          <m:ctrlPr>
                            <a:rPr lang="en-US" altLang="zh-CN" sz="2800" i="1">
                              <a:solidFill>
                                <a:schemeClr val="bg1"/>
                              </a:solidFill>
                              <a:latin typeface="Cambria Math" panose="02040503050406030204" pitchFamily="18" charset="0"/>
                            </a:rPr>
                          </m:ctrlPr>
                        </m:dPr>
                        <m:e>
                          <m:r>
                            <a:rPr lang="zh-CN" altLang="en-US" sz="2800" i="1">
                              <a:solidFill>
                                <a:schemeClr val="bg1"/>
                              </a:solidFill>
                              <a:latin typeface="Cambria Math" panose="02040503050406030204" pitchFamily="18" charset="0"/>
                            </a:rPr>
                            <m:t>1</m:t>
                          </m:r>
                          <m:r>
                            <a:rPr lang="en-US" altLang="zh-CN" sz="2800" b="0" i="1" smtClean="0">
                              <a:solidFill>
                                <a:schemeClr val="bg1"/>
                              </a:solidFill>
                              <a:latin typeface="Cambria Math" panose="02040503050406030204" pitchFamily="18" charset="0"/>
                            </a:rPr>
                            <m:t>4</m:t>
                          </m:r>
                        </m:e>
                      </m:d>
                      <m:r>
                        <a:rPr lang="en-US" altLang="zh-CN" sz="2800" i="1">
                          <a:solidFill>
                            <a:schemeClr val="bg1"/>
                          </a:solidFill>
                          <a:latin typeface="Cambria Math" panose="02040503050406030204" pitchFamily="18" charset="0"/>
                        </a:rPr>
                        <m:t> </m:t>
                      </m:r>
                      <m:r>
                        <m:rPr>
                          <m:sty m:val="p"/>
                        </m:rPr>
                        <a:rPr lang="en-US" altLang="zh-CN" sz="2800">
                          <a:solidFill>
                            <a:schemeClr val="bg1"/>
                          </a:solidFill>
                          <a:latin typeface="Cambria Math" panose="02040503050406030204" pitchFamily="18" charset="0"/>
                        </a:rPr>
                        <m:t>mm</m:t>
                      </m:r>
                    </m:oMath>
                  </m:oMathPara>
                </a14:m>
                <a:endParaRPr lang="zh-CN" altLang="en-US"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31" name="Object 7"/>
              <p:cNvSpPr txBox="1">
                <a:spLocks noRot="1" noChangeAspect="1" noMove="1" noResize="1" noEditPoints="1" noAdjustHandles="1" noChangeArrowheads="1" noChangeShapeType="1" noTextEdit="1"/>
              </p:cNvSpPr>
              <p:nvPr/>
            </p:nvSpPr>
            <p:spPr bwMode="auto">
              <a:xfrm>
                <a:off x="6528048" y="5593458"/>
                <a:ext cx="3716413" cy="488950"/>
              </a:xfrm>
              <a:prstGeom prst="rect">
                <a:avLst/>
              </a:prstGeom>
              <a:blipFill rotWithShape="1">
                <a:blip r:embed="rId8"/>
                <a:stretch>
                  <a:fillRect l="-7" t="-77" b="77"/>
                </a:stretch>
              </a:blipFill>
              <a:ln>
                <a:noFill/>
              </a:ln>
            </p:spPr>
            <p:txBody>
              <a:bodyPr/>
              <a:lstStyle/>
              <a:p>
                <a:r>
                  <a:rPr lang="zh-CN" altLang="en-US">
                    <a:noFill/>
                  </a:rPr>
                  <a:t> </a:t>
                </a:r>
              </a:p>
            </p:txBody>
          </p:sp>
        </mc:Fallback>
      </mc:AlternateContent>
      <p:sp>
        <p:nvSpPr>
          <p:cNvPr id="21" name="矩形 20"/>
          <p:cNvSpPr/>
          <p:nvPr/>
        </p:nvSpPr>
        <p:spPr>
          <a:xfrm>
            <a:off x="8904312" y="6096554"/>
            <a:ext cx="2930780" cy="400110"/>
          </a:xfrm>
          <a:prstGeom prst="rect">
            <a:avLst/>
          </a:prstGeom>
        </p:spPr>
        <p:txBody>
          <a:bodyPr wrap="square">
            <a:spAutoFit/>
          </a:bodyPr>
          <a:lstStyle/>
          <a:p>
            <a:r>
              <a:rPr lang="zh-CN" altLang="en-US" sz="2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运算过程中多保留几位</a:t>
            </a:r>
            <a:endParaRPr lang="zh-CN" altLang="en-US" sz="2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5" grpId="0"/>
      <p:bldP spid="26" grpId="0"/>
      <p:bldP spid="22" grpId="0"/>
      <p:bldP spid="23" grpId="0"/>
      <p:bldP spid="27" grpId="0"/>
      <p:bldP spid="28" grpId="0"/>
      <p:bldP spid="29" grpId="0"/>
      <p:bldP spid="30" grpId="0"/>
      <p:bldP spid="31" grpId="0"/>
      <p:bldP spid="2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27750" y="59397"/>
            <a:ext cx="3416320" cy="524054"/>
          </a:xfrm>
          <a:prstGeom prst="rect">
            <a:avLst/>
          </a:prstGeom>
        </p:spPr>
        <p:txBody>
          <a:bodyPr wrap="none">
            <a:spAutoFit/>
          </a:bodyPr>
          <a:lstStyle/>
          <a:p>
            <a:pPr>
              <a:lnSpc>
                <a:spcPts val="3600"/>
              </a:lnSpc>
              <a:defRPr/>
            </a:pPr>
            <a:r>
              <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评定质量的不确定度</a:t>
            </a:r>
            <a:endPar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1345168" y="1844824"/>
            <a:ext cx="1723549" cy="461665"/>
          </a:xfrm>
          <a:prstGeom prst="rect">
            <a:avLst/>
          </a:prstGeom>
          <a:noFill/>
        </p:spPr>
        <p:txBody>
          <a:bodyPr wrap="none" rtlCol="0">
            <a:spAutoFit/>
          </a:bodyPr>
          <a:lstStyle/>
          <a:p>
            <a:pPr eaLnBrk="1" fontAlgn="auto" hangingPunct="1">
              <a:spcBef>
                <a:spcPts val="0"/>
              </a:spcBef>
              <a:spcAft>
                <a:spcPts val="0"/>
              </a:spcAft>
              <a:defRPr/>
            </a:pP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测量模型：</a:t>
            </a:r>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6" name="直接连接符 15"/>
          <p:cNvCxnSpPr/>
          <p:nvPr/>
        </p:nvCxnSpPr>
        <p:spPr>
          <a:xfrm>
            <a:off x="509200" y="2408396"/>
            <a:ext cx="91151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23392" y="4869160"/>
            <a:ext cx="943304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39541" y="1821285"/>
            <a:ext cx="902811" cy="523220"/>
          </a:xfrm>
          <a:prstGeom prst="rect">
            <a:avLst/>
          </a:prstGeom>
          <a:noFill/>
        </p:spPr>
        <p:txBody>
          <a:bodyPr wrap="none" rtlCol="0">
            <a:spAutoFit/>
          </a:bodyPr>
          <a:lstStyle/>
          <a:p>
            <a:r>
              <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构建</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文本框 24"/>
          <p:cNvSpPr txBox="1"/>
          <p:nvPr/>
        </p:nvSpPr>
        <p:spPr>
          <a:xfrm>
            <a:off x="139540" y="3377168"/>
            <a:ext cx="902811" cy="523220"/>
          </a:xfrm>
          <a:prstGeom prst="rect">
            <a:avLst/>
          </a:prstGeom>
          <a:noFill/>
        </p:spPr>
        <p:txBody>
          <a:bodyPr wrap="none" rtlCol="0">
            <a:spAutoFit/>
          </a:bodyPr>
          <a:lstStyle/>
          <a:p>
            <a:r>
              <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文本框 25"/>
          <p:cNvSpPr txBox="1"/>
          <p:nvPr/>
        </p:nvSpPr>
        <p:spPr>
          <a:xfrm>
            <a:off x="171986" y="5472347"/>
            <a:ext cx="902811" cy="523220"/>
          </a:xfrm>
          <a:prstGeom prst="rect">
            <a:avLst/>
          </a:prstGeom>
          <a:noFill/>
        </p:spPr>
        <p:txBody>
          <a:bodyPr wrap="none" rtlCol="0">
            <a:spAutoFit/>
          </a:bodyPr>
          <a:lstStyle/>
          <a:p>
            <a:r>
              <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合成</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TextBox 3"/>
          <p:cNvSpPr txBox="1">
            <a:spLocks noChangeArrowheads="1"/>
          </p:cNvSpPr>
          <p:nvPr/>
        </p:nvSpPr>
        <p:spPr bwMode="auto">
          <a:xfrm>
            <a:off x="560596" y="575948"/>
            <a:ext cx="9062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None/>
              <a:defRPr/>
            </a:pP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质量用电子天平测量，天平的仪器允差为</a:t>
            </a:r>
            <a:r>
              <a:rPr lang="en-US" altLang="zh-CN"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0.04 g</a:t>
            </a:r>
            <a:r>
              <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，测量数据如下：</a:t>
            </a:r>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4" name="Group 6"/>
          <p:cNvGraphicFramePr/>
          <p:nvPr/>
        </p:nvGraphicFramePr>
        <p:xfrm>
          <a:off x="1731897" y="1126480"/>
          <a:ext cx="6279934" cy="469900"/>
        </p:xfrm>
        <a:graphic>
          <a:graphicData uri="http://schemas.openxmlformats.org/drawingml/2006/table">
            <a:tbl>
              <a:tblPr/>
              <a:tblGrid>
                <a:gridCol w="1167366"/>
                <a:gridCol w="1008112"/>
                <a:gridCol w="964489"/>
                <a:gridCol w="907719"/>
                <a:gridCol w="1152128"/>
                <a:gridCol w="1080120"/>
              </a:tblGrid>
              <a:tr h="469900">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/g</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14.01</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13.99</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14.00</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14.01</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685800" rtl="0" eaLnBrk="1" latinLnBrk="0" hangingPunct="1">
                        <a:defRPr sz="1350" kern="1200">
                          <a:solidFill>
                            <a:schemeClr val="tx1"/>
                          </a:solidFill>
                          <a:latin typeface="Arial" panose="020B0604020202020204"/>
                          <a:ea typeface="宋体" panose="02010600030101010101" pitchFamily="2" charset="-122"/>
                        </a:defRPr>
                      </a:lvl1pPr>
                      <a:lvl2pPr marL="342900" algn="l" defTabSz="685800" rtl="0" eaLnBrk="1" latinLnBrk="0" hangingPunct="1">
                        <a:defRPr sz="1350" kern="1200">
                          <a:solidFill>
                            <a:schemeClr val="tx1"/>
                          </a:solidFill>
                          <a:latin typeface="Arial" panose="020B0604020202020204"/>
                          <a:ea typeface="宋体" panose="02010600030101010101" pitchFamily="2" charset="-122"/>
                        </a:defRPr>
                      </a:lvl2pPr>
                      <a:lvl3pPr marL="685800" algn="l" defTabSz="685800" rtl="0" eaLnBrk="1" latinLnBrk="0" hangingPunct="1">
                        <a:defRPr sz="1350" kern="1200">
                          <a:solidFill>
                            <a:schemeClr val="tx1"/>
                          </a:solidFill>
                          <a:latin typeface="Arial" panose="020B0604020202020204"/>
                          <a:ea typeface="宋体" panose="02010600030101010101" pitchFamily="2" charset="-122"/>
                        </a:defRPr>
                      </a:lvl3pPr>
                      <a:lvl4pPr marL="1028700" algn="l" defTabSz="685800" rtl="0" eaLnBrk="1" latinLnBrk="0" hangingPunct="1">
                        <a:defRPr sz="1350" kern="1200">
                          <a:solidFill>
                            <a:schemeClr val="tx1"/>
                          </a:solidFill>
                          <a:latin typeface="Arial" panose="020B0604020202020204"/>
                          <a:ea typeface="宋体" panose="02010600030101010101" pitchFamily="2" charset="-122"/>
                        </a:defRPr>
                      </a:lvl4pPr>
                      <a:lvl5pPr marL="1371600" algn="l" defTabSz="685800" rtl="0" eaLnBrk="1" latinLnBrk="0" hangingPunct="1">
                        <a:defRPr sz="1350" kern="1200">
                          <a:solidFill>
                            <a:schemeClr val="tx1"/>
                          </a:solidFill>
                          <a:latin typeface="Arial" panose="020B0604020202020204"/>
                          <a:ea typeface="宋体" panose="02010600030101010101" pitchFamily="2" charset="-122"/>
                        </a:defRPr>
                      </a:lvl5pPr>
                      <a:lvl6pPr marL="1714500" algn="l" defTabSz="685800" rtl="0" eaLnBrk="1" latinLnBrk="0" hangingPunct="1">
                        <a:defRPr sz="1350" kern="1200">
                          <a:solidFill>
                            <a:schemeClr val="tx1"/>
                          </a:solidFill>
                          <a:latin typeface="Arial" panose="020B0604020202020204"/>
                          <a:ea typeface="宋体" panose="02010600030101010101" pitchFamily="2" charset="-122"/>
                        </a:defRPr>
                      </a:lvl6pPr>
                      <a:lvl7pPr marL="2057400" algn="l" defTabSz="685800" rtl="0" eaLnBrk="1" latinLnBrk="0" hangingPunct="1">
                        <a:defRPr sz="1350" kern="1200">
                          <a:solidFill>
                            <a:schemeClr val="tx1"/>
                          </a:solidFill>
                          <a:latin typeface="Arial" panose="020B0604020202020204"/>
                          <a:ea typeface="宋体" panose="02010600030101010101" pitchFamily="2" charset="-122"/>
                        </a:defRPr>
                      </a:lvl7pPr>
                      <a:lvl8pPr marL="2400300" algn="l" defTabSz="685800" rtl="0" eaLnBrk="1" latinLnBrk="0" hangingPunct="1">
                        <a:defRPr sz="1350" kern="1200">
                          <a:solidFill>
                            <a:schemeClr val="tx1"/>
                          </a:solidFill>
                          <a:latin typeface="Arial" panose="020B0604020202020204"/>
                          <a:ea typeface="宋体" panose="02010600030101010101" pitchFamily="2" charset="-122"/>
                        </a:defRPr>
                      </a:lvl8pPr>
                      <a:lvl9pPr marL="2743200" algn="l" defTabSz="685800" rtl="0" eaLnBrk="1" latinLnBrk="0" hangingPunct="1">
                        <a:defRPr sz="135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13.99</a:t>
                      </a:r>
                      <a:endParaRPr kumimoji="0"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33" name="文本框 32"/>
              <p:cNvSpPr txBox="1"/>
              <p:nvPr/>
            </p:nvSpPr>
            <p:spPr>
              <a:xfrm>
                <a:off x="3335955" y="1818836"/>
                <a:ext cx="2063770" cy="461665"/>
              </a:xfrm>
              <a:prstGeom prst="rect">
                <a:avLst/>
              </a:prstGeom>
              <a:noFill/>
            </p:spPr>
            <p:txBody>
              <a:bodyPr wrap="none" rtlCol="0">
                <a:spAutoFit/>
              </a:bodyPr>
              <a:lstStyle/>
              <a:p>
                <a:pPr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US" altLang="zh-CN" sz="2400" i="1" smtClean="0">
                          <a:solidFill>
                            <a:schemeClr val="bg1"/>
                          </a:solidFill>
                          <a:latin typeface="Cambria Math" panose="02040503050406030204" pitchFamily="18" charset="0"/>
                        </a:rPr>
                        <m:t>𝑚</m:t>
                      </m:r>
                      <m:r>
                        <a:rPr lang="en-US" altLang="zh-CN" sz="2400" i="1" smtClean="0">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𝑚</m:t>
                          </m:r>
                          <m:r>
                            <a:rPr lang="en-US" altLang="zh-CN" sz="2400" b="0" i="1" baseline="-25000" smtClean="0">
                              <a:solidFill>
                                <a:schemeClr val="bg1"/>
                              </a:solidFill>
                              <a:latin typeface="Cambria Math" panose="02040503050406030204" pitchFamily="18" charset="0"/>
                            </a:rPr>
                            <m:t>0</m:t>
                          </m:r>
                        </m:e>
                      </m:bar>
                      <m:r>
                        <a:rPr lang="en-US" altLang="zh-CN" sz="2400">
                          <a:solidFill>
                            <a:schemeClr val="bg1"/>
                          </a:solidFill>
                          <a:latin typeface="Cambria Math" panose="02040503050406030204" pitchFamily="18" charset="0"/>
                        </a:rPr>
                        <m:t>+</m:t>
                      </m:r>
                      <m:sSub>
                        <m:sSubPr>
                          <m:ctrlPr>
                            <a:rPr lang="en-US" altLang="zh-CN"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𝑚</m:t>
                          </m:r>
                        </m:e>
                        <m:sub>
                          <m:r>
                            <a:rPr lang="en-US" altLang="zh-CN" sz="2400" b="0" i="1" smtClean="0">
                              <a:solidFill>
                                <a:schemeClr val="bg1"/>
                              </a:solidFill>
                              <a:latin typeface="Cambria Math" panose="02040503050406030204" pitchFamily="18" charset="0"/>
                            </a:rPr>
                            <m:t>1</m:t>
                          </m:r>
                        </m:sub>
                      </m:sSub>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33" name="文本框 32"/>
              <p:cNvSpPr txBox="1">
                <a:spLocks noRot="1" noChangeAspect="1" noMove="1" noResize="1" noEditPoints="1" noAdjustHandles="1" noChangeArrowheads="1" noChangeShapeType="1" noTextEdit="1"/>
              </p:cNvSpPr>
              <p:nvPr/>
            </p:nvSpPr>
            <p:spPr>
              <a:xfrm>
                <a:off x="3335955" y="1818836"/>
                <a:ext cx="2063770" cy="461665"/>
              </a:xfrm>
              <a:prstGeom prst="rect">
                <a:avLst/>
              </a:prstGeom>
              <a:blipFill rotWithShape="1">
                <a:blip r:embed="rId1"/>
                <a:stretch>
                  <a:fillRect l="-15" t="-42" r="16" b="-22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Object 29"/>
              <p:cNvSpPr txBox="1"/>
              <p:nvPr/>
            </p:nvSpPr>
            <p:spPr bwMode="auto">
              <a:xfrm>
                <a:off x="1531828" y="2742481"/>
                <a:ext cx="2486025" cy="457200"/>
              </a:xfrm>
              <a:prstGeom prst="rect">
                <a:avLst/>
              </a:prstGeom>
              <a:noFill/>
              <a:ln>
                <a:noFill/>
              </a:ln>
            </p:spPr>
            <p:txBody>
              <a:bodyPr>
                <a:normAutofit/>
              </a:bodyPr>
              <a:lstStyle/>
              <a:p>
                <a14:m>
                  <m:oMathPara xmlns:m="http://schemas.openxmlformats.org/officeDocument/2006/math">
                    <m:oMathParaPr>
                      <m:jc m:val="left"/>
                    </m:oMathParaPr>
                    <m:oMath xmlns:m="http://schemas.openxmlformats.org/officeDocument/2006/math">
                      <m:bar>
                        <m:barPr>
                          <m:pos m:val="top"/>
                          <m:ctrlPr>
                            <a:rPr lang="zh-CN" altLang="en-US" sz="2400" i="1" smtClean="0">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𝑚</m:t>
                          </m:r>
                          <m:r>
                            <a:rPr lang="en-US" altLang="zh-CN" sz="2400" b="0" i="1" baseline="-25000" smtClean="0">
                              <a:solidFill>
                                <a:schemeClr val="bg1"/>
                              </a:solidFill>
                              <a:latin typeface="Cambria Math" panose="02040503050406030204" pitchFamily="18" charset="0"/>
                            </a:rPr>
                            <m:t>0</m:t>
                          </m:r>
                        </m:e>
                      </m:bar>
                      <m:r>
                        <a:rPr lang="zh-CN" altLang="en-US"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14</m:t>
                      </m:r>
                      <m:r>
                        <a:rPr lang="zh-CN" altLang="en-US"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g</m:t>
                      </m:r>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34" name="Object 29"/>
              <p:cNvSpPr txBox="1">
                <a:spLocks noRot="1" noChangeAspect="1" noMove="1" noResize="1" noEditPoints="1" noAdjustHandles="1" noChangeArrowheads="1" noChangeShapeType="1" noTextEdit="1"/>
              </p:cNvSpPr>
              <p:nvPr/>
            </p:nvSpPr>
            <p:spPr bwMode="auto">
              <a:xfrm>
                <a:off x="1531828" y="2742481"/>
                <a:ext cx="2486025" cy="457200"/>
              </a:xfrm>
              <a:prstGeom prst="rect">
                <a:avLst/>
              </a:prstGeom>
              <a:blipFill rotWithShape="1">
                <a:blip r:embed="rId2"/>
                <a:stretch>
                  <a:fillRect l="-8" t="-121" r="8" b="-3213"/>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Object 30"/>
              <p:cNvSpPr txBox="1"/>
              <p:nvPr/>
            </p:nvSpPr>
            <p:spPr bwMode="auto">
              <a:xfrm>
                <a:off x="4689570" y="2549688"/>
                <a:ext cx="5970602" cy="83820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en-US" altLang="zh-CN" sz="2400" b="0" i="1" smtClean="0">
                          <a:solidFill>
                            <a:schemeClr val="bg1"/>
                          </a:solidFill>
                          <a:latin typeface="Cambria Math" panose="02040503050406030204" pitchFamily="18" charset="0"/>
                        </a:rPr>
                        <m:t>𝑢</m:t>
                      </m:r>
                      <m:r>
                        <a:rPr lang="en-US" altLang="zh-CN" sz="2400" b="0" i="1" baseline="-25000" smtClean="0">
                          <a:solidFill>
                            <a:schemeClr val="bg1"/>
                          </a:solidFill>
                          <a:latin typeface="Cambria Math" panose="02040503050406030204" pitchFamily="18" charset="0"/>
                        </a:rPr>
                        <m:t>𝐴</m:t>
                      </m:r>
                      <m:r>
                        <a:rPr lang="en-US" altLang="zh-CN" sz="2400" b="0" i="1" smtClean="0">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𝑚</m:t>
                          </m:r>
                          <m:r>
                            <a:rPr lang="en-US" altLang="zh-CN" sz="2400" i="1" baseline="-25000">
                              <a:solidFill>
                                <a:schemeClr val="bg1"/>
                              </a:solidFill>
                              <a:latin typeface="Cambria Math" panose="02040503050406030204" pitchFamily="18" charset="0"/>
                            </a:rPr>
                            <m:t>0</m:t>
                          </m:r>
                        </m:e>
                      </m:bar>
                      <m:r>
                        <a:rPr lang="en-US" altLang="zh-CN" sz="2400" b="0" i="1" smtClean="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f>
                            <m:fPr>
                              <m:ctrlPr>
                                <a:rPr lang="zh-CN" altLang="en-US" sz="2400" i="1">
                                  <a:solidFill>
                                    <a:schemeClr val="bg1"/>
                                  </a:solidFill>
                                  <a:latin typeface="Cambria Math" panose="02040503050406030204" pitchFamily="18" charset="0"/>
                                </a:rPr>
                              </m:ctrlPr>
                            </m:fPr>
                            <m:num>
                              <m:nary>
                                <m:naryPr>
                                  <m:chr m:val="∑"/>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𝑖</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sub>
                                <m:sup>
                                  <m:r>
                                    <a:rPr lang="zh-CN" altLang="en-US" sz="2400" i="1">
                                      <a:solidFill>
                                        <a:schemeClr val="bg1"/>
                                      </a:solidFill>
                                      <a:latin typeface="Cambria Math" panose="02040503050406030204" pitchFamily="18" charset="0"/>
                                    </a:rPr>
                                    <m:t>𝑛</m:t>
                                  </m:r>
                                </m:sup>
                                <m:e>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𝑚</m:t>
                                      </m:r>
                                    </m:e>
                                    <m:sub>
                                      <m:r>
                                        <a:rPr lang="zh-CN" altLang="en-US" sz="2400" i="1">
                                          <a:solidFill>
                                            <a:schemeClr val="bg1"/>
                                          </a:solidFill>
                                          <a:latin typeface="Cambria Math" panose="02040503050406030204" pitchFamily="18" charset="0"/>
                                        </a:rPr>
                                        <m:t>𝑖</m:t>
                                      </m:r>
                                    </m:sub>
                                  </m:sSub>
                                  <m:r>
                                    <a:rPr lang="zh-CN" altLang="en-US" sz="2400" i="1">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𝑚</m:t>
                                      </m:r>
                                    </m:e>
                                  </m:ba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m:t>
                                      </m:r>
                                    </m:e>
                                    <m:sup>
                                      <m:r>
                                        <a:rPr lang="zh-CN" altLang="en-US" sz="2400" i="1">
                                          <a:solidFill>
                                            <a:schemeClr val="bg1"/>
                                          </a:solidFill>
                                          <a:latin typeface="Cambria Math" panose="02040503050406030204" pitchFamily="18" charset="0"/>
                                        </a:rPr>
                                        <m:t>2</m:t>
                                      </m:r>
                                    </m:sup>
                                  </m:sSup>
                                </m:e>
                              </m:nary>
                            </m:num>
                            <m:den>
                              <m:r>
                                <a:rPr lang="zh-CN" altLang="en-US" sz="2400" i="1">
                                  <a:solidFill>
                                    <a:schemeClr val="bg1"/>
                                  </a:solidFill>
                                  <a:latin typeface="Cambria Math" panose="02040503050406030204" pitchFamily="18" charset="0"/>
                                </a:rPr>
                                <m:t>𝑛</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𝑛</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r>
                                <a:rPr lang="zh-CN" altLang="en-US" sz="2400" i="1">
                                  <a:solidFill>
                                    <a:schemeClr val="bg1"/>
                                  </a:solidFill>
                                  <a:latin typeface="Cambria Math" panose="02040503050406030204" pitchFamily="18" charset="0"/>
                                </a:rPr>
                                <m:t>)</m:t>
                              </m:r>
                            </m:den>
                          </m:f>
                        </m:e>
                      </m:rad>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i="1">
                          <a:solidFill>
                            <a:schemeClr val="bg1"/>
                          </a:solidFill>
                          <a:latin typeface="Cambria Math" panose="02040503050406030204" pitchFamily="18" charset="0"/>
                        </a:rPr>
                        <m:t>4</m:t>
                      </m:r>
                      <m:r>
                        <a:rPr lang="en-US" altLang="zh-CN" sz="2400" b="0" i="1" smtClean="0">
                          <a:solidFill>
                            <a:schemeClr val="bg1"/>
                          </a:solidFill>
                          <a:latin typeface="Cambria Math" panose="02040503050406030204" pitchFamily="18" charset="0"/>
                        </a:rPr>
                        <m:t>5</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g</m:t>
                      </m:r>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35" name="Object 30"/>
              <p:cNvSpPr txBox="1">
                <a:spLocks noRot="1" noChangeAspect="1" noMove="1" noResize="1" noEditPoints="1" noAdjustHandles="1" noChangeArrowheads="1" noChangeShapeType="1" noTextEdit="1"/>
              </p:cNvSpPr>
              <p:nvPr/>
            </p:nvSpPr>
            <p:spPr bwMode="auto">
              <a:xfrm>
                <a:off x="4689570" y="2549688"/>
                <a:ext cx="5970602" cy="838200"/>
              </a:xfrm>
              <a:prstGeom prst="rect">
                <a:avLst/>
              </a:prstGeom>
              <a:blipFill rotWithShape="1">
                <a:blip r:embed="rId3"/>
                <a:stretch>
                  <a:fillRect l="-2" t="-19" r="7" b="-40965"/>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Object 42"/>
              <p:cNvSpPr txBox="1"/>
              <p:nvPr/>
            </p:nvSpPr>
            <p:spPr bwMode="auto">
              <a:xfrm>
                <a:off x="4871864" y="3872274"/>
                <a:ext cx="5256584" cy="78740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en-US" altLang="zh-CN" sz="2400" b="0" i="1" smtClean="0">
                          <a:solidFill>
                            <a:schemeClr val="bg1"/>
                          </a:solidFill>
                          <a:latin typeface="Cambria Math" panose="02040503050406030204" pitchFamily="18" charset="0"/>
                        </a:rPr>
                        <m:t>𝑢</m:t>
                      </m:r>
                      <m:r>
                        <m:rPr>
                          <m:sty m:val="p"/>
                        </m:rPr>
                        <a:rPr lang="en-US" altLang="zh-CN" sz="2400" b="0" i="0" baseline="-25000" smtClean="0">
                          <a:solidFill>
                            <a:schemeClr val="bg1"/>
                          </a:solidFill>
                          <a:latin typeface="Cambria Math" panose="02040503050406030204" pitchFamily="18" charset="0"/>
                        </a:rPr>
                        <m:t>B</m:t>
                      </m:r>
                      <m:r>
                        <a:rPr lang="en-US" altLang="zh-CN" sz="2400" b="0" i="1" smtClean="0">
                          <a:solidFill>
                            <a:schemeClr val="bg1"/>
                          </a:solidFill>
                          <a:latin typeface="Cambria Math" panose="02040503050406030204" pitchFamily="18" charset="0"/>
                        </a:rPr>
                        <m:t>(</m:t>
                      </m:r>
                      <m:r>
                        <a:rPr lang="en-US" altLang="zh-CN" sz="2400" b="0" i="1" smtClean="0">
                          <a:solidFill>
                            <a:schemeClr val="bg1"/>
                          </a:solidFill>
                          <a:latin typeface="Cambria Math" panose="02040503050406030204" pitchFamily="18" charset="0"/>
                        </a:rPr>
                        <m:t>𝑚</m:t>
                      </m:r>
                      <m:r>
                        <a:rPr lang="en-US" altLang="zh-CN" sz="2400" b="0" i="1" baseline="-25000" smtClean="0">
                          <a:solidFill>
                            <a:schemeClr val="bg1"/>
                          </a:solidFill>
                          <a:latin typeface="Cambria Math" panose="02040503050406030204" pitchFamily="18" charset="0"/>
                        </a:rPr>
                        <m:t>1</m:t>
                      </m:r>
                      <m:r>
                        <a:rPr lang="en-US" altLang="zh-CN" sz="2400" b="0" i="1" smtClean="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sSub>
                            <m:sSubPr>
                              <m:ctrlPr>
                                <a:rPr lang="zh-CN" altLang="en-US" sz="2400" i="1">
                                  <a:solidFill>
                                    <a:schemeClr val="bg1"/>
                                  </a:solidFill>
                                  <a:latin typeface="Cambria Math" panose="02040503050406030204" pitchFamily="18" charset="0"/>
                                </a:rPr>
                              </m:ctrlPr>
                            </m:sSubPr>
                            <m:e>
                              <m:r>
                                <m:rPr>
                                  <m:sty m:val="p"/>
                                </m:rPr>
                                <a:rPr lang="zh-CN" altLang="en-US" sz="2400" i="1">
                                  <a:solidFill>
                                    <a:schemeClr val="bg1"/>
                                  </a:solidFill>
                                  <a:latin typeface="Cambria Math" panose="02040503050406030204" pitchFamily="18" charset="0"/>
                                </a:rPr>
                                <m:t>Δ</m:t>
                              </m:r>
                            </m:e>
                            <m:sub>
                              <m:r>
                                <a:rPr lang="zh-CN" altLang="en-US" sz="2400" i="1">
                                  <a:solidFill>
                                    <a:schemeClr val="bg1"/>
                                  </a:solidFill>
                                  <a:latin typeface="Cambria Math" panose="02040503050406030204" pitchFamily="18" charset="0"/>
                                </a:rPr>
                                <m:t>仪</m:t>
                              </m:r>
                            </m:sub>
                          </m:sSub>
                        </m:num>
                        <m:den>
                          <m:r>
                            <a:rPr lang="zh-CN" altLang="en-US" sz="2400" i="1">
                              <a:solidFill>
                                <a:schemeClr val="bg1"/>
                              </a:solidFill>
                              <a:latin typeface="Cambria Math" panose="02040503050406030204" pitchFamily="18" charset="0"/>
                            </a:rPr>
                            <m:t>𝐶</m:t>
                          </m:r>
                        </m:den>
                      </m:f>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4</m:t>
                          </m:r>
                        </m:num>
                        <m:den>
                          <m:rad>
                            <m:radPr>
                              <m:degHide m:val="on"/>
                              <m:ctrlPr>
                                <a:rPr lang="zh-CN" altLang="en-US" sz="2400" i="1">
                                  <a:solidFill>
                                    <a:schemeClr val="bg1"/>
                                  </a:solidFill>
                                  <a:latin typeface="Cambria Math" panose="02040503050406030204" pitchFamily="18" charset="0"/>
                                </a:rPr>
                              </m:ctrlPr>
                            </m:radPr>
                            <m:deg/>
                            <m:e>
                              <m:r>
                                <a:rPr lang="en-US" altLang="zh-CN" sz="2400" i="1">
                                  <a:solidFill>
                                    <a:schemeClr val="bg1"/>
                                  </a:solidFill>
                                  <a:latin typeface="Cambria Math" panose="02040503050406030204" pitchFamily="18" charset="0"/>
                                </a:rPr>
                                <m:t>3</m:t>
                              </m:r>
                            </m:e>
                          </m:rad>
                        </m:den>
                      </m:f>
                      <m:r>
                        <a:rPr lang="zh-CN" altLang="en-US" sz="2400" i="1">
                          <a:solidFill>
                            <a:schemeClr val="bg1"/>
                          </a:solidFill>
                          <a:latin typeface="Cambria Math" panose="02040503050406030204" pitchFamily="18" charset="0"/>
                        </a:rPr>
                        <m:t>=</m:t>
                      </m:r>
                      <m:r>
                        <a:rPr lang="en-US" altLang="zh-CN" sz="2400" b="0" i="1" smtClean="0">
                          <a:solidFill>
                            <a:schemeClr val="bg1"/>
                          </a:solidFill>
                          <a:latin typeface="Cambria Math" panose="02040503050406030204" pitchFamily="18" charset="0"/>
                        </a:rPr>
                        <m:t>0</m:t>
                      </m:r>
                      <m:r>
                        <a:rPr lang="en-US" altLang="zh-CN" sz="2400" b="0" i="1" smtClean="0">
                          <a:solidFill>
                            <a:schemeClr val="bg1"/>
                          </a:solidFill>
                          <a:latin typeface="Cambria Math" panose="02040503050406030204" pitchFamily="18" charset="0"/>
                        </a:rPr>
                        <m:t>.</m:t>
                      </m:r>
                      <m:r>
                        <a:rPr lang="en-US" altLang="zh-CN" sz="2400" b="0" i="1" smtClean="0">
                          <a:solidFill>
                            <a:schemeClr val="bg1"/>
                          </a:solidFill>
                          <a:latin typeface="Cambria Math" panose="02040503050406030204" pitchFamily="18" charset="0"/>
                        </a:rPr>
                        <m:t>023</m:t>
                      </m:r>
                      <m:r>
                        <m:rPr>
                          <m:sty m:val="p"/>
                        </m:rPr>
                        <a:rPr lang="en-US" altLang="zh-CN" sz="2400">
                          <a:solidFill>
                            <a:schemeClr val="bg1"/>
                          </a:solidFill>
                          <a:latin typeface="Cambria Math" panose="02040503050406030204" pitchFamily="18" charset="0"/>
                        </a:rPr>
                        <m:t>g</m:t>
                      </m:r>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36" name="Object 42"/>
              <p:cNvSpPr txBox="1">
                <a:spLocks noRot="1" noChangeAspect="1" noMove="1" noResize="1" noEditPoints="1" noAdjustHandles="1" noChangeArrowheads="1" noChangeShapeType="1" noTextEdit="1"/>
              </p:cNvSpPr>
              <p:nvPr/>
            </p:nvSpPr>
            <p:spPr bwMode="auto">
              <a:xfrm>
                <a:off x="4871864" y="3872274"/>
                <a:ext cx="5256584" cy="787400"/>
              </a:xfrm>
              <a:prstGeom prst="rect">
                <a:avLst/>
              </a:prstGeom>
              <a:blipFill rotWithShape="1">
                <a:blip r:embed="rId4"/>
                <a:stretch>
                  <a:fillRect l="-3" t="-6" r="4" b="-8704"/>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Object 29"/>
              <p:cNvSpPr txBox="1"/>
              <p:nvPr/>
            </p:nvSpPr>
            <p:spPr bwMode="auto">
              <a:xfrm>
                <a:off x="1582939" y="3915564"/>
                <a:ext cx="2486025" cy="457200"/>
              </a:xfrm>
              <a:prstGeom prst="rect">
                <a:avLst/>
              </a:prstGeom>
              <a:noFill/>
              <a:ln>
                <a:noFill/>
              </a:ln>
            </p:spPr>
            <p:txBody>
              <a:bodyPr>
                <a:normAutofit/>
              </a:bodyPr>
              <a:lstStyle/>
              <a:p>
                <a14:m>
                  <m:oMathPara xmlns:m="http://schemas.openxmlformats.org/officeDocument/2006/math">
                    <m:oMathParaPr>
                      <m:jc m:val="left"/>
                    </m:oMathParaPr>
                    <m:oMath xmlns:m="http://schemas.openxmlformats.org/officeDocument/2006/math">
                      <m:sSub>
                        <m:sSubPr>
                          <m:ctrlPr>
                            <a:rPr lang="en-US" altLang="zh-CN" sz="2400" i="1" smtClean="0">
                              <a:solidFill>
                                <a:schemeClr val="bg1"/>
                              </a:solidFill>
                              <a:latin typeface="Cambria Math" panose="02040503050406030204" pitchFamily="18" charset="0"/>
                            </a:rPr>
                          </m:ctrlPr>
                        </m:sSubPr>
                        <m:e>
                          <m:r>
                            <a:rPr lang="en-US" altLang="zh-CN" sz="2400" i="1">
                              <a:solidFill>
                                <a:schemeClr val="bg1"/>
                              </a:solidFill>
                              <a:latin typeface="Cambria Math" panose="02040503050406030204" pitchFamily="18" charset="0"/>
                            </a:rPr>
                            <m:t>𝑚</m:t>
                          </m:r>
                        </m:e>
                        <m:sub>
                          <m:r>
                            <a:rPr lang="en-US" altLang="zh-CN" sz="2400" b="0" i="1" smtClean="0">
                              <a:solidFill>
                                <a:schemeClr val="bg1"/>
                              </a:solidFill>
                              <a:latin typeface="Cambria Math" panose="02040503050406030204" pitchFamily="18" charset="0"/>
                            </a:rPr>
                            <m:t>1</m:t>
                          </m:r>
                        </m:sub>
                      </m:sSub>
                      <m:r>
                        <a:rPr lang="zh-CN" altLang="en-US"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g</m:t>
                      </m:r>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37" name="Object 29"/>
              <p:cNvSpPr txBox="1">
                <a:spLocks noRot="1" noChangeAspect="1" noMove="1" noResize="1" noEditPoints="1" noAdjustHandles="1" noChangeArrowheads="1" noChangeShapeType="1" noTextEdit="1"/>
              </p:cNvSpPr>
              <p:nvPr/>
            </p:nvSpPr>
            <p:spPr bwMode="auto">
              <a:xfrm>
                <a:off x="1582939" y="3915564"/>
                <a:ext cx="2486025" cy="457200"/>
              </a:xfrm>
              <a:prstGeom prst="rect">
                <a:avLst/>
              </a:prstGeom>
              <a:blipFill rotWithShape="1">
                <a:blip r:embed="rId5"/>
                <a:stretch>
                  <a:fillRect l="-21" t="-34" r="21" b="34"/>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Object 43"/>
              <p:cNvSpPr txBox="1"/>
              <p:nvPr/>
            </p:nvSpPr>
            <p:spPr bwMode="auto">
              <a:xfrm>
                <a:off x="1528952" y="4805269"/>
                <a:ext cx="4855080" cy="1857375"/>
              </a:xfrm>
              <a:prstGeom prst="rect">
                <a:avLst/>
              </a:prstGeom>
              <a:noFill/>
              <a:ln>
                <a:noFill/>
              </a:ln>
            </p:spPr>
            <p:txBody>
              <a:bodyPr>
                <a:noAutofit/>
              </a:bodyPr>
              <a:lstStyle/>
              <a:p>
                <a:pPr>
                  <a:lnSpc>
                    <a:spcPct val="120000"/>
                  </a:lnSpc>
                </a:pPr>
                <a:r>
                  <a:rPr lang="en-US" altLang="zh-CN" sz="2400" i="1" dirty="0">
                    <a:solidFill>
                      <a:schemeClr val="bg1"/>
                    </a:solidFill>
                    <a:latin typeface="Times New Roman" panose="02020603050405020304" pitchFamily="18" charset="0"/>
                    <a:cs typeface="Times New Roman" panose="02020603050405020304" pitchFamily="18" charset="0"/>
                  </a:rPr>
                  <a:t>u</a:t>
                </a:r>
                <a:r>
                  <a:rPr lang="en-US" altLang="zh-CN" sz="2400" dirty="0">
                    <a:solidFill>
                      <a:schemeClr val="bg1"/>
                    </a:solidFill>
                    <a:latin typeface="Times New Roman" panose="02020603050405020304" pitchFamily="18" charset="0"/>
                    <a:cs typeface="Times New Roman" panose="02020603050405020304" pitchFamily="18" charset="0"/>
                  </a:rPr>
                  <a:t>(m)</a:t>
                </a:r>
                <a14:m>
                  <m:oMath xmlns:m="http://schemas.openxmlformats.org/officeDocument/2006/math">
                    <m:r>
                      <a:rPr lang="zh-CN" altLang="en-US" sz="2400" i="1">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sSup>
                          <m:sSupPr>
                            <m:ctrlPr>
                              <a:rPr lang="zh-CN" altLang="en-US" sz="2400" i="1">
                                <a:solidFill>
                                  <a:schemeClr val="bg1"/>
                                </a:solidFill>
                                <a:latin typeface="Cambria Math" panose="02040503050406030204" pitchFamily="18" charset="0"/>
                              </a:rPr>
                            </m:ctrlPr>
                          </m:sSupPr>
                          <m:e>
                            <m:d>
                              <m:dPr>
                                <m:ctrlPr>
                                  <a:rPr lang="zh-CN" altLang="en-US" sz="2400" i="1">
                                    <a:solidFill>
                                      <a:schemeClr val="bg1"/>
                                    </a:solidFill>
                                    <a:latin typeface="Cambria Math" panose="02040503050406030204" pitchFamily="18" charset="0"/>
                                  </a:rPr>
                                </m:ctrlPr>
                              </m:dPr>
                              <m:e>
                                <m:r>
                                  <a:rPr lang="en-US" altLang="zh-CN" sz="2400" i="1">
                                    <a:solidFill>
                                      <a:schemeClr val="bg1"/>
                                    </a:solidFill>
                                    <a:latin typeface="Cambria Math" panose="02040503050406030204" pitchFamily="18" charset="0"/>
                                  </a:rPr>
                                  <m:t>𝑢</m:t>
                                </m:r>
                                <m:r>
                                  <a:rPr lang="en-US" altLang="zh-CN" sz="2400" i="1" baseline="-25000">
                                    <a:solidFill>
                                      <a:schemeClr val="bg1"/>
                                    </a:solidFill>
                                    <a:latin typeface="Cambria Math" panose="02040503050406030204" pitchFamily="18" charset="0"/>
                                  </a:rPr>
                                  <m:t>𝐴</m:t>
                                </m:r>
                                <m:r>
                                  <a:rPr lang="en-US" altLang="zh-CN" sz="2400" i="1">
                                    <a:solidFill>
                                      <a:schemeClr val="bg1"/>
                                    </a:solidFill>
                                    <a:latin typeface="Cambria Math" panose="02040503050406030204" pitchFamily="18" charset="0"/>
                                  </a:rPr>
                                  <m:t>(</m:t>
                                </m:r>
                                <m:bar>
                                  <m:barPr>
                                    <m:pos m:val="top"/>
                                    <m:ctrlPr>
                                      <a:rPr lang="zh-CN" altLang="en-US" sz="2400" i="1">
                                        <a:solidFill>
                                          <a:schemeClr val="bg1"/>
                                        </a:solidFill>
                                        <a:latin typeface="Cambria Math" panose="02040503050406030204" pitchFamily="18" charset="0"/>
                                      </a:rPr>
                                    </m:ctrlPr>
                                  </m:barPr>
                                  <m:e>
                                    <m:r>
                                      <a:rPr lang="en-US" altLang="zh-CN" sz="2400" i="1">
                                        <a:solidFill>
                                          <a:schemeClr val="bg1"/>
                                        </a:solidFill>
                                        <a:latin typeface="Cambria Math" panose="02040503050406030204" pitchFamily="18" charset="0"/>
                                      </a:rPr>
                                      <m:t>𝑚</m:t>
                                    </m:r>
                                    <m:r>
                                      <a:rPr lang="en-US" altLang="zh-CN" sz="2400" i="1" baseline="-25000">
                                        <a:solidFill>
                                          <a:schemeClr val="bg1"/>
                                        </a:solidFill>
                                        <a:latin typeface="Cambria Math" panose="02040503050406030204" pitchFamily="18" charset="0"/>
                                      </a:rPr>
                                      <m:t>0</m:t>
                                    </m:r>
                                  </m:e>
                                </m:bar>
                                <m:r>
                                  <a:rPr lang="en-US" altLang="zh-CN" sz="2400" i="1">
                                    <a:solidFill>
                                      <a:schemeClr val="bg1"/>
                                    </a:solidFill>
                                    <a:latin typeface="Cambria Math" panose="02040503050406030204" pitchFamily="18" charset="0"/>
                                  </a:rPr>
                                  <m:t>)</m:t>
                                </m:r>
                              </m:e>
                            </m:d>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sSup>
                          <m:sSupPr>
                            <m:ctrlPr>
                              <a:rPr lang="zh-CN" altLang="en-US" sz="2400" i="1">
                                <a:solidFill>
                                  <a:schemeClr val="bg1"/>
                                </a:solidFill>
                                <a:latin typeface="Cambria Math" panose="02040503050406030204" pitchFamily="18" charset="0"/>
                              </a:rPr>
                            </m:ctrlPr>
                          </m:sSupPr>
                          <m:e>
                            <m:r>
                              <a:rPr lang="en-US" altLang="zh-CN" sz="2400" b="0" i="1" smtClean="0">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𝑢</m:t>
                            </m:r>
                            <m:r>
                              <m:rPr>
                                <m:sty m:val="p"/>
                              </m:rPr>
                              <a:rPr lang="en-US" altLang="zh-CN" sz="2400" baseline="-25000">
                                <a:solidFill>
                                  <a:schemeClr val="bg1"/>
                                </a:solidFill>
                                <a:latin typeface="Cambria Math" panose="02040503050406030204" pitchFamily="18" charset="0"/>
                              </a:rPr>
                              <m:t>B</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𝑚</m:t>
                            </m:r>
                            <m:r>
                              <a:rPr lang="en-US" altLang="zh-CN" sz="2400" i="1" baseline="-25000">
                                <a:solidFill>
                                  <a:schemeClr val="bg1"/>
                                </a:solidFill>
                                <a:latin typeface="Cambria Math" panose="02040503050406030204" pitchFamily="18" charset="0"/>
                              </a:rPr>
                              <m:t>1</m:t>
                            </m:r>
                            <m:r>
                              <a:rPr lang="en-US" altLang="zh-CN" sz="2400" i="1">
                                <a:solidFill>
                                  <a:schemeClr val="bg1"/>
                                </a:solidFill>
                                <a:latin typeface="Cambria Math" panose="02040503050406030204" pitchFamily="18" charset="0"/>
                              </a:rPr>
                              <m:t>))</m:t>
                            </m:r>
                          </m:e>
                          <m:sup>
                            <m:r>
                              <a:rPr lang="zh-CN" altLang="en-US" sz="2400" i="1">
                                <a:solidFill>
                                  <a:schemeClr val="bg1"/>
                                </a:solidFill>
                                <a:latin typeface="Cambria Math" panose="02040503050406030204" pitchFamily="18" charset="0"/>
                              </a:rPr>
                              <m:t>2</m:t>
                            </m:r>
                          </m:sup>
                        </m:sSup>
                      </m:e>
                    </m:rad>
                  </m:oMath>
                </a14:m>
                <a:br>
                  <a:rPr lang="zh-CN" altLang="en-US" sz="2400" i="1" dirty="0">
                    <a:solidFill>
                      <a:schemeClr val="bg1"/>
                    </a:solidFill>
                    <a:latin typeface="Cambria Math" panose="02040503050406030204" pitchFamily="18" charset="0"/>
                  </a:rPr>
                </a:br>
                <a14:m>
                  <m:oMathPara xmlns:m="http://schemas.openxmlformats.org/officeDocument/2006/math">
                    <m:oMathParaPr>
                      <m:jc m:val="left"/>
                    </m:oMathParaPr>
                    <m:oMath xmlns:m="http://schemas.openxmlformats.org/officeDocument/2006/math">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r>
                        <a:rPr lang="zh-CN" altLang="en-US" sz="2400" i="1">
                          <a:solidFill>
                            <a:schemeClr val="bg1"/>
                          </a:solidFill>
                          <a:latin typeface="Cambria Math" panose="02040503050406030204" pitchFamily="18" charset="0"/>
                        </a:rPr>
                        <m:t>=</m:t>
                      </m:r>
                      <m:rad>
                        <m:radPr>
                          <m:degHide m:val="on"/>
                          <m:ctrlPr>
                            <a:rPr lang="zh-CN" altLang="en-US" sz="2400" i="1">
                              <a:solidFill>
                                <a:schemeClr val="bg1"/>
                              </a:solidFill>
                              <a:latin typeface="Cambria Math" panose="02040503050406030204" pitchFamily="18" charset="0"/>
                            </a:rPr>
                          </m:ctrlPr>
                        </m:radPr>
                        <m:deg/>
                        <m:e>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0</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004</m:t>
                              </m:r>
                              <m:r>
                                <a:rPr lang="en-US" altLang="zh-CN" sz="2400" b="0" i="1" smtClean="0">
                                  <a:solidFill>
                                    <a:schemeClr val="bg1"/>
                                  </a:solidFill>
                                  <a:latin typeface="Cambria Math" panose="02040503050406030204" pitchFamily="18" charset="0"/>
                                </a:rPr>
                                <m:t>5</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en-US" altLang="zh-CN" sz="2400" b="0" i="1" smtClean="0">
                                  <a:solidFill>
                                    <a:schemeClr val="bg1"/>
                                  </a:solidFill>
                                  <a:latin typeface="Cambria Math" panose="02040503050406030204" pitchFamily="18" charset="0"/>
                                </a:rPr>
                                <m:t>2</m:t>
                              </m:r>
                              <m:r>
                                <a:rPr lang="en-US" altLang="zh-CN" sz="2400" i="1">
                                  <a:solidFill>
                                    <a:schemeClr val="bg1"/>
                                  </a:solidFill>
                                  <a:latin typeface="Cambria Math" panose="02040503050406030204" pitchFamily="18" charset="0"/>
                                </a:rPr>
                                <m:t>3</m:t>
                              </m:r>
                            </m:e>
                            <m:sup>
                              <m:r>
                                <a:rPr lang="zh-CN" altLang="en-US" sz="2400" i="1">
                                  <a:solidFill>
                                    <a:schemeClr val="bg1"/>
                                  </a:solidFill>
                                  <a:latin typeface="Cambria Math" panose="02040503050406030204" pitchFamily="18" charset="0"/>
                                </a:rPr>
                                <m:t>2</m:t>
                              </m:r>
                            </m:sup>
                          </m:sSup>
                        </m:e>
                      </m:rad>
                    </m:oMath>
                    <m:oMath xmlns:m="http://schemas.openxmlformats.org/officeDocument/2006/math">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m>
                        <m:mPr>
                          <m:mcs>
                            <m:mc>
                              <m:mcPr>
                                <m:count m:val="1"/>
                                <m:mcJc m:val="center"/>
                              </m:mcPr>
                            </m:mc>
                          </m:mcs>
                          <m:plcHide m:val="on"/>
                          <m:ctrlPr>
                            <a:rPr lang="zh-CN" altLang="en-US" sz="2400" i="1">
                              <a:solidFill>
                                <a:schemeClr val="bg1"/>
                              </a:solidFill>
                              <a:latin typeface="Cambria Math" panose="02040503050406030204" pitchFamily="18" charset="0"/>
                            </a:rPr>
                          </m:ctrlPr>
                        </m:mPr>
                        <m:mr>
                          <m:e/>
                        </m:mr>
                      </m:m>
                      <m:r>
                        <m:rPr>
                          <m:nor/>
                        </m:rPr>
                        <a:rPr lang="zh-CN" altLang="en-US" sz="24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m:t>= </m:t>
                      </m:r>
                      <m:r>
                        <a:rPr lang="zh-CN" altLang="en-US" sz="2400" i="1">
                          <a:solidFill>
                            <a:schemeClr val="bg1"/>
                          </a:solidFill>
                          <a:latin typeface="Cambria Math" panose="02040503050406030204" pitchFamily="18" charset="0"/>
                        </a:rPr>
                        <m:t>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en-US" altLang="zh-CN" sz="2400" b="0" i="1" smtClean="0">
                          <a:solidFill>
                            <a:schemeClr val="bg1"/>
                          </a:solidFill>
                          <a:latin typeface="Cambria Math" panose="02040503050406030204" pitchFamily="18" charset="0"/>
                        </a:rPr>
                        <m:t>23</m:t>
                      </m:r>
                      <m:r>
                        <a:rPr lang="en-US" altLang="zh-CN" sz="2400" i="1">
                          <a:solidFill>
                            <a:schemeClr val="bg1"/>
                          </a:solidFill>
                          <a:latin typeface="Cambria Math" panose="02040503050406030204" pitchFamily="18" charset="0"/>
                        </a:rPr>
                        <m:t> </m:t>
                      </m:r>
                      <m:r>
                        <m:rPr>
                          <m:sty m:val="p"/>
                        </m:rPr>
                        <a:rPr lang="en-US" altLang="zh-CN" sz="2400">
                          <a:solidFill>
                            <a:schemeClr val="bg1"/>
                          </a:solidFill>
                          <a:latin typeface="Cambria Math" panose="02040503050406030204" pitchFamily="18" charset="0"/>
                        </a:rPr>
                        <m:t>g</m:t>
                      </m:r>
                    </m:oMath>
                  </m:oMathPara>
                </a14:m>
                <a:endParaRPr lang="zh-CN" altLang="en-US" sz="2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38" name="Object 43"/>
              <p:cNvSpPr txBox="1">
                <a:spLocks noRot="1" noChangeAspect="1" noMove="1" noResize="1" noEditPoints="1" noAdjustHandles="1" noChangeArrowheads="1" noChangeShapeType="1" noTextEdit="1"/>
              </p:cNvSpPr>
              <p:nvPr/>
            </p:nvSpPr>
            <p:spPr bwMode="auto">
              <a:xfrm>
                <a:off x="1528952" y="4805269"/>
                <a:ext cx="4855080" cy="1857375"/>
              </a:xfrm>
              <a:prstGeom prst="rect">
                <a:avLst/>
              </a:prstGeom>
              <a:blipFill rotWithShape="1">
                <a:blip r:embed="rId6"/>
                <a:stretch>
                  <a:fillRect l="-10" t="-12" r="8" b="12"/>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Object 7"/>
              <p:cNvSpPr txBox="1"/>
              <p:nvPr/>
            </p:nvSpPr>
            <p:spPr bwMode="auto">
              <a:xfrm>
                <a:off x="5680694" y="5383821"/>
                <a:ext cx="3509170" cy="48895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en-US" altLang="zh-CN" sz="3200" i="1" smtClean="0">
                          <a:solidFill>
                            <a:schemeClr val="bg1"/>
                          </a:solidFill>
                          <a:latin typeface="Cambria Math" panose="02040503050406030204" pitchFamily="18" charset="0"/>
                        </a:rPr>
                        <m:t>𝑚</m:t>
                      </m:r>
                      <m:r>
                        <a:rPr lang="zh-CN" altLang="en-US" sz="3200" i="1">
                          <a:solidFill>
                            <a:schemeClr val="bg1"/>
                          </a:solidFill>
                          <a:latin typeface="Cambria Math" panose="02040503050406030204" pitchFamily="18" charset="0"/>
                        </a:rPr>
                        <m:t>=</m:t>
                      </m:r>
                      <m:r>
                        <a:rPr lang="en-US" altLang="zh-CN" sz="3200" i="1">
                          <a:solidFill>
                            <a:schemeClr val="bg1"/>
                          </a:solidFill>
                          <a:latin typeface="Cambria Math" panose="02040503050406030204" pitchFamily="18" charset="0"/>
                        </a:rPr>
                        <m:t>14</m:t>
                      </m:r>
                      <m:r>
                        <a:rPr lang="zh-CN" altLang="en-US" sz="3200" i="1">
                          <a:solidFill>
                            <a:schemeClr val="bg1"/>
                          </a:solidFill>
                          <a:latin typeface="Cambria Math" panose="02040503050406030204" pitchFamily="18" charset="0"/>
                        </a:rPr>
                        <m:t>.</m:t>
                      </m:r>
                      <m:r>
                        <a:rPr lang="zh-CN" altLang="en-US" sz="3200" i="1">
                          <a:solidFill>
                            <a:schemeClr val="bg1"/>
                          </a:solidFill>
                          <a:latin typeface="Cambria Math" panose="02040503050406030204" pitchFamily="18" charset="0"/>
                        </a:rPr>
                        <m:t>00</m:t>
                      </m:r>
                      <m:r>
                        <a:rPr lang="en-US" altLang="zh-CN" sz="3200" b="0" i="1" smtClean="0">
                          <a:solidFill>
                            <a:schemeClr val="bg1"/>
                          </a:solidFill>
                          <a:latin typeface="Cambria Math" panose="02040503050406030204" pitchFamily="18" charset="0"/>
                        </a:rPr>
                        <m:t>0</m:t>
                      </m:r>
                      <m:d>
                        <m:dPr>
                          <m:ctrlPr>
                            <a:rPr lang="en-US" altLang="zh-CN" sz="3200" i="1">
                              <a:solidFill>
                                <a:schemeClr val="bg1"/>
                              </a:solidFill>
                              <a:latin typeface="Cambria Math" panose="02040503050406030204" pitchFamily="18" charset="0"/>
                            </a:rPr>
                          </m:ctrlPr>
                        </m:dPr>
                        <m:e>
                          <m:r>
                            <a:rPr lang="en-US" altLang="zh-CN" sz="3200" b="0" i="1" smtClean="0">
                              <a:solidFill>
                                <a:schemeClr val="bg1"/>
                              </a:solidFill>
                              <a:latin typeface="Cambria Math" panose="02040503050406030204" pitchFamily="18" charset="0"/>
                            </a:rPr>
                            <m:t>23</m:t>
                          </m:r>
                        </m:e>
                      </m:d>
                      <m:r>
                        <a:rPr lang="en-US" altLang="zh-CN" sz="3200" i="1">
                          <a:solidFill>
                            <a:schemeClr val="bg1"/>
                          </a:solidFill>
                          <a:latin typeface="Cambria Math" panose="02040503050406030204" pitchFamily="18" charset="0"/>
                        </a:rPr>
                        <m:t> </m:t>
                      </m:r>
                      <m:r>
                        <m:rPr>
                          <m:sty m:val="p"/>
                        </m:rPr>
                        <a:rPr lang="en-US" altLang="zh-CN" sz="3200">
                          <a:solidFill>
                            <a:schemeClr val="bg1"/>
                          </a:solidFill>
                          <a:latin typeface="Cambria Math" panose="02040503050406030204" pitchFamily="18" charset="0"/>
                        </a:rPr>
                        <m:t>g</m:t>
                      </m:r>
                    </m:oMath>
                  </m:oMathPara>
                </a14:m>
                <a:endParaRPr lang="zh-CN" altLang="en-US" sz="3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39" name="Object 7"/>
              <p:cNvSpPr txBox="1">
                <a:spLocks noRot="1" noChangeAspect="1" noMove="1" noResize="1" noEditPoints="1" noAdjustHandles="1" noChangeArrowheads="1" noChangeShapeType="1" noTextEdit="1"/>
              </p:cNvSpPr>
              <p:nvPr/>
            </p:nvSpPr>
            <p:spPr bwMode="auto">
              <a:xfrm>
                <a:off x="5680694" y="5383821"/>
                <a:ext cx="3509170" cy="488950"/>
              </a:xfrm>
              <a:prstGeom prst="rect">
                <a:avLst/>
              </a:prstGeom>
              <a:blipFill rotWithShape="1">
                <a:blip r:embed="rId7"/>
                <a:stretch>
                  <a:fillRect l="-18" t="-60" r="4" b="-9031"/>
                </a:stretch>
              </a:blipFill>
              <a:ln>
                <a:noFill/>
              </a:ln>
            </p:spPr>
            <p:txBody>
              <a:bodyPr/>
              <a:lstStyle/>
              <a:p>
                <a:r>
                  <a:rPr lang="zh-CN" altLang="en-US">
                    <a:noFill/>
                  </a:rPr>
                  <a:t> </a:t>
                </a:r>
              </a:p>
            </p:txBody>
          </p:sp>
        </mc:Fallback>
      </mc:AlternateContent>
      <p:sp>
        <p:nvSpPr>
          <p:cNvPr id="23" name="矩形 22"/>
          <p:cNvSpPr/>
          <p:nvPr/>
        </p:nvSpPr>
        <p:spPr>
          <a:xfrm>
            <a:off x="8904312" y="6096554"/>
            <a:ext cx="2930780" cy="400110"/>
          </a:xfrm>
          <a:prstGeom prst="rect">
            <a:avLst/>
          </a:prstGeom>
        </p:spPr>
        <p:txBody>
          <a:bodyPr wrap="square">
            <a:spAutoFit/>
          </a:bodyPr>
          <a:lstStyle/>
          <a:p>
            <a:r>
              <a:rPr lang="zh-CN" altLang="en-US" sz="2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运算过程中多保留几位</a:t>
            </a:r>
            <a:endParaRPr lang="zh-CN" altLang="en-US" sz="2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5" grpId="0"/>
      <p:bldP spid="26" grpId="0"/>
      <p:bldP spid="33" grpId="0"/>
      <p:bldP spid="34" grpId="0"/>
      <p:bldP spid="35" grpId="0"/>
      <p:bldP spid="36" grpId="0"/>
      <p:bldP spid="37" grpId="0"/>
      <p:bldP spid="38" grpId="0"/>
      <p:bldP spid="39" grpId="0"/>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7750" y="59397"/>
            <a:ext cx="3416320" cy="524054"/>
          </a:xfrm>
          <a:prstGeom prst="rect">
            <a:avLst/>
          </a:prstGeom>
        </p:spPr>
        <p:txBody>
          <a:bodyPr wrap="none">
            <a:spAutoFit/>
          </a:bodyPr>
          <a:lstStyle/>
          <a:p>
            <a:pPr>
              <a:lnSpc>
                <a:spcPts val="3600"/>
              </a:lnSpc>
              <a:defRPr/>
            </a:pPr>
            <a:r>
              <a:rPr lang="zh-CN" altLang="en-US" sz="2800" b="1" dirty="0">
                <a:solidFill>
                  <a:schemeClr val="bg1"/>
                </a:solidFill>
                <a:latin typeface="微软雅黑" panose="020B0503020204020204" pitchFamily="34" charset="-122"/>
                <a:ea typeface="微软雅黑" panose="020B0503020204020204" pitchFamily="34" charset="-122"/>
              </a:rPr>
              <a:t>评定密度的不确定度</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Object 8"/>
              <p:cNvSpPr txBox="1"/>
              <p:nvPr/>
            </p:nvSpPr>
            <p:spPr bwMode="auto">
              <a:xfrm>
                <a:off x="4320776" y="408322"/>
                <a:ext cx="2567312" cy="7096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400" i="1" smtClean="0">
                          <a:solidFill>
                            <a:schemeClr val="bg1"/>
                          </a:solidFill>
                          <a:latin typeface="Cambria Math" panose="02040503050406030204" pitchFamily="18" charset="0"/>
                        </a:rPr>
                        <m:t>𝜌</m:t>
                      </m:r>
                      <m:r>
                        <a:rPr lang="zh-CN" altLang="en-US" sz="2400" i="1" smtClean="0">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4</m:t>
                          </m:r>
                          <m:r>
                            <a:rPr lang="zh-CN" altLang="en-US" sz="2400" i="1">
                              <a:solidFill>
                                <a:schemeClr val="bg1"/>
                              </a:solidFill>
                              <a:latin typeface="Cambria Math" panose="02040503050406030204" pitchFamily="18" charset="0"/>
                            </a:rPr>
                            <m:t>𝑚</m:t>
                          </m:r>
                        </m:num>
                        <m:den>
                          <m:r>
                            <a:rPr lang="zh-CN" altLang="en-US" sz="2400" i="1">
                              <a:solidFill>
                                <a:schemeClr val="bg1"/>
                              </a:solidFill>
                              <a:latin typeface="Cambria Math" panose="02040503050406030204" pitchFamily="18" charset="0"/>
                            </a:rPr>
                            <m:t>𝜋</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𝐷</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𝐻</m:t>
                          </m:r>
                        </m:den>
                      </m:f>
                    </m:oMath>
                  </m:oMathPara>
                </a14:m>
                <a:endParaRPr lang="zh-CN" altLang="en-US" sz="2400" dirty="0">
                  <a:solidFill>
                    <a:schemeClr val="bg1"/>
                  </a:solidFill>
                  <a:latin typeface="Arial" panose="020B0604020202020204" pitchFamily="34" charset="0"/>
                </a:endParaRPr>
              </a:p>
            </p:txBody>
          </p:sp>
        </mc:Choice>
        <mc:Fallback>
          <p:sp>
            <p:nvSpPr>
              <p:cNvPr id="3" name="Object 8"/>
              <p:cNvSpPr txBox="1">
                <a:spLocks noRot="1" noChangeAspect="1" noMove="1" noResize="1" noEditPoints="1" noAdjustHandles="1" noChangeArrowheads="1" noChangeShapeType="1" noTextEdit="1"/>
              </p:cNvSpPr>
              <p:nvPr/>
            </p:nvSpPr>
            <p:spPr bwMode="auto">
              <a:xfrm>
                <a:off x="4320776" y="408322"/>
                <a:ext cx="2567312" cy="709612"/>
              </a:xfrm>
              <a:prstGeom prst="rect">
                <a:avLst/>
              </a:prstGeom>
              <a:blipFill rotWithShape="1">
                <a:blip r:embed="rId1"/>
                <a:stretch>
                  <a:fillRect l="-9" t="-2" r="9" b="-353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Object 10"/>
              <p:cNvSpPr txBox="1"/>
              <p:nvPr/>
            </p:nvSpPr>
            <p:spPr bwMode="auto">
              <a:xfrm>
                <a:off x="2445331" y="6093296"/>
                <a:ext cx="3256657" cy="508000"/>
              </a:xfrm>
              <a:prstGeom prst="rect">
                <a:avLst/>
              </a:prstGeom>
              <a:noFill/>
              <a:ln>
                <a:solidFill>
                  <a:schemeClr val="accent1"/>
                </a:solid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smtClean="0">
                          <a:solidFill>
                            <a:schemeClr val="bg1"/>
                          </a:solidFill>
                          <a:latin typeface="Cambria Math" panose="02040503050406030204" pitchFamily="18" charset="0"/>
                        </a:rPr>
                        <m:t>𝜌</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8</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09</m:t>
                      </m:r>
                      <m:r>
                        <a:rPr lang="zh-CN" altLang="en-US" sz="2800" i="1" smtClean="0">
                          <a:solidFill>
                            <a:schemeClr val="bg1"/>
                          </a:solidFill>
                          <a:latin typeface="Cambria Math" panose="02040503050406030204" pitchFamily="18" charset="0"/>
                        </a:rPr>
                        <m:t> (</m:t>
                      </m:r>
                      <m:r>
                        <a:rPr lang="zh-CN" altLang="en-US" sz="2800" i="1" smtClean="0">
                          <a:solidFill>
                            <a:schemeClr val="bg1"/>
                          </a:solidFill>
                          <a:latin typeface="Cambria Math" panose="02040503050406030204" pitchFamily="18" charset="0"/>
                        </a:rPr>
                        <m:t>2</m:t>
                      </m:r>
                      <m:r>
                        <a:rPr lang="zh-CN" altLang="en-US" sz="2800" i="1" smtClean="0">
                          <a:solidFill>
                            <a:schemeClr val="bg1"/>
                          </a:solidFill>
                          <a:latin typeface="Cambria Math" panose="02040503050406030204" pitchFamily="18" charset="0"/>
                        </a:rPr>
                        <m:t>) </m:t>
                      </m:r>
                      <m:r>
                        <m:rPr>
                          <m:sty m:val="p"/>
                        </m:rPr>
                        <a:rPr lang="zh-CN" altLang="en-US" sz="2800" i="0" smtClean="0">
                          <a:solidFill>
                            <a:schemeClr val="bg1"/>
                          </a:solidFill>
                          <a:latin typeface="Cambria Math" panose="02040503050406030204" pitchFamily="18" charset="0"/>
                        </a:rPr>
                        <m:t>g</m:t>
                      </m:r>
                      <m:r>
                        <a:rPr lang="zh-CN" altLang="en-US" sz="2800" i="0" smtClean="0">
                          <a:solidFill>
                            <a:schemeClr val="bg1"/>
                          </a:solidFill>
                          <a:latin typeface="Cambria Math" panose="02040503050406030204" pitchFamily="18" charset="0"/>
                        </a:rPr>
                        <m:t>/</m:t>
                      </m:r>
                      <m:r>
                        <m:rPr>
                          <m:sty m:val="p"/>
                        </m:rPr>
                        <a:rPr lang="zh-CN" altLang="en-US" sz="2800" i="0" smtClean="0">
                          <a:solidFill>
                            <a:schemeClr val="bg1"/>
                          </a:solidFill>
                          <a:latin typeface="Cambria Math" panose="02040503050406030204" pitchFamily="18" charset="0"/>
                        </a:rPr>
                        <m:t>c</m:t>
                      </m:r>
                      <m:sSup>
                        <m:sSupPr>
                          <m:ctrlPr>
                            <a:rPr lang="zh-CN" altLang="en-US" sz="2800" i="1">
                              <a:solidFill>
                                <a:schemeClr val="bg1"/>
                              </a:solidFill>
                              <a:latin typeface="Cambria Math" panose="02040503050406030204" pitchFamily="18" charset="0"/>
                            </a:rPr>
                          </m:ctrlPr>
                        </m:sSupPr>
                        <m:e>
                          <m:r>
                            <m:rPr>
                              <m:sty m:val="p"/>
                            </m:rPr>
                            <a:rPr lang="zh-CN" altLang="en-US" sz="2800" i="0">
                              <a:solidFill>
                                <a:schemeClr val="bg1"/>
                              </a:solidFill>
                              <a:latin typeface="Cambria Math" panose="02040503050406030204" pitchFamily="18" charset="0"/>
                            </a:rPr>
                            <m:t>m</m:t>
                          </m:r>
                        </m:e>
                        <m:sup>
                          <m:r>
                            <a:rPr lang="zh-CN" altLang="en-US" sz="2800" i="0">
                              <a:solidFill>
                                <a:schemeClr val="bg1"/>
                              </a:solidFill>
                              <a:latin typeface="Cambria Math" panose="02040503050406030204" pitchFamily="18" charset="0"/>
                            </a:rPr>
                            <m:t>3</m:t>
                          </m:r>
                        </m:sup>
                      </m:sSup>
                    </m:oMath>
                  </m:oMathPara>
                </a14:m>
                <a:endParaRPr lang="zh-CN" altLang="en-US" sz="2800" dirty="0">
                  <a:solidFill>
                    <a:schemeClr val="bg1"/>
                  </a:solidFill>
                  <a:latin typeface="Arial" panose="020B0604020202020204" pitchFamily="34" charset="0"/>
                </a:endParaRPr>
              </a:p>
            </p:txBody>
          </p:sp>
        </mc:Choice>
        <mc:Fallback>
          <p:sp>
            <p:nvSpPr>
              <p:cNvPr id="4" name="Object 10"/>
              <p:cNvSpPr txBox="1">
                <a:spLocks noRot="1" noChangeAspect="1" noMove="1" noResize="1" noEditPoints="1" noAdjustHandles="1" noChangeArrowheads="1" noChangeShapeType="1" noTextEdit="1"/>
              </p:cNvSpPr>
              <p:nvPr/>
            </p:nvSpPr>
            <p:spPr bwMode="auto">
              <a:xfrm>
                <a:off x="2445331" y="6093296"/>
                <a:ext cx="3256657" cy="508000"/>
              </a:xfrm>
              <a:prstGeom prst="rect">
                <a:avLst/>
              </a:prstGeom>
              <a:blipFill rotWithShape="1">
                <a:blip r:embed="rId2"/>
                <a:stretch>
                  <a:fillRect l="-154" t="-968" r="-146" b="-907"/>
                </a:stretch>
              </a:blipFill>
              <a:ln>
                <a:solidFill>
                  <a:schemeClr val="accent1"/>
                </a:solid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43"/>
              <p:cNvSpPr txBox="1"/>
              <p:nvPr/>
            </p:nvSpPr>
            <p:spPr bwMode="auto">
              <a:xfrm>
                <a:off x="1204742" y="2645472"/>
                <a:ext cx="7518132" cy="3217919"/>
              </a:xfrm>
              <a:prstGeom prst="rect">
                <a:avLst/>
              </a:prstGeom>
              <a:noFill/>
              <a:ln>
                <a:noFill/>
              </a:ln>
            </p:spPr>
            <p:txBody>
              <a:bodyPr>
                <a:noAutofit/>
              </a:bodyPr>
              <a:lstStyle/>
              <a:p>
                <a:pPr marL="431800" indent="-457200">
                  <a:lnSpc>
                    <a:spcPct val="120000"/>
                  </a:lnSpc>
                </a:pPr>
                <a:r>
                  <a:rPr lang="en-US" altLang="zh-CN" sz="2000" i="1" dirty="0">
                    <a:solidFill>
                      <a:schemeClr val="bg1"/>
                    </a:solidFill>
                    <a:latin typeface="Times New Roman" panose="02020603050405020304" pitchFamily="18" charset="0"/>
                    <a:cs typeface="Times New Roman" panose="02020603050405020304" pitchFamily="18" charset="0"/>
                  </a:rPr>
                  <a:t>u</a:t>
                </a:r>
                <a:r>
                  <a:rPr lang="en-US" altLang="zh-CN" sz="2000" dirty="0">
                    <a:solidFill>
                      <a:schemeClr val="bg1"/>
                    </a:solidFill>
                    <a:latin typeface="Times New Roman" panose="02020603050405020304" pitchFamily="18" charset="0"/>
                    <a:cs typeface="Times New Roman" panose="02020603050405020304" pitchFamily="18" charset="0"/>
                  </a:rPr>
                  <a:t>(</a:t>
                </a:r>
                <a:r>
                  <a:rPr lang="en-US" altLang="zh-CN" sz="2000" i="1"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14:m>
                  <m:oMath xmlns:m="http://schemas.openxmlformats.org/officeDocument/2006/math">
                    <m:r>
                      <a:rPr lang="en-US" altLang="zh-CN" sz="2000" i="1" dirty="0" smtClean="0">
                        <a:solidFill>
                          <a:schemeClr val="bg1"/>
                        </a:solidFill>
                        <a:latin typeface="Cambria Math" panose="02040503050406030204" pitchFamily="18" charset="0"/>
                        <a:sym typeface="Symbol" panose="05050102010706020507" pitchFamily="18" charset="2"/>
                      </a:rPr>
                      <m:t>)</m:t>
                    </m:r>
                    <m:r>
                      <a:rPr lang="zh-CN" altLang="en-US" sz="2000" i="1">
                        <a:solidFill>
                          <a:schemeClr val="bg1"/>
                        </a:solidFill>
                        <a:latin typeface="Cambria Math" panose="02040503050406030204" pitchFamily="18" charset="0"/>
                      </a:rPr>
                      <m:t>=</m:t>
                    </m:r>
                    <m:rad>
                      <m:radPr>
                        <m:degHide m:val="on"/>
                        <m:ctrlPr>
                          <a:rPr lang="zh-CN" altLang="en-US" sz="2000" i="1">
                            <a:solidFill>
                              <a:schemeClr val="bg1"/>
                            </a:solidFill>
                            <a:latin typeface="Cambria Math" panose="02040503050406030204" pitchFamily="18" charset="0"/>
                          </a:rPr>
                        </m:ctrlPr>
                      </m:radPr>
                      <m:deg/>
                      <m:e>
                        <m:sSup>
                          <m:sSupPr>
                            <m:ctrlPr>
                              <a:rPr lang="zh-CN" altLang="en-US" sz="2000" i="1">
                                <a:solidFill>
                                  <a:schemeClr val="bg1"/>
                                </a:solidFill>
                                <a:latin typeface="Cambria Math" panose="02040503050406030204" pitchFamily="18" charset="0"/>
                              </a:rPr>
                            </m:ctrlPr>
                          </m:sSupPr>
                          <m:e>
                            <m:d>
                              <m:dPr>
                                <m:ctrlPr>
                                  <a:rPr lang="zh-CN" altLang="en-US" sz="2000" i="1">
                                    <a:solidFill>
                                      <a:schemeClr val="bg1"/>
                                    </a:solidFill>
                                    <a:latin typeface="Cambria Math" panose="02040503050406030204" pitchFamily="18" charset="0"/>
                                  </a:rPr>
                                </m:ctrlPr>
                              </m:dPr>
                              <m:e>
                                <m:f>
                                  <m:fPr>
                                    <m:ctrlPr>
                                      <a:rPr lang="en-US" altLang="zh-CN" sz="2000" i="1">
                                        <a:solidFill>
                                          <a:schemeClr val="bg1"/>
                                        </a:solidFill>
                                        <a:latin typeface="Cambria Math" panose="02040503050406030204" pitchFamily="18" charset="0"/>
                                      </a:rPr>
                                    </m:ctrlPr>
                                  </m:fPr>
                                  <m:num>
                                    <m:r>
                                      <a:rPr lang="zh-CN" altLang="en-US"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𝑓</m:t>
                                    </m:r>
                                  </m:num>
                                  <m:den>
                                    <m:r>
                                      <a:rPr lang="zh-CN" altLang="en-US"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𝐷</m:t>
                                    </m:r>
                                  </m:den>
                                </m:f>
                                <m:r>
                                  <a:rPr lang="en-US" altLang="zh-CN" sz="2000" b="0" i="1" smtClean="0">
                                    <a:solidFill>
                                      <a:schemeClr val="bg1"/>
                                    </a:solidFill>
                                    <a:latin typeface="Cambria Math" panose="02040503050406030204" pitchFamily="18" charset="0"/>
                                  </a:rPr>
                                  <m:t>𝑢</m:t>
                                </m:r>
                                <m:r>
                                  <a:rPr lang="en-US" altLang="zh-CN"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𝐷</m:t>
                                </m:r>
                                <m:r>
                                  <a:rPr lang="en-US" altLang="zh-CN" sz="2000" b="0" i="1" smtClean="0">
                                    <a:solidFill>
                                      <a:schemeClr val="bg1"/>
                                    </a:solidFill>
                                    <a:latin typeface="Cambria Math" panose="02040503050406030204" pitchFamily="18" charset="0"/>
                                  </a:rPr>
                                  <m:t>)</m:t>
                                </m:r>
                              </m:e>
                            </m:d>
                          </m:e>
                          <m:sup>
                            <m:r>
                              <a:rPr lang="zh-CN" altLang="en-US" sz="2000" i="1">
                                <a:solidFill>
                                  <a:schemeClr val="bg1"/>
                                </a:solidFill>
                                <a:latin typeface="Cambria Math" panose="02040503050406030204" pitchFamily="18" charset="0"/>
                              </a:rPr>
                              <m:t>2</m:t>
                            </m:r>
                          </m:sup>
                        </m:sSup>
                        <m:r>
                          <a:rPr lang="en-US" altLang="zh-CN" sz="2000" i="1">
                            <a:solidFill>
                              <a:schemeClr val="bg1"/>
                            </a:solidFill>
                            <a:latin typeface="Cambria Math" panose="02040503050406030204" pitchFamily="18" charset="0"/>
                          </a:rPr>
                          <m:t>+</m:t>
                        </m:r>
                        <m:sSup>
                          <m:sSupPr>
                            <m:ctrlPr>
                              <a:rPr lang="zh-CN" altLang="en-US" sz="2000" i="1">
                                <a:solidFill>
                                  <a:schemeClr val="bg1"/>
                                </a:solidFill>
                                <a:latin typeface="Cambria Math" panose="02040503050406030204" pitchFamily="18" charset="0"/>
                              </a:rPr>
                            </m:ctrlPr>
                          </m:sSupPr>
                          <m:e>
                            <m:d>
                              <m:dPr>
                                <m:ctrlPr>
                                  <a:rPr lang="zh-CN" altLang="en-US" sz="2000" i="1">
                                    <a:solidFill>
                                      <a:schemeClr val="bg1"/>
                                    </a:solidFill>
                                    <a:latin typeface="Cambria Math" panose="02040503050406030204" pitchFamily="18" charset="0"/>
                                  </a:rPr>
                                </m:ctrlPr>
                              </m:dPr>
                              <m:e>
                                <m:f>
                                  <m:fPr>
                                    <m:ctrlPr>
                                      <a:rPr lang="en-US" altLang="zh-CN" sz="2000" i="1">
                                        <a:solidFill>
                                          <a:schemeClr val="bg1"/>
                                        </a:solidFill>
                                        <a:latin typeface="Cambria Math" panose="02040503050406030204" pitchFamily="18" charset="0"/>
                                      </a:rPr>
                                    </m:ctrlPr>
                                  </m:fPr>
                                  <m:num>
                                    <m:r>
                                      <a:rPr lang="zh-CN" altLang="en-US"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𝑓</m:t>
                                    </m:r>
                                  </m:num>
                                  <m:den>
                                    <m:r>
                                      <a:rPr lang="zh-CN" altLang="en-US"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𝐻</m:t>
                                    </m:r>
                                  </m:den>
                                </m:f>
                                <m:r>
                                  <a:rPr lang="en-US" altLang="zh-CN" sz="2000" b="0" i="1" smtClean="0">
                                    <a:solidFill>
                                      <a:schemeClr val="bg1"/>
                                    </a:solidFill>
                                    <a:latin typeface="Cambria Math" panose="02040503050406030204" pitchFamily="18" charset="0"/>
                                  </a:rPr>
                                  <m:t>𝑢</m:t>
                                </m:r>
                                <m:r>
                                  <a:rPr lang="en-US" altLang="zh-CN"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𝐻</m:t>
                                </m:r>
                                <m:r>
                                  <a:rPr lang="en-US" altLang="zh-CN" sz="2000" b="0" i="1" smtClean="0">
                                    <a:solidFill>
                                      <a:schemeClr val="bg1"/>
                                    </a:solidFill>
                                    <a:latin typeface="Cambria Math" panose="02040503050406030204" pitchFamily="18" charset="0"/>
                                  </a:rPr>
                                  <m:t>)</m:t>
                                </m:r>
                              </m:e>
                            </m:d>
                          </m:e>
                          <m:sup>
                            <m:r>
                              <a:rPr lang="zh-CN" altLang="en-US" sz="2000" i="1">
                                <a:solidFill>
                                  <a:schemeClr val="bg1"/>
                                </a:solidFill>
                                <a:latin typeface="Cambria Math" panose="02040503050406030204" pitchFamily="18" charset="0"/>
                              </a:rPr>
                              <m:t>2</m:t>
                            </m:r>
                          </m:sup>
                        </m:sSup>
                        <m:r>
                          <a:rPr lang="zh-CN" altLang="en-US" sz="2000" i="1">
                            <a:solidFill>
                              <a:schemeClr val="bg1"/>
                            </a:solidFill>
                            <a:latin typeface="Cambria Math" panose="02040503050406030204" pitchFamily="18" charset="0"/>
                          </a:rPr>
                          <m:t>+</m:t>
                        </m:r>
                        <m:sSup>
                          <m:sSupPr>
                            <m:ctrlPr>
                              <a:rPr lang="zh-CN" altLang="en-US" sz="2000" i="1">
                                <a:solidFill>
                                  <a:schemeClr val="bg1"/>
                                </a:solidFill>
                                <a:latin typeface="Cambria Math" panose="02040503050406030204" pitchFamily="18" charset="0"/>
                              </a:rPr>
                            </m:ctrlPr>
                          </m:sSupPr>
                          <m:e>
                            <m:d>
                              <m:dPr>
                                <m:ctrlPr>
                                  <a:rPr lang="zh-CN" altLang="en-US" sz="2000" i="1">
                                    <a:solidFill>
                                      <a:schemeClr val="bg1"/>
                                    </a:solidFill>
                                    <a:latin typeface="Cambria Math" panose="02040503050406030204" pitchFamily="18" charset="0"/>
                                  </a:rPr>
                                </m:ctrlPr>
                              </m:dPr>
                              <m:e>
                                <m:f>
                                  <m:fPr>
                                    <m:ctrlPr>
                                      <a:rPr lang="en-US" altLang="zh-CN" sz="2000" i="1">
                                        <a:solidFill>
                                          <a:schemeClr val="bg1"/>
                                        </a:solidFill>
                                        <a:latin typeface="Cambria Math" panose="02040503050406030204" pitchFamily="18" charset="0"/>
                                      </a:rPr>
                                    </m:ctrlPr>
                                  </m:fPr>
                                  <m:num>
                                    <m:r>
                                      <a:rPr lang="zh-CN" altLang="en-US"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𝑓</m:t>
                                    </m:r>
                                  </m:num>
                                  <m:den>
                                    <m:r>
                                      <a:rPr lang="zh-CN" altLang="en-US"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𝑚</m:t>
                                    </m:r>
                                  </m:den>
                                </m:f>
                                <m:r>
                                  <a:rPr lang="en-US" altLang="zh-CN" sz="2000" b="0" i="1" smtClean="0">
                                    <a:solidFill>
                                      <a:schemeClr val="bg1"/>
                                    </a:solidFill>
                                    <a:latin typeface="Cambria Math" panose="02040503050406030204" pitchFamily="18" charset="0"/>
                                  </a:rPr>
                                  <m:t>𝑢</m:t>
                                </m:r>
                                <m:r>
                                  <a:rPr lang="en-US" altLang="zh-CN"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𝑚</m:t>
                                </m:r>
                                <m:r>
                                  <a:rPr lang="en-US" altLang="zh-CN" sz="2000" b="0" i="1" smtClean="0">
                                    <a:solidFill>
                                      <a:schemeClr val="bg1"/>
                                    </a:solidFill>
                                    <a:latin typeface="Cambria Math" panose="02040503050406030204" pitchFamily="18" charset="0"/>
                                  </a:rPr>
                                  <m:t>)</m:t>
                                </m:r>
                              </m:e>
                            </m:d>
                          </m:e>
                          <m:sup>
                            <m:r>
                              <a:rPr lang="zh-CN" altLang="en-US" sz="2000" i="1">
                                <a:solidFill>
                                  <a:schemeClr val="bg1"/>
                                </a:solidFill>
                                <a:latin typeface="Cambria Math" panose="02040503050406030204" pitchFamily="18" charset="0"/>
                              </a:rPr>
                              <m:t>2</m:t>
                            </m:r>
                          </m:sup>
                        </m:sSup>
                      </m:e>
                    </m:rad>
                  </m:oMath>
                </a14:m>
                <a:br>
                  <a:rPr lang="zh-CN" altLang="en-US" sz="2000" i="1" dirty="0">
                    <a:solidFill>
                      <a:schemeClr val="bg1"/>
                    </a:solidFill>
                    <a:latin typeface="Cambria Math" panose="02040503050406030204" pitchFamily="18" charset="0"/>
                  </a:rPr>
                </a:br>
                <a14:m>
                  <m:oMath xmlns:m="http://schemas.openxmlformats.org/officeDocument/2006/math">
                    <m:r>
                      <a:rPr lang="en-US" altLang="zh-CN" sz="2000" i="1">
                        <a:solidFill>
                          <a:schemeClr val="bg1"/>
                        </a:solidFill>
                        <a:latin typeface="Cambria Math" panose="02040503050406030204" pitchFamily="18" charset="0"/>
                      </a:rPr>
                      <m:t>      </m:t>
                    </m:r>
                    <m:r>
                      <a:rPr lang="zh-CN" altLang="en-US" sz="2000" i="1">
                        <a:solidFill>
                          <a:schemeClr val="bg1"/>
                        </a:solidFill>
                        <a:latin typeface="Cambria Math" panose="02040503050406030204" pitchFamily="18" charset="0"/>
                      </a:rPr>
                      <m:t>=</m:t>
                    </m:r>
                  </m:oMath>
                </a14:m>
                <a:r>
                  <a:rPr lang="zh-CN" altLang="en-US" sz="2000" dirty="0">
                    <a:solidFill>
                      <a:schemeClr val="bg1"/>
                    </a:solidFill>
                    <a:latin typeface="Arial" panose="020B0604020202020204" pitchFamily="34" charset="0"/>
                  </a:rPr>
                  <a:t> </a:t>
                </a:r>
                <a14:m>
                  <m:oMath xmlns:m="http://schemas.openxmlformats.org/officeDocument/2006/math">
                    <m:rad>
                      <m:radPr>
                        <m:degHide m:val="on"/>
                        <m:ctrlPr>
                          <a:rPr lang="zh-CN" altLang="en-US" sz="2000" i="1">
                            <a:solidFill>
                              <a:schemeClr val="bg1"/>
                            </a:solidFill>
                            <a:latin typeface="Cambria Math" panose="02040503050406030204" pitchFamily="18" charset="0"/>
                          </a:rPr>
                        </m:ctrlPr>
                      </m:radPr>
                      <m:deg/>
                      <m:e>
                        <m:sSup>
                          <m:sSupPr>
                            <m:ctrlPr>
                              <a:rPr lang="zh-CN" altLang="en-US" sz="2000" i="1">
                                <a:solidFill>
                                  <a:schemeClr val="bg1"/>
                                </a:solidFill>
                                <a:latin typeface="Cambria Math" panose="02040503050406030204" pitchFamily="18" charset="0"/>
                              </a:rPr>
                            </m:ctrlPr>
                          </m:sSupPr>
                          <m:e>
                            <m:d>
                              <m:dPr>
                                <m:ctrlPr>
                                  <a:rPr lang="zh-CN" altLang="en-US" sz="2000" i="1">
                                    <a:solidFill>
                                      <a:schemeClr val="bg1"/>
                                    </a:solidFill>
                                    <a:latin typeface="Cambria Math" panose="02040503050406030204" pitchFamily="18" charset="0"/>
                                  </a:rPr>
                                </m:ctrlPr>
                              </m:dPr>
                              <m:e>
                                <m:r>
                                  <a:rPr lang="en-US" altLang="zh-CN" sz="2000" i="1" smtClean="0">
                                    <a:solidFill>
                                      <a:srgbClr val="C00000"/>
                                    </a:solidFill>
                                    <a:latin typeface="Cambria Math" panose="02040503050406030204" pitchFamily="18" charset="0"/>
                                  </a:rPr>
                                  <m:t>2</m:t>
                                </m:r>
                                <m:r>
                                  <a:rPr lang="en-US" altLang="zh-CN" sz="2000" i="1" smtClean="0">
                                    <a:solidFill>
                                      <a:srgbClr val="C00000"/>
                                    </a:solidFill>
                                    <a:latin typeface="Cambria Math" panose="02040503050406030204" pitchFamily="18" charset="0"/>
                                    <a:ea typeface="Cambria Math" panose="02040503050406030204" pitchFamily="18" charset="0"/>
                                  </a:rPr>
                                  <m:t>×</m:t>
                                </m:r>
                                <m:r>
                                  <a:rPr lang="zh-CN" altLang="en-US" sz="2000" i="1">
                                    <a:solidFill>
                                      <a:schemeClr val="bg1"/>
                                    </a:solidFill>
                                    <a:latin typeface="Cambria Math" panose="02040503050406030204" pitchFamily="18" charset="0"/>
                                  </a:rPr>
                                  <m:t>𝜌</m:t>
                                </m:r>
                                <m:f>
                                  <m:fPr>
                                    <m:ctrlPr>
                                      <a:rPr lang="en-US" altLang="zh-CN" sz="2000" i="1">
                                        <a:solidFill>
                                          <a:schemeClr val="bg1"/>
                                        </a:solidFill>
                                        <a:latin typeface="Cambria Math" panose="02040503050406030204" pitchFamily="18" charset="0"/>
                                      </a:rPr>
                                    </m:ctrlPr>
                                  </m:fPr>
                                  <m:num>
                                    <m:r>
                                      <a:rPr lang="en-US" altLang="zh-CN" sz="2000" i="1">
                                        <a:solidFill>
                                          <a:schemeClr val="bg1"/>
                                        </a:solidFill>
                                        <a:latin typeface="Cambria Math" panose="02040503050406030204" pitchFamily="18" charset="0"/>
                                      </a:rPr>
                                      <m:t>1</m:t>
                                    </m:r>
                                  </m:num>
                                  <m:den>
                                    <m:r>
                                      <a:rPr lang="en-US" altLang="zh-CN" sz="2000" i="1">
                                        <a:solidFill>
                                          <a:schemeClr val="bg1"/>
                                        </a:solidFill>
                                        <a:latin typeface="Cambria Math" panose="02040503050406030204" pitchFamily="18" charset="0"/>
                                      </a:rPr>
                                      <m:t>𝐷</m:t>
                                    </m:r>
                                  </m:den>
                                </m:f>
                                <m:r>
                                  <a:rPr lang="en-US" altLang="zh-CN" sz="2000" b="0" i="1" smtClean="0">
                                    <a:solidFill>
                                      <a:schemeClr val="bg1"/>
                                    </a:solidFill>
                                    <a:latin typeface="Cambria Math" panose="02040503050406030204" pitchFamily="18" charset="0"/>
                                  </a:rPr>
                                  <m:t>𝑢</m:t>
                                </m:r>
                                <m:r>
                                  <a:rPr lang="en-US" altLang="zh-CN"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𝐷</m:t>
                                </m:r>
                                <m:r>
                                  <a:rPr lang="en-US" altLang="zh-CN" sz="2000" b="0" i="1" smtClean="0">
                                    <a:solidFill>
                                      <a:schemeClr val="bg1"/>
                                    </a:solidFill>
                                    <a:latin typeface="Cambria Math" panose="02040503050406030204" pitchFamily="18" charset="0"/>
                                  </a:rPr>
                                  <m:t>)</m:t>
                                </m:r>
                              </m:e>
                            </m:d>
                          </m:e>
                          <m:sup>
                            <m:r>
                              <a:rPr lang="zh-CN" altLang="en-US" sz="2000" i="1">
                                <a:solidFill>
                                  <a:schemeClr val="bg1"/>
                                </a:solidFill>
                                <a:latin typeface="Cambria Math" panose="02040503050406030204" pitchFamily="18" charset="0"/>
                              </a:rPr>
                              <m:t>2</m:t>
                            </m:r>
                          </m:sup>
                        </m:sSup>
                        <m:r>
                          <a:rPr lang="en-US" altLang="zh-CN" sz="2000" i="1">
                            <a:solidFill>
                              <a:schemeClr val="bg1"/>
                            </a:solidFill>
                            <a:latin typeface="Cambria Math" panose="02040503050406030204" pitchFamily="18" charset="0"/>
                          </a:rPr>
                          <m:t>+</m:t>
                        </m:r>
                        <m:sSup>
                          <m:sSupPr>
                            <m:ctrlPr>
                              <a:rPr lang="zh-CN" altLang="en-US" sz="2000" i="1">
                                <a:solidFill>
                                  <a:schemeClr val="bg1"/>
                                </a:solidFill>
                                <a:latin typeface="Cambria Math" panose="02040503050406030204" pitchFamily="18" charset="0"/>
                              </a:rPr>
                            </m:ctrlPr>
                          </m:sSupPr>
                          <m:e>
                            <m:d>
                              <m:dPr>
                                <m:ctrlPr>
                                  <a:rPr lang="zh-CN" altLang="en-US" sz="2000" i="1">
                                    <a:solidFill>
                                      <a:schemeClr val="bg1"/>
                                    </a:solidFill>
                                    <a:latin typeface="Cambria Math" panose="02040503050406030204" pitchFamily="18" charset="0"/>
                                  </a:rPr>
                                </m:ctrlPr>
                              </m:dPr>
                              <m:e>
                                <m:r>
                                  <a:rPr lang="zh-CN" altLang="en-US" sz="2000" i="1">
                                    <a:solidFill>
                                      <a:schemeClr val="bg1"/>
                                    </a:solidFill>
                                    <a:latin typeface="Cambria Math" panose="02040503050406030204" pitchFamily="18" charset="0"/>
                                  </a:rPr>
                                  <m:t>𝜌</m:t>
                                </m:r>
                                <m:f>
                                  <m:fPr>
                                    <m:ctrlPr>
                                      <a:rPr lang="en-US" altLang="zh-CN" sz="2000" i="1">
                                        <a:solidFill>
                                          <a:schemeClr val="bg1"/>
                                        </a:solidFill>
                                        <a:latin typeface="Cambria Math" panose="02040503050406030204" pitchFamily="18" charset="0"/>
                                      </a:rPr>
                                    </m:ctrlPr>
                                  </m:fPr>
                                  <m:num>
                                    <m:r>
                                      <a:rPr lang="en-US" altLang="zh-CN" sz="2000" i="1">
                                        <a:solidFill>
                                          <a:schemeClr val="bg1"/>
                                        </a:solidFill>
                                        <a:latin typeface="Cambria Math" panose="02040503050406030204" pitchFamily="18" charset="0"/>
                                      </a:rPr>
                                      <m:t>1</m:t>
                                    </m:r>
                                  </m:num>
                                  <m:den>
                                    <m:r>
                                      <a:rPr lang="en-US" altLang="zh-CN" sz="2000" i="1">
                                        <a:solidFill>
                                          <a:schemeClr val="bg1"/>
                                        </a:solidFill>
                                        <a:latin typeface="Cambria Math" panose="02040503050406030204" pitchFamily="18" charset="0"/>
                                      </a:rPr>
                                      <m:t>𝐻</m:t>
                                    </m:r>
                                  </m:den>
                                </m:f>
                                <m:r>
                                  <a:rPr lang="en-US" altLang="zh-CN" sz="2000" b="0" i="1" smtClean="0">
                                    <a:solidFill>
                                      <a:schemeClr val="bg1"/>
                                    </a:solidFill>
                                    <a:latin typeface="Cambria Math" panose="02040503050406030204" pitchFamily="18" charset="0"/>
                                  </a:rPr>
                                  <m:t>𝑢</m:t>
                                </m:r>
                                <m:r>
                                  <a:rPr lang="en-US" altLang="zh-CN"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𝐻</m:t>
                                </m:r>
                                <m:r>
                                  <a:rPr lang="en-US" altLang="zh-CN" sz="2000" b="0" i="1" smtClean="0">
                                    <a:solidFill>
                                      <a:schemeClr val="bg1"/>
                                    </a:solidFill>
                                    <a:latin typeface="Cambria Math" panose="02040503050406030204" pitchFamily="18" charset="0"/>
                                  </a:rPr>
                                  <m:t>)</m:t>
                                </m:r>
                              </m:e>
                            </m:d>
                          </m:e>
                          <m:sup>
                            <m:r>
                              <a:rPr lang="zh-CN" altLang="en-US" sz="2000" i="1">
                                <a:solidFill>
                                  <a:schemeClr val="bg1"/>
                                </a:solidFill>
                                <a:latin typeface="Cambria Math" panose="02040503050406030204" pitchFamily="18" charset="0"/>
                              </a:rPr>
                              <m:t>2</m:t>
                            </m:r>
                          </m:sup>
                        </m:sSup>
                        <m:r>
                          <a:rPr lang="zh-CN" altLang="en-US" sz="2000" i="1">
                            <a:solidFill>
                              <a:schemeClr val="bg1"/>
                            </a:solidFill>
                            <a:latin typeface="Cambria Math" panose="02040503050406030204" pitchFamily="18" charset="0"/>
                          </a:rPr>
                          <m:t>+</m:t>
                        </m:r>
                        <m:sSup>
                          <m:sSupPr>
                            <m:ctrlPr>
                              <a:rPr lang="zh-CN" altLang="en-US" sz="2000" i="1">
                                <a:solidFill>
                                  <a:schemeClr val="bg1"/>
                                </a:solidFill>
                                <a:latin typeface="Cambria Math" panose="02040503050406030204" pitchFamily="18" charset="0"/>
                              </a:rPr>
                            </m:ctrlPr>
                          </m:sSupPr>
                          <m:e>
                            <m:d>
                              <m:dPr>
                                <m:ctrlPr>
                                  <a:rPr lang="zh-CN" altLang="en-US" sz="2000" i="1">
                                    <a:solidFill>
                                      <a:schemeClr val="bg1"/>
                                    </a:solidFill>
                                    <a:latin typeface="Cambria Math" panose="02040503050406030204" pitchFamily="18" charset="0"/>
                                  </a:rPr>
                                </m:ctrlPr>
                              </m:dPr>
                              <m:e>
                                <m:r>
                                  <a:rPr lang="zh-CN" altLang="en-US" sz="2000" i="1">
                                    <a:solidFill>
                                      <a:schemeClr val="bg1"/>
                                    </a:solidFill>
                                    <a:latin typeface="Cambria Math" panose="02040503050406030204" pitchFamily="18" charset="0"/>
                                  </a:rPr>
                                  <m:t>𝜌</m:t>
                                </m:r>
                                <m:f>
                                  <m:fPr>
                                    <m:ctrlPr>
                                      <a:rPr lang="en-US" altLang="zh-CN" sz="2000" i="1">
                                        <a:solidFill>
                                          <a:schemeClr val="bg1"/>
                                        </a:solidFill>
                                        <a:latin typeface="Cambria Math" panose="02040503050406030204" pitchFamily="18" charset="0"/>
                                      </a:rPr>
                                    </m:ctrlPr>
                                  </m:fPr>
                                  <m:num>
                                    <m:r>
                                      <a:rPr lang="en-US" altLang="zh-CN" sz="2000" i="1">
                                        <a:solidFill>
                                          <a:schemeClr val="bg1"/>
                                        </a:solidFill>
                                        <a:latin typeface="Cambria Math" panose="02040503050406030204" pitchFamily="18" charset="0"/>
                                      </a:rPr>
                                      <m:t>1</m:t>
                                    </m:r>
                                  </m:num>
                                  <m:den>
                                    <m:r>
                                      <a:rPr lang="en-US" altLang="zh-CN" sz="2000" i="1">
                                        <a:solidFill>
                                          <a:schemeClr val="bg1"/>
                                        </a:solidFill>
                                        <a:latin typeface="Cambria Math" panose="02040503050406030204" pitchFamily="18" charset="0"/>
                                      </a:rPr>
                                      <m:t>𝑚</m:t>
                                    </m:r>
                                  </m:den>
                                </m:f>
                                <m:r>
                                  <a:rPr lang="en-US" altLang="zh-CN" sz="2000" b="0" i="1" smtClean="0">
                                    <a:solidFill>
                                      <a:schemeClr val="bg1"/>
                                    </a:solidFill>
                                    <a:latin typeface="Cambria Math" panose="02040503050406030204" pitchFamily="18" charset="0"/>
                                  </a:rPr>
                                  <m:t>𝑢</m:t>
                                </m:r>
                                <m:r>
                                  <a:rPr lang="en-US" altLang="zh-CN"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𝑚</m:t>
                                </m:r>
                                <m:r>
                                  <a:rPr lang="en-US" altLang="zh-CN" sz="2000" b="0" i="1" smtClean="0">
                                    <a:solidFill>
                                      <a:schemeClr val="bg1"/>
                                    </a:solidFill>
                                    <a:latin typeface="Cambria Math" panose="02040503050406030204" pitchFamily="18" charset="0"/>
                                  </a:rPr>
                                  <m:t>)</m:t>
                                </m:r>
                              </m:e>
                            </m:d>
                          </m:e>
                          <m:sup>
                            <m:r>
                              <a:rPr lang="zh-CN" altLang="en-US" sz="2000" i="1">
                                <a:solidFill>
                                  <a:schemeClr val="bg1"/>
                                </a:solidFill>
                                <a:latin typeface="Cambria Math" panose="02040503050406030204" pitchFamily="18" charset="0"/>
                              </a:rPr>
                              <m:t>2</m:t>
                            </m:r>
                          </m:sup>
                        </m:sSup>
                      </m:e>
                    </m:rad>
                  </m:oMath>
                </a14:m>
                <a:endParaRPr lang="en-US" altLang="zh-CN" sz="2000" i="1" dirty="0">
                  <a:solidFill>
                    <a:schemeClr val="bg1"/>
                  </a:solidFill>
                  <a:latin typeface="Cambria Math" panose="02040503050406030204" pitchFamily="18" charset="0"/>
                </a:endParaRPr>
              </a:p>
              <a:p>
                <a:pPr marL="288290" indent="-288290">
                  <a:lnSpc>
                    <a:spcPct val="120000"/>
                  </a:lnSpc>
                </a:pPr>
                <a14:m>
                  <m:oMathPara xmlns:m="http://schemas.openxmlformats.org/officeDocument/2006/math">
                    <m:oMathParaPr>
                      <m:jc m:val="left"/>
                    </m:oMathParaPr>
                    <m:oMath xmlns:m="http://schemas.openxmlformats.org/officeDocument/2006/math">
                      <m:r>
                        <a:rPr lang="en-US" altLang="zh-CN"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8</m:t>
                      </m:r>
                      <m:r>
                        <a:rPr lang="en-US" altLang="zh-CN"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0</m:t>
                      </m:r>
                      <m:r>
                        <a:rPr lang="en-US" altLang="zh-CN" sz="2000" b="0" i="1" smtClean="0">
                          <a:solidFill>
                            <a:schemeClr val="bg1"/>
                          </a:solidFill>
                          <a:latin typeface="Cambria Math" panose="02040503050406030204" pitchFamily="18" charset="0"/>
                        </a:rPr>
                        <m:t>899</m:t>
                      </m:r>
                      <m:r>
                        <a:rPr lang="en-US" altLang="zh-CN" sz="2000" i="1">
                          <a:solidFill>
                            <a:schemeClr val="bg1"/>
                          </a:solidFill>
                          <a:latin typeface="Cambria Math" panose="02040503050406030204" pitchFamily="18" charset="0"/>
                        </a:rPr>
                        <m:t> </m:t>
                      </m:r>
                      <m:r>
                        <a:rPr lang="en-US" altLang="zh-CN" sz="2000" i="1" smtClean="0">
                          <a:solidFill>
                            <a:schemeClr val="bg1"/>
                          </a:solidFill>
                          <a:latin typeface="Cambria Math" panose="02040503050406030204" pitchFamily="18" charset="0"/>
                          <a:ea typeface="Cambria Math" panose="02040503050406030204" pitchFamily="18" charset="0"/>
                        </a:rPr>
                        <m:t>×</m:t>
                      </m:r>
                      <m:r>
                        <a:rPr lang="en-US" altLang="zh-CN" sz="2000">
                          <a:solidFill>
                            <a:schemeClr val="bg1"/>
                          </a:solidFill>
                          <a:latin typeface="Cambria Math" panose="02040503050406030204" pitchFamily="18" charset="0"/>
                        </a:rPr>
                        <m:t> </m:t>
                      </m:r>
                      <m:rad>
                        <m:radPr>
                          <m:degHide m:val="on"/>
                          <m:ctrlPr>
                            <a:rPr lang="zh-CN" altLang="en-US" sz="2000" i="1">
                              <a:solidFill>
                                <a:schemeClr val="bg1"/>
                              </a:solidFill>
                              <a:latin typeface="Cambria Math" panose="02040503050406030204" pitchFamily="18" charset="0"/>
                            </a:rPr>
                          </m:ctrlPr>
                        </m:radPr>
                        <m:deg/>
                        <m:e>
                          <m:sSup>
                            <m:sSupPr>
                              <m:ctrlPr>
                                <a:rPr lang="en-US" altLang="zh-CN" sz="2000" i="1">
                                  <a:solidFill>
                                    <a:schemeClr val="bg1"/>
                                  </a:solidFill>
                                  <a:latin typeface="Cambria Math" panose="02040503050406030204" pitchFamily="18" charset="0"/>
                                </a:rPr>
                              </m:ctrlPr>
                            </m:sSupPr>
                            <m:e>
                              <m:d>
                                <m:dPr>
                                  <m:ctrlPr>
                                    <a:rPr lang="en-US" altLang="zh-CN" sz="2000" i="1">
                                      <a:solidFill>
                                        <a:schemeClr val="bg1"/>
                                      </a:solidFill>
                                      <a:latin typeface="Cambria Math" panose="02040503050406030204" pitchFamily="18" charset="0"/>
                                    </a:rPr>
                                  </m:ctrlPr>
                                </m:dPr>
                                <m:e>
                                  <m:r>
                                    <a:rPr lang="en-US" altLang="zh-CN" sz="2000" i="1" smtClean="0">
                                      <a:solidFill>
                                        <a:srgbClr val="C00000"/>
                                      </a:solidFill>
                                      <a:latin typeface="Cambria Math" panose="02040503050406030204" pitchFamily="18" charset="0"/>
                                    </a:rPr>
                                    <m:t>2</m:t>
                                  </m:r>
                                  <m:r>
                                    <a:rPr lang="en-US" altLang="zh-CN" sz="2000" i="1" smtClean="0">
                                      <a:solidFill>
                                        <a:srgbClr val="C00000"/>
                                      </a:solidFill>
                                      <a:latin typeface="Cambria Math" panose="02040503050406030204" pitchFamily="18" charset="0"/>
                                      <a:ea typeface="Cambria Math" panose="02040503050406030204" pitchFamily="18" charset="0"/>
                                    </a:rPr>
                                    <m:t>×</m:t>
                                  </m:r>
                                  <m:f>
                                    <m:fPr>
                                      <m:ctrlPr>
                                        <a:rPr lang="en-US" altLang="zh-CN" sz="2000" i="1">
                                          <a:solidFill>
                                            <a:schemeClr val="bg1"/>
                                          </a:solidFill>
                                          <a:latin typeface="Cambria Math" panose="02040503050406030204" pitchFamily="18" charset="0"/>
                                        </a:rPr>
                                      </m:ctrlPr>
                                    </m:fPr>
                                    <m:num>
                                      <m:r>
                                        <a:rPr lang="en-US" altLang="zh-CN" sz="2000" i="1">
                                          <a:solidFill>
                                            <a:schemeClr val="bg1"/>
                                          </a:solidFill>
                                          <a:latin typeface="Cambria Math" panose="02040503050406030204" pitchFamily="18" charset="0"/>
                                        </a:rPr>
                                        <m:t>0</m:t>
                                      </m:r>
                                      <m:r>
                                        <a:rPr lang="en-US" altLang="zh-CN"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00</m:t>
                                      </m:r>
                                      <m:r>
                                        <a:rPr lang="en-US" altLang="zh-CN" sz="2000" i="1" smtClean="0">
                                          <a:solidFill>
                                            <a:schemeClr val="bg1"/>
                                          </a:solidFill>
                                          <a:latin typeface="Cambria Math" panose="02040503050406030204" pitchFamily="18" charset="0"/>
                                        </a:rPr>
                                        <m:t>6</m:t>
                                      </m:r>
                                      <m:r>
                                        <a:rPr lang="en-US" altLang="zh-CN" sz="2000" b="0" i="1" smtClean="0">
                                          <a:solidFill>
                                            <a:schemeClr val="bg1"/>
                                          </a:solidFill>
                                          <a:latin typeface="Cambria Math" panose="02040503050406030204" pitchFamily="18" charset="0"/>
                                        </a:rPr>
                                        <m:t>6</m:t>
                                      </m:r>
                                    </m:num>
                                    <m:den>
                                      <m:r>
                                        <a:rPr lang="en-US" altLang="zh-CN" sz="2000" i="1">
                                          <a:solidFill>
                                            <a:schemeClr val="bg1"/>
                                          </a:solidFill>
                                          <a:latin typeface="Cambria Math" panose="02040503050406030204" pitchFamily="18" charset="0"/>
                                        </a:rPr>
                                        <m:t>10</m:t>
                                      </m:r>
                                      <m:r>
                                        <a:rPr lang="en-US" altLang="zh-CN"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49</m:t>
                                      </m:r>
                                      <m:r>
                                        <a:rPr lang="en-US" altLang="zh-CN" sz="2000" b="0" i="1" smtClean="0">
                                          <a:solidFill>
                                            <a:schemeClr val="bg1"/>
                                          </a:solidFill>
                                          <a:latin typeface="Cambria Math" panose="02040503050406030204" pitchFamily="18" charset="0"/>
                                        </a:rPr>
                                        <m:t>62</m:t>
                                      </m:r>
                                    </m:den>
                                  </m:f>
                                </m:e>
                              </m:d>
                            </m:e>
                            <m:sup>
                              <m:r>
                                <a:rPr lang="en-US" altLang="zh-CN" sz="2000" i="1">
                                  <a:solidFill>
                                    <a:schemeClr val="bg1"/>
                                  </a:solidFill>
                                  <a:latin typeface="Cambria Math" panose="02040503050406030204" pitchFamily="18" charset="0"/>
                                </a:rPr>
                                <m:t>2</m:t>
                              </m:r>
                            </m:sup>
                          </m:sSup>
                          <m:r>
                            <a:rPr lang="zh-CN" altLang="en-US" sz="2000" i="1">
                              <a:solidFill>
                                <a:schemeClr val="bg1"/>
                              </a:solidFill>
                              <a:latin typeface="Cambria Math" panose="02040503050406030204" pitchFamily="18" charset="0"/>
                            </a:rPr>
                            <m:t>+</m:t>
                          </m:r>
                          <m:sSup>
                            <m:sSupPr>
                              <m:ctrlPr>
                                <a:rPr lang="en-US" altLang="zh-CN" sz="2000" i="1">
                                  <a:solidFill>
                                    <a:schemeClr val="bg1"/>
                                  </a:solidFill>
                                  <a:latin typeface="Cambria Math" panose="02040503050406030204" pitchFamily="18" charset="0"/>
                                </a:rPr>
                              </m:ctrlPr>
                            </m:sSupPr>
                            <m:e>
                              <m:d>
                                <m:dPr>
                                  <m:ctrlPr>
                                    <a:rPr lang="en-US" altLang="zh-CN" sz="2000" i="1">
                                      <a:solidFill>
                                        <a:schemeClr val="bg1"/>
                                      </a:solidFill>
                                      <a:latin typeface="Cambria Math" panose="02040503050406030204" pitchFamily="18" charset="0"/>
                                    </a:rPr>
                                  </m:ctrlPr>
                                </m:dPr>
                                <m:e>
                                  <m:f>
                                    <m:fPr>
                                      <m:ctrlPr>
                                        <a:rPr lang="en-US" altLang="zh-CN" sz="2000" i="1">
                                          <a:solidFill>
                                            <a:schemeClr val="bg1"/>
                                          </a:solidFill>
                                          <a:latin typeface="Cambria Math" panose="02040503050406030204" pitchFamily="18" charset="0"/>
                                        </a:rPr>
                                      </m:ctrlPr>
                                    </m:fPr>
                                    <m:num>
                                      <m:r>
                                        <a:rPr lang="en-US" altLang="zh-CN" sz="2000" i="1">
                                          <a:solidFill>
                                            <a:schemeClr val="bg1"/>
                                          </a:solidFill>
                                          <a:latin typeface="Cambria Math" panose="02040503050406030204" pitchFamily="18" charset="0"/>
                                        </a:rPr>
                                        <m:t>0</m:t>
                                      </m:r>
                                      <m:r>
                                        <a:rPr lang="en-US" altLang="zh-CN"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0</m:t>
                                      </m:r>
                                      <m:r>
                                        <a:rPr lang="en-US" altLang="zh-CN" sz="2000" b="0" i="1" smtClean="0">
                                          <a:solidFill>
                                            <a:schemeClr val="bg1"/>
                                          </a:solidFill>
                                          <a:latin typeface="Cambria Math" panose="02040503050406030204" pitchFamily="18" charset="0"/>
                                        </a:rPr>
                                        <m:t>14</m:t>
                                      </m:r>
                                    </m:num>
                                    <m:den>
                                      <m:r>
                                        <a:rPr lang="en-US" altLang="zh-CN" sz="2000" i="1">
                                          <a:solidFill>
                                            <a:schemeClr val="bg1"/>
                                          </a:solidFill>
                                          <a:latin typeface="Cambria Math" panose="02040503050406030204" pitchFamily="18" charset="0"/>
                                        </a:rPr>
                                        <m:t>20</m:t>
                                      </m:r>
                                      <m:r>
                                        <a:rPr lang="en-US" altLang="zh-CN"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00</m:t>
                                      </m:r>
                                      <m:r>
                                        <a:rPr lang="en-US" altLang="zh-CN" sz="2000" b="0" i="1" smtClean="0">
                                          <a:solidFill>
                                            <a:schemeClr val="bg1"/>
                                          </a:solidFill>
                                          <a:latin typeface="Cambria Math" panose="02040503050406030204" pitchFamily="18" charset="0"/>
                                        </a:rPr>
                                        <m:t>0</m:t>
                                      </m:r>
                                    </m:den>
                                  </m:f>
                                </m:e>
                              </m:d>
                            </m:e>
                            <m:sup>
                              <m:r>
                                <a:rPr lang="en-US" altLang="zh-CN" sz="2000" i="1">
                                  <a:solidFill>
                                    <a:schemeClr val="bg1"/>
                                  </a:solidFill>
                                  <a:latin typeface="Cambria Math" panose="02040503050406030204" pitchFamily="18" charset="0"/>
                                </a:rPr>
                                <m:t>2</m:t>
                              </m:r>
                            </m:sup>
                          </m:sSup>
                          <m:r>
                            <a:rPr lang="en-US" altLang="zh-CN" sz="2000" i="1">
                              <a:solidFill>
                                <a:schemeClr val="bg1"/>
                              </a:solidFill>
                              <a:latin typeface="Cambria Math" panose="02040503050406030204" pitchFamily="18" charset="0"/>
                            </a:rPr>
                            <m:t>+</m:t>
                          </m:r>
                          <m:sSup>
                            <m:sSupPr>
                              <m:ctrlPr>
                                <a:rPr lang="en-US" altLang="zh-CN" sz="2000" i="1">
                                  <a:solidFill>
                                    <a:schemeClr val="bg1"/>
                                  </a:solidFill>
                                  <a:latin typeface="Cambria Math" panose="02040503050406030204" pitchFamily="18" charset="0"/>
                                </a:rPr>
                              </m:ctrlPr>
                            </m:sSupPr>
                            <m:e>
                              <m:d>
                                <m:dPr>
                                  <m:ctrlPr>
                                    <a:rPr lang="en-US" altLang="zh-CN" sz="2000" i="1">
                                      <a:solidFill>
                                        <a:schemeClr val="bg1"/>
                                      </a:solidFill>
                                      <a:latin typeface="Cambria Math" panose="02040503050406030204" pitchFamily="18" charset="0"/>
                                    </a:rPr>
                                  </m:ctrlPr>
                                </m:dPr>
                                <m:e>
                                  <m:f>
                                    <m:fPr>
                                      <m:ctrlPr>
                                        <a:rPr lang="en-US" altLang="zh-CN" sz="2000" i="1">
                                          <a:solidFill>
                                            <a:schemeClr val="bg1"/>
                                          </a:solidFill>
                                          <a:latin typeface="Cambria Math" panose="02040503050406030204" pitchFamily="18" charset="0"/>
                                        </a:rPr>
                                      </m:ctrlPr>
                                    </m:fPr>
                                    <m:num>
                                      <m:r>
                                        <a:rPr lang="en-US" altLang="zh-CN" sz="2000" i="1">
                                          <a:solidFill>
                                            <a:schemeClr val="bg1"/>
                                          </a:solidFill>
                                          <a:latin typeface="Cambria Math" panose="02040503050406030204" pitchFamily="18" charset="0"/>
                                        </a:rPr>
                                        <m:t>0</m:t>
                                      </m:r>
                                      <m:r>
                                        <a:rPr lang="en-US" altLang="zh-CN"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0</m:t>
                                      </m:r>
                                      <m:r>
                                        <a:rPr lang="en-US" altLang="zh-CN" sz="2000" b="0" i="1" smtClean="0">
                                          <a:solidFill>
                                            <a:schemeClr val="bg1"/>
                                          </a:solidFill>
                                          <a:latin typeface="Cambria Math" panose="02040503050406030204" pitchFamily="18" charset="0"/>
                                        </a:rPr>
                                        <m:t>23</m:t>
                                      </m:r>
                                    </m:num>
                                    <m:den>
                                      <m:r>
                                        <a:rPr lang="en-US" altLang="zh-CN" sz="2000" i="1">
                                          <a:solidFill>
                                            <a:schemeClr val="bg1"/>
                                          </a:solidFill>
                                          <a:latin typeface="Cambria Math" panose="02040503050406030204" pitchFamily="18" charset="0"/>
                                        </a:rPr>
                                        <m:t>14</m:t>
                                      </m:r>
                                      <m:r>
                                        <a:rPr lang="en-US" altLang="zh-CN" sz="2000" i="1">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00</m:t>
                                      </m:r>
                                      <m:r>
                                        <a:rPr lang="en-US" altLang="zh-CN" sz="2000" b="0" i="1" smtClean="0">
                                          <a:solidFill>
                                            <a:schemeClr val="bg1"/>
                                          </a:solidFill>
                                          <a:latin typeface="Cambria Math" panose="02040503050406030204" pitchFamily="18" charset="0"/>
                                        </a:rPr>
                                        <m:t>0</m:t>
                                      </m:r>
                                    </m:den>
                                  </m:f>
                                </m:e>
                              </m:d>
                            </m:e>
                            <m:sup>
                              <m:r>
                                <a:rPr lang="en-US" altLang="zh-CN" sz="2000" i="1">
                                  <a:solidFill>
                                    <a:schemeClr val="bg1"/>
                                  </a:solidFill>
                                  <a:latin typeface="Cambria Math" panose="02040503050406030204" pitchFamily="18" charset="0"/>
                                </a:rPr>
                                <m:t>2</m:t>
                              </m:r>
                            </m:sup>
                          </m:sSup>
                        </m:e>
                      </m:rad>
                    </m:oMath>
                    <m:oMath xmlns:m="http://schemas.openxmlformats.org/officeDocument/2006/math">
                      <m:r>
                        <m:rPr>
                          <m:nor/>
                        </m:rPr>
                        <a:rPr lang="zh-CN" altLang="en-US" sz="2000">
                          <a:solidFill>
                            <a:schemeClr val="bg1"/>
                          </a:solidFill>
                          <a:latin typeface="Cambria Math" panose="02040503050406030204" pitchFamily="18" charset="0"/>
                        </a:rPr>
                        <m:t>= </m:t>
                      </m:r>
                      <m:r>
                        <a:rPr lang="zh-CN" altLang="en-US" sz="2000" i="1">
                          <a:solidFill>
                            <a:schemeClr val="bg1"/>
                          </a:solidFill>
                          <a:latin typeface="Cambria Math" panose="02040503050406030204" pitchFamily="18" charset="0"/>
                        </a:rPr>
                        <m:t>0</m:t>
                      </m:r>
                      <m:r>
                        <a:rPr lang="zh-CN" altLang="en-US" sz="2000" i="1">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0</m:t>
                      </m:r>
                      <m:r>
                        <a:rPr lang="en-US" altLang="zh-CN" sz="2000" i="1">
                          <a:solidFill>
                            <a:schemeClr val="bg1"/>
                          </a:solidFill>
                          <a:latin typeface="Cambria Math" panose="02040503050406030204" pitchFamily="18" charset="0"/>
                        </a:rPr>
                        <m:t>1</m:t>
                      </m:r>
                      <m:r>
                        <a:rPr lang="en-US" altLang="zh-CN" sz="2000" b="0" i="1" smtClean="0">
                          <a:solidFill>
                            <a:schemeClr val="bg1"/>
                          </a:solidFill>
                          <a:latin typeface="Cambria Math" panose="02040503050406030204" pitchFamily="18" charset="0"/>
                        </a:rPr>
                        <m:t>8</m:t>
                      </m:r>
                      <m:r>
                        <a:rPr lang="en-US" altLang="zh-CN" sz="2000" i="1">
                          <a:solidFill>
                            <a:schemeClr val="bg1"/>
                          </a:solidFill>
                          <a:latin typeface="Cambria Math" panose="02040503050406030204" pitchFamily="18" charset="0"/>
                        </a:rPr>
                        <m:t> </m:t>
                      </m:r>
                      <m:r>
                        <m:rPr>
                          <m:sty m:val="p"/>
                        </m:rPr>
                        <a:rPr lang="zh-CN" altLang="en-US" sz="2000" i="0">
                          <a:solidFill>
                            <a:schemeClr val="bg1"/>
                          </a:solidFill>
                          <a:latin typeface="Cambria Math" panose="02040503050406030204" pitchFamily="18" charset="0"/>
                        </a:rPr>
                        <m:t>g</m:t>
                      </m:r>
                      <m:r>
                        <a:rPr lang="zh-CN" altLang="en-US" sz="2000" i="0">
                          <a:solidFill>
                            <a:schemeClr val="bg1"/>
                          </a:solidFill>
                          <a:latin typeface="Cambria Math" panose="02040503050406030204" pitchFamily="18" charset="0"/>
                        </a:rPr>
                        <m:t>/</m:t>
                      </m:r>
                      <m:r>
                        <m:rPr>
                          <m:sty m:val="p"/>
                        </m:rPr>
                        <a:rPr lang="zh-CN" altLang="en-US" sz="2000" i="0">
                          <a:solidFill>
                            <a:schemeClr val="bg1"/>
                          </a:solidFill>
                          <a:latin typeface="Cambria Math" panose="02040503050406030204" pitchFamily="18" charset="0"/>
                        </a:rPr>
                        <m:t>c</m:t>
                      </m:r>
                      <m:sSup>
                        <m:sSupPr>
                          <m:ctrlPr>
                            <a:rPr lang="zh-CN" altLang="en-US" sz="2000" i="1">
                              <a:solidFill>
                                <a:schemeClr val="bg1"/>
                              </a:solidFill>
                              <a:latin typeface="Cambria Math" panose="02040503050406030204" pitchFamily="18" charset="0"/>
                            </a:rPr>
                          </m:ctrlPr>
                        </m:sSupPr>
                        <m:e>
                          <m:r>
                            <m:rPr>
                              <m:sty m:val="p"/>
                            </m:rPr>
                            <a:rPr lang="zh-CN" altLang="en-US" sz="2000" i="0">
                              <a:solidFill>
                                <a:schemeClr val="bg1"/>
                              </a:solidFill>
                              <a:latin typeface="Cambria Math" panose="02040503050406030204" pitchFamily="18" charset="0"/>
                            </a:rPr>
                            <m:t>m</m:t>
                          </m:r>
                        </m:e>
                        <m:sup>
                          <m:r>
                            <a:rPr lang="zh-CN" altLang="en-US" sz="2000" i="0">
                              <a:solidFill>
                                <a:schemeClr val="bg1"/>
                              </a:solidFill>
                              <a:latin typeface="Cambria Math" panose="02040503050406030204" pitchFamily="18" charset="0"/>
                            </a:rPr>
                            <m:t>3</m:t>
                          </m:r>
                        </m:sup>
                      </m:sSup>
                    </m:oMath>
                  </m:oMathPara>
                </a14:m>
                <a:endParaRPr lang="zh-CN" altLang="en-US" sz="2000" b="1" dirty="0">
                  <a:solidFill>
                    <a:schemeClr val="bg1"/>
                  </a:solidFill>
                  <a:latin typeface="Arial" panose="020B0604020202020204" pitchFamily="34" charset="0"/>
                </a:endParaRPr>
              </a:p>
            </p:txBody>
          </p:sp>
        </mc:Choice>
        <mc:Fallback>
          <p:sp>
            <p:nvSpPr>
              <p:cNvPr id="5" name="Object 43"/>
              <p:cNvSpPr txBox="1">
                <a:spLocks noRot="1" noChangeAspect="1" noMove="1" noResize="1" noEditPoints="1" noAdjustHandles="1" noChangeArrowheads="1" noChangeShapeType="1" noTextEdit="1"/>
              </p:cNvSpPr>
              <p:nvPr/>
            </p:nvSpPr>
            <p:spPr bwMode="auto">
              <a:xfrm>
                <a:off x="1204742" y="2645472"/>
                <a:ext cx="7518132" cy="3217919"/>
              </a:xfrm>
              <a:prstGeom prst="rect">
                <a:avLst/>
              </a:prstGeom>
              <a:blipFill rotWithShape="1">
                <a:blip r:embed="rId3"/>
                <a:stretch>
                  <a:fillRect l="-2" t="-2" r="7" b="14"/>
                </a:stretch>
              </a:blipFill>
              <a:ln>
                <a:noFill/>
              </a:ln>
            </p:spPr>
            <p:txBody>
              <a:bodyPr/>
              <a:lstStyle/>
              <a:p>
                <a:r>
                  <a:rPr lang="zh-CN" altLang="en-US">
                    <a:noFill/>
                  </a:rPr>
                  <a:t> </a:t>
                </a:r>
              </a:p>
            </p:txBody>
          </p:sp>
        </mc:Fallback>
      </mc:AlternateContent>
      <p:sp>
        <p:nvSpPr>
          <p:cNvPr id="6" name="文本框 5"/>
          <p:cNvSpPr txBox="1"/>
          <p:nvPr/>
        </p:nvSpPr>
        <p:spPr>
          <a:xfrm>
            <a:off x="2351584" y="655746"/>
            <a:ext cx="1723549" cy="461665"/>
          </a:xfrm>
          <a:prstGeom prst="rect">
            <a:avLst/>
          </a:prstGeom>
          <a:noFill/>
        </p:spPr>
        <p:txBody>
          <a:bodyPr wrap="none" rtlCol="0">
            <a:spAutoFit/>
          </a:bodyPr>
          <a:lstStyle/>
          <a:p>
            <a:pPr eaLnBrk="1" fontAlgn="auto" hangingPunct="1">
              <a:spcBef>
                <a:spcPts val="0"/>
              </a:spcBef>
              <a:spcAft>
                <a:spcPts val="0"/>
              </a:spcAft>
              <a:defRPr/>
            </a:pPr>
            <a:r>
              <a:rPr lang="zh-CN" altLang="en-US" sz="2400" dirty="0">
                <a:solidFill>
                  <a:schemeClr val="bg1"/>
                </a:solidFill>
                <a:latin typeface="微软雅黑" panose="020B0503020204020204" pitchFamily="34" charset="-122"/>
                <a:ea typeface="微软雅黑" panose="020B0503020204020204" pitchFamily="34" charset="-122"/>
              </a:rPr>
              <a:t>测量模型：</a:t>
            </a:r>
            <a:endParaRPr lang="zh-CN" altLang="en-US" sz="2400"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406212" y="1215107"/>
            <a:ext cx="91151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06212" y="2636912"/>
            <a:ext cx="9433048"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6553" y="627996"/>
            <a:ext cx="902811" cy="523220"/>
          </a:xfrm>
          <a:prstGeom prst="rect">
            <a:avLst/>
          </a:prstGeom>
          <a:noFill/>
        </p:spPr>
        <p:txBody>
          <a:bodyPr wrap="none" rtlCol="0">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构建</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6344" y="1717064"/>
            <a:ext cx="902811" cy="523220"/>
          </a:xfrm>
          <a:prstGeom prst="rect">
            <a:avLst/>
          </a:prstGeom>
          <a:noFill/>
        </p:spPr>
        <p:txBody>
          <a:bodyPr wrap="none" rtlCol="0">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分析</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1" name="矩形 10"/>
              <p:cNvSpPr/>
              <p:nvPr/>
            </p:nvSpPr>
            <p:spPr>
              <a:xfrm>
                <a:off x="1389856" y="1307661"/>
                <a:ext cx="6578351" cy="1162113"/>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solidFill>
                            <a:schemeClr val="bg1"/>
                          </a:solidFill>
                          <a:latin typeface="Cambria Math" panose="02040503050406030204" pitchFamily="18" charset="0"/>
                        </a:rPr>
                        <m:t>𝜌</m:t>
                      </m:r>
                      <m:r>
                        <a:rPr lang="en-US" altLang="zh-CN" sz="2400" b="0" i="1" smtClean="0">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4</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14</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0</m:t>
                          </m:r>
                        </m:num>
                        <m:den>
                          <m:r>
                            <a:rPr lang="zh-CN" altLang="en-US" sz="2400" i="1">
                              <a:solidFill>
                                <a:schemeClr val="bg1"/>
                              </a:solidFill>
                              <a:latin typeface="Cambria Math" panose="02040503050406030204" pitchFamily="18" charset="0"/>
                            </a:rPr>
                            <m:t>3</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141</m:t>
                          </m:r>
                          <m:r>
                            <a:rPr lang="en-US" altLang="zh-CN" sz="2400" b="0" i="1" smtClean="0">
                              <a:solidFill>
                                <a:schemeClr val="bg1"/>
                              </a:solidFill>
                              <a:latin typeface="Cambria Math" panose="02040503050406030204" pitchFamily="18" charset="0"/>
                            </a:rPr>
                            <m:t>59</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49</m:t>
                          </m:r>
                          <m:sSup>
                            <m:sSupPr>
                              <m:ctrlPr>
                                <a:rPr lang="zh-CN" altLang="en-US" sz="2400" i="1">
                                  <a:solidFill>
                                    <a:schemeClr val="bg1"/>
                                  </a:solidFill>
                                  <a:latin typeface="Cambria Math" panose="02040503050406030204" pitchFamily="18" charset="0"/>
                                </a:rPr>
                              </m:ctrlPr>
                            </m:sSupPr>
                            <m:e>
                              <m:r>
                                <a:rPr lang="en-US" altLang="zh-CN" sz="2400" b="0" i="1" smtClean="0">
                                  <a:solidFill>
                                    <a:schemeClr val="bg1"/>
                                  </a:solidFill>
                                  <a:latin typeface="Cambria Math" panose="02040503050406030204" pitchFamily="18" charset="0"/>
                                </a:rPr>
                                <m:t>6</m:t>
                              </m:r>
                              <m:r>
                                <a:rPr lang="zh-CN" altLang="en-US" sz="2400" i="1">
                                  <a:solidFill>
                                    <a:schemeClr val="bg1"/>
                                  </a:solidFill>
                                  <a:latin typeface="Cambria Math" panose="02040503050406030204" pitchFamily="18" charset="0"/>
                                </a:rPr>
                                <m:t>2</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20</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00</m:t>
                          </m:r>
                          <m:r>
                            <a:rPr lang="en-US" altLang="zh-CN" sz="2400" b="0" i="1" smtClean="0">
                              <a:solidFill>
                                <a:schemeClr val="bg1"/>
                              </a:solidFill>
                              <a:latin typeface="Cambria Math" panose="02040503050406030204" pitchFamily="18" charset="0"/>
                            </a:rPr>
                            <m:t>0</m:t>
                          </m:r>
                        </m:den>
                      </m:f>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8</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en-US" altLang="zh-CN" sz="2400" b="0" i="1" smtClean="0">
                          <a:solidFill>
                            <a:schemeClr val="bg1"/>
                          </a:solidFill>
                          <a:latin typeface="Cambria Math" panose="02040503050406030204" pitchFamily="18" charset="0"/>
                        </a:rPr>
                        <m:t>89</m:t>
                      </m:r>
                      <m:r>
                        <a:rPr lang="zh-CN" altLang="en-US" sz="2400" i="1">
                          <a:solidFill>
                            <a:schemeClr val="bg1"/>
                          </a:solidFill>
                          <a:latin typeface="Cambria Math" panose="02040503050406030204" pitchFamily="18" charset="0"/>
                        </a:rPr>
                        <m:t>9</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1</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0</m:t>
                          </m:r>
                        </m:e>
                        <m: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3</m:t>
                          </m:r>
                        </m:sup>
                      </m:sSup>
                      <m:m>
                        <m:mPr>
                          <m:mcs>
                            <m:mc>
                              <m:mcPr>
                                <m:count m:val="2"/>
                                <m:mcJc m:val="center"/>
                              </m:mcPr>
                            </m:mc>
                          </m:mcs>
                          <m:plcHide m:val="on"/>
                          <m:ctrlPr>
                            <a:rPr lang="zh-CN" altLang="en-US" sz="2400" i="1">
                              <a:solidFill>
                                <a:schemeClr val="bg1"/>
                              </a:solidFill>
                              <a:latin typeface="Cambria Math" panose="02040503050406030204" pitchFamily="18" charset="0"/>
                            </a:rPr>
                          </m:ctrlPr>
                        </m:mPr>
                        <m:mr>
                          <m:e>
                            <m:r>
                              <m:rPr>
                                <m:sty m:val="p"/>
                              </m:rPr>
                              <a:rPr lang="zh-CN" altLang="en-US" sz="2400" i="0">
                                <a:solidFill>
                                  <a:schemeClr val="bg1"/>
                                </a:solidFill>
                                <a:latin typeface="Cambria Math" panose="02040503050406030204" pitchFamily="18" charset="0"/>
                              </a:rPr>
                              <m:t>g</m:t>
                            </m:r>
                            <m:r>
                              <a:rPr lang="zh-CN" altLang="en-US" sz="2400" i="0">
                                <a:solidFill>
                                  <a:schemeClr val="bg1"/>
                                </a:solidFill>
                                <a:latin typeface="Cambria Math" panose="02040503050406030204" pitchFamily="18" charset="0"/>
                              </a:rPr>
                              <m:t>/</m:t>
                            </m:r>
                            <m:r>
                              <m:rPr>
                                <m:sty m:val="p"/>
                              </m:rPr>
                              <a:rPr lang="zh-CN" altLang="en-US" sz="2400" i="0">
                                <a:solidFill>
                                  <a:schemeClr val="bg1"/>
                                </a:solidFill>
                                <a:latin typeface="Cambria Math" panose="02040503050406030204" pitchFamily="18" charset="0"/>
                              </a:rPr>
                              <m:t>m</m:t>
                            </m:r>
                            <m:sSup>
                              <m:sSupPr>
                                <m:ctrlPr>
                                  <a:rPr lang="zh-CN" altLang="en-US" sz="2400" i="1">
                                    <a:solidFill>
                                      <a:schemeClr val="bg1"/>
                                    </a:solidFill>
                                    <a:latin typeface="Cambria Math" panose="02040503050406030204" pitchFamily="18" charset="0"/>
                                  </a:rPr>
                                </m:ctrlPr>
                              </m:sSupPr>
                              <m:e>
                                <m:r>
                                  <m:rPr>
                                    <m:sty m:val="p"/>
                                  </m:rPr>
                                  <a:rPr lang="zh-CN" altLang="en-US" sz="2400" i="0">
                                    <a:solidFill>
                                      <a:schemeClr val="bg1"/>
                                    </a:solidFill>
                                    <a:latin typeface="Cambria Math" panose="02040503050406030204" pitchFamily="18" charset="0"/>
                                  </a:rPr>
                                  <m:t>m</m:t>
                                </m:r>
                              </m:e>
                              <m:sup>
                                <m:r>
                                  <a:rPr lang="zh-CN" altLang="en-US" sz="2400" i="0">
                                    <a:solidFill>
                                      <a:schemeClr val="bg1"/>
                                    </a:solidFill>
                                    <a:latin typeface="Cambria Math" panose="02040503050406030204" pitchFamily="18" charset="0"/>
                                  </a:rPr>
                                  <m:t>3</m:t>
                                </m:r>
                              </m:sup>
                            </m:sSup>
                          </m:e>
                          <m:e>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8</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0</m:t>
                            </m:r>
                            <m:r>
                              <a:rPr lang="en-US" altLang="zh-CN" sz="2400" b="0" i="1" smtClean="0">
                                <a:solidFill>
                                  <a:schemeClr val="bg1"/>
                                </a:solidFill>
                                <a:latin typeface="Cambria Math" panose="02040503050406030204" pitchFamily="18" charset="0"/>
                              </a:rPr>
                              <m:t>89</m:t>
                            </m:r>
                            <m:r>
                              <a:rPr lang="zh-CN" altLang="en-US" sz="2400" i="1">
                                <a:solidFill>
                                  <a:schemeClr val="bg1"/>
                                </a:solidFill>
                                <a:latin typeface="Cambria Math" panose="02040503050406030204" pitchFamily="18" charset="0"/>
                              </a:rPr>
                              <m:t>9</m:t>
                            </m:r>
                            <m:m>
                              <m:mPr>
                                <m:mcs>
                                  <m:mc>
                                    <m:mcPr>
                                      <m:count m:val="2"/>
                                      <m:mcJc m:val="center"/>
                                    </m:mcPr>
                                  </m:mc>
                                </m:mcs>
                                <m:plcHide m:val="on"/>
                                <m:ctrlPr>
                                  <a:rPr lang="zh-CN" altLang="en-US" sz="2400" i="1">
                                    <a:solidFill>
                                      <a:schemeClr val="bg1"/>
                                    </a:solidFill>
                                    <a:latin typeface="Cambria Math" panose="02040503050406030204" pitchFamily="18" charset="0"/>
                                  </a:rPr>
                                </m:ctrlPr>
                              </m:mPr>
                              <m:mr>
                                <m:e>
                                  <m:r>
                                    <m:rPr>
                                      <m:sty m:val="p"/>
                                    </m:rPr>
                                    <a:rPr lang="zh-CN" altLang="en-US" sz="2400" i="0">
                                      <a:solidFill>
                                        <a:schemeClr val="bg1"/>
                                      </a:solidFill>
                                      <a:latin typeface="Cambria Math" panose="02040503050406030204" pitchFamily="18" charset="0"/>
                                    </a:rPr>
                                    <m:t>g</m:t>
                                  </m:r>
                                  <m:r>
                                    <a:rPr lang="zh-CN" altLang="en-US" sz="2400" i="0">
                                      <a:solidFill>
                                        <a:schemeClr val="bg1"/>
                                      </a:solidFill>
                                      <a:latin typeface="Cambria Math" panose="02040503050406030204" pitchFamily="18" charset="0"/>
                                    </a:rPr>
                                    <m:t>/</m:t>
                                  </m:r>
                                  <m:r>
                                    <m:rPr>
                                      <m:sty m:val="p"/>
                                    </m:rPr>
                                    <a:rPr lang="zh-CN" altLang="en-US" sz="2400" i="0">
                                      <a:solidFill>
                                        <a:schemeClr val="bg1"/>
                                      </a:solidFill>
                                      <a:latin typeface="Cambria Math" panose="02040503050406030204" pitchFamily="18" charset="0"/>
                                    </a:rPr>
                                    <m:t>c</m:t>
                                  </m:r>
                                  <m:sSup>
                                    <m:sSupPr>
                                      <m:ctrlPr>
                                        <a:rPr lang="zh-CN" altLang="en-US" sz="2400" i="1">
                                          <a:solidFill>
                                            <a:schemeClr val="bg1"/>
                                          </a:solidFill>
                                          <a:latin typeface="Cambria Math" panose="02040503050406030204" pitchFamily="18" charset="0"/>
                                        </a:rPr>
                                      </m:ctrlPr>
                                    </m:sSupPr>
                                    <m:e>
                                      <m:r>
                                        <m:rPr>
                                          <m:sty m:val="p"/>
                                        </m:rPr>
                                        <a:rPr lang="zh-CN" altLang="en-US" sz="2400" i="0">
                                          <a:solidFill>
                                            <a:schemeClr val="bg1"/>
                                          </a:solidFill>
                                          <a:latin typeface="Cambria Math" panose="02040503050406030204" pitchFamily="18" charset="0"/>
                                        </a:rPr>
                                        <m:t>m</m:t>
                                      </m:r>
                                    </m:e>
                                    <m:sup>
                                      <m:r>
                                        <a:rPr lang="zh-CN" altLang="en-US" sz="2400" i="0">
                                          <a:solidFill>
                                            <a:schemeClr val="bg1"/>
                                          </a:solidFill>
                                          <a:latin typeface="Cambria Math" panose="02040503050406030204" pitchFamily="18" charset="0"/>
                                        </a:rPr>
                                        <m:t>3</m:t>
                                      </m:r>
                                    </m:sup>
                                  </m:sSup>
                                </m:e>
                                <m:e/>
                              </m:mr>
                            </m:m>
                          </m:e>
                        </m:mr>
                      </m:m>
                    </m:oMath>
                  </m:oMathPara>
                </a14:m>
                <a:endParaRPr lang="zh-CN" altLang="en-US" sz="2400" dirty="0"/>
              </a:p>
            </p:txBody>
          </p:sp>
        </mc:Choice>
        <mc:Fallback>
          <p:sp>
            <p:nvSpPr>
              <p:cNvPr id="11" name="矩形 10"/>
              <p:cNvSpPr>
                <a:spLocks noRot="1" noChangeAspect="1" noMove="1" noResize="1" noEditPoints="1" noAdjustHandles="1" noChangeArrowheads="1" noChangeShapeType="1" noTextEdit="1"/>
              </p:cNvSpPr>
              <p:nvPr/>
            </p:nvSpPr>
            <p:spPr>
              <a:xfrm>
                <a:off x="1389856" y="1307661"/>
                <a:ext cx="6578351" cy="1162113"/>
              </a:xfrm>
              <a:prstGeom prst="rect">
                <a:avLst/>
              </a:prstGeom>
              <a:blipFill rotWithShape="1">
                <a:blip r:embed="rId4"/>
                <a:stretch>
                  <a:fillRect l="-7" t="-17" r="3" b="22"/>
                </a:stretch>
              </a:blipFill>
            </p:spPr>
            <p:txBody>
              <a:bodyPr/>
              <a:lstStyle/>
              <a:p>
                <a:r>
                  <a:rPr lang="zh-CN" altLang="en-US">
                    <a:noFill/>
                  </a:rPr>
                  <a:t> </a:t>
                </a:r>
              </a:p>
            </p:txBody>
          </p:sp>
        </mc:Fallback>
      </mc:AlternateContent>
      <p:sp>
        <p:nvSpPr>
          <p:cNvPr id="12" name="矩形 11"/>
          <p:cNvSpPr/>
          <p:nvPr/>
        </p:nvSpPr>
        <p:spPr>
          <a:xfrm>
            <a:off x="2207568" y="2267057"/>
            <a:ext cx="6096000" cy="369332"/>
          </a:xfrm>
          <a:prstGeom prst="rect">
            <a:avLst/>
          </a:prstGeom>
        </p:spPr>
        <p:txBody>
          <a:bodyPr>
            <a:spAutoFit/>
          </a:bodyPr>
          <a:lstStyle/>
          <a:p>
            <a:r>
              <a:rPr lang="zh-CN" altLang="en-US" dirty="0"/>
              <a:t>每一项的不确定度都已算出</a:t>
            </a:r>
            <a:endParaRPr lang="zh-CN" altLang="en-US" dirty="0"/>
          </a:p>
        </p:txBody>
      </p:sp>
      <p:sp>
        <p:nvSpPr>
          <p:cNvPr id="13" name="Text Box 2"/>
          <p:cNvSpPr txBox="1">
            <a:spLocks noChangeArrowheads="1"/>
          </p:cNvSpPr>
          <p:nvPr/>
        </p:nvSpPr>
        <p:spPr bwMode="auto">
          <a:xfrm>
            <a:off x="7174964" y="1495768"/>
            <a:ext cx="43216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None/>
              <a:defRPr/>
            </a:pPr>
            <a:r>
              <a:rPr lang="zh-CN" altLang="en-US" sz="2400" dirty="0">
                <a:solidFill>
                  <a:srgbClr val="0070C0"/>
                </a:solidFill>
                <a:latin typeface="微软雅黑" panose="020B0503020204020204" pitchFamily="34" charset="-122"/>
                <a:ea typeface="微软雅黑" panose="020B0503020204020204" pitchFamily="34" charset="-122"/>
              </a:rPr>
              <a:t>常数</a:t>
            </a:r>
            <a:r>
              <a:rPr lang="el-GR"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π</a:t>
            </a:r>
            <a:r>
              <a:rPr lang="zh-CN" altLang="en-US" sz="2400" dirty="0">
                <a:solidFill>
                  <a:srgbClr val="0070C0"/>
                </a:solidFill>
                <a:latin typeface="微软雅黑" panose="020B0503020204020204" pitchFamily="34" charset="-122"/>
                <a:ea typeface="微软雅黑" panose="020B0503020204020204" pitchFamily="34" charset="-122"/>
              </a:rPr>
              <a:t>多取一位 ：</a:t>
            </a:r>
            <a:r>
              <a:rPr lang="en-US" altLang="zh-CN" sz="2400" dirty="0">
                <a:solidFill>
                  <a:srgbClr val="0070C0"/>
                </a:solidFill>
                <a:latin typeface="微软雅黑" panose="020B0503020204020204" pitchFamily="34" charset="-122"/>
                <a:ea typeface="微软雅黑" panose="020B0503020204020204" pitchFamily="34" charset="-122"/>
              </a:rPr>
              <a:t>3.14159</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76344" y="2974432"/>
            <a:ext cx="902811" cy="523220"/>
          </a:xfrm>
          <a:prstGeom prst="rect">
            <a:avLst/>
          </a:prstGeom>
          <a:noFill/>
        </p:spPr>
        <p:txBody>
          <a:bodyPr wrap="none" rtlCol="0">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合成</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15" name="矩形 14"/>
          <p:cNvSpPr/>
          <p:nvPr/>
        </p:nvSpPr>
        <p:spPr>
          <a:xfrm>
            <a:off x="7968208" y="4514699"/>
            <a:ext cx="4112023" cy="2256387"/>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lnSpc>
                <a:spcPct val="150000"/>
              </a:lnSpc>
            </a:pPr>
            <a:r>
              <a:rPr lang="zh-CN" altLang="en-US" sz="2400" dirty="0">
                <a:solidFill>
                  <a:schemeClr val="bg1"/>
                </a:solidFill>
                <a:latin typeface="微软雅黑" panose="020B0503020204020204" pitchFamily="34" charset="-122"/>
                <a:ea typeface="微软雅黑" panose="020B0503020204020204" pitchFamily="34" charset="-122"/>
              </a:rPr>
              <a:t>不确定度的表达：</a:t>
            </a:r>
            <a:endParaRPr lang="en-US" altLang="zh-CN" sz="2400" dirty="0">
              <a:solidFill>
                <a:schemeClr val="bg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不确定度</a:t>
            </a:r>
            <a:r>
              <a:rPr lang="zh-CN" altLang="en-US" b="1" dirty="0">
                <a:solidFill>
                  <a:srgbClr val="C00000"/>
                </a:solidFill>
                <a:latin typeface="微软雅黑" panose="020B0503020204020204" pitchFamily="34" charset="-122"/>
                <a:ea typeface="微软雅黑" panose="020B0503020204020204" pitchFamily="34" charset="-122"/>
              </a:rPr>
              <a:t>只取一位</a:t>
            </a:r>
            <a:r>
              <a:rPr lang="zh-CN" altLang="en-US" dirty="0">
                <a:solidFill>
                  <a:schemeClr val="bg1"/>
                </a:solidFill>
                <a:latin typeface="微软雅黑" panose="020B0503020204020204" pitchFamily="34" charset="-122"/>
                <a:ea typeface="微软雅黑" panose="020B0503020204020204" pitchFamily="34" charset="-122"/>
              </a:rPr>
              <a:t>有效数字</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用括号里的数字表示。</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根据不确定度，确定测量结果的有效数字。</a:t>
            </a:r>
            <a:endParaRPr lang="en-US" altLang="zh-CN" dirty="0">
              <a:solidFill>
                <a:schemeClr val="bg1"/>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9154870" y="4706089"/>
            <a:ext cx="2825128" cy="853819"/>
            <a:chOff x="8904312" y="4473186"/>
            <a:chExt cx="2825128" cy="853819"/>
          </a:xfrm>
        </p:grpSpPr>
        <p:sp>
          <p:nvSpPr>
            <p:cNvPr id="17" name="文本框 16"/>
            <p:cNvSpPr txBox="1"/>
            <p:nvPr/>
          </p:nvSpPr>
          <p:spPr>
            <a:xfrm>
              <a:off x="10390612" y="4473186"/>
              <a:ext cx="1338828" cy="369332"/>
            </a:xfrm>
            <a:prstGeom prst="rect">
              <a:avLst/>
            </a:prstGeom>
            <a:noFill/>
          </p:spPr>
          <p:txBody>
            <a:bodyPr wrap="none" rtlCol="0">
              <a:spAutoFit/>
            </a:bodyPr>
            <a:lstStyle/>
            <a:p>
              <a:r>
                <a:rPr lang="zh-CN" altLang="en-US" dirty="0">
                  <a:solidFill>
                    <a:srgbClr val="0070C0"/>
                  </a:solidFill>
                  <a:latin typeface="微软雅黑" panose="020B0503020204020204" pitchFamily="34" charset="-122"/>
                  <a:ea typeface="微软雅黑" panose="020B0503020204020204" pitchFamily="34" charset="-122"/>
                </a:rPr>
                <a:t>本课程要求</a:t>
              </a:r>
              <a:endParaRPr lang="zh-CN" altLang="en-US" dirty="0">
                <a:solidFill>
                  <a:srgbClr val="0070C0"/>
                </a:solidFill>
                <a:latin typeface="微软雅黑" panose="020B0503020204020204" pitchFamily="34" charset="-122"/>
                <a:ea typeface="微软雅黑" panose="020B0503020204020204" pitchFamily="34" charset="-122"/>
              </a:endParaRPr>
            </a:p>
          </p:txBody>
        </p:sp>
        <p:sp>
          <p:nvSpPr>
            <p:cNvPr id="18" name="椭圆 17"/>
            <p:cNvSpPr/>
            <p:nvPr/>
          </p:nvSpPr>
          <p:spPr>
            <a:xfrm>
              <a:off x="8904312" y="4869160"/>
              <a:ext cx="1081286" cy="45784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a:stCxn id="18" idx="7"/>
            </p:cNvCxnSpPr>
            <p:nvPr/>
          </p:nvCxnSpPr>
          <p:spPr>
            <a:xfrm flipV="1">
              <a:off x="9827247" y="4725144"/>
              <a:ext cx="661241" cy="211066"/>
            </a:xfrm>
            <a:prstGeom prst="line">
              <a:avLst/>
            </a:prstGeom>
            <a:ln w="3175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9" grpId="0"/>
      <p:bldP spid="10" grpId="0"/>
      <p:bldP spid="11" grpId="0"/>
      <p:bldP spid="13" grpId="0"/>
      <p:bldP spid="14" grpId="0"/>
      <p:bldP spid="1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407368" y="119064"/>
            <a:ext cx="10972800" cy="1143000"/>
          </a:xfrm>
        </p:spPr>
        <p:txBody>
          <a:bodyPr/>
          <a:lstStyle/>
          <a:p>
            <a:pPr algn="l"/>
            <a:r>
              <a:rPr lang="en-US" altLang="zh-CN" sz="5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5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作图</a:t>
            </a:r>
            <a:endParaRPr lang="zh-CN" altLang="en-US" sz="5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819" name="内容占位符 2"/>
          <p:cNvSpPr>
            <a:spLocks noGrp="1"/>
          </p:cNvSpPr>
          <p:nvPr>
            <p:ph idx="1"/>
          </p:nvPr>
        </p:nvSpPr>
        <p:spPr>
          <a:xfrm>
            <a:off x="2063750" y="1546226"/>
            <a:ext cx="8229600" cy="4525963"/>
          </a:xfrm>
        </p:spPr>
        <p:txBody>
          <a:bodyPr/>
          <a:lstStyle/>
          <a:p>
            <a:pPr eaLnBrk="1" hangingPunct="1">
              <a:buFont typeface="Arial" panose="020B0604020202020204" pitchFamily="34" charset="0"/>
              <a:buChar char="•"/>
              <a:defRPr/>
            </a:pPr>
            <a:r>
              <a:rPr lang="zh-CN" altLang="en-US" sz="4000" dirty="0">
                <a:solidFill>
                  <a:schemeClr val="bg1"/>
                </a:solidFill>
                <a:latin typeface="微软雅黑" panose="020B0503020204020204" pitchFamily="34" charset="-122"/>
                <a:ea typeface="微软雅黑" panose="020B0503020204020204" pitchFamily="34" charset="-122"/>
              </a:rPr>
              <a:t>为什么要作图？</a:t>
            </a:r>
            <a:endParaRPr lang="en-US" altLang="zh-CN" sz="4000" dirty="0">
              <a:solidFill>
                <a:schemeClr val="bg1"/>
              </a:solidFill>
              <a:latin typeface="微软雅黑" panose="020B0503020204020204" pitchFamily="34" charset="-122"/>
              <a:ea typeface="微软雅黑" panose="020B0503020204020204" pitchFamily="34" charset="-122"/>
            </a:endParaRPr>
          </a:p>
          <a:p>
            <a:pPr eaLnBrk="1" hangingPunct="1">
              <a:buFont typeface="Arial" panose="020B0604020202020204" pitchFamily="34" charset="0"/>
              <a:buChar char="•"/>
              <a:defRPr/>
            </a:pPr>
            <a:r>
              <a:rPr lang="zh-CN" altLang="en-US" sz="4000" dirty="0">
                <a:solidFill>
                  <a:schemeClr val="bg1"/>
                </a:solidFill>
                <a:latin typeface="微软雅黑" panose="020B0503020204020204" pitchFamily="34" charset="-122"/>
                <a:ea typeface="微软雅黑" panose="020B0503020204020204" pitchFamily="34" charset="-122"/>
              </a:rPr>
              <a:t>作图规则？</a:t>
            </a:r>
            <a:endParaRPr lang="en-US" altLang="zh-CN" sz="4000" dirty="0">
              <a:solidFill>
                <a:schemeClr val="bg1"/>
              </a:solidFill>
              <a:latin typeface="微软雅黑" panose="020B0503020204020204" pitchFamily="34" charset="-122"/>
              <a:ea typeface="微软雅黑" panose="020B0503020204020204" pitchFamily="34" charset="-122"/>
            </a:endParaRPr>
          </a:p>
          <a:p>
            <a:pPr eaLnBrk="1" hangingPunct="1">
              <a:buFont typeface="Arial" panose="020B0604020202020204" pitchFamily="34" charset="0"/>
              <a:buChar char="•"/>
              <a:defRPr/>
            </a:pPr>
            <a:r>
              <a:rPr lang="zh-CN" altLang="en-US" sz="4000" dirty="0">
                <a:solidFill>
                  <a:schemeClr val="bg1"/>
                </a:solidFill>
                <a:latin typeface="微软雅黑" panose="020B0503020204020204" pitchFamily="34" charset="-122"/>
                <a:ea typeface="微软雅黑" panose="020B0503020204020204" pitchFamily="34" charset="-122"/>
              </a:rPr>
              <a:t>如何读图？</a:t>
            </a:r>
            <a:endParaRPr lang="zh-CN" altLang="en-US" sz="4000" dirty="0">
              <a:solidFill>
                <a:schemeClr val="bg1"/>
              </a:solidFill>
              <a:latin typeface="微软雅黑" panose="020B0503020204020204" pitchFamily="34" charset="-122"/>
              <a:ea typeface="微软雅黑" panose="020B0503020204020204" pitchFamily="34" charset="-122"/>
            </a:endParaRPr>
          </a:p>
          <a:p>
            <a:pPr eaLnBrk="1" hangingPunct="1">
              <a:buFont typeface="Arial" panose="020B0604020202020204" pitchFamily="34" charset="0"/>
              <a:buChar char="•"/>
              <a:defRPr/>
            </a:pPr>
            <a:endParaRPr lang="zh-CN" altLang="en-US" sz="4000" dirty="0">
              <a:solidFill>
                <a:schemeClr val="bg1"/>
              </a:solidFill>
              <a:latin typeface="微软雅黑" panose="020B0503020204020204" pitchFamily="34" charset="-122"/>
              <a:ea typeface="微软雅黑" panose="020B0503020204020204" pitchFamily="34" charset="-122"/>
            </a:endParaRPr>
          </a:p>
          <a:p>
            <a:pPr eaLnBrk="1" hangingPunct="1">
              <a:buFont typeface="Arial" panose="020B0604020202020204" pitchFamily="34" charset="0"/>
              <a:buNone/>
              <a:defRPr/>
            </a:pPr>
            <a:r>
              <a:rPr lang="zh-CN" altLang="en-US" sz="2800" b="1" dirty="0">
                <a:solidFill>
                  <a:srgbClr val="FFC000"/>
                </a:solidFill>
                <a:latin typeface="微软雅黑" panose="020B0503020204020204" pitchFamily="34" charset="-122"/>
                <a:ea typeface="微软雅黑" panose="020B0503020204020204" pitchFamily="34" charset="-122"/>
              </a:rPr>
              <a:t>   </a:t>
            </a:r>
            <a:r>
              <a:rPr lang="zh-CN" altLang="en-US" sz="3600" b="1" dirty="0">
                <a:solidFill>
                  <a:srgbClr val="CC3300"/>
                </a:solidFill>
                <a:latin typeface="微软雅黑" panose="020B0503020204020204" pitchFamily="34" charset="-122"/>
                <a:ea typeface="微软雅黑" panose="020B0503020204020204" pitchFamily="34" charset="-122"/>
              </a:rPr>
              <a:t>作图纸：购买或者下载打印、复印</a:t>
            </a:r>
            <a:endParaRPr lang="zh-CN" altLang="en-US" sz="4000" dirty="0">
              <a:solidFill>
                <a:srgbClr val="CC3300"/>
              </a:solidFill>
              <a:latin typeface="微软雅黑" panose="020B0503020204020204" pitchFamily="34" charset="-122"/>
              <a:ea typeface="微软雅黑" panose="020B0503020204020204" pitchFamily="34" charset="-122"/>
            </a:endParaRPr>
          </a:p>
        </p:txBody>
      </p:sp>
      <p:sp>
        <p:nvSpPr>
          <p:cNvPr id="3482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FC799611-E6BD-4310-8418-DBCC26876199}" type="slidenum">
              <a:rPr lang="zh-CN" altLang="en-US" sz="2800">
                <a:solidFill>
                  <a:srgbClr val="FFFFFF"/>
                </a:solidFill>
                <a:latin typeface="Calibri" panose="020F0502020204030204" charset="0"/>
                <a:ea typeface="宋体" panose="02010600030101010101" pitchFamily="2" charset="-122"/>
              </a:rPr>
            </a:fld>
            <a:endParaRPr lang="en-US" altLang="zh-CN" sz="1200" dirty="0">
              <a:solidFill>
                <a:srgbClr val="FFFFFF"/>
              </a:solidFill>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eaLnBrk="1" hangingPunct="1">
              <a:defRPr/>
            </a:pPr>
            <a:r>
              <a:rPr lang="zh-CN" altLang="en-US" b="1" dirty="0">
                <a:solidFill>
                  <a:schemeClr val="bg1"/>
                </a:solidFill>
                <a:latin typeface="微软雅黑" panose="020B0503020204020204" pitchFamily="34" charset="-122"/>
                <a:ea typeface="微软雅黑" panose="020B0503020204020204" pitchFamily="34" charset="-122"/>
              </a:rPr>
              <a:t>为什么要作图</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5603" name="内容占位符 2"/>
          <p:cNvSpPr>
            <a:spLocks noGrp="1"/>
          </p:cNvSpPr>
          <p:nvPr>
            <p:ph idx="1"/>
          </p:nvPr>
        </p:nvSpPr>
        <p:spPr>
          <a:xfrm>
            <a:off x="609600" y="1417638"/>
            <a:ext cx="8799515" cy="4708527"/>
          </a:xfrm>
        </p:spPr>
        <p:txBody>
          <a:bodyPr/>
          <a:lstStyle/>
          <a:p>
            <a:pPr>
              <a:defRPr/>
            </a:pPr>
            <a:r>
              <a:rPr lang="zh-CN" altLang="en-US" sz="2800" b="1" dirty="0">
                <a:solidFill>
                  <a:schemeClr val="bg1"/>
                </a:solidFill>
                <a:latin typeface="微软雅黑" panose="020B0503020204020204" pitchFamily="34" charset="-122"/>
                <a:ea typeface="微软雅黑" panose="020B0503020204020204" pitchFamily="34" charset="-122"/>
              </a:rPr>
              <a:t>清晰地看到定性关系</a:t>
            </a:r>
            <a:endParaRPr lang="zh-CN" altLang="en-US" sz="2800" b="1" dirty="0">
              <a:solidFill>
                <a:schemeClr val="bg1"/>
              </a:solidFill>
              <a:latin typeface="微软雅黑" panose="020B0503020204020204" pitchFamily="34" charset="-122"/>
              <a:ea typeface="微软雅黑" panose="020B0503020204020204" pitchFamily="34" charset="-122"/>
            </a:endParaRPr>
          </a:p>
          <a:p>
            <a:pPr>
              <a:defRPr/>
            </a:pPr>
            <a:r>
              <a:rPr lang="zh-CN" altLang="en-US" sz="2800" b="1" dirty="0">
                <a:solidFill>
                  <a:schemeClr val="bg1"/>
                </a:solidFill>
                <a:latin typeface="微软雅黑" panose="020B0503020204020204" pitchFamily="34" charset="-122"/>
                <a:ea typeface="微软雅黑" panose="020B0503020204020204" pitchFamily="34" charset="-122"/>
              </a:rPr>
              <a:t>方便地比较不同特性</a:t>
            </a:r>
            <a:endParaRPr lang="zh-CN" altLang="en-US" sz="2400" b="1" dirty="0">
              <a:solidFill>
                <a:schemeClr val="bg1"/>
              </a:solidFill>
              <a:latin typeface="微软雅黑" panose="020B0503020204020204" pitchFamily="34" charset="-122"/>
              <a:ea typeface="微软雅黑" panose="020B0503020204020204" pitchFamily="34" charset="-122"/>
            </a:endParaRPr>
          </a:p>
          <a:p>
            <a:pPr>
              <a:defRPr/>
            </a:pPr>
            <a:r>
              <a:rPr lang="zh-CN" altLang="en-US" sz="2800" b="1" dirty="0">
                <a:solidFill>
                  <a:schemeClr val="bg1"/>
                </a:solidFill>
                <a:latin typeface="微软雅黑" panose="020B0503020204020204" pitchFamily="34" charset="-122"/>
                <a:ea typeface="微软雅黑" panose="020B0503020204020204" pitchFamily="34" charset="-122"/>
              </a:rPr>
              <a:t>合理地从图上得到有用的信息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5848" name="灯片编号占位符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F575A46E-1F6F-4A18-A37B-1C7F642C5129}" type="slidenum">
              <a:rPr lang="zh-CN" altLang="en-US" sz="2800">
                <a:solidFill>
                  <a:srgbClr val="FFFFFF"/>
                </a:solidFill>
                <a:latin typeface="Calibri" panose="020F0502020204030204" charset="0"/>
                <a:ea typeface="宋体" panose="02010600030101010101" pitchFamily="2" charset="-122"/>
              </a:rPr>
            </a:fld>
            <a:endParaRPr lang="en-US" altLang="zh-CN" sz="1200" dirty="0">
              <a:solidFill>
                <a:srgbClr val="FFFFFF"/>
              </a:solidFill>
              <a:latin typeface="Calibri" panose="020F0502020204030204" charset="0"/>
              <a:ea typeface="宋体" panose="02010600030101010101" pitchFamily="2" charset="-122"/>
            </a:endParaRPr>
          </a:p>
        </p:txBody>
      </p:sp>
      <p:pic>
        <p:nvPicPr>
          <p:cNvPr id="35844" name="Picture 3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3986" y="3260725"/>
            <a:ext cx="3483433" cy="2544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144277" y="5948365"/>
            <a:ext cx="2482850" cy="646331"/>
          </a:xfrm>
          <a:prstGeom prst="rect">
            <a:avLst/>
          </a:prstGeom>
        </p:spPr>
        <p:txBody>
          <a:bodyPr>
            <a:spAutoFit/>
          </a:bodyPr>
          <a:lstStyle/>
          <a:p>
            <a:pPr algn="ctr" eaLnBrk="1" hangingPunct="1">
              <a:defRPr/>
            </a:pPr>
            <a:r>
              <a:rPr lang="zh-CN" altLang="en-US" dirty="0">
                <a:solidFill>
                  <a:schemeClr val="bg1"/>
                </a:solidFill>
                <a:latin typeface="微软雅黑" panose="020B0503020204020204" pitchFamily="34" charset="-122"/>
                <a:ea typeface="微软雅黑" panose="020B0503020204020204" pitchFamily="34" charset="-122"/>
              </a:rPr>
              <a:t>螺线管中心轴线上</a:t>
            </a:r>
            <a:endParaRPr lang="zh-CN" altLang="en-US" dirty="0">
              <a:solidFill>
                <a:schemeClr val="bg1"/>
              </a:solidFill>
              <a:latin typeface="微软雅黑" panose="020B0503020204020204" pitchFamily="34" charset="-122"/>
              <a:ea typeface="微软雅黑" panose="020B0503020204020204" pitchFamily="34" charset="-122"/>
            </a:endParaRPr>
          </a:p>
          <a:p>
            <a:pPr algn="ctr" eaLnBrk="1" hangingPunct="1">
              <a:defRPr/>
            </a:pPr>
            <a:r>
              <a:rPr lang="zh-CN" altLang="en-US" dirty="0">
                <a:solidFill>
                  <a:schemeClr val="bg1"/>
                </a:solidFill>
                <a:latin typeface="微软雅黑" panose="020B0503020204020204" pitchFamily="34" charset="-122"/>
                <a:ea typeface="微软雅黑" panose="020B0503020204020204" pitchFamily="34" charset="-122"/>
              </a:rPr>
              <a:t>的磁场分布</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 name="Text Box 19"/>
          <p:cNvSpPr txBox="1">
            <a:spLocks noChangeArrowheads="1"/>
          </p:cNvSpPr>
          <p:nvPr/>
        </p:nvSpPr>
        <p:spPr bwMode="auto">
          <a:xfrm>
            <a:off x="4599747" y="6059015"/>
            <a:ext cx="2492991" cy="369332"/>
          </a:xfrm>
          <a:prstGeom prst="rect">
            <a:avLst/>
          </a:prstGeom>
          <a:noFill/>
          <a:ln w="9525">
            <a:noFill/>
            <a:miter lim="800000"/>
          </a:ln>
          <a:effectLst/>
        </p:spPr>
        <p:txBody>
          <a:bodyPr wrap="none">
            <a:spAutoFit/>
          </a:bodyPr>
          <a:lstStyle/>
          <a:p>
            <a:pPr algn="ctr" eaLnBrk="1" hangingPunct="1">
              <a:defRPr/>
            </a:pPr>
            <a:r>
              <a:rPr lang="zh-CN" altLang="en-US" dirty="0">
                <a:solidFill>
                  <a:schemeClr val="bg1"/>
                </a:solidFill>
                <a:latin typeface="微软雅黑" panose="020B0503020204020204" pitchFamily="34" charset="-122"/>
                <a:ea typeface="微软雅黑" panose="020B0503020204020204" pitchFamily="34" charset="-122"/>
              </a:rPr>
              <a:t>电阻随温度的变化关系</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3584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807" y="3290888"/>
            <a:ext cx="3240245" cy="251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9" name="图片 1" descr="谐振曲线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2959" y="3251821"/>
            <a:ext cx="3012312" cy="2523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9"/>
          <p:cNvSpPr txBox="1">
            <a:spLocks noChangeArrowheads="1"/>
          </p:cNvSpPr>
          <p:nvPr/>
        </p:nvSpPr>
        <p:spPr bwMode="auto">
          <a:xfrm>
            <a:off x="8185863" y="6058081"/>
            <a:ext cx="2446504" cy="369332"/>
          </a:xfrm>
          <a:prstGeom prst="rect">
            <a:avLst/>
          </a:prstGeom>
          <a:noFill/>
          <a:ln w="9525">
            <a:noFill/>
            <a:miter lim="800000"/>
          </a:ln>
          <a:effectLst/>
        </p:spPr>
        <p:txBody>
          <a:bodyPr wrap="none">
            <a:spAutoFit/>
          </a:bodyPr>
          <a:lstStyle/>
          <a:p>
            <a:pPr algn="ctr" eaLnBrk="1" hangingPunct="1">
              <a:defRPr/>
            </a:pPr>
            <a:r>
              <a:rPr lang="en-US" altLang="zh-CN"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LCR</a:t>
            </a:r>
            <a:r>
              <a:rPr lang="zh-CN" altLang="zh-CN" dirty="0">
                <a:solidFill>
                  <a:schemeClr val="bg1"/>
                </a:solidFill>
                <a:latin typeface="微软雅黑" panose="020B0503020204020204" pitchFamily="34" charset="-122"/>
                <a:ea typeface="微软雅黑" panose="020B0503020204020204" pitchFamily="34" charset="-122"/>
              </a:rPr>
              <a:t>串联电路谐振曲线</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8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58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
          <p:cNvGrpSpPr/>
          <p:nvPr/>
        </p:nvGrpSpPr>
        <p:grpSpPr bwMode="auto">
          <a:xfrm>
            <a:off x="2738439" y="1285876"/>
            <a:ext cx="6715125" cy="5357813"/>
            <a:chOff x="1214414" y="1285860"/>
            <a:chExt cx="6715172" cy="5357850"/>
          </a:xfrm>
          <a:solidFill>
            <a:srgbClr val="FFFFCC"/>
          </a:solidFill>
        </p:grpSpPr>
        <p:sp>
          <p:nvSpPr>
            <p:cNvPr id="5" name="矩形 4"/>
            <p:cNvSpPr/>
            <p:nvPr/>
          </p:nvSpPr>
          <p:spPr>
            <a:xfrm>
              <a:off x="1214414" y="1285860"/>
              <a:ext cx="6715172" cy="535785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微软雅黑" panose="020B0503020204020204" pitchFamily="34" charset="-122"/>
                <a:ea typeface="微软雅黑" panose="020B0503020204020204" pitchFamily="34" charset="-122"/>
              </a:endParaRPr>
            </a:p>
          </p:txBody>
        </p:sp>
        <p:pic>
          <p:nvPicPr>
            <p:cNvPr id="37897"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7" name="TextBox 6"/>
          <p:cNvSpPr txBox="1"/>
          <p:nvPr/>
        </p:nvSpPr>
        <p:spPr>
          <a:xfrm>
            <a:off x="2238376" y="1214438"/>
            <a:ext cx="1978025" cy="461962"/>
          </a:xfrm>
          <a:prstGeom prst="rect">
            <a:avLst/>
          </a:prstGeom>
          <a:solidFill>
            <a:srgbClr val="FFFFCC"/>
          </a:solidFill>
        </p:spPr>
        <p:txBody>
          <a:bodyPr wrap="none">
            <a:spAutoFit/>
          </a:bodyPr>
          <a:lstStyle/>
          <a:p>
            <a:pPr eaLnBrk="1" hangingPunct="1">
              <a:defRPr/>
            </a:pPr>
            <a:r>
              <a:rPr lang="en-US" altLang="zh-CN" sz="2400" dirty="0">
                <a:solidFill>
                  <a:srgbClr val="002060"/>
                </a:solidFill>
                <a:latin typeface="微软雅黑" panose="020B0503020204020204" pitchFamily="34" charset="-122"/>
                <a:ea typeface="微软雅黑" panose="020B0503020204020204" pitchFamily="34" charset="-122"/>
              </a:rPr>
              <a:t>1.</a:t>
            </a:r>
            <a:r>
              <a:rPr lang="zh-CN" altLang="en-US" sz="2400" dirty="0">
                <a:solidFill>
                  <a:srgbClr val="002060"/>
                </a:solidFill>
                <a:latin typeface="微软雅黑" panose="020B0503020204020204" pitchFamily="34" charset="-122"/>
                <a:ea typeface="微软雅黑" panose="020B0503020204020204" pitchFamily="34" charset="-122"/>
              </a:rPr>
              <a:t>选择坐标纸</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9" name="矩形 8"/>
          <p:cNvSpPr>
            <a:spLocks noChangeArrowheads="1"/>
          </p:cNvSpPr>
          <p:nvPr/>
        </p:nvSpPr>
        <p:spPr bwMode="auto">
          <a:xfrm>
            <a:off x="2222500" y="1714500"/>
            <a:ext cx="7874000" cy="15700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lgn="just" eaLnBrk="1" hangingPunct="1">
              <a:spcBef>
                <a:spcPct val="30000"/>
              </a:spcBef>
              <a:spcAft>
                <a:spcPct val="30000"/>
              </a:spcAft>
              <a:buFontTx/>
              <a:buNone/>
            </a:pPr>
            <a:r>
              <a:rPr lang="en-US" altLang="zh-CN" sz="2400">
                <a:solidFill>
                  <a:srgbClr val="002060"/>
                </a:solidFill>
                <a:latin typeface="微软雅黑" panose="020B0503020204020204" pitchFamily="34" charset="-122"/>
              </a:rPr>
              <a:t>2.</a:t>
            </a:r>
            <a:r>
              <a:rPr lang="zh-CN" altLang="en-US" sz="2400">
                <a:solidFill>
                  <a:srgbClr val="002060"/>
                </a:solidFill>
                <a:latin typeface="微软雅黑" panose="020B0503020204020204" pitchFamily="34" charset="-122"/>
              </a:rPr>
              <a:t>根据自变量－因变量选择图纸方向（一般取自变量为横坐标），选择合适比例，图纸上</a:t>
            </a:r>
            <a:r>
              <a:rPr lang="en-US" altLang="zh-CN" sz="2400">
                <a:solidFill>
                  <a:srgbClr val="002060"/>
                </a:solidFill>
                <a:latin typeface="微软雅黑" panose="020B0503020204020204" pitchFamily="34" charset="-122"/>
              </a:rPr>
              <a:t>1</a:t>
            </a:r>
            <a:r>
              <a:rPr lang="zh-CN" altLang="en-US" sz="2400">
                <a:solidFill>
                  <a:srgbClr val="002060"/>
                </a:solidFill>
                <a:latin typeface="微软雅黑" panose="020B0503020204020204" pitchFamily="34" charset="-122"/>
              </a:rPr>
              <a:t>格所表示的数据量值符合原数据量值变化的</a:t>
            </a:r>
            <a:r>
              <a:rPr lang="en-US" altLang="zh-CN" sz="2400">
                <a:solidFill>
                  <a:srgbClr val="002060"/>
                </a:solidFill>
                <a:latin typeface="微软雅黑" panose="020B0503020204020204" pitchFamily="34" charset="-122"/>
              </a:rPr>
              <a:t>1</a:t>
            </a:r>
            <a:r>
              <a:rPr lang="zh-CN" altLang="en-US" sz="2400">
                <a:solidFill>
                  <a:srgbClr val="002060"/>
                </a:solidFill>
                <a:latin typeface="微软雅黑" panose="020B0503020204020204" pitchFamily="34" charset="-122"/>
              </a:rPr>
              <a:t>、</a:t>
            </a:r>
            <a:r>
              <a:rPr lang="en-US" altLang="zh-CN" sz="2400">
                <a:solidFill>
                  <a:srgbClr val="002060"/>
                </a:solidFill>
                <a:latin typeface="微软雅黑" panose="020B0503020204020204" pitchFamily="34" charset="-122"/>
              </a:rPr>
              <a:t>2</a:t>
            </a:r>
            <a:r>
              <a:rPr lang="zh-CN" altLang="en-US" sz="2400">
                <a:solidFill>
                  <a:srgbClr val="002060"/>
                </a:solidFill>
                <a:latin typeface="微软雅黑" panose="020B0503020204020204" pitchFamily="34" charset="-122"/>
              </a:rPr>
              <a:t>、</a:t>
            </a:r>
            <a:r>
              <a:rPr lang="en-US" altLang="zh-CN" sz="2400">
                <a:solidFill>
                  <a:srgbClr val="002060"/>
                </a:solidFill>
                <a:latin typeface="微软雅黑" panose="020B0503020204020204" pitchFamily="34" charset="-122"/>
              </a:rPr>
              <a:t>5</a:t>
            </a:r>
            <a:r>
              <a:rPr lang="zh-CN" altLang="en-US" sz="2400">
                <a:solidFill>
                  <a:srgbClr val="002060"/>
                </a:solidFill>
                <a:latin typeface="微软雅黑" panose="020B0503020204020204" pitchFamily="34" charset="-122"/>
              </a:rPr>
              <a:t>等数（或它们的十进倍率）</a:t>
            </a:r>
            <a:r>
              <a:rPr lang="en-US" altLang="zh-CN" sz="2400">
                <a:solidFill>
                  <a:srgbClr val="002060"/>
                </a:solidFill>
                <a:latin typeface="微软雅黑" panose="020B0503020204020204" pitchFamily="34" charset="-122"/>
              </a:rPr>
              <a:t>,</a:t>
            </a:r>
            <a:r>
              <a:rPr lang="zh-CN" altLang="en-US" sz="2400">
                <a:solidFill>
                  <a:srgbClr val="002060"/>
                </a:solidFill>
                <a:latin typeface="微软雅黑" panose="020B0503020204020204" pitchFamily="34" charset="-122"/>
              </a:rPr>
              <a:t>便于读取。</a:t>
            </a:r>
            <a:endParaRPr lang="en-US" altLang="zh-CN" sz="2400">
              <a:solidFill>
                <a:srgbClr val="002060"/>
              </a:solidFill>
              <a:latin typeface="微软雅黑" panose="020B0503020204020204" pitchFamily="34" charset="-122"/>
            </a:endParaRPr>
          </a:p>
        </p:txBody>
      </p:sp>
      <p:sp>
        <p:nvSpPr>
          <p:cNvPr id="10" name="矩形 9"/>
          <p:cNvSpPr/>
          <p:nvPr/>
        </p:nvSpPr>
        <p:spPr>
          <a:xfrm>
            <a:off x="2222500" y="3357563"/>
            <a:ext cx="7874000" cy="830262"/>
          </a:xfrm>
          <a:prstGeom prst="rect">
            <a:avLst/>
          </a:prstGeom>
          <a:solidFill>
            <a:srgbClr val="FFFFCC"/>
          </a:solidFill>
        </p:spPr>
        <p:txBody>
          <a:bodyPr>
            <a:spAutoFit/>
          </a:bodyPr>
          <a:lstStyle/>
          <a:p>
            <a:pPr eaLnBrk="1" hangingPunct="1">
              <a:spcBef>
                <a:spcPct val="30000"/>
              </a:spcBef>
              <a:spcAft>
                <a:spcPct val="30000"/>
              </a:spcAft>
              <a:defRPr/>
            </a:pPr>
            <a:r>
              <a:rPr lang="en-US" altLang="zh-CN" sz="2400" dirty="0">
                <a:solidFill>
                  <a:srgbClr val="002060"/>
                </a:solidFill>
                <a:latin typeface="微软雅黑" panose="020B0503020204020204" pitchFamily="34" charset="-122"/>
                <a:ea typeface="微软雅黑" panose="020B0503020204020204" pitchFamily="34" charset="-122"/>
              </a:rPr>
              <a:t>3.</a:t>
            </a:r>
            <a:r>
              <a:rPr lang="zh-CN" altLang="en-US" sz="2400" dirty="0">
                <a:solidFill>
                  <a:srgbClr val="002060"/>
                </a:solidFill>
                <a:latin typeface="微软雅黑" panose="020B0503020204020204" pitchFamily="34" charset="-122"/>
                <a:ea typeface="微软雅黑" panose="020B0503020204020204" pitchFamily="34" charset="-122"/>
              </a:rPr>
              <a:t>画坐标轴、分度线（等间距、勿太密）并标明物理量名称（</a:t>
            </a:r>
            <a:r>
              <a:rPr lang="zh-CN" altLang="en-US" sz="2400" i="1" dirty="0">
                <a:solidFill>
                  <a:srgbClr val="002060"/>
                </a:solidFill>
                <a:latin typeface="微软雅黑" panose="020B0503020204020204" pitchFamily="34" charset="-122"/>
                <a:ea typeface="微软雅黑" panose="020B0503020204020204" pitchFamily="34" charset="-122"/>
              </a:rPr>
              <a:t>斜体</a:t>
            </a:r>
            <a:r>
              <a:rPr lang="zh-CN" altLang="en-US" sz="2400" dirty="0">
                <a:solidFill>
                  <a:srgbClr val="002060"/>
                </a:solidFill>
                <a:latin typeface="微软雅黑" panose="020B0503020204020204" pitchFamily="34" charset="-122"/>
                <a:ea typeface="微软雅黑" panose="020B0503020204020204" pitchFamily="34" charset="-122"/>
              </a:rPr>
              <a:t>）及单位（正体）。</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37895" name="标题 1"/>
          <p:cNvSpPr>
            <a:spLocks noGrp="1"/>
          </p:cNvSpPr>
          <p:nvPr>
            <p:ph type="title"/>
          </p:nvPr>
        </p:nvSpPr>
        <p:spPr>
          <a:xfrm>
            <a:off x="407368" y="214311"/>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作图规则</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7894" name="灯片编号占位符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0C4F5CA6-BC84-4DB8-8DDE-C562F4467BBE}" type="slidenum">
              <a:rPr lang="zh-CN" altLang="en-US" sz="2800">
                <a:solidFill>
                  <a:srgbClr val="FFFFFF"/>
                </a:solidFill>
                <a:latin typeface="Calibri" panose="020F0502020204030204" charset="0"/>
                <a:ea typeface="宋体" panose="02010600030101010101" pitchFamily="2" charset="-122"/>
              </a:rPr>
            </a:fld>
            <a:endParaRPr lang="en-US" altLang="zh-CN" sz="2800">
              <a:solidFill>
                <a:srgbClr val="FFFFFF"/>
              </a:solidFill>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335360" y="207203"/>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作图规则</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8923" name="灯片编号占位符 2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62DE2E63-E9C5-4197-B9E4-B57844110197}" type="slidenum">
              <a:rPr lang="zh-CN" altLang="en-US" sz="2800">
                <a:solidFill>
                  <a:srgbClr val="FFFFFF"/>
                </a:solidFill>
                <a:latin typeface="Calibri" panose="020F0502020204030204" charset="0"/>
                <a:ea typeface="宋体" panose="02010600030101010101" pitchFamily="2" charset="-122"/>
              </a:rPr>
            </a:fld>
            <a:endParaRPr lang="en-US" altLang="zh-CN" sz="2800" dirty="0">
              <a:solidFill>
                <a:srgbClr val="FFFFFF"/>
              </a:solidFill>
              <a:latin typeface="Calibri" panose="020F0502020204030204" charset="0"/>
              <a:ea typeface="宋体" panose="02010600030101010101" pitchFamily="2" charset="-122"/>
            </a:endParaRPr>
          </a:p>
        </p:txBody>
      </p:sp>
      <p:grpSp>
        <p:nvGrpSpPr>
          <p:cNvPr id="38915" name="组合 7"/>
          <p:cNvGrpSpPr/>
          <p:nvPr/>
        </p:nvGrpSpPr>
        <p:grpSpPr bwMode="auto">
          <a:xfrm>
            <a:off x="2738439" y="1285876"/>
            <a:ext cx="6715125" cy="5357813"/>
            <a:chOff x="1214414" y="1285860"/>
            <a:chExt cx="6715172" cy="5357850"/>
          </a:xfrm>
          <a:solidFill>
            <a:schemeClr val="tx1"/>
          </a:solidFill>
        </p:grpSpPr>
        <p:sp>
          <p:nvSpPr>
            <p:cNvPr id="5" name="矩形 4"/>
            <p:cNvSpPr/>
            <p:nvPr/>
          </p:nvSpPr>
          <p:spPr>
            <a:xfrm>
              <a:off x="1214414" y="1285860"/>
              <a:ext cx="6715172" cy="535785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pic>
          <p:nvPicPr>
            <p:cNvPr id="38937"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cxnSp>
        <p:nvCxnSpPr>
          <p:cNvPr id="10" name="直接连接符 9"/>
          <p:cNvCxnSpPr/>
          <p:nvPr/>
        </p:nvCxnSpPr>
        <p:spPr>
          <a:xfrm rot="5400000">
            <a:off x="1058864" y="3821114"/>
            <a:ext cx="4643437" cy="1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381375" y="6143625"/>
            <a:ext cx="5786438"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
        <p:nvSpPr>
          <p:cNvPr id="15" name="TextBox 14"/>
          <p:cNvSpPr txBox="1">
            <a:spLocks noChangeArrowheads="1"/>
          </p:cNvSpPr>
          <p:nvPr/>
        </p:nvSpPr>
        <p:spPr bwMode="auto">
          <a:xfrm>
            <a:off x="3167063" y="6103939"/>
            <a:ext cx="6297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1800" dirty="0">
                <a:solidFill>
                  <a:schemeClr val="bg1"/>
                </a:solidFill>
                <a:latin typeface="Calibri" panose="020F0502020204030204" charset="0"/>
                <a:ea typeface="宋体" panose="02010600030101010101" pitchFamily="2" charset="-122"/>
              </a:rPr>
              <a:t>20                 30                   40                  50                  60                 70 </a:t>
            </a:r>
            <a:endParaRPr lang="zh-CN" altLang="en-US" sz="1800" dirty="0">
              <a:solidFill>
                <a:schemeClr val="bg1"/>
              </a:solidFill>
              <a:latin typeface="Calibri" panose="020F0502020204030204" charset="0"/>
              <a:ea typeface="宋体" panose="02010600030101010101" pitchFamily="2" charset="-122"/>
            </a:endParaRPr>
          </a:p>
        </p:txBody>
      </p:sp>
      <p:grpSp>
        <p:nvGrpSpPr>
          <p:cNvPr id="3" name="组合 33"/>
          <p:cNvGrpSpPr/>
          <p:nvPr/>
        </p:nvGrpSpPr>
        <p:grpSpPr bwMode="auto">
          <a:xfrm>
            <a:off x="4540250" y="6002338"/>
            <a:ext cx="4643438" cy="150812"/>
            <a:chOff x="3015612" y="6001562"/>
            <a:chExt cx="4644263" cy="150898"/>
          </a:xfrm>
        </p:grpSpPr>
        <p:cxnSp>
          <p:nvCxnSpPr>
            <p:cNvPr id="21" name="直接连接符 20"/>
            <p:cNvCxnSpPr/>
            <p:nvPr/>
          </p:nvCxnSpPr>
          <p:spPr>
            <a:xfrm rot="5400000" flipH="1" flipV="1">
              <a:off x="2944927" y="6072247"/>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flipH="1" flipV="1">
              <a:off x="4104008"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flipH="1" flipV="1">
              <a:off x="5269440"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flipH="1" flipV="1">
              <a:off x="6428521"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flipH="1" flipV="1">
              <a:off x="7587602"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4" name="组合 36"/>
          <p:cNvGrpSpPr/>
          <p:nvPr/>
        </p:nvGrpSpPr>
        <p:grpSpPr bwMode="auto">
          <a:xfrm>
            <a:off x="2857498" y="1302544"/>
            <a:ext cx="676277" cy="5324475"/>
            <a:chOff x="1334312" y="1302680"/>
            <a:chExt cx="674692" cy="5324535"/>
          </a:xfrm>
        </p:grpSpPr>
        <p:grpSp>
          <p:nvGrpSpPr>
            <p:cNvPr id="38924" name="组合 32"/>
            <p:cNvGrpSpPr/>
            <p:nvPr/>
          </p:nvGrpSpPr>
          <p:grpSpPr bwMode="auto">
            <a:xfrm>
              <a:off x="1855854" y="1484132"/>
              <a:ext cx="153150" cy="3730818"/>
              <a:chOff x="1855854" y="1484132"/>
              <a:chExt cx="153150" cy="3730818"/>
            </a:xfrm>
          </p:grpSpPr>
          <p:cxnSp>
            <p:nvCxnSpPr>
              <p:cNvPr id="17" name="直接连接符 16"/>
              <p:cNvCxnSpPr/>
              <p:nvPr/>
            </p:nvCxnSpPr>
            <p:spPr>
              <a:xfrm>
                <a:off x="1856961" y="1484452"/>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866464" y="2402037"/>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855378" y="5213531"/>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55378" y="4270545"/>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855378" y="3327560"/>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8925" name="TextBox 35"/>
            <p:cNvSpPr txBox="1">
              <a:spLocks noChangeArrowheads="1"/>
            </p:cNvSpPr>
            <p:nvPr/>
          </p:nvSpPr>
          <p:spPr bwMode="auto">
            <a:xfrm>
              <a:off x="1334312" y="1302680"/>
              <a:ext cx="444352"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40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38</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36</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34</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32</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zh-CN" altLang="en-US" sz="2000" dirty="0">
                <a:solidFill>
                  <a:srgbClr val="000000"/>
                </a:solidFill>
                <a:latin typeface="Calibri" panose="020F0502020204030204" charset="0"/>
                <a:ea typeface="宋体" panose="02010600030101010101" pitchFamily="2" charset="-122"/>
              </a:endParaRPr>
            </a:p>
          </p:txBody>
        </p:sp>
      </p:grpSp>
      <p:sp>
        <p:nvSpPr>
          <p:cNvPr id="54" name="TextBox 53"/>
          <p:cNvSpPr txBox="1">
            <a:spLocks noChangeArrowheads="1"/>
          </p:cNvSpPr>
          <p:nvPr/>
        </p:nvSpPr>
        <p:spPr bwMode="auto">
          <a:xfrm>
            <a:off x="5810250" y="6315075"/>
            <a:ext cx="801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TextBox 54"/>
          <p:cNvSpPr txBox="1">
            <a:spLocks noChangeArrowheads="1"/>
          </p:cNvSpPr>
          <p:nvPr/>
        </p:nvSpPr>
        <p:spPr bwMode="auto">
          <a:xfrm rot="16200000">
            <a:off x="2577306" y="3696494"/>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blinds(horizontal)">
                                      <p:cBhvr>
                                        <p:cTn id="32" dur="500"/>
                                        <p:tgtEl>
                                          <p:spTgt spid="54"/>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blinds(horizontal)">
                                      <p:cBhvr>
                                        <p:cTn id="3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4" grpId="0"/>
      <p:bldP spid="5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组合 7"/>
          <p:cNvGrpSpPr/>
          <p:nvPr/>
        </p:nvGrpSpPr>
        <p:grpSpPr bwMode="auto">
          <a:xfrm>
            <a:off x="2738439" y="1285876"/>
            <a:ext cx="6715125" cy="5357813"/>
            <a:chOff x="1214414" y="1285860"/>
            <a:chExt cx="6715172" cy="5357850"/>
          </a:xfrm>
          <a:solidFill>
            <a:schemeClr val="tx1"/>
          </a:solidFill>
        </p:grpSpPr>
        <p:sp>
          <p:nvSpPr>
            <p:cNvPr id="5" name="矩形 4"/>
            <p:cNvSpPr/>
            <p:nvPr/>
          </p:nvSpPr>
          <p:spPr>
            <a:xfrm>
              <a:off x="1214414" y="1285860"/>
              <a:ext cx="6715172" cy="535785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pic>
          <p:nvPicPr>
            <p:cNvPr id="39946"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7" name="TextBox 6"/>
          <p:cNvSpPr txBox="1"/>
          <p:nvPr/>
        </p:nvSpPr>
        <p:spPr>
          <a:xfrm>
            <a:off x="2238376" y="1214438"/>
            <a:ext cx="1978025" cy="461962"/>
          </a:xfrm>
          <a:prstGeom prst="rect">
            <a:avLst/>
          </a:prstGeom>
          <a:solidFill>
            <a:srgbClr val="FFFFCC"/>
          </a:solidFill>
        </p:spPr>
        <p:txBody>
          <a:bodyPr wrap="none">
            <a:spAutoFit/>
          </a:bodyPr>
          <a:lstStyle/>
          <a:p>
            <a:pPr eaLnBrk="1" hangingPunct="1">
              <a:defRPr/>
            </a:pPr>
            <a:r>
              <a:rPr lang="en-US" altLang="zh-CN" sz="2400" dirty="0">
                <a:solidFill>
                  <a:srgbClr val="002060"/>
                </a:solidFill>
                <a:latin typeface="微软雅黑" panose="020B0503020204020204" pitchFamily="34" charset="-122"/>
                <a:ea typeface="微软雅黑" panose="020B0503020204020204" pitchFamily="34" charset="-122"/>
              </a:rPr>
              <a:t>1.</a:t>
            </a:r>
            <a:r>
              <a:rPr lang="zh-CN" altLang="en-US" sz="2400" dirty="0">
                <a:solidFill>
                  <a:srgbClr val="002060"/>
                </a:solidFill>
                <a:latin typeface="微软雅黑" panose="020B0503020204020204" pitchFamily="34" charset="-122"/>
                <a:ea typeface="微软雅黑" panose="020B0503020204020204" pitchFamily="34" charset="-122"/>
              </a:rPr>
              <a:t>选择坐标纸</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39940" name="矩形 8"/>
          <p:cNvSpPr>
            <a:spLocks noChangeArrowheads="1"/>
          </p:cNvSpPr>
          <p:nvPr/>
        </p:nvSpPr>
        <p:spPr bwMode="auto">
          <a:xfrm>
            <a:off x="2222500" y="1714500"/>
            <a:ext cx="7874000" cy="15700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lgn="just" eaLnBrk="1" hangingPunct="1">
              <a:spcBef>
                <a:spcPct val="30000"/>
              </a:spcBef>
              <a:spcAft>
                <a:spcPct val="30000"/>
              </a:spcAft>
              <a:buFontTx/>
              <a:buNone/>
            </a:pPr>
            <a:r>
              <a:rPr lang="en-US" altLang="zh-CN" sz="2400">
                <a:solidFill>
                  <a:srgbClr val="002060"/>
                </a:solidFill>
                <a:latin typeface="微软雅黑" panose="020B0503020204020204" pitchFamily="34" charset="-122"/>
              </a:rPr>
              <a:t>2.</a:t>
            </a:r>
            <a:r>
              <a:rPr lang="zh-CN" altLang="en-US" sz="2400">
                <a:solidFill>
                  <a:srgbClr val="002060"/>
                </a:solidFill>
                <a:latin typeface="微软雅黑" panose="020B0503020204020204" pitchFamily="34" charset="-122"/>
              </a:rPr>
              <a:t>根据自变量－因变量选择图纸方向（一般取自变量为横坐标），选择合适比例，图纸上</a:t>
            </a:r>
            <a:r>
              <a:rPr lang="en-US" altLang="zh-CN" sz="2400">
                <a:solidFill>
                  <a:srgbClr val="002060"/>
                </a:solidFill>
                <a:latin typeface="微软雅黑" panose="020B0503020204020204" pitchFamily="34" charset="-122"/>
              </a:rPr>
              <a:t>1</a:t>
            </a:r>
            <a:r>
              <a:rPr lang="zh-CN" altLang="en-US" sz="2400">
                <a:solidFill>
                  <a:srgbClr val="002060"/>
                </a:solidFill>
                <a:latin typeface="微软雅黑" panose="020B0503020204020204" pitchFamily="34" charset="-122"/>
              </a:rPr>
              <a:t>格所表示的数据量值符合原数据量值变化的</a:t>
            </a:r>
            <a:r>
              <a:rPr lang="en-US" altLang="zh-CN" sz="2400">
                <a:solidFill>
                  <a:srgbClr val="002060"/>
                </a:solidFill>
                <a:latin typeface="微软雅黑" panose="020B0503020204020204" pitchFamily="34" charset="-122"/>
              </a:rPr>
              <a:t>1</a:t>
            </a:r>
            <a:r>
              <a:rPr lang="zh-CN" altLang="en-US" sz="2400">
                <a:solidFill>
                  <a:srgbClr val="002060"/>
                </a:solidFill>
                <a:latin typeface="微软雅黑" panose="020B0503020204020204" pitchFamily="34" charset="-122"/>
              </a:rPr>
              <a:t>、</a:t>
            </a:r>
            <a:r>
              <a:rPr lang="en-US" altLang="zh-CN" sz="2400">
                <a:solidFill>
                  <a:srgbClr val="002060"/>
                </a:solidFill>
                <a:latin typeface="微软雅黑" panose="020B0503020204020204" pitchFamily="34" charset="-122"/>
              </a:rPr>
              <a:t>2</a:t>
            </a:r>
            <a:r>
              <a:rPr lang="zh-CN" altLang="en-US" sz="2400">
                <a:solidFill>
                  <a:srgbClr val="002060"/>
                </a:solidFill>
                <a:latin typeface="微软雅黑" panose="020B0503020204020204" pitchFamily="34" charset="-122"/>
              </a:rPr>
              <a:t>、</a:t>
            </a:r>
            <a:r>
              <a:rPr lang="en-US" altLang="zh-CN" sz="2400">
                <a:solidFill>
                  <a:srgbClr val="002060"/>
                </a:solidFill>
                <a:latin typeface="微软雅黑" panose="020B0503020204020204" pitchFamily="34" charset="-122"/>
              </a:rPr>
              <a:t>5</a:t>
            </a:r>
            <a:r>
              <a:rPr lang="zh-CN" altLang="en-US" sz="2400">
                <a:solidFill>
                  <a:srgbClr val="002060"/>
                </a:solidFill>
                <a:latin typeface="微软雅黑" panose="020B0503020204020204" pitchFamily="34" charset="-122"/>
              </a:rPr>
              <a:t>等数（或它们的十进倍率）</a:t>
            </a:r>
            <a:r>
              <a:rPr lang="en-US" altLang="zh-CN" sz="2400">
                <a:solidFill>
                  <a:srgbClr val="002060"/>
                </a:solidFill>
                <a:latin typeface="微软雅黑" panose="020B0503020204020204" pitchFamily="34" charset="-122"/>
              </a:rPr>
              <a:t>,</a:t>
            </a:r>
            <a:r>
              <a:rPr lang="zh-CN" altLang="en-US" sz="2400">
                <a:solidFill>
                  <a:srgbClr val="002060"/>
                </a:solidFill>
                <a:latin typeface="微软雅黑" panose="020B0503020204020204" pitchFamily="34" charset="-122"/>
              </a:rPr>
              <a:t>便于读取。</a:t>
            </a:r>
            <a:endParaRPr lang="en-US" altLang="zh-CN" sz="2400">
              <a:solidFill>
                <a:srgbClr val="002060"/>
              </a:solidFill>
              <a:latin typeface="微软雅黑" panose="020B0503020204020204" pitchFamily="34" charset="-122"/>
            </a:endParaRPr>
          </a:p>
        </p:txBody>
      </p:sp>
      <p:sp>
        <p:nvSpPr>
          <p:cNvPr id="10" name="矩形 9"/>
          <p:cNvSpPr/>
          <p:nvPr/>
        </p:nvSpPr>
        <p:spPr>
          <a:xfrm>
            <a:off x="2222500" y="3357563"/>
            <a:ext cx="7874000" cy="830262"/>
          </a:xfrm>
          <a:prstGeom prst="rect">
            <a:avLst/>
          </a:prstGeom>
          <a:solidFill>
            <a:srgbClr val="FFFFCC"/>
          </a:solidFill>
        </p:spPr>
        <p:txBody>
          <a:bodyPr>
            <a:spAutoFit/>
          </a:bodyPr>
          <a:lstStyle/>
          <a:p>
            <a:pPr eaLnBrk="1" hangingPunct="1">
              <a:spcBef>
                <a:spcPct val="30000"/>
              </a:spcBef>
              <a:spcAft>
                <a:spcPct val="30000"/>
              </a:spcAft>
              <a:defRPr/>
            </a:pPr>
            <a:r>
              <a:rPr lang="en-US" altLang="zh-CN" sz="2400" dirty="0">
                <a:solidFill>
                  <a:srgbClr val="002060"/>
                </a:solidFill>
                <a:latin typeface="微软雅黑" panose="020B0503020204020204" pitchFamily="34" charset="-122"/>
                <a:ea typeface="微软雅黑" panose="020B0503020204020204" pitchFamily="34" charset="-122"/>
              </a:rPr>
              <a:t>3.</a:t>
            </a:r>
            <a:r>
              <a:rPr lang="zh-CN" altLang="en-US" sz="2400" dirty="0">
                <a:solidFill>
                  <a:srgbClr val="002060"/>
                </a:solidFill>
                <a:latin typeface="微软雅黑" panose="020B0503020204020204" pitchFamily="34" charset="-122"/>
                <a:ea typeface="微软雅黑" panose="020B0503020204020204" pitchFamily="34" charset="-122"/>
              </a:rPr>
              <a:t>画坐标轴、分度线（等间距、勿太密）并标明物理量名称（</a:t>
            </a:r>
            <a:r>
              <a:rPr lang="zh-CN" altLang="en-US" sz="2400" i="1" dirty="0">
                <a:solidFill>
                  <a:srgbClr val="002060"/>
                </a:solidFill>
                <a:latin typeface="微软雅黑" panose="020B0503020204020204" pitchFamily="34" charset="-122"/>
                <a:ea typeface="微软雅黑" panose="020B0503020204020204" pitchFamily="34" charset="-122"/>
              </a:rPr>
              <a:t>斜体</a:t>
            </a:r>
            <a:r>
              <a:rPr lang="zh-CN" altLang="en-US" sz="2400" dirty="0">
                <a:solidFill>
                  <a:srgbClr val="002060"/>
                </a:solidFill>
                <a:latin typeface="微软雅黑" panose="020B0503020204020204" pitchFamily="34" charset="-122"/>
                <a:ea typeface="微软雅黑" panose="020B0503020204020204" pitchFamily="34" charset="-122"/>
              </a:rPr>
              <a:t>）及单位（正体）。</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11" name="矩形 10"/>
          <p:cNvSpPr/>
          <p:nvPr/>
        </p:nvSpPr>
        <p:spPr>
          <a:xfrm>
            <a:off x="2238376" y="4286251"/>
            <a:ext cx="7858125" cy="830263"/>
          </a:xfrm>
          <a:prstGeom prst="rect">
            <a:avLst/>
          </a:prstGeom>
          <a:solidFill>
            <a:srgbClr val="FFFF99"/>
          </a:solidFill>
        </p:spPr>
        <p:txBody>
          <a:bodyPr>
            <a:spAutoFit/>
          </a:bodyPr>
          <a:lstStyle/>
          <a:p>
            <a:pPr algn="just" eaLnBrk="1" hangingPunct="1">
              <a:spcBef>
                <a:spcPts val="575"/>
              </a:spcBef>
              <a:defRPr/>
            </a:pPr>
            <a:r>
              <a:rPr lang="en-US" altLang="zh-CN" sz="2400" b="1" dirty="0">
                <a:solidFill>
                  <a:srgbClr val="002060"/>
                </a:solidFill>
                <a:latin typeface="微软雅黑" panose="020B0503020204020204" pitchFamily="34" charset="-122"/>
                <a:ea typeface="微软雅黑" panose="020B0503020204020204" pitchFamily="34" charset="-122"/>
              </a:rPr>
              <a:t>4.</a:t>
            </a:r>
            <a:r>
              <a:rPr lang="zh-CN" altLang="en-US" sz="2400" b="1" dirty="0">
                <a:solidFill>
                  <a:srgbClr val="002060"/>
                </a:solidFill>
                <a:latin typeface="微软雅黑" panose="020B0503020204020204" pitchFamily="34" charset="-122"/>
                <a:ea typeface="微软雅黑" panose="020B0503020204020204" pitchFamily="34" charset="-122"/>
              </a:rPr>
              <a:t>画数据点（不标数据值，要用端正的“</a:t>
            </a:r>
            <a:r>
              <a:rPr lang="en-US" altLang="zh-CN" sz="2400" b="1" dirty="0">
                <a:solidFill>
                  <a:srgbClr val="002060"/>
                </a:solidFill>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或者“</a:t>
            </a:r>
            <a:r>
              <a:rPr lang="zh-CN" altLang="en-US" sz="2000" dirty="0">
                <a:solidFill>
                  <a:srgbClr val="002060"/>
                </a:solidFill>
                <a:latin typeface="微软雅黑" panose="020B0503020204020204" pitchFamily="34" charset="-122"/>
                <a:ea typeface="微软雅黑" panose="020B0503020204020204" pitchFamily="34" charset="-122"/>
              </a:rPr>
              <a:t>〇</a:t>
            </a:r>
            <a:r>
              <a:rPr lang="zh-CN" altLang="en-US" sz="2400" b="1" dirty="0">
                <a:solidFill>
                  <a:srgbClr val="002060"/>
                </a:solidFill>
                <a:latin typeface="微软雅黑" panose="020B0503020204020204" pitchFamily="34" charset="-122"/>
                <a:ea typeface="微软雅黑" panose="020B0503020204020204" pitchFamily="34" charset="-122"/>
              </a:rPr>
              <a:t>”符号来表示，不同组数据要用不同的符号）。</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39944" name="标题 1"/>
          <p:cNvSpPr>
            <a:spLocks noGrp="1"/>
          </p:cNvSpPr>
          <p:nvPr>
            <p:ph type="title"/>
          </p:nvPr>
        </p:nvSpPr>
        <p:spPr>
          <a:xfrm>
            <a:off x="263352" y="254068"/>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作图规则</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9943" name="灯片编号占位符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AACC6DBE-88DF-46DC-98AE-48FA06289CD1}" type="slidenum">
              <a:rPr lang="zh-CN" altLang="en-US" sz="2800">
                <a:solidFill>
                  <a:srgbClr val="FFFFFF"/>
                </a:solidFill>
                <a:latin typeface="Calibri" panose="020F0502020204030204" charset="0"/>
                <a:ea typeface="宋体" panose="02010600030101010101" pitchFamily="2" charset="-122"/>
              </a:rPr>
            </a:fld>
            <a:endParaRPr lang="en-US" altLang="zh-CN" sz="2800" dirty="0">
              <a:solidFill>
                <a:srgbClr val="FFFFFF"/>
              </a:solidFill>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mph" presetSubtype="0" fill="hold" grpId="0" nodeType="clickEffect">
                                  <p:stCondLst>
                                    <p:cond delay="0"/>
                                  </p:stCondLst>
                                  <p:childTnLst>
                                    <p:anim calcmode="discrete" valueType="str">
                                      <p:cBhvr override="childStyle">
                                        <p:cTn id="6" dur="2000" fill="hold"/>
                                        <p:tgtEl>
                                          <p:spTgt spid="11"/>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par>
                    <p:cTn id="7" fill="hold">
                      <p:stCondLst>
                        <p:cond delay="indefinite"/>
                      </p:stCondLst>
                      <p:childTnLst>
                        <p:par>
                          <p:cTn id="8" fill="hold">
                            <p:stCondLst>
                              <p:cond delay="0"/>
                            </p:stCondLst>
                            <p:childTnLst>
                              <p:par>
                                <p:cTn id="9" presetID="24" presetClass="emph" presetSubtype="0" fill="hold" grpId="1" nodeType="clickEffect">
                                  <p:stCondLst>
                                    <p:cond delay="0"/>
                                  </p:stCondLst>
                                  <p:childTnLst>
                                    <p:animClr clrSpc="hsl" dir="cw">
                                      <p:cBhvr override="childStyle">
                                        <p:cTn id="10" dur="500" fill="hold"/>
                                        <p:tgtEl>
                                          <p:spTgt spid="11"/>
                                        </p:tgtEl>
                                        <p:attrNameLst>
                                          <p:attrName>style.color</p:attrName>
                                        </p:attrNameLst>
                                      </p:cBhvr>
                                      <p:by>
                                        <p:hsl h="0" s="-12549" l="-25098"/>
                                      </p:by>
                                    </p:animClr>
                                    <p:animClr clrSpc="hsl" dir="cw">
                                      <p:cBhvr>
                                        <p:cTn id="11" dur="500" fill="hold"/>
                                        <p:tgtEl>
                                          <p:spTgt spid="11"/>
                                        </p:tgtEl>
                                        <p:attrNameLst>
                                          <p:attrName>fillcolor</p:attrName>
                                        </p:attrNameLst>
                                      </p:cBhvr>
                                      <p:by>
                                        <p:hsl h="0" s="-12549" l="-25098"/>
                                      </p:by>
                                    </p:animClr>
                                    <p:animClr clrSpc="hsl" dir="cw">
                                      <p:cBhvr>
                                        <p:cTn id="12" dur="500" fill="hold"/>
                                        <p:tgtEl>
                                          <p:spTgt spid="11"/>
                                        </p:tgtEl>
                                        <p:attrNameLst>
                                          <p:attrName>stroke.color</p:attrName>
                                        </p:attrNameLst>
                                      </p:cBhvr>
                                      <p:by>
                                        <p:hsl h="0" s="-12549" l="-25098"/>
                                      </p:by>
                                    </p:animClr>
                                    <p:set>
                                      <p:cBhvr>
                                        <p:cTn id="13" dur="500" fill="hold"/>
                                        <p:tgtEl>
                                          <p:spTgt spid="1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308103" y="207295"/>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作图规则</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0974" name="灯片编号占位符 4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D99451C2-F849-402B-8063-F0F13B1065BC}" type="slidenum">
              <a:rPr lang="zh-CN" altLang="en-US" sz="2800">
                <a:solidFill>
                  <a:srgbClr val="FFFFFF"/>
                </a:solidFill>
                <a:latin typeface="Calibri" panose="020F0502020204030204" charset="0"/>
                <a:ea typeface="宋体" panose="02010600030101010101" pitchFamily="2" charset="-122"/>
              </a:rPr>
            </a:fld>
            <a:endParaRPr lang="en-US" altLang="zh-CN" sz="1200" dirty="0">
              <a:solidFill>
                <a:srgbClr val="FFFFFF"/>
              </a:solidFill>
              <a:latin typeface="Calibri" panose="020F0502020204030204" charset="0"/>
              <a:ea typeface="宋体" panose="02010600030101010101" pitchFamily="2" charset="-122"/>
            </a:endParaRPr>
          </a:p>
        </p:txBody>
      </p:sp>
      <p:grpSp>
        <p:nvGrpSpPr>
          <p:cNvPr id="40963" name="组合 7"/>
          <p:cNvGrpSpPr/>
          <p:nvPr/>
        </p:nvGrpSpPr>
        <p:grpSpPr bwMode="auto">
          <a:xfrm>
            <a:off x="2738439" y="1285876"/>
            <a:ext cx="6715125" cy="5357813"/>
            <a:chOff x="1214414" y="1285860"/>
            <a:chExt cx="6715172" cy="5357850"/>
          </a:xfrm>
        </p:grpSpPr>
        <p:sp>
          <p:nvSpPr>
            <p:cNvPr id="5" name="矩形 4"/>
            <p:cNvSpPr/>
            <p:nvPr/>
          </p:nvSpPr>
          <p:spPr>
            <a:xfrm>
              <a:off x="1214414" y="1285860"/>
              <a:ext cx="6715172" cy="53578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pic>
          <p:nvPicPr>
            <p:cNvPr id="41000"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0" name="直接连接符 9"/>
          <p:cNvCxnSpPr/>
          <p:nvPr/>
        </p:nvCxnSpPr>
        <p:spPr>
          <a:xfrm rot="5400000">
            <a:off x="1058864" y="3821114"/>
            <a:ext cx="4643437" cy="1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381375" y="6143625"/>
            <a:ext cx="5786438"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
        <p:nvSpPr>
          <p:cNvPr id="40966" name="TextBox 14"/>
          <p:cNvSpPr txBox="1">
            <a:spLocks noChangeArrowheads="1"/>
          </p:cNvSpPr>
          <p:nvPr/>
        </p:nvSpPr>
        <p:spPr bwMode="auto">
          <a:xfrm>
            <a:off x="3167063" y="6103939"/>
            <a:ext cx="6297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1800" dirty="0">
                <a:solidFill>
                  <a:schemeClr val="bg1"/>
                </a:solidFill>
                <a:latin typeface="Calibri" panose="020F0502020204030204" charset="0"/>
                <a:ea typeface="宋体" panose="02010600030101010101" pitchFamily="2" charset="-122"/>
              </a:rPr>
              <a:t>20                 30                   40                  50                  60                 70 </a:t>
            </a:r>
            <a:endParaRPr lang="zh-CN" altLang="en-US" sz="1800" dirty="0">
              <a:solidFill>
                <a:schemeClr val="bg1"/>
              </a:solidFill>
              <a:latin typeface="Calibri" panose="020F0502020204030204" charset="0"/>
              <a:ea typeface="宋体" panose="02010600030101010101" pitchFamily="2" charset="-122"/>
            </a:endParaRPr>
          </a:p>
        </p:txBody>
      </p:sp>
      <p:grpSp>
        <p:nvGrpSpPr>
          <p:cNvPr id="40967" name="组合 33"/>
          <p:cNvGrpSpPr/>
          <p:nvPr/>
        </p:nvGrpSpPr>
        <p:grpSpPr bwMode="auto">
          <a:xfrm>
            <a:off x="4540250" y="6002338"/>
            <a:ext cx="4643438" cy="150812"/>
            <a:chOff x="3015612" y="6001562"/>
            <a:chExt cx="4644263" cy="150898"/>
          </a:xfrm>
        </p:grpSpPr>
        <p:cxnSp>
          <p:nvCxnSpPr>
            <p:cNvPr id="21" name="直接连接符 20"/>
            <p:cNvCxnSpPr/>
            <p:nvPr/>
          </p:nvCxnSpPr>
          <p:spPr>
            <a:xfrm rot="5400000" flipH="1" flipV="1">
              <a:off x="2944927" y="6072247"/>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flipH="1" flipV="1">
              <a:off x="4104008"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flipH="1" flipV="1">
              <a:off x="5269440"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flipH="1" flipV="1">
              <a:off x="6428521"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flipH="1" flipV="1">
              <a:off x="7587602"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40968" name="组合 36"/>
          <p:cNvGrpSpPr/>
          <p:nvPr/>
        </p:nvGrpSpPr>
        <p:grpSpPr bwMode="auto">
          <a:xfrm>
            <a:off x="2870547" y="1319214"/>
            <a:ext cx="663227" cy="5324475"/>
            <a:chOff x="1347331" y="1319350"/>
            <a:chExt cx="661673" cy="5324535"/>
          </a:xfrm>
        </p:grpSpPr>
        <p:grpSp>
          <p:nvGrpSpPr>
            <p:cNvPr id="40987" name="组合 32"/>
            <p:cNvGrpSpPr/>
            <p:nvPr/>
          </p:nvGrpSpPr>
          <p:grpSpPr bwMode="auto">
            <a:xfrm>
              <a:off x="1855854" y="1484132"/>
              <a:ext cx="153150" cy="3730818"/>
              <a:chOff x="1855854" y="1484132"/>
              <a:chExt cx="153150" cy="3730818"/>
            </a:xfrm>
          </p:grpSpPr>
          <p:cxnSp>
            <p:nvCxnSpPr>
              <p:cNvPr id="17" name="直接连接符 16"/>
              <p:cNvCxnSpPr/>
              <p:nvPr/>
            </p:nvCxnSpPr>
            <p:spPr>
              <a:xfrm>
                <a:off x="1856961" y="1484452"/>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866464" y="2402037"/>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855378" y="5213531"/>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55378" y="4270545"/>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855378" y="3327560"/>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40988" name="TextBox 35"/>
            <p:cNvSpPr txBox="1">
              <a:spLocks noChangeArrowheads="1"/>
            </p:cNvSpPr>
            <p:nvPr/>
          </p:nvSpPr>
          <p:spPr bwMode="auto">
            <a:xfrm>
              <a:off x="1347331" y="1319350"/>
              <a:ext cx="444352" cy="532453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40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38</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36</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34</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32</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zh-CN" altLang="en-US" sz="2000" dirty="0">
                <a:solidFill>
                  <a:srgbClr val="000000"/>
                </a:solidFill>
                <a:latin typeface="Calibri" panose="020F0502020204030204" charset="0"/>
                <a:ea typeface="宋体" panose="02010600030101010101" pitchFamily="2" charset="-122"/>
              </a:endParaRPr>
            </a:p>
          </p:txBody>
        </p:sp>
      </p:grpSp>
      <p:grpSp>
        <p:nvGrpSpPr>
          <p:cNvPr id="7" name="组合 36"/>
          <p:cNvGrpSpPr/>
          <p:nvPr/>
        </p:nvGrpSpPr>
        <p:grpSpPr bwMode="auto">
          <a:xfrm>
            <a:off x="3595689" y="3500438"/>
            <a:ext cx="4714875" cy="2571750"/>
            <a:chOff x="2071670" y="3500438"/>
            <a:chExt cx="4714908" cy="2571768"/>
          </a:xfrm>
        </p:grpSpPr>
        <p:sp>
          <p:nvSpPr>
            <p:cNvPr id="39" name="椭圆 38"/>
            <p:cNvSpPr/>
            <p:nvPr/>
          </p:nvSpPr>
          <p:spPr>
            <a:xfrm flipV="1">
              <a:off x="2071670" y="5929330"/>
              <a:ext cx="142876" cy="1428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0" name="椭圆 39"/>
            <p:cNvSpPr/>
            <p:nvPr/>
          </p:nvSpPr>
          <p:spPr>
            <a:xfrm flipV="1">
              <a:off x="3000363" y="5429263"/>
              <a:ext cx="142876" cy="1428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1" name="椭圆 40"/>
            <p:cNvSpPr/>
            <p:nvPr/>
          </p:nvSpPr>
          <p:spPr>
            <a:xfrm flipV="1">
              <a:off x="4143371" y="4857759"/>
              <a:ext cx="142876" cy="1428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2" name="椭圆 41"/>
            <p:cNvSpPr/>
            <p:nvPr/>
          </p:nvSpPr>
          <p:spPr>
            <a:xfrm flipV="1">
              <a:off x="5429255" y="4214818"/>
              <a:ext cx="142876" cy="1428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3" name="椭圆 42"/>
            <p:cNvSpPr/>
            <p:nvPr/>
          </p:nvSpPr>
          <p:spPr>
            <a:xfrm flipV="1">
              <a:off x="6643702" y="3500438"/>
              <a:ext cx="142876" cy="1428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nvGrpSpPr>
          <p:cNvPr id="8" name="组合 37"/>
          <p:cNvGrpSpPr/>
          <p:nvPr/>
        </p:nvGrpSpPr>
        <p:grpSpPr bwMode="auto">
          <a:xfrm>
            <a:off x="3494088" y="1785939"/>
            <a:ext cx="4887912" cy="4033837"/>
            <a:chOff x="1970742" y="1785926"/>
            <a:chExt cx="4887274" cy="4033565"/>
          </a:xfrm>
        </p:grpSpPr>
        <p:sp>
          <p:nvSpPr>
            <p:cNvPr id="40977" name="TextBox 44"/>
            <p:cNvSpPr txBox="1">
              <a:spLocks noChangeArrowheads="1"/>
            </p:cNvSpPr>
            <p:nvPr/>
          </p:nvSpPr>
          <p:spPr bwMode="auto">
            <a:xfrm>
              <a:off x="1970742" y="5357826"/>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0978" name="TextBox 45"/>
            <p:cNvSpPr txBox="1">
              <a:spLocks noChangeArrowheads="1"/>
            </p:cNvSpPr>
            <p:nvPr/>
          </p:nvSpPr>
          <p:spPr bwMode="auto">
            <a:xfrm>
              <a:off x="2899436" y="468184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0979" name="TextBox 46"/>
            <p:cNvSpPr txBox="1">
              <a:spLocks noChangeArrowheads="1"/>
            </p:cNvSpPr>
            <p:nvPr/>
          </p:nvSpPr>
          <p:spPr bwMode="auto">
            <a:xfrm>
              <a:off x="4071934" y="3681715"/>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0980" name="TextBox 47"/>
            <p:cNvSpPr txBox="1">
              <a:spLocks noChangeArrowheads="1"/>
            </p:cNvSpPr>
            <p:nvPr/>
          </p:nvSpPr>
          <p:spPr bwMode="auto">
            <a:xfrm>
              <a:off x="5321058" y="2857496"/>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0981" name="TextBox 48"/>
            <p:cNvSpPr txBox="1">
              <a:spLocks noChangeArrowheads="1"/>
            </p:cNvSpPr>
            <p:nvPr/>
          </p:nvSpPr>
          <p:spPr bwMode="auto">
            <a:xfrm>
              <a:off x="6519462" y="1785926"/>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grpSp>
      <p:sp>
        <p:nvSpPr>
          <p:cNvPr id="40971" name="TextBox 53"/>
          <p:cNvSpPr txBox="1">
            <a:spLocks noChangeArrowheads="1"/>
          </p:cNvSpPr>
          <p:nvPr/>
        </p:nvSpPr>
        <p:spPr bwMode="auto">
          <a:xfrm>
            <a:off x="5810250" y="6315075"/>
            <a:ext cx="801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972" name="TextBox 54"/>
          <p:cNvSpPr txBox="1">
            <a:spLocks noChangeArrowheads="1"/>
          </p:cNvSpPr>
          <p:nvPr/>
        </p:nvSpPr>
        <p:spPr bwMode="auto">
          <a:xfrm rot="16200000">
            <a:off x="2577306" y="3696494"/>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9" name="组合 51"/>
          <p:cNvGrpSpPr/>
          <p:nvPr/>
        </p:nvGrpSpPr>
        <p:grpSpPr bwMode="auto">
          <a:xfrm>
            <a:off x="3667125" y="1571626"/>
            <a:ext cx="1906588" cy="830263"/>
            <a:chOff x="2143108" y="1571612"/>
            <a:chExt cx="1906291" cy="830997"/>
          </a:xfrm>
        </p:grpSpPr>
        <p:sp>
          <p:nvSpPr>
            <p:cNvPr id="44" name="TextBox 43"/>
            <p:cNvSpPr txBox="1"/>
            <p:nvPr/>
          </p:nvSpPr>
          <p:spPr>
            <a:xfrm>
              <a:off x="2143108" y="1571612"/>
              <a:ext cx="1906291" cy="830997"/>
            </a:xfrm>
            <a:prstGeom prst="rect">
              <a:avLst/>
            </a:prstGeom>
            <a:noFill/>
          </p:spPr>
          <p:txBody>
            <a:bodyPr wrap="none">
              <a:spAutoFit/>
            </a:bodyPr>
            <a:lstStyle/>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样品</a:t>
              </a:r>
              <a:r>
                <a:rPr lang="en-US" altLang="zh-CN" sz="2400" dirty="0">
                  <a:solidFill>
                    <a:srgbClr val="000000"/>
                  </a:solidFill>
                  <a:latin typeface="微软雅黑" panose="020B0503020204020204" pitchFamily="34" charset="-122"/>
                  <a:ea typeface="微软雅黑" panose="020B0503020204020204" pitchFamily="34" charset="-122"/>
                </a:rPr>
                <a:t>A   +</a:t>
              </a:r>
              <a:endParaRPr lang="en-US" altLang="zh-CN" sz="24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样品</a:t>
              </a:r>
              <a:r>
                <a:rPr lang="en-US" altLang="zh-CN" sz="2400" dirty="0">
                  <a:solidFill>
                    <a:srgbClr val="000000"/>
                  </a:solidFill>
                  <a:latin typeface="微软雅黑" panose="020B0503020204020204" pitchFamily="34" charset="-122"/>
                  <a:ea typeface="微软雅黑" panose="020B0503020204020204" pitchFamily="34" charset="-122"/>
                </a:rPr>
                <a:t>B          </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50" name="椭圆 49"/>
            <p:cNvSpPr/>
            <p:nvPr/>
          </p:nvSpPr>
          <p:spPr>
            <a:xfrm flipV="1">
              <a:off x="3357357" y="2110251"/>
              <a:ext cx="142853" cy="1430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组合 7"/>
          <p:cNvGrpSpPr/>
          <p:nvPr/>
        </p:nvGrpSpPr>
        <p:grpSpPr bwMode="auto">
          <a:xfrm>
            <a:off x="2738439" y="1285876"/>
            <a:ext cx="6715125" cy="5357813"/>
            <a:chOff x="1214414" y="1285860"/>
            <a:chExt cx="6715172" cy="5357850"/>
          </a:xfrm>
        </p:grpSpPr>
        <p:sp>
          <p:nvSpPr>
            <p:cNvPr id="5" name="矩形 4"/>
            <p:cNvSpPr/>
            <p:nvPr/>
          </p:nvSpPr>
          <p:spPr>
            <a:xfrm>
              <a:off x="1214414" y="1285860"/>
              <a:ext cx="6715172" cy="5357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微软雅黑" panose="020B0503020204020204" pitchFamily="34" charset="-122"/>
                <a:ea typeface="微软雅黑" panose="020B0503020204020204" pitchFamily="34" charset="-122"/>
              </a:endParaRPr>
            </a:p>
          </p:txBody>
        </p:sp>
        <p:pic>
          <p:nvPicPr>
            <p:cNvPr id="43019"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TextBox 6"/>
          <p:cNvSpPr txBox="1"/>
          <p:nvPr/>
        </p:nvSpPr>
        <p:spPr>
          <a:xfrm>
            <a:off x="2238376" y="1214438"/>
            <a:ext cx="1978025" cy="461962"/>
          </a:xfrm>
          <a:prstGeom prst="rect">
            <a:avLst/>
          </a:prstGeom>
          <a:solidFill>
            <a:srgbClr val="FFFFCC"/>
          </a:solidFill>
        </p:spPr>
        <p:txBody>
          <a:bodyPr wrap="none">
            <a:spAutoFit/>
          </a:bodyPr>
          <a:lstStyle/>
          <a:p>
            <a:pPr eaLnBrk="1" hangingPunct="1">
              <a:defRPr/>
            </a:pPr>
            <a:r>
              <a:rPr lang="en-US" altLang="zh-CN" sz="2400" dirty="0">
                <a:solidFill>
                  <a:srgbClr val="002060"/>
                </a:solidFill>
                <a:latin typeface="微软雅黑" panose="020B0503020204020204" pitchFamily="34" charset="-122"/>
                <a:ea typeface="微软雅黑" panose="020B0503020204020204" pitchFamily="34" charset="-122"/>
              </a:rPr>
              <a:t>1.</a:t>
            </a:r>
            <a:r>
              <a:rPr lang="zh-CN" altLang="en-US" sz="2400" dirty="0">
                <a:solidFill>
                  <a:srgbClr val="002060"/>
                </a:solidFill>
                <a:latin typeface="微软雅黑" panose="020B0503020204020204" pitchFamily="34" charset="-122"/>
                <a:ea typeface="微软雅黑" panose="020B0503020204020204" pitchFamily="34" charset="-122"/>
              </a:rPr>
              <a:t>选择坐标纸</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43012" name="矩形 8"/>
          <p:cNvSpPr>
            <a:spLocks noChangeArrowheads="1"/>
          </p:cNvSpPr>
          <p:nvPr/>
        </p:nvSpPr>
        <p:spPr bwMode="auto">
          <a:xfrm>
            <a:off x="2222500" y="1714500"/>
            <a:ext cx="7874000" cy="15700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lgn="just" eaLnBrk="1" hangingPunct="1">
              <a:spcBef>
                <a:spcPct val="30000"/>
              </a:spcBef>
              <a:spcAft>
                <a:spcPct val="30000"/>
              </a:spcAft>
              <a:buFontTx/>
              <a:buNone/>
            </a:pPr>
            <a:r>
              <a:rPr lang="en-US" altLang="zh-CN" sz="2400">
                <a:solidFill>
                  <a:srgbClr val="002060"/>
                </a:solidFill>
                <a:latin typeface="微软雅黑" panose="020B0503020204020204" pitchFamily="34" charset="-122"/>
              </a:rPr>
              <a:t>2.</a:t>
            </a:r>
            <a:r>
              <a:rPr lang="zh-CN" altLang="en-US" sz="2400">
                <a:solidFill>
                  <a:srgbClr val="002060"/>
                </a:solidFill>
                <a:latin typeface="微软雅黑" panose="020B0503020204020204" pitchFamily="34" charset="-122"/>
              </a:rPr>
              <a:t>根据自变量－因变量选择图纸方向（一般取自变量为横坐标），选择合适比例，图纸上</a:t>
            </a:r>
            <a:r>
              <a:rPr lang="en-US" altLang="zh-CN" sz="2400">
                <a:solidFill>
                  <a:srgbClr val="002060"/>
                </a:solidFill>
                <a:latin typeface="微软雅黑" panose="020B0503020204020204" pitchFamily="34" charset="-122"/>
              </a:rPr>
              <a:t>1</a:t>
            </a:r>
            <a:r>
              <a:rPr lang="zh-CN" altLang="en-US" sz="2400">
                <a:solidFill>
                  <a:srgbClr val="002060"/>
                </a:solidFill>
                <a:latin typeface="微软雅黑" panose="020B0503020204020204" pitchFamily="34" charset="-122"/>
              </a:rPr>
              <a:t>格所表示的数据量值符合原数据量值变化的</a:t>
            </a:r>
            <a:r>
              <a:rPr lang="en-US" altLang="zh-CN" sz="2400">
                <a:solidFill>
                  <a:srgbClr val="002060"/>
                </a:solidFill>
                <a:latin typeface="微软雅黑" panose="020B0503020204020204" pitchFamily="34" charset="-122"/>
              </a:rPr>
              <a:t>1</a:t>
            </a:r>
            <a:r>
              <a:rPr lang="zh-CN" altLang="en-US" sz="2400">
                <a:solidFill>
                  <a:srgbClr val="002060"/>
                </a:solidFill>
                <a:latin typeface="微软雅黑" panose="020B0503020204020204" pitchFamily="34" charset="-122"/>
              </a:rPr>
              <a:t>、</a:t>
            </a:r>
            <a:r>
              <a:rPr lang="en-US" altLang="zh-CN" sz="2400">
                <a:solidFill>
                  <a:srgbClr val="002060"/>
                </a:solidFill>
                <a:latin typeface="微软雅黑" panose="020B0503020204020204" pitchFamily="34" charset="-122"/>
              </a:rPr>
              <a:t>2</a:t>
            </a:r>
            <a:r>
              <a:rPr lang="zh-CN" altLang="en-US" sz="2400">
                <a:solidFill>
                  <a:srgbClr val="002060"/>
                </a:solidFill>
                <a:latin typeface="微软雅黑" panose="020B0503020204020204" pitchFamily="34" charset="-122"/>
              </a:rPr>
              <a:t>、</a:t>
            </a:r>
            <a:r>
              <a:rPr lang="en-US" altLang="zh-CN" sz="2400">
                <a:solidFill>
                  <a:srgbClr val="002060"/>
                </a:solidFill>
                <a:latin typeface="微软雅黑" panose="020B0503020204020204" pitchFamily="34" charset="-122"/>
              </a:rPr>
              <a:t>5</a:t>
            </a:r>
            <a:r>
              <a:rPr lang="zh-CN" altLang="en-US" sz="2400">
                <a:solidFill>
                  <a:srgbClr val="002060"/>
                </a:solidFill>
                <a:latin typeface="微软雅黑" panose="020B0503020204020204" pitchFamily="34" charset="-122"/>
              </a:rPr>
              <a:t>等数（或它们的十进倍率）</a:t>
            </a:r>
            <a:r>
              <a:rPr lang="en-US" altLang="zh-CN" sz="2400">
                <a:solidFill>
                  <a:srgbClr val="002060"/>
                </a:solidFill>
                <a:latin typeface="微软雅黑" panose="020B0503020204020204" pitchFamily="34" charset="-122"/>
              </a:rPr>
              <a:t>,</a:t>
            </a:r>
            <a:r>
              <a:rPr lang="zh-CN" altLang="en-US" sz="2400">
                <a:solidFill>
                  <a:srgbClr val="002060"/>
                </a:solidFill>
                <a:latin typeface="微软雅黑" panose="020B0503020204020204" pitchFamily="34" charset="-122"/>
              </a:rPr>
              <a:t>便于读取。</a:t>
            </a:r>
            <a:endParaRPr lang="en-US" altLang="zh-CN" sz="2400">
              <a:solidFill>
                <a:srgbClr val="002060"/>
              </a:solidFill>
              <a:latin typeface="微软雅黑" panose="020B0503020204020204" pitchFamily="34" charset="-122"/>
            </a:endParaRPr>
          </a:p>
        </p:txBody>
      </p:sp>
      <p:sp>
        <p:nvSpPr>
          <p:cNvPr id="10" name="矩形 9"/>
          <p:cNvSpPr/>
          <p:nvPr/>
        </p:nvSpPr>
        <p:spPr>
          <a:xfrm>
            <a:off x="2222500" y="3357563"/>
            <a:ext cx="7874000" cy="830262"/>
          </a:xfrm>
          <a:prstGeom prst="rect">
            <a:avLst/>
          </a:prstGeom>
          <a:solidFill>
            <a:srgbClr val="FFFFCC"/>
          </a:solidFill>
        </p:spPr>
        <p:txBody>
          <a:bodyPr>
            <a:spAutoFit/>
          </a:bodyPr>
          <a:lstStyle/>
          <a:p>
            <a:pPr eaLnBrk="1" hangingPunct="1">
              <a:spcBef>
                <a:spcPct val="30000"/>
              </a:spcBef>
              <a:spcAft>
                <a:spcPct val="30000"/>
              </a:spcAft>
              <a:defRPr/>
            </a:pPr>
            <a:r>
              <a:rPr lang="en-US" altLang="zh-CN" sz="2400" dirty="0">
                <a:solidFill>
                  <a:srgbClr val="002060"/>
                </a:solidFill>
                <a:latin typeface="微软雅黑" panose="020B0503020204020204" pitchFamily="34" charset="-122"/>
                <a:ea typeface="微软雅黑" panose="020B0503020204020204" pitchFamily="34" charset="-122"/>
              </a:rPr>
              <a:t>3.</a:t>
            </a:r>
            <a:r>
              <a:rPr lang="zh-CN" altLang="en-US" sz="2400" dirty="0">
                <a:solidFill>
                  <a:srgbClr val="002060"/>
                </a:solidFill>
                <a:latin typeface="微软雅黑" panose="020B0503020204020204" pitchFamily="34" charset="-122"/>
                <a:ea typeface="微软雅黑" panose="020B0503020204020204" pitchFamily="34" charset="-122"/>
              </a:rPr>
              <a:t>画坐标轴、分度线（等间距、勿太密）并标明物理量名称（</a:t>
            </a:r>
            <a:r>
              <a:rPr lang="zh-CN" altLang="en-US" sz="2400" i="1" dirty="0">
                <a:solidFill>
                  <a:srgbClr val="002060"/>
                </a:solidFill>
                <a:latin typeface="微软雅黑" panose="020B0503020204020204" pitchFamily="34" charset="-122"/>
                <a:ea typeface="微软雅黑" panose="020B0503020204020204" pitchFamily="34" charset="-122"/>
              </a:rPr>
              <a:t>斜体</a:t>
            </a:r>
            <a:r>
              <a:rPr lang="zh-CN" altLang="en-US" sz="2400" dirty="0">
                <a:solidFill>
                  <a:srgbClr val="002060"/>
                </a:solidFill>
                <a:latin typeface="微软雅黑" panose="020B0503020204020204" pitchFamily="34" charset="-122"/>
                <a:ea typeface="微软雅黑" panose="020B0503020204020204" pitchFamily="34" charset="-122"/>
              </a:rPr>
              <a:t>）及单位（正体）。</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11" name="矩形 10"/>
          <p:cNvSpPr/>
          <p:nvPr/>
        </p:nvSpPr>
        <p:spPr>
          <a:xfrm>
            <a:off x="2238376" y="4286251"/>
            <a:ext cx="7858125" cy="830263"/>
          </a:xfrm>
          <a:prstGeom prst="rect">
            <a:avLst/>
          </a:prstGeom>
          <a:solidFill>
            <a:srgbClr val="FFFFCC"/>
          </a:solidFill>
        </p:spPr>
        <p:txBody>
          <a:bodyPr>
            <a:spAutoFit/>
          </a:bodyPr>
          <a:lstStyle/>
          <a:p>
            <a:pPr marL="341630" indent="-341630" algn="just" eaLnBrk="1" hangingPunct="1">
              <a:spcBef>
                <a:spcPts val="575"/>
              </a:spcBef>
              <a:defRPr/>
            </a:pPr>
            <a:r>
              <a:rPr lang="en-US" altLang="zh-CN" sz="2400" dirty="0">
                <a:solidFill>
                  <a:srgbClr val="002060"/>
                </a:solidFill>
                <a:latin typeface="微软雅黑" panose="020B0503020204020204" pitchFamily="34" charset="-122"/>
                <a:ea typeface="微软雅黑" panose="020B0503020204020204" pitchFamily="34" charset="-122"/>
              </a:rPr>
              <a:t>4.</a:t>
            </a:r>
            <a:r>
              <a:rPr lang="zh-CN" altLang="en-US" sz="2400" dirty="0">
                <a:solidFill>
                  <a:srgbClr val="002060"/>
                </a:solidFill>
                <a:latin typeface="微软雅黑" panose="020B0503020204020204" pitchFamily="34" charset="-122"/>
                <a:ea typeface="微软雅黑" panose="020B0503020204020204" pitchFamily="34" charset="-122"/>
              </a:rPr>
              <a:t>画数据点（不标数据值，要用端正的“</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或者“</a:t>
            </a:r>
            <a:r>
              <a:rPr lang="zh-CN" altLang="en-US" sz="2000" dirty="0">
                <a:solidFill>
                  <a:srgbClr val="002060"/>
                </a:solidFill>
                <a:latin typeface="微软雅黑" panose="020B0503020204020204" pitchFamily="34" charset="-122"/>
                <a:ea typeface="微软雅黑" panose="020B0503020204020204" pitchFamily="34" charset="-122"/>
              </a:rPr>
              <a:t>〇</a:t>
            </a:r>
            <a:r>
              <a:rPr lang="zh-CN" altLang="en-US" sz="2400" dirty="0">
                <a:solidFill>
                  <a:srgbClr val="002060"/>
                </a:solidFill>
                <a:latin typeface="微软雅黑" panose="020B0503020204020204" pitchFamily="34" charset="-122"/>
                <a:ea typeface="微软雅黑" panose="020B0503020204020204" pitchFamily="34" charset="-122"/>
              </a:rPr>
              <a:t>”符号来表示）。</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12" name="矩形 11"/>
          <p:cNvSpPr/>
          <p:nvPr/>
        </p:nvSpPr>
        <p:spPr>
          <a:xfrm>
            <a:off x="2238376" y="5214938"/>
            <a:ext cx="7858125" cy="1200150"/>
          </a:xfrm>
          <a:prstGeom prst="rect">
            <a:avLst/>
          </a:prstGeom>
          <a:solidFill>
            <a:srgbClr val="FFFF66"/>
          </a:solidFill>
        </p:spPr>
        <p:txBody>
          <a:bodyPr>
            <a:spAutoFit/>
          </a:bodyPr>
          <a:lstStyle/>
          <a:p>
            <a:pPr algn="just" eaLnBrk="1" hangingPunct="1">
              <a:spcBef>
                <a:spcPts val="575"/>
              </a:spcBef>
              <a:defRPr/>
            </a:pPr>
            <a:r>
              <a:rPr lang="en-US" altLang="zh-CN" sz="2400" b="1" dirty="0">
                <a:solidFill>
                  <a:srgbClr val="002060"/>
                </a:solidFill>
                <a:latin typeface="微软雅黑" panose="020B0503020204020204" pitchFamily="34" charset="-122"/>
                <a:ea typeface="微软雅黑" panose="020B0503020204020204" pitchFamily="34" charset="-122"/>
              </a:rPr>
              <a:t>5.</a:t>
            </a:r>
            <a:r>
              <a:rPr lang="zh-CN" altLang="en-US" sz="2400" b="1" dirty="0">
                <a:solidFill>
                  <a:srgbClr val="002060"/>
                </a:solidFill>
                <a:latin typeface="微软雅黑" panose="020B0503020204020204" pitchFamily="34" charset="-122"/>
                <a:ea typeface="微软雅黑" panose="020B0503020204020204" pitchFamily="34" charset="-122"/>
              </a:rPr>
              <a:t>画直线或曲线，标明特殊点</a:t>
            </a:r>
            <a:r>
              <a:rPr lang="en-US" altLang="zh-CN" sz="2400" b="1" dirty="0">
                <a:solidFill>
                  <a:srgbClr val="002060"/>
                </a:solidFill>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特殊点所用符号应有别于数据点的符号）及坐标值（计算斜率用的点，曲线的峰、谷等）。</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43017" name="标题 1"/>
          <p:cNvSpPr>
            <a:spLocks noGrp="1"/>
          </p:cNvSpPr>
          <p:nvPr>
            <p:ph type="title"/>
          </p:nvPr>
        </p:nvSpPr>
        <p:spPr>
          <a:xfrm>
            <a:off x="479376" y="237363"/>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作图规则</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3016" name="灯片编号占位符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3D28C3A5-A39F-4A24-91E1-493A84CF3142}" type="slidenum">
              <a:rPr lang="zh-CN" altLang="en-US" sz="2800">
                <a:solidFill>
                  <a:srgbClr val="FFFFFF"/>
                </a:solidFill>
                <a:latin typeface="Calibri" panose="020F0502020204030204" charset="0"/>
                <a:ea typeface="宋体" panose="02010600030101010101" pitchFamily="2" charset="-122"/>
              </a:rPr>
            </a:fld>
            <a:endParaRPr lang="en-US" altLang="zh-CN" sz="2800">
              <a:solidFill>
                <a:srgbClr val="FFFFFF"/>
              </a:solidFill>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iterate type="lt">
                                    <p:tmPct val="0"/>
                                  </p:iterate>
                                  <p:childTnLst>
                                    <p:animClr clrSpc="hsl" dir="cw">
                                      <p:cBhvr override="childStyle">
                                        <p:cTn id="6" dur="500" fill="hold"/>
                                        <p:tgtEl>
                                          <p:spTgt spid="12"/>
                                        </p:tgtEl>
                                        <p:attrNameLst>
                                          <p:attrName>style.color</p:attrName>
                                        </p:attrNameLst>
                                      </p:cBhvr>
                                      <p:by>
                                        <p:hsl h="0" s="-12549" l="-25098"/>
                                      </p:by>
                                    </p:animClr>
                                    <p:animClr clrSpc="hsl" dir="cw">
                                      <p:cBhvr>
                                        <p:cTn id="7" dur="500" fill="hold"/>
                                        <p:tgtEl>
                                          <p:spTgt spid="12"/>
                                        </p:tgtEl>
                                        <p:attrNameLst>
                                          <p:attrName>fillcolor</p:attrName>
                                        </p:attrNameLst>
                                      </p:cBhvr>
                                      <p:by>
                                        <p:hsl h="0" s="-12549" l="-25098"/>
                                      </p:by>
                                    </p:animClr>
                                    <p:animClr clrSpc="hsl" dir="cw">
                                      <p:cBhvr>
                                        <p:cTn id="8" dur="500" fill="hold"/>
                                        <p:tgtEl>
                                          <p:spTgt spid="12"/>
                                        </p:tgtEl>
                                        <p:attrNameLst>
                                          <p:attrName>stroke.color</p:attrName>
                                        </p:attrNameLst>
                                      </p:cBhvr>
                                      <p:by>
                                        <p:hsl h="0" s="-12549" l="-25098"/>
                                      </p:by>
                                    </p:animClr>
                                    <p:set>
                                      <p:cBhvr>
                                        <p:cTn id="9" dur="50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307976" y="208725"/>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作图规则</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4058" name="灯片编号占位符 4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9F1536D3-648B-4221-9C30-48BD7279D574}" type="slidenum">
              <a:rPr lang="zh-CN" altLang="en-US" sz="2800">
                <a:solidFill>
                  <a:srgbClr val="FFFFFF"/>
                </a:solidFill>
                <a:latin typeface="Calibri" panose="020F0502020204030204" charset="0"/>
                <a:ea typeface="宋体" panose="02010600030101010101" pitchFamily="2" charset="-122"/>
              </a:rPr>
            </a:fld>
            <a:endParaRPr lang="en-US" altLang="zh-CN" sz="1200" dirty="0">
              <a:solidFill>
                <a:srgbClr val="FFFFFF"/>
              </a:solidFill>
              <a:latin typeface="Calibri" panose="020F0502020204030204" charset="0"/>
              <a:ea typeface="宋体" panose="02010600030101010101" pitchFamily="2" charset="-122"/>
            </a:endParaRPr>
          </a:p>
        </p:txBody>
      </p:sp>
      <p:grpSp>
        <p:nvGrpSpPr>
          <p:cNvPr id="44035" name="组合 7"/>
          <p:cNvGrpSpPr/>
          <p:nvPr/>
        </p:nvGrpSpPr>
        <p:grpSpPr bwMode="auto">
          <a:xfrm>
            <a:off x="2738439" y="1285876"/>
            <a:ext cx="6715125" cy="5357813"/>
            <a:chOff x="1214414" y="1285860"/>
            <a:chExt cx="6715172" cy="5357850"/>
          </a:xfrm>
          <a:solidFill>
            <a:schemeClr val="tx1"/>
          </a:solidFill>
        </p:grpSpPr>
        <p:sp>
          <p:nvSpPr>
            <p:cNvPr id="5" name="矩形 4"/>
            <p:cNvSpPr/>
            <p:nvPr/>
          </p:nvSpPr>
          <p:spPr>
            <a:xfrm>
              <a:off x="1214414" y="1285860"/>
              <a:ext cx="6715172" cy="535785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pic>
          <p:nvPicPr>
            <p:cNvPr id="44076"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cxnSp>
        <p:nvCxnSpPr>
          <p:cNvPr id="10" name="直接连接符 9"/>
          <p:cNvCxnSpPr/>
          <p:nvPr/>
        </p:nvCxnSpPr>
        <p:spPr>
          <a:xfrm rot="5400000">
            <a:off x="1058864" y="3821114"/>
            <a:ext cx="4643437" cy="158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381375" y="6143625"/>
            <a:ext cx="5786438"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
        <p:nvSpPr>
          <p:cNvPr id="44038" name="TextBox 14"/>
          <p:cNvSpPr txBox="1">
            <a:spLocks noChangeArrowheads="1"/>
          </p:cNvSpPr>
          <p:nvPr/>
        </p:nvSpPr>
        <p:spPr bwMode="auto">
          <a:xfrm>
            <a:off x="3167063" y="6103939"/>
            <a:ext cx="6297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1800" dirty="0">
                <a:solidFill>
                  <a:schemeClr val="bg1"/>
                </a:solidFill>
                <a:latin typeface="Calibri" panose="020F0502020204030204" charset="0"/>
                <a:ea typeface="宋体" panose="02010600030101010101" pitchFamily="2" charset="-122"/>
              </a:rPr>
              <a:t>20                 30                   40                  50                  60                 70 </a:t>
            </a:r>
            <a:endParaRPr lang="zh-CN" altLang="en-US" sz="1800" dirty="0">
              <a:solidFill>
                <a:schemeClr val="bg1"/>
              </a:solidFill>
              <a:latin typeface="Calibri" panose="020F0502020204030204" charset="0"/>
              <a:ea typeface="宋体" panose="02010600030101010101" pitchFamily="2" charset="-122"/>
            </a:endParaRPr>
          </a:p>
        </p:txBody>
      </p:sp>
      <p:grpSp>
        <p:nvGrpSpPr>
          <p:cNvPr id="44039" name="组合 33"/>
          <p:cNvGrpSpPr/>
          <p:nvPr/>
        </p:nvGrpSpPr>
        <p:grpSpPr bwMode="auto">
          <a:xfrm>
            <a:off x="4540250" y="6002338"/>
            <a:ext cx="4643438" cy="150812"/>
            <a:chOff x="3015612" y="6001562"/>
            <a:chExt cx="4644263" cy="150898"/>
          </a:xfrm>
        </p:grpSpPr>
        <p:cxnSp>
          <p:nvCxnSpPr>
            <p:cNvPr id="21" name="直接连接符 20"/>
            <p:cNvCxnSpPr/>
            <p:nvPr/>
          </p:nvCxnSpPr>
          <p:spPr>
            <a:xfrm rot="5400000" flipH="1" flipV="1">
              <a:off x="2944927" y="6072247"/>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flipH="1" flipV="1">
              <a:off x="4104008"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flipH="1" flipV="1">
              <a:off x="5269440"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flipH="1" flipV="1">
              <a:off x="6428521"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flipH="1" flipV="1">
              <a:off x="7587602"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44040" name="组合 36"/>
          <p:cNvGrpSpPr/>
          <p:nvPr/>
        </p:nvGrpSpPr>
        <p:grpSpPr bwMode="auto">
          <a:xfrm>
            <a:off x="3000375" y="1314451"/>
            <a:ext cx="533400" cy="5324475"/>
            <a:chOff x="1476854" y="1314587"/>
            <a:chExt cx="532150" cy="5324535"/>
          </a:xfrm>
        </p:grpSpPr>
        <p:grpSp>
          <p:nvGrpSpPr>
            <p:cNvPr id="44063" name="组合 32"/>
            <p:cNvGrpSpPr/>
            <p:nvPr/>
          </p:nvGrpSpPr>
          <p:grpSpPr bwMode="auto">
            <a:xfrm>
              <a:off x="1855854" y="1484132"/>
              <a:ext cx="153150" cy="3730818"/>
              <a:chOff x="1855854" y="1484132"/>
              <a:chExt cx="153150" cy="3730818"/>
            </a:xfrm>
          </p:grpSpPr>
          <p:cxnSp>
            <p:nvCxnSpPr>
              <p:cNvPr id="17" name="直接连接符 16"/>
              <p:cNvCxnSpPr/>
              <p:nvPr/>
            </p:nvCxnSpPr>
            <p:spPr>
              <a:xfrm>
                <a:off x="1856961" y="1484452"/>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866464" y="2402037"/>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855378" y="5213531"/>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55378" y="4270545"/>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855378" y="3327560"/>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44064" name="TextBox 35"/>
            <p:cNvSpPr txBox="1">
              <a:spLocks noChangeArrowheads="1"/>
            </p:cNvSpPr>
            <p:nvPr/>
          </p:nvSpPr>
          <p:spPr bwMode="auto">
            <a:xfrm>
              <a:off x="1476854" y="1314587"/>
              <a:ext cx="444352"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a:solidFill>
                    <a:srgbClr val="000000"/>
                  </a:solidFill>
                  <a:latin typeface="Calibri" panose="020F0502020204030204" charset="0"/>
                  <a:ea typeface="宋体" panose="02010600030101010101" pitchFamily="2" charset="-122"/>
                </a:rPr>
                <a:t>40</a:t>
              </a: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a:solidFill>
                    <a:srgbClr val="000000"/>
                  </a:solidFill>
                  <a:latin typeface="Calibri" panose="020F0502020204030204" charset="0"/>
                  <a:ea typeface="宋体" panose="02010600030101010101" pitchFamily="2" charset="-122"/>
                </a:rPr>
                <a:t>38</a:t>
              </a: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a:solidFill>
                    <a:srgbClr val="000000"/>
                  </a:solidFill>
                  <a:latin typeface="Calibri" panose="020F0502020204030204" charset="0"/>
                  <a:ea typeface="宋体" panose="02010600030101010101" pitchFamily="2" charset="-122"/>
                </a:rPr>
                <a:t>36</a:t>
              </a: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a:solidFill>
                    <a:srgbClr val="000000"/>
                  </a:solidFill>
                  <a:latin typeface="Calibri" panose="020F0502020204030204" charset="0"/>
                  <a:ea typeface="宋体" panose="02010600030101010101" pitchFamily="2" charset="-122"/>
                </a:rPr>
                <a:t>34</a:t>
              </a: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a:solidFill>
                    <a:srgbClr val="000000"/>
                  </a:solidFill>
                  <a:latin typeface="Calibri" panose="020F0502020204030204" charset="0"/>
                  <a:ea typeface="宋体" panose="02010600030101010101" pitchFamily="2" charset="-122"/>
                </a:rPr>
                <a:t>32</a:t>
              </a: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a:solidFill>
                    <a:srgbClr val="000000"/>
                  </a:solidFill>
                  <a:latin typeface="Calibri" panose="020F0502020204030204" charset="0"/>
                  <a:ea typeface="宋体" panose="02010600030101010101" pitchFamily="2" charset="-122"/>
                </a:rPr>
                <a:t>30</a:t>
              </a:r>
              <a:endParaRPr lang="en-US" altLang="zh-CN" sz="200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zh-CN" altLang="en-US" sz="2000">
                <a:solidFill>
                  <a:srgbClr val="000000"/>
                </a:solidFill>
                <a:latin typeface="Calibri" panose="020F0502020204030204" charset="0"/>
                <a:ea typeface="宋体" panose="02010600030101010101" pitchFamily="2" charset="-122"/>
              </a:endParaRPr>
            </a:p>
          </p:txBody>
        </p:sp>
      </p:grpSp>
      <p:sp>
        <p:nvSpPr>
          <p:cNvPr id="39" name="椭圆 38"/>
          <p:cNvSpPr/>
          <p:nvPr/>
        </p:nvSpPr>
        <p:spPr>
          <a:xfrm flipV="1">
            <a:off x="3595689" y="5929314"/>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0" name="椭圆 39"/>
          <p:cNvSpPr/>
          <p:nvPr/>
        </p:nvSpPr>
        <p:spPr>
          <a:xfrm flipV="1">
            <a:off x="4524376" y="5429251"/>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1" name="椭圆 40"/>
          <p:cNvSpPr/>
          <p:nvPr/>
        </p:nvSpPr>
        <p:spPr>
          <a:xfrm flipV="1">
            <a:off x="5667376" y="4857751"/>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2" name="椭圆 41"/>
          <p:cNvSpPr/>
          <p:nvPr/>
        </p:nvSpPr>
        <p:spPr>
          <a:xfrm flipV="1">
            <a:off x="6953251" y="4214814"/>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3" name="椭圆 42"/>
          <p:cNvSpPr/>
          <p:nvPr/>
        </p:nvSpPr>
        <p:spPr>
          <a:xfrm flipV="1">
            <a:off x="8167689" y="3500439"/>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4046" name="TextBox 44"/>
          <p:cNvSpPr txBox="1">
            <a:spLocks noChangeArrowheads="1"/>
          </p:cNvSpPr>
          <p:nvPr/>
        </p:nvSpPr>
        <p:spPr bwMode="auto">
          <a:xfrm>
            <a:off x="3494089" y="53578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4047" name="TextBox 45"/>
          <p:cNvSpPr txBox="1">
            <a:spLocks noChangeArrowheads="1"/>
          </p:cNvSpPr>
          <p:nvPr/>
        </p:nvSpPr>
        <p:spPr bwMode="auto">
          <a:xfrm>
            <a:off x="4422776" y="4681538"/>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4048" name="TextBox 46"/>
          <p:cNvSpPr txBox="1">
            <a:spLocks noChangeArrowheads="1"/>
          </p:cNvSpPr>
          <p:nvPr/>
        </p:nvSpPr>
        <p:spPr bwMode="auto">
          <a:xfrm>
            <a:off x="5595939" y="36814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4049" name="TextBox 47"/>
          <p:cNvSpPr txBox="1">
            <a:spLocks noChangeArrowheads="1"/>
          </p:cNvSpPr>
          <p:nvPr/>
        </p:nvSpPr>
        <p:spPr bwMode="auto">
          <a:xfrm>
            <a:off x="6845300" y="2857501"/>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4050" name="TextBox 48"/>
          <p:cNvSpPr txBox="1">
            <a:spLocks noChangeArrowheads="1"/>
          </p:cNvSpPr>
          <p:nvPr/>
        </p:nvSpPr>
        <p:spPr bwMode="auto">
          <a:xfrm>
            <a:off x="8043864" y="1785938"/>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cxnSp>
        <p:nvCxnSpPr>
          <p:cNvPr id="51" name="直接连接符 50"/>
          <p:cNvCxnSpPr/>
          <p:nvPr/>
        </p:nvCxnSpPr>
        <p:spPr>
          <a:xfrm flipV="1">
            <a:off x="3524251" y="3071813"/>
            <a:ext cx="5643563" cy="3071812"/>
          </a:xfrm>
          <a:prstGeom prst="lin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3381375" y="1500189"/>
            <a:ext cx="5500688" cy="4357687"/>
          </a:xfrm>
          <a:prstGeom prst="lin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4053" name="TextBox 53"/>
          <p:cNvSpPr txBox="1">
            <a:spLocks noChangeArrowheads="1"/>
          </p:cNvSpPr>
          <p:nvPr/>
        </p:nvSpPr>
        <p:spPr bwMode="auto">
          <a:xfrm>
            <a:off x="5810250" y="6315075"/>
            <a:ext cx="801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054" name="TextBox 54"/>
          <p:cNvSpPr txBox="1">
            <a:spLocks noChangeArrowheads="1"/>
          </p:cNvSpPr>
          <p:nvPr/>
        </p:nvSpPr>
        <p:spPr bwMode="auto">
          <a:xfrm rot="16200000">
            <a:off x="2577306" y="3696494"/>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TextBox 36"/>
          <p:cNvSpPr txBox="1"/>
          <p:nvPr/>
        </p:nvSpPr>
        <p:spPr>
          <a:xfrm>
            <a:off x="3667125" y="1571626"/>
            <a:ext cx="1906588" cy="830263"/>
          </a:xfrm>
          <a:prstGeom prst="rect">
            <a:avLst/>
          </a:prstGeom>
          <a:noFill/>
        </p:spPr>
        <p:txBody>
          <a:bodyPr wrap="none">
            <a:spAutoFit/>
          </a:bodyPr>
          <a:lstStyle/>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样品</a:t>
            </a:r>
            <a:r>
              <a:rPr lang="en-US" altLang="zh-CN" sz="2400" dirty="0">
                <a:solidFill>
                  <a:srgbClr val="000000"/>
                </a:solidFill>
                <a:latin typeface="微软雅黑" panose="020B0503020204020204" pitchFamily="34" charset="-122"/>
                <a:ea typeface="微软雅黑" panose="020B0503020204020204" pitchFamily="34" charset="-122"/>
              </a:rPr>
              <a:t>A   +</a:t>
            </a:r>
            <a:endParaRPr lang="en-US" altLang="zh-CN" sz="24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样品</a:t>
            </a:r>
            <a:r>
              <a:rPr lang="en-US" altLang="zh-CN" sz="2400" dirty="0">
                <a:solidFill>
                  <a:srgbClr val="000000"/>
                </a:solidFill>
                <a:latin typeface="微软雅黑" panose="020B0503020204020204" pitchFamily="34" charset="-122"/>
                <a:ea typeface="微软雅黑" panose="020B0503020204020204" pitchFamily="34" charset="-122"/>
              </a:rPr>
              <a:t>B          </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38" name="椭圆 37"/>
          <p:cNvSpPr/>
          <p:nvPr/>
        </p:nvSpPr>
        <p:spPr>
          <a:xfrm flipV="1">
            <a:off x="4881564" y="2111376"/>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nvGrpSpPr>
          <p:cNvPr id="7" name="组合 56"/>
          <p:cNvGrpSpPr/>
          <p:nvPr/>
        </p:nvGrpSpPr>
        <p:grpSpPr bwMode="auto">
          <a:xfrm>
            <a:off x="3275014" y="1911350"/>
            <a:ext cx="4905375" cy="3517900"/>
            <a:chOff x="1751206" y="1911309"/>
            <a:chExt cx="4904284" cy="3517955"/>
          </a:xfrm>
        </p:grpSpPr>
        <p:sp>
          <p:nvSpPr>
            <p:cNvPr id="44" name="等腰三角形 43"/>
            <p:cNvSpPr/>
            <p:nvPr/>
          </p:nvSpPr>
          <p:spPr>
            <a:xfrm>
              <a:off x="6380913" y="2071650"/>
              <a:ext cx="214265" cy="214315"/>
            </a:xfrm>
            <a:prstGeom prst="triangle">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0" name="等腰三角形 49"/>
            <p:cNvSpPr/>
            <p:nvPr/>
          </p:nvSpPr>
          <p:spPr>
            <a:xfrm>
              <a:off x="2428917" y="5214949"/>
              <a:ext cx="214265" cy="214315"/>
            </a:xfrm>
            <a:prstGeom prst="triangle">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4061" name="TextBox 51"/>
            <p:cNvSpPr txBox="1">
              <a:spLocks noChangeArrowheads="1"/>
            </p:cNvSpPr>
            <p:nvPr/>
          </p:nvSpPr>
          <p:spPr bwMode="auto">
            <a:xfrm>
              <a:off x="4539449" y="1911309"/>
              <a:ext cx="2116041"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a:solidFill>
                    <a:srgbClr val="000000"/>
                  </a:solidFill>
                  <a:latin typeface="Calibri" panose="020F0502020204030204" charset="0"/>
                  <a:ea typeface="宋体" panose="02010600030101010101" pitchFamily="2" charset="-122"/>
                </a:rPr>
                <a:t>（</a:t>
              </a:r>
              <a:r>
                <a:rPr lang="en-US" altLang="zh-CN" sz="2000">
                  <a:solidFill>
                    <a:srgbClr val="000000"/>
                  </a:solidFill>
                  <a:latin typeface="Calibri" panose="020F0502020204030204" charset="0"/>
                  <a:ea typeface="宋体" panose="02010600030101010101" pitchFamily="2" charset="-122"/>
                </a:rPr>
                <a:t>60.00, 38.500</a:t>
              </a:r>
              <a:r>
                <a:rPr lang="zh-CN" altLang="en-US" sz="2000">
                  <a:solidFill>
                    <a:srgbClr val="000000"/>
                  </a:solidFill>
                  <a:latin typeface="Calibri" panose="020F0502020204030204" charset="0"/>
                  <a:ea typeface="宋体" panose="02010600030101010101" pitchFamily="2" charset="-122"/>
                </a:rPr>
                <a:t>）</a:t>
              </a:r>
              <a:endParaRPr lang="zh-CN" altLang="en-US" sz="2000">
                <a:solidFill>
                  <a:srgbClr val="000000"/>
                </a:solidFill>
                <a:latin typeface="Calibri" panose="020F0502020204030204" charset="0"/>
                <a:ea typeface="宋体" panose="02010600030101010101" pitchFamily="2" charset="-122"/>
              </a:endParaRPr>
            </a:p>
          </p:txBody>
        </p:sp>
        <p:sp>
          <p:nvSpPr>
            <p:cNvPr id="44062" name="TextBox 55"/>
            <p:cNvSpPr txBox="1">
              <a:spLocks noChangeArrowheads="1"/>
            </p:cNvSpPr>
            <p:nvPr/>
          </p:nvSpPr>
          <p:spPr bwMode="auto">
            <a:xfrm>
              <a:off x="1751206" y="4891862"/>
              <a:ext cx="2116041"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a:solidFill>
                    <a:srgbClr val="000000"/>
                  </a:solidFill>
                  <a:latin typeface="Calibri" panose="020F0502020204030204" charset="0"/>
                  <a:ea typeface="宋体" panose="02010600030101010101" pitchFamily="2" charset="-122"/>
                </a:rPr>
                <a:t>（</a:t>
              </a:r>
              <a:r>
                <a:rPr lang="en-US" altLang="zh-CN" sz="2000">
                  <a:solidFill>
                    <a:srgbClr val="000000"/>
                  </a:solidFill>
                  <a:latin typeface="Calibri" panose="020F0502020204030204" charset="0"/>
                  <a:ea typeface="宋体" panose="02010600030101010101" pitchFamily="2" charset="-122"/>
                </a:rPr>
                <a:t>26.00, 31.800</a:t>
              </a:r>
              <a:r>
                <a:rPr lang="zh-CN" altLang="en-US" sz="2000">
                  <a:solidFill>
                    <a:srgbClr val="000000"/>
                  </a:solidFill>
                  <a:latin typeface="Calibri" panose="020F0502020204030204" charset="0"/>
                  <a:ea typeface="宋体" panose="02010600030101010101" pitchFamily="2" charset="-122"/>
                </a:rPr>
                <a:t>）</a:t>
              </a:r>
              <a:endParaRPr lang="zh-CN" altLang="en-US" sz="2000">
                <a:solidFill>
                  <a:srgbClr val="000000"/>
                </a:solidFill>
                <a:latin typeface="Calibri" panose="020F050202020403020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blinds(horizontal)">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blinds(horizontal)">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组合 7"/>
          <p:cNvGrpSpPr/>
          <p:nvPr/>
        </p:nvGrpSpPr>
        <p:grpSpPr bwMode="auto">
          <a:xfrm>
            <a:off x="2738439" y="1285876"/>
            <a:ext cx="6715125" cy="5357813"/>
            <a:chOff x="1214414" y="1285860"/>
            <a:chExt cx="6715172" cy="5357850"/>
          </a:xfrm>
          <a:solidFill>
            <a:schemeClr val="tx1"/>
          </a:solidFill>
        </p:grpSpPr>
        <p:sp>
          <p:nvSpPr>
            <p:cNvPr id="5" name="矩形 4"/>
            <p:cNvSpPr/>
            <p:nvPr/>
          </p:nvSpPr>
          <p:spPr>
            <a:xfrm>
              <a:off x="1214414" y="1285860"/>
              <a:ext cx="6715172" cy="535785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微软雅黑" panose="020B0503020204020204" pitchFamily="34" charset="-122"/>
                <a:ea typeface="微软雅黑" panose="020B0503020204020204" pitchFamily="34" charset="-122"/>
              </a:endParaRPr>
            </a:p>
          </p:txBody>
        </p:sp>
        <p:pic>
          <p:nvPicPr>
            <p:cNvPr id="45068"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7" name="TextBox 6"/>
          <p:cNvSpPr txBox="1"/>
          <p:nvPr/>
        </p:nvSpPr>
        <p:spPr>
          <a:xfrm>
            <a:off x="2238376" y="1214438"/>
            <a:ext cx="1679575" cy="400050"/>
          </a:xfrm>
          <a:prstGeom prst="rect">
            <a:avLst/>
          </a:prstGeom>
          <a:solidFill>
            <a:srgbClr val="FFFFCC"/>
          </a:solidFill>
        </p:spPr>
        <p:txBody>
          <a:bodyPr wrap="none">
            <a:spAutoFit/>
          </a:bodyPr>
          <a:lstStyle/>
          <a:p>
            <a:pPr eaLnBrk="1" hangingPunct="1">
              <a:defRPr/>
            </a:pPr>
            <a:r>
              <a:rPr lang="en-US" altLang="zh-CN" sz="2000" dirty="0">
                <a:solidFill>
                  <a:schemeClr val="bg2">
                    <a:lumMod val="25000"/>
                  </a:schemeClr>
                </a:solidFill>
                <a:latin typeface="微软雅黑" panose="020B0503020204020204" pitchFamily="34" charset="-122"/>
                <a:ea typeface="微软雅黑" panose="020B0503020204020204" pitchFamily="34" charset="-122"/>
              </a:rPr>
              <a:t>1.</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选择坐标纸</a:t>
            </a:r>
            <a:endParaRPr lang="zh-CN" altLang="en-US" sz="20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2222500" y="1698625"/>
            <a:ext cx="7874000" cy="1016000"/>
          </a:xfrm>
          <a:prstGeom prst="rect">
            <a:avLst/>
          </a:prstGeom>
          <a:solidFill>
            <a:srgbClr val="FFFFCC"/>
          </a:solidFill>
        </p:spPr>
        <p:txBody>
          <a:bodyPr>
            <a:spAutoFit/>
          </a:bodyPr>
          <a:lstStyle/>
          <a:p>
            <a:pPr algn="just" eaLnBrk="1" hangingPunct="1">
              <a:spcBef>
                <a:spcPct val="30000"/>
              </a:spcBef>
              <a:spcAft>
                <a:spcPct val="30000"/>
              </a:spcAft>
              <a:defRPr/>
            </a:pPr>
            <a:r>
              <a:rPr lang="en-US" altLang="zh-CN" sz="2000" dirty="0">
                <a:solidFill>
                  <a:schemeClr val="bg2">
                    <a:lumMod val="25000"/>
                  </a:schemeClr>
                </a:solidFill>
                <a:latin typeface="微软雅黑" panose="020B0503020204020204" pitchFamily="34" charset="-122"/>
                <a:ea typeface="微软雅黑" panose="020B0503020204020204" pitchFamily="34" charset="-122"/>
              </a:rPr>
              <a:t>2.</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根据自变量－因变量选择图纸方向（一般取自变量为横坐标），选择合适比例，图纸上</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1</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格所表示的数据量值符合原数据量值变化的</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1</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2</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5</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等数（或它们的十进倍率）</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便于读取。</a:t>
            </a:r>
            <a:endParaRPr lang="en-US" altLang="zh-CN" sz="20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0" name="矩形 9"/>
          <p:cNvSpPr/>
          <p:nvPr/>
        </p:nvSpPr>
        <p:spPr>
          <a:xfrm>
            <a:off x="2222500" y="2786064"/>
            <a:ext cx="7874000" cy="708025"/>
          </a:xfrm>
          <a:prstGeom prst="rect">
            <a:avLst/>
          </a:prstGeom>
          <a:solidFill>
            <a:srgbClr val="FFFFCC"/>
          </a:solidFill>
        </p:spPr>
        <p:txBody>
          <a:bodyPr>
            <a:spAutoFit/>
          </a:bodyPr>
          <a:lstStyle/>
          <a:p>
            <a:pPr eaLnBrk="1" hangingPunct="1">
              <a:spcBef>
                <a:spcPct val="30000"/>
              </a:spcBef>
              <a:spcAft>
                <a:spcPct val="30000"/>
              </a:spcAft>
              <a:defRPr/>
            </a:pPr>
            <a:r>
              <a:rPr lang="en-US" altLang="zh-CN" sz="2000" dirty="0">
                <a:solidFill>
                  <a:schemeClr val="bg2">
                    <a:lumMod val="25000"/>
                  </a:schemeClr>
                </a:solidFill>
                <a:latin typeface="微软雅黑" panose="020B0503020204020204" pitchFamily="34" charset="-122"/>
                <a:ea typeface="微软雅黑" panose="020B0503020204020204" pitchFamily="34" charset="-122"/>
              </a:rPr>
              <a:t>3.</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画坐标轴、分度线（等间距、勿太密）并标明物理量名称（</a:t>
            </a:r>
            <a:r>
              <a:rPr lang="zh-CN" altLang="en-US" sz="2000" i="1" dirty="0">
                <a:solidFill>
                  <a:schemeClr val="bg2">
                    <a:lumMod val="25000"/>
                  </a:schemeClr>
                </a:solidFill>
                <a:latin typeface="微软雅黑" panose="020B0503020204020204" pitchFamily="34" charset="-122"/>
                <a:ea typeface="微软雅黑" panose="020B0503020204020204" pitchFamily="34" charset="-122"/>
              </a:rPr>
              <a:t>斜体</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）及单位（正体）。</a:t>
            </a:r>
            <a:endParaRPr lang="zh-CN" altLang="en-US" sz="20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1" name="矩形 10"/>
          <p:cNvSpPr/>
          <p:nvPr/>
        </p:nvSpPr>
        <p:spPr>
          <a:xfrm>
            <a:off x="2238376" y="3571876"/>
            <a:ext cx="7858125" cy="708025"/>
          </a:xfrm>
          <a:prstGeom prst="rect">
            <a:avLst/>
          </a:prstGeom>
          <a:solidFill>
            <a:srgbClr val="FFFFCC"/>
          </a:solidFill>
        </p:spPr>
        <p:txBody>
          <a:bodyPr>
            <a:spAutoFit/>
          </a:bodyPr>
          <a:lstStyle/>
          <a:p>
            <a:pPr algn="just" eaLnBrk="1" hangingPunct="1">
              <a:spcBef>
                <a:spcPts val="575"/>
              </a:spcBef>
              <a:defRPr/>
            </a:pPr>
            <a:r>
              <a:rPr lang="en-US" altLang="zh-CN" sz="2000" dirty="0">
                <a:solidFill>
                  <a:schemeClr val="bg2">
                    <a:lumMod val="25000"/>
                  </a:schemeClr>
                </a:solidFill>
                <a:latin typeface="微软雅黑" panose="020B0503020204020204" pitchFamily="34" charset="-122"/>
                <a:ea typeface="微软雅黑" panose="020B0503020204020204" pitchFamily="34" charset="-122"/>
              </a:rPr>
              <a:t>4.</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画数据点（不标数据值，要用端正的“</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或者“</a:t>
            </a:r>
            <a:r>
              <a:rPr lang="zh-CN" altLang="en-US" sz="2000" dirty="0">
                <a:solidFill>
                  <a:srgbClr val="002060"/>
                </a:solidFill>
                <a:latin typeface="微软雅黑" panose="020B0503020204020204" pitchFamily="34" charset="-122"/>
                <a:ea typeface="微软雅黑" panose="020B0503020204020204" pitchFamily="34" charset="-122"/>
              </a:rPr>
              <a:t>〇</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”符号来表示）。</a:t>
            </a:r>
            <a:endParaRPr lang="zh-CN" altLang="en-US" sz="20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2238376" y="4357689"/>
            <a:ext cx="7858125" cy="708025"/>
          </a:xfrm>
          <a:prstGeom prst="rect">
            <a:avLst/>
          </a:prstGeom>
          <a:solidFill>
            <a:srgbClr val="FFFFCC"/>
          </a:solidFill>
        </p:spPr>
        <p:txBody>
          <a:bodyPr>
            <a:spAutoFit/>
          </a:bodyPr>
          <a:lstStyle/>
          <a:p>
            <a:pPr algn="just" eaLnBrk="1" hangingPunct="1">
              <a:spcBef>
                <a:spcPts val="575"/>
              </a:spcBef>
              <a:defRPr/>
            </a:pPr>
            <a:r>
              <a:rPr lang="en-US" altLang="zh-CN" sz="2000" dirty="0">
                <a:solidFill>
                  <a:schemeClr val="bg2">
                    <a:lumMod val="25000"/>
                  </a:schemeClr>
                </a:solidFill>
                <a:latin typeface="微软雅黑" panose="020B0503020204020204" pitchFamily="34" charset="-122"/>
                <a:ea typeface="微软雅黑" panose="020B0503020204020204" pitchFamily="34" charset="-122"/>
              </a:rPr>
              <a:t>5.</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画直线或曲线，标明特殊点</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特殊点所用符号应有别于数据点的符号）及坐标值（计算斜率用的点，曲线的峰、谷等）。</a:t>
            </a:r>
            <a:endParaRPr lang="en-US" altLang="zh-CN" sz="20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3" name="矩形 12"/>
          <p:cNvSpPr/>
          <p:nvPr/>
        </p:nvSpPr>
        <p:spPr>
          <a:xfrm>
            <a:off x="2238376" y="5143501"/>
            <a:ext cx="7858125" cy="461963"/>
          </a:xfrm>
          <a:prstGeom prst="rect">
            <a:avLst/>
          </a:prstGeom>
          <a:solidFill>
            <a:srgbClr val="FFFF99"/>
          </a:solidFill>
        </p:spPr>
        <p:txBody>
          <a:bodyPr>
            <a:spAutoFit/>
          </a:bodyPr>
          <a:lstStyle/>
          <a:p>
            <a:pPr marL="341630" indent="-341630" algn="just" eaLnBrk="1" hangingPunct="1">
              <a:spcBef>
                <a:spcPts val="575"/>
              </a:spcBef>
              <a:spcAft>
                <a:spcPct val="30000"/>
              </a:spcAft>
              <a:defRPr/>
            </a:pPr>
            <a:r>
              <a:rPr lang="en-US" altLang="zh-CN" sz="2400" b="1" dirty="0">
                <a:solidFill>
                  <a:srgbClr val="002060"/>
                </a:solidFill>
                <a:latin typeface="微软雅黑" panose="020B0503020204020204" pitchFamily="34" charset="-122"/>
                <a:ea typeface="微软雅黑" panose="020B0503020204020204" pitchFamily="34" charset="-122"/>
              </a:rPr>
              <a:t>6.</a:t>
            </a:r>
            <a:r>
              <a:rPr lang="zh-CN" altLang="en-US" sz="2400" b="1" dirty="0">
                <a:solidFill>
                  <a:srgbClr val="002060"/>
                </a:solidFill>
                <a:latin typeface="微软雅黑" panose="020B0503020204020204" pitchFamily="34" charset="-122"/>
                <a:ea typeface="微软雅黑" panose="020B0503020204020204" pitchFamily="34" charset="-122"/>
              </a:rPr>
              <a:t>写出实验名称、图名、实验者、实验日期。</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45066" name="标题 1"/>
          <p:cNvSpPr>
            <a:spLocks noGrp="1"/>
          </p:cNvSpPr>
          <p:nvPr>
            <p:ph type="title"/>
          </p:nvPr>
        </p:nvSpPr>
        <p:spPr>
          <a:xfrm>
            <a:off x="263352" y="159132"/>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作图规则</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5065" name="灯片编号占位符 1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0EE38764-B349-4BF8-A78D-18D55903DF7C}" type="slidenum">
              <a:rPr lang="zh-CN" altLang="en-US" sz="2800">
                <a:solidFill>
                  <a:srgbClr val="FFFFFF"/>
                </a:solidFill>
                <a:latin typeface="Calibri" panose="020F0502020204030204" charset="0"/>
                <a:ea typeface="宋体" panose="02010600030101010101" pitchFamily="2" charset="-122"/>
              </a:rPr>
            </a:fld>
            <a:endParaRPr lang="en-US" altLang="zh-CN" sz="2800" dirty="0">
              <a:solidFill>
                <a:srgbClr val="FFFFFF"/>
              </a:solidFill>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13"/>
                                        </p:tgtEl>
                                        <p:attrNameLst>
                                          <p:attrName>style.color</p:attrName>
                                        </p:attrNameLst>
                                      </p:cBhvr>
                                      <p:by>
                                        <p:hsl h="0" s="-12549" l="-25098"/>
                                      </p:by>
                                    </p:animClr>
                                    <p:animClr clrSpc="hsl" dir="cw">
                                      <p:cBhvr>
                                        <p:cTn id="7" dur="500" fill="hold"/>
                                        <p:tgtEl>
                                          <p:spTgt spid="13"/>
                                        </p:tgtEl>
                                        <p:attrNameLst>
                                          <p:attrName>fillcolor</p:attrName>
                                        </p:attrNameLst>
                                      </p:cBhvr>
                                      <p:by>
                                        <p:hsl h="0" s="-12549" l="-25098"/>
                                      </p:by>
                                    </p:animClr>
                                    <p:animClr clrSpc="hsl" dir="cw">
                                      <p:cBhvr>
                                        <p:cTn id="8" dur="500" fill="hold"/>
                                        <p:tgtEl>
                                          <p:spTgt spid="13"/>
                                        </p:tgtEl>
                                        <p:attrNameLst>
                                          <p:attrName>stroke.color</p:attrName>
                                        </p:attrNameLst>
                                      </p:cBhvr>
                                      <p:by>
                                        <p:hsl h="0" s="-12549" l="-25098"/>
                                      </p:by>
                                    </p:animClr>
                                    <p:set>
                                      <p:cBhvr>
                                        <p:cTn id="9" dur="500" fill="hold"/>
                                        <p:tgtEl>
                                          <p:spTgt spid="1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231184" y="207995"/>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作图规则</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6107" name="灯片编号占位符 4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4492E475-B363-4AC0-A4E9-0A0111271F85}" type="slidenum">
              <a:rPr lang="zh-CN" altLang="en-US" sz="2800">
                <a:solidFill>
                  <a:srgbClr val="FFFFFF"/>
                </a:solidFill>
                <a:latin typeface="Calibri" panose="020F0502020204030204" charset="0"/>
                <a:ea typeface="宋体" panose="02010600030101010101" pitchFamily="2" charset="-122"/>
              </a:rPr>
            </a:fld>
            <a:endParaRPr lang="en-US" altLang="zh-CN" sz="1200" dirty="0">
              <a:solidFill>
                <a:srgbClr val="FFFFFF"/>
              </a:solidFill>
              <a:latin typeface="Calibri" panose="020F0502020204030204" charset="0"/>
              <a:ea typeface="宋体" panose="02010600030101010101" pitchFamily="2" charset="-122"/>
            </a:endParaRPr>
          </a:p>
        </p:txBody>
      </p:sp>
      <p:grpSp>
        <p:nvGrpSpPr>
          <p:cNvPr id="46083" name="组合 7"/>
          <p:cNvGrpSpPr/>
          <p:nvPr/>
        </p:nvGrpSpPr>
        <p:grpSpPr bwMode="auto">
          <a:xfrm>
            <a:off x="2738439" y="1285876"/>
            <a:ext cx="6715125" cy="5357813"/>
            <a:chOff x="1214414" y="1285860"/>
            <a:chExt cx="6715172" cy="5357850"/>
          </a:xfrm>
          <a:solidFill>
            <a:schemeClr val="tx1"/>
          </a:solidFill>
        </p:grpSpPr>
        <p:sp>
          <p:nvSpPr>
            <p:cNvPr id="5" name="矩形 4"/>
            <p:cNvSpPr/>
            <p:nvPr/>
          </p:nvSpPr>
          <p:spPr>
            <a:xfrm>
              <a:off x="1214414" y="1285860"/>
              <a:ext cx="6715172" cy="535785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pic>
          <p:nvPicPr>
            <p:cNvPr id="46125"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cxnSp>
        <p:nvCxnSpPr>
          <p:cNvPr id="10" name="直接连接符 9"/>
          <p:cNvCxnSpPr/>
          <p:nvPr/>
        </p:nvCxnSpPr>
        <p:spPr>
          <a:xfrm rot="5400000">
            <a:off x="1058864" y="3821114"/>
            <a:ext cx="4643437" cy="1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381375" y="6143625"/>
            <a:ext cx="5786438"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
        <p:nvSpPr>
          <p:cNvPr id="46086" name="TextBox 14"/>
          <p:cNvSpPr txBox="1">
            <a:spLocks noChangeArrowheads="1"/>
          </p:cNvSpPr>
          <p:nvPr/>
        </p:nvSpPr>
        <p:spPr bwMode="auto">
          <a:xfrm>
            <a:off x="3167063" y="6103939"/>
            <a:ext cx="6297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1800" dirty="0">
                <a:solidFill>
                  <a:schemeClr val="bg1"/>
                </a:solidFill>
                <a:latin typeface="Calibri" panose="020F0502020204030204" charset="0"/>
                <a:ea typeface="宋体" panose="02010600030101010101" pitchFamily="2" charset="-122"/>
              </a:rPr>
              <a:t>20                 30                   40                  50                  60                 70 </a:t>
            </a:r>
            <a:endParaRPr lang="zh-CN" altLang="en-US" sz="1800" dirty="0">
              <a:solidFill>
                <a:schemeClr val="bg1"/>
              </a:solidFill>
              <a:latin typeface="Calibri" panose="020F0502020204030204" charset="0"/>
              <a:ea typeface="宋体" panose="02010600030101010101" pitchFamily="2" charset="-122"/>
            </a:endParaRPr>
          </a:p>
        </p:txBody>
      </p:sp>
      <p:grpSp>
        <p:nvGrpSpPr>
          <p:cNvPr id="46087" name="组合 33"/>
          <p:cNvGrpSpPr/>
          <p:nvPr/>
        </p:nvGrpSpPr>
        <p:grpSpPr bwMode="auto">
          <a:xfrm>
            <a:off x="4540250" y="6002338"/>
            <a:ext cx="4643438" cy="150812"/>
            <a:chOff x="3015612" y="6001562"/>
            <a:chExt cx="4644263" cy="150898"/>
          </a:xfrm>
        </p:grpSpPr>
        <p:cxnSp>
          <p:nvCxnSpPr>
            <p:cNvPr id="21" name="直接连接符 20"/>
            <p:cNvCxnSpPr/>
            <p:nvPr/>
          </p:nvCxnSpPr>
          <p:spPr>
            <a:xfrm rot="5400000" flipH="1" flipV="1">
              <a:off x="2944927" y="6072247"/>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flipH="1" flipV="1">
              <a:off x="4104008"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flipH="1" flipV="1">
              <a:off x="5269440"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flipH="1" flipV="1">
              <a:off x="6428521"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flipH="1" flipV="1">
              <a:off x="7587602"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46088" name="组合 36"/>
          <p:cNvGrpSpPr/>
          <p:nvPr/>
        </p:nvGrpSpPr>
        <p:grpSpPr bwMode="auto">
          <a:xfrm>
            <a:off x="2920552" y="1319214"/>
            <a:ext cx="613223" cy="5324475"/>
            <a:chOff x="1397218" y="1319350"/>
            <a:chExt cx="611786" cy="5324535"/>
          </a:xfrm>
        </p:grpSpPr>
        <p:grpSp>
          <p:nvGrpSpPr>
            <p:cNvPr id="46112" name="组合 32"/>
            <p:cNvGrpSpPr/>
            <p:nvPr/>
          </p:nvGrpSpPr>
          <p:grpSpPr bwMode="auto">
            <a:xfrm>
              <a:off x="1855854" y="1484132"/>
              <a:ext cx="153150" cy="3730818"/>
              <a:chOff x="1855854" y="1484132"/>
              <a:chExt cx="153150" cy="3730818"/>
            </a:xfrm>
          </p:grpSpPr>
          <p:cxnSp>
            <p:nvCxnSpPr>
              <p:cNvPr id="17" name="直接连接符 16"/>
              <p:cNvCxnSpPr/>
              <p:nvPr/>
            </p:nvCxnSpPr>
            <p:spPr>
              <a:xfrm>
                <a:off x="1856961" y="1484452"/>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866464" y="2402037"/>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855378" y="5213531"/>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55378" y="4270545"/>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855378" y="3327560"/>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46113" name="TextBox 35"/>
            <p:cNvSpPr txBox="1">
              <a:spLocks noChangeArrowheads="1"/>
            </p:cNvSpPr>
            <p:nvPr/>
          </p:nvSpPr>
          <p:spPr bwMode="auto">
            <a:xfrm>
              <a:off x="1397218" y="1319350"/>
              <a:ext cx="444352"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40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38</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36</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34</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32</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zh-CN" altLang="en-US" sz="2000" dirty="0">
                <a:solidFill>
                  <a:srgbClr val="000000"/>
                </a:solidFill>
                <a:latin typeface="Calibri" panose="020F0502020204030204" charset="0"/>
                <a:ea typeface="宋体" panose="02010600030101010101" pitchFamily="2" charset="-122"/>
              </a:endParaRPr>
            </a:p>
          </p:txBody>
        </p:sp>
      </p:grpSp>
      <p:sp>
        <p:nvSpPr>
          <p:cNvPr id="39" name="椭圆 38"/>
          <p:cNvSpPr/>
          <p:nvPr/>
        </p:nvSpPr>
        <p:spPr>
          <a:xfrm flipV="1">
            <a:off x="3595689" y="5929314"/>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0" name="椭圆 39"/>
          <p:cNvSpPr/>
          <p:nvPr/>
        </p:nvSpPr>
        <p:spPr>
          <a:xfrm flipV="1">
            <a:off x="4524376" y="5429251"/>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1" name="椭圆 40"/>
          <p:cNvSpPr/>
          <p:nvPr/>
        </p:nvSpPr>
        <p:spPr>
          <a:xfrm flipV="1">
            <a:off x="5667376" y="4857751"/>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2" name="椭圆 41"/>
          <p:cNvSpPr/>
          <p:nvPr/>
        </p:nvSpPr>
        <p:spPr>
          <a:xfrm flipV="1">
            <a:off x="6953251" y="4214814"/>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3" name="椭圆 42"/>
          <p:cNvSpPr/>
          <p:nvPr/>
        </p:nvSpPr>
        <p:spPr>
          <a:xfrm flipV="1">
            <a:off x="8167689" y="3500439"/>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6094" name="TextBox 44"/>
          <p:cNvSpPr txBox="1">
            <a:spLocks noChangeArrowheads="1"/>
          </p:cNvSpPr>
          <p:nvPr/>
        </p:nvSpPr>
        <p:spPr bwMode="auto">
          <a:xfrm>
            <a:off x="3494089" y="53578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6095" name="TextBox 45"/>
          <p:cNvSpPr txBox="1">
            <a:spLocks noChangeArrowheads="1"/>
          </p:cNvSpPr>
          <p:nvPr/>
        </p:nvSpPr>
        <p:spPr bwMode="auto">
          <a:xfrm>
            <a:off x="4422776" y="4681538"/>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6096" name="TextBox 46"/>
          <p:cNvSpPr txBox="1">
            <a:spLocks noChangeArrowheads="1"/>
          </p:cNvSpPr>
          <p:nvPr/>
        </p:nvSpPr>
        <p:spPr bwMode="auto">
          <a:xfrm>
            <a:off x="5595939" y="36814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6097" name="TextBox 47"/>
          <p:cNvSpPr txBox="1">
            <a:spLocks noChangeArrowheads="1"/>
          </p:cNvSpPr>
          <p:nvPr/>
        </p:nvSpPr>
        <p:spPr bwMode="auto">
          <a:xfrm>
            <a:off x="6845300" y="2857501"/>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6098" name="TextBox 48"/>
          <p:cNvSpPr txBox="1">
            <a:spLocks noChangeArrowheads="1"/>
          </p:cNvSpPr>
          <p:nvPr/>
        </p:nvSpPr>
        <p:spPr bwMode="auto">
          <a:xfrm>
            <a:off x="8043864" y="1785938"/>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cxnSp>
        <p:nvCxnSpPr>
          <p:cNvPr id="51" name="直接连接符 50"/>
          <p:cNvCxnSpPr/>
          <p:nvPr/>
        </p:nvCxnSpPr>
        <p:spPr>
          <a:xfrm flipV="1">
            <a:off x="3524251" y="3071813"/>
            <a:ext cx="5643563" cy="3071812"/>
          </a:xfrm>
          <a:prstGeom prst="lin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3381375" y="1500189"/>
            <a:ext cx="5500688" cy="4357687"/>
          </a:xfrm>
          <a:prstGeom prst="lin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6101" name="TextBox 53"/>
          <p:cNvSpPr txBox="1">
            <a:spLocks noChangeArrowheads="1"/>
          </p:cNvSpPr>
          <p:nvPr/>
        </p:nvSpPr>
        <p:spPr bwMode="auto">
          <a:xfrm>
            <a:off x="5810250" y="6315075"/>
            <a:ext cx="801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102" name="TextBox 54"/>
          <p:cNvSpPr txBox="1">
            <a:spLocks noChangeArrowheads="1"/>
          </p:cNvSpPr>
          <p:nvPr/>
        </p:nvSpPr>
        <p:spPr bwMode="auto">
          <a:xfrm rot="16200000">
            <a:off x="2577306" y="3696494"/>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TextBox 36"/>
          <p:cNvSpPr txBox="1"/>
          <p:nvPr/>
        </p:nvSpPr>
        <p:spPr>
          <a:xfrm>
            <a:off x="3667125" y="1571626"/>
            <a:ext cx="1906588" cy="830263"/>
          </a:xfrm>
          <a:prstGeom prst="rect">
            <a:avLst/>
          </a:prstGeom>
          <a:noFill/>
        </p:spPr>
        <p:txBody>
          <a:bodyPr wrap="none">
            <a:spAutoFit/>
          </a:bodyPr>
          <a:lstStyle/>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样品</a:t>
            </a:r>
            <a:r>
              <a:rPr lang="en-US" altLang="zh-CN" sz="2400" dirty="0">
                <a:solidFill>
                  <a:srgbClr val="000000"/>
                </a:solidFill>
                <a:latin typeface="微软雅黑" panose="020B0503020204020204" pitchFamily="34" charset="-122"/>
                <a:ea typeface="微软雅黑" panose="020B0503020204020204" pitchFamily="34" charset="-122"/>
              </a:rPr>
              <a:t>A   +</a:t>
            </a:r>
            <a:endParaRPr lang="en-US" altLang="zh-CN" sz="24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样品</a:t>
            </a:r>
            <a:r>
              <a:rPr lang="en-US" altLang="zh-CN" sz="2400" dirty="0">
                <a:solidFill>
                  <a:srgbClr val="000000"/>
                </a:solidFill>
                <a:latin typeface="微软雅黑" panose="020B0503020204020204" pitchFamily="34" charset="-122"/>
                <a:ea typeface="微软雅黑" panose="020B0503020204020204" pitchFamily="34" charset="-122"/>
              </a:rPr>
              <a:t>B          </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38" name="椭圆 37"/>
          <p:cNvSpPr/>
          <p:nvPr/>
        </p:nvSpPr>
        <p:spPr>
          <a:xfrm flipV="1">
            <a:off x="4881564" y="2111376"/>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nvGrpSpPr>
          <p:cNvPr id="46105" name="组合 56"/>
          <p:cNvGrpSpPr/>
          <p:nvPr/>
        </p:nvGrpSpPr>
        <p:grpSpPr bwMode="auto">
          <a:xfrm>
            <a:off x="3287713" y="1892300"/>
            <a:ext cx="4889500" cy="3536950"/>
            <a:chOff x="1763604" y="1892768"/>
            <a:chExt cx="4888342" cy="3536496"/>
          </a:xfrm>
        </p:grpSpPr>
        <p:sp>
          <p:nvSpPr>
            <p:cNvPr id="44" name="等腰三角形 43"/>
            <p:cNvSpPr/>
            <p:nvPr/>
          </p:nvSpPr>
          <p:spPr>
            <a:xfrm>
              <a:off x="6380547" y="2072133"/>
              <a:ext cx="214262" cy="214284"/>
            </a:xfrm>
            <a:prstGeom prst="triangle">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0" name="等腰三角形 49"/>
            <p:cNvSpPr/>
            <p:nvPr/>
          </p:nvSpPr>
          <p:spPr>
            <a:xfrm>
              <a:off x="2428608" y="5214980"/>
              <a:ext cx="214262" cy="214284"/>
            </a:xfrm>
            <a:prstGeom prst="triangle">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6110" name="TextBox 51"/>
            <p:cNvSpPr txBox="1">
              <a:spLocks noChangeArrowheads="1"/>
            </p:cNvSpPr>
            <p:nvPr/>
          </p:nvSpPr>
          <p:spPr bwMode="auto">
            <a:xfrm>
              <a:off x="4535905" y="1892768"/>
              <a:ext cx="2116041"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a:solidFill>
                    <a:srgbClr val="000000"/>
                  </a:solidFill>
                  <a:latin typeface="Calibri" panose="020F0502020204030204" charset="0"/>
                  <a:ea typeface="宋体" panose="02010600030101010101" pitchFamily="2" charset="-122"/>
                </a:rPr>
                <a:t>（</a:t>
              </a:r>
              <a:r>
                <a:rPr lang="en-US" altLang="zh-CN" sz="2000">
                  <a:solidFill>
                    <a:srgbClr val="000000"/>
                  </a:solidFill>
                  <a:latin typeface="Calibri" panose="020F0502020204030204" charset="0"/>
                  <a:ea typeface="宋体" panose="02010600030101010101" pitchFamily="2" charset="-122"/>
                </a:rPr>
                <a:t>60.00, 38.500</a:t>
              </a:r>
              <a:r>
                <a:rPr lang="zh-CN" altLang="en-US" sz="2000">
                  <a:solidFill>
                    <a:srgbClr val="000000"/>
                  </a:solidFill>
                  <a:latin typeface="Calibri" panose="020F0502020204030204" charset="0"/>
                  <a:ea typeface="宋体" panose="02010600030101010101" pitchFamily="2" charset="-122"/>
                </a:rPr>
                <a:t>）</a:t>
              </a:r>
              <a:endParaRPr lang="zh-CN" altLang="en-US" sz="2000">
                <a:solidFill>
                  <a:srgbClr val="000000"/>
                </a:solidFill>
                <a:latin typeface="Calibri" panose="020F0502020204030204" charset="0"/>
                <a:ea typeface="宋体" panose="02010600030101010101" pitchFamily="2" charset="-122"/>
              </a:endParaRPr>
            </a:p>
          </p:txBody>
        </p:sp>
        <p:sp>
          <p:nvSpPr>
            <p:cNvPr id="46111" name="TextBox 55"/>
            <p:cNvSpPr txBox="1">
              <a:spLocks noChangeArrowheads="1"/>
            </p:cNvSpPr>
            <p:nvPr/>
          </p:nvSpPr>
          <p:spPr bwMode="auto">
            <a:xfrm>
              <a:off x="1763604" y="4902913"/>
              <a:ext cx="2116041"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a:solidFill>
                    <a:srgbClr val="000000"/>
                  </a:solidFill>
                  <a:latin typeface="Calibri" panose="020F0502020204030204" charset="0"/>
                  <a:ea typeface="宋体" panose="02010600030101010101" pitchFamily="2" charset="-122"/>
                </a:rPr>
                <a:t>（</a:t>
              </a:r>
              <a:r>
                <a:rPr lang="en-US" altLang="zh-CN" sz="2000">
                  <a:solidFill>
                    <a:srgbClr val="000000"/>
                  </a:solidFill>
                  <a:latin typeface="Calibri" panose="020F0502020204030204" charset="0"/>
                  <a:ea typeface="宋体" panose="02010600030101010101" pitchFamily="2" charset="-122"/>
                </a:rPr>
                <a:t>26.00, 31.800</a:t>
              </a:r>
              <a:r>
                <a:rPr lang="zh-CN" altLang="en-US" sz="2000">
                  <a:solidFill>
                    <a:srgbClr val="000000"/>
                  </a:solidFill>
                  <a:latin typeface="Calibri" panose="020F0502020204030204" charset="0"/>
                  <a:ea typeface="宋体" panose="02010600030101010101" pitchFamily="2" charset="-122"/>
                </a:rPr>
                <a:t>）</a:t>
              </a:r>
              <a:endParaRPr lang="zh-CN" altLang="en-US" sz="2000">
                <a:solidFill>
                  <a:srgbClr val="000000"/>
                </a:solidFill>
                <a:latin typeface="Calibri" panose="020F0502020204030204" charset="0"/>
                <a:ea typeface="宋体" panose="02010600030101010101" pitchFamily="2" charset="-122"/>
              </a:endParaRPr>
            </a:p>
          </p:txBody>
        </p:sp>
      </p:grpSp>
      <p:sp>
        <p:nvSpPr>
          <p:cNvPr id="57" name="TextBox 56"/>
          <p:cNvSpPr txBox="1"/>
          <p:nvPr/>
        </p:nvSpPr>
        <p:spPr>
          <a:xfrm>
            <a:off x="6381751" y="4714876"/>
            <a:ext cx="2447925" cy="1323975"/>
          </a:xfrm>
          <a:prstGeom prst="rect">
            <a:avLst/>
          </a:prstGeom>
          <a:noFill/>
        </p:spPr>
        <p:txBody>
          <a:bodyPr wrap="none">
            <a:spAutoFit/>
          </a:bodyPr>
          <a:lstStyle/>
          <a:p>
            <a:pPr eaLnBrk="1" hangingPunct="1">
              <a:defRPr/>
            </a:pPr>
            <a:r>
              <a:rPr lang="zh-CN" altLang="en-US" sz="2000" dirty="0">
                <a:solidFill>
                  <a:srgbClr val="000000"/>
                </a:solidFill>
                <a:latin typeface="微软雅黑" panose="020B0503020204020204" pitchFamily="34" charset="-122"/>
                <a:ea typeface="微软雅黑" panose="020B0503020204020204" pitchFamily="34" charset="-122"/>
              </a:rPr>
              <a:t>实验名称：********</a:t>
            </a:r>
            <a:endParaRPr lang="en-US" altLang="zh-CN" sz="20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000" dirty="0">
                <a:solidFill>
                  <a:srgbClr val="000000"/>
                </a:solidFill>
                <a:latin typeface="微软雅黑" panose="020B0503020204020204" pitchFamily="34" charset="-122"/>
                <a:ea typeface="微软雅黑" panose="020B0503020204020204" pitchFamily="34" charset="-122"/>
              </a:rPr>
              <a:t>图       名：********</a:t>
            </a:r>
            <a:endParaRPr lang="en-US" altLang="zh-CN" sz="20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000" dirty="0">
                <a:solidFill>
                  <a:srgbClr val="000000"/>
                </a:solidFill>
                <a:latin typeface="微软雅黑" panose="020B0503020204020204" pitchFamily="34" charset="-122"/>
                <a:ea typeface="微软雅黑" panose="020B0503020204020204" pitchFamily="34" charset="-122"/>
              </a:rPr>
              <a:t>实  验  者：********</a:t>
            </a:r>
            <a:endParaRPr lang="en-US" altLang="zh-CN" sz="20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000" dirty="0">
                <a:solidFill>
                  <a:srgbClr val="000000"/>
                </a:solidFill>
                <a:latin typeface="微软雅黑" panose="020B0503020204020204" pitchFamily="34" charset="-122"/>
                <a:ea typeface="微软雅黑" panose="020B0503020204020204" pitchFamily="34" charset="-122"/>
              </a:rPr>
              <a:t>实验日期：********</a:t>
            </a:r>
            <a:endParaRPr lang="zh-CN" altLang="en-US" sz="20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linds(horizontal)">
                                      <p:cBhvr>
                                        <p:cTn id="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7AFA1AEF-06BB-4E03-99F3-B30CD3FF2CC8}" type="slidenum">
              <a:rPr lang="zh-CN" altLang="en-US" sz="2800">
                <a:solidFill>
                  <a:srgbClr val="FFFFFF"/>
                </a:solidFill>
                <a:latin typeface="Calibri" panose="020F0502020204030204" charset="0"/>
                <a:ea typeface="宋体" panose="02010600030101010101" pitchFamily="2" charset="-122"/>
              </a:rPr>
            </a:fld>
            <a:endParaRPr lang="en-US" altLang="zh-CN" sz="2800" dirty="0">
              <a:solidFill>
                <a:srgbClr val="FFFFFF"/>
              </a:solidFill>
              <a:latin typeface="Calibri" panose="020F0502020204030204" charset="0"/>
              <a:ea typeface="宋体" panose="02010600030101010101" pitchFamily="2" charset="-122"/>
            </a:endParaRPr>
          </a:p>
        </p:txBody>
      </p:sp>
      <p:sp>
        <p:nvSpPr>
          <p:cNvPr id="47106" name="内容占位符 2"/>
          <p:cNvSpPr>
            <a:spLocks noGrp="1"/>
          </p:cNvSpPr>
          <p:nvPr>
            <p:ph idx="4294967295"/>
          </p:nvPr>
        </p:nvSpPr>
        <p:spPr>
          <a:xfrm>
            <a:off x="595432" y="1556792"/>
            <a:ext cx="8569325" cy="4679950"/>
          </a:xfrm>
        </p:spPr>
        <p:txBody>
          <a:bodyPr wrap="none">
            <a:normAutofit/>
          </a:bodyPr>
          <a:lstStyle/>
          <a:p>
            <a:pPr>
              <a:spcBef>
                <a:spcPct val="30000"/>
              </a:spcBef>
              <a:spcAft>
                <a:spcPct val="30000"/>
              </a:spcAft>
            </a:pPr>
            <a:r>
              <a:rPr lang="zh-CN" altLang="en-US" sz="2400" b="1" dirty="0">
                <a:solidFill>
                  <a:schemeClr val="bg1"/>
                </a:solidFill>
                <a:latin typeface="微软雅黑" panose="020B0503020204020204" pitchFamily="34" charset="-122"/>
                <a:ea typeface="微软雅黑" panose="020B0503020204020204" pitchFamily="34" charset="-122"/>
              </a:rPr>
              <a:t>读某个数据点时－有效数字</a:t>
            </a:r>
            <a:endParaRPr lang="en-US" altLang="zh-CN" sz="2400" b="1" dirty="0">
              <a:solidFill>
                <a:schemeClr val="bg1"/>
              </a:solidFill>
              <a:latin typeface="微软雅黑" panose="020B0503020204020204" pitchFamily="34" charset="-122"/>
              <a:ea typeface="微软雅黑" panose="020B0503020204020204" pitchFamily="34" charset="-122"/>
            </a:endParaRPr>
          </a:p>
          <a:p>
            <a:pPr>
              <a:spcBef>
                <a:spcPct val="30000"/>
              </a:spcBef>
              <a:spcAft>
                <a:spcPct val="30000"/>
              </a:spcAft>
            </a:pPr>
            <a:r>
              <a:rPr lang="zh-CN" altLang="en-US" sz="2400" b="1" dirty="0">
                <a:solidFill>
                  <a:schemeClr val="bg1"/>
                </a:solidFill>
                <a:latin typeface="微软雅黑" panose="020B0503020204020204" pitchFamily="34" charset="-122"/>
                <a:ea typeface="微软雅黑" panose="020B0503020204020204" pitchFamily="34" charset="-122"/>
              </a:rPr>
              <a:t>读单一坐标值时－有效数字、单位</a:t>
            </a:r>
            <a:endParaRPr lang="en-US" altLang="zh-CN" sz="2400" b="1" dirty="0">
              <a:solidFill>
                <a:schemeClr val="bg1"/>
              </a:solidFill>
              <a:latin typeface="微软雅黑" panose="020B0503020204020204" pitchFamily="34" charset="-122"/>
              <a:ea typeface="微软雅黑" panose="020B0503020204020204" pitchFamily="34" charset="-122"/>
            </a:endParaRPr>
          </a:p>
          <a:p>
            <a:pPr>
              <a:spcBef>
                <a:spcPct val="30000"/>
              </a:spcBef>
              <a:spcAft>
                <a:spcPct val="30000"/>
              </a:spcAft>
            </a:pPr>
            <a:r>
              <a:rPr lang="zh-CN" altLang="en-US" sz="2400" b="1" dirty="0">
                <a:solidFill>
                  <a:schemeClr val="bg1"/>
                </a:solidFill>
                <a:latin typeface="微软雅黑" panose="020B0503020204020204" pitchFamily="34" charset="-122"/>
                <a:ea typeface="微软雅黑" panose="020B0503020204020204" pitchFamily="34" charset="-122"/>
              </a:rPr>
              <a:t>通过作直线求斜率时</a:t>
            </a:r>
            <a:endParaRPr lang="en-US" altLang="zh-CN" sz="2400" b="1" dirty="0">
              <a:solidFill>
                <a:schemeClr val="bg1"/>
              </a:solidFill>
              <a:latin typeface="微软雅黑" panose="020B0503020204020204" pitchFamily="34" charset="-122"/>
              <a:ea typeface="微软雅黑" panose="020B0503020204020204" pitchFamily="34" charset="-122"/>
            </a:endParaRPr>
          </a:p>
          <a:p>
            <a:pPr>
              <a:spcBef>
                <a:spcPct val="30000"/>
              </a:spcBef>
              <a:spcAft>
                <a:spcPct val="30000"/>
              </a:spcAft>
              <a:buFont typeface="Arial" panose="020B0604020202020204" pitchFamily="34" charset="0"/>
              <a:buNone/>
            </a:pPr>
            <a:r>
              <a:rPr lang="zh-CN" altLang="en-US" sz="3200" b="1" dirty="0">
                <a:solidFill>
                  <a:schemeClr val="bg1"/>
                </a:solidFill>
                <a:latin typeface="微软雅黑" panose="020B0503020204020204" pitchFamily="34" charset="-122"/>
                <a:ea typeface="微软雅黑" panose="020B0503020204020204" pitchFamily="34" charset="-122"/>
              </a:rPr>
              <a:t>   </a:t>
            </a:r>
            <a:r>
              <a:rPr lang="zh-CN" altLang="en-US" sz="3200" b="1" dirty="0">
                <a:solidFill>
                  <a:srgbClr val="0070C0"/>
                </a:solidFill>
                <a:latin typeface="微软雅黑" panose="020B0503020204020204" pitchFamily="34" charset="-122"/>
                <a:ea typeface="微软雅黑" panose="020B0503020204020204" pitchFamily="34" charset="-122"/>
              </a:rPr>
              <a:t>取点、标出坐标值、计算斜率（单位）</a:t>
            </a:r>
            <a:endParaRPr lang="zh-CN" altLang="en-US" sz="3200" b="1" dirty="0">
              <a:solidFill>
                <a:srgbClr val="0070C0"/>
              </a:solidFill>
              <a:latin typeface="微软雅黑" panose="020B0503020204020204" pitchFamily="34" charset="-122"/>
              <a:ea typeface="微软雅黑" panose="020B0503020204020204" pitchFamily="34" charset="-122"/>
            </a:endParaRPr>
          </a:p>
        </p:txBody>
      </p:sp>
      <p:sp>
        <p:nvSpPr>
          <p:cNvPr id="47107" name="Text Box 4"/>
          <p:cNvSpPr txBox="1">
            <a:spLocks noChangeArrowheads="1"/>
          </p:cNvSpPr>
          <p:nvPr/>
        </p:nvSpPr>
        <p:spPr bwMode="auto">
          <a:xfrm>
            <a:off x="983432" y="4393158"/>
            <a:ext cx="69850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lgn="just" eaLnBrk="1" hangingPunct="1">
              <a:spcBef>
                <a:spcPct val="0"/>
              </a:spcBef>
              <a:buFontTx/>
              <a:buNone/>
            </a:pPr>
            <a:r>
              <a:rPr lang="zh-CN" altLang="en-US" sz="2800" b="1" u="sng" dirty="0">
                <a:solidFill>
                  <a:schemeClr val="bg1"/>
                </a:solidFill>
                <a:latin typeface="微软雅黑" panose="020B0503020204020204" pitchFamily="34" charset="-122"/>
              </a:rPr>
              <a:t>三个规则：</a:t>
            </a:r>
            <a:r>
              <a:rPr lang="zh-CN" altLang="en-US" sz="2800" b="1" dirty="0">
                <a:solidFill>
                  <a:schemeClr val="bg1"/>
                </a:solidFill>
                <a:latin typeface="微软雅黑" panose="020B0503020204020204" pitchFamily="34" charset="-122"/>
              </a:rPr>
              <a:t> </a:t>
            </a:r>
            <a:endParaRPr lang="en-US" altLang="zh-CN" sz="2800" b="1" dirty="0">
              <a:solidFill>
                <a:schemeClr val="bg1"/>
              </a:solidFill>
              <a:latin typeface="微软雅黑" panose="020B0503020204020204" pitchFamily="34" charset="-122"/>
            </a:endParaRPr>
          </a:p>
          <a:p>
            <a:pPr eaLnBrk="1" hangingPunct="1">
              <a:spcBef>
                <a:spcPct val="0"/>
              </a:spcBef>
              <a:buFontTx/>
              <a:buNone/>
            </a:pPr>
            <a:r>
              <a:rPr lang="zh-CN" altLang="en-US" sz="2800" b="1" dirty="0">
                <a:solidFill>
                  <a:srgbClr val="C00000"/>
                </a:solidFill>
                <a:latin typeface="微软雅黑" panose="020B0503020204020204" pitchFamily="34" charset="-122"/>
              </a:rPr>
              <a:t>不能取原始数据点；</a:t>
            </a:r>
            <a:endParaRPr lang="zh-CN" altLang="en-US" sz="2800" b="1" dirty="0">
              <a:solidFill>
                <a:srgbClr val="C00000"/>
              </a:solidFill>
              <a:latin typeface="微软雅黑" panose="020B0503020204020204" pitchFamily="34" charset="-122"/>
            </a:endParaRPr>
          </a:p>
          <a:p>
            <a:pPr eaLnBrk="1" hangingPunct="1">
              <a:spcBef>
                <a:spcPct val="0"/>
              </a:spcBef>
              <a:buFontTx/>
              <a:buNone/>
            </a:pPr>
            <a:r>
              <a:rPr lang="zh-CN" altLang="en-US" sz="2800" b="1" dirty="0">
                <a:solidFill>
                  <a:srgbClr val="C00000"/>
                </a:solidFill>
                <a:latin typeface="微软雅黑" panose="020B0503020204020204" pitchFamily="34" charset="-122"/>
              </a:rPr>
              <a:t>尽量远但不超数据范围；</a:t>
            </a:r>
            <a:endParaRPr lang="zh-CN" altLang="en-US" sz="2800" b="1" dirty="0">
              <a:solidFill>
                <a:srgbClr val="C00000"/>
              </a:solidFill>
              <a:latin typeface="微软雅黑" panose="020B0503020204020204" pitchFamily="34" charset="-122"/>
            </a:endParaRPr>
          </a:p>
          <a:p>
            <a:pPr eaLnBrk="1" hangingPunct="1">
              <a:spcBef>
                <a:spcPct val="0"/>
              </a:spcBef>
              <a:buFontTx/>
              <a:buNone/>
            </a:pPr>
            <a:r>
              <a:rPr lang="zh-CN" altLang="en-US" sz="2800" b="1" dirty="0">
                <a:solidFill>
                  <a:srgbClr val="C00000"/>
                </a:solidFill>
                <a:latin typeface="微软雅黑" panose="020B0503020204020204" pitchFamily="34" charset="-122"/>
              </a:rPr>
              <a:t>取与X轴刻度线的交点。</a:t>
            </a:r>
            <a:endParaRPr lang="zh-CN" altLang="en-US" sz="2800" b="1" dirty="0">
              <a:solidFill>
                <a:srgbClr val="C00000"/>
              </a:solidFill>
              <a:latin typeface="微软雅黑" panose="020B0503020204020204" pitchFamily="34" charset="-122"/>
            </a:endParaRPr>
          </a:p>
        </p:txBody>
      </p:sp>
      <p:sp>
        <p:nvSpPr>
          <p:cNvPr id="47108" name="灯片编号占位符 1"/>
          <p:cNvSpPr txBox="1">
            <a:spLocks noGrp="1"/>
          </p:cNvSpPr>
          <p:nvPr/>
        </p:nvSpPr>
        <p:spPr bwMode="auto">
          <a:xfrm>
            <a:off x="8077200" y="6356351"/>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FontTx/>
              <a:buNone/>
            </a:pPr>
            <a:fld id="{AC5175A8-40D8-4DC0-8E15-D73AC3B3433C}" type="slidenum">
              <a:rPr lang="zh-CN" altLang="en-US" sz="1200">
                <a:solidFill>
                  <a:srgbClr val="FFFFFF"/>
                </a:solidFill>
              </a:rPr>
            </a:fld>
            <a:endParaRPr lang="en-US" altLang="zh-CN" sz="1200">
              <a:solidFill>
                <a:srgbClr val="FFFFFF"/>
              </a:solidFill>
            </a:endParaRPr>
          </a:p>
        </p:txBody>
      </p:sp>
      <p:sp>
        <p:nvSpPr>
          <p:cNvPr id="47110" name="标题 1"/>
          <p:cNvSpPr txBox="1"/>
          <p:nvPr/>
        </p:nvSpPr>
        <p:spPr bwMode="auto">
          <a:xfrm>
            <a:off x="479376" y="33496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r>
              <a:rPr lang="zh-CN" altLang="en-US" sz="4400" b="1" dirty="0">
                <a:solidFill>
                  <a:schemeClr val="bg1"/>
                </a:solidFill>
              </a:rPr>
              <a:t>如何读图</a:t>
            </a:r>
            <a:endParaRPr lang="zh-CN" altLang="en-US" sz="4400" b="1" dirty="0">
              <a:solidFill>
                <a:schemeClr val="bg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307976" y="188915"/>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例：如何读图</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8155" name="灯片编号占位符 4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85F5EC49-07FC-46B8-943A-7D96C5794CBA}" type="slidenum">
              <a:rPr lang="zh-CN" altLang="en-US" sz="2800">
                <a:solidFill>
                  <a:srgbClr val="FFFFFF"/>
                </a:solidFill>
                <a:latin typeface="Calibri" panose="020F0502020204030204" charset="0"/>
                <a:ea typeface="宋体" panose="02010600030101010101" pitchFamily="2" charset="-122"/>
              </a:rPr>
            </a:fld>
            <a:endParaRPr lang="en-US" altLang="zh-CN" sz="2800">
              <a:solidFill>
                <a:srgbClr val="FFFFFF"/>
              </a:solidFill>
              <a:latin typeface="Calibri" panose="020F0502020204030204" charset="0"/>
              <a:ea typeface="宋体" panose="02010600030101010101" pitchFamily="2" charset="-122"/>
            </a:endParaRPr>
          </a:p>
        </p:txBody>
      </p:sp>
      <p:grpSp>
        <p:nvGrpSpPr>
          <p:cNvPr id="48131" name="组合 7"/>
          <p:cNvGrpSpPr/>
          <p:nvPr/>
        </p:nvGrpSpPr>
        <p:grpSpPr bwMode="auto">
          <a:xfrm>
            <a:off x="2738439" y="1285876"/>
            <a:ext cx="6715125" cy="5357813"/>
            <a:chOff x="1214414" y="1285860"/>
            <a:chExt cx="6715172" cy="5357850"/>
          </a:xfrm>
          <a:solidFill>
            <a:schemeClr val="tx1"/>
          </a:solidFill>
        </p:grpSpPr>
        <p:sp>
          <p:nvSpPr>
            <p:cNvPr id="5" name="矩形 4"/>
            <p:cNvSpPr/>
            <p:nvPr/>
          </p:nvSpPr>
          <p:spPr>
            <a:xfrm>
              <a:off x="1214414" y="1285860"/>
              <a:ext cx="6715172" cy="535785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pic>
          <p:nvPicPr>
            <p:cNvPr id="48171"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cxnSp>
        <p:nvCxnSpPr>
          <p:cNvPr id="10" name="直接连接符 9"/>
          <p:cNvCxnSpPr/>
          <p:nvPr/>
        </p:nvCxnSpPr>
        <p:spPr>
          <a:xfrm rot="5400000">
            <a:off x="1058864" y="3821114"/>
            <a:ext cx="4643437" cy="1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381375" y="6143625"/>
            <a:ext cx="5786438"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
        <p:nvSpPr>
          <p:cNvPr id="48134" name="TextBox 14"/>
          <p:cNvSpPr txBox="1">
            <a:spLocks noChangeArrowheads="1"/>
          </p:cNvSpPr>
          <p:nvPr/>
        </p:nvSpPr>
        <p:spPr bwMode="auto">
          <a:xfrm>
            <a:off x="3167063" y="6103939"/>
            <a:ext cx="6297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1800" dirty="0">
                <a:solidFill>
                  <a:schemeClr val="bg1"/>
                </a:solidFill>
                <a:latin typeface="Calibri" panose="020F0502020204030204" charset="0"/>
                <a:ea typeface="宋体" panose="02010600030101010101" pitchFamily="2" charset="-122"/>
              </a:rPr>
              <a:t>20                 30                   40                  50                  60                 70 </a:t>
            </a:r>
            <a:endParaRPr lang="zh-CN" altLang="en-US" sz="1800" dirty="0">
              <a:solidFill>
                <a:schemeClr val="bg1"/>
              </a:solidFill>
              <a:latin typeface="Calibri" panose="020F0502020204030204" charset="0"/>
              <a:ea typeface="宋体" panose="02010600030101010101" pitchFamily="2" charset="-122"/>
            </a:endParaRPr>
          </a:p>
        </p:txBody>
      </p:sp>
      <p:grpSp>
        <p:nvGrpSpPr>
          <p:cNvPr id="48135" name="组合 33"/>
          <p:cNvGrpSpPr/>
          <p:nvPr/>
        </p:nvGrpSpPr>
        <p:grpSpPr bwMode="auto">
          <a:xfrm>
            <a:off x="4540250" y="6002338"/>
            <a:ext cx="4643438" cy="150812"/>
            <a:chOff x="3015612" y="6001562"/>
            <a:chExt cx="4644263" cy="150898"/>
          </a:xfrm>
        </p:grpSpPr>
        <p:cxnSp>
          <p:nvCxnSpPr>
            <p:cNvPr id="21" name="直接连接符 20"/>
            <p:cNvCxnSpPr/>
            <p:nvPr/>
          </p:nvCxnSpPr>
          <p:spPr>
            <a:xfrm rot="5400000" flipH="1" flipV="1">
              <a:off x="2944927" y="6072247"/>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flipH="1" flipV="1">
              <a:off x="4104008"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flipH="1" flipV="1">
              <a:off x="5269440"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flipH="1" flipV="1">
              <a:off x="6428521"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flipH="1" flipV="1">
              <a:off x="7587602"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48136" name="组合 36"/>
          <p:cNvGrpSpPr/>
          <p:nvPr/>
        </p:nvGrpSpPr>
        <p:grpSpPr bwMode="auto">
          <a:xfrm>
            <a:off x="2881115" y="1354932"/>
            <a:ext cx="662882" cy="5324475"/>
            <a:chOff x="1347676" y="1344096"/>
            <a:chExt cx="661328" cy="5324535"/>
          </a:xfrm>
        </p:grpSpPr>
        <p:grpSp>
          <p:nvGrpSpPr>
            <p:cNvPr id="48158" name="组合 32"/>
            <p:cNvGrpSpPr/>
            <p:nvPr/>
          </p:nvGrpSpPr>
          <p:grpSpPr bwMode="auto">
            <a:xfrm>
              <a:off x="1855854" y="1484132"/>
              <a:ext cx="153150" cy="3730818"/>
              <a:chOff x="1855854" y="1484132"/>
              <a:chExt cx="153150" cy="3730818"/>
            </a:xfrm>
          </p:grpSpPr>
          <p:cxnSp>
            <p:nvCxnSpPr>
              <p:cNvPr id="17" name="直接连接符 16"/>
              <p:cNvCxnSpPr/>
              <p:nvPr/>
            </p:nvCxnSpPr>
            <p:spPr>
              <a:xfrm>
                <a:off x="1856961" y="1484452"/>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866464" y="2402037"/>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855378" y="5213531"/>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55378" y="4270545"/>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855378" y="3327560"/>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48159" name="TextBox 35"/>
            <p:cNvSpPr txBox="1">
              <a:spLocks noChangeArrowheads="1"/>
            </p:cNvSpPr>
            <p:nvPr/>
          </p:nvSpPr>
          <p:spPr bwMode="auto">
            <a:xfrm>
              <a:off x="1347676" y="1344096"/>
              <a:ext cx="444352"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40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38</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36</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34</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32</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zh-CN" altLang="en-US" sz="2000" dirty="0">
                <a:solidFill>
                  <a:srgbClr val="000000"/>
                </a:solidFill>
                <a:latin typeface="Calibri" panose="020F0502020204030204" charset="0"/>
                <a:ea typeface="宋体" panose="02010600030101010101" pitchFamily="2" charset="-122"/>
              </a:endParaRPr>
            </a:p>
          </p:txBody>
        </p:sp>
      </p:grpSp>
      <p:sp>
        <p:nvSpPr>
          <p:cNvPr id="39" name="椭圆 38"/>
          <p:cNvSpPr/>
          <p:nvPr/>
        </p:nvSpPr>
        <p:spPr>
          <a:xfrm flipV="1">
            <a:off x="3595689" y="5929314"/>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0" name="椭圆 39"/>
          <p:cNvSpPr/>
          <p:nvPr/>
        </p:nvSpPr>
        <p:spPr>
          <a:xfrm flipV="1">
            <a:off x="4524376" y="5429251"/>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1" name="椭圆 40"/>
          <p:cNvSpPr/>
          <p:nvPr/>
        </p:nvSpPr>
        <p:spPr>
          <a:xfrm flipV="1">
            <a:off x="5667376" y="4857751"/>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2" name="椭圆 41"/>
          <p:cNvSpPr/>
          <p:nvPr/>
        </p:nvSpPr>
        <p:spPr>
          <a:xfrm flipV="1">
            <a:off x="6953251" y="4214814"/>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3" name="椭圆 42"/>
          <p:cNvSpPr/>
          <p:nvPr/>
        </p:nvSpPr>
        <p:spPr>
          <a:xfrm flipV="1">
            <a:off x="8167689" y="3500439"/>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8142" name="TextBox 44"/>
          <p:cNvSpPr txBox="1">
            <a:spLocks noChangeArrowheads="1"/>
          </p:cNvSpPr>
          <p:nvPr/>
        </p:nvSpPr>
        <p:spPr bwMode="auto">
          <a:xfrm>
            <a:off x="3494089" y="53578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8143" name="TextBox 45"/>
          <p:cNvSpPr txBox="1">
            <a:spLocks noChangeArrowheads="1"/>
          </p:cNvSpPr>
          <p:nvPr/>
        </p:nvSpPr>
        <p:spPr bwMode="auto">
          <a:xfrm>
            <a:off x="4422776" y="4681538"/>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8144" name="TextBox 46"/>
          <p:cNvSpPr txBox="1">
            <a:spLocks noChangeArrowheads="1"/>
          </p:cNvSpPr>
          <p:nvPr/>
        </p:nvSpPr>
        <p:spPr bwMode="auto">
          <a:xfrm>
            <a:off x="5595939" y="36814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8145" name="TextBox 47"/>
          <p:cNvSpPr txBox="1">
            <a:spLocks noChangeArrowheads="1"/>
          </p:cNvSpPr>
          <p:nvPr/>
        </p:nvSpPr>
        <p:spPr bwMode="auto">
          <a:xfrm>
            <a:off x="6845300" y="2857501"/>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48146" name="TextBox 48"/>
          <p:cNvSpPr txBox="1">
            <a:spLocks noChangeArrowheads="1"/>
          </p:cNvSpPr>
          <p:nvPr/>
        </p:nvSpPr>
        <p:spPr bwMode="auto">
          <a:xfrm>
            <a:off x="8043864" y="1785938"/>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cxnSp>
        <p:nvCxnSpPr>
          <p:cNvPr id="51" name="直接连接符 50"/>
          <p:cNvCxnSpPr/>
          <p:nvPr/>
        </p:nvCxnSpPr>
        <p:spPr>
          <a:xfrm flipV="1">
            <a:off x="3524251" y="3071813"/>
            <a:ext cx="5643563" cy="3071812"/>
          </a:xfrm>
          <a:prstGeom prst="lin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3381375" y="1500189"/>
            <a:ext cx="5500688" cy="4357687"/>
          </a:xfrm>
          <a:prstGeom prst="lin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8149" name="TextBox 53"/>
          <p:cNvSpPr txBox="1">
            <a:spLocks noChangeArrowheads="1"/>
          </p:cNvSpPr>
          <p:nvPr/>
        </p:nvSpPr>
        <p:spPr bwMode="auto">
          <a:xfrm>
            <a:off x="5810250" y="6315075"/>
            <a:ext cx="801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150" name="TextBox 54"/>
          <p:cNvSpPr txBox="1">
            <a:spLocks noChangeArrowheads="1"/>
          </p:cNvSpPr>
          <p:nvPr/>
        </p:nvSpPr>
        <p:spPr bwMode="auto">
          <a:xfrm rot="16200000">
            <a:off x="2577306" y="3696494"/>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TextBox 36"/>
          <p:cNvSpPr txBox="1"/>
          <p:nvPr/>
        </p:nvSpPr>
        <p:spPr>
          <a:xfrm>
            <a:off x="3667125" y="1571626"/>
            <a:ext cx="1906588" cy="830263"/>
          </a:xfrm>
          <a:prstGeom prst="rect">
            <a:avLst/>
          </a:prstGeom>
          <a:noFill/>
        </p:spPr>
        <p:txBody>
          <a:bodyPr wrap="none">
            <a:spAutoFit/>
          </a:bodyPr>
          <a:lstStyle/>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样品</a:t>
            </a:r>
            <a:r>
              <a:rPr lang="en-US" altLang="zh-CN" sz="2400" dirty="0">
                <a:solidFill>
                  <a:srgbClr val="000000"/>
                </a:solidFill>
                <a:latin typeface="微软雅黑" panose="020B0503020204020204" pitchFamily="34" charset="-122"/>
                <a:ea typeface="微软雅黑" panose="020B0503020204020204" pitchFamily="34" charset="-122"/>
              </a:rPr>
              <a:t>A   +</a:t>
            </a:r>
            <a:endParaRPr lang="en-US" altLang="zh-CN" sz="24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400" dirty="0">
                <a:solidFill>
                  <a:srgbClr val="000000"/>
                </a:solidFill>
                <a:latin typeface="微软雅黑" panose="020B0503020204020204" pitchFamily="34" charset="-122"/>
                <a:ea typeface="微软雅黑" panose="020B0503020204020204" pitchFamily="34" charset="-122"/>
              </a:rPr>
              <a:t>样品</a:t>
            </a:r>
            <a:r>
              <a:rPr lang="en-US" altLang="zh-CN" sz="2400" dirty="0">
                <a:solidFill>
                  <a:srgbClr val="000000"/>
                </a:solidFill>
                <a:latin typeface="微软雅黑" panose="020B0503020204020204" pitchFamily="34" charset="-122"/>
                <a:ea typeface="微软雅黑" panose="020B0503020204020204" pitchFamily="34" charset="-122"/>
              </a:rPr>
              <a:t>B          </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38" name="椭圆 37"/>
          <p:cNvSpPr/>
          <p:nvPr/>
        </p:nvSpPr>
        <p:spPr>
          <a:xfrm flipV="1">
            <a:off x="4881564" y="2111376"/>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7" name="TextBox 56"/>
          <p:cNvSpPr txBox="1"/>
          <p:nvPr/>
        </p:nvSpPr>
        <p:spPr>
          <a:xfrm>
            <a:off x="6381751" y="4714876"/>
            <a:ext cx="2447925" cy="1323975"/>
          </a:xfrm>
          <a:prstGeom prst="rect">
            <a:avLst/>
          </a:prstGeom>
          <a:noFill/>
        </p:spPr>
        <p:txBody>
          <a:bodyPr wrap="none">
            <a:spAutoFit/>
          </a:bodyPr>
          <a:lstStyle/>
          <a:p>
            <a:pPr eaLnBrk="1" hangingPunct="1">
              <a:defRPr/>
            </a:pPr>
            <a:r>
              <a:rPr lang="zh-CN" altLang="en-US" sz="2000" dirty="0">
                <a:solidFill>
                  <a:srgbClr val="000000"/>
                </a:solidFill>
                <a:latin typeface="微软雅黑" panose="020B0503020204020204" pitchFamily="34" charset="-122"/>
                <a:ea typeface="微软雅黑" panose="020B0503020204020204" pitchFamily="34" charset="-122"/>
              </a:rPr>
              <a:t>实验名称：********</a:t>
            </a:r>
            <a:endParaRPr lang="en-US" altLang="zh-CN" sz="20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000" dirty="0">
                <a:solidFill>
                  <a:srgbClr val="000000"/>
                </a:solidFill>
                <a:latin typeface="微软雅黑" panose="020B0503020204020204" pitchFamily="34" charset="-122"/>
                <a:ea typeface="微软雅黑" panose="020B0503020204020204" pitchFamily="34" charset="-122"/>
              </a:rPr>
              <a:t>图       名：********</a:t>
            </a:r>
            <a:endParaRPr lang="en-US" altLang="zh-CN" sz="20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000" dirty="0">
                <a:solidFill>
                  <a:srgbClr val="000000"/>
                </a:solidFill>
                <a:latin typeface="微软雅黑" panose="020B0503020204020204" pitchFamily="34" charset="-122"/>
                <a:ea typeface="微软雅黑" panose="020B0503020204020204" pitchFamily="34" charset="-122"/>
              </a:rPr>
              <a:t>实  验  者：********</a:t>
            </a:r>
            <a:endParaRPr lang="en-US" altLang="zh-CN" sz="20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2000" dirty="0">
                <a:solidFill>
                  <a:srgbClr val="000000"/>
                </a:solidFill>
                <a:latin typeface="微软雅黑" panose="020B0503020204020204" pitchFamily="34" charset="-122"/>
                <a:ea typeface="微软雅黑" panose="020B0503020204020204" pitchFamily="34" charset="-122"/>
              </a:rPr>
              <a:t>实验日期：********</a:t>
            </a:r>
            <a:endParaRPr lang="zh-CN" altLang="en-US" sz="2000" dirty="0">
              <a:solidFill>
                <a:srgbClr val="000000"/>
              </a:solidFill>
              <a:latin typeface="微软雅黑" panose="020B0503020204020204" pitchFamily="34" charset="-122"/>
              <a:ea typeface="微软雅黑" panose="020B0503020204020204" pitchFamily="34" charset="-122"/>
            </a:endParaRPr>
          </a:p>
        </p:txBody>
      </p:sp>
      <p:grpSp>
        <p:nvGrpSpPr>
          <p:cNvPr id="7" name="组合 58"/>
          <p:cNvGrpSpPr/>
          <p:nvPr/>
        </p:nvGrpSpPr>
        <p:grpSpPr bwMode="auto">
          <a:xfrm>
            <a:off x="3435351" y="4876800"/>
            <a:ext cx="1095375" cy="552450"/>
            <a:chOff x="1911017" y="4876814"/>
            <a:chExt cx="1095922" cy="552450"/>
          </a:xfrm>
        </p:grpSpPr>
        <p:sp>
          <p:nvSpPr>
            <p:cNvPr id="50" name="等腰三角形 49"/>
            <p:cNvSpPr/>
            <p:nvPr/>
          </p:nvSpPr>
          <p:spPr>
            <a:xfrm>
              <a:off x="2428800" y="5214952"/>
              <a:ext cx="214420" cy="214312"/>
            </a:xfrm>
            <a:prstGeom prst="triangle">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8157" name="TextBox 57"/>
            <p:cNvSpPr txBox="1">
              <a:spLocks noChangeArrowheads="1"/>
            </p:cNvSpPr>
            <p:nvPr/>
          </p:nvSpPr>
          <p:spPr bwMode="auto">
            <a:xfrm>
              <a:off x="1911017" y="4876814"/>
              <a:ext cx="1095922"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a:solidFill>
                    <a:srgbClr val="000000"/>
                  </a:solidFill>
                  <a:latin typeface="Calibri" panose="020F0502020204030204" charset="0"/>
                  <a:ea typeface="宋体" panose="02010600030101010101" pitchFamily="2" charset="-122"/>
                </a:rPr>
                <a:t>31.800</a:t>
              </a:r>
              <a:r>
                <a:rPr lang="zh-CN" altLang="en-US" sz="2000">
                  <a:solidFill>
                    <a:srgbClr val="000000"/>
                  </a:solidFill>
                  <a:latin typeface="Calibri" panose="020F0502020204030204" charset="0"/>
                  <a:ea typeface="宋体" panose="02010600030101010101" pitchFamily="2" charset="-122"/>
                  <a:sym typeface="Symbol" panose="05050102010706020507" pitchFamily="18" charset="2"/>
                </a:rPr>
                <a:t></a:t>
              </a:r>
              <a:endParaRPr lang="zh-CN" altLang="en-US" sz="2000">
                <a:solidFill>
                  <a:srgbClr val="000000"/>
                </a:solidFill>
                <a:latin typeface="Calibri" panose="020F050202020403020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307976" y="249204"/>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例：如何读图</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0203" name="灯片编号占位符 4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1C76FA20-F1F2-415D-9FD5-88E44910C8B8}" type="slidenum">
              <a:rPr lang="zh-CN" altLang="en-US" sz="2800">
                <a:solidFill>
                  <a:srgbClr val="FFFFFF"/>
                </a:solidFill>
                <a:latin typeface="Calibri" panose="020F0502020204030204" charset="0"/>
                <a:ea typeface="宋体" panose="02010600030101010101" pitchFamily="2" charset="-122"/>
              </a:rPr>
            </a:fld>
            <a:endParaRPr lang="en-US" altLang="zh-CN" sz="2800" dirty="0">
              <a:solidFill>
                <a:srgbClr val="FFFFFF"/>
              </a:solidFill>
              <a:latin typeface="Calibri" panose="020F0502020204030204" charset="0"/>
              <a:ea typeface="宋体" panose="02010600030101010101" pitchFamily="2" charset="-122"/>
            </a:endParaRPr>
          </a:p>
        </p:txBody>
      </p:sp>
      <p:grpSp>
        <p:nvGrpSpPr>
          <p:cNvPr id="50179" name="组合 7"/>
          <p:cNvGrpSpPr/>
          <p:nvPr/>
        </p:nvGrpSpPr>
        <p:grpSpPr bwMode="auto">
          <a:xfrm>
            <a:off x="2738439" y="1285876"/>
            <a:ext cx="6715125" cy="5357813"/>
            <a:chOff x="1214414" y="1285860"/>
            <a:chExt cx="6715172" cy="5357850"/>
          </a:xfrm>
          <a:solidFill>
            <a:schemeClr val="tx1"/>
          </a:solidFill>
        </p:grpSpPr>
        <p:sp>
          <p:nvSpPr>
            <p:cNvPr id="5" name="矩形 4"/>
            <p:cNvSpPr/>
            <p:nvPr/>
          </p:nvSpPr>
          <p:spPr>
            <a:xfrm>
              <a:off x="1214414" y="1285860"/>
              <a:ext cx="6715172" cy="535785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pic>
          <p:nvPicPr>
            <p:cNvPr id="50221"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cxnSp>
        <p:nvCxnSpPr>
          <p:cNvPr id="10" name="直接连接符 9"/>
          <p:cNvCxnSpPr/>
          <p:nvPr/>
        </p:nvCxnSpPr>
        <p:spPr>
          <a:xfrm rot="5400000">
            <a:off x="1058864" y="3821114"/>
            <a:ext cx="4643437" cy="1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381375" y="6143625"/>
            <a:ext cx="5786438"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
        <p:nvSpPr>
          <p:cNvPr id="50182" name="TextBox 14"/>
          <p:cNvSpPr txBox="1">
            <a:spLocks noChangeArrowheads="1"/>
          </p:cNvSpPr>
          <p:nvPr/>
        </p:nvSpPr>
        <p:spPr bwMode="auto">
          <a:xfrm>
            <a:off x="3167063" y="6103939"/>
            <a:ext cx="6297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1800" dirty="0">
                <a:solidFill>
                  <a:schemeClr val="bg1"/>
                </a:solidFill>
                <a:latin typeface="Calibri" panose="020F0502020204030204" charset="0"/>
                <a:ea typeface="宋体" panose="02010600030101010101" pitchFamily="2" charset="-122"/>
              </a:rPr>
              <a:t>20                 30                   40                  50                  60                 70 </a:t>
            </a:r>
            <a:endParaRPr lang="zh-CN" altLang="en-US" sz="1800" dirty="0">
              <a:solidFill>
                <a:schemeClr val="bg1"/>
              </a:solidFill>
              <a:latin typeface="Calibri" panose="020F0502020204030204" charset="0"/>
              <a:ea typeface="宋体" panose="02010600030101010101" pitchFamily="2" charset="-122"/>
            </a:endParaRPr>
          </a:p>
        </p:txBody>
      </p:sp>
      <p:grpSp>
        <p:nvGrpSpPr>
          <p:cNvPr id="50183" name="组合 33"/>
          <p:cNvGrpSpPr/>
          <p:nvPr/>
        </p:nvGrpSpPr>
        <p:grpSpPr bwMode="auto">
          <a:xfrm>
            <a:off x="4540250" y="6002338"/>
            <a:ext cx="4643438" cy="150812"/>
            <a:chOff x="3015612" y="6001562"/>
            <a:chExt cx="4644263" cy="150898"/>
          </a:xfrm>
        </p:grpSpPr>
        <p:cxnSp>
          <p:nvCxnSpPr>
            <p:cNvPr id="21" name="直接连接符 20"/>
            <p:cNvCxnSpPr/>
            <p:nvPr/>
          </p:nvCxnSpPr>
          <p:spPr>
            <a:xfrm rot="5400000" flipH="1" flipV="1">
              <a:off x="2944927" y="6072247"/>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flipH="1" flipV="1">
              <a:off x="4104008"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flipH="1" flipV="1">
              <a:off x="5269440"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flipH="1" flipV="1">
              <a:off x="6428521"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flipH="1" flipV="1">
              <a:off x="7587602" y="6080188"/>
              <a:ext cx="142956"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50184" name="组合 36"/>
          <p:cNvGrpSpPr/>
          <p:nvPr/>
        </p:nvGrpSpPr>
        <p:grpSpPr bwMode="auto">
          <a:xfrm>
            <a:off x="2879132" y="1319154"/>
            <a:ext cx="654643" cy="5324535"/>
            <a:chOff x="1355895" y="1319290"/>
            <a:chExt cx="653109" cy="5324595"/>
          </a:xfrm>
        </p:grpSpPr>
        <p:grpSp>
          <p:nvGrpSpPr>
            <p:cNvPr id="50208" name="组合 32"/>
            <p:cNvGrpSpPr/>
            <p:nvPr/>
          </p:nvGrpSpPr>
          <p:grpSpPr bwMode="auto">
            <a:xfrm>
              <a:off x="1855854" y="1484132"/>
              <a:ext cx="153150" cy="3730818"/>
              <a:chOff x="1855854" y="1484132"/>
              <a:chExt cx="153150" cy="3730818"/>
            </a:xfrm>
          </p:grpSpPr>
          <p:cxnSp>
            <p:nvCxnSpPr>
              <p:cNvPr id="17" name="直接连接符 16"/>
              <p:cNvCxnSpPr/>
              <p:nvPr/>
            </p:nvCxnSpPr>
            <p:spPr>
              <a:xfrm>
                <a:off x="1856961" y="1484452"/>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866464" y="2402037"/>
                <a:ext cx="142540" cy="1587"/>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855378" y="5213531"/>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55378" y="4270545"/>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855378" y="3327560"/>
                <a:ext cx="142540" cy="1588"/>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50209" name="TextBox 35"/>
            <p:cNvSpPr txBox="1">
              <a:spLocks noChangeArrowheads="1"/>
            </p:cNvSpPr>
            <p:nvPr/>
          </p:nvSpPr>
          <p:spPr bwMode="auto">
            <a:xfrm>
              <a:off x="1355895" y="1319290"/>
              <a:ext cx="547590" cy="5324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40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38</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36</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34</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32</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2000" dirty="0">
                  <a:solidFill>
                    <a:srgbClr val="000000"/>
                  </a:solidFill>
                  <a:latin typeface="Calibri" panose="020F0502020204030204" charset="0"/>
                  <a:ea typeface="宋体" panose="02010600030101010101" pitchFamily="2" charset="-122"/>
                </a:rPr>
                <a:t>30</a:t>
              </a: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zh-CN" altLang="en-US" sz="2000" dirty="0">
                <a:solidFill>
                  <a:srgbClr val="000000"/>
                </a:solidFill>
                <a:latin typeface="Calibri" panose="020F0502020204030204" charset="0"/>
                <a:ea typeface="宋体" panose="02010600030101010101" pitchFamily="2" charset="-122"/>
              </a:endParaRPr>
            </a:p>
          </p:txBody>
        </p:sp>
      </p:grpSp>
      <p:sp>
        <p:nvSpPr>
          <p:cNvPr id="39" name="椭圆 38"/>
          <p:cNvSpPr/>
          <p:nvPr/>
        </p:nvSpPr>
        <p:spPr>
          <a:xfrm flipV="1">
            <a:off x="3595689" y="5929314"/>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0" name="椭圆 39"/>
          <p:cNvSpPr/>
          <p:nvPr/>
        </p:nvSpPr>
        <p:spPr>
          <a:xfrm flipV="1">
            <a:off x="4524376" y="5429251"/>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1" name="椭圆 40"/>
          <p:cNvSpPr/>
          <p:nvPr/>
        </p:nvSpPr>
        <p:spPr>
          <a:xfrm flipV="1">
            <a:off x="5667376" y="4857751"/>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2" name="椭圆 41"/>
          <p:cNvSpPr/>
          <p:nvPr/>
        </p:nvSpPr>
        <p:spPr>
          <a:xfrm flipV="1">
            <a:off x="6953251" y="4214814"/>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3" name="椭圆 42"/>
          <p:cNvSpPr/>
          <p:nvPr/>
        </p:nvSpPr>
        <p:spPr>
          <a:xfrm flipV="1">
            <a:off x="8167689" y="3500439"/>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0190" name="TextBox 44"/>
          <p:cNvSpPr txBox="1">
            <a:spLocks noChangeArrowheads="1"/>
          </p:cNvSpPr>
          <p:nvPr/>
        </p:nvSpPr>
        <p:spPr bwMode="auto">
          <a:xfrm>
            <a:off x="3494089" y="53578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50191" name="TextBox 45"/>
          <p:cNvSpPr txBox="1">
            <a:spLocks noChangeArrowheads="1"/>
          </p:cNvSpPr>
          <p:nvPr/>
        </p:nvSpPr>
        <p:spPr bwMode="auto">
          <a:xfrm>
            <a:off x="4422776" y="4681538"/>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50192" name="TextBox 46"/>
          <p:cNvSpPr txBox="1">
            <a:spLocks noChangeArrowheads="1"/>
          </p:cNvSpPr>
          <p:nvPr/>
        </p:nvSpPr>
        <p:spPr bwMode="auto">
          <a:xfrm>
            <a:off x="5595939" y="36814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50193" name="TextBox 47"/>
          <p:cNvSpPr txBox="1">
            <a:spLocks noChangeArrowheads="1"/>
          </p:cNvSpPr>
          <p:nvPr/>
        </p:nvSpPr>
        <p:spPr bwMode="auto">
          <a:xfrm>
            <a:off x="6845300" y="2857501"/>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50194" name="TextBox 48"/>
          <p:cNvSpPr txBox="1">
            <a:spLocks noChangeArrowheads="1"/>
          </p:cNvSpPr>
          <p:nvPr/>
        </p:nvSpPr>
        <p:spPr bwMode="auto">
          <a:xfrm>
            <a:off x="8043864" y="1785938"/>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cxnSp>
        <p:nvCxnSpPr>
          <p:cNvPr id="51" name="直接连接符 50"/>
          <p:cNvCxnSpPr/>
          <p:nvPr/>
        </p:nvCxnSpPr>
        <p:spPr>
          <a:xfrm flipV="1">
            <a:off x="3524251" y="3071813"/>
            <a:ext cx="5643563" cy="3071812"/>
          </a:xfrm>
          <a:prstGeom prst="lin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3381375" y="1500189"/>
            <a:ext cx="5500688" cy="4357687"/>
          </a:xfrm>
          <a:prstGeom prst="lin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0197" name="TextBox 53"/>
          <p:cNvSpPr txBox="1">
            <a:spLocks noChangeArrowheads="1"/>
          </p:cNvSpPr>
          <p:nvPr/>
        </p:nvSpPr>
        <p:spPr bwMode="auto">
          <a:xfrm>
            <a:off x="5810250" y="6315075"/>
            <a:ext cx="801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98" name="TextBox 54"/>
          <p:cNvSpPr txBox="1">
            <a:spLocks noChangeArrowheads="1"/>
          </p:cNvSpPr>
          <p:nvPr/>
        </p:nvSpPr>
        <p:spPr bwMode="auto">
          <a:xfrm rot="16200000">
            <a:off x="2577306" y="3696494"/>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TextBox 36"/>
          <p:cNvSpPr txBox="1"/>
          <p:nvPr/>
        </p:nvSpPr>
        <p:spPr>
          <a:xfrm>
            <a:off x="3667125" y="1571626"/>
            <a:ext cx="1906588" cy="830263"/>
          </a:xfrm>
          <a:prstGeom prst="rect">
            <a:avLst/>
          </a:prstGeom>
          <a:noFill/>
        </p:spPr>
        <p:txBody>
          <a:bodyPr wrap="none">
            <a:spAutoFit/>
          </a:bodyPr>
          <a:lstStyle/>
          <a:p>
            <a:pPr eaLnBrk="1" hangingPunct="1">
              <a:defRPr/>
            </a:pPr>
            <a:r>
              <a:rPr lang="zh-CN" altLang="en-US" sz="2400" dirty="0">
                <a:solidFill>
                  <a:srgbClr val="000000"/>
                </a:solidFill>
                <a:latin typeface="+mn-ea"/>
                <a:ea typeface="+mn-ea"/>
              </a:rPr>
              <a:t>样品</a:t>
            </a:r>
            <a:r>
              <a:rPr lang="en-US" altLang="zh-CN" sz="2400" dirty="0">
                <a:solidFill>
                  <a:srgbClr val="000000"/>
                </a:solidFill>
                <a:latin typeface="+mn-ea"/>
                <a:ea typeface="+mn-ea"/>
              </a:rPr>
              <a:t>A   +</a:t>
            </a:r>
            <a:endParaRPr lang="en-US" altLang="zh-CN" sz="2400" dirty="0">
              <a:solidFill>
                <a:srgbClr val="000000"/>
              </a:solidFill>
              <a:latin typeface="+mn-ea"/>
              <a:ea typeface="+mn-ea"/>
            </a:endParaRPr>
          </a:p>
          <a:p>
            <a:pPr eaLnBrk="1" hangingPunct="1">
              <a:defRPr/>
            </a:pPr>
            <a:r>
              <a:rPr lang="zh-CN" altLang="en-US" sz="2400" dirty="0">
                <a:solidFill>
                  <a:srgbClr val="000000"/>
                </a:solidFill>
                <a:latin typeface="+mn-ea"/>
                <a:ea typeface="+mn-ea"/>
              </a:rPr>
              <a:t>样品</a:t>
            </a:r>
            <a:r>
              <a:rPr lang="en-US" altLang="zh-CN" sz="2400" dirty="0">
                <a:solidFill>
                  <a:srgbClr val="000000"/>
                </a:solidFill>
                <a:latin typeface="+mn-ea"/>
                <a:ea typeface="+mn-ea"/>
              </a:rPr>
              <a:t>B          </a:t>
            </a:r>
            <a:endParaRPr lang="zh-CN" altLang="en-US" sz="2400" dirty="0">
              <a:solidFill>
                <a:srgbClr val="000000"/>
              </a:solidFill>
              <a:latin typeface="+mn-ea"/>
              <a:ea typeface="+mn-ea"/>
            </a:endParaRPr>
          </a:p>
        </p:txBody>
      </p:sp>
      <p:sp>
        <p:nvSpPr>
          <p:cNvPr id="38" name="椭圆 37"/>
          <p:cNvSpPr/>
          <p:nvPr/>
        </p:nvSpPr>
        <p:spPr>
          <a:xfrm flipV="1">
            <a:off x="4881564" y="2111376"/>
            <a:ext cx="142875" cy="142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nvGrpSpPr>
          <p:cNvPr id="7" name="组合 56"/>
          <p:cNvGrpSpPr/>
          <p:nvPr/>
        </p:nvGrpSpPr>
        <p:grpSpPr bwMode="auto">
          <a:xfrm>
            <a:off x="3262313" y="1858964"/>
            <a:ext cx="4940300" cy="3570287"/>
            <a:chOff x="1737781" y="1858955"/>
            <a:chExt cx="4940157" cy="3570309"/>
          </a:xfrm>
        </p:grpSpPr>
        <p:sp>
          <p:nvSpPr>
            <p:cNvPr id="44" name="等腰三角形 43"/>
            <p:cNvSpPr/>
            <p:nvPr/>
          </p:nvSpPr>
          <p:spPr>
            <a:xfrm>
              <a:off x="6381084" y="2071681"/>
              <a:ext cx="214307" cy="214313"/>
            </a:xfrm>
            <a:prstGeom prst="triangle">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0" name="等腰三角形 49"/>
            <p:cNvSpPr/>
            <p:nvPr/>
          </p:nvSpPr>
          <p:spPr>
            <a:xfrm>
              <a:off x="2428323" y="5214951"/>
              <a:ext cx="214307" cy="214313"/>
            </a:xfrm>
            <a:prstGeom prst="triangle">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0206" name="TextBox 51"/>
            <p:cNvSpPr txBox="1">
              <a:spLocks noChangeArrowheads="1"/>
            </p:cNvSpPr>
            <p:nvPr/>
          </p:nvSpPr>
          <p:spPr bwMode="auto">
            <a:xfrm>
              <a:off x="4561897" y="1858955"/>
              <a:ext cx="2116041"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a:solidFill>
                    <a:srgbClr val="000000"/>
                  </a:solidFill>
                  <a:latin typeface="Calibri" panose="020F0502020204030204" charset="0"/>
                  <a:ea typeface="宋体" panose="02010600030101010101" pitchFamily="2" charset="-122"/>
                </a:rPr>
                <a:t>（</a:t>
              </a:r>
              <a:r>
                <a:rPr lang="en-US" altLang="zh-CN" sz="2000">
                  <a:solidFill>
                    <a:srgbClr val="000000"/>
                  </a:solidFill>
                  <a:latin typeface="Calibri" panose="020F0502020204030204" charset="0"/>
                  <a:ea typeface="宋体" panose="02010600030101010101" pitchFamily="2" charset="-122"/>
                </a:rPr>
                <a:t>60.00, 38.500</a:t>
              </a:r>
              <a:r>
                <a:rPr lang="zh-CN" altLang="en-US" sz="2000">
                  <a:solidFill>
                    <a:srgbClr val="000000"/>
                  </a:solidFill>
                  <a:latin typeface="Calibri" panose="020F0502020204030204" charset="0"/>
                  <a:ea typeface="宋体" panose="02010600030101010101" pitchFamily="2" charset="-122"/>
                </a:rPr>
                <a:t>）</a:t>
              </a:r>
              <a:endParaRPr lang="zh-CN" altLang="en-US" sz="2000">
                <a:solidFill>
                  <a:srgbClr val="000000"/>
                </a:solidFill>
                <a:latin typeface="Calibri" panose="020F0502020204030204" charset="0"/>
                <a:ea typeface="宋体" panose="02010600030101010101" pitchFamily="2" charset="-122"/>
              </a:endParaRPr>
            </a:p>
          </p:txBody>
        </p:sp>
        <p:sp>
          <p:nvSpPr>
            <p:cNvPr id="50207" name="TextBox 55"/>
            <p:cNvSpPr txBox="1">
              <a:spLocks noChangeArrowheads="1"/>
            </p:cNvSpPr>
            <p:nvPr/>
          </p:nvSpPr>
          <p:spPr bwMode="auto">
            <a:xfrm>
              <a:off x="1737781" y="4902913"/>
              <a:ext cx="2116041"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a:solidFill>
                    <a:srgbClr val="000000"/>
                  </a:solidFill>
                  <a:latin typeface="Calibri" panose="020F0502020204030204" charset="0"/>
                  <a:ea typeface="宋体" panose="02010600030101010101" pitchFamily="2" charset="-122"/>
                </a:rPr>
                <a:t>（</a:t>
              </a:r>
              <a:r>
                <a:rPr lang="en-US" altLang="zh-CN" sz="2000">
                  <a:solidFill>
                    <a:srgbClr val="000000"/>
                  </a:solidFill>
                  <a:latin typeface="Calibri" panose="020F0502020204030204" charset="0"/>
                  <a:ea typeface="宋体" panose="02010600030101010101" pitchFamily="2" charset="-122"/>
                </a:rPr>
                <a:t>26.00, 31.800</a:t>
              </a:r>
              <a:r>
                <a:rPr lang="zh-CN" altLang="en-US" sz="2000">
                  <a:solidFill>
                    <a:srgbClr val="000000"/>
                  </a:solidFill>
                  <a:latin typeface="Calibri" panose="020F0502020204030204" charset="0"/>
                  <a:ea typeface="宋体" panose="02010600030101010101" pitchFamily="2" charset="-122"/>
                </a:rPr>
                <a:t>）</a:t>
              </a:r>
              <a:endParaRPr lang="zh-CN" altLang="en-US" sz="2000">
                <a:solidFill>
                  <a:srgbClr val="000000"/>
                </a:solidFill>
                <a:latin typeface="Calibri" panose="020F0502020204030204" charset="0"/>
                <a:ea typeface="宋体" panose="02010600030101010101" pitchFamily="2" charset="-122"/>
              </a:endParaRPr>
            </a:p>
          </p:txBody>
        </p:sp>
      </p:grpSp>
      <p:sp>
        <p:nvSpPr>
          <p:cNvPr id="57" name="TextBox 56"/>
          <p:cNvSpPr txBox="1"/>
          <p:nvPr/>
        </p:nvSpPr>
        <p:spPr>
          <a:xfrm>
            <a:off x="6381751" y="4714876"/>
            <a:ext cx="2447925" cy="1323975"/>
          </a:xfrm>
          <a:prstGeom prst="rect">
            <a:avLst/>
          </a:prstGeom>
          <a:noFill/>
        </p:spPr>
        <p:txBody>
          <a:bodyPr wrap="none">
            <a:spAutoFit/>
          </a:bodyPr>
          <a:lstStyle/>
          <a:p>
            <a:pPr eaLnBrk="1" hangingPunct="1">
              <a:defRPr/>
            </a:pPr>
            <a:r>
              <a:rPr lang="zh-CN" altLang="en-US" sz="2000" dirty="0">
                <a:solidFill>
                  <a:srgbClr val="000000"/>
                </a:solidFill>
                <a:latin typeface="+mn-ea"/>
                <a:ea typeface="+mn-ea"/>
              </a:rPr>
              <a:t>实验名称：********</a:t>
            </a:r>
            <a:endParaRPr lang="en-US" altLang="zh-CN" sz="2000" dirty="0">
              <a:solidFill>
                <a:srgbClr val="000000"/>
              </a:solidFill>
              <a:latin typeface="+mn-ea"/>
              <a:ea typeface="+mn-ea"/>
            </a:endParaRPr>
          </a:p>
          <a:p>
            <a:pPr eaLnBrk="1" hangingPunct="1">
              <a:defRPr/>
            </a:pPr>
            <a:r>
              <a:rPr lang="zh-CN" altLang="en-US" sz="2000" dirty="0">
                <a:solidFill>
                  <a:srgbClr val="000000"/>
                </a:solidFill>
                <a:latin typeface="+mn-ea"/>
                <a:ea typeface="+mn-ea"/>
              </a:rPr>
              <a:t>图       名：********</a:t>
            </a:r>
            <a:endParaRPr lang="en-US" altLang="zh-CN" sz="2000" dirty="0">
              <a:solidFill>
                <a:srgbClr val="000000"/>
              </a:solidFill>
              <a:latin typeface="+mn-ea"/>
              <a:ea typeface="+mn-ea"/>
            </a:endParaRPr>
          </a:p>
          <a:p>
            <a:pPr eaLnBrk="1" hangingPunct="1">
              <a:defRPr/>
            </a:pPr>
            <a:r>
              <a:rPr lang="zh-CN" altLang="en-US" sz="2000" dirty="0">
                <a:solidFill>
                  <a:srgbClr val="000000"/>
                </a:solidFill>
                <a:latin typeface="+mn-ea"/>
                <a:ea typeface="+mn-ea"/>
              </a:rPr>
              <a:t>实  验  者：********</a:t>
            </a:r>
            <a:endParaRPr lang="en-US" altLang="zh-CN" sz="2000" dirty="0">
              <a:solidFill>
                <a:srgbClr val="000000"/>
              </a:solidFill>
              <a:latin typeface="+mn-ea"/>
              <a:ea typeface="+mn-ea"/>
            </a:endParaRPr>
          </a:p>
          <a:p>
            <a:pPr eaLnBrk="1" hangingPunct="1">
              <a:defRPr/>
            </a:pPr>
            <a:r>
              <a:rPr lang="zh-CN" altLang="en-US" sz="2000" dirty="0">
                <a:solidFill>
                  <a:srgbClr val="000000"/>
                </a:solidFill>
                <a:latin typeface="+mn-ea"/>
                <a:ea typeface="+mn-ea"/>
              </a:rPr>
              <a:t>实验日期：********</a:t>
            </a:r>
            <a:endParaRPr lang="zh-CN" altLang="en-US" sz="2000" dirty="0">
              <a:solidFill>
                <a:srgbClr val="000000"/>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6" name="组合 46"/>
          <p:cNvGrpSpPr/>
          <p:nvPr/>
        </p:nvGrpSpPr>
        <p:grpSpPr bwMode="auto">
          <a:xfrm>
            <a:off x="3415674" y="1313043"/>
            <a:ext cx="5082837" cy="3847223"/>
            <a:chOff x="1055802" y="1285875"/>
            <a:chExt cx="7019913" cy="5516732"/>
          </a:xfrm>
          <a:noFill/>
        </p:grpSpPr>
        <p:grpSp>
          <p:nvGrpSpPr>
            <p:cNvPr id="52230" name="组合 7"/>
            <p:cNvGrpSpPr/>
            <p:nvPr/>
          </p:nvGrpSpPr>
          <p:grpSpPr bwMode="auto">
            <a:xfrm>
              <a:off x="1214438" y="1285875"/>
              <a:ext cx="6715125" cy="5357813"/>
              <a:chOff x="1214414" y="1285860"/>
              <a:chExt cx="6715172" cy="5357850"/>
            </a:xfrm>
            <a:grpFill/>
          </p:grpSpPr>
          <p:sp>
            <p:nvSpPr>
              <p:cNvPr id="5" name="矩形 4"/>
              <p:cNvSpPr/>
              <p:nvPr/>
            </p:nvSpPr>
            <p:spPr>
              <a:xfrm>
                <a:off x="1215363" y="1285860"/>
                <a:ext cx="6713477" cy="5358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pic>
            <p:nvPicPr>
              <p:cNvPr id="52271" name="Picture 2" descr="未标题-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5400000">
                <a:off x="2422252" y="898751"/>
                <a:ext cx="4664872" cy="58249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cxnSp>
          <p:nvCxnSpPr>
            <p:cNvPr id="10" name="直接连接符 9"/>
            <p:cNvCxnSpPr/>
            <p:nvPr/>
          </p:nvCxnSpPr>
          <p:spPr>
            <a:xfrm rot="5400000">
              <a:off x="-465234" y="3820686"/>
              <a:ext cx="4643853" cy="2193"/>
            </a:xfrm>
            <a:prstGeom prst="line">
              <a:avLst/>
            </a:prstGeom>
            <a:grpFill/>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857790" y="6143710"/>
              <a:ext cx="5786002" cy="2277"/>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sp>
          <p:nvSpPr>
            <p:cNvPr id="52233" name="TextBox 14"/>
            <p:cNvSpPr txBox="1">
              <a:spLocks noChangeArrowheads="1"/>
            </p:cNvSpPr>
            <p:nvPr/>
          </p:nvSpPr>
          <p:spPr bwMode="auto">
            <a:xfrm>
              <a:off x="1643063" y="6103937"/>
              <a:ext cx="6432652" cy="52960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1800" dirty="0">
                  <a:solidFill>
                    <a:schemeClr val="bg1"/>
                  </a:solidFill>
                  <a:latin typeface="Calibri" panose="020F0502020204030204" charset="0"/>
                  <a:ea typeface="宋体" panose="02010600030101010101" pitchFamily="2" charset="-122"/>
                </a:rPr>
                <a:t>20           30           40             50          60           70 </a:t>
              </a:r>
              <a:endParaRPr lang="zh-CN" altLang="en-US" sz="1800" dirty="0">
                <a:solidFill>
                  <a:schemeClr val="bg1"/>
                </a:solidFill>
                <a:latin typeface="Calibri" panose="020F0502020204030204" charset="0"/>
                <a:ea typeface="宋体" panose="02010600030101010101" pitchFamily="2" charset="-122"/>
              </a:endParaRPr>
            </a:p>
          </p:txBody>
        </p:sp>
        <p:grpSp>
          <p:nvGrpSpPr>
            <p:cNvPr id="52234" name="组合 33"/>
            <p:cNvGrpSpPr/>
            <p:nvPr/>
          </p:nvGrpSpPr>
          <p:grpSpPr bwMode="auto">
            <a:xfrm>
              <a:off x="3016250" y="6002338"/>
              <a:ext cx="4643438" cy="150812"/>
              <a:chOff x="3015612" y="6001562"/>
              <a:chExt cx="4644263" cy="150898"/>
            </a:xfrm>
            <a:grpFill/>
          </p:grpSpPr>
          <p:cxnSp>
            <p:nvCxnSpPr>
              <p:cNvPr id="21" name="直接连接符 20"/>
              <p:cNvCxnSpPr/>
              <p:nvPr/>
            </p:nvCxnSpPr>
            <p:spPr>
              <a:xfrm rot="5400000" flipH="1" flipV="1">
                <a:off x="2944138" y="6072449"/>
                <a:ext cx="143496" cy="2192"/>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flipH="1" flipV="1">
                <a:off x="4103080" y="6080378"/>
                <a:ext cx="143495" cy="0"/>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flipH="1" flipV="1">
                <a:off x="5268601" y="6079282"/>
                <a:ext cx="143495" cy="2192"/>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flipH="1" flipV="1">
                <a:off x="6427541" y="6080378"/>
                <a:ext cx="143495" cy="0"/>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flipH="1" flipV="1">
                <a:off x="7586483" y="6079282"/>
                <a:ext cx="143495" cy="2194"/>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52235" name="组合 36"/>
            <p:cNvGrpSpPr/>
            <p:nvPr/>
          </p:nvGrpSpPr>
          <p:grpSpPr bwMode="auto">
            <a:xfrm>
              <a:off x="1301982" y="1285875"/>
              <a:ext cx="707791" cy="5516732"/>
              <a:chOff x="1302871" y="1286012"/>
              <a:chExt cx="706133" cy="5516796"/>
            </a:xfrm>
            <a:grpFill/>
          </p:grpSpPr>
          <p:grpSp>
            <p:nvGrpSpPr>
              <p:cNvPr id="52258" name="组合 32"/>
              <p:cNvGrpSpPr/>
              <p:nvPr/>
            </p:nvGrpSpPr>
            <p:grpSpPr bwMode="auto">
              <a:xfrm>
                <a:off x="1855854" y="1484132"/>
                <a:ext cx="153150" cy="3730818"/>
                <a:chOff x="1855854" y="1484132"/>
                <a:chExt cx="153150" cy="3730818"/>
              </a:xfrm>
              <a:grpFill/>
            </p:grpSpPr>
            <p:cxnSp>
              <p:nvCxnSpPr>
                <p:cNvPr id="17" name="直接连接符 16"/>
                <p:cNvCxnSpPr/>
                <p:nvPr/>
              </p:nvCxnSpPr>
              <p:spPr>
                <a:xfrm>
                  <a:off x="1857377" y="1484062"/>
                  <a:ext cx="142178" cy="2276"/>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866126" y="2401460"/>
                  <a:ext cx="142178" cy="2277"/>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855188" y="5212845"/>
                  <a:ext cx="142179" cy="2276"/>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55188" y="4270405"/>
                  <a:ext cx="142179" cy="2276"/>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855188" y="3327966"/>
                  <a:ext cx="142179" cy="2276"/>
                </a:xfrm>
                <a:prstGeom prst="line">
                  <a:avLst/>
                </a:prstGeom>
                <a:grpFill/>
                <a:ln w="28575">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52259" name="TextBox 35"/>
              <p:cNvSpPr txBox="1">
                <a:spLocks noChangeArrowheads="1"/>
              </p:cNvSpPr>
              <p:nvPr/>
            </p:nvSpPr>
            <p:spPr bwMode="auto">
              <a:xfrm>
                <a:off x="1302871" y="1286012"/>
                <a:ext cx="576989" cy="551679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1800" dirty="0">
                    <a:solidFill>
                      <a:srgbClr val="000000"/>
                    </a:solidFill>
                    <a:latin typeface="Calibri" panose="020F0502020204030204" charset="0"/>
                    <a:ea typeface="宋体" panose="02010600030101010101" pitchFamily="2" charset="-122"/>
                  </a:rPr>
                  <a:t>40</a:t>
                </a:r>
                <a:endParaRPr lang="en-US" altLang="zh-CN" sz="18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18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1800" dirty="0">
                    <a:solidFill>
                      <a:srgbClr val="000000"/>
                    </a:solidFill>
                    <a:latin typeface="Calibri" panose="020F0502020204030204" charset="0"/>
                    <a:ea typeface="宋体" panose="02010600030101010101" pitchFamily="2" charset="-122"/>
                  </a:rPr>
                  <a:t>38</a:t>
                </a:r>
                <a:endParaRPr lang="en-US" altLang="zh-CN" sz="18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18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1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1800" dirty="0">
                    <a:solidFill>
                      <a:srgbClr val="000000"/>
                    </a:solidFill>
                    <a:latin typeface="Calibri" panose="020F0502020204030204" charset="0"/>
                    <a:ea typeface="宋体" panose="02010600030101010101" pitchFamily="2" charset="-122"/>
                  </a:rPr>
                  <a:t>36</a:t>
                </a:r>
                <a:endParaRPr lang="en-US" altLang="zh-CN" sz="18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0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1800" dirty="0">
                    <a:solidFill>
                      <a:srgbClr val="000000"/>
                    </a:solidFill>
                    <a:latin typeface="Calibri" panose="020F0502020204030204" charset="0"/>
                    <a:ea typeface="宋体" panose="02010600030101010101" pitchFamily="2" charset="-122"/>
                  </a:rPr>
                  <a:t>34</a:t>
                </a:r>
                <a:endParaRPr lang="en-US" altLang="zh-CN" sz="18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8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1800" dirty="0">
                    <a:solidFill>
                      <a:srgbClr val="000000"/>
                    </a:solidFill>
                    <a:latin typeface="Calibri" panose="020F0502020204030204" charset="0"/>
                    <a:ea typeface="宋体" panose="02010600030101010101" pitchFamily="2" charset="-122"/>
                  </a:rPr>
                  <a:t>32</a:t>
                </a:r>
                <a:endParaRPr lang="en-US" altLang="zh-CN" sz="18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en-US" altLang="zh-CN" sz="2400" dirty="0">
                  <a:solidFill>
                    <a:srgbClr val="000000"/>
                  </a:solidFill>
                  <a:latin typeface="Calibri" panose="020F0502020204030204" charset="0"/>
                  <a:ea typeface="宋体" panose="02010600030101010101" pitchFamily="2" charset="-122"/>
                </a:endParaRPr>
              </a:p>
              <a:p>
                <a:pPr eaLnBrk="1" hangingPunct="1">
                  <a:spcBef>
                    <a:spcPct val="0"/>
                  </a:spcBef>
                  <a:buFontTx/>
                  <a:buNone/>
                </a:pPr>
                <a:r>
                  <a:rPr lang="en-US" altLang="zh-CN" sz="1800" dirty="0">
                    <a:solidFill>
                      <a:srgbClr val="000000"/>
                    </a:solidFill>
                    <a:latin typeface="Calibri" panose="020F0502020204030204" charset="0"/>
                    <a:ea typeface="宋体" panose="02010600030101010101" pitchFamily="2" charset="-122"/>
                  </a:rPr>
                  <a:t>30</a:t>
                </a:r>
                <a:endParaRPr lang="en-US" altLang="zh-CN" sz="1800" dirty="0">
                  <a:solidFill>
                    <a:srgbClr val="000000"/>
                  </a:solidFill>
                  <a:latin typeface="Calibri" panose="020F0502020204030204" charset="0"/>
                  <a:ea typeface="宋体" panose="02010600030101010101" pitchFamily="2" charset="-122"/>
                </a:endParaRPr>
              </a:p>
              <a:p>
                <a:pPr eaLnBrk="1" hangingPunct="1">
                  <a:spcBef>
                    <a:spcPct val="0"/>
                  </a:spcBef>
                  <a:buFontTx/>
                  <a:buNone/>
                </a:pPr>
                <a:endParaRPr lang="zh-CN" altLang="en-US" sz="1800" dirty="0">
                  <a:solidFill>
                    <a:srgbClr val="000000"/>
                  </a:solidFill>
                  <a:latin typeface="Calibri" panose="020F0502020204030204" charset="0"/>
                  <a:ea typeface="宋体" panose="02010600030101010101" pitchFamily="2" charset="-122"/>
                </a:endParaRPr>
              </a:p>
            </p:txBody>
          </p:sp>
        </p:grpSp>
        <p:sp>
          <p:nvSpPr>
            <p:cNvPr id="39" name="椭圆 38"/>
            <p:cNvSpPr/>
            <p:nvPr/>
          </p:nvSpPr>
          <p:spPr>
            <a:xfrm flipV="1">
              <a:off x="2072654" y="5929728"/>
              <a:ext cx="142512" cy="143414"/>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0" name="椭圆 39"/>
            <p:cNvSpPr/>
            <p:nvPr/>
          </p:nvSpPr>
          <p:spPr>
            <a:xfrm flipV="1">
              <a:off x="3000081" y="5428920"/>
              <a:ext cx="142513" cy="143414"/>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1" name="椭圆 40"/>
            <p:cNvSpPr/>
            <p:nvPr/>
          </p:nvSpPr>
          <p:spPr>
            <a:xfrm flipV="1">
              <a:off x="4142373" y="4857545"/>
              <a:ext cx="144705" cy="143412"/>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2" name="椭圆 41"/>
            <p:cNvSpPr/>
            <p:nvPr/>
          </p:nvSpPr>
          <p:spPr>
            <a:xfrm flipV="1">
              <a:off x="5429369" y="4215601"/>
              <a:ext cx="142513" cy="141137"/>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3" name="椭圆 42"/>
            <p:cNvSpPr/>
            <p:nvPr/>
          </p:nvSpPr>
          <p:spPr>
            <a:xfrm flipV="1">
              <a:off x="6644013" y="3500812"/>
              <a:ext cx="142513" cy="143412"/>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2241" name="TextBox 44"/>
            <p:cNvSpPr txBox="1">
              <a:spLocks noChangeArrowheads="1"/>
            </p:cNvSpPr>
            <p:nvPr/>
          </p:nvSpPr>
          <p:spPr bwMode="auto">
            <a:xfrm>
              <a:off x="1970088" y="5357814"/>
              <a:ext cx="467577" cy="6620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52242" name="TextBox 45"/>
            <p:cNvSpPr txBox="1">
              <a:spLocks noChangeArrowheads="1"/>
            </p:cNvSpPr>
            <p:nvPr/>
          </p:nvSpPr>
          <p:spPr bwMode="auto">
            <a:xfrm>
              <a:off x="2898775" y="4681538"/>
              <a:ext cx="467577" cy="6620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52243" name="TextBox 46"/>
            <p:cNvSpPr txBox="1">
              <a:spLocks noChangeArrowheads="1"/>
            </p:cNvSpPr>
            <p:nvPr/>
          </p:nvSpPr>
          <p:spPr bwMode="auto">
            <a:xfrm>
              <a:off x="4071938" y="3681413"/>
              <a:ext cx="467577" cy="6620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52244" name="TextBox 47"/>
            <p:cNvSpPr txBox="1">
              <a:spLocks noChangeArrowheads="1"/>
            </p:cNvSpPr>
            <p:nvPr/>
          </p:nvSpPr>
          <p:spPr bwMode="auto">
            <a:xfrm>
              <a:off x="5321300" y="2857501"/>
              <a:ext cx="467577" cy="6620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sp>
          <p:nvSpPr>
            <p:cNvPr id="52245" name="TextBox 48"/>
            <p:cNvSpPr txBox="1">
              <a:spLocks noChangeArrowheads="1"/>
            </p:cNvSpPr>
            <p:nvPr/>
          </p:nvSpPr>
          <p:spPr bwMode="auto">
            <a:xfrm>
              <a:off x="6519863" y="1785938"/>
              <a:ext cx="467577" cy="6620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400" b="1">
                  <a:solidFill>
                    <a:srgbClr val="000000"/>
                  </a:solidFill>
                  <a:latin typeface="Calibri" panose="020F0502020204030204" charset="0"/>
                  <a:ea typeface="宋体" panose="02010600030101010101" pitchFamily="2" charset="-122"/>
                </a:rPr>
                <a:t>+</a:t>
              </a:r>
              <a:endParaRPr lang="zh-CN" altLang="en-US" sz="2400" b="1">
                <a:solidFill>
                  <a:srgbClr val="000000"/>
                </a:solidFill>
                <a:latin typeface="Calibri" panose="020F0502020204030204" charset="0"/>
                <a:ea typeface="宋体" panose="02010600030101010101" pitchFamily="2" charset="-122"/>
              </a:endParaRPr>
            </a:p>
          </p:txBody>
        </p:sp>
        <p:cxnSp>
          <p:nvCxnSpPr>
            <p:cNvPr id="51" name="直接连接符 50"/>
            <p:cNvCxnSpPr/>
            <p:nvPr/>
          </p:nvCxnSpPr>
          <p:spPr>
            <a:xfrm flipV="1">
              <a:off x="2000301" y="3072849"/>
              <a:ext cx="5643491" cy="3070861"/>
            </a:xfrm>
            <a:prstGeom prst="line">
              <a:avLst/>
            </a:prstGeom>
            <a:grpFill/>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1857790" y="1695627"/>
              <a:ext cx="5500978" cy="4357027"/>
            </a:xfrm>
            <a:prstGeom prst="line">
              <a:avLst/>
            </a:prstGeom>
            <a:grpFill/>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2248" name="TextBox 53"/>
            <p:cNvSpPr txBox="1">
              <a:spLocks noChangeArrowheads="1"/>
            </p:cNvSpPr>
            <p:nvPr/>
          </p:nvSpPr>
          <p:spPr bwMode="auto">
            <a:xfrm>
              <a:off x="4286251" y="6122714"/>
              <a:ext cx="1069761" cy="573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249" name="TextBox 54"/>
            <p:cNvSpPr txBox="1">
              <a:spLocks noChangeArrowheads="1"/>
            </p:cNvSpPr>
            <p:nvPr/>
          </p:nvSpPr>
          <p:spPr bwMode="auto">
            <a:xfrm rot="16200000">
              <a:off x="884784" y="3620223"/>
              <a:ext cx="894627" cy="5525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20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TextBox 36"/>
            <p:cNvSpPr txBox="1"/>
            <p:nvPr/>
          </p:nvSpPr>
          <p:spPr>
            <a:xfrm>
              <a:off x="2142814" y="1572701"/>
              <a:ext cx="1672876" cy="837715"/>
            </a:xfrm>
            <a:prstGeom prst="rect">
              <a:avLst/>
            </a:prstGeom>
            <a:grpFill/>
          </p:spPr>
          <p:txBody>
            <a:bodyPr wrap="none">
              <a:spAutoFit/>
            </a:bodyPr>
            <a:lstStyle/>
            <a:p>
              <a:pPr eaLnBrk="1" hangingPunct="1">
                <a:defRPr/>
              </a:pPr>
              <a:r>
                <a:rPr lang="zh-CN" altLang="en-US" sz="1600" dirty="0">
                  <a:solidFill>
                    <a:srgbClr val="000000"/>
                  </a:solidFill>
                  <a:latin typeface="微软雅黑" panose="020B0503020204020204" pitchFamily="34" charset="-122"/>
                  <a:ea typeface="微软雅黑" panose="020B0503020204020204" pitchFamily="34" charset="-122"/>
                </a:rPr>
                <a:t>样品</a:t>
              </a:r>
              <a:r>
                <a:rPr lang="en-US" altLang="zh-CN" sz="1600" dirty="0">
                  <a:solidFill>
                    <a:srgbClr val="000000"/>
                  </a:solidFill>
                  <a:latin typeface="微软雅黑" panose="020B0503020204020204" pitchFamily="34" charset="-122"/>
                  <a:ea typeface="微软雅黑" panose="020B0503020204020204" pitchFamily="34" charset="-122"/>
                </a:rPr>
                <a:t>A   +</a:t>
              </a:r>
              <a:endParaRPr lang="en-US" altLang="zh-CN" sz="16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1600" dirty="0">
                  <a:solidFill>
                    <a:srgbClr val="000000"/>
                  </a:solidFill>
                  <a:latin typeface="微软雅黑" panose="020B0503020204020204" pitchFamily="34" charset="-122"/>
                  <a:ea typeface="微软雅黑" panose="020B0503020204020204" pitchFamily="34" charset="-122"/>
                </a:rPr>
                <a:t>样品</a:t>
              </a:r>
              <a:r>
                <a:rPr lang="en-US" altLang="zh-CN" sz="1600" dirty="0">
                  <a:solidFill>
                    <a:srgbClr val="000000"/>
                  </a:solidFill>
                  <a:latin typeface="微软雅黑" panose="020B0503020204020204" pitchFamily="34" charset="-122"/>
                  <a:ea typeface="微软雅黑" panose="020B0503020204020204" pitchFamily="34" charset="-122"/>
                </a:rPr>
                <a:t>B        </a:t>
              </a:r>
              <a:endParaRPr lang="zh-CN" altLang="en-US" sz="1600" dirty="0">
                <a:solidFill>
                  <a:srgbClr val="000000"/>
                </a:solidFill>
                <a:latin typeface="微软雅黑" panose="020B0503020204020204" pitchFamily="34" charset="-122"/>
                <a:ea typeface="微软雅黑" panose="020B0503020204020204" pitchFamily="34" charset="-122"/>
              </a:endParaRPr>
            </a:p>
          </p:txBody>
        </p:sp>
        <p:sp>
          <p:nvSpPr>
            <p:cNvPr id="38" name="椭圆 37"/>
            <p:cNvSpPr/>
            <p:nvPr/>
          </p:nvSpPr>
          <p:spPr>
            <a:xfrm flipV="1">
              <a:off x="3258795" y="2112208"/>
              <a:ext cx="142513" cy="141137"/>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nvGrpSpPr>
            <p:cNvPr id="52252" name="组合 56"/>
            <p:cNvGrpSpPr/>
            <p:nvPr/>
          </p:nvGrpSpPr>
          <p:grpSpPr bwMode="auto">
            <a:xfrm>
              <a:off x="1803241" y="2023942"/>
              <a:ext cx="4912510" cy="3564328"/>
              <a:chOff x="1803221" y="2023931"/>
              <a:chExt cx="4912544" cy="3564353"/>
            </a:xfrm>
            <a:grpFill/>
          </p:grpSpPr>
          <p:sp>
            <p:nvSpPr>
              <p:cNvPr id="44" name="等腰三角形 43"/>
              <p:cNvSpPr/>
              <p:nvPr/>
            </p:nvSpPr>
            <p:spPr>
              <a:xfrm>
                <a:off x="6383118" y="2235125"/>
                <a:ext cx="212673" cy="213983"/>
              </a:xfrm>
              <a:prstGeom prst="triangle">
                <a:avLst/>
              </a:prstGeom>
              <a:grp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0" name="等腰三角形 49"/>
              <p:cNvSpPr/>
              <p:nvPr/>
            </p:nvSpPr>
            <p:spPr>
              <a:xfrm>
                <a:off x="2427823" y="5374300"/>
                <a:ext cx="214866" cy="213983"/>
              </a:xfrm>
              <a:prstGeom prst="triangle">
                <a:avLst/>
              </a:prstGeom>
              <a:grp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2256" name="TextBox 51"/>
              <p:cNvSpPr txBox="1">
                <a:spLocks noChangeArrowheads="1"/>
              </p:cNvSpPr>
              <p:nvPr/>
            </p:nvSpPr>
            <p:spPr bwMode="auto">
              <a:xfrm>
                <a:off x="4322069" y="2023931"/>
                <a:ext cx="2393696" cy="4854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1600">
                    <a:solidFill>
                      <a:srgbClr val="000000"/>
                    </a:solidFill>
                    <a:latin typeface="Calibri" panose="020F0502020204030204" charset="0"/>
                    <a:ea typeface="宋体" panose="02010600030101010101" pitchFamily="2" charset="-122"/>
                  </a:rPr>
                  <a:t>（</a:t>
                </a:r>
                <a:r>
                  <a:rPr lang="en-US" altLang="zh-CN" sz="1600">
                    <a:solidFill>
                      <a:srgbClr val="000000"/>
                    </a:solidFill>
                    <a:latin typeface="Calibri" panose="020F0502020204030204" charset="0"/>
                    <a:ea typeface="宋体" panose="02010600030101010101" pitchFamily="2" charset="-122"/>
                  </a:rPr>
                  <a:t>60.00, 38.500</a:t>
                </a:r>
                <a:r>
                  <a:rPr lang="zh-CN" altLang="en-US" sz="1600">
                    <a:solidFill>
                      <a:srgbClr val="000000"/>
                    </a:solidFill>
                    <a:latin typeface="Calibri" panose="020F0502020204030204" charset="0"/>
                    <a:ea typeface="宋体" panose="02010600030101010101" pitchFamily="2" charset="-122"/>
                  </a:rPr>
                  <a:t>）</a:t>
                </a:r>
                <a:endParaRPr lang="zh-CN" altLang="en-US" sz="1600">
                  <a:solidFill>
                    <a:srgbClr val="000000"/>
                  </a:solidFill>
                  <a:latin typeface="Calibri" panose="020F0502020204030204" charset="0"/>
                  <a:ea typeface="宋体" panose="02010600030101010101" pitchFamily="2" charset="-122"/>
                </a:endParaRPr>
              </a:p>
            </p:txBody>
          </p:sp>
          <p:sp>
            <p:nvSpPr>
              <p:cNvPr id="52257" name="TextBox 55"/>
              <p:cNvSpPr txBox="1">
                <a:spLocks noChangeArrowheads="1"/>
              </p:cNvSpPr>
              <p:nvPr/>
            </p:nvSpPr>
            <p:spPr bwMode="auto">
              <a:xfrm>
                <a:off x="1803221" y="5016973"/>
                <a:ext cx="2393696" cy="4854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eaLnBrk="1" hangingPunct="1">
                  <a:spcBef>
                    <a:spcPct val="0"/>
                  </a:spcBef>
                  <a:buFontTx/>
                  <a:buNone/>
                </a:pPr>
                <a:r>
                  <a:rPr lang="zh-CN" altLang="en-US" sz="1600">
                    <a:solidFill>
                      <a:srgbClr val="000000"/>
                    </a:solidFill>
                    <a:latin typeface="Calibri" panose="020F0502020204030204" charset="0"/>
                    <a:ea typeface="宋体" panose="02010600030101010101" pitchFamily="2" charset="-122"/>
                  </a:rPr>
                  <a:t>（</a:t>
                </a:r>
                <a:r>
                  <a:rPr lang="en-US" altLang="zh-CN" sz="1600">
                    <a:solidFill>
                      <a:srgbClr val="000000"/>
                    </a:solidFill>
                    <a:latin typeface="Calibri" panose="020F0502020204030204" charset="0"/>
                    <a:ea typeface="宋体" panose="02010600030101010101" pitchFamily="2" charset="-122"/>
                  </a:rPr>
                  <a:t>26.00, 31.800</a:t>
                </a:r>
                <a:r>
                  <a:rPr lang="zh-CN" altLang="en-US" sz="1600">
                    <a:solidFill>
                      <a:srgbClr val="000000"/>
                    </a:solidFill>
                    <a:latin typeface="Calibri" panose="020F0502020204030204" charset="0"/>
                    <a:ea typeface="宋体" panose="02010600030101010101" pitchFamily="2" charset="-122"/>
                  </a:rPr>
                  <a:t>）</a:t>
                </a:r>
                <a:endParaRPr lang="zh-CN" altLang="en-US" sz="1600">
                  <a:solidFill>
                    <a:srgbClr val="000000"/>
                  </a:solidFill>
                  <a:latin typeface="Calibri" panose="020F0502020204030204" charset="0"/>
                  <a:ea typeface="宋体" panose="02010600030101010101" pitchFamily="2" charset="-122"/>
                </a:endParaRPr>
              </a:p>
            </p:txBody>
          </p:sp>
        </p:grpSp>
        <p:sp>
          <p:nvSpPr>
            <p:cNvPr id="57" name="TextBox 56"/>
            <p:cNvSpPr txBox="1"/>
            <p:nvPr/>
          </p:nvSpPr>
          <p:spPr>
            <a:xfrm>
              <a:off x="4857127" y="4714131"/>
              <a:ext cx="2133300" cy="1192833"/>
            </a:xfrm>
            <a:prstGeom prst="rect">
              <a:avLst/>
            </a:prstGeom>
            <a:grpFill/>
          </p:spPr>
          <p:txBody>
            <a:bodyPr wrap="none">
              <a:spAutoFit/>
            </a:bodyPr>
            <a:lstStyle/>
            <a:p>
              <a:pPr eaLnBrk="1" hangingPunct="1">
                <a:defRPr/>
              </a:pPr>
              <a:r>
                <a:rPr lang="zh-CN" altLang="en-US" sz="1200" dirty="0">
                  <a:solidFill>
                    <a:srgbClr val="000000"/>
                  </a:solidFill>
                  <a:latin typeface="微软雅黑" panose="020B0503020204020204" pitchFamily="34" charset="-122"/>
                  <a:ea typeface="微软雅黑" panose="020B0503020204020204" pitchFamily="34" charset="-122"/>
                </a:rPr>
                <a:t>实验名称：********</a:t>
              </a:r>
              <a:endParaRPr lang="en-US" altLang="zh-CN" sz="12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1200" dirty="0">
                  <a:solidFill>
                    <a:srgbClr val="000000"/>
                  </a:solidFill>
                  <a:latin typeface="微软雅黑" panose="020B0503020204020204" pitchFamily="34" charset="-122"/>
                  <a:ea typeface="微软雅黑" panose="020B0503020204020204" pitchFamily="34" charset="-122"/>
                </a:rPr>
                <a:t>图       名：********</a:t>
              </a:r>
              <a:endParaRPr lang="en-US" altLang="zh-CN" sz="12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1200" dirty="0">
                  <a:solidFill>
                    <a:srgbClr val="000000"/>
                  </a:solidFill>
                  <a:latin typeface="微软雅黑" panose="020B0503020204020204" pitchFamily="34" charset="-122"/>
                  <a:ea typeface="微软雅黑" panose="020B0503020204020204" pitchFamily="34" charset="-122"/>
                </a:rPr>
                <a:t>实  验  者：********</a:t>
              </a:r>
              <a:endParaRPr lang="en-US" altLang="zh-CN" sz="1200" dirty="0">
                <a:solidFill>
                  <a:srgbClr val="000000"/>
                </a:solidFill>
                <a:latin typeface="微软雅黑" panose="020B0503020204020204" pitchFamily="34" charset="-122"/>
                <a:ea typeface="微软雅黑" panose="020B0503020204020204" pitchFamily="34" charset="-122"/>
              </a:endParaRPr>
            </a:p>
            <a:p>
              <a:pPr eaLnBrk="1" hangingPunct="1">
                <a:defRPr/>
              </a:pPr>
              <a:r>
                <a:rPr lang="zh-CN" altLang="en-US" sz="1200" dirty="0">
                  <a:solidFill>
                    <a:srgbClr val="000000"/>
                  </a:solidFill>
                  <a:latin typeface="微软雅黑" panose="020B0503020204020204" pitchFamily="34" charset="-122"/>
                  <a:ea typeface="微软雅黑" panose="020B0503020204020204" pitchFamily="34" charset="-122"/>
                </a:rPr>
                <a:t>实验日期：********</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sp>
        <p:nvSpPr>
          <p:cNvPr id="52228" name="标题 1"/>
          <p:cNvSpPr>
            <a:spLocks noGrp="1"/>
          </p:cNvSpPr>
          <p:nvPr>
            <p:ph type="title"/>
          </p:nvPr>
        </p:nvSpPr>
        <p:spPr>
          <a:xfrm>
            <a:off x="268911" y="170853"/>
            <a:ext cx="8229600" cy="1143000"/>
          </a:xfrm>
        </p:spPr>
        <p:txBody>
          <a:bodyPr/>
          <a:lstStyle/>
          <a:p>
            <a:r>
              <a:rPr lang="zh-CN" altLang="en-US" b="1" dirty="0">
                <a:solidFill>
                  <a:schemeClr val="bg1"/>
                </a:solidFill>
                <a:latin typeface="微软雅黑" panose="020B0503020204020204" pitchFamily="34" charset="-122"/>
                <a:ea typeface="微软雅黑" panose="020B0503020204020204" pitchFamily="34" charset="-122"/>
              </a:rPr>
              <a:t>例：如何读图</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2227" name="灯片编号占位符 4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3989F904-B30D-4F09-A371-BAD4E76A2EA7}" type="slidenum">
              <a:rPr lang="zh-CN" altLang="en-US">
                <a:solidFill>
                  <a:srgbClr val="FFFFFF"/>
                </a:solidFill>
                <a:latin typeface="Calibri" panose="020F0502020204030204" charset="0"/>
                <a:ea typeface="宋体" panose="02010600030101010101" pitchFamily="2" charset="-122"/>
              </a:rPr>
            </a:fld>
            <a:endParaRPr lang="en-US" altLang="zh-CN" dirty="0">
              <a:solidFill>
                <a:srgbClr val="FFFFFF"/>
              </a:solidFill>
              <a:latin typeface="Calibri" panose="020F0502020204030204" charset="0"/>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876972" y="5346910"/>
            <a:ext cx="10122237" cy="1143000"/>
          </a:xfrm>
          <a:prstGeom prst="rect">
            <a:avLst/>
          </a:prstGeom>
          <a:solidFill>
            <a:srgbClr val="00B0F0"/>
          </a:solid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algn="l" eaLnBrk="1" hangingPunct="1">
              <a:defRPr/>
            </a:pPr>
            <a:r>
              <a:rPr lang="en-US" altLang="zh-CN" sz="5400" b="1" dirty="0">
                <a:solidFill>
                  <a:schemeClr val="bg1"/>
                </a:solidFill>
                <a:latin typeface="微软雅黑" panose="020B0503020204020204" pitchFamily="34" charset="-122"/>
                <a:ea typeface="微软雅黑" panose="020B0503020204020204" pitchFamily="34" charset="-122"/>
              </a:rPr>
              <a:t>5. </a:t>
            </a:r>
            <a:r>
              <a:rPr lang="zh-CN" altLang="en-US" sz="5400" b="1" dirty="0">
                <a:solidFill>
                  <a:schemeClr val="bg1"/>
                </a:solidFill>
                <a:latin typeface="微软雅黑" panose="020B0503020204020204" pitchFamily="34" charset="-122"/>
                <a:ea typeface="微软雅黑" panose="020B0503020204020204" pitchFamily="34" charset="-122"/>
              </a:rPr>
              <a:t>最小二乘法</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sp>
        <p:nvSpPr>
          <p:cNvPr id="6150" name="内容占位符 2"/>
          <p:cNvSpPr>
            <a:spLocks noGrp="1"/>
          </p:cNvSpPr>
          <p:nvPr>
            <p:ph idx="1"/>
          </p:nvPr>
        </p:nvSpPr>
        <p:spPr>
          <a:xfrm>
            <a:off x="797719" y="1417638"/>
            <a:ext cx="10784681" cy="4679950"/>
          </a:xfrm>
        </p:spPr>
        <p:txBody>
          <a:bodyPr/>
          <a:lstStyle/>
          <a:p>
            <a:pPr marL="0" indent="0" algn="just">
              <a:lnSpc>
                <a:spcPct val="150000"/>
              </a:lnSpc>
              <a:buNone/>
              <a:defRPr/>
            </a:pPr>
            <a:r>
              <a:rPr lang="zh-CN" altLang="en-US" sz="2400" b="1" dirty="0">
                <a:solidFill>
                  <a:schemeClr val="bg1"/>
                </a:solidFill>
                <a:latin typeface="微软雅黑" panose="020B0503020204020204" pitchFamily="34" charset="-122"/>
                <a:ea typeface="微软雅黑" panose="020B0503020204020204" pitchFamily="34" charset="-122"/>
              </a:rPr>
              <a:t>最小二乘法认为：假设各</a:t>
            </a:r>
            <a:r>
              <a:rPr lang="en-US" altLang="zh-CN" sz="2400" b="1" i="1" dirty="0">
                <a:solidFill>
                  <a:schemeClr val="bg1"/>
                </a:solidFill>
                <a:latin typeface="微软雅黑" panose="020B0503020204020204" pitchFamily="34" charset="-122"/>
                <a:ea typeface="微软雅黑" panose="020B0503020204020204" pitchFamily="34" charset="-122"/>
              </a:rPr>
              <a:t>x</a:t>
            </a:r>
            <a:r>
              <a:rPr lang="en-US" altLang="zh-CN" sz="2400" b="1" baseline="-25000" dirty="0">
                <a:solidFill>
                  <a:schemeClr val="bg1"/>
                </a:solidFill>
                <a:latin typeface="微软雅黑" panose="020B0503020204020204" pitchFamily="34" charset="-122"/>
                <a:ea typeface="微软雅黑" panose="020B0503020204020204" pitchFamily="34" charset="-122"/>
              </a:rPr>
              <a:t>i</a:t>
            </a:r>
            <a:r>
              <a:rPr lang="zh-CN" altLang="en-US" sz="2400" b="1" dirty="0">
                <a:solidFill>
                  <a:schemeClr val="bg1"/>
                </a:solidFill>
                <a:latin typeface="微软雅黑" panose="020B0503020204020204" pitchFamily="34" charset="-122"/>
                <a:ea typeface="微软雅黑" panose="020B0503020204020204" pitchFamily="34" charset="-122"/>
              </a:rPr>
              <a:t>的值是准确的，所有的不确定度都只联系着</a:t>
            </a:r>
            <a:r>
              <a:rPr lang="en-US" altLang="zh-CN" sz="2400" b="1" i="1" dirty="0" err="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y</a:t>
            </a:r>
            <a:r>
              <a:rPr lang="en-US" altLang="zh-CN" sz="2400" b="1" baseline="-25000" dirty="0" err="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i</a:t>
            </a:r>
            <a:r>
              <a:rPr lang="zh-CN" altLang="en-US" sz="2400" b="1" dirty="0">
                <a:solidFill>
                  <a:schemeClr val="bg1"/>
                </a:solidFill>
                <a:latin typeface="微软雅黑" panose="020B0503020204020204" pitchFamily="34" charset="-122"/>
                <a:ea typeface="微软雅黑" panose="020B0503020204020204" pitchFamily="34" charset="-122"/>
              </a:rPr>
              <a:t>，若最佳拟合的直线为：            ，则所测各值与拟合直线上相应的各估计值                 　  之间的偏差的平方和最小，即，直线方程中：</a:t>
            </a:r>
            <a:endParaRPr lang="zh-CN" altLang="en-US" sz="2400" dirty="0">
              <a:solidFill>
                <a:schemeClr val="bg1"/>
              </a:solidFill>
              <a:latin typeface="微软雅黑" panose="020B0503020204020204" pitchFamily="34" charset="-122"/>
              <a:ea typeface="微软雅黑" panose="020B0503020204020204" pitchFamily="34" charset="-122"/>
            </a:endParaRPr>
          </a:p>
          <a:p>
            <a:pPr>
              <a:spcBef>
                <a:spcPct val="30000"/>
              </a:spcBef>
              <a:spcAft>
                <a:spcPct val="30000"/>
              </a:spcAft>
              <a:defRPr/>
            </a:pPr>
            <a:endParaRPr lang="zh-CN" altLang="en-US" sz="3600" dirty="0">
              <a:solidFill>
                <a:schemeClr val="bg1"/>
              </a:solidFill>
              <a:latin typeface="微软雅黑" panose="020B0503020204020204" pitchFamily="34" charset="-122"/>
              <a:ea typeface="微软雅黑" panose="020B0503020204020204" pitchFamily="34" charset="-122"/>
            </a:endParaRPr>
          </a:p>
        </p:txBody>
      </p:sp>
      <p:graphicFrame>
        <p:nvGraphicFramePr>
          <p:cNvPr id="10242" name="Object 3"/>
          <p:cNvGraphicFramePr>
            <a:graphicFrameLocks noChangeAspect="1"/>
          </p:cNvGraphicFramePr>
          <p:nvPr/>
        </p:nvGraphicFramePr>
        <p:xfrm>
          <a:off x="3443423" y="1988840"/>
          <a:ext cx="1788481" cy="571798"/>
        </p:xfrm>
        <a:graphic>
          <a:graphicData uri="http://schemas.openxmlformats.org/presentationml/2006/ole">
            <mc:AlternateContent xmlns:mc="http://schemas.openxmlformats.org/markup-compatibility/2006">
              <mc:Choice xmlns:v="urn:schemas-microsoft-com:vml" Requires="v">
                <p:oleObj spid="_x0000_s19701" name="Equation" r:id="rId1" imgW="635000" imgH="203200" progId="Equation.DSMT4">
                  <p:embed/>
                </p:oleObj>
              </mc:Choice>
              <mc:Fallback>
                <p:oleObj name="Equation" r:id="rId1" imgW="635000" imgH="2032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3423" y="1988840"/>
                        <a:ext cx="1788481" cy="571798"/>
                      </a:xfrm>
                      <a:prstGeom prst="rect">
                        <a:avLst/>
                      </a:prstGeom>
                      <a:noFill/>
                      <a:ln>
                        <a:noFill/>
                      </a:ln>
                      <a:effectLst/>
                    </p:spPr>
                  </p:pic>
                </p:oleObj>
              </mc:Fallback>
            </mc:AlternateContent>
          </a:graphicData>
        </a:graphic>
      </p:graphicFrame>
      <p:graphicFrame>
        <p:nvGraphicFramePr>
          <p:cNvPr id="10243" name="Object 4"/>
          <p:cNvGraphicFramePr>
            <a:graphicFrameLocks noChangeAspect="1"/>
          </p:cNvGraphicFramePr>
          <p:nvPr/>
        </p:nvGraphicFramePr>
        <p:xfrm>
          <a:off x="6960096" y="2529780"/>
          <a:ext cx="1643062" cy="611188"/>
        </p:xfrm>
        <a:graphic>
          <a:graphicData uri="http://schemas.openxmlformats.org/presentationml/2006/ole">
            <mc:AlternateContent xmlns:mc="http://schemas.openxmlformats.org/markup-compatibility/2006">
              <mc:Choice xmlns:v="urn:schemas-microsoft-com:vml" Requires="v">
                <p:oleObj spid="_x0000_s19702" name="公式" r:id="rId3" imgW="711200" imgH="317500" progId="Equation.3">
                  <p:embed/>
                </p:oleObj>
              </mc:Choice>
              <mc:Fallback>
                <p:oleObj name="公式" r:id="rId3" imgW="711200" imgH="317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6" y="2529780"/>
                        <a:ext cx="1643062" cy="611188"/>
                      </a:xfrm>
                      <a:prstGeom prst="rect">
                        <a:avLst/>
                      </a:prstGeom>
                      <a:noFill/>
                      <a:ln>
                        <a:noFill/>
                      </a:ln>
                      <a:effectLst/>
                    </p:spPr>
                  </p:pic>
                </p:oleObj>
              </mc:Fallback>
            </mc:AlternateContent>
          </a:graphicData>
        </a:graphic>
      </p:graphicFrame>
      <p:graphicFrame>
        <p:nvGraphicFramePr>
          <p:cNvPr id="10244" name="Object 5"/>
          <p:cNvGraphicFramePr>
            <a:graphicFrameLocks noChangeAspect="1"/>
          </p:cNvGraphicFramePr>
          <p:nvPr/>
        </p:nvGraphicFramePr>
        <p:xfrm>
          <a:off x="911424" y="3291830"/>
          <a:ext cx="3528392" cy="1042304"/>
        </p:xfrm>
        <a:graphic>
          <a:graphicData uri="http://schemas.openxmlformats.org/presentationml/2006/ole">
            <mc:AlternateContent xmlns:mc="http://schemas.openxmlformats.org/markup-compatibility/2006">
              <mc:Choice xmlns:v="urn:schemas-microsoft-com:vml" Requires="v">
                <p:oleObj spid="_x0000_s19703" name="公式" r:id="rId5" imgW="1460500" imgH="431800" progId="Equation.3">
                  <p:embed/>
                </p:oleObj>
              </mc:Choice>
              <mc:Fallback>
                <p:oleObj name="公式" r:id="rId5" imgW="1460500" imgH="431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1424" y="3291830"/>
                        <a:ext cx="3528392" cy="1042304"/>
                      </a:xfrm>
                      <a:prstGeom prst="rect">
                        <a:avLst/>
                      </a:prstGeom>
                      <a:noFill/>
                      <a:ln>
                        <a:noFill/>
                      </a:ln>
                      <a:effectLst/>
                    </p:spPr>
                  </p:pic>
                </p:oleObj>
              </mc:Fallback>
            </mc:AlternateContent>
          </a:graphicData>
        </a:graphic>
      </p:graphicFrame>
      <p:pic>
        <p:nvPicPr>
          <p:cNvPr id="10247" name="Picture 31"/>
          <p:cNvPicPr>
            <a:picLocks noChangeAspect="1" noChangeArrowheads="1"/>
          </p:cNvPicPr>
          <p:nvPr/>
        </p:nvPicPr>
        <p:blipFill>
          <a:blip r:embed="rId7"/>
          <a:srcRect/>
          <a:stretch>
            <a:fillRect/>
          </a:stretch>
        </p:blipFill>
        <p:spPr bwMode="auto">
          <a:xfrm>
            <a:off x="4799856" y="3294335"/>
            <a:ext cx="5067300" cy="3375025"/>
          </a:xfrm>
          <a:prstGeom prst="rect">
            <a:avLst/>
          </a:prstGeom>
          <a:noFill/>
          <a:ln w="9525">
            <a:noFill/>
            <a:miter lim="800000"/>
            <a:headEnd/>
            <a:tailEnd/>
          </a:ln>
        </p:spPr>
      </p:pic>
      <p:sp>
        <p:nvSpPr>
          <p:cNvPr id="2" name="灯片编号占位符 1"/>
          <p:cNvSpPr>
            <a:spLocks noGrp="1"/>
          </p:cNvSpPr>
          <p:nvPr>
            <p:ph type="sldNum" sz="quarter" idx="12"/>
          </p:nvPr>
        </p:nvSpPr>
        <p:spPr/>
        <p:txBody>
          <a:bodyPr/>
          <a:lstStyle/>
          <a:p>
            <a:pPr>
              <a:defRPr/>
            </a:pPr>
            <a:fld id="{A54D9D6D-0819-48BE-809C-2A51D04D71F0}" type="slidenum">
              <a:rPr lang="zh-CN" altLang="en-US" smtClean="0"/>
            </a:fld>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2"/>
          <p:cNvGraphicFramePr>
            <a:graphicFrameLocks noChangeAspect="1"/>
          </p:cNvGraphicFramePr>
          <p:nvPr/>
        </p:nvGraphicFramePr>
        <p:xfrm>
          <a:off x="1163638" y="146050"/>
          <a:ext cx="10045700" cy="6451600"/>
        </p:xfrm>
        <a:graphic>
          <a:graphicData uri="http://schemas.openxmlformats.org/presentationml/2006/ole">
            <mc:AlternateContent xmlns:mc="http://schemas.openxmlformats.org/markup-compatibility/2006">
              <mc:Choice xmlns:v="urn:schemas-microsoft-com:vml" Requires="v">
                <p:oleObj spid="_x0000_s20644" name="Equation" r:id="rId1" imgW="6134100" imgH="3937000" progId="Equation.DSMT4">
                  <p:embed/>
                </p:oleObj>
              </mc:Choice>
              <mc:Fallback>
                <p:oleObj name="Equation" r:id="rId1" imgW="6134100" imgH="39370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3638" y="146050"/>
                        <a:ext cx="10045700" cy="6451600"/>
                      </a:xfrm>
                      <a:prstGeom prst="rect">
                        <a:avLst/>
                      </a:prstGeom>
                      <a:noFill/>
                    </p:spPr>
                  </p:pic>
                </p:oleObj>
              </mc:Fallback>
            </mc:AlternateContent>
          </a:graphicData>
        </a:graphic>
      </p:graphicFrame>
      <p:graphicFrame>
        <p:nvGraphicFramePr>
          <p:cNvPr id="14339" name="Object 15"/>
          <p:cNvGraphicFramePr>
            <a:graphicFrameLocks noChangeAspect="1"/>
          </p:cNvGraphicFramePr>
          <p:nvPr/>
        </p:nvGraphicFramePr>
        <p:xfrm>
          <a:off x="7032103" y="2636912"/>
          <a:ext cx="3920931" cy="1512168"/>
        </p:xfrm>
        <a:graphic>
          <a:graphicData uri="http://schemas.openxmlformats.org/presentationml/2006/ole">
            <mc:AlternateContent xmlns:mc="http://schemas.openxmlformats.org/markup-compatibility/2006">
              <mc:Choice xmlns:v="urn:schemas-microsoft-com:vml" Requires="v">
                <p:oleObj spid="_x0000_s20645" name="Equation" r:id="rId3" imgW="2159000" imgH="838200" progId="Equation.DSMT4">
                  <p:embed/>
                </p:oleObj>
              </mc:Choice>
              <mc:Fallback>
                <p:oleObj name="Equation" r:id="rId3" imgW="2159000" imgH="838200" progId="Equation.DSMT4">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2103" y="2636912"/>
                        <a:ext cx="3920931" cy="1512168"/>
                      </a:xfrm>
                      <a:prstGeom prst="rect">
                        <a:avLst/>
                      </a:prstGeom>
                      <a:solidFill>
                        <a:srgbClr val="008000"/>
                      </a:solidFill>
                    </p:spPr>
                  </p:pic>
                </p:oleObj>
              </mc:Fallback>
            </mc:AlternateContent>
          </a:graphicData>
        </a:graphic>
      </p:graphicFrame>
      <p:sp>
        <p:nvSpPr>
          <p:cNvPr id="8" name="圆角矩形 7"/>
          <p:cNvSpPr/>
          <p:nvPr/>
        </p:nvSpPr>
        <p:spPr>
          <a:xfrm>
            <a:off x="1163276" y="5935799"/>
            <a:ext cx="2500312" cy="6429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zh-CN" altLang="en-US">
              <a:solidFill>
                <a:prstClr val="white"/>
              </a:solidFill>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2"/>
          <p:cNvGraphicFramePr>
            <a:graphicFrameLocks noGrp="1" noChangeAspect="1"/>
          </p:cNvGraphicFramePr>
          <p:nvPr>
            <p:ph sz="quarter" idx="1"/>
          </p:nvPr>
        </p:nvGraphicFramePr>
        <p:xfrm>
          <a:off x="8020050" y="2863850"/>
          <a:ext cx="114300" cy="215900"/>
        </p:xfrm>
        <a:graphic>
          <a:graphicData uri="http://schemas.openxmlformats.org/presentationml/2006/ole">
            <mc:AlternateContent xmlns:mc="http://schemas.openxmlformats.org/markup-compatibility/2006">
              <mc:Choice xmlns:v="urn:schemas-microsoft-com:vml" Requires="v">
                <p:oleObj spid="_x0000_s22073" name="公式" r:id="rId1" imgW="114300" imgH="215900" progId="Equation.3">
                  <p:embed/>
                </p:oleObj>
              </mc:Choice>
              <mc:Fallback>
                <p:oleObj name="公式" r:id="rId1" imgW="1143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0050" y="28638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7" name="Object 3"/>
          <p:cNvGraphicFramePr>
            <a:graphicFrameLocks noGrp="1" noChangeAspect="1"/>
          </p:cNvGraphicFramePr>
          <p:nvPr>
            <p:ph sz="quarter" idx="2"/>
          </p:nvPr>
        </p:nvGraphicFramePr>
        <p:xfrm>
          <a:off x="2640013" y="1773238"/>
          <a:ext cx="1281112" cy="863600"/>
        </p:xfrm>
        <a:graphic>
          <a:graphicData uri="http://schemas.openxmlformats.org/presentationml/2006/ole">
            <mc:AlternateContent xmlns:mc="http://schemas.openxmlformats.org/markup-compatibility/2006">
              <mc:Choice xmlns:v="urn:schemas-microsoft-com:vml" Requires="v">
                <p:oleObj spid="_x0000_s22074" name="公式" r:id="rId3" imgW="584200" imgH="393700" progId="Equation.3">
                  <p:embed/>
                </p:oleObj>
              </mc:Choice>
              <mc:Fallback>
                <p:oleObj name="公式" r:id="rId3" imgW="584200"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3" y="1773238"/>
                        <a:ext cx="1281112" cy="863600"/>
                      </a:xfrm>
                      <a:prstGeom prst="rect">
                        <a:avLst/>
                      </a:prstGeom>
                      <a:noFill/>
                    </p:spPr>
                  </p:pic>
                </p:oleObj>
              </mc:Fallback>
            </mc:AlternateContent>
          </a:graphicData>
        </a:graphic>
      </p:graphicFrame>
      <p:sp>
        <p:nvSpPr>
          <p:cNvPr id="11273" name="Rectangle 4"/>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85349" name="Text Box 5"/>
          <p:cNvSpPr txBox="1">
            <a:spLocks noChangeArrowheads="1"/>
          </p:cNvSpPr>
          <p:nvPr/>
        </p:nvSpPr>
        <p:spPr bwMode="auto">
          <a:xfrm>
            <a:off x="407368" y="1556792"/>
            <a:ext cx="10801200" cy="5613845"/>
          </a:xfrm>
          <a:prstGeom prst="rect">
            <a:avLst/>
          </a:prstGeom>
          <a:noFill/>
          <a:ln w="9525">
            <a:noFill/>
            <a:miter lim="800000"/>
          </a:ln>
          <a:effectLst/>
        </p:spPr>
        <p:txBody>
          <a:bodyPr wrap="square">
            <a:spAutoFit/>
          </a:bodyPr>
          <a:lstStyle/>
          <a:p>
            <a:pPr>
              <a:lnSpc>
                <a:spcPct val="110000"/>
              </a:lnSpc>
              <a:defRPr/>
            </a:pPr>
            <a:endParaRPr lang="en-US" altLang="zh-CN" sz="2800" b="1" dirty="0">
              <a:latin typeface="Arial" panose="020B0604020202020204" pitchFamily="34" charset="0"/>
              <a:ea typeface="宋体" panose="02010600030101010101" pitchFamily="2" charset="-122"/>
            </a:endParaRPr>
          </a:p>
          <a:p>
            <a:pPr>
              <a:defRPr/>
            </a:pPr>
            <a:endParaRPr lang="en-US" altLang="zh-CN" sz="2400" b="1" dirty="0">
              <a:latin typeface="Arial" panose="020B0604020202020204" pitchFamily="34" charset="0"/>
              <a:ea typeface="宋体" panose="02010600030101010101" pitchFamily="2" charset="-122"/>
            </a:endParaRPr>
          </a:p>
          <a:p>
            <a:pPr>
              <a:defRPr/>
            </a:pPr>
            <a:r>
              <a:rPr lang="zh-CN" altLang="en-US" sz="2800" b="1" dirty="0">
                <a:solidFill>
                  <a:schemeClr val="bg1"/>
                </a:solidFill>
                <a:latin typeface="+mn-ea"/>
                <a:ea typeface="+mn-ea"/>
              </a:rPr>
              <a:t>解方程得：</a:t>
            </a:r>
            <a:endParaRPr lang="zh-CN" altLang="en-US" sz="2800" b="1" dirty="0">
              <a:solidFill>
                <a:schemeClr val="bg1"/>
              </a:solidFill>
              <a:latin typeface="+mn-ea"/>
              <a:ea typeface="+mn-ea"/>
            </a:endParaRPr>
          </a:p>
          <a:p>
            <a:pPr>
              <a:defRPr/>
            </a:pPr>
            <a:endParaRPr lang="zh-CN" altLang="en-US" sz="2800" dirty="0">
              <a:solidFill>
                <a:schemeClr val="bg1"/>
              </a:solidFill>
              <a:latin typeface="Arial" panose="020B0604020202020204" pitchFamily="34" charset="0"/>
            </a:endParaRPr>
          </a:p>
          <a:p>
            <a:pPr>
              <a:defRPr/>
            </a:pPr>
            <a:endParaRPr lang="zh-CN" altLang="en-US" sz="2800" dirty="0">
              <a:solidFill>
                <a:schemeClr val="bg1"/>
              </a:solidFill>
              <a:latin typeface="Arial" panose="020B0604020202020204" pitchFamily="34" charset="0"/>
            </a:endParaRPr>
          </a:p>
          <a:p>
            <a:pPr>
              <a:defRPr/>
            </a:pPr>
            <a:endParaRPr lang="zh-CN" altLang="en-US" sz="2800" dirty="0">
              <a:solidFill>
                <a:schemeClr val="bg1"/>
              </a:solidFill>
              <a:latin typeface="Arial" panose="020B0604020202020204" pitchFamily="34" charset="0"/>
            </a:endParaRPr>
          </a:p>
          <a:p>
            <a:pPr>
              <a:defRPr/>
            </a:pPr>
            <a:r>
              <a:rPr lang="zh-CN" altLang="en-US" sz="2800" b="1" dirty="0">
                <a:solidFill>
                  <a:schemeClr val="bg1"/>
                </a:solidFill>
                <a:latin typeface="+mn-ea"/>
                <a:ea typeface="+mn-ea"/>
              </a:rPr>
              <a:t>相关系数：</a:t>
            </a:r>
            <a:endParaRPr lang="zh-CN" altLang="en-US" sz="2800" b="1" dirty="0">
              <a:solidFill>
                <a:schemeClr val="bg1"/>
              </a:solidFill>
              <a:latin typeface="+mn-ea"/>
              <a:ea typeface="+mn-ea"/>
            </a:endParaRPr>
          </a:p>
          <a:p>
            <a:pPr>
              <a:defRPr/>
            </a:pPr>
            <a:endParaRPr lang="zh-CN" altLang="en-US" sz="2800" b="1" dirty="0">
              <a:solidFill>
                <a:schemeClr val="bg1"/>
              </a:solidFill>
              <a:latin typeface="Arial" panose="020B0604020202020204" pitchFamily="34" charset="0"/>
            </a:endParaRPr>
          </a:p>
          <a:p>
            <a:pPr>
              <a:defRPr/>
            </a:pPr>
            <a:endParaRPr lang="zh-CN" altLang="en-US" sz="2800" b="1" dirty="0">
              <a:solidFill>
                <a:schemeClr val="bg1"/>
              </a:solidFill>
              <a:latin typeface="Arial" panose="020B0604020202020204" pitchFamily="34" charset="0"/>
            </a:endParaRPr>
          </a:p>
          <a:p>
            <a:pPr algn="just">
              <a:defRPr/>
            </a:pPr>
            <a:r>
              <a:rPr lang="zh-CN" altLang="en-US" sz="2800" b="1" dirty="0">
                <a:solidFill>
                  <a:srgbClr val="C00000"/>
                </a:solidFill>
                <a:latin typeface="微软雅黑" panose="020B0503020204020204" pitchFamily="34" charset="-122"/>
                <a:ea typeface="微软雅黑" panose="020B0503020204020204" pitchFamily="34" charset="-122"/>
              </a:rPr>
              <a:t>如果</a:t>
            </a:r>
            <a:r>
              <a:rPr lang="en-US" altLang="zh-CN" sz="2800" b="1" i="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2800" b="1" dirty="0">
                <a:solidFill>
                  <a:srgbClr val="C00000"/>
                </a:solidFill>
                <a:latin typeface="微软雅黑" panose="020B0503020204020204" pitchFamily="34" charset="-122"/>
                <a:ea typeface="微软雅黑" panose="020B0503020204020204" pitchFamily="34" charset="-122"/>
              </a:rPr>
              <a:t>和</a:t>
            </a:r>
            <a:r>
              <a:rPr lang="en-US" altLang="zh-CN" sz="2800" b="1" i="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800" b="1" dirty="0">
                <a:solidFill>
                  <a:srgbClr val="C00000"/>
                </a:solidFill>
                <a:latin typeface="微软雅黑" panose="020B0503020204020204" pitchFamily="34" charset="-122"/>
                <a:ea typeface="微软雅黑" panose="020B0503020204020204" pitchFamily="34" charset="-122"/>
              </a:rPr>
              <a:t>的相关性好，</a:t>
            </a:r>
            <a:r>
              <a:rPr lang="zh-CN" altLang="en-US" sz="2800" b="1" dirty="0">
                <a:solidFill>
                  <a:schemeClr val="bg1"/>
                </a:solidFill>
                <a:latin typeface="微软雅黑" panose="020B0503020204020204" pitchFamily="34" charset="-122"/>
                <a:ea typeface="微软雅黑" panose="020B0503020204020204" pitchFamily="34" charset="-122"/>
              </a:rPr>
              <a:t>可以粗略考虑</a:t>
            </a:r>
            <a:r>
              <a:rPr lang="en-US" altLang="zh-CN" sz="2800" b="1"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800" b="1" dirty="0">
                <a:solidFill>
                  <a:schemeClr val="bg1"/>
                </a:solidFill>
                <a:latin typeface="微软雅黑" panose="020B0503020204020204" pitchFamily="34" charset="-122"/>
                <a:ea typeface="微软雅黑" panose="020B0503020204020204" pitchFamily="34" charset="-122"/>
              </a:rPr>
              <a:t>的有效位数的最后一位与</a:t>
            </a:r>
            <a:r>
              <a:rPr lang="en-US" altLang="zh-CN" sz="2800" b="1"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2800" b="1" dirty="0">
                <a:solidFill>
                  <a:schemeClr val="bg1"/>
                </a:solidFill>
                <a:latin typeface="微软雅黑" panose="020B0503020204020204" pitchFamily="34" charset="-122"/>
                <a:ea typeface="微软雅黑" panose="020B0503020204020204" pitchFamily="34" charset="-122"/>
              </a:rPr>
              <a:t>的有效数字最后一位对齐，</a:t>
            </a:r>
            <a:r>
              <a:rPr lang="en-US" altLang="zh-CN" sz="2800" b="1"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k</a:t>
            </a:r>
            <a:r>
              <a:rPr lang="zh-CN" altLang="en-US" sz="2800" b="1" dirty="0">
                <a:solidFill>
                  <a:schemeClr val="bg1"/>
                </a:solidFill>
                <a:latin typeface="微软雅黑" panose="020B0503020204020204" pitchFamily="34" charset="-122"/>
                <a:ea typeface="微软雅黑" panose="020B0503020204020204" pitchFamily="34" charset="-122"/>
              </a:rPr>
              <a:t>的有效数字与</a:t>
            </a:r>
            <a:r>
              <a:rPr lang="en-US" altLang="zh-CN" sz="2800" b="1"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y</a:t>
            </a:r>
            <a:r>
              <a:rPr lang="en-US" altLang="zh-CN" sz="2800" b="1" baseline="-25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n</a:t>
            </a:r>
            <a:r>
              <a:rPr lang="en-US" altLang="zh-CN"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y</a:t>
            </a:r>
            <a:r>
              <a:rPr lang="en-US" altLang="zh-CN" sz="2800" b="1" baseline="-25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dirty="0">
                <a:solidFill>
                  <a:schemeClr val="bg1"/>
                </a:solidFill>
                <a:latin typeface="微软雅黑" panose="020B0503020204020204" pitchFamily="34" charset="-122"/>
                <a:ea typeface="微软雅黑" panose="020B0503020204020204" pitchFamily="34" charset="-122"/>
              </a:rPr>
              <a:t>和</a:t>
            </a:r>
            <a:r>
              <a:rPr lang="en-US" altLang="zh-CN" sz="2800" b="1"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800" b="1" baseline="-25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n</a:t>
            </a:r>
            <a:r>
              <a:rPr lang="en-US" altLang="zh-CN" sz="2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800" b="1" baseline="-25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dirty="0">
                <a:solidFill>
                  <a:schemeClr val="bg1"/>
                </a:solidFill>
                <a:latin typeface="微软雅黑" panose="020B0503020204020204" pitchFamily="34" charset="-122"/>
                <a:ea typeface="微软雅黑" panose="020B0503020204020204" pitchFamily="34" charset="-122"/>
              </a:rPr>
              <a:t>中有效位数较少的相同。</a:t>
            </a:r>
            <a:endParaRPr lang="zh-CN" altLang="en-US" sz="2800" b="1" dirty="0">
              <a:solidFill>
                <a:schemeClr val="bg1"/>
              </a:solidFill>
              <a:latin typeface="微软雅黑" panose="020B0503020204020204" pitchFamily="34" charset="-122"/>
              <a:ea typeface="微软雅黑" panose="020B0503020204020204" pitchFamily="34" charset="-122"/>
            </a:endParaRPr>
          </a:p>
          <a:p>
            <a:pPr>
              <a:defRPr/>
            </a:pPr>
            <a:endParaRPr lang="en-US" altLang="zh-CN" sz="2400" b="1" dirty="0">
              <a:latin typeface="Arial" panose="020B0604020202020204" pitchFamily="34" charset="0"/>
              <a:ea typeface="宋体" panose="02010600030101010101" pitchFamily="2" charset="-122"/>
            </a:endParaRPr>
          </a:p>
        </p:txBody>
      </p:sp>
      <p:sp>
        <p:nvSpPr>
          <p:cNvPr id="185350" name="Text Box 6"/>
          <p:cNvSpPr txBox="1">
            <a:spLocks noChangeArrowheads="1"/>
          </p:cNvSpPr>
          <p:nvPr/>
        </p:nvSpPr>
        <p:spPr bwMode="auto">
          <a:xfrm>
            <a:off x="469502" y="231029"/>
            <a:ext cx="5780088" cy="922020"/>
          </a:xfrm>
          <a:prstGeom prst="rect">
            <a:avLst/>
          </a:prstGeom>
          <a:noFill/>
          <a:ln w="9525">
            <a:noFill/>
            <a:miter lim="800000"/>
          </a:ln>
          <a:effectLst/>
        </p:spPr>
        <p:txBody>
          <a:bodyPr>
            <a:spAutoFit/>
          </a:bodyPr>
          <a:lstStyle/>
          <a:p>
            <a:pPr algn="l">
              <a:defRPr/>
            </a:pPr>
            <a:r>
              <a:rPr lang="en-US" altLang="zh-CN" sz="5400" b="1" dirty="0">
                <a:solidFill>
                  <a:schemeClr val="bg1"/>
                </a:solidFill>
                <a:latin typeface="微软雅黑" panose="020B0503020204020204" pitchFamily="34" charset="-122"/>
                <a:ea typeface="微软雅黑" panose="020B0503020204020204" pitchFamily="34" charset="-122"/>
              </a:rPr>
              <a:t>5. </a:t>
            </a:r>
            <a:r>
              <a:rPr lang="zh-CN" altLang="en-US" sz="5400" b="1" dirty="0">
                <a:solidFill>
                  <a:schemeClr val="bg1"/>
                </a:solidFill>
                <a:latin typeface="微软雅黑" panose="020B0503020204020204" pitchFamily="34" charset="-122"/>
                <a:ea typeface="微软雅黑" panose="020B0503020204020204" pitchFamily="34" charset="-122"/>
              </a:rPr>
              <a:t>最小二乘法</a:t>
            </a:r>
            <a:endParaRPr lang="zh-CN" altLang="en-US" sz="4400" b="1" dirty="0">
              <a:solidFill>
                <a:schemeClr val="accent2"/>
              </a:solidFill>
              <a:latin typeface="微软雅黑" panose="020B0503020204020204" pitchFamily="34" charset="-122"/>
              <a:ea typeface="微软雅黑" panose="020B0503020204020204" pitchFamily="34" charset="-122"/>
            </a:endParaRPr>
          </a:p>
        </p:txBody>
      </p:sp>
      <p:sp>
        <p:nvSpPr>
          <p:cNvPr id="11276" name="Rectangle 7"/>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1277" name="Rectangle 8"/>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1278" name="Rectangle 10"/>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1279" name="Rectangle 12"/>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1280" name="Rectangle 14"/>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graphicFrame>
        <p:nvGraphicFramePr>
          <p:cNvPr id="11268" name="Object 4"/>
          <p:cNvGraphicFramePr>
            <a:graphicFrameLocks noChangeAspect="1"/>
          </p:cNvGraphicFramePr>
          <p:nvPr/>
        </p:nvGraphicFramePr>
        <p:xfrm>
          <a:off x="4331989" y="1340768"/>
          <a:ext cx="5769665" cy="766936"/>
        </p:xfrm>
        <a:graphic>
          <a:graphicData uri="http://schemas.openxmlformats.org/presentationml/2006/ole">
            <mc:AlternateContent xmlns:mc="http://schemas.openxmlformats.org/markup-compatibility/2006">
              <mc:Choice xmlns:v="urn:schemas-microsoft-com:vml" Requires="v">
                <p:oleObj spid="_x0000_s22075" name="Equation" r:id="rId5" imgW="2957830" imgH="393700" progId="Equation.DSMT4">
                  <p:embed/>
                </p:oleObj>
              </mc:Choice>
              <mc:Fallback>
                <p:oleObj name="Equation" r:id="rId5" imgW="2957830" imgH="393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31989" y="1340768"/>
                        <a:ext cx="5769665" cy="766936"/>
                      </a:xfrm>
                      <a:prstGeom prst="rect">
                        <a:avLst/>
                      </a:prstGeom>
                      <a:noFill/>
                    </p:spPr>
                  </p:pic>
                </p:oleObj>
              </mc:Fallback>
            </mc:AlternateContent>
          </a:graphicData>
        </a:graphic>
      </p:graphicFrame>
      <p:graphicFrame>
        <p:nvGraphicFramePr>
          <p:cNvPr id="11269" name="Object 5"/>
          <p:cNvGraphicFramePr>
            <a:graphicFrameLocks noChangeAspect="1"/>
          </p:cNvGraphicFramePr>
          <p:nvPr/>
        </p:nvGraphicFramePr>
        <p:xfrm>
          <a:off x="4295874" y="2323852"/>
          <a:ext cx="4423632" cy="780208"/>
        </p:xfrm>
        <a:graphic>
          <a:graphicData uri="http://schemas.openxmlformats.org/presentationml/2006/ole">
            <mc:AlternateContent xmlns:mc="http://schemas.openxmlformats.org/markup-compatibility/2006">
              <mc:Choice xmlns:v="urn:schemas-microsoft-com:vml" Requires="v">
                <p:oleObj spid="_x0000_s22076" name="Equation" r:id="rId7" imgW="2235200" imgH="393700" progId="Equation.DSMT4">
                  <p:embed/>
                </p:oleObj>
              </mc:Choice>
              <mc:Fallback>
                <p:oleObj name="Equation" r:id="rId7" imgW="2235200" imgH="3937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5874" y="2323852"/>
                        <a:ext cx="4423632" cy="780208"/>
                      </a:xfrm>
                      <a:prstGeom prst="rect">
                        <a:avLst/>
                      </a:prstGeom>
                      <a:noFill/>
                    </p:spPr>
                  </p:pic>
                </p:oleObj>
              </mc:Fallback>
            </mc:AlternateContent>
          </a:graphicData>
        </a:graphic>
      </p:graphicFrame>
      <p:graphicFrame>
        <p:nvGraphicFramePr>
          <p:cNvPr id="11270" name="Object 6"/>
          <p:cNvGraphicFramePr>
            <a:graphicFrameLocks noChangeAspect="1"/>
          </p:cNvGraphicFramePr>
          <p:nvPr/>
        </p:nvGraphicFramePr>
        <p:xfrm>
          <a:off x="2639615" y="3162681"/>
          <a:ext cx="1439863" cy="527050"/>
        </p:xfrm>
        <a:graphic>
          <a:graphicData uri="http://schemas.openxmlformats.org/presentationml/2006/ole">
            <mc:AlternateContent xmlns:mc="http://schemas.openxmlformats.org/markup-compatibility/2006">
              <mc:Choice xmlns:v="urn:schemas-microsoft-com:vml" Requires="v">
                <p:oleObj spid="_x0000_s22077" name="Equation" r:id="rId9" imgW="660400" imgH="241300" progId="Equation.DSMT4">
                  <p:embed/>
                </p:oleObj>
              </mc:Choice>
              <mc:Fallback>
                <p:oleObj name="Equation" r:id="rId9" imgW="660400" imgH="2413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39615" y="3162681"/>
                        <a:ext cx="1439863" cy="527050"/>
                      </a:xfrm>
                      <a:prstGeom prst="rect">
                        <a:avLst/>
                      </a:prstGeom>
                      <a:noFill/>
                    </p:spPr>
                  </p:pic>
                </p:oleObj>
              </mc:Fallback>
            </mc:AlternateContent>
          </a:graphicData>
        </a:graphic>
      </p:graphicFrame>
      <p:graphicFrame>
        <p:nvGraphicFramePr>
          <p:cNvPr id="11271" name="Object 7"/>
          <p:cNvGraphicFramePr>
            <a:graphicFrameLocks noChangeAspect="1"/>
          </p:cNvGraphicFramePr>
          <p:nvPr/>
        </p:nvGraphicFramePr>
        <p:xfrm>
          <a:off x="2329340" y="3861432"/>
          <a:ext cx="1870075" cy="1195388"/>
        </p:xfrm>
        <a:graphic>
          <a:graphicData uri="http://schemas.openxmlformats.org/presentationml/2006/ole">
            <mc:AlternateContent xmlns:mc="http://schemas.openxmlformats.org/markup-compatibility/2006">
              <mc:Choice xmlns:v="urn:schemas-microsoft-com:vml" Requires="v">
                <p:oleObj spid="_x0000_s22078" name="公式" r:id="rId11" imgW="774700" imgH="495300" progId="Equation.3">
                  <p:embed/>
                </p:oleObj>
              </mc:Choice>
              <mc:Fallback>
                <p:oleObj name="公式" r:id="rId11" imgW="774700" imgH="4953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29340" y="3861432"/>
                        <a:ext cx="1870075" cy="1195388"/>
                      </a:xfrm>
                      <a:prstGeom prst="rect">
                        <a:avLst/>
                      </a:prstGeom>
                      <a:noFill/>
                    </p:spPr>
                  </p:pic>
                </p:oleObj>
              </mc:Fallback>
            </mc:AlternateContent>
          </a:graphicData>
        </a:graphic>
      </p:graphicFrame>
      <p:graphicFrame>
        <p:nvGraphicFramePr>
          <p:cNvPr id="11272" name="Object 8"/>
          <p:cNvGraphicFramePr>
            <a:graphicFrameLocks noChangeAspect="1"/>
          </p:cNvGraphicFramePr>
          <p:nvPr/>
        </p:nvGraphicFramePr>
        <p:xfrm>
          <a:off x="4885938" y="3933056"/>
          <a:ext cx="5842837" cy="1052141"/>
        </p:xfrm>
        <a:graphic>
          <a:graphicData uri="http://schemas.openxmlformats.org/presentationml/2006/ole">
            <mc:AlternateContent xmlns:mc="http://schemas.openxmlformats.org/markup-compatibility/2006">
              <mc:Choice xmlns:v="urn:schemas-microsoft-com:vml" Requires="v">
                <p:oleObj spid="_x0000_s22079" name="公式" r:id="rId13" imgW="2184400" imgH="393700" progId="Equation.3">
                  <p:embed/>
                </p:oleObj>
              </mc:Choice>
              <mc:Fallback>
                <p:oleObj name="公式" r:id="rId13" imgW="2184400" imgH="3937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85938" y="3933056"/>
                        <a:ext cx="5842837" cy="1052141"/>
                      </a:xfrm>
                      <a:prstGeom prst="rect">
                        <a:avLst/>
                      </a:prstGeom>
                      <a:noFill/>
                    </p:spPr>
                  </p:pic>
                </p:oleObj>
              </mc:Fallback>
            </mc:AlternateContent>
          </a:graphicData>
        </a:graphic>
      </p:graphicFrame>
      <p:sp>
        <p:nvSpPr>
          <p:cNvPr id="11281" name="AutoShape 22"/>
          <p:cNvSpPr/>
          <p:nvPr/>
        </p:nvSpPr>
        <p:spPr bwMode="auto">
          <a:xfrm>
            <a:off x="4008909" y="1843162"/>
            <a:ext cx="142875" cy="793750"/>
          </a:xfrm>
          <a:prstGeom prst="leftBrace">
            <a:avLst>
              <a:gd name="adj1" fmla="val 84516"/>
              <a:gd name="adj2" fmla="val 50000"/>
            </a:avLst>
          </a:prstGeom>
          <a:noFill/>
          <a:ln w="38100">
            <a:solidFill>
              <a:schemeClr val="accent1"/>
            </a:solidFill>
            <a:round/>
          </a:ln>
        </p:spPr>
        <p:txBody>
          <a:bodyPr wrap="none" anchor="ctr"/>
          <a:lstStyle/>
          <a:p>
            <a:endParaRPr lang="zh-CN" altLang="en-US"/>
          </a:p>
        </p:txBody>
      </p:sp>
      <p:sp>
        <p:nvSpPr>
          <p:cNvPr id="11282" name="AutoShape 23"/>
          <p:cNvSpPr/>
          <p:nvPr/>
        </p:nvSpPr>
        <p:spPr bwMode="auto">
          <a:xfrm>
            <a:off x="2351585" y="2204864"/>
            <a:ext cx="73148" cy="1152128"/>
          </a:xfrm>
          <a:prstGeom prst="leftBrace">
            <a:avLst>
              <a:gd name="adj1" fmla="val 115492"/>
              <a:gd name="adj2" fmla="val 50000"/>
            </a:avLst>
          </a:prstGeom>
          <a:noFill/>
          <a:ln w="38100">
            <a:solidFill>
              <a:srgbClr val="C00000"/>
            </a:solidFill>
            <a:round/>
          </a:ln>
        </p:spPr>
        <p:txBody>
          <a:bodyPr wrap="none" anchor="ctr"/>
          <a:lstStyle/>
          <a:p>
            <a:endParaRPr lang="zh-CN" altLang="en-US"/>
          </a:p>
        </p:txBody>
      </p:sp>
      <p:sp>
        <p:nvSpPr>
          <p:cNvPr id="2" name="灯片编号占位符 1"/>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
        <p:nvSpPr>
          <p:cNvPr id="20" name="灯片编号占位符 1"/>
          <p:cNvSpPr txBox="1"/>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A54D9D6D-0819-48BE-809C-2A51D04D71F0}" type="slidenum">
              <a:rPr lang="zh-CN" altLang="en-US" smtClean="0"/>
            </a:fld>
            <a:endParaRPr lang="zh-CN" altLang="en-US" dirty="0"/>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标题 1"/>
          <p:cNvSpPr>
            <a:spLocks noGrp="1"/>
          </p:cNvSpPr>
          <p:nvPr>
            <p:ph type="title" sz="quarter"/>
          </p:nvPr>
        </p:nvSpPr>
        <p:spPr>
          <a:xfrm>
            <a:off x="476250" y="221933"/>
            <a:ext cx="8229600" cy="1143000"/>
          </a:xfrm>
        </p:spPr>
        <p:txBody>
          <a:bodyPr/>
          <a:lstStyle/>
          <a:p>
            <a:pPr algn="l" eaLnBrk="1" hangingPunct="1">
              <a:defRPr/>
            </a:pPr>
            <a:r>
              <a:rPr lang="en-US" altLang="zh-CN" sz="5400" b="1" dirty="0">
                <a:solidFill>
                  <a:schemeClr val="bg1"/>
                </a:solidFill>
                <a:latin typeface="微软雅黑" panose="020B0503020204020204" pitchFamily="34" charset="-122"/>
                <a:ea typeface="微软雅黑" panose="020B0503020204020204" pitchFamily="34" charset="-122"/>
              </a:rPr>
              <a:t>5.1 </a:t>
            </a:r>
            <a:r>
              <a:rPr lang="zh-CN" altLang="en-US" sz="5400" b="1" dirty="0">
                <a:solidFill>
                  <a:schemeClr val="bg1"/>
                </a:solidFill>
                <a:latin typeface="微软雅黑" panose="020B0503020204020204" pitchFamily="34" charset="-122"/>
                <a:ea typeface="微软雅黑" panose="020B0503020204020204" pitchFamily="34" charset="-122"/>
              </a:rPr>
              <a:t>最小二乘法应用举例</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graphicFrame>
        <p:nvGraphicFramePr>
          <p:cNvPr id="12290" name="Object 2"/>
          <p:cNvGraphicFramePr>
            <a:graphicFrameLocks noGrp="1" noChangeAspect="1"/>
          </p:cNvGraphicFramePr>
          <p:nvPr>
            <p:ph sz="quarter" idx="1"/>
          </p:nvPr>
        </p:nvGraphicFramePr>
        <p:xfrm>
          <a:off x="8020050" y="2863850"/>
          <a:ext cx="114300" cy="215900"/>
        </p:xfrm>
        <a:graphic>
          <a:graphicData uri="http://schemas.openxmlformats.org/presentationml/2006/ole">
            <mc:AlternateContent xmlns:mc="http://schemas.openxmlformats.org/markup-compatibility/2006">
              <mc:Choice xmlns:v="urn:schemas-microsoft-com:vml" Requires="v">
                <p:oleObj spid="_x0000_s23104" name="公式" r:id="rId1" imgW="114300" imgH="215900" progId="Equation.3">
                  <p:embed/>
                </p:oleObj>
              </mc:Choice>
              <mc:Fallback>
                <p:oleObj name="公式" r:id="rId1" imgW="1143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0050" y="28638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76" name="Group 60"/>
          <p:cNvGraphicFramePr>
            <a:graphicFrameLocks noGrp="1"/>
          </p:cNvGraphicFramePr>
          <p:nvPr>
            <p:ph sz="quarter" idx="2"/>
          </p:nvPr>
        </p:nvGraphicFramePr>
        <p:xfrm>
          <a:off x="2166939" y="2924944"/>
          <a:ext cx="7958167" cy="1071570"/>
        </p:xfrm>
        <a:graphic>
          <a:graphicData uri="http://schemas.openxmlformats.org/drawingml/2006/table">
            <a:tbl>
              <a:tblPr/>
              <a:tblGrid>
                <a:gridCol w="994144"/>
                <a:gridCol w="995815"/>
                <a:gridCol w="994145"/>
                <a:gridCol w="995815"/>
                <a:gridCol w="994144"/>
                <a:gridCol w="994145"/>
                <a:gridCol w="995815"/>
                <a:gridCol w="994144"/>
              </a:tblGrid>
              <a:tr h="53578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 </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19.10</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25.10</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30.10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36.00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40.00</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45.10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50.10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8000"/>
                    </a:solidFill>
                  </a:tcPr>
                </a:tc>
              </a:tr>
              <a:tr h="53578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a:t>
                      </a:r>
                      <a:r>
                        <a:rPr kumimoji="1"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 </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76.30</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77.80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79.75</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80.80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82.35</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83.90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85.10</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8000"/>
                    </a:solidFill>
                  </a:tcPr>
                </a:tc>
              </a:tr>
            </a:tbl>
          </a:graphicData>
        </a:graphic>
      </p:graphicFrame>
      <p:sp>
        <p:nvSpPr>
          <p:cNvPr id="12297" name="Rectangle 6"/>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298" name="Rectangle 10"/>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299" name="Rectangle 11"/>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300" name="Rectangle 13"/>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301" name="Rectangle 15"/>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302" name="Rectangle 16"/>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303" name="Rectangle 18"/>
          <p:cNvSpPr>
            <a:spLocks noChangeArrowheads="1"/>
          </p:cNvSpPr>
          <p:nvPr/>
        </p:nvSpPr>
        <p:spPr bwMode="auto">
          <a:xfrm>
            <a:off x="1524000" y="2920484"/>
            <a:ext cx="184731" cy="369332"/>
          </a:xfrm>
          <a:prstGeom prst="rect">
            <a:avLst/>
          </a:prstGeom>
          <a:noFill/>
          <a:ln w="9525">
            <a:noFill/>
            <a:miter lim="800000"/>
          </a:ln>
        </p:spPr>
        <p:txBody>
          <a:bodyPr wrap="none" anchor="ctr">
            <a:spAutoFit/>
          </a:bodyPr>
          <a:lstStyle/>
          <a:p>
            <a:endParaRPr lang="zh-CN" altLang="en-US"/>
          </a:p>
        </p:txBody>
      </p:sp>
      <p:sp>
        <p:nvSpPr>
          <p:cNvPr id="12304" name="Rectangle 20"/>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305" name="Rectangle 23"/>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306" name="Rectangle 26"/>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307" name="Rectangle 28"/>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74111" name="Text Box 31"/>
          <p:cNvSpPr txBox="1">
            <a:spLocks noChangeArrowheads="1"/>
          </p:cNvSpPr>
          <p:nvPr/>
        </p:nvSpPr>
        <p:spPr bwMode="auto">
          <a:xfrm>
            <a:off x="476250" y="1324697"/>
            <a:ext cx="11452398" cy="2323713"/>
          </a:xfrm>
          <a:prstGeom prst="rect">
            <a:avLst/>
          </a:prstGeom>
          <a:noFill/>
          <a:ln w="9525">
            <a:noFill/>
            <a:miter lim="800000"/>
          </a:ln>
          <a:effectLst/>
        </p:spPr>
        <p:txBody>
          <a:bodyPr wrap="square">
            <a:spAutoFit/>
          </a:bodyPr>
          <a:lstStyle/>
          <a:p>
            <a:pPr>
              <a:lnSpc>
                <a:spcPct val="125000"/>
              </a:lnSpc>
              <a:defRPr/>
            </a:pPr>
            <a:r>
              <a:rPr lang="zh-CN" altLang="en-US" sz="2400" b="1" dirty="0">
                <a:solidFill>
                  <a:schemeClr val="bg1"/>
                </a:solidFill>
                <a:latin typeface="微软雅黑" panose="020B0503020204020204" pitchFamily="34" charset="-122"/>
                <a:ea typeface="微软雅黑" panose="020B0503020204020204" pitchFamily="34" charset="-122"/>
              </a:rPr>
              <a:t>巳知某铜棒的电阻与温度关系为：                    。实验测得</a:t>
            </a: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2400" b="1" dirty="0">
                <a:solidFill>
                  <a:schemeClr val="bg1"/>
                </a:solidFill>
                <a:latin typeface="微软雅黑" panose="020B0503020204020204" pitchFamily="34" charset="-122"/>
                <a:ea typeface="微软雅黑" panose="020B0503020204020204" pitchFamily="34" charset="-122"/>
              </a:rPr>
              <a:t>组数据（见表</a:t>
            </a:r>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）如下：试用最小二乘法求出参量</a:t>
            </a:r>
            <a:r>
              <a:rPr lang="en-US" altLang="zh-CN" sz="2400" b="1"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a:t>
            </a:r>
            <a:r>
              <a:rPr lang="en-US" altLang="zh-CN" sz="2400" b="1" baseline="-25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2400" b="1" dirty="0">
                <a:solidFill>
                  <a:schemeClr val="bg1"/>
                </a:solidFill>
                <a:latin typeface="微软雅黑" panose="020B0503020204020204" pitchFamily="34" charset="-122"/>
                <a:ea typeface="微软雅黑" panose="020B0503020204020204" pitchFamily="34" charset="-122"/>
              </a:rPr>
              <a:t>以及</a:t>
            </a:r>
            <a:r>
              <a:rPr lang="en-US" altLang="zh-CN" sz="2400" b="1"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k</a:t>
            </a:r>
            <a:r>
              <a:rPr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solidFill>
                  <a:schemeClr val="bg1"/>
                </a:solidFill>
                <a:latin typeface="微软雅黑" panose="020B0503020204020204" pitchFamily="34" charset="-122"/>
                <a:ea typeface="微软雅黑" panose="020B0503020204020204" pitchFamily="34" charset="-122"/>
              </a:rPr>
              <a:t>。</a:t>
            </a:r>
            <a:endParaRPr lang="en-US" altLang="zh-CN" sz="2400" b="1" dirty="0">
              <a:solidFill>
                <a:schemeClr val="bg1"/>
              </a:solidFill>
              <a:latin typeface="微软雅黑" panose="020B0503020204020204" pitchFamily="34" charset="-122"/>
              <a:ea typeface="微软雅黑" panose="020B0503020204020204" pitchFamily="34" charset="-122"/>
            </a:endParaRPr>
          </a:p>
          <a:p>
            <a:pPr algn="ctr">
              <a:lnSpc>
                <a:spcPct val="125000"/>
              </a:lnSpc>
              <a:spcBef>
                <a:spcPts val="1200"/>
              </a:spcBef>
              <a:defRPr/>
            </a:pPr>
            <a:r>
              <a:rPr lang="zh-CN" altLang="en-US" sz="2400" dirty="0">
                <a:solidFill>
                  <a:srgbClr val="0070C0"/>
                </a:solidFill>
                <a:latin typeface="微软雅黑" panose="020B0503020204020204" pitchFamily="34" charset="-122"/>
                <a:ea typeface="微软雅黑" panose="020B0503020204020204" pitchFamily="34" charset="-122"/>
              </a:rPr>
              <a:t>表 </a:t>
            </a:r>
            <a:r>
              <a:rPr lang="en-US" altLang="zh-CN" sz="2400" dirty="0">
                <a:solidFill>
                  <a:srgbClr val="0070C0"/>
                </a:solidFill>
                <a:latin typeface="微软雅黑" panose="020B0503020204020204" pitchFamily="34" charset="-122"/>
                <a:ea typeface="微软雅黑" panose="020B0503020204020204" pitchFamily="34" charset="-122"/>
              </a:rPr>
              <a:t>1</a:t>
            </a:r>
            <a:r>
              <a:rPr lang="zh-CN" altLang="en-US" sz="2400" dirty="0">
                <a:solidFill>
                  <a:srgbClr val="0070C0"/>
                </a:solidFill>
                <a:latin typeface="微软雅黑" panose="020B0503020204020204" pitchFamily="34" charset="-122"/>
                <a:ea typeface="微软雅黑" panose="020B0503020204020204" pitchFamily="34" charset="-122"/>
              </a:rPr>
              <a:t>：在不温度下，铜棒的电阻值</a:t>
            </a:r>
            <a:endParaRPr lang="en-US" altLang="zh-CN" sz="2400" dirty="0">
              <a:solidFill>
                <a:srgbClr val="0070C0"/>
              </a:solidFill>
              <a:latin typeface="微软雅黑" panose="020B0503020204020204" pitchFamily="34" charset="-122"/>
              <a:ea typeface="微软雅黑" panose="020B0503020204020204" pitchFamily="34" charset="-122"/>
            </a:endParaRPr>
          </a:p>
          <a:p>
            <a:pPr algn="ctr">
              <a:lnSpc>
                <a:spcPct val="125000"/>
              </a:lnSpc>
              <a:defRPr/>
            </a:pPr>
            <a:endParaRPr lang="en-US" altLang="zh-CN" sz="2000" i="1" dirty="0">
              <a:solidFill>
                <a:schemeClr val="bg1"/>
              </a:solidFill>
              <a:latin typeface="微软雅黑" panose="020B0503020204020204" pitchFamily="34" charset="-122"/>
              <a:ea typeface="微软雅黑" panose="020B0503020204020204" pitchFamily="34" charset="-122"/>
            </a:endParaRPr>
          </a:p>
          <a:p>
            <a:pPr>
              <a:defRPr/>
            </a:pP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12309" name="Rectangle 33"/>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2339" name="Text Box 77"/>
          <p:cNvSpPr txBox="1">
            <a:spLocks noChangeArrowheads="1"/>
          </p:cNvSpPr>
          <p:nvPr/>
        </p:nvSpPr>
        <p:spPr bwMode="auto">
          <a:xfrm>
            <a:off x="2043113" y="2563813"/>
            <a:ext cx="184731" cy="369332"/>
          </a:xfrm>
          <a:prstGeom prst="rect">
            <a:avLst/>
          </a:prstGeom>
          <a:noFill/>
          <a:ln w="9525">
            <a:noFill/>
            <a:miter lim="800000"/>
          </a:ln>
        </p:spPr>
        <p:txBody>
          <a:bodyPr wrap="none">
            <a:spAutoFit/>
          </a:bodyPr>
          <a:lstStyle/>
          <a:p>
            <a:endParaRPr lang="zh-CN" altLang="zh-CN"/>
          </a:p>
        </p:txBody>
      </p:sp>
      <p:sp>
        <p:nvSpPr>
          <p:cNvPr id="12340" name="Text Box 78"/>
          <p:cNvSpPr txBox="1">
            <a:spLocks noChangeArrowheads="1"/>
          </p:cNvSpPr>
          <p:nvPr/>
        </p:nvSpPr>
        <p:spPr bwMode="auto">
          <a:xfrm>
            <a:off x="623392" y="4076700"/>
            <a:ext cx="11089231" cy="2308324"/>
          </a:xfrm>
          <a:prstGeom prst="rect">
            <a:avLst/>
          </a:prstGeom>
          <a:noFill/>
          <a:ln w="9525">
            <a:noFill/>
            <a:miter lim="800000"/>
          </a:ln>
        </p:spPr>
        <p:txBody>
          <a:bodyPr wrap="square">
            <a:spAutoFit/>
          </a:bodyPr>
          <a:lstStyle/>
          <a:p>
            <a:pPr algn="just">
              <a:lnSpc>
                <a:spcPct val="150000"/>
              </a:lnSpc>
            </a:pPr>
            <a:r>
              <a:rPr lang="zh-CN" altLang="en-US" sz="2400" i="1" u="sng" dirty="0">
                <a:solidFill>
                  <a:srgbClr val="0070C0"/>
                </a:solidFill>
                <a:latin typeface="微软雅黑" panose="020B0503020204020204" pitchFamily="34" charset="-122"/>
                <a:ea typeface="微软雅黑" panose="020B0503020204020204" pitchFamily="34" charset="-122"/>
              </a:rPr>
              <a:t>分析：</a:t>
            </a:r>
            <a:r>
              <a:rPr lang="zh-CN" altLang="en-US" sz="2400" dirty="0">
                <a:solidFill>
                  <a:schemeClr val="bg1"/>
                </a:solidFill>
                <a:latin typeface="微软雅黑" panose="020B0503020204020204" pitchFamily="34" charset="-122"/>
                <a:ea typeface="微软雅黑" panose="020B0503020204020204" pitchFamily="34" charset="-122"/>
              </a:rPr>
              <a:t>此例中只有两个待定的参量</a:t>
            </a:r>
            <a:r>
              <a:rPr lang="en-US" altLang="zh-CN" sz="2400"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a:t>
            </a:r>
            <a:r>
              <a:rPr lang="en-US" altLang="zh-CN" sz="2400" baseline="-25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2400" dirty="0">
                <a:solidFill>
                  <a:schemeClr val="bg1"/>
                </a:solidFill>
                <a:latin typeface="微软雅黑" panose="020B0503020204020204" pitchFamily="34" charset="-122"/>
                <a:ea typeface="微软雅黑" panose="020B0503020204020204" pitchFamily="34" charset="-122"/>
              </a:rPr>
              <a:t>和</a:t>
            </a:r>
            <a:r>
              <a:rPr lang="en-US" altLang="zh-CN" sz="2400"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k</a:t>
            </a:r>
            <a:r>
              <a:rPr lang="zh-CN" altLang="en-US" sz="2400" dirty="0">
                <a:solidFill>
                  <a:schemeClr val="bg1"/>
                </a:solidFill>
                <a:latin typeface="微软雅黑" panose="020B0503020204020204" pitchFamily="34" charset="-122"/>
                <a:ea typeface="微软雅黑" panose="020B0503020204020204" pitchFamily="34" charset="-122"/>
              </a:rPr>
              <a:t>，为得到它们的最佳系数，所需要的数据有</a:t>
            </a:r>
            <a:r>
              <a:rPr lang="en-US" altLang="zh-CN" sz="2400" i="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en-US" sz="2400" dirty="0">
                <a:solidFill>
                  <a:schemeClr val="bg1"/>
                </a:solidFill>
                <a:latin typeface="微软雅黑" panose="020B0503020204020204" pitchFamily="34" charset="-122"/>
                <a:ea typeface="微软雅黑" panose="020B0503020204020204" pitchFamily="34" charset="-122"/>
              </a:rPr>
              <a:t>、 </a:t>
            </a:r>
            <a:r>
              <a:rPr lang="en-US" altLang="zh-CN" sz="240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 </a:t>
            </a:r>
            <a:r>
              <a:rPr lang="en-US" altLang="zh-CN" sz="240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a:t>
            </a:r>
            <a:r>
              <a:rPr lang="en-US" altLang="zh-CN" sz="240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      和</a:t>
            </a:r>
            <a:r>
              <a:rPr lang="zh-CN" altLang="en-US" sz="2400" dirty="0">
                <a:solidFill>
                  <a:srgbClr val="C00000"/>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六个累加数，为此在没有常用的科学型计算器时，通过列表计算的方式来进行，这对提高计算速度将会有极大的帮助</a:t>
            </a:r>
            <a:r>
              <a:rPr lang="en-US" altLang="zh-CN" sz="2400" dirty="0">
                <a:solidFill>
                  <a:schemeClr val="bg1"/>
                </a:solidFill>
                <a:latin typeface="微软雅黑" panose="020B0503020204020204" pitchFamily="34" charset="-122"/>
                <a:ea typeface="微软雅黑" panose="020B0503020204020204" pitchFamily="34" charset="-122"/>
              </a:rPr>
              <a:t>(</a:t>
            </a:r>
            <a:r>
              <a:rPr lang="zh-CN" altLang="en-US" sz="2400" dirty="0">
                <a:solidFill>
                  <a:schemeClr val="bg1"/>
                </a:solidFill>
                <a:latin typeface="微软雅黑" panose="020B0503020204020204" pitchFamily="34" charset="-122"/>
                <a:ea typeface="微软雅黑" panose="020B0503020204020204" pitchFamily="34" charset="-122"/>
              </a:rPr>
              <a:t>参见表</a:t>
            </a:r>
            <a:r>
              <a:rPr lang="en-US" altLang="zh-CN" sz="2400" dirty="0">
                <a:solidFill>
                  <a:schemeClr val="bg1"/>
                </a:solidFill>
                <a:latin typeface="微软雅黑" panose="020B0503020204020204" pitchFamily="34" charset="-122"/>
                <a:ea typeface="微软雅黑" panose="020B0503020204020204" pitchFamily="34" charset="-122"/>
              </a:rPr>
              <a:t>2)</a:t>
            </a:r>
            <a:r>
              <a:rPr lang="zh-CN" altLang="en-US" sz="2400" dirty="0">
                <a:solidFill>
                  <a:schemeClr val="bg1"/>
                </a:solidFill>
                <a:latin typeface="微软雅黑" panose="020B0503020204020204" pitchFamily="34" charset="-122"/>
                <a:ea typeface="微软雅黑" panose="020B0503020204020204" pitchFamily="34" charset="-122"/>
              </a:rPr>
              <a:t>，并使工作有条理与不易出错。</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2341" name="Rectangle 80"/>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graphicFrame>
        <p:nvGraphicFramePr>
          <p:cNvPr id="12291" name="Object 4"/>
          <p:cNvGraphicFramePr>
            <a:graphicFrameLocks noChangeAspect="1"/>
          </p:cNvGraphicFramePr>
          <p:nvPr/>
        </p:nvGraphicFramePr>
        <p:xfrm>
          <a:off x="1375272" y="4778636"/>
          <a:ext cx="616272" cy="450564"/>
        </p:xfrm>
        <a:graphic>
          <a:graphicData uri="http://schemas.openxmlformats.org/presentationml/2006/ole">
            <mc:AlternateContent xmlns:mc="http://schemas.openxmlformats.org/markup-compatibility/2006">
              <mc:Choice xmlns:v="urn:schemas-microsoft-com:vml" Requires="v">
                <p:oleObj spid="_x0000_s23105" name="Equation" r:id="rId3" imgW="6502400" imgH="4644390" progId="Equation.DSMT4">
                  <p:embed/>
                </p:oleObj>
              </mc:Choice>
              <mc:Fallback>
                <p:oleObj name="Equation" r:id="rId3" imgW="6502400" imgH="464439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5272" y="4778636"/>
                        <a:ext cx="616272" cy="450564"/>
                      </a:xfrm>
                      <a:prstGeom prst="rect">
                        <a:avLst/>
                      </a:prstGeom>
                      <a:noFill/>
                    </p:spPr>
                  </p:pic>
                </p:oleObj>
              </mc:Fallback>
            </mc:AlternateContent>
          </a:graphicData>
        </a:graphic>
      </p:graphicFrame>
      <p:sp>
        <p:nvSpPr>
          <p:cNvPr id="12342" name="Rectangle 82"/>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graphicFrame>
        <p:nvGraphicFramePr>
          <p:cNvPr id="12292" name="Object 5"/>
          <p:cNvGraphicFramePr>
            <a:graphicFrameLocks noChangeAspect="1"/>
          </p:cNvGraphicFramePr>
          <p:nvPr/>
        </p:nvGraphicFramePr>
        <p:xfrm>
          <a:off x="2231671" y="4775062"/>
          <a:ext cx="623969" cy="431979"/>
        </p:xfrm>
        <a:graphic>
          <a:graphicData uri="http://schemas.openxmlformats.org/presentationml/2006/ole">
            <mc:AlternateContent xmlns:mc="http://schemas.openxmlformats.org/markup-compatibility/2006">
              <mc:Choice xmlns:v="urn:schemas-microsoft-com:vml" Requires="v">
                <p:oleObj spid="_x0000_s23106" name="Equation" r:id="rId5" imgW="6734810" imgH="4644390" progId="Equation.DSMT4">
                  <p:embed/>
                </p:oleObj>
              </mc:Choice>
              <mc:Fallback>
                <p:oleObj name="Equation" r:id="rId5" imgW="6734810" imgH="464439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1671" y="4775062"/>
                        <a:ext cx="623969" cy="431979"/>
                      </a:xfrm>
                      <a:prstGeom prst="rect">
                        <a:avLst/>
                      </a:prstGeom>
                      <a:noFill/>
                    </p:spPr>
                  </p:pic>
                </p:oleObj>
              </mc:Fallback>
            </mc:AlternateContent>
          </a:graphicData>
        </a:graphic>
      </p:graphicFrame>
      <p:sp>
        <p:nvSpPr>
          <p:cNvPr id="12343" name="Rectangle 84"/>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graphicFrame>
        <p:nvGraphicFramePr>
          <p:cNvPr id="12293" name="Object 6"/>
          <p:cNvGraphicFramePr>
            <a:graphicFrameLocks noChangeAspect="1"/>
          </p:cNvGraphicFramePr>
          <p:nvPr/>
        </p:nvGraphicFramePr>
        <p:xfrm>
          <a:off x="3092831" y="4759878"/>
          <a:ext cx="641797" cy="431979"/>
        </p:xfrm>
        <a:graphic>
          <a:graphicData uri="http://schemas.openxmlformats.org/presentationml/2006/ole">
            <mc:AlternateContent xmlns:mc="http://schemas.openxmlformats.org/markup-compatibility/2006">
              <mc:Choice xmlns:v="urn:schemas-microsoft-com:vml" Requires="v">
                <p:oleObj spid="_x0000_s23107" name="Equation" r:id="rId7" imgW="6966585" imgH="4644390" progId="Equation.DSMT4">
                  <p:embed/>
                </p:oleObj>
              </mc:Choice>
              <mc:Fallback>
                <p:oleObj name="Equation" r:id="rId7" imgW="6966585" imgH="464439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2831" y="4759878"/>
                        <a:ext cx="641797" cy="431979"/>
                      </a:xfrm>
                      <a:prstGeom prst="rect">
                        <a:avLst/>
                      </a:prstGeom>
                      <a:noFill/>
                    </p:spPr>
                  </p:pic>
                </p:oleObj>
              </mc:Fallback>
            </mc:AlternateContent>
          </a:graphicData>
        </a:graphic>
      </p:graphicFrame>
      <p:sp>
        <p:nvSpPr>
          <p:cNvPr id="12344" name="Rectangle 86"/>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graphicFrame>
        <p:nvGraphicFramePr>
          <p:cNvPr id="12294" name="Object 7"/>
          <p:cNvGraphicFramePr>
            <a:graphicFrameLocks noChangeAspect="1"/>
          </p:cNvGraphicFramePr>
          <p:nvPr/>
        </p:nvGraphicFramePr>
        <p:xfrm>
          <a:off x="4010049" y="4765769"/>
          <a:ext cx="684139" cy="450564"/>
        </p:xfrm>
        <a:graphic>
          <a:graphicData uri="http://schemas.openxmlformats.org/presentationml/2006/ole">
            <mc:AlternateContent xmlns:mc="http://schemas.openxmlformats.org/markup-compatibility/2006">
              <mc:Choice xmlns:v="urn:schemas-microsoft-com:vml" Requires="v">
                <p:oleObj spid="_x0000_s23108" name="Equation" r:id="rId9" imgW="7198995" imgH="4644390" progId="Equation.DSMT4">
                  <p:embed/>
                </p:oleObj>
              </mc:Choice>
              <mc:Fallback>
                <p:oleObj name="Equation" r:id="rId9" imgW="7198995" imgH="464439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0049" y="4765769"/>
                        <a:ext cx="684139" cy="450564"/>
                      </a:xfrm>
                      <a:prstGeom prst="rect">
                        <a:avLst/>
                      </a:prstGeom>
                      <a:noFill/>
                    </p:spPr>
                  </p:pic>
                </p:oleObj>
              </mc:Fallback>
            </mc:AlternateContent>
          </a:graphicData>
        </a:graphic>
      </p:graphicFrame>
      <p:sp>
        <p:nvSpPr>
          <p:cNvPr id="12345" name="Rectangle 88"/>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graphicFrame>
        <p:nvGraphicFramePr>
          <p:cNvPr id="12295" name="Object 8"/>
          <p:cNvGraphicFramePr>
            <a:graphicFrameLocks noChangeAspect="1"/>
          </p:cNvGraphicFramePr>
          <p:nvPr/>
        </p:nvGraphicFramePr>
        <p:xfrm>
          <a:off x="5157542" y="4768597"/>
          <a:ext cx="852495" cy="450564"/>
        </p:xfrm>
        <a:graphic>
          <a:graphicData uri="http://schemas.openxmlformats.org/presentationml/2006/ole">
            <mc:AlternateContent xmlns:mc="http://schemas.openxmlformats.org/markup-compatibility/2006">
              <mc:Choice xmlns:v="urn:schemas-microsoft-com:vml" Requires="v">
                <p:oleObj spid="_x0000_s23109" name="Equation" r:id="rId11" imgW="8824595" imgH="4644390" progId="Equation.DSMT4">
                  <p:embed/>
                </p:oleObj>
              </mc:Choice>
              <mc:Fallback>
                <p:oleObj name="Equation" r:id="rId11" imgW="8824595" imgH="464439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57542" y="4768597"/>
                        <a:ext cx="852495" cy="450564"/>
                      </a:xfrm>
                      <a:prstGeom prst="rect">
                        <a:avLst/>
                      </a:prstGeom>
                      <a:noFill/>
                    </p:spPr>
                  </p:pic>
                </p:oleObj>
              </mc:Fallback>
            </mc:AlternateContent>
          </a:graphicData>
        </a:graphic>
      </p:graphicFrame>
      <p:graphicFrame>
        <p:nvGraphicFramePr>
          <p:cNvPr id="12296" name="Object 59"/>
          <p:cNvGraphicFramePr>
            <a:graphicFrameLocks noChangeAspect="1"/>
          </p:cNvGraphicFramePr>
          <p:nvPr/>
        </p:nvGraphicFramePr>
        <p:xfrm>
          <a:off x="5015879" y="1365251"/>
          <a:ext cx="1800201" cy="506307"/>
        </p:xfrm>
        <a:graphic>
          <a:graphicData uri="http://schemas.openxmlformats.org/presentationml/2006/ole">
            <mc:AlternateContent xmlns:mc="http://schemas.openxmlformats.org/markup-compatibility/2006">
              <mc:Choice xmlns:v="urn:schemas-microsoft-com:vml" Requires="v">
                <p:oleObj spid="_x0000_s23110" name="Equation" r:id="rId13" imgW="812165" imgH="228600" progId="Equation.DSMT4">
                  <p:embed/>
                </p:oleObj>
              </mc:Choice>
              <mc:Fallback>
                <p:oleObj name="Equation" r:id="rId13" imgW="812165" imgH="228600" progId="Equation.DSMT4">
                  <p:embed/>
                  <p:pic>
                    <p:nvPicPr>
                      <p:cNvPr id="0" name="Object 5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15879" y="1365251"/>
                        <a:ext cx="1800201" cy="506307"/>
                      </a:xfrm>
                      <a:prstGeom prst="rect">
                        <a:avLst/>
                      </a:prstGeom>
                      <a:noFill/>
                      <a:ln w="9525">
                        <a:solidFill>
                          <a:schemeClr val="bg1"/>
                        </a:solidFill>
                        <a:miter lim="800000"/>
                        <a:headEnd/>
                        <a:tailEnd/>
                      </a:ln>
                    </p:spPr>
                  </p:pic>
                </p:oleObj>
              </mc:Fallback>
            </mc:AlternateContent>
          </a:graphicData>
        </a:graphic>
      </p:graphicFrame>
      <p:sp>
        <p:nvSpPr>
          <p:cNvPr id="2" name="灯片编号占位符 1"/>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
        <p:nvSpPr>
          <p:cNvPr id="32" name="灯片编号占位符 1"/>
          <p:cNvSpPr txBox="1"/>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A54D9D6D-0819-48BE-809C-2A51D04D71F0}" type="slidenum">
              <a:rPr lang="zh-CN" altLang="en-US" smtClean="0"/>
            </a:fld>
            <a:endParaRPr lang="zh-CN" altLang="en-US" dirty="0"/>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
          <p:cNvGraphicFramePr>
            <a:graphicFrameLocks noGrp="1" noChangeAspect="1"/>
          </p:cNvGraphicFramePr>
          <p:nvPr>
            <p:ph sz="half" idx="1"/>
          </p:nvPr>
        </p:nvGraphicFramePr>
        <p:xfrm>
          <a:off x="8020050" y="3930650"/>
          <a:ext cx="114300" cy="215900"/>
        </p:xfrm>
        <a:graphic>
          <a:graphicData uri="http://schemas.openxmlformats.org/presentationml/2006/ole">
            <mc:AlternateContent xmlns:mc="http://schemas.openxmlformats.org/markup-compatibility/2006">
              <mc:Choice xmlns:v="urn:schemas-microsoft-com:vml" Requires="v">
                <p:oleObj spid="_x0000_s23635" name="公式" r:id="rId1" imgW="114300" imgH="215900" progId="Equation.3">
                  <p:embed/>
                </p:oleObj>
              </mc:Choice>
              <mc:Fallback>
                <p:oleObj name="公式" r:id="rId1" imgW="1143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0050" y="39306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5" name="Rectangle 7"/>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16" name="Rectangle 11"/>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17" name="Rectangle 12"/>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18" name="Rectangle 13"/>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19" name="Rectangle 14"/>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20" name="Rectangle 15"/>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21" name="Rectangle 16"/>
          <p:cNvSpPr>
            <a:spLocks noChangeArrowheads="1"/>
          </p:cNvSpPr>
          <p:nvPr/>
        </p:nvSpPr>
        <p:spPr bwMode="auto">
          <a:xfrm>
            <a:off x="1524000" y="2920484"/>
            <a:ext cx="184731" cy="369332"/>
          </a:xfrm>
          <a:prstGeom prst="rect">
            <a:avLst/>
          </a:prstGeom>
          <a:noFill/>
          <a:ln w="9525">
            <a:noFill/>
            <a:miter lim="800000"/>
          </a:ln>
        </p:spPr>
        <p:txBody>
          <a:bodyPr wrap="none" anchor="ctr">
            <a:spAutoFit/>
          </a:bodyPr>
          <a:lstStyle/>
          <a:p>
            <a:endParaRPr lang="zh-CN" altLang="en-US"/>
          </a:p>
        </p:txBody>
      </p:sp>
      <p:sp>
        <p:nvSpPr>
          <p:cNvPr id="13322" name="Rectangle 17"/>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23" name="Rectangle 18"/>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24" name="Rectangle 19"/>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25" name="Rectangle 20"/>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26" name="Rectangle 22"/>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27" name="Text Box 53"/>
          <p:cNvSpPr txBox="1">
            <a:spLocks noChangeArrowheads="1"/>
          </p:cNvSpPr>
          <p:nvPr/>
        </p:nvSpPr>
        <p:spPr bwMode="auto">
          <a:xfrm>
            <a:off x="2043113" y="2563813"/>
            <a:ext cx="184731" cy="369332"/>
          </a:xfrm>
          <a:prstGeom prst="rect">
            <a:avLst/>
          </a:prstGeom>
          <a:noFill/>
          <a:ln w="9525">
            <a:noFill/>
            <a:miter lim="800000"/>
          </a:ln>
        </p:spPr>
        <p:txBody>
          <a:bodyPr wrap="none">
            <a:spAutoFit/>
          </a:bodyPr>
          <a:lstStyle/>
          <a:p>
            <a:endParaRPr lang="zh-CN" altLang="zh-CN"/>
          </a:p>
        </p:txBody>
      </p:sp>
      <p:sp>
        <p:nvSpPr>
          <p:cNvPr id="13328" name="Rectangle 55"/>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29" name="Rectangle 57"/>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30" name="Rectangle 59"/>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31" name="Rectangle 61"/>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3332" name="Rectangle 63"/>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75296" name="Text Box 192"/>
          <p:cNvSpPr txBox="1">
            <a:spLocks noChangeArrowheads="1"/>
          </p:cNvSpPr>
          <p:nvPr/>
        </p:nvSpPr>
        <p:spPr bwMode="auto">
          <a:xfrm>
            <a:off x="4095750" y="1143001"/>
            <a:ext cx="4059238" cy="461963"/>
          </a:xfrm>
          <a:prstGeom prst="rect">
            <a:avLst/>
          </a:prstGeom>
          <a:noFill/>
          <a:ln w="9525">
            <a:noFill/>
            <a:miter lim="800000"/>
          </a:ln>
          <a:effectLst/>
        </p:spPr>
        <p:txBody>
          <a:bodyPr wrap="none">
            <a:spAutoFit/>
          </a:bodyPr>
          <a:lstStyle/>
          <a:p>
            <a:pPr>
              <a:defRPr/>
            </a:pPr>
            <a:r>
              <a:rPr lang="zh-CN" altLang="en-US" sz="2400" dirty="0">
                <a:solidFill>
                  <a:srgbClr val="0070C0"/>
                </a:solidFill>
                <a:latin typeface="微软雅黑" panose="020B0503020204020204" pitchFamily="34" charset="-122"/>
                <a:ea typeface="微软雅黑" panose="020B0503020204020204" pitchFamily="34" charset="-122"/>
              </a:rPr>
              <a:t>表</a:t>
            </a:r>
            <a:r>
              <a:rPr lang="en-US"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400" dirty="0">
                <a:solidFill>
                  <a:srgbClr val="0070C0"/>
                </a:solidFill>
                <a:latin typeface="微软雅黑" panose="020B0503020204020204" pitchFamily="34" charset="-122"/>
                <a:ea typeface="微软雅黑" panose="020B0503020204020204" pitchFamily="34" charset="-122"/>
              </a:rPr>
              <a:t>：用最小二乘法拟合数据</a:t>
            </a:r>
            <a:endParaRPr lang="zh-CN" altLang="en-US" sz="2400" dirty="0">
              <a:solidFill>
                <a:srgbClr val="0070C0"/>
              </a:solidFill>
              <a:latin typeface="微软雅黑" panose="020B0503020204020204" pitchFamily="34" charset="-122"/>
              <a:ea typeface="微软雅黑" panose="020B0503020204020204" pitchFamily="34" charset="-122"/>
            </a:endParaRPr>
          </a:p>
        </p:txBody>
      </p:sp>
      <p:sp>
        <p:nvSpPr>
          <p:cNvPr id="25" name="标题 1"/>
          <p:cNvSpPr txBox="1"/>
          <p:nvPr/>
        </p:nvSpPr>
        <p:spPr bwMode="auto">
          <a:xfrm>
            <a:off x="-1248816" y="-60324"/>
            <a:ext cx="8229600" cy="1143000"/>
          </a:xfrm>
          <a:prstGeom prst="rect">
            <a:avLst/>
          </a:prstGeom>
          <a:noFill/>
          <a:ln w="9525">
            <a:noFill/>
            <a:miter lim="800000"/>
          </a:ln>
        </p:spPr>
        <p:txBody>
          <a:bodyPr anchor="ctr"/>
          <a:lstStyle/>
          <a:p>
            <a:pPr algn="ctr">
              <a:defRPr/>
            </a:pPr>
            <a:r>
              <a:rPr lang="zh-CN" altLang="en-US" sz="4400" b="1" dirty="0">
                <a:solidFill>
                  <a:schemeClr val="bg1"/>
                </a:solidFill>
                <a:latin typeface="微软雅黑" panose="020B0503020204020204" pitchFamily="34" charset="-122"/>
                <a:ea typeface="微软雅黑" panose="020B0503020204020204" pitchFamily="34" charset="-122"/>
                <a:cs typeface="+mj-cs"/>
              </a:rPr>
              <a:t>最小二乘法应用举例</a:t>
            </a:r>
            <a:endParaRPr lang="zh-CN" altLang="en-US" sz="4400" b="1" dirty="0">
              <a:solidFill>
                <a:schemeClr val="bg1"/>
              </a:solidFill>
              <a:latin typeface="微软雅黑" panose="020B0503020204020204" pitchFamily="34" charset="-122"/>
              <a:ea typeface="微软雅黑" panose="020B0503020204020204" pitchFamily="34" charset="-122"/>
              <a:cs typeface="+mj-cs"/>
            </a:endParaRPr>
          </a:p>
        </p:txBody>
      </p:sp>
      <p:graphicFrame>
        <p:nvGraphicFramePr>
          <p:cNvPr id="28" name="表格 27"/>
          <p:cNvGraphicFramePr>
            <a:graphicFrameLocks noGrp="1"/>
          </p:cNvGraphicFramePr>
          <p:nvPr/>
        </p:nvGraphicFramePr>
        <p:xfrm>
          <a:off x="2524126" y="1919289"/>
          <a:ext cx="7500989" cy="4471901"/>
        </p:xfrm>
        <a:graphic>
          <a:graphicData uri="http://schemas.openxmlformats.org/drawingml/2006/table">
            <a:tbl>
              <a:tblPr/>
              <a:tblGrid>
                <a:gridCol w="1076301"/>
                <a:gridCol w="1125976"/>
                <a:gridCol w="1175652"/>
                <a:gridCol w="1275002"/>
                <a:gridCol w="1424029"/>
                <a:gridCol w="1424029"/>
              </a:tblGrid>
              <a:tr h="426433">
                <a:tc rowSpan="2">
                  <a:txBody>
                    <a:bodyPr/>
                    <a:lstStyle/>
                    <a:p>
                      <a:pPr algn="ctr" fontAlgn="ctr"/>
                      <a:r>
                        <a:rPr lang="en-US" sz="2400" b="0" i="1" u="none" strike="noStrike" dirty="0" err="1">
                          <a:solidFill>
                            <a:srgbClr val="000000"/>
                          </a:solidFill>
                          <a:latin typeface="Times New Roman" panose="02020603050405020304"/>
                        </a:rPr>
                        <a:t>i</a:t>
                      </a:r>
                      <a:endParaRPr lang="en-US" sz="2400" b="0" i="1" u="none" strike="noStrike" dirty="0">
                        <a:solidFill>
                          <a:srgbClr val="000000"/>
                        </a:solidFill>
                        <a:latin typeface="Times New Roman" panose="02020603050405020304"/>
                      </a:endParaRPr>
                    </a:p>
                  </a:txBody>
                  <a:tcPr marL="0" marR="0" marT="0" marB="0" anchor="ctr">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2400" b="0" i="1" u="none" strike="noStrike" dirty="0">
                          <a:solidFill>
                            <a:srgbClr val="000000"/>
                          </a:solidFill>
                          <a:latin typeface="Symbol" panose="05050102010706020507"/>
                        </a:rPr>
                        <a:t>q </a:t>
                      </a:r>
                      <a:r>
                        <a:rPr lang="en-US" sz="2400" b="0" i="0" u="none" strike="noStrike" dirty="0">
                          <a:solidFill>
                            <a:srgbClr val="000000"/>
                          </a:solidFill>
                          <a:latin typeface="Symbol" panose="05050102010706020507"/>
                        </a:rPr>
                        <a:t>/</a:t>
                      </a:r>
                      <a:r>
                        <a:rPr lang="en-US" sz="2400" b="0" i="0" u="none" strike="noStrike" dirty="0">
                          <a:solidFill>
                            <a:srgbClr val="000000"/>
                          </a:solidFill>
                          <a:latin typeface="宋体" panose="02010600030101010101" pitchFamily="2" charset="-122"/>
                        </a:rPr>
                        <a:t>℃</a:t>
                      </a:r>
                      <a:endParaRPr lang="en-US" sz="2400" b="0" i="0" u="none" strike="noStrike" dirty="0">
                        <a:solidFill>
                          <a:srgbClr val="000000"/>
                        </a:solidFill>
                        <a:latin typeface="Symbol" panose="0505010201070602050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sz="2400" b="0" i="1" u="none" strike="noStrike">
                          <a:solidFill>
                            <a:srgbClr val="000000"/>
                          </a:solidFill>
                          <a:latin typeface="Times New Roman" panose="02020603050405020304"/>
                        </a:rPr>
                        <a:t>R</a:t>
                      </a:r>
                      <a:r>
                        <a:rPr lang="en-US" sz="2400" b="0" i="0" u="none" strike="noStrike" baseline="-25000">
                          <a:solidFill>
                            <a:srgbClr val="000000"/>
                          </a:solidFill>
                          <a:latin typeface="Symbol" panose="05050102010706020507"/>
                        </a:rPr>
                        <a:t>q</a:t>
                      </a:r>
                      <a:r>
                        <a:rPr lang="en-US" sz="2400" b="0" i="0" u="none" strike="noStrike">
                          <a:solidFill>
                            <a:srgbClr val="000000"/>
                          </a:solidFill>
                          <a:latin typeface="宋体" panose="02010600030101010101" pitchFamily="2" charset="-122"/>
                        </a:rPr>
                        <a:t>/</a:t>
                      </a:r>
                      <a:r>
                        <a:rPr lang="en-US" sz="2400" b="0" i="0" u="none" strike="noStrike">
                          <a:solidFill>
                            <a:srgbClr val="000000"/>
                          </a:solidFill>
                          <a:latin typeface="Symbol" panose="05050102010706020507"/>
                        </a:rPr>
                        <a:t>W</a:t>
                      </a:r>
                      <a:endParaRPr lang="en-US"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sz="2400" b="0" i="1" u="none" strike="noStrike">
                          <a:solidFill>
                            <a:srgbClr val="000000"/>
                          </a:solidFill>
                          <a:latin typeface="Symbol" panose="05050102010706020507"/>
                        </a:rPr>
                        <a:t>q</a:t>
                      </a:r>
                      <a:r>
                        <a:rPr lang="en-US" sz="2400" b="0" i="0" u="none" strike="noStrike">
                          <a:solidFill>
                            <a:srgbClr val="000000"/>
                          </a:solidFill>
                          <a:latin typeface="Symbol" panose="05050102010706020507"/>
                        </a:rPr>
                        <a:t>´</a:t>
                      </a:r>
                      <a:r>
                        <a:rPr lang="en-US" sz="2400" b="0" i="1" u="none" strike="noStrike">
                          <a:solidFill>
                            <a:srgbClr val="000000"/>
                          </a:solidFill>
                          <a:latin typeface="Symbol" panose="05050102010706020507"/>
                        </a:rPr>
                        <a:t>q</a:t>
                      </a:r>
                      <a:endParaRPr lang="en-US" sz="2400" b="0" i="0" u="none" strike="noStrike">
                        <a:solidFill>
                          <a:srgbClr val="000000"/>
                        </a:solidFill>
                        <a:latin typeface="Symbol" panose="0505010201070602050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sz="2400" b="0" i="1" u="none" strike="noStrike">
                          <a:solidFill>
                            <a:srgbClr val="000000"/>
                          </a:solidFill>
                          <a:latin typeface="Times New Roman" panose="02020603050405020304"/>
                        </a:rPr>
                        <a:t>R</a:t>
                      </a:r>
                      <a:r>
                        <a:rPr lang="en-US" sz="2400" b="0" i="0" u="none" strike="noStrike" baseline="-25000">
                          <a:solidFill>
                            <a:srgbClr val="000000"/>
                          </a:solidFill>
                          <a:latin typeface="Symbol" panose="05050102010706020507"/>
                        </a:rPr>
                        <a:t>q</a:t>
                      </a:r>
                      <a:r>
                        <a:rPr lang="en-US" sz="2400" b="0" i="0" u="none" strike="noStrike">
                          <a:solidFill>
                            <a:srgbClr val="000000"/>
                          </a:solidFill>
                          <a:latin typeface="Symbol" panose="05050102010706020507"/>
                        </a:rPr>
                        <a:t> ´</a:t>
                      </a:r>
                      <a:r>
                        <a:rPr lang="en-US" sz="2400" b="0" i="1" u="none" strike="noStrike">
                          <a:solidFill>
                            <a:srgbClr val="000000"/>
                          </a:solidFill>
                          <a:latin typeface="Times New Roman" panose="02020603050405020304"/>
                        </a:rPr>
                        <a:t>R</a:t>
                      </a:r>
                      <a:r>
                        <a:rPr lang="en-US" sz="2400" b="0" i="0" u="none" strike="noStrike" baseline="-25000">
                          <a:solidFill>
                            <a:srgbClr val="000000"/>
                          </a:solidFill>
                          <a:latin typeface="Symbol" panose="05050102010706020507"/>
                        </a:rPr>
                        <a:t>q</a:t>
                      </a:r>
                      <a:endParaRPr lang="en-US"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sz="2400" b="0" i="1" u="none" strike="noStrike">
                          <a:solidFill>
                            <a:srgbClr val="000000"/>
                          </a:solidFill>
                          <a:latin typeface="Symbol" panose="05050102010706020507"/>
                        </a:rPr>
                        <a:t>q</a:t>
                      </a:r>
                      <a:r>
                        <a:rPr lang="en-US" sz="2400" b="0" i="0" u="none" strike="noStrike">
                          <a:solidFill>
                            <a:srgbClr val="000000"/>
                          </a:solidFill>
                          <a:latin typeface="Symbol" panose="05050102010706020507"/>
                        </a:rPr>
                        <a:t> ´</a:t>
                      </a:r>
                      <a:r>
                        <a:rPr lang="en-US" sz="2400" b="0" i="1" u="none" strike="noStrike">
                          <a:solidFill>
                            <a:srgbClr val="000000"/>
                          </a:solidFill>
                          <a:latin typeface="Times New Roman" panose="02020603050405020304"/>
                        </a:rPr>
                        <a:t>R</a:t>
                      </a:r>
                      <a:r>
                        <a:rPr lang="en-US" sz="2400" b="0" i="0" u="none" strike="noStrike" baseline="-25000">
                          <a:solidFill>
                            <a:srgbClr val="000000"/>
                          </a:solidFill>
                          <a:latin typeface="Symbol" panose="05050102010706020507"/>
                        </a:rPr>
                        <a:t>q</a:t>
                      </a:r>
                      <a:endParaRPr lang="en-US"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FFFF"/>
                    </a:solidFill>
                  </a:tcPr>
                </a:tc>
              </a:tr>
              <a:tr h="493064">
                <a:tc vMerge="1">
                  <a:tcPr/>
                </a:tc>
                <a:tc>
                  <a:txBody>
                    <a:bodyPr/>
                    <a:lstStyle/>
                    <a:p>
                      <a:pPr algn="ctr" fontAlgn="ctr"/>
                      <a:endParaRPr lang="zh-CN" altLang="en-US" sz="240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zh-CN" altLang="en-US"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zh-CN" altLang="en-US" sz="240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zh-CN" altLang="en-US" sz="240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zh-CN" altLang="en-US" sz="2400" b="0" i="1" u="none" strike="noStrike">
                        <a:solidFill>
                          <a:srgbClr val="000000"/>
                        </a:solidFill>
                        <a:latin typeface="Times New Roman" panose="02020603050405020304"/>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r>
              <a:tr h="333151">
                <a:tc>
                  <a:txBody>
                    <a:bodyPr/>
                    <a:lstStyle/>
                    <a:p>
                      <a:pPr algn="ctr" fontAlgn="ctr"/>
                      <a:r>
                        <a:rPr lang="en-US" altLang="zh-CN" sz="2400" b="0" i="0" u="none" strike="noStrike">
                          <a:solidFill>
                            <a:srgbClr val="000000"/>
                          </a:solidFill>
                          <a:latin typeface="宋体" panose="02010600030101010101" pitchFamily="2" charset="-122"/>
                        </a:rPr>
                        <a:t>1</a:t>
                      </a:r>
                      <a:endParaRPr lang="en-US" altLang="zh-CN" sz="240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19.10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76.30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364.81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5821.69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1457.33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r>
              <a:tr h="333151">
                <a:tc>
                  <a:txBody>
                    <a:bodyPr/>
                    <a:lstStyle/>
                    <a:p>
                      <a:pPr algn="ctr" fontAlgn="ctr"/>
                      <a:r>
                        <a:rPr lang="en-US" altLang="zh-CN" sz="2400" b="0" i="0" u="none" strike="noStrike">
                          <a:solidFill>
                            <a:srgbClr val="000000"/>
                          </a:solidFill>
                          <a:latin typeface="宋体" panose="02010600030101010101" pitchFamily="2" charset="-122"/>
                        </a:rPr>
                        <a:t>2</a:t>
                      </a:r>
                      <a:endParaRPr lang="en-US" altLang="zh-CN" sz="240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25.10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77.80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630.01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6052.84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1952.78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r>
              <a:tr h="333151">
                <a:tc>
                  <a:txBody>
                    <a:bodyPr/>
                    <a:lstStyle/>
                    <a:p>
                      <a:pPr algn="ctr" fontAlgn="ctr"/>
                      <a:r>
                        <a:rPr lang="en-US" altLang="zh-CN" sz="2400" b="0" i="0" u="none" strike="noStrike">
                          <a:solidFill>
                            <a:srgbClr val="000000"/>
                          </a:solidFill>
                          <a:latin typeface="宋体" panose="02010600030101010101" pitchFamily="2" charset="-122"/>
                        </a:rPr>
                        <a:t>3</a:t>
                      </a:r>
                      <a:endParaRPr lang="en-US" altLang="zh-CN" sz="240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30.10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79.75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906.01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6360.06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dirty="0">
                          <a:solidFill>
                            <a:srgbClr val="000000"/>
                          </a:solidFill>
                          <a:latin typeface="宋体" panose="02010600030101010101" pitchFamily="2" charset="-122"/>
                        </a:rPr>
                        <a:t>2400.48 </a:t>
                      </a:r>
                      <a:endParaRPr lang="en-US" altLang="zh-CN" sz="240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r>
              <a:tr h="333151">
                <a:tc>
                  <a:txBody>
                    <a:bodyPr/>
                    <a:lstStyle/>
                    <a:p>
                      <a:pPr algn="ctr" fontAlgn="ctr"/>
                      <a:r>
                        <a:rPr lang="en-US" altLang="zh-CN" sz="2400" b="0" i="0" u="none" strike="noStrike">
                          <a:solidFill>
                            <a:srgbClr val="000000"/>
                          </a:solidFill>
                          <a:latin typeface="宋体" panose="02010600030101010101" pitchFamily="2" charset="-122"/>
                        </a:rPr>
                        <a:t>4</a:t>
                      </a:r>
                      <a:endParaRPr lang="en-US" altLang="zh-CN" sz="240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36.00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80.80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1296.00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6528.64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2908.80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r>
              <a:tr h="333151">
                <a:tc>
                  <a:txBody>
                    <a:bodyPr/>
                    <a:lstStyle/>
                    <a:p>
                      <a:pPr algn="ctr" fontAlgn="ctr"/>
                      <a:r>
                        <a:rPr lang="en-US" altLang="zh-CN" sz="2400" b="0" i="0" u="none" strike="noStrike">
                          <a:solidFill>
                            <a:srgbClr val="000000"/>
                          </a:solidFill>
                          <a:latin typeface="宋体" panose="02010600030101010101" pitchFamily="2" charset="-122"/>
                        </a:rPr>
                        <a:t>5</a:t>
                      </a:r>
                      <a:endParaRPr lang="en-US" altLang="zh-CN" sz="240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40.00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82.35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1600.00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6781.52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3294.00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r>
              <a:tr h="333151">
                <a:tc>
                  <a:txBody>
                    <a:bodyPr/>
                    <a:lstStyle/>
                    <a:p>
                      <a:pPr algn="ctr" fontAlgn="ctr"/>
                      <a:r>
                        <a:rPr lang="en-US" altLang="zh-CN" sz="2400" b="0" i="0" u="none" strike="noStrike">
                          <a:solidFill>
                            <a:srgbClr val="000000"/>
                          </a:solidFill>
                          <a:latin typeface="宋体" panose="02010600030101010101" pitchFamily="2" charset="-122"/>
                        </a:rPr>
                        <a:t>6</a:t>
                      </a:r>
                      <a:endParaRPr lang="en-US" altLang="zh-CN" sz="240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45.10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83.90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2034.01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7039.21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3783.89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r>
              <a:tr h="333151">
                <a:tc>
                  <a:txBody>
                    <a:bodyPr/>
                    <a:lstStyle/>
                    <a:p>
                      <a:pPr algn="ctr" fontAlgn="ctr"/>
                      <a:r>
                        <a:rPr lang="en-US" altLang="zh-CN" sz="2400" b="0" i="0" u="none" strike="noStrike">
                          <a:solidFill>
                            <a:srgbClr val="000000"/>
                          </a:solidFill>
                          <a:latin typeface="宋体" panose="02010600030101010101" pitchFamily="2" charset="-122"/>
                        </a:rPr>
                        <a:t>7</a:t>
                      </a:r>
                      <a:endParaRPr lang="en-US" altLang="zh-CN" sz="240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50.10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85.10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2510.01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7242.01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4263.51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r>
              <a:tr h="626324">
                <a:tc>
                  <a:txBody>
                    <a:bodyPr/>
                    <a:lstStyle/>
                    <a:p>
                      <a:pPr algn="ctr" fontAlgn="ctr"/>
                      <a:r>
                        <a:rPr lang="en-US" sz="2400" b="0" i="1" u="none" strike="noStrike">
                          <a:solidFill>
                            <a:srgbClr val="000000"/>
                          </a:solidFill>
                          <a:latin typeface="Times New Roman" panose="02020603050405020304"/>
                        </a:rPr>
                        <a:t>n</a:t>
                      </a:r>
                      <a:r>
                        <a:rPr lang="en-US" sz="2400" b="0" i="0" u="none" strike="noStrike">
                          <a:solidFill>
                            <a:srgbClr val="000000"/>
                          </a:solidFill>
                          <a:latin typeface="宋体" panose="02010600030101010101" pitchFamily="2" charset="-122"/>
                        </a:rPr>
                        <a:t>=</a:t>
                      </a:r>
                      <a:endParaRPr lang="en-US" sz="240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endParaRPr lang="zh-CN" altLang="en-US" sz="240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endParaRPr lang="zh-CN" altLang="en-US"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endParaRPr lang="zh-CN" altLang="en-US"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endParaRPr lang="zh-CN" altLang="en-US" sz="240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endParaRPr lang="zh-CN" altLang="en-US" sz="240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r>
              <a:tr h="346477">
                <a:tc>
                  <a:txBody>
                    <a:bodyPr/>
                    <a:lstStyle/>
                    <a:p>
                      <a:pPr algn="ctr" fontAlgn="ctr"/>
                      <a:r>
                        <a:rPr lang="en-US" altLang="zh-CN" sz="2400" b="0" i="0" u="none" strike="noStrike">
                          <a:solidFill>
                            <a:srgbClr val="000000"/>
                          </a:solidFill>
                          <a:latin typeface="宋体" panose="02010600030101010101" pitchFamily="2" charset="-122"/>
                        </a:rPr>
                        <a:t>7</a:t>
                      </a:r>
                      <a:endParaRPr lang="en-US" altLang="zh-CN" sz="2400" b="0" i="0" u="none" strike="noStrike">
                        <a:solidFill>
                          <a:srgbClr val="000000"/>
                        </a:solidFill>
                        <a:latin typeface="宋体" panose="02010600030101010101" pitchFamily="2" charset="-122"/>
                      </a:endParaRPr>
                    </a:p>
                  </a:txBody>
                  <a:tcPr marL="0" marR="0" marT="0" marB="0" anchor="ctr">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245.50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566.00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9340.85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2400" b="0" i="0" u="none" strike="noStrike">
                          <a:solidFill>
                            <a:srgbClr val="000000"/>
                          </a:solidFill>
                          <a:latin typeface="宋体" panose="02010600030101010101" pitchFamily="2" charset="-122"/>
                        </a:rPr>
                        <a:t>45825.98 </a:t>
                      </a:r>
                      <a:endParaRPr lang="en-US" altLang="zh-CN" sz="2400" b="0" i="0" u="none" strike="noStrike">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2400" b="0" i="0" u="none" strike="noStrike" dirty="0">
                          <a:solidFill>
                            <a:srgbClr val="000000"/>
                          </a:solidFill>
                          <a:latin typeface="宋体" panose="02010600030101010101" pitchFamily="2" charset="-122"/>
                        </a:rPr>
                        <a:t>20060.79 </a:t>
                      </a:r>
                      <a:endParaRPr lang="en-US" altLang="zh-CN" sz="2400" b="0" i="0" u="none" strike="noStrike" dirty="0">
                        <a:solidFill>
                          <a:srgbClr val="000000"/>
                        </a:solidFill>
                        <a:latin typeface="宋体" panose="02010600030101010101" pitchFamily="2" charset="-122"/>
                      </a:endParaRPr>
                    </a:p>
                  </a:txBody>
                  <a:tcPr marL="0" marR="0" marT="0" marB="0" anchor="ctr">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r>
            </a:tbl>
          </a:graphicData>
        </a:graphic>
      </p:graphicFrame>
      <p:pic>
        <p:nvPicPr>
          <p:cNvPr id="13409" name="Object 4"/>
          <p:cNvPicPr>
            <a:picLocks noChangeAspect="1" noChangeArrowheads="1"/>
          </p:cNvPicPr>
          <p:nvPr/>
        </p:nvPicPr>
        <p:blipFill>
          <a:blip r:embed="rId3"/>
          <a:srcRect/>
          <a:stretch>
            <a:fillRect/>
          </a:stretch>
        </p:blipFill>
        <p:spPr bwMode="auto">
          <a:xfrm>
            <a:off x="3738563" y="5500688"/>
            <a:ext cx="806450" cy="500062"/>
          </a:xfrm>
          <a:prstGeom prst="rect">
            <a:avLst/>
          </a:prstGeom>
          <a:solidFill>
            <a:srgbClr val="FFFFFF"/>
          </a:solidFill>
          <a:ln w="9525">
            <a:noFill/>
            <a:miter lim="800000"/>
            <a:headEnd/>
            <a:tailEnd/>
          </a:ln>
        </p:spPr>
      </p:pic>
      <p:pic>
        <p:nvPicPr>
          <p:cNvPr id="13410" name="Picture 28"/>
          <p:cNvPicPr>
            <a:picLocks noChangeAspect="1" noChangeArrowheads="1"/>
          </p:cNvPicPr>
          <p:nvPr/>
        </p:nvPicPr>
        <p:blipFill>
          <a:blip r:embed="rId4"/>
          <a:srcRect/>
          <a:stretch>
            <a:fillRect/>
          </a:stretch>
        </p:blipFill>
        <p:spPr bwMode="auto">
          <a:xfrm>
            <a:off x="4881563" y="5500688"/>
            <a:ext cx="806450" cy="500062"/>
          </a:xfrm>
          <a:prstGeom prst="rect">
            <a:avLst/>
          </a:prstGeom>
          <a:solidFill>
            <a:srgbClr val="FFFFFF"/>
          </a:solidFill>
          <a:ln w="9525">
            <a:noFill/>
            <a:miter lim="800000"/>
            <a:headEnd/>
            <a:tailEnd/>
          </a:ln>
        </p:spPr>
      </p:pic>
      <p:pic>
        <p:nvPicPr>
          <p:cNvPr id="13411" name="Picture 27"/>
          <p:cNvPicPr>
            <a:picLocks noChangeAspect="1" noChangeArrowheads="1"/>
          </p:cNvPicPr>
          <p:nvPr/>
        </p:nvPicPr>
        <p:blipFill>
          <a:blip r:embed="rId5"/>
          <a:srcRect/>
          <a:stretch>
            <a:fillRect/>
          </a:stretch>
        </p:blipFill>
        <p:spPr bwMode="auto">
          <a:xfrm>
            <a:off x="6167439" y="5572126"/>
            <a:ext cx="714375" cy="442913"/>
          </a:xfrm>
          <a:prstGeom prst="rect">
            <a:avLst/>
          </a:prstGeom>
          <a:solidFill>
            <a:srgbClr val="FFFFFF"/>
          </a:solidFill>
          <a:ln w="9525">
            <a:noFill/>
            <a:miter lim="800000"/>
            <a:headEnd/>
            <a:tailEnd/>
          </a:ln>
        </p:spPr>
      </p:pic>
      <p:pic>
        <p:nvPicPr>
          <p:cNvPr id="13412" name="Picture 26"/>
          <p:cNvPicPr>
            <a:picLocks noChangeAspect="1" noChangeArrowheads="1"/>
          </p:cNvPicPr>
          <p:nvPr/>
        </p:nvPicPr>
        <p:blipFill>
          <a:blip r:embed="rId6"/>
          <a:srcRect/>
          <a:stretch>
            <a:fillRect/>
          </a:stretch>
        </p:blipFill>
        <p:spPr bwMode="auto">
          <a:xfrm>
            <a:off x="7381875" y="5500688"/>
            <a:ext cx="928688" cy="500062"/>
          </a:xfrm>
          <a:prstGeom prst="rect">
            <a:avLst/>
          </a:prstGeom>
          <a:solidFill>
            <a:srgbClr val="FFFFFF"/>
          </a:solidFill>
          <a:ln w="9525">
            <a:noFill/>
            <a:miter lim="800000"/>
            <a:headEnd/>
            <a:tailEnd/>
          </a:ln>
        </p:spPr>
      </p:pic>
      <p:pic>
        <p:nvPicPr>
          <p:cNvPr id="13413" name="Picture 25"/>
          <p:cNvPicPr>
            <a:picLocks noChangeAspect="1" noChangeArrowheads="1"/>
          </p:cNvPicPr>
          <p:nvPr/>
        </p:nvPicPr>
        <p:blipFill>
          <a:blip r:embed="rId7"/>
          <a:srcRect/>
          <a:stretch>
            <a:fillRect/>
          </a:stretch>
        </p:blipFill>
        <p:spPr bwMode="auto">
          <a:xfrm>
            <a:off x="8810625" y="5500689"/>
            <a:ext cx="928688" cy="479425"/>
          </a:xfrm>
          <a:prstGeom prst="rect">
            <a:avLst/>
          </a:prstGeom>
          <a:solidFill>
            <a:srgbClr val="FFFFFF"/>
          </a:solidFill>
          <a:ln w="9525">
            <a:noFill/>
            <a:miter lim="800000"/>
            <a:headEnd/>
            <a:tailEnd/>
          </a:ln>
        </p:spPr>
      </p:pic>
      <p:pic>
        <p:nvPicPr>
          <p:cNvPr id="13414" name="Picture 34"/>
          <p:cNvPicPr>
            <a:picLocks noChangeAspect="1" noChangeArrowheads="1"/>
          </p:cNvPicPr>
          <p:nvPr/>
        </p:nvPicPr>
        <p:blipFill>
          <a:blip r:embed="rId8"/>
          <a:srcRect/>
          <a:stretch>
            <a:fillRect/>
          </a:stretch>
        </p:blipFill>
        <p:spPr bwMode="auto">
          <a:xfrm>
            <a:off x="3952876" y="2301875"/>
            <a:ext cx="428625" cy="484188"/>
          </a:xfrm>
          <a:prstGeom prst="rect">
            <a:avLst/>
          </a:prstGeom>
          <a:solidFill>
            <a:srgbClr val="FFFFFF"/>
          </a:solidFill>
          <a:ln w="9525">
            <a:noFill/>
            <a:miter lim="800000"/>
            <a:headEnd/>
            <a:tailEnd/>
          </a:ln>
        </p:spPr>
      </p:pic>
      <p:pic>
        <p:nvPicPr>
          <p:cNvPr id="13415" name="Picture 33"/>
          <p:cNvPicPr>
            <a:picLocks noChangeAspect="1" noChangeArrowheads="1"/>
          </p:cNvPicPr>
          <p:nvPr/>
        </p:nvPicPr>
        <p:blipFill>
          <a:blip r:embed="rId9"/>
          <a:srcRect/>
          <a:stretch>
            <a:fillRect/>
          </a:stretch>
        </p:blipFill>
        <p:spPr bwMode="auto">
          <a:xfrm>
            <a:off x="5095875" y="2322513"/>
            <a:ext cx="357188" cy="463550"/>
          </a:xfrm>
          <a:prstGeom prst="rect">
            <a:avLst/>
          </a:prstGeom>
          <a:solidFill>
            <a:srgbClr val="FFFFFF"/>
          </a:solidFill>
          <a:ln w="9525">
            <a:noFill/>
            <a:miter lim="800000"/>
            <a:headEnd/>
            <a:tailEnd/>
          </a:ln>
        </p:spPr>
      </p:pic>
      <p:pic>
        <p:nvPicPr>
          <p:cNvPr id="13416" name="Picture 32"/>
          <p:cNvPicPr>
            <a:picLocks noChangeAspect="1" noChangeArrowheads="1"/>
          </p:cNvPicPr>
          <p:nvPr/>
        </p:nvPicPr>
        <p:blipFill>
          <a:blip r:embed="rId10"/>
          <a:srcRect/>
          <a:stretch>
            <a:fillRect/>
          </a:stretch>
        </p:blipFill>
        <p:spPr bwMode="auto">
          <a:xfrm>
            <a:off x="6381751" y="2286001"/>
            <a:ext cx="428625" cy="500063"/>
          </a:xfrm>
          <a:prstGeom prst="rect">
            <a:avLst/>
          </a:prstGeom>
          <a:solidFill>
            <a:srgbClr val="FFFFFF"/>
          </a:solidFill>
          <a:ln w="9525">
            <a:noFill/>
            <a:miter lim="800000"/>
            <a:headEnd/>
            <a:tailEnd/>
          </a:ln>
        </p:spPr>
      </p:pic>
      <p:pic>
        <p:nvPicPr>
          <p:cNvPr id="13417" name="Picture 31"/>
          <p:cNvPicPr>
            <a:picLocks noChangeAspect="1" noChangeArrowheads="1"/>
          </p:cNvPicPr>
          <p:nvPr/>
        </p:nvPicPr>
        <p:blipFill>
          <a:blip r:embed="rId11"/>
          <a:srcRect/>
          <a:stretch>
            <a:fillRect/>
          </a:stretch>
        </p:blipFill>
        <p:spPr bwMode="auto">
          <a:xfrm>
            <a:off x="7667625" y="2357438"/>
            <a:ext cx="433388" cy="463550"/>
          </a:xfrm>
          <a:prstGeom prst="rect">
            <a:avLst/>
          </a:prstGeom>
          <a:solidFill>
            <a:srgbClr val="FFFFFF"/>
          </a:solidFill>
          <a:ln w="9525">
            <a:noFill/>
            <a:miter lim="800000"/>
            <a:headEnd/>
            <a:tailEnd/>
          </a:ln>
        </p:spPr>
      </p:pic>
      <p:pic>
        <p:nvPicPr>
          <p:cNvPr id="13418" name="Picture 30"/>
          <p:cNvPicPr>
            <a:picLocks noChangeAspect="1" noChangeArrowheads="1"/>
          </p:cNvPicPr>
          <p:nvPr/>
        </p:nvPicPr>
        <p:blipFill>
          <a:blip r:embed="rId12"/>
          <a:srcRect/>
          <a:stretch>
            <a:fillRect/>
          </a:stretch>
        </p:blipFill>
        <p:spPr bwMode="auto">
          <a:xfrm>
            <a:off x="9024938" y="2330451"/>
            <a:ext cx="571500" cy="455613"/>
          </a:xfrm>
          <a:prstGeom prst="rect">
            <a:avLst/>
          </a:prstGeom>
          <a:solidFill>
            <a:srgbClr val="FFFFFF"/>
          </a:solidFill>
          <a:ln w="9525">
            <a:noFill/>
            <a:miter lim="800000"/>
            <a:headEnd/>
            <a:tailEnd/>
          </a:ln>
        </p:spPr>
      </p:pic>
      <p:sp>
        <p:nvSpPr>
          <p:cNvPr id="2" name="灯片编号占位符 1"/>
          <p:cNvSpPr>
            <a:spLocks noGrp="1"/>
          </p:cNvSpPr>
          <p:nvPr>
            <p:ph type="sldNum" sz="quarter" idx="12"/>
          </p:nvPr>
        </p:nvSpPr>
        <p:spPr/>
        <p:txBody>
          <a:bodyPr/>
          <a:lstStyle/>
          <a:p>
            <a:pPr>
              <a:defRPr/>
            </a:pPr>
            <a:fld id="{755E2F0F-EEAD-4B0F-9376-472F10ACB79C}" type="slidenum">
              <a:rPr lang="zh-CN" altLang="en-US" smtClean="0"/>
            </a:fld>
            <a:endParaRPr lang="zh-CN" altLang="en-US"/>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2"/>
          <p:cNvGraphicFramePr>
            <a:graphicFrameLocks noGrp="1" noChangeAspect="1"/>
          </p:cNvGraphicFramePr>
          <p:nvPr>
            <p:ph sz="quarter" idx="1"/>
          </p:nvPr>
        </p:nvGraphicFramePr>
        <p:xfrm>
          <a:off x="8020050" y="2863850"/>
          <a:ext cx="114300" cy="215900"/>
        </p:xfrm>
        <a:graphic>
          <a:graphicData uri="http://schemas.openxmlformats.org/presentationml/2006/ole">
            <mc:AlternateContent xmlns:mc="http://schemas.openxmlformats.org/markup-compatibility/2006">
              <mc:Choice xmlns:v="urn:schemas-microsoft-com:vml" Requires="v">
                <p:oleObj spid="_x0000_s28124" name="公式" r:id="rId1" imgW="114300" imgH="215900" progId="Equation.3">
                  <p:embed/>
                </p:oleObj>
              </mc:Choice>
              <mc:Fallback>
                <p:oleObj name="公式" r:id="rId1" imgW="1143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0050" y="28638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3" name="Object 7"/>
          <p:cNvGraphicFramePr>
            <a:graphicFrameLocks noGrp="1" noChangeAspect="1"/>
          </p:cNvGraphicFramePr>
          <p:nvPr>
            <p:ph sz="quarter" idx="2"/>
          </p:nvPr>
        </p:nvGraphicFramePr>
        <p:xfrm>
          <a:off x="3486150" y="3878263"/>
          <a:ext cx="6043613" cy="1336675"/>
        </p:xfrm>
        <a:graphic>
          <a:graphicData uri="http://schemas.openxmlformats.org/presentationml/2006/ole">
            <mc:AlternateContent xmlns:mc="http://schemas.openxmlformats.org/markup-compatibility/2006">
              <mc:Choice xmlns:v="urn:schemas-microsoft-com:vml" Requires="v">
                <p:oleObj spid="_x0000_s28125" name="Equation" r:id="rId3" imgW="3733800" imgH="825500" progId="Equation.DSMT4">
                  <p:embed/>
                </p:oleObj>
              </mc:Choice>
              <mc:Fallback>
                <p:oleObj name="Equation" r:id="rId3" imgW="3733800" imgH="8255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6150" y="3878263"/>
                        <a:ext cx="6043613" cy="1336675"/>
                      </a:xfrm>
                      <a:prstGeom prst="rect">
                        <a:avLst/>
                      </a:prstGeom>
                      <a:noFill/>
                      <a:ln>
                        <a:noFill/>
                      </a:ln>
                      <a:effectLst/>
                    </p:spPr>
                  </p:pic>
                </p:oleObj>
              </mc:Fallback>
            </mc:AlternateContent>
          </a:graphicData>
        </a:graphic>
      </p:graphicFrame>
      <p:sp>
        <p:nvSpPr>
          <p:cNvPr id="14344" name="Rectangle 7"/>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45" name="Text Box 9"/>
          <p:cNvSpPr txBox="1">
            <a:spLocks noChangeArrowheads="1"/>
          </p:cNvSpPr>
          <p:nvPr/>
        </p:nvSpPr>
        <p:spPr bwMode="auto">
          <a:xfrm>
            <a:off x="2063751" y="765175"/>
            <a:ext cx="7921625" cy="369332"/>
          </a:xfrm>
          <a:prstGeom prst="rect">
            <a:avLst/>
          </a:prstGeom>
          <a:noFill/>
          <a:ln w="9525">
            <a:noFill/>
            <a:miter lim="800000"/>
          </a:ln>
        </p:spPr>
        <p:txBody>
          <a:bodyPr>
            <a:spAutoFit/>
          </a:bodyPr>
          <a:lstStyle/>
          <a:p>
            <a:endParaRPr lang="zh-CN" altLang="zh-CN"/>
          </a:p>
        </p:txBody>
      </p:sp>
      <p:sp>
        <p:nvSpPr>
          <p:cNvPr id="14346" name="Rectangle 11"/>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47" name="Rectangle 12"/>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48" name="Rectangle 13"/>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49" name="Rectangle 14"/>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50" name="Rectangle 15"/>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51" name="Rectangle 16"/>
          <p:cNvSpPr>
            <a:spLocks noChangeArrowheads="1"/>
          </p:cNvSpPr>
          <p:nvPr/>
        </p:nvSpPr>
        <p:spPr bwMode="auto">
          <a:xfrm>
            <a:off x="1524000" y="2920484"/>
            <a:ext cx="184731" cy="369332"/>
          </a:xfrm>
          <a:prstGeom prst="rect">
            <a:avLst/>
          </a:prstGeom>
          <a:noFill/>
          <a:ln w="9525">
            <a:noFill/>
            <a:miter lim="800000"/>
          </a:ln>
        </p:spPr>
        <p:txBody>
          <a:bodyPr wrap="none" anchor="ctr">
            <a:spAutoFit/>
          </a:bodyPr>
          <a:lstStyle/>
          <a:p>
            <a:endParaRPr lang="zh-CN" altLang="en-US"/>
          </a:p>
        </p:txBody>
      </p:sp>
      <p:sp>
        <p:nvSpPr>
          <p:cNvPr id="14352" name="Rectangle 17"/>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53" name="Rectangle 18"/>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54" name="Rectangle 19"/>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55" name="Rectangle 20"/>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56" name="Text Box 21"/>
          <p:cNvSpPr txBox="1">
            <a:spLocks noChangeArrowheads="1"/>
          </p:cNvSpPr>
          <p:nvPr/>
        </p:nvSpPr>
        <p:spPr bwMode="auto">
          <a:xfrm>
            <a:off x="1919288" y="569913"/>
            <a:ext cx="8032750" cy="369332"/>
          </a:xfrm>
          <a:prstGeom prst="rect">
            <a:avLst/>
          </a:prstGeom>
          <a:noFill/>
          <a:ln w="9525">
            <a:noFill/>
            <a:miter lim="800000"/>
          </a:ln>
        </p:spPr>
        <p:txBody>
          <a:bodyPr>
            <a:spAutoFit/>
          </a:bodyPr>
          <a:lstStyle/>
          <a:p>
            <a:endParaRPr lang="zh-CN" altLang="zh-CN"/>
          </a:p>
        </p:txBody>
      </p:sp>
      <p:sp>
        <p:nvSpPr>
          <p:cNvPr id="14357" name="Rectangle 22"/>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58" name="Text Box 23"/>
          <p:cNvSpPr txBox="1">
            <a:spLocks noChangeArrowheads="1"/>
          </p:cNvSpPr>
          <p:nvPr/>
        </p:nvSpPr>
        <p:spPr bwMode="auto">
          <a:xfrm>
            <a:off x="2043113" y="2563813"/>
            <a:ext cx="184731" cy="369332"/>
          </a:xfrm>
          <a:prstGeom prst="rect">
            <a:avLst/>
          </a:prstGeom>
          <a:noFill/>
          <a:ln w="9525">
            <a:noFill/>
            <a:miter lim="800000"/>
          </a:ln>
        </p:spPr>
        <p:txBody>
          <a:bodyPr wrap="none">
            <a:spAutoFit/>
          </a:bodyPr>
          <a:lstStyle/>
          <a:p>
            <a:endParaRPr lang="zh-CN" altLang="zh-CN"/>
          </a:p>
        </p:txBody>
      </p:sp>
      <p:sp>
        <p:nvSpPr>
          <p:cNvPr id="14359" name="Rectangle 24"/>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60" name="Rectangle 25"/>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61" name="Rectangle 26"/>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62" name="Rectangle 27"/>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63" name="Rectangle 28"/>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4364" name="Rectangle 32"/>
          <p:cNvSpPr>
            <a:spLocks noChangeArrowheads="1"/>
          </p:cNvSpPr>
          <p:nvPr/>
        </p:nvSpPr>
        <p:spPr bwMode="auto">
          <a:xfrm>
            <a:off x="6003635" y="3028434"/>
            <a:ext cx="184731" cy="369332"/>
          </a:xfrm>
          <a:prstGeom prst="rect">
            <a:avLst/>
          </a:prstGeom>
          <a:noFill/>
          <a:ln w="9525">
            <a:noFill/>
            <a:miter lim="800000"/>
          </a:ln>
        </p:spPr>
        <p:txBody>
          <a:bodyPr wrap="none" anchor="ctr">
            <a:spAutoFit/>
          </a:bodyPr>
          <a:lstStyle/>
          <a:p>
            <a:pPr algn="ctr"/>
            <a:endParaRPr lang="zh-CN" altLang="zh-CN"/>
          </a:p>
        </p:txBody>
      </p:sp>
      <p:graphicFrame>
        <p:nvGraphicFramePr>
          <p:cNvPr id="14339" name="Object 3"/>
          <p:cNvGraphicFramePr>
            <a:graphicFrameLocks noChangeAspect="1"/>
          </p:cNvGraphicFramePr>
          <p:nvPr/>
        </p:nvGraphicFramePr>
        <p:xfrm>
          <a:off x="2163763" y="785813"/>
          <a:ext cx="8140700" cy="1155700"/>
        </p:xfrm>
        <a:graphic>
          <a:graphicData uri="http://schemas.openxmlformats.org/presentationml/2006/ole">
            <mc:AlternateContent xmlns:mc="http://schemas.openxmlformats.org/markup-compatibility/2006">
              <mc:Choice xmlns:v="urn:schemas-microsoft-com:vml" Requires="v">
                <p:oleObj spid="_x0000_s28126" name="Equation" r:id="rId5" imgW="5334000" imgH="762000" progId="Equation.DSMT4">
                  <p:embed/>
                </p:oleObj>
              </mc:Choice>
              <mc:Fallback>
                <p:oleObj name="Equation" r:id="rId5" imgW="5334000" imgH="7620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3763" y="785813"/>
                        <a:ext cx="8140700" cy="1155700"/>
                      </a:xfrm>
                      <a:prstGeom prst="rect">
                        <a:avLst/>
                      </a:prstGeom>
                      <a:noFill/>
                    </p:spPr>
                  </p:pic>
                </p:oleObj>
              </mc:Fallback>
            </mc:AlternateContent>
          </a:graphicData>
        </a:graphic>
      </p:graphicFrame>
      <p:sp>
        <p:nvSpPr>
          <p:cNvPr id="14365" name="Rectangle 34"/>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graphicFrame>
        <p:nvGraphicFramePr>
          <p:cNvPr id="14340" name="Object 4"/>
          <p:cNvGraphicFramePr>
            <a:graphicFrameLocks noChangeAspect="1"/>
          </p:cNvGraphicFramePr>
          <p:nvPr/>
        </p:nvGraphicFramePr>
        <p:xfrm>
          <a:off x="2159001" y="2000250"/>
          <a:ext cx="5300663" cy="584200"/>
        </p:xfrm>
        <a:graphic>
          <a:graphicData uri="http://schemas.openxmlformats.org/presentationml/2006/ole">
            <mc:AlternateContent xmlns:mc="http://schemas.openxmlformats.org/markup-compatibility/2006">
              <mc:Choice xmlns:v="urn:schemas-microsoft-com:vml" Requires="v">
                <p:oleObj spid="_x0000_s28127" name="Equation" r:id="rId7" imgW="3543300" imgH="393700" progId="Equation.DSMT4">
                  <p:embed/>
                </p:oleObj>
              </mc:Choice>
              <mc:Fallback>
                <p:oleObj name="Equation" r:id="rId7" imgW="3543300" imgH="3937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59001" y="2000250"/>
                        <a:ext cx="5300663" cy="584200"/>
                      </a:xfrm>
                      <a:prstGeom prst="rect">
                        <a:avLst/>
                      </a:prstGeom>
                      <a:noFill/>
                    </p:spPr>
                  </p:pic>
                </p:oleObj>
              </mc:Fallback>
            </mc:AlternateContent>
          </a:graphicData>
        </a:graphic>
      </p:graphicFrame>
      <p:sp>
        <p:nvSpPr>
          <p:cNvPr id="14366" name="Rectangle 36"/>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graphicFrame>
        <p:nvGraphicFramePr>
          <p:cNvPr id="14341" name="Object 5"/>
          <p:cNvGraphicFramePr>
            <a:graphicFrameLocks noChangeAspect="1"/>
          </p:cNvGraphicFramePr>
          <p:nvPr/>
        </p:nvGraphicFramePr>
        <p:xfrm>
          <a:off x="2166938" y="2643189"/>
          <a:ext cx="5256212" cy="1184275"/>
        </p:xfrm>
        <a:graphic>
          <a:graphicData uri="http://schemas.openxmlformats.org/presentationml/2006/ole">
            <mc:AlternateContent xmlns:mc="http://schemas.openxmlformats.org/markup-compatibility/2006">
              <mc:Choice xmlns:v="urn:schemas-microsoft-com:vml" Requires="v">
                <p:oleObj spid="_x0000_s28128" name="Equation" r:id="rId9" imgW="3529330" imgH="799465" progId="Equation.DSMT4">
                  <p:embed/>
                </p:oleObj>
              </mc:Choice>
              <mc:Fallback>
                <p:oleObj name="Equation" r:id="rId9" imgW="3529330" imgH="799465"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66938" y="2643189"/>
                        <a:ext cx="5256212" cy="1184275"/>
                      </a:xfrm>
                      <a:prstGeom prst="rect">
                        <a:avLst/>
                      </a:prstGeom>
                      <a:noFill/>
                    </p:spPr>
                  </p:pic>
                </p:oleObj>
              </mc:Fallback>
            </mc:AlternateContent>
          </a:graphicData>
        </a:graphic>
      </p:graphicFrame>
      <p:sp>
        <p:nvSpPr>
          <p:cNvPr id="14367" name="Rectangle 38"/>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sp>
        <p:nvSpPr>
          <p:cNvPr id="177191" name="Text Box 39"/>
          <p:cNvSpPr txBox="1">
            <a:spLocks noChangeArrowheads="1"/>
          </p:cNvSpPr>
          <p:nvPr/>
        </p:nvSpPr>
        <p:spPr bwMode="auto">
          <a:xfrm>
            <a:off x="263352" y="5286376"/>
            <a:ext cx="11521280" cy="1231106"/>
          </a:xfrm>
          <a:prstGeom prst="rect">
            <a:avLst/>
          </a:prstGeom>
          <a:noFill/>
          <a:ln w="9525">
            <a:noFill/>
            <a:miter lim="800000"/>
          </a:ln>
          <a:effectLst/>
        </p:spPr>
        <p:txBody>
          <a:bodyPr wrap="square">
            <a:spAutoFit/>
          </a:bodyPr>
          <a:lstStyle/>
          <a:p>
            <a:pPr algn="just">
              <a:defRPr/>
            </a:pP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说明：电阻</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i="1"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a:rPr>
              <a:t></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与温度</a:t>
            </a:r>
            <a:r>
              <a:rPr lang="zh-CN" altLang="en-US"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a:rPr>
              <a:t></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的线性关系良好，所以取</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的有效数字与</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对齐，即：</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70.76</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；又因为</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a:rPr>
              <a:t></a:t>
            </a:r>
            <a:r>
              <a:rPr lang="en-US" altLang="zh-CN" i="1"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a:rPr>
              <a:t></a:t>
            </a:r>
            <a:r>
              <a:rPr lang="en-US" altLang="zh-CN" i="1"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31.00℃</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 8.80</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，取</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有效数字为以上两个差值中较少的位数</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位，则</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 0.288</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defRPr/>
            </a:pP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由此可以得到电阻与温度的关系为：</a:t>
            </a:r>
            <a:endPar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a:defRPr/>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369" name="Rectangle 41"/>
          <p:cNvSpPr>
            <a:spLocks noChangeArrowheads="1"/>
          </p:cNvSpPr>
          <p:nvPr/>
        </p:nvSpPr>
        <p:spPr bwMode="auto">
          <a:xfrm>
            <a:off x="1524000" y="-184666"/>
            <a:ext cx="184731" cy="369332"/>
          </a:xfrm>
          <a:prstGeom prst="rect">
            <a:avLst/>
          </a:prstGeom>
          <a:noFill/>
          <a:ln w="9525">
            <a:noFill/>
            <a:miter lim="800000"/>
          </a:ln>
        </p:spPr>
        <p:txBody>
          <a:bodyPr wrap="none" anchor="ctr">
            <a:spAutoFit/>
          </a:bodyPr>
          <a:lstStyle/>
          <a:p>
            <a:endParaRPr lang="zh-CN" altLang="en-US"/>
          </a:p>
        </p:txBody>
      </p:sp>
      <p:graphicFrame>
        <p:nvGraphicFramePr>
          <p:cNvPr id="14342" name="Object 6"/>
          <p:cNvGraphicFramePr>
            <a:graphicFrameLocks noChangeAspect="1"/>
          </p:cNvGraphicFramePr>
          <p:nvPr/>
        </p:nvGraphicFramePr>
        <p:xfrm>
          <a:off x="4007768" y="5968855"/>
          <a:ext cx="3046412" cy="554037"/>
        </p:xfrm>
        <a:graphic>
          <a:graphicData uri="http://schemas.openxmlformats.org/presentationml/2006/ole">
            <mc:AlternateContent xmlns:mc="http://schemas.openxmlformats.org/markup-compatibility/2006">
              <mc:Choice xmlns:v="urn:schemas-microsoft-com:vml" Requires="v">
                <p:oleObj spid="_x0000_s28129" name="Equation" r:id="rId11" imgW="1257300" imgH="228600" progId="Equation.DSMT4">
                  <p:embed/>
                </p:oleObj>
              </mc:Choice>
              <mc:Fallback>
                <p:oleObj name="Equation" r:id="rId11" imgW="1257300" imgH="2286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07768" y="5968855"/>
                        <a:ext cx="3046412" cy="554037"/>
                      </a:xfrm>
                      <a:prstGeom prst="rect">
                        <a:avLst/>
                      </a:prstGeom>
                      <a:noFill/>
                    </p:spPr>
                  </p:pic>
                </p:oleObj>
              </mc:Fallback>
            </mc:AlternateContent>
          </a:graphicData>
        </a:graphic>
      </p:graphicFrame>
      <p:sp>
        <p:nvSpPr>
          <p:cNvPr id="36" name="标题 1"/>
          <p:cNvSpPr txBox="1"/>
          <p:nvPr/>
        </p:nvSpPr>
        <p:spPr bwMode="auto">
          <a:xfrm>
            <a:off x="-1320824" y="-132833"/>
            <a:ext cx="8229600" cy="1143000"/>
          </a:xfrm>
          <a:prstGeom prst="rect">
            <a:avLst/>
          </a:prstGeom>
          <a:noFill/>
          <a:ln w="9525">
            <a:noFill/>
            <a:miter lim="800000"/>
          </a:ln>
        </p:spPr>
        <p:txBody>
          <a:bodyPr anchor="ctr"/>
          <a:lstStyle/>
          <a:p>
            <a:pPr algn="ctr">
              <a:defRPr/>
            </a:pPr>
            <a:r>
              <a:rPr lang="zh-CN" altLang="en-US" sz="4400" b="1" dirty="0">
                <a:solidFill>
                  <a:schemeClr val="bg1"/>
                </a:solidFill>
                <a:latin typeface="微软雅黑" panose="020B0503020204020204" pitchFamily="34" charset="-122"/>
                <a:ea typeface="微软雅黑" panose="020B0503020204020204" pitchFamily="34" charset="-122"/>
                <a:cs typeface="+mj-cs"/>
              </a:rPr>
              <a:t>最小二乘法应用举例</a:t>
            </a:r>
            <a:endParaRPr lang="zh-CN" altLang="en-US" sz="4400" b="1" dirty="0">
              <a:solidFill>
                <a:schemeClr val="bg1"/>
              </a:solidFill>
              <a:latin typeface="微软雅黑" panose="020B0503020204020204" pitchFamily="34" charset="-122"/>
              <a:ea typeface="微软雅黑" panose="020B0503020204020204" pitchFamily="34" charset="-122"/>
              <a:cs typeface="+mj-cs"/>
            </a:endParaRPr>
          </a:p>
        </p:txBody>
      </p:sp>
      <p:sp>
        <p:nvSpPr>
          <p:cNvPr id="3" name="线形标注 1 2"/>
          <p:cNvSpPr/>
          <p:nvPr/>
        </p:nvSpPr>
        <p:spPr>
          <a:xfrm>
            <a:off x="9952355" y="3676650"/>
            <a:ext cx="2087880" cy="575945"/>
          </a:xfrm>
          <a:prstGeom prst="borderCallout1">
            <a:avLst>
              <a:gd name="adj1" fmla="val 18750"/>
              <a:gd name="adj2" fmla="val -8333"/>
              <a:gd name="adj3" fmla="val 109812"/>
              <a:gd name="adj4" fmla="val -26246"/>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微软雅黑" panose="020B0503020204020204" pitchFamily="34" charset="-122"/>
                <a:ea typeface="微软雅黑" panose="020B0503020204020204" pitchFamily="34" charset="-122"/>
              </a:rPr>
              <a:t>写到第一个</a:t>
            </a:r>
            <a:endParaRPr lang="en-US" altLang="zh-CN" dirty="0">
              <a:solidFill>
                <a:srgbClr val="FF0000"/>
              </a:solidFill>
              <a:latin typeface="微软雅黑" panose="020B0503020204020204" pitchFamily="34" charset="-122"/>
              <a:ea typeface="微软雅黑" panose="020B0503020204020204" pitchFamily="34" charset="-122"/>
            </a:endParaRPr>
          </a:p>
          <a:p>
            <a:pPr algn="ctr"/>
            <a:r>
              <a:rPr lang="zh-CN" altLang="en-US" dirty="0">
                <a:solidFill>
                  <a:srgbClr val="FF0000"/>
                </a:solidFill>
                <a:latin typeface="微软雅黑" panose="020B0503020204020204" pitchFamily="34" charset="-122"/>
                <a:ea typeface="微软雅黑" panose="020B0503020204020204" pitchFamily="34" charset="-122"/>
              </a:rPr>
              <a:t>不为</a:t>
            </a:r>
            <a:r>
              <a:rPr lang="en-US" altLang="zh-CN" dirty="0">
                <a:solidFill>
                  <a:srgbClr val="FF0000"/>
                </a:solidFill>
                <a:latin typeface="微软雅黑" panose="020B0503020204020204" pitchFamily="34" charset="-122"/>
                <a:ea typeface="微软雅黑" panose="020B0503020204020204" pitchFamily="34" charset="-122"/>
              </a:rPr>
              <a:t>9</a:t>
            </a:r>
            <a:r>
              <a:rPr lang="zh-CN" altLang="en-US" dirty="0">
                <a:solidFill>
                  <a:srgbClr val="FF0000"/>
                </a:solidFill>
                <a:latin typeface="微软雅黑" panose="020B0503020204020204" pitchFamily="34" charset="-122"/>
                <a:ea typeface="微软雅黑" panose="020B0503020204020204" pitchFamily="34" charset="-122"/>
              </a:rPr>
              <a:t>的数</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
        <p:nvSpPr>
          <p:cNvPr id="37" name="灯片编号占位符 1"/>
          <p:cNvSpPr txBox="1"/>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A54D9D6D-0819-48BE-809C-2A51D04D71F0}" type="slidenum">
              <a:rPr lang="zh-CN" altLang="en-US" smtClean="0"/>
            </a:fld>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35360" y="116226"/>
            <a:ext cx="10363200" cy="1143000"/>
          </a:xfrm>
        </p:spPr>
        <p:txBody>
          <a:bodyPr/>
          <a:lstStyle/>
          <a:p>
            <a:pPr algn="l"/>
            <a:r>
              <a:rPr lang="en-US" altLang="zh-CN" sz="4800" b="1" dirty="0">
                <a:solidFill>
                  <a:schemeClr val="bg1"/>
                </a:solidFill>
                <a:latin typeface="微软雅黑" panose="020B0503020204020204" pitchFamily="34" charset="-122"/>
                <a:ea typeface="微软雅黑" panose="020B0503020204020204" pitchFamily="34" charset="-122"/>
              </a:rPr>
              <a:t>6. </a:t>
            </a:r>
            <a:r>
              <a:rPr lang="zh-CN" altLang="en-US" sz="4800" b="1" dirty="0">
                <a:solidFill>
                  <a:schemeClr val="bg1"/>
                </a:solidFill>
                <a:latin typeface="微软雅黑" panose="020B0503020204020204" pitchFamily="34" charset="-122"/>
                <a:ea typeface="微软雅黑" panose="020B0503020204020204" pitchFamily="34" charset="-122"/>
              </a:rPr>
              <a:t>用</a:t>
            </a:r>
            <a:r>
              <a:rPr lang="en-US" altLang="zh-CN" sz="4800" b="1" dirty="0">
                <a:solidFill>
                  <a:schemeClr val="bg1"/>
                </a:solidFill>
                <a:latin typeface="微软雅黑" panose="020B0503020204020204" pitchFamily="34" charset="-122"/>
                <a:ea typeface="微软雅黑" panose="020B0503020204020204" pitchFamily="34" charset="-122"/>
              </a:rPr>
              <a:t>origin</a:t>
            </a:r>
            <a:r>
              <a:rPr lang="zh-CN" altLang="en-US" sz="4800" b="1" dirty="0">
                <a:solidFill>
                  <a:schemeClr val="bg1"/>
                </a:solidFill>
                <a:latin typeface="微软雅黑" panose="020B0503020204020204" pitchFamily="34" charset="-122"/>
                <a:ea typeface="微软雅黑" panose="020B0503020204020204" pitchFamily="34" charset="-122"/>
              </a:rPr>
              <a:t>和</a:t>
            </a:r>
            <a:r>
              <a:rPr lang="en-US" altLang="zh-CN" sz="4800" b="1" dirty="0">
                <a:solidFill>
                  <a:schemeClr val="bg1"/>
                </a:solidFill>
                <a:latin typeface="微软雅黑" panose="020B0503020204020204" pitchFamily="34" charset="-122"/>
                <a:ea typeface="微软雅黑" panose="020B0503020204020204" pitchFamily="34" charset="-122"/>
              </a:rPr>
              <a:t>excel</a:t>
            </a:r>
            <a:r>
              <a:rPr lang="zh-CN" altLang="en-US" sz="4800" b="1" dirty="0">
                <a:solidFill>
                  <a:schemeClr val="bg1"/>
                </a:solidFill>
                <a:latin typeface="微软雅黑" panose="020B0503020204020204" pitchFamily="34" charset="-122"/>
                <a:ea typeface="微软雅黑" panose="020B0503020204020204" pitchFamily="34" charset="-122"/>
              </a:rPr>
              <a:t>作线性拟合</a:t>
            </a:r>
            <a:br>
              <a:rPr lang="zh-CN" altLang="en-US" sz="4800" b="1" dirty="0">
                <a:solidFill>
                  <a:schemeClr val="bg1"/>
                </a:solidFill>
                <a:latin typeface="微软雅黑" panose="020B0503020204020204" pitchFamily="34" charset="-122"/>
                <a:ea typeface="微软雅黑" panose="020B0503020204020204" pitchFamily="34" charset="-122"/>
              </a:rPr>
            </a:br>
            <a:endParaRPr lang="zh-CN" altLang="en-US" sz="4800" b="1"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rotWithShape="1">
          <a:blip r:embed="rId1"/>
          <a:srcRect b="5201"/>
          <a:stretch>
            <a:fillRect/>
          </a:stretch>
        </p:blipFill>
        <p:spPr>
          <a:xfrm>
            <a:off x="814561" y="1124744"/>
            <a:ext cx="10538023" cy="5616624"/>
          </a:xfrm>
          <a:prstGeom prst="rect">
            <a:avLst/>
          </a:prstGeom>
        </p:spPr>
      </p:pic>
      <p:pic>
        <p:nvPicPr>
          <p:cNvPr id="3" name="图片 2"/>
          <p:cNvPicPr>
            <a:picLocks noChangeAspect="1"/>
          </p:cNvPicPr>
          <p:nvPr/>
        </p:nvPicPr>
        <p:blipFill rotWithShape="1">
          <a:blip r:embed="rId2"/>
          <a:srcRect b="5703"/>
          <a:stretch>
            <a:fillRect/>
          </a:stretch>
        </p:blipFill>
        <p:spPr>
          <a:xfrm>
            <a:off x="834503" y="1124744"/>
            <a:ext cx="10562878" cy="5599990"/>
          </a:xfrm>
          <a:prstGeom prst="rect">
            <a:avLst/>
          </a:prstGeom>
        </p:spPr>
      </p:pic>
      <p:sp>
        <p:nvSpPr>
          <p:cNvPr id="4" name="灯片编号占位符 3"/>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
        <p:nvSpPr>
          <p:cNvPr id="6" name="灯片编号占位符 1"/>
          <p:cNvSpPr txBox="1"/>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A54D9D6D-0819-48BE-809C-2A51D04D71F0}" type="slidenum">
              <a:rPr lang="zh-CN" altLang="en-US" smtClean="0"/>
            </a:fld>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b="5239"/>
          <a:stretch>
            <a:fillRect/>
          </a:stretch>
        </p:blipFill>
        <p:spPr>
          <a:xfrm>
            <a:off x="305099" y="332656"/>
            <a:ext cx="11623549" cy="6192688"/>
          </a:xfrm>
          <a:prstGeom prst="rect">
            <a:avLst/>
          </a:prstGeom>
        </p:spPr>
      </p:pic>
      <p:sp>
        <p:nvSpPr>
          <p:cNvPr id="3" name="灯片编号占位符 2"/>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b="5158"/>
          <a:stretch>
            <a:fillRect/>
          </a:stretch>
        </p:blipFill>
        <p:spPr>
          <a:xfrm>
            <a:off x="191344" y="332656"/>
            <a:ext cx="11883702" cy="6336704"/>
          </a:xfrm>
          <a:prstGeom prst="rect">
            <a:avLst/>
          </a:prstGeom>
        </p:spPr>
      </p:pic>
      <p:pic>
        <p:nvPicPr>
          <p:cNvPr id="3" name="图片 2"/>
          <p:cNvPicPr>
            <a:picLocks noChangeAspect="1"/>
          </p:cNvPicPr>
          <p:nvPr/>
        </p:nvPicPr>
        <p:blipFill rotWithShape="1">
          <a:blip r:embed="rId2"/>
          <a:srcRect b="5131"/>
          <a:stretch>
            <a:fillRect/>
          </a:stretch>
        </p:blipFill>
        <p:spPr>
          <a:xfrm>
            <a:off x="59668" y="332656"/>
            <a:ext cx="12015378" cy="6408712"/>
          </a:xfrm>
          <a:prstGeom prst="rect">
            <a:avLst/>
          </a:prstGeom>
        </p:spPr>
      </p:pic>
      <p:sp>
        <p:nvSpPr>
          <p:cNvPr id="4" name="灯片编号占位符 3"/>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b="4963"/>
          <a:stretch>
            <a:fillRect/>
          </a:stretch>
        </p:blipFill>
        <p:spPr>
          <a:xfrm>
            <a:off x="119336" y="136354"/>
            <a:ext cx="11920450" cy="6369325"/>
          </a:xfrm>
          <a:prstGeom prst="rect">
            <a:avLst/>
          </a:prstGeom>
        </p:spPr>
      </p:pic>
      <p:pic>
        <p:nvPicPr>
          <p:cNvPr id="3" name="图片 2"/>
          <p:cNvPicPr>
            <a:picLocks noChangeAspect="1"/>
          </p:cNvPicPr>
          <p:nvPr/>
        </p:nvPicPr>
        <p:blipFill>
          <a:blip r:embed="rId2"/>
          <a:stretch>
            <a:fillRect/>
          </a:stretch>
        </p:blipFill>
        <p:spPr>
          <a:xfrm>
            <a:off x="839416" y="1772816"/>
            <a:ext cx="6903951" cy="3888432"/>
          </a:xfrm>
          <a:prstGeom prst="rect">
            <a:avLst/>
          </a:prstGeom>
        </p:spPr>
      </p:pic>
      <mc:AlternateContent xmlns:mc="http://schemas.openxmlformats.org/markup-compatibility/2006">
        <mc:Choice xmlns:a14="http://schemas.microsoft.com/office/drawing/2010/main" Requires="a14">
          <p:sp>
            <p:nvSpPr>
              <p:cNvPr id="9" name="对象 8"/>
              <p:cNvSpPr txBox="1"/>
              <p:nvPr/>
            </p:nvSpPr>
            <p:spPr>
              <a:xfrm>
                <a:off x="7785100" y="2781300"/>
                <a:ext cx="3927475" cy="2154238"/>
              </a:xfrm>
              <a:prstGeom prst="rect">
                <a:avLst/>
              </a:prstGeom>
              <a:noFill/>
            </p:spPr>
            <p:txBody>
              <a:bodyPr>
                <a:normAutofit/>
              </a:bodyPr>
              <a:lstStyle/>
              <a:p>
                <a14:m>
                  <m:oMathPara xmlns:m="http://schemas.openxmlformats.org/officeDocument/2006/math">
                    <m:oMathParaPr>
                      <m:jc m:val="centerGroup"/>
                    </m:oMathParaPr>
                    <m:oMath xmlns:m="http://schemas.openxmlformats.org/officeDocument/2006/math">
                      <m:r>
                        <a:rPr lang="zh-CN" altLang="en-US" sz="3200" i="1" smtClean="0">
                          <a:solidFill>
                            <a:srgbClr val="000000"/>
                          </a:solidFill>
                          <a:latin typeface="Cambria Math" panose="02040503050406030204" pitchFamily="18" charset="0"/>
                        </a:rPr>
                        <m:t>𝑟</m:t>
                      </m:r>
                      <m:r>
                        <a:rPr lang="zh-CN" altLang="en-US" sz="3200" i="1" smtClean="0">
                          <a:solidFill>
                            <a:srgbClr val="000000"/>
                          </a:solidFill>
                          <a:latin typeface="Cambria Math" panose="02040503050406030204" pitchFamily="18" charset="0"/>
                        </a:rPr>
                        <m:t>=</m:t>
                      </m:r>
                      <m:r>
                        <a:rPr lang="zh-CN" altLang="en-US" sz="3200" i="1" smtClean="0">
                          <a:solidFill>
                            <a:srgbClr val="000000"/>
                          </a:solidFill>
                          <a:latin typeface="Cambria Math" panose="02040503050406030204" pitchFamily="18" charset="0"/>
                        </a:rPr>
                        <m:t>0</m:t>
                      </m:r>
                      <m:r>
                        <a:rPr lang="zh-CN" altLang="en-US" sz="3200" i="1" smtClean="0">
                          <a:solidFill>
                            <a:srgbClr val="000000"/>
                          </a:solidFill>
                          <a:latin typeface="Cambria Math" panose="02040503050406030204" pitchFamily="18" charset="0"/>
                        </a:rPr>
                        <m:t>.</m:t>
                      </m:r>
                      <m:r>
                        <a:rPr lang="zh-CN" altLang="en-US" sz="3200" i="1" smtClean="0">
                          <a:solidFill>
                            <a:srgbClr val="000000"/>
                          </a:solidFill>
                          <a:latin typeface="Cambria Math" panose="02040503050406030204" pitchFamily="18" charset="0"/>
                        </a:rPr>
                        <m:t>99</m:t>
                      </m:r>
                      <m:r>
                        <a:rPr lang="en-US" altLang="zh-CN" sz="3200" b="0" i="0" smtClean="0">
                          <a:solidFill>
                            <a:srgbClr val="000000"/>
                          </a:solidFill>
                          <a:latin typeface="Cambria Math" panose="02040503050406030204" pitchFamily="18" charset="0"/>
                        </a:rPr>
                        <m:t>7</m:t>
                      </m:r>
                    </m:oMath>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𝑅</m:t>
                          </m:r>
                        </m:e>
                        <m:sub>
                          <m:r>
                            <a:rPr lang="zh-CN" altLang="en-US" sz="3200" i="1">
                              <a:solidFill>
                                <a:srgbClr val="000000"/>
                              </a:solidFill>
                              <a:latin typeface="Cambria Math" panose="02040503050406030204" pitchFamily="18" charset="0"/>
                            </a:rPr>
                            <m:t>0</m:t>
                          </m:r>
                        </m:sub>
                      </m:sSub>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70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8</m:t>
                      </m:r>
                      <m:r>
                        <a:rPr lang="en-US" altLang="zh-CN" sz="3200" b="0" i="0" smtClean="0">
                          <a:solidFill>
                            <a:srgbClr val="000000"/>
                          </a:solidFill>
                          <a:latin typeface="Cambria Math" panose="02040503050406030204" pitchFamily="18" charset="0"/>
                        </a:rPr>
                        <m:t>(</m:t>
                      </m:r>
                      <m:r>
                        <a:rPr lang="zh-CN" altLang="en-US" sz="3200" i="0">
                          <a:solidFill>
                            <a:srgbClr val="000000"/>
                          </a:solidFill>
                          <a:latin typeface="Cambria Math" panose="02040503050406030204" pitchFamily="18" charset="0"/>
                        </a:rPr>
                        <m:t>3</m:t>
                      </m:r>
                      <m:r>
                        <a:rPr lang="zh-CN" altLang="en-US" sz="3200" i="1">
                          <a:solidFill>
                            <a:srgbClr val="000000"/>
                          </a:solidFill>
                          <a:latin typeface="Cambria Math" panose="02040503050406030204" pitchFamily="18" charset="0"/>
                        </a:rPr>
                        <m:t>)</m:t>
                      </m:r>
                      <m:r>
                        <m:rPr>
                          <m:sty m:val="p"/>
                        </m:rPr>
                        <a:rPr lang="zh-CN" altLang="en-US" sz="3200" i="1">
                          <a:solidFill>
                            <a:srgbClr val="000000"/>
                          </a:solidFill>
                          <a:latin typeface="Cambria Math" panose="02040503050406030204" pitchFamily="18" charset="0"/>
                        </a:rPr>
                        <m:t>Ω</m:t>
                      </m:r>
                    </m:oMath>
                    <m:oMath xmlns:m="http://schemas.openxmlformats.org/officeDocument/2006/math">
                      <m:r>
                        <a:rPr lang="zh-CN" altLang="en-US" sz="3200" i="1">
                          <a:solidFill>
                            <a:srgbClr val="000000"/>
                          </a:solidFill>
                          <a:latin typeface="Cambria Math" panose="02040503050406030204" pitchFamily="18" charset="0"/>
                        </a:rPr>
                        <m:t>𝑘</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28</m:t>
                      </m:r>
                      <m:r>
                        <a:rPr lang="zh-CN" altLang="en-US" sz="3200" i="0">
                          <a:solidFill>
                            <a:srgbClr val="000000"/>
                          </a:solidFill>
                          <a:latin typeface="Cambria Math" panose="02040503050406030204" pitchFamily="18" charset="0"/>
                        </a:rPr>
                        <m:t>8</m:t>
                      </m:r>
                      <m:r>
                        <a:rPr lang="en-US" altLang="zh-CN" sz="3200" b="0" i="1" smtClean="0">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9</m:t>
                      </m:r>
                      <m:r>
                        <a:rPr lang="zh-CN" altLang="en-US" sz="3200" i="1">
                          <a:solidFill>
                            <a:srgbClr val="000000"/>
                          </a:solidFill>
                          <a:latin typeface="Cambria Math" panose="02040503050406030204" pitchFamily="18" charset="0"/>
                        </a:rPr>
                        <m:t>)</m:t>
                      </m:r>
                      <m:r>
                        <m:rPr>
                          <m:sty m:val="p"/>
                        </m:rPr>
                        <a:rPr lang="zh-CN" altLang="en-US" sz="3200" i="1">
                          <a:solidFill>
                            <a:srgbClr val="000000"/>
                          </a:solidFill>
                          <a:latin typeface="Cambria Math" panose="02040503050406030204" pitchFamily="18" charset="0"/>
                        </a:rPr>
                        <m:t>Ω</m:t>
                      </m:r>
                      <m:r>
                        <a:rPr lang="zh-CN" altLang="en-US" sz="3200" i="1">
                          <a:solidFill>
                            <a:srgbClr val="000000"/>
                          </a:solidFill>
                          <a:latin typeface="Cambria Math" panose="02040503050406030204" pitchFamily="18" charset="0"/>
                        </a:rPr>
                        <m:t>/°</m:t>
                      </m:r>
                      <m:r>
                        <m:rPr>
                          <m:sty m:val="p"/>
                        </m:rPr>
                        <a:rPr lang="zh-CN" altLang="en-US" sz="3200" i="0">
                          <a:solidFill>
                            <a:srgbClr val="000000"/>
                          </a:solidFill>
                          <a:latin typeface="Cambria Math" panose="02040503050406030204" pitchFamily="18" charset="0"/>
                        </a:rPr>
                        <m:t>C</m:t>
                      </m:r>
                    </m:oMath>
                    <m:oMath xmlns:m="http://schemas.openxmlformats.org/officeDocument/2006/math">
                      <m:r>
                        <a:rPr lang="zh-CN" altLang="en-US" sz="3200" i="1">
                          <a:solidFill>
                            <a:srgbClr val="000000"/>
                          </a:solidFill>
                          <a:latin typeface="Cambria Math" panose="02040503050406030204" pitchFamily="18" charset="0"/>
                        </a:rPr>
                        <m:t>𝑅</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70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8</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28</m:t>
                      </m:r>
                      <m:r>
                        <a:rPr lang="zh-CN" altLang="en-US" sz="3200" i="0">
                          <a:solidFill>
                            <a:srgbClr val="000000"/>
                          </a:solidFill>
                          <a:latin typeface="Cambria Math" panose="02040503050406030204" pitchFamily="18" charset="0"/>
                        </a:rPr>
                        <m:t>8</m:t>
                      </m:r>
                      <m:r>
                        <a:rPr lang="zh-CN" altLang="en-US" sz="3200" i="1">
                          <a:solidFill>
                            <a:srgbClr val="000000"/>
                          </a:solidFill>
                          <a:latin typeface="Cambria Math" panose="02040503050406030204" pitchFamily="18" charset="0"/>
                        </a:rPr>
                        <m:t>𝜃</m:t>
                      </m:r>
                    </m:oMath>
                  </m:oMathPara>
                </a14:m>
                <a:endParaRPr lang="zh-CN" altLang="en-US" sz="3200" dirty="0">
                  <a:latin typeface="Times New Roman" panose="02020603050405020304" pitchFamily="18" charset="0"/>
                  <a:cs typeface="Times New Roman" panose="02020603050405020304" pitchFamily="18" charset="0"/>
                </a:endParaRPr>
              </a:p>
            </p:txBody>
          </p:sp>
        </mc:Choice>
        <mc:Fallback>
          <p:sp>
            <p:nvSpPr>
              <p:cNvPr id="9" name="对象 8"/>
              <p:cNvSpPr txBox="1">
                <a:spLocks noRot="1" noChangeAspect="1" noMove="1" noResize="1" noEditPoints="1" noAdjustHandles="1" noChangeArrowheads="1" noChangeShapeType="1" noTextEdit="1"/>
              </p:cNvSpPr>
              <p:nvPr/>
            </p:nvSpPr>
            <p:spPr>
              <a:xfrm>
                <a:off x="7785100" y="2781300"/>
                <a:ext cx="3927475" cy="2154238"/>
              </a:xfrm>
              <a:prstGeom prst="rect">
                <a:avLst/>
              </a:prstGeom>
              <a:blipFill rotWithShape="1">
                <a:blip r:embed="rId3"/>
                <a:stretch>
                  <a:fillRect b="1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127448" y="692696"/>
            <a:ext cx="7128792" cy="5786504"/>
          </a:xfrm>
          <a:prstGeom prst="rect">
            <a:avLst/>
          </a:prstGeom>
        </p:spPr>
      </p:pic>
      <p:pic>
        <p:nvPicPr>
          <p:cNvPr id="3" name="图片 2"/>
          <p:cNvPicPr>
            <a:picLocks noChangeAspect="1"/>
          </p:cNvPicPr>
          <p:nvPr/>
        </p:nvPicPr>
        <p:blipFill>
          <a:blip r:embed="rId2"/>
          <a:stretch>
            <a:fillRect/>
          </a:stretch>
        </p:blipFill>
        <p:spPr>
          <a:xfrm>
            <a:off x="2999656" y="364093"/>
            <a:ext cx="8837659" cy="6161251"/>
          </a:xfrm>
          <a:prstGeom prst="rect">
            <a:avLst/>
          </a:prstGeom>
        </p:spPr>
      </p:pic>
      <p:sp>
        <p:nvSpPr>
          <p:cNvPr id="4" name="灯片编号占位符 3"/>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31504" y="476672"/>
            <a:ext cx="7344816" cy="6116705"/>
          </a:xfrm>
          <a:prstGeom prst="rect">
            <a:avLst/>
          </a:prstGeom>
        </p:spPr>
      </p:pic>
      <p:sp>
        <p:nvSpPr>
          <p:cNvPr id="2" name="灯片编号占位符 1"/>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
        <p:nvSpPr>
          <p:cNvPr id="4" name="灯片编号占位符 1"/>
          <p:cNvSpPr txBox="1"/>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A54D9D6D-0819-48BE-809C-2A51D04D71F0}" type="slidenum">
              <a:rPr lang="zh-CN" altLang="en-US" smtClean="0"/>
            </a:fld>
            <a:endParaRPr lang="zh-CN" altLang="en-US" dirty="0"/>
          </a:p>
        </p:txBody>
      </p:sp>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863752" y="6093296"/>
            <a:ext cx="4801314"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图名：电阻阻值随温度的变化关系</a:t>
            </a:r>
            <a:endParaRPr lang="zh-CN" altLang="en-US" sz="240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rotWithShape="1">
          <a:blip r:embed="rId1"/>
          <a:srcRect l="5941" t="6465" r="8911" b="4326"/>
          <a:stretch>
            <a:fillRect/>
          </a:stretch>
        </p:blipFill>
        <p:spPr>
          <a:xfrm>
            <a:off x="2351583" y="404664"/>
            <a:ext cx="7090179" cy="5688632"/>
          </a:xfrm>
          <a:prstGeom prst="rect">
            <a:avLst/>
          </a:prstGeom>
          <a:noFill/>
        </p:spPr>
      </p:pic>
      <p:pic>
        <p:nvPicPr>
          <p:cNvPr id="3" name="图片 2"/>
          <p:cNvPicPr>
            <a:picLocks noChangeAspect="1"/>
          </p:cNvPicPr>
          <p:nvPr/>
        </p:nvPicPr>
        <p:blipFill>
          <a:blip r:embed="rId2"/>
          <a:stretch>
            <a:fillRect/>
          </a:stretch>
        </p:blipFill>
        <p:spPr>
          <a:xfrm>
            <a:off x="7968208" y="2204864"/>
            <a:ext cx="2676376" cy="2511770"/>
          </a:xfrm>
          <a:prstGeom prst="rect">
            <a:avLst/>
          </a:prstGeom>
        </p:spPr>
      </p:pic>
      <p:sp>
        <p:nvSpPr>
          <p:cNvPr id="4" name="灯片编号占位符 3"/>
          <p:cNvSpPr>
            <a:spLocks noGrp="1"/>
          </p:cNvSpPr>
          <p:nvPr>
            <p:ph type="sldNum" sz="quarter" idx="12"/>
          </p:nvPr>
        </p:nvSpPr>
        <p:spPr/>
        <p:txBody>
          <a:bodyPr/>
          <a:lstStyle/>
          <a:p>
            <a:pPr>
              <a:defRPr/>
            </a:pPr>
            <a:fld id="{D8E7EC9E-73B9-46C1-A642-DD99018DC158}" type="slidenum">
              <a:rPr lang="en-US" altLang="zh-CN" smtClean="0"/>
            </a:fld>
            <a:endParaRPr lang="en-US" altLang="zh-CN"/>
          </a:p>
        </p:txBody>
      </p:sp>
      <p:sp>
        <p:nvSpPr>
          <p:cNvPr id="6" name="灯片编号占位符 1"/>
          <p:cNvSpPr txBox="1"/>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A54D9D6D-0819-48BE-809C-2A51D04D71F0}" type="slidenum">
              <a:rPr lang="zh-CN" altLang="en-US" smtClean="0"/>
            </a:fld>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b="5645"/>
          <a:stretch>
            <a:fillRect/>
          </a:stretch>
        </p:blipFill>
        <p:spPr>
          <a:xfrm>
            <a:off x="191344" y="317908"/>
            <a:ext cx="11809312" cy="6264696"/>
          </a:xfrm>
          <a:prstGeom prst="rect">
            <a:avLst/>
          </a:prstGeom>
        </p:spPr>
      </p:pic>
      <p:sp>
        <p:nvSpPr>
          <p:cNvPr id="3" name="椭圆 2"/>
          <p:cNvSpPr/>
          <p:nvPr/>
        </p:nvSpPr>
        <p:spPr>
          <a:xfrm>
            <a:off x="10848528" y="620688"/>
            <a:ext cx="1008112" cy="79208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2495600" y="358207"/>
            <a:ext cx="1008112" cy="79208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46058" y="229368"/>
            <a:ext cx="1008112" cy="79208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p:cNvSpPr>
            <a:spLocks noGrp="1"/>
          </p:cNvSpPr>
          <p:nvPr>
            <p:ph type="sldNum" sz="quarter" idx="12"/>
          </p:nvPr>
        </p:nvSpPr>
        <p:spPr/>
        <p:txBody>
          <a:bodyPr/>
          <a:lstStyle/>
          <a:p>
            <a:pPr>
              <a:defRPr/>
            </a:pPr>
            <a:fld id="{7FA710DD-BCD0-4FBD-BFC9-938EC3A1E502}"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3352" y="16901"/>
            <a:ext cx="1293603" cy="6858000"/>
          </a:xfrm>
          <a:prstGeom prst="rect">
            <a:avLst/>
          </a:prstGeom>
        </p:spPr>
      </p:pic>
      <p:sp>
        <p:nvSpPr>
          <p:cNvPr id="3" name="椭圆 2"/>
          <p:cNvSpPr/>
          <p:nvPr/>
        </p:nvSpPr>
        <p:spPr>
          <a:xfrm>
            <a:off x="234387" y="4941168"/>
            <a:ext cx="1008112" cy="79208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20" y="19073"/>
            <a:ext cx="7030110" cy="6722295"/>
          </a:xfrm>
          <a:prstGeom prst="rect">
            <a:avLst/>
          </a:prstGeom>
        </p:spPr>
      </p:pic>
      <p:sp>
        <p:nvSpPr>
          <p:cNvPr id="5" name="椭圆 4"/>
          <p:cNvSpPr/>
          <p:nvPr/>
        </p:nvSpPr>
        <p:spPr>
          <a:xfrm>
            <a:off x="1775520" y="2485352"/>
            <a:ext cx="936104" cy="5116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3"/>
          <a:stretch>
            <a:fillRect/>
          </a:stretch>
        </p:blipFill>
        <p:spPr>
          <a:xfrm>
            <a:off x="282100" y="-52039"/>
            <a:ext cx="8351894" cy="6793407"/>
          </a:xfrm>
          <a:prstGeom prst="rect">
            <a:avLst/>
          </a:prstGeom>
        </p:spPr>
      </p:pic>
      <p:sp>
        <p:nvSpPr>
          <p:cNvPr id="10" name="椭圆 9"/>
          <p:cNvSpPr/>
          <p:nvPr/>
        </p:nvSpPr>
        <p:spPr>
          <a:xfrm>
            <a:off x="263352" y="2586543"/>
            <a:ext cx="1266126"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631504" y="3744796"/>
            <a:ext cx="1266126"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173690" y="5805264"/>
            <a:ext cx="1266126"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1944" y="117666"/>
            <a:ext cx="3794167" cy="6453995"/>
          </a:xfrm>
          <a:prstGeom prst="rect">
            <a:avLst/>
          </a:prstGeom>
        </p:spPr>
      </p:pic>
      <p:sp>
        <p:nvSpPr>
          <p:cNvPr id="14" name="椭圆 13"/>
          <p:cNvSpPr/>
          <p:nvPr/>
        </p:nvSpPr>
        <p:spPr>
          <a:xfrm>
            <a:off x="5663952" y="836712"/>
            <a:ext cx="2160240"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8072939" y="908720"/>
            <a:ext cx="1266126"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0" grpId="0" animBg="1"/>
      <p:bldP spid="11" grpId="0" animBg="1"/>
      <p:bldP spid="12" grpId="0" animBg="1"/>
      <p:bldP spid="14" grpId="0" animBg="1"/>
      <p:bldP spid="1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b="5206"/>
          <a:stretch>
            <a:fillRect/>
          </a:stretch>
        </p:blipFill>
        <p:spPr>
          <a:xfrm>
            <a:off x="263352" y="260648"/>
            <a:ext cx="11619533" cy="6192687"/>
          </a:xfrm>
          <a:prstGeom prst="rect">
            <a:avLst/>
          </a:prstGeom>
        </p:spPr>
      </p:pic>
      <p:sp>
        <p:nvSpPr>
          <p:cNvPr id="3" name="椭圆 2"/>
          <p:cNvSpPr/>
          <p:nvPr/>
        </p:nvSpPr>
        <p:spPr>
          <a:xfrm>
            <a:off x="2783632" y="404664"/>
            <a:ext cx="504056" cy="57606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10776520" y="595915"/>
            <a:ext cx="864096" cy="57606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1584" y="2602098"/>
            <a:ext cx="3829584" cy="2381582"/>
          </a:xfrm>
          <a:prstGeom prst="rect">
            <a:avLst/>
          </a:prstGeom>
        </p:spPr>
      </p:pic>
      <p:pic>
        <p:nvPicPr>
          <p:cNvPr id="6" name="图片 5"/>
          <p:cNvPicPr>
            <a:picLocks noChangeAspect="1"/>
          </p:cNvPicPr>
          <p:nvPr/>
        </p:nvPicPr>
        <p:blipFill rotWithShape="1">
          <a:blip r:embed="rId3"/>
          <a:srcRect b="5714"/>
          <a:stretch>
            <a:fillRect/>
          </a:stretch>
        </p:blipFill>
        <p:spPr>
          <a:xfrm>
            <a:off x="144074" y="188641"/>
            <a:ext cx="11818036" cy="6264696"/>
          </a:xfrm>
          <a:prstGeom prst="rect">
            <a:avLst/>
          </a:prstGeom>
        </p:spPr>
      </p:pic>
      <p:sp>
        <p:nvSpPr>
          <p:cNvPr id="7" name="圆角矩形 6"/>
          <p:cNvSpPr/>
          <p:nvPr/>
        </p:nvSpPr>
        <p:spPr>
          <a:xfrm>
            <a:off x="3719736" y="2060848"/>
            <a:ext cx="1224136" cy="2880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3654308" y="4682936"/>
            <a:ext cx="1224136" cy="2880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灯片编号占位符 8"/>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b="5511"/>
          <a:stretch>
            <a:fillRect/>
          </a:stretch>
        </p:blipFill>
        <p:spPr>
          <a:xfrm>
            <a:off x="263352" y="293672"/>
            <a:ext cx="11730383" cy="6231672"/>
          </a:xfrm>
          <a:prstGeom prst="rect">
            <a:avLst/>
          </a:prstGeom>
        </p:spPr>
      </p:pic>
      <p:sp>
        <p:nvSpPr>
          <p:cNvPr id="3" name="圆角矩形 2"/>
          <p:cNvSpPr/>
          <p:nvPr/>
        </p:nvSpPr>
        <p:spPr>
          <a:xfrm>
            <a:off x="307596" y="2983936"/>
            <a:ext cx="1512168" cy="2880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a:off x="435132" y="4941168"/>
            <a:ext cx="2016224" cy="72008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mc:AlternateContent xmlns:mc="http://schemas.openxmlformats.org/markup-compatibility/2006">
        <mc:Choice xmlns:a14="http://schemas.microsoft.com/office/drawing/2010/main" Requires="a14">
          <p:sp>
            <p:nvSpPr>
              <p:cNvPr id="7" name="对象 8"/>
              <p:cNvSpPr txBox="1"/>
              <p:nvPr/>
            </p:nvSpPr>
            <p:spPr>
              <a:xfrm>
                <a:off x="7856358" y="3645024"/>
                <a:ext cx="3927475" cy="2154238"/>
              </a:xfrm>
              <a:prstGeom prst="rect">
                <a:avLst/>
              </a:prstGeom>
              <a:solidFill>
                <a:schemeClr val="tx1"/>
              </a:solidFill>
            </p:spPr>
            <p:txBody>
              <a:bodyPr>
                <a:normAutofit/>
              </a:bodyPr>
              <a:lstStyle/>
              <a:p>
                <a14:m>
                  <m:oMathPara xmlns:m="http://schemas.openxmlformats.org/officeDocument/2006/math">
                    <m:oMathParaPr>
                      <m:jc m:val="centerGroup"/>
                    </m:oMathParaPr>
                    <m:oMath xmlns:m="http://schemas.openxmlformats.org/officeDocument/2006/math">
                      <m:r>
                        <a:rPr lang="zh-CN" altLang="en-US" sz="3200" i="1" smtClean="0">
                          <a:solidFill>
                            <a:srgbClr val="000000"/>
                          </a:solidFill>
                          <a:latin typeface="Cambria Math" panose="02040503050406030204" pitchFamily="18" charset="0"/>
                        </a:rPr>
                        <m:t>𝑟</m:t>
                      </m:r>
                      <m:r>
                        <a:rPr lang="zh-CN" altLang="en-US" sz="3200" i="1" smtClean="0">
                          <a:solidFill>
                            <a:srgbClr val="000000"/>
                          </a:solidFill>
                          <a:latin typeface="Cambria Math" panose="02040503050406030204" pitchFamily="18" charset="0"/>
                        </a:rPr>
                        <m:t>=</m:t>
                      </m:r>
                      <m:r>
                        <a:rPr lang="zh-CN" altLang="en-US" sz="3200" i="1" smtClean="0">
                          <a:solidFill>
                            <a:srgbClr val="000000"/>
                          </a:solidFill>
                          <a:latin typeface="Cambria Math" panose="02040503050406030204" pitchFamily="18" charset="0"/>
                        </a:rPr>
                        <m:t>0</m:t>
                      </m:r>
                      <m:r>
                        <a:rPr lang="zh-CN" altLang="en-US" sz="3200" i="1" smtClean="0">
                          <a:solidFill>
                            <a:srgbClr val="000000"/>
                          </a:solidFill>
                          <a:latin typeface="Cambria Math" panose="02040503050406030204" pitchFamily="18" charset="0"/>
                        </a:rPr>
                        <m:t>.</m:t>
                      </m:r>
                      <m:r>
                        <a:rPr lang="zh-CN" altLang="en-US" sz="3200" i="1" smtClean="0">
                          <a:solidFill>
                            <a:srgbClr val="000000"/>
                          </a:solidFill>
                          <a:latin typeface="Cambria Math" panose="02040503050406030204" pitchFamily="18" charset="0"/>
                        </a:rPr>
                        <m:t>99</m:t>
                      </m:r>
                      <m:r>
                        <a:rPr lang="en-US" altLang="zh-CN" sz="3200" b="0" i="0" smtClean="0">
                          <a:solidFill>
                            <a:srgbClr val="000000"/>
                          </a:solidFill>
                          <a:latin typeface="Cambria Math" panose="02040503050406030204" pitchFamily="18" charset="0"/>
                        </a:rPr>
                        <m:t>7</m:t>
                      </m:r>
                    </m:oMath>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𝑅</m:t>
                          </m:r>
                        </m:e>
                        <m:sub>
                          <m:r>
                            <a:rPr lang="zh-CN" altLang="en-US" sz="3200" i="1">
                              <a:solidFill>
                                <a:srgbClr val="000000"/>
                              </a:solidFill>
                              <a:latin typeface="Cambria Math" panose="02040503050406030204" pitchFamily="18" charset="0"/>
                            </a:rPr>
                            <m:t>0</m:t>
                          </m:r>
                        </m:sub>
                      </m:sSub>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70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8</m:t>
                      </m:r>
                      <m:r>
                        <a:rPr lang="en-US" altLang="zh-CN" sz="3200" b="0" i="0" smtClean="0">
                          <a:solidFill>
                            <a:srgbClr val="000000"/>
                          </a:solidFill>
                          <a:latin typeface="Cambria Math" panose="02040503050406030204" pitchFamily="18" charset="0"/>
                        </a:rPr>
                        <m:t>(</m:t>
                      </m:r>
                      <m:r>
                        <a:rPr lang="zh-CN" altLang="en-US" sz="3200" i="0">
                          <a:solidFill>
                            <a:srgbClr val="000000"/>
                          </a:solidFill>
                          <a:latin typeface="Cambria Math" panose="02040503050406030204" pitchFamily="18" charset="0"/>
                        </a:rPr>
                        <m:t>3</m:t>
                      </m:r>
                      <m:r>
                        <a:rPr lang="zh-CN" altLang="en-US" sz="3200" i="1">
                          <a:solidFill>
                            <a:srgbClr val="000000"/>
                          </a:solidFill>
                          <a:latin typeface="Cambria Math" panose="02040503050406030204" pitchFamily="18" charset="0"/>
                        </a:rPr>
                        <m:t>)</m:t>
                      </m:r>
                      <m:r>
                        <m:rPr>
                          <m:sty m:val="p"/>
                        </m:rPr>
                        <a:rPr lang="zh-CN" altLang="en-US" sz="3200" i="1">
                          <a:solidFill>
                            <a:srgbClr val="000000"/>
                          </a:solidFill>
                          <a:latin typeface="Cambria Math" panose="02040503050406030204" pitchFamily="18" charset="0"/>
                        </a:rPr>
                        <m:t>Ω</m:t>
                      </m:r>
                    </m:oMath>
                    <m:oMath xmlns:m="http://schemas.openxmlformats.org/officeDocument/2006/math">
                      <m:r>
                        <a:rPr lang="zh-CN" altLang="en-US" sz="3200" i="1">
                          <a:solidFill>
                            <a:srgbClr val="000000"/>
                          </a:solidFill>
                          <a:latin typeface="Cambria Math" panose="02040503050406030204" pitchFamily="18" charset="0"/>
                        </a:rPr>
                        <m:t>𝑘</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28</m:t>
                      </m:r>
                      <m:r>
                        <a:rPr lang="zh-CN" altLang="en-US" sz="3200" i="0">
                          <a:solidFill>
                            <a:srgbClr val="000000"/>
                          </a:solidFill>
                          <a:latin typeface="Cambria Math" panose="02040503050406030204" pitchFamily="18" charset="0"/>
                        </a:rPr>
                        <m:t>8</m:t>
                      </m:r>
                      <m:r>
                        <a:rPr lang="en-US" altLang="zh-CN" sz="3200" b="0" i="1" smtClean="0">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9</m:t>
                      </m:r>
                      <m:r>
                        <a:rPr lang="zh-CN" altLang="en-US" sz="3200" i="1">
                          <a:solidFill>
                            <a:srgbClr val="000000"/>
                          </a:solidFill>
                          <a:latin typeface="Cambria Math" panose="02040503050406030204" pitchFamily="18" charset="0"/>
                        </a:rPr>
                        <m:t>)</m:t>
                      </m:r>
                      <m:r>
                        <m:rPr>
                          <m:sty m:val="p"/>
                        </m:rPr>
                        <a:rPr lang="zh-CN" altLang="en-US" sz="3200" i="1">
                          <a:solidFill>
                            <a:srgbClr val="000000"/>
                          </a:solidFill>
                          <a:latin typeface="Cambria Math" panose="02040503050406030204" pitchFamily="18" charset="0"/>
                        </a:rPr>
                        <m:t>Ω</m:t>
                      </m:r>
                      <m:r>
                        <a:rPr lang="zh-CN" altLang="en-US" sz="3200" i="1">
                          <a:solidFill>
                            <a:srgbClr val="000000"/>
                          </a:solidFill>
                          <a:latin typeface="Cambria Math" panose="02040503050406030204" pitchFamily="18" charset="0"/>
                        </a:rPr>
                        <m:t>/°</m:t>
                      </m:r>
                      <m:r>
                        <m:rPr>
                          <m:sty m:val="p"/>
                        </m:rPr>
                        <a:rPr lang="zh-CN" altLang="en-US" sz="3200" i="0">
                          <a:solidFill>
                            <a:srgbClr val="000000"/>
                          </a:solidFill>
                          <a:latin typeface="Cambria Math" panose="02040503050406030204" pitchFamily="18" charset="0"/>
                        </a:rPr>
                        <m:t>C</m:t>
                      </m:r>
                    </m:oMath>
                    <m:oMath xmlns:m="http://schemas.openxmlformats.org/officeDocument/2006/math">
                      <m:r>
                        <a:rPr lang="zh-CN" altLang="en-US" sz="3200" i="1">
                          <a:solidFill>
                            <a:srgbClr val="000000"/>
                          </a:solidFill>
                          <a:latin typeface="Cambria Math" panose="02040503050406030204" pitchFamily="18" charset="0"/>
                        </a:rPr>
                        <m:t>𝑅</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70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8</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28</m:t>
                      </m:r>
                      <m:r>
                        <a:rPr lang="zh-CN" altLang="en-US" sz="3200" i="0">
                          <a:solidFill>
                            <a:srgbClr val="000000"/>
                          </a:solidFill>
                          <a:latin typeface="Cambria Math" panose="02040503050406030204" pitchFamily="18" charset="0"/>
                        </a:rPr>
                        <m:t>8</m:t>
                      </m:r>
                      <m:r>
                        <a:rPr lang="zh-CN" altLang="en-US" sz="3200" i="1">
                          <a:solidFill>
                            <a:srgbClr val="000000"/>
                          </a:solidFill>
                          <a:latin typeface="Cambria Math" panose="02040503050406030204" pitchFamily="18" charset="0"/>
                        </a:rPr>
                        <m:t>𝜃</m:t>
                      </m:r>
                    </m:oMath>
                  </m:oMathPara>
                </a14:m>
                <a:endParaRPr lang="zh-CN" altLang="en-US" sz="3200" dirty="0">
                  <a:latin typeface="Times New Roman" panose="02020603050405020304" pitchFamily="18" charset="0"/>
                  <a:cs typeface="Times New Roman" panose="02020603050405020304" pitchFamily="18" charset="0"/>
                </a:endParaRPr>
              </a:p>
            </p:txBody>
          </p:sp>
        </mc:Choice>
        <mc:Fallback>
          <p:sp>
            <p:nvSpPr>
              <p:cNvPr id="7" name="对象 8"/>
              <p:cNvSpPr txBox="1">
                <a:spLocks noRot="1" noChangeAspect="1" noMove="1" noResize="1" noEditPoints="1" noAdjustHandles="1" noChangeArrowheads="1" noChangeShapeType="1" noTextEdit="1"/>
              </p:cNvSpPr>
              <p:nvPr/>
            </p:nvSpPr>
            <p:spPr>
              <a:xfrm>
                <a:off x="7856358" y="3645024"/>
                <a:ext cx="3927475" cy="2154238"/>
              </a:xfrm>
              <a:prstGeom prst="rect">
                <a:avLst/>
              </a:prstGeom>
              <a:blipFill rotWithShape="1">
                <a:blip r:embed="rId2"/>
                <a:stretch>
                  <a:fillRect l="-4" t="-6" r="4" b="2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199456" y="1916832"/>
            <a:ext cx="9750814" cy="4464496"/>
          </a:xfrm>
          <a:prstGeom prst="rect">
            <a:avLst/>
          </a:prstGeom>
        </p:spPr>
      </p:pic>
      <p:sp>
        <p:nvSpPr>
          <p:cNvPr id="3" name="文本框 2"/>
          <p:cNvSpPr txBox="1"/>
          <p:nvPr/>
        </p:nvSpPr>
        <p:spPr>
          <a:xfrm>
            <a:off x="2423592" y="620688"/>
            <a:ext cx="6391493" cy="769441"/>
          </a:xfrm>
          <a:prstGeom prst="rect">
            <a:avLst/>
          </a:prstGeom>
          <a:noFill/>
        </p:spPr>
        <p:txBody>
          <a:bodyPr wrap="none" rtlCol="0">
            <a:spAutoFit/>
          </a:bodyPr>
          <a:lstStyle/>
          <a:p>
            <a:r>
              <a:rPr lang="zh-CN" altLang="en-US" sz="4400" dirty="0">
                <a:latin typeface="微软雅黑" panose="020B0503020204020204" pitchFamily="34" charset="-122"/>
                <a:ea typeface="微软雅黑" panose="020B0503020204020204" pitchFamily="34" charset="-122"/>
              </a:rPr>
              <a:t>请根据作图规则修改该图</a:t>
            </a:r>
            <a:endParaRPr lang="zh-CN" altLang="en-US" sz="44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335360" y="908720"/>
            <a:ext cx="7748254" cy="5184576"/>
          </a:xfrm>
          <a:prstGeom prst="rect">
            <a:avLst/>
          </a:prstGeom>
        </p:spPr>
      </p:pic>
      <p:sp>
        <p:nvSpPr>
          <p:cNvPr id="6" name="文本框 5"/>
          <p:cNvSpPr txBox="1"/>
          <p:nvPr/>
        </p:nvSpPr>
        <p:spPr>
          <a:xfrm>
            <a:off x="8328248" y="1988840"/>
            <a:ext cx="2236510" cy="584775"/>
          </a:xfrm>
          <a:prstGeom prst="rect">
            <a:avLst/>
          </a:prstGeom>
          <a:noFill/>
        </p:spPr>
        <p:txBody>
          <a:bodyPr wrap="none" rtlCol="0">
            <a:spAutoFit/>
          </a:bodyPr>
          <a:lstStyle/>
          <a:p>
            <a:r>
              <a:rPr lang="zh-CN" altLang="en-US" sz="3200" dirty="0">
                <a:latin typeface="微软雅黑" panose="020B0503020204020204" pitchFamily="34" charset="-122"/>
                <a:ea typeface="微软雅黑" panose="020B0503020204020204" pitchFamily="34" charset="-122"/>
              </a:rPr>
              <a:t>拟合结果：</a:t>
            </a:r>
            <a:endParaRPr lang="zh-CN" altLang="en-US" sz="32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mc:AlternateContent xmlns:mc="http://schemas.openxmlformats.org/markup-compatibility/2006">
        <mc:Choice xmlns:a14="http://schemas.microsoft.com/office/drawing/2010/main" Requires="a14">
          <p:sp>
            <p:nvSpPr>
              <p:cNvPr id="8" name="对象 8"/>
              <p:cNvSpPr txBox="1"/>
              <p:nvPr/>
            </p:nvSpPr>
            <p:spPr>
              <a:xfrm>
                <a:off x="8258240" y="2421920"/>
                <a:ext cx="3927475" cy="2154238"/>
              </a:xfrm>
              <a:prstGeom prst="rect">
                <a:avLst/>
              </a:prstGeom>
              <a:solidFill>
                <a:schemeClr val="tx1"/>
              </a:solidFill>
            </p:spPr>
            <p:txBody>
              <a:bodyPr>
                <a:normAutofit/>
              </a:bodyPr>
              <a:lstStyle/>
              <a:p>
                <a14:m>
                  <m:oMathPara xmlns:m="http://schemas.openxmlformats.org/officeDocument/2006/math">
                    <m:oMathParaPr>
                      <m:jc m:val="centerGroup"/>
                    </m:oMathParaPr>
                    <m:oMath xmlns:m="http://schemas.openxmlformats.org/officeDocument/2006/math">
                      <m:r>
                        <a:rPr lang="zh-CN" altLang="en-US" sz="3200" i="1" smtClean="0">
                          <a:solidFill>
                            <a:srgbClr val="000000"/>
                          </a:solidFill>
                          <a:latin typeface="Cambria Math" panose="02040503050406030204" pitchFamily="18" charset="0"/>
                        </a:rPr>
                        <m:t>𝑟</m:t>
                      </m:r>
                      <m:r>
                        <a:rPr lang="zh-CN" altLang="en-US" sz="3200" i="1" smtClean="0">
                          <a:solidFill>
                            <a:srgbClr val="000000"/>
                          </a:solidFill>
                          <a:latin typeface="Cambria Math" panose="02040503050406030204" pitchFamily="18" charset="0"/>
                        </a:rPr>
                        <m:t>=</m:t>
                      </m:r>
                      <m:r>
                        <a:rPr lang="zh-CN" altLang="en-US" sz="3200" i="1" smtClean="0">
                          <a:solidFill>
                            <a:srgbClr val="000000"/>
                          </a:solidFill>
                          <a:latin typeface="Cambria Math" panose="02040503050406030204" pitchFamily="18" charset="0"/>
                        </a:rPr>
                        <m:t>0</m:t>
                      </m:r>
                      <m:r>
                        <a:rPr lang="zh-CN" altLang="en-US" sz="3200" i="1" smtClean="0">
                          <a:solidFill>
                            <a:srgbClr val="000000"/>
                          </a:solidFill>
                          <a:latin typeface="Cambria Math" panose="02040503050406030204" pitchFamily="18" charset="0"/>
                        </a:rPr>
                        <m:t>.</m:t>
                      </m:r>
                      <m:r>
                        <a:rPr lang="zh-CN" altLang="en-US" sz="3200" i="1" smtClean="0">
                          <a:solidFill>
                            <a:srgbClr val="000000"/>
                          </a:solidFill>
                          <a:latin typeface="Cambria Math" panose="02040503050406030204" pitchFamily="18" charset="0"/>
                        </a:rPr>
                        <m:t>99</m:t>
                      </m:r>
                      <m:r>
                        <a:rPr lang="en-US" altLang="zh-CN" sz="3200" b="0" i="0" smtClean="0">
                          <a:solidFill>
                            <a:srgbClr val="000000"/>
                          </a:solidFill>
                          <a:latin typeface="Cambria Math" panose="02040503050406030204" pitchFamily="18" charset="0"/>
                        </a:rPr>
                        <m:t>7</m:t>
                      </m:r>
                    </m:oMath>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𝑅</m:t>
                          </m:r>
                        </m:e>
                        <m:sub>
                          <m:r>
                            <a:rPr lang="zh-CN" altLang="en-US" sz="3200" i="1">
                              <a:solidFill>
                                <a:srgbClr val="000000"/>
                              </a:solidFill>
                              <a:latin typeface="Cambria Math" panose="02040503050406030204" pitchFamily="18" charset="0"/>
                            </a:rPr>
                            <m:t>0</m:t>
                          </m:r>
                        </m:sub>
                      </m:sSub>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70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8</m:t>
                      </m:r>
                      <m:r>
                        <a:rPr lang="en-US" altLang="zh-CN" sz="3200" b="0" i="0" smtClean="0">
                          <a:solidFill>
                            <a:srgbClr val="000000"/>
                          </a:solidFill>
                          <a:latin typeface="Cambria Math" panose="02040503050406030204" pitchFamily="18" charset="0"/>
                        </a:rPr>
                        <m:t>(</m:t>
                      </m:r>
                      <m:r>
                        <a:rPr lang="zh-CN" altLang="en-US" sz="3200" i="0">
                          <a:solidFill>
                            <a:srgbClr val="000000"/>
                          </a:solidFill>
                          <a:latin typeface="Cambria Math" panose="02040503050406030204" pitchFamily="18" charset="0"/>
                        </a:rPr>
                        <m:t>3</m:t>
                      </m:r>
                      <m:r>
                        <a:rPr lang="zh-CN" altLang="en-US" sz="3200" i="1">
                          <a:solidFill>
                            <a:srgbClr val="000000"/>
                          </a:solidFill>
                          <a:latin typeface="Cambria Math" panose="02040503050406030204" pitchFamily="18" charset="0"/>
                        </a:rPr>
                        <m:t>)</m:t>
                      </m:r>
                      <m:r>
                        <m:rPr>
                          <m:sty m:val="p"/>
                        </m:rPr>
                        <a:rPr lang="zh-CN" altLang="en-US" sz="3200" i="1">
                          <a:solidFill>
                            <a:srgbClr val="000000"/>
                          </a:solidFill>
                          <a:latin typeface="Cambria Math" panose="02040503050406030204" pitchFamily="18" charset="0"/>
                        </a:rPr>
                        <m:t>Ω</m:t>
                      </m:r>
                    </m:oMath>
                    <m:oMath xmlns:m="http://schemas.openxmlformats.org/officeDocument/2006/math">
                      <m:r>
                        <a:rPr lang="zh-CN" altLang="en-US" sz="3200" i="1">
                          <a:solidFill>
                            <a:srgbClr val="000000"/>
                          </a:solidFill>
                          <a:latin typeface="Cambria Math" panose="02040503050406030204" pitchFamily="18" charset="0"/>
                        </a:rPr>
                        <m:t>𝑘</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28</m:t>
                      </m:r>
                      <m:r>
                        <a:rPr lang="zh-CN" altLang="en-US" sz="3200" i="0">
                          <a:solidFill>
                            <a:srgbClr val="000000"/>
                          </a:solidFill>
                          <a:latin typeface="Cambria Math" panose="02040503050406030204" pitchFamily="18" charset="0"/>
                        </a:rPr>
                        <m:t>8</m:t>
                      </m:r>
                      <m:r>
                        <a:rPr lang="en-US" altLang="zh-CN" sz="3200" b="0" i="1" smtClean="0">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9</m:t>
                      </m:r>
                      <m:r>
                        <a:rPr lang="zh-CN" altLang="en-US" sz="3200" i="1">
                          <a:solidFill>
                            <a:srgbClr val="000000"/>
                          </a:solidFill>
                          <a:latin typeface="Cambria Math" panose="02040503050406030204" pitchFamily="18" charset="0"/>
                        </a:rPr>
                        <m:t>)</m:t>
                      </m:r>
                      <m:r>
                        <m:rPr>
                          <m:sty m:val="p"/>
                        </m:rPr>
                        <a:rPr lang="zh-CN" altLang="en-US" sz="3200" i="1">
                          <a:solidFill>
                            <a:srgbClr val="000000"/>
                          </a:solidFill>
                          <a:latin typeface="Cambria Math" panose="02040503050406030204" pitchFamily="18" charset="0"/>
                        </a:rPr>
                        <m:t>Ω</m:t>
                      </m:r>
                      <m:r>
                        <a:rPr lang="zh-CN" altLang="en-US" sz="3200" i="1">
                          <a:solidFill>
                            <a:srgbClr val="000000"/>
                          </a:solidFill>
                          <a:latin typeface="Cambria Math" panose="02040503050406030204" pitchFamily="18" charset="0"/>
                        </a:rPr>
                        <m:t>/°</m:t>
                      </m:r>
                      <m:r>
                        <m:rPr>
                          <m:sty m:val="p"/>
                        </m:rPr>
                        <a:rPr lang="zh-CN" altLang="en-US" sz="3200" i="0">
                          <a:solidFill>
                            <a:srgbClr val="000000"/>
                          </a:solidFill>
                          <a:latin typeface="Cambria Math" panose="02040503050406030204" pitchFamily="18" charset="0"/>
                        </a:rPr>
                        <m:t>C</m:t>
                      </m:r>
                    </m:oMath>
                    <m:oMath xmlns:m="http://schemas.openxmlformats.org/officeDocument/2006/math">
                      <m:r>
                        <a:rPr lang="zh-CN" altLang="en-US" sz="3200" i="1">
                          <a:solidFill>
                            <a:srgbClr val="000000"/>
                          </a:solidFill>
                          <a:latin typeface="Cambria Math" panose="02040503050406030204" pitchFamily="18" charset="0"/>
                        </a:rPr>
                        <m:t>𝑅</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70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8</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0</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28</m:t>
                      </m:r>
                      <m:r>
                        <a:rPr lang="zh-CN" altLang="en-US" sz="3200" i="0">
                          <a:solidFill>
                            <a:srgbClr val="000000"/>
                          </a:solidFill>
                          <a:latin typeface="Cambria Math" panose="02040503050406030204" pitchFamily="18" charset="0"/>
                        </a:rPr>
                        <m:t>8</m:t>
                      </m:r>
                      <m:r>
                        <a:rPr lang="zh-CN" altLang="en-US" sz="3200" i="1">
                          <a:solidFill>
                            <a:srgbClr val="000000"/>
                          </a:solidFill>
                          <a:latin typeface="Cambria Math" panose="02040503050406030204" pitchFamily="18" charset="0"/>
                        </a:rPr>
                        <m:t>𝜃</m:t>
                      </m:r>
                    </m:oMath>
                  </m:oMathPara>
                </a14:m>
                <a:endParaRPr lang="zh-CN" altLang="en-US" sz="3200" dirty="0">
                  <a:latin typeface="Times New Roman" panose="02020603050405020304" pitchFamily="18" charset="0"/>
                  <a:cs typeface="Times New Roman" panose="02020603050405020304" pitchFamily="18" charset="0"/>
                </a:endParaRPr>
              </a:p>
            </p:txBody>
          </p:sp>
        </mc:Choice>
        <mc:Fallback>
          <p:sp>
            <p:nvSpPr>
              <p:cNvPr id="8" name="对象 8"/>
              <p:cNvSpPr txBox="1">
                <a:spLocks noRot="1" noChangeAspect="1" noMove="1" noResize="1" noEditPoints="1" noAdjustHandles="1" noChangeArrowheads="1" noChangeShapeType="1" noTextEdit="1"/>
              </p:cNvSpPr>
              <p:nvPr/>
            </p:nvSpPr>
            <p:spPr>
              <a:xfrm>
                <a:off x="8258240" y="2421920"/>
                <a:ext cx="3927475" cy="2154238"/>
              </a:xfrm>
              <a:prstGeom prst="rect">
                <a:avLst/>
              </a:prstGeom>
              <a:blipFill rotWithShape="1">
                <a:blip r:embed="rId2"/>
                <a:stretch>
                  <a:fillRect l="-2" t="-1" r="2" b="16"/>
                </a:stretch>
              </a:blipFill>
            </p:spPr>
            <p:txBody>
              <a:bodyPr/>
              <a:lstStyle/>
              <a:p>
                <a:r>
                  <a:rPr lang="zh-CN" altLang="en-US">
                    <a:noFill/>
                  </a:rPr>
                  <a:t> </a:t>
                </a:r>
              </a:p>
            </p:txBody>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idx="4294967295"/>
          </p:nvPr>
        </p:nvSpPr>
        <p:spPr>
          <a:xfrm>
            <a:off x="0" y="274638"/>
            <a:ext cx="10972800" cy="1143000"/>
          </a:xfrm>
        </p:spPr>
        <p:txBody>
          <a:bodyPr/>
          <a:lstStyle/>
          <a:p>
            <a:pPr algn="l" eaLnBrk="1" hangingPunct="1">
              <a:defRPr/>
            </a:pPr>
            <a:r>
              <a:rPr lang="en-US" altLang="zh-CN" sz="4000" b="1" dirty="0">
                <a:solidFill>
                  <a:schemeClr val="bg1"/>
                </a:solidFill>
                <a:latin typeface="微软雅黑" panose="020B0503020204020204" pitchFamily="34" charset="-122"/>
                <a:ea typeface="微软雅黑" panose="020B0503020204020204" pitchFamily="34" charset="-122"/>
              </a:rPr>
              <a:t>7. </a:t>
            </a:r>
            <a:r>
              <a:rPr lang="zh-CN" altLang="zh-CN" sz="4000" b="1" dirty="0">
                <a:solidFill>
                  <a:schemeClr val="bg1"/>
                </a:solidFill>
                <a:latin typeface="微软雅黑" panose="020B0503020204020204" pitchFamily="34" charset="-122"/>
                <a:ea typeface="微软雅黑" panose="020B0503020204020204" pitchFamily="34" charset="-122"/>
              </a:rPr>
              <a:t>第三周实验安排</a:t>
            </a:r>
            <a:r>
              <a:rPr lang="zh-CN" altLang="en-US" sz="4000" b="1" dirty="0">
                <a:solidFill>
                  <a:srgbClr val="0070C0"/>
                </a:solidFill>
                <a:latin typeface="微软雅黑" panose="020B0503020204020204" pitchFamily="34" charset="-122"/>
                <a:ea typeface="微软雅黑" panose="020B0503020204020204" pitchFamily="34" charset="-122"/>
              </a:rPr>
              <a:t>（恒隆物理楼</a:t>
            </a:r>
            <a:r>
              <a:rPr lang="en-US" altLang="zh-CN" sz="4000" b="1" dirty="0">
                <a:solidFill>
                  <a:srgbClr val="0070C0"/>
                </a:solidFill>
                <a:latin typeface="微软雅黑" panose="020B0503020204020204" pitchFamily="34" charset="-122"/>
                <a:ea typeface="微软雅黑" panose="020B0503020204020204" pitchFamily="34" charset="-122"/>
              </a:rPr>
              <a:t>2</a:t>
            </a:r>
            <a:r>
              <a:rPr lang="zh-CN" altLang="en-US" sz="4000" b="1" dirty="0">
                <a:solidFill>
                  <a:srgbClr val="0070C0"/>
                </a:solidFill>
                <a:latin typeface="微软雅黑" panose="020B0503020204020204" pitchFamily="34" charset="-122"/>
                <a:ea typeface="微软雅黑" panose="020B0503020204020204" pitchFamily="34" charset="-122"/>
              </a:rPr>
              <a:t>楼西侧）</a:t>
            </a:r>
            <a:endParaRPr lang="zh-CN" altLang="zh-CN" sz="4000" b="1" dirty="0">
              <a:solidFill>
                <a:srgbClr val="0070C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351584" y="1384882"/>
            <a:ext cx="7200800" cy="5389716"/>
          </a:xfrm>
          <a:prstGeom prst="rect">
            <a:avLst/>
          </a:prstGeom>
        </p:spPr>
      </p:pic>
      <p:sp>
        <p:nvSpPr>
          <p:cNvPr id="8" name="云形标注 7"/>
          <p:cNvSpPr/>
          <p:nvPr/>
        </p:nvSpPr>
        <p:spPr>
          <a:xfrm>
            <a:off x="2135560" y="5589240"/>
            <a:ext cx="4784725" cy="849313"/>
          </a:xfrm>
          <a:prstGeom prst="cloudCallout">
            <a:avLst>
              <a:gd name="adj1" fmla="val -19423"/>
              <a:gd name="adj2" fmla="val -207041"/>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chemeClr val="accent5">
                    <a:lumMod val="50000"/>
                  </a:schemeClr>
                </a:solidFill>
                <a:effectLst/>
                <a:uLnTx/>
                <a:uFillTx/>
                <a:latin typeface="微软雅黑" panose="020B0503020204020204" pitchFamily="34" charset="-122"/>
                <a:ea typeface="+mn-ea"/>
                <a:cs typeface="+mn-cs"/>
              </a:rPr>
              <a:t>物理楼</a:t>
            </a:r>
            <a:r>
              <a:rPr kumimoji="0" lang="en-US" altLang="zh-CN" sz="3200" b="0" i="0" u="none" strike="noStrike" kern="1200" cap="none" spc="0" normalizeH="0" baseline="0" noProof="0" dirty="0">
                <a:ln>
                  <a:noFill/>
                </a:ln>
                <a:solidFill>
                  <a:schemeClr val="accent5">
                    <a:lumMod val="50000"/>
                  </a:schemeClr>
                </a:solidFill>
                <a:effectLst/>
                <a:uLnTx/>
                <a:uFillTx/>
                <a:latin typeface="微软雅黑" panose="020B0503020204020204" pitchFamily="34" charset="-122"/>
                <a:ea typeface="+mn-ea"/>
                <a:cs typeface="+mn-cs"/>
              </a:rPr>
              <a:t>2</a:t>
            </a:r>
            <a:r>
              <a:rPr kumimoji="0" lang="zh-CN" altLang="en-US" sz="3200" b="0" i="0" u="none" strike="noStrike" kern="1200" cap="none" spc="0" normalizeH="0" baseline="0" noProof="0" dirty="0">
                <a:ln>
                  <a:noFill/>
                </a:ln>
                <a:solidFill>
                  <a:schemeClr val="accent5">
                    <a:lumMod val="50000"/>
                  </a:schemeClr>
                </a:solidFill>
                <a:effectLst/>
                <a:uLnTx/>
                <a:uFillTx/>
                <a:latin typeface="微软雅黑" panose="020B0503020204020204" pitchFamily="34" charset="-122"/>
                <a:ea typeface="+mn-ea"/>
                <a:cs typeface="+mn-cs"/>
              </a:rPr>
              <a:t>楼西侧</a:t>
            </a:r>
            <a:endParaRPr kumimoji="0" lang="zh-CN" altLang="en-US" sz="3200" b="0" i="0" u="none" strike="noStrike" kern="1200" cap="none" spc="0" normalizeH="0" baseline="0" noProof="0" dirty="0">
              <a:ln>
                <a:noFill/>
              </a:ln>
              <a:solidFill>
                <a:schemeClr val="accent5">
                  <a:lumMod val="50000"/>
                </a:schemeClr>
              </a:solidFill>
              <a:effectLst/>
              <a:uLnTx/>
              <a:uFillTx/>
              <a:latin typeface="微软雅黑" panose="020B0503020204020204" pitchFamily="34" charset="-122"/>
              <a:ea typeface="+mn-ea"/>
              <a:cs typeface="+mn-cs"/>
            </a:endParaRPr>
          </a:p>
        </p:txBody>
      </p:sp>
      <p:sp>
        <p:nvSpPr>
          <p:cNvPr id="3" name="灯片编号占位符 2"/>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idx="4294967295"/>
          </p:nvPr>
        </p:nvSpPr>
        <p:spPr>
          <a:xfrm>
            <a:off x="0" y="274638"/>
            <a:ext cx="10972800" cy="1143000"/>
          </a:xfrm>
        </p:spPr>
        <p:txBody>
          <a:bodyPr/>
          <a:lstStyle/>
          <a:p>
            <a:pPr algn="l" eaLnBrk="1" hangingPunct="1">
              <a:defRPr/>
            </a:pPr>
            <a:r>
              <a:rPr lang="en-US" altLang="zh-CN" sz="4000" b="1" dirty="0">
                <a:solidFill>
                  <a:schemeClr val="bg1"/>
                </a:solidFill>
                <a:latin typeface="微软雅黑" panose="020B0503020204020204" pitchFamily="34" charset="-122"/>
                <a:ea typeface="微软雅黑" panose="020B0503020204020204" pitchFamily="34" charset="-122"/>
              </a:rPr>
              <a:t>7. </a:t>
            </a:r>
            <a:r>
              <a:rPr lang="zh-CN" altLang="zh-CN" sz="4000" b="1" dirty="0">
                <a:solidFill>
                  <a:schemeClr val="bg1"/>
                </a:solidFill>
                <a:latin typeface="微软雅黑" panose="020B0503020204020204" pitchFamily="34" charset="-122"/>
                <a:ea typeface="微软雅黑" panose="020B0503020204020204" pitchFamily="34" charset="-122"/>
              </a:rPr>
              <a:t>第</a:t>
            </a:r>
            <a:r>
              <a:rPr lang="en-US" altLang="zh-CN" sz="4000" b="1" dirty="0">
                <a:solidFill>
                  <a:schemeClr val="bg1"/>
                </a:solidFill>
                <a:latin typeface="微软雅黑" panose="020B0503020204020204" pitchFamily="34" charset="-122"/>
                <a:ea typeface="微软雅黑" panose="020B0503020204020204" pitchFamily="34" charset="-122"/>
              </a:rPr>
              <a:t>3-15</a:t>
            </a:r>
            <a:r>
              <a:rPr lang="zh-CN" altLang="en-US" sz="4000" b="1" dirty="0">
                <a:solidFill>
                  <a:schemeClr val="bg1"/>
                </a:solidFill>
                <a:latin typeface="微软雅黑" panose="020B0503020204020204" pitchFamily="34" charset="-122"/>
                <a:ea typeface="微软雅黑" panose="020B0503020204020204" pitchFamily="34" charset="-122"/>
              </a:rPr>
              <a:t>周</a:t>
            </a:r>
            <a:r>
              <a:rPr lang="zh-CN" altLang="zh-CN" sz="4000" b="1" dirty="0">
                <a:solidFill>
                  <a:schemeClr val="bg1"/>
                </a:solidFill>
                <a:latin typeface="微软雅黑" panose="020B0503020204020204" pitchFamily="34" charset="-122"/>
                <a:ea typeface="微软雅黑" panose="020B0503020204020204" pitchFamily="34" charset="-122"/>
              </a:rPr>
              <a:t>实验安排</a:t>
            </a:r>
            <a:endParaRPr lang="zh-CN" altLang="zh-CN" sz="4000" b="1" dirty="0">
              <a:solidFill>
                <a:srgbClr val="0070C0"/>
              </a:solidFill>
              <a:latin typeface="微软雅黑" panose="020B0503020204020204" pitchFamily="34" charset="-122"/>
              <a:ea typeface="微软雅黑" panose="020B0503020204020204" pitchFamily="34" charset="-122"/>
            </a:endParaRPr>
          </a:p>
        </p:txBody>
      </p:sp>
      <p:sp>
        <p:nvSpPr>
          <p:cNvPr id="67626" name="灯片编号占位符 1"/>
          <p:cNvSpPr txBox="1">
            <a:spLocks noGrp="1" noChangeArrowheads="1"/>
          </p:cNvSpPr>
          <p:nvPr/>
        </p:nvSpPr>
        <p:spPr bwMode="auto">
          <a:xfrm>
            <a:off x="8737200" y="6356350"/>
            <a:ext cx="2844000" cy="3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FontTx/>
              <a:buNone/>
            </a:pPr>
            <a:fld id="{E9EE26DF-D9E9-41F3-8707-6135B8C9F510}" type="slidenum">
              <a:rPr lang="zh-CN" altLang="en-US" sz="1200">
                <a:solidFill>
                  <a:srgbClr val="FFFFFF"/>
                </a:solidFill>
                <a:latin typeface="宋体" panose="02010600030101010101" pitchFamily="2" charset="-122"/>
                <a:ea typeface="宋体" panose="02010600030101010101" pitchFamily="2" charset="-122"/>
              </a:rPr>
            </a:fld>
            <a:endParaRPr lang="zh-CN" altLang="en-US" sz="1200" dirty="0">
              <a:solidFill>
                <a:srgbClr val="FFFFFF"/>
              </a:solidFill>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
        <p:nvSpPr>
          <p:cNvPr id="4" name="文本框 3"/>
          <p:cNvSpPr txBox="1"/>
          <p:nvPr/>
        </p:nvSpPr>
        <p:spPr>
          <a:xfrm>
            <a:off x="623392" y="2060848"/>
            <a:ext cx="4833062" cy="3046988"/>
          </a:xfrm>
          <a:prstGeom prst="rect">
            <a:avLst/>
          </a:prstGeom>
          <a:noFill/>
        </p:spPr>
        <p:txBody>
          <a:bodyPr wrap="square" rtlCol="0">
            <a:spAutoFit/>
          </a:bodyPr>
          <a:lstStyle/>
          <a:p>
            <a:r>
              <a:rPr lang="zh-CN" altLang="en-US" sz="4800" b="1" dirty="0">
                <a:solidFill>
                  <a:srgbClr val="FF0000"/>
                </a:solidFill>
                <a:latin typeface="楷体" panose="02010609060101010101" pitchFamily="49" charset="-122"/>
                <a:ea typeface="楷体" panose="02010609060101010101" pitchFamily="49" charset="-122"/>
              </a:rPr>
              <a:t>    按照分组表预习实验，打印实验报告，进正确的实验室！</a:t>
            </a:r>
            <a:endParaRPr lang="zh-CN" altLang="en-US" sz="4800" b="1" dirty="0">
              <a:solidFill>
                <a:srgbClr val="FF0000"/>
              </a:solidFill>
              <a:latin typeface="楷体" panose="02010609060101010101" pitchFamily="49" charset="-122"/>
              <a:ea typeface="楷体" panose="02010609060101010101" pitchFamily="49" charset="-122"/>
            </a:endParaRPr>
          </a:p>
        </p:txBody>
      </p:sp>
      <p:graphicFrame>
        <p:nvGraphicFramePr>
          <p:cNvPr id="3" name="对象 2"/>
          <p:cNvGraphicFramePr>
            <a:graphicFrameLocks noChangeAspect="1"/>
          </p:cNvGraphicFramePr>
          <p:nvPr/>
        </p:nvGraphicFramePr>
        <p:xfrm>
          <a:off x="6528048" y="437398"/>
          <a:ext cx="2769840" cy="5983204"/>
        </p:xfrm>
        <a:graphic>
          <a:graphicData uri="http://schemas.openxmlformats.org/presentationml/2006/ole">
            <mc:AlternateContent xmlns:mc="http://schemas.openxmlformats.org/markup-compatibility/2006">
              <mc:Choice xmlns:v="urn:schemas-microsoft-com:vml" Requires="v">
                <p:oleObj spid="_x0000_s28676" name="Worksheet" r:id="rId1" imgW="3313430" imgH="7148195" progId="Excel.Sheet.12">
                  <p:embed/>
                </p:oleObj>
              </mc:Choice>
              <mc:Fallback>
                <p:oleObj name="Worksheet" r:id="rId1" imgW="3313430" imgH="7148195" progId="Excel.Sheet.12">
                  <p:embed/>
                  <p:pic>
                    <p:nvPicPr>
                      <p:cNvPr id="0" name="图片 28675"/>
                      <p:cNvPicPr/>
                      <p:nvPr/>
                    </p:nvPicPr>
                    <p:blipFill>
                      <a:blip r:embed="rId2"/>
                      <a:stretch>
                        <a:fillRect/>
                      </a:stretch>
                    </p:blipFill>
                    <p:spPr>
                      <a:xfrm>
                        <a:off x="6528048" y="437398"/>
                        <a:ext cx="2769840" cy="5983204"/>
                      </a:xfrm>
                      <a:prstGeom prst="rect">
                        <a:avLst/>
                      </a:prstGeom>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5E0876C9-F0BE-45F1-88DB-DBD1FAC19678}" type="slidenum">
              <a:rPr lang="zh-CN" altLang="en-US" sz="2800">
                <a:solidFill>
                  <a:srgbClr val="FFFFFF"/>
                </a:solidFill>
                <a:latin typeface="Calibri" panose="020F0502020204030204" charset="0"/>
                <a:ea typeface="宋体" panose="02010600030101010101" pitchFamily="2" charset="-122"/>
              </a:rPr>
            </a:fld>
            <a:endParaRPr lang="en-US" altLang="zh-CN" sz="1200" dirty="0">
              <a:solidFill>
                <a:srgbClr val="FFFFFF"/>
              </a:solidFill>
              <a:latin typeface="Calibri" panose="020F0502020204030204" charset="0"/>
              <a:ea typeface="宋体" panose="02010600030101010101" pitchFamily="2" charset="-122"/>
            </a:endParaRPr>
          </a:p>
        </p:txBody>
      </p:sp>
      <p:sp>
        <p:nvSpPr>
          <p:cNvPr id="68610" name="标题 1"/>
          <p:cNvSpPr>
            <a:spLocks noGrp="1"/>
          </p:cNvSpPr>
          <p:nvPr>
            <p:ph type="title" idx="4294967295"/>
          </p:nvPr>
        </p:nvSpPr>
        <p:spPr>
          <a:xfrm>
            <a:off x="479376" y="356979"/>
            <a:ext cx="9793088" cy="706437"/>
          </a:xfrm>
        </p:spPr>
        <p:txBody>
          <a:bodyPr/>
          <a:lstStyle/>
          <a:p>
            <a:r>
              <a:rPr lang="zh-CN" altLang="en-US" sz="3600" b="1" dirty="0">
                <a:solidFill>
                  <a:srgbClr val="C00000"/>
                </a:solidFill>
                <a:latin typeface="微软雅黑" panose="020B0503020204020204" pitchFamily="34" charset="-122"/>
                <a:ea typeface="微软雅黑" panose="020B0503020204020204" pitchFamily="34" charset="-122"/>
              </a:rPr>
              <a:t>通过学习通观看视频预习实验、预习思考题、打印实验报告纸并完成数据处理作业！</a:t>
            </a:r>
            <a:endParaRPr lang="zh-CN" altLang="en-US" sz="3600" b="1" dirty="0">
              <a:solidFill>
                <a:srgbClr val="C00000"/>
              </a:solidFill>
              <a:latin typeface="微软雅黑" panose="020B0503020204020204" pitchFamily="34" charset="-122"/>
              <a:ea typeface="微软雅黑" panose="020B0503020204020204" pitchFamily="34" charset="-122"/>
            </a:endParaRPr>
          </a:p>
        </p:txBody>
      </p:sp>
      <p:sp>
        <p:nvSpPr>
          <p:cNvPr id="43011" name="内容占位符 2"/>
          <p:cNvSpPr>
            <a:spLocks noGrp="1"/>
          </p:cNvSpPr>
          <p:nvPr>
            <p:ph idx="4294967295"/>
          </p:nvPr>
        </p:nvSpPr>
        <p:spPr>
          <a:xfrm>
            <a:off x="479376" y="2060848"/>
            <a:ext cx="10514012" cy="4608513"/>
          </a:xfrm>
        </p:spPr>
        <p:txBody>
          <a:bodyPr/>
          <a:lstStyle/>
          <a:p>
            <a:pPr>
              <a:spcAft>
                <a:spcPts val="600"/>
              </a:spcAft>
              <a:buFont typeface="Arial" panose="020B0604020202020204" pitchFamily="34" charset="0"/>
              <a:buChar char="•"/>
              <a:defRPr/>
            </a:pPr>
            <a:r>
              <a:rPr lang="en-US" altLang="zh-CN"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http://phylab.fudan.edu.cn</a:t>
            </a:r>
            <a:endParaRPr lang="en-US" altLang="zh-CN"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buFont typeface="Arial" panose="020B0604020202020204" pitchFamily="34" charset="0"/>
              <a:buChar char="•"/>
              <a:defRPr/>
            </a:pPr>
            <a:r>
              <a:rPr lang="zh-CN" altLang="en-US"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物理实验课程 </a:t>
            </a:r>
            <a:r>
              <a:rPr lang="en-US" altLang="zh-CN"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“基础物理实验”</a:t>
            </a:r>
            <a:endParaRPr lang="en-US" altLang="zh-CN"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buFont typeface="Arial" panose="020B0604020202020204" pitchFamily="34" charset="0"/>
              <a:buChar char="•"/>
              <a:defRPr/>
            </a:pPr>
            <a:r>
              <a:rPr lang="zh-CN" altLang="en-US"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根据分组名单中的</a:t>
            </a:r>
            <a:r>
              <a:rPr lang="zh-CN" altLang="en-US" sz="3200" b="1" dirty="0">
                <a:solidFill>
                  <a:srgbClr val="C00000"/>
                </a:solidFill>
                <a:latin typeface="微软雅黑" panose="020B0503020204020204" pitchFamily="34" charset="-122"/>
                <a:ea typeface="微软雅黑" panose="020B0503020204020204" pitchFamily="34" charset="-122"/>
              </a:rPr>
              <a:t>分组表</a:t>
            </a:r>
            <a:r>
              <a:rPr lang="zh-CN" altLang="en-US"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确认自己所在组别和每周要做的实验项目，</a:t>
            </a:r>
            <a:r>
              <a:rPr lang="zh-CN" altLang="en-US" sz="3200" b="1" dirty="0">
                <a:solidFill>
                  <a:srgbClr val="C00000"/>
                </a:solidFill>
                <a:latin typeface="微软雅黑" panose="020B0503020204020204" pitchFamily="34" charset="-122"/>
                <a:ea typeface="微软雅黑" panose="020B0503020204020204" pitchFamily="34" charset="-122"/>
              </a:rPr>
              <a:t>不得自行换组</a:t>
            </a:r>
            <a:r>
              <a:rPr lang="zh-CN" altLang="en-US"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3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buNone/>
              <a:defRPr/>
            </a:pPr>
            <a:endParaRPr lang="zh-CN" altLang="en-US" sz="2800"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223792" y="2174404"/>
            <a:ext cx="7192379" cy="3972479"/>
          </a:xfrm>
          <a:prstGeom prst="rect">
            <a:avLst/>
          </a:prstGeom>
        </p:spPr>
      </p:pic>
      <p:sp>
        <p:nvSpPr>
          <p:cNvPr id="6861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spcBef>
                <a:spcPct val="0"/>
              </a:spcBef>
              <a:buFontTx/>
              <a:buNone/>
            </a:pPr>
            <a:fld id="{5E0876C9-F0BE-45F1-88DB-DBD1FAC19678}" type="slidenum">
              <a:rPr lang="zh-CN" altLang="en-US" sz="2800">
                <a:solidFill>
                  <a:srgbClr val="FFFFFF"/>
                </a:solidFill>
                <a:latin typeface="Calibri" panose="020F0502020204030204" charset="0"/>
                <a:ea typeface="宋体" panose="02010600030101010101" pitchFamily="2" charset="-122"/>
              </a:rPr>
            </a:fld>
            <a:endParaRPr lang="en-US" altLang="zh-CN" sz="1200" dirty="0">
              <a:solidFill>
                <a:srgbClr val="FFFFFF"/>
              </a:solidFill>
              <a:latin typeface="Calibri" panose="020F0502020204030204" charset="0"/>
              <a:ea typeface="宋体" panose="02010600030101010101" pitchFamily="2" charset="-122"/>
            </a:endParaRPr>
          </a:p>
        </p:txBody>
      </p:sp>
      <p:sp>
        <p:nvSpPr>
          <p:cNvPr id="68610" name="标题 1"/>
          <p:cNvSpPr>
            <a:spLocks noGrp="1"/>
          </p:cNvSpPr>
          <p:nvPr>
            <p:ph type="title" idx="4294967295"/>
          </p:nvPr>
        </p:nvSpPr>
        <p:spPr>
          <a:xfrm>
            <a:off x="479376" y="356979"/>
            <a:ext cx="9793088" cy="706437"/>
          </a:xfrm>
        </p:spPr>
        <p:txBody>
          <a:bodyPr/>
          <a:lstStyle/>
          <a:p>
            <a:r>
              <a:rPr lang="zh-CN" altLang="en-US" sz="3600" b="1" dirty="0">
                <a:solidFill>
                  <a:srgbClr val="C00000"/>
                </a:solidFill>
                <a:latin typeface="微软雅黑" panose="020B0503020204020204" pitchFamily="34" charset="-122"/>
                <a:ea typeface="微软雅黑" panose="020B0503020204020204" pitchFamily="34" charset="-122"/>
              </a:rPr>
              <a:t>通过学习通观看视频预习实验、回答预习思考题、打印实验报告纸并完成数据处理作业！</a:t>
            </a:r>
            <a:endParaRPr lang="zh-CN" altLang="en-US" sz="3600" b="1" dirty="0">
              <a:solidFill>
                <a:srgbClr val="C00000"/>
              </a:solidFill>
              <a:latin typeface="微软雅黑" panose="020B0503020204020204" pitchFamily="34" charset="-122"/>
              <a:ea typeface="微软雅黑" panose="020B0503020204020204" pitchFamily="34" charset="-122"/>
            </a:endParaRPr>
          </a:p>
        </p:txBody>
      </p:sp>
      <p:sp>
        <p:nvSpPr>
          <p:cNvPr id="4" name="矩形 3"/>
          <p:cNvSpPr/>
          <p:nvPr/>
        </p:nvSpPr>
        <p:spPr>
          <a:xfrm>
            <a:off x="4727848" y="2907756"/>
            <a:ext cx="2232248" cy="37722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pic>
        <p:nvPicPr>
          <p:cNvPr id="5" name="图片 4"/>
          <p:cNvPicPr>
            <a:picLocks noChangeAspect="1"/>
          </p:cNvPicPr>
          <p:nvPr/>
        </p:nvPicPr>
        <p:blipFill>
          <a:blip r:embed="rId2"/>
          <a:stretch>
            <a:fillRect/>
          </a:stretch>
        </p:blipFill>
        <p:spPr>
          <a:xfrm>
            <a:off x="600331" y="2412264"/>
            <a:ext cx="3351450" cy="2384888"/>
          </a:xfrm>
          <a:prstGeom prst="rect">
            <a:avLst/>
          </a:prstGeom>
        </p:spPr>
      </p:pic>
      <p:sp>
        <p:nvSpPr>
          <p:cNvPr id="9" name="矩形 8"/>
          <p:cNvSpPr/>
          <p:nvPr/>
        </p:nvSpPr>
        <p:spPr>
          <a:xfrm>
            <a:off x="4727848" y="3972029"/>
            <a:ext cx="2232248" cy="37722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bwMode="auto">
          <a:xfrm>
            <a:off x="1415480" y="620688"/>
            <a:ext cx="9144000" cy="1079500"/>
          </a:xfrm>
          <a:prstGeom prst="rect">
            <a:avLst/>
          </a:prstGeom>
          <a:noFill/>
          <a:ln w="9525">
            <a:noFill/>
            <a:miter lim="800000"/>
          </a:ln>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eaLnBrk="1" hangingPunct="1">
              <a:defRPr/>
            </a:pPr>
            <a:r>
              <a:rPr lang="zh-CN" altLang="en-US" sz="6600" b="1" dirty="0">
                <a:solidFill>
                  <a:schemeClr val="bg1"/>
                </a:solidFill>
                <a:latin typeface="微软雅黑" panose="020B0503020204020204" pitchFamily="34" charset="-122"/>
                <a:ea typeface="微软雅黑" panose="020B0503020204020204" pitchFamily="34" charset="-122"/>
              </a:rPr>
              <a:t>数据处理作业</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p:nvPr/>
        </p:nvSpPr>
        <p:spPr bwMode="auto">
          <a:xfrm>
            <a:off x="1127448" y="1772197"/>
            <a:ext cx="10310936"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lgn="ctr" eaLnBrk="1" hangingPunct="1">
              <a:spcBef>
                <a:spcPct val="50000"/>
              </a:spcBef>
              <a:buNone/>
              <a:defRPr/>
            </a:pPr>
            <a:r>
              <a:rPr lang="zh-CN" altLang="en-US" b="1" dirty="0">
                <a:solidFill>
                  <a:schemeClr val="bg1"/>
                </a:solidFill>
                <a:latin typeface="微软雅黑" panose="020B0503020204020204" pitchFamily="34" charset="-122"/>
                <a:ea typeface="微软雅黑" panose="020B0503020204020204" pitchFamily="34" charset="-122"/>
              </a:rPr>
              <a:t>（数据处理作业电子版在课程网页上下载）</a:t>
            </a:r>
            <a:endParaRPr lang="zh-CN" altLang="en-US" b="1" dirty="0">
              <a:solidFill>
                <a:schemeClr val="bg1"/>
              </a:solidFill>
              <a:latin typeface="微软雅黑" panose="020B0503020204020204" pitchFamily="34" charset="-122"/>
              <a:ea typeface="微软雅黑" panose="020B0503020204020204" pitchFamily="34" charset="-122"/>
            </a:endParaRPr>
          </a:p>
          <a:p>
            <a:pPr marL="0" indent="0" algn="just" eaLnBrk="1" hangingPunct="1">
              <a:spcBef>
                <a:spcPct val="50000"/>
              </a:spcBef>
              <a:buNone/>
              <a:defRPr/>
            </a:pPr>
            <a:r>
              <a:rPr lang="zh-CN" altLang="en-US" sz="2800" b="1" dirty="0">
                <a:solidFill>
                  <a:schemeClr val="bg1"/>
                </a:solidFill>
                <a:latin typeface="微软雅黑" panose="020B0503020204020204" pitchFamily="34" charset="-122"/>
                <a:ea typeface="微软雅黑" panose="020B0503020204020204" pitchFamily="34" charset="-122"/>
              </a:rPr>
              <a:t>数据处理作业要求在下周上课前完成，写在</a:t>
            </a:r>
            <a:r>
              <a:rPr lang="en-US" altLang="zh-CN" sz="2800" b="1" dirty="0">
                <a:solidFill>
                  <a:schemeClr val="bg1"/>
                </a:solidFill>
                <a:latin typeface="微软雅黑" panose="020B0503020204020204" pitchFamily="34" charset="-122"/>
                <a:ea typeface="微软雅黑" panose="020B0503020204020204" pitchFamily="34" charset="-122"/>
              </a:rPr>
              <a:t>A4</a:t>
            </a:r>
            <a:r>
              <a:rPr lang="zh-CN" altLang="en-US" sz="2800" b="1" dirty="0">
                <a:solidFill>
                  <a:schemeClr val="bg1"/>
                </a:solidFill>
                <a:latin typeface="微软雅黑" panose="020B0503020204020204" pitchFamily="34" charset="-122"/>
                <a:ea typeface="微软雅黑" panose="020B0503020204020204" pitchFamily="34" charset="-122"/>
              </a:rPr>
              <a:t>大小的纸张上即可</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下周带至实验室交给所在实验室教师或者助教，迟交扣分！</a:t>
            </a:r>
            <a:endParaRPr lang="en-US" altLang="zh-CN" sz="2800" dirty="0">
              <a:solidFill>
                <a:schemeClr val="bg1"/>
              </a:solidFill>
              <a:latin typeface="微软雅黑" panose="020B0503020204020204" pitchFamily="34" charset="-122"/>
              <a:ea typeface="微软雅黑" panose="020B0503020204020204" pitchFamily="34" charset="-122"/>
            </a:endParaRPr>
          </a:p>
          <a:p>
            <a:pPr algn="ctr" eaLnBrk="1" hangingPunct="1">
              <a:spcBef>
                <a:spcPct val="50000"/>
              </a:spcBef>
              <a:buFontTx/>
              <a:buNone/>
              <a:defRPr/>
            </a:pPr>
            <a:r>
              <a:rPr lang="zh-CN" altLang="en-US" sz="1800" b="1" dirty="0">
                <a:solidFill>
                  <a:schemeClr val="bg1"/>
                </a:solidFill>
                <a:latin typeface="微软雅黑" panose="020B0503020204020204" pitchFamily="34" charset="-122"/>
                <a:ea typeface="微软雅黑" panose="020B0503020204020204" pitchFamily="34" charset="-122"/>
              </a:rPr>
              <a:t>      </a:t>
            </a:r>
            <a:endParaRPr kumimoji="1" lang="zh-CN" altLang="en-US" sz="1800" b="1" dirty="0">
              <a:solidFill>
                <a:schemeClr val="bg1"/>
              </a:solidFill>
              <a:latin typeface="微软雅黑" panose="020B0503020204020204" pitchFamily="34" charset="-122"/>
              <a:ea typeface="微软雅黑" panose="020B0503020204020204" pitchFamily="34" charset="-122"/>
            </a:endParaRPr>
          </a:p>
          <a:p>
            <a:pPr algn="just">
              <a:buNone/>
              <a:defRPr/>
            </a:pPr>
            <a:r>
              <a:rPr lang="zh-CN" altLang="en-US" sz="4000" b="1" dirty="0">
                <a:solidFill>
                  <a:srgbClr val="C00000"/>
                </a:solidFill>
                <a:latin typeface="微软雅黑" panose="020B0503020204020204" pitchFamily="34" charset="-122"/>
                <a:ea typeface="微软雅黑" panose="020B0503020204020204" pitchFamily="34" charset="-122"/>
              </a:rPr>
              <a:t>第三周到实验室做实验需要做的的准备：</a:t>
            </a:r>
            <a:endParaRPr lang="en-US" altLang="zh-CN" sz="4000" b="1" dirty="0">
              <a:solidFill>
                <a:srgbClr val="C00000"/>
              </a:solidFill>
              <a:latin typeface="微软雅黑" panose="020B0503020204020204" pitchFamily="34" charset="-122"/>
              <a:ea typeface="微软雅黑" panose="020B0503020204020204" pitchFamily="34" charset="-122"/>
            </a:endParaRPr>
          </a:p>
          <a:p>
            <a:pPr algn="just">
              <a:buFontTx/>
              <a:buNone/>
              <a:defRPr/>
            </a:pPr>
            <a:endParaRPr lang="zh-CN" altLang="en-US" sz="1800" b="1" dirty="0">
              <a:solidFill>
                <a:schemeClr val="bg1"/>
              </a:solidFill>
              <a:latin typeface="微软雅黑" panose="020B0503020204020204" pitchFamily="34" charset="-122"/>
              <a:ea typeface="微软雅黑" panose="020B0503020204020204" pitchFamily="34" charset="-122"/>
              <a:sym typeface="Symbol" panose="05050102010706020507" pitchFamily="18" charset="2"/>
            </a:endParaRPr>
          </a:p>
          <a:p>
            <a:pPr>
              <a:buFontTx/>
              <a:buNone/>
              <a:defRPr/>
            </a:pPr>
            <a:r>
              <a:rPr lang="en-US" altLang="zh-CN" b="1" dirty="0">
                <a:solidFill>
                  <a:schemeClr val="bg1"/>
                </a:solidFill>
                <a:latin typeface="微软雅黑" panose="020B0503020204020204" pitchFamily="34" charset="-122"/>
                <a:ea typeface="微软雅黑" panose="020B0503020204020204" pitchFamily="34" charset="-122"/>
              </a:rPr>
              <a:t>1.</a:t>
            </a:r>
            <a:r>
              <a:rPr lang="zh-CN" altLang="en-US" b="1" dirty="0">
                <a:solidFill>
                  <a:schemeClr val="bg1"/>
                </a:solidFill>
                <a:latin typeface="微软雅黑" panose="020B0503020204020204" pitchFamily="34" charset="-122"/>
                <a:ea typeface="微软雅黑" panose="020B0503020204020204" pitchFamily="34" charset="-122"/>
              </a:rPr>
              <a:t>带好数据处理作业</a:t>
            </a:r>
            <a:endParaRPr lang="en-US" altLang="zh-CN" b="1" dirty="0">
              <a:solidFill>
                <a:schemeClr val="bg1"/>
              </a:solidFill>
              <a:latin typeface="微软雅黑" panose="020B0503020204020204" pitchFamily="34" charset="-122"/>
              <a:ea typeface="微软雅黑" panose="020B0503020204020204" pitchFamily="34" charset="-122"/>
            </a:endParaRPr>
          </a:p>
          <a:p>
            <a:pPr>
              <a:buFontTx/>
              <a:buNone/>
              <a:defRPr/>
            </a:pPr>
            <a:r>
              <a:rPr lang="en-US" altLang="zh-CN" b="1" dirty="0">
                <a:solidFill>
                  <a:schemeClr val="bg1"/>
                </a:solidFill>
                <a:latin typeface="微软雅黑" panose="020B0503020204020204" pitchFamily="34" charset="-122"/>
                <a:ea typeface="微软雅黑" panose="020B0503020204020204" pitchFamily="34" charset="-122"/>
              </a:rPr>
              <a:t>2.</a:t>
            </a:r>
            <a:r>
              <a:rPr lang="zh-CN" altLang="en-US" b="1" dirty="0">
                <a:solidFill>
                  <a:schemeClr val="bg1"/>
                </a:solidFill>
                <a:latin typeface="微软雅黑" panose="020B0503020204020204" pitchFamily="34" charset="-122"/>
                <a:ea typeface="微软雅黑" panose="020B0503020204020204" pitchFamily="34" charset="-122"/>
              </a:rPr>
              <a:t>预习实验</a:t>
            </a:r>
            <a:endParaRPr lang="en-US" altLang="zh-CN" b="1" dirty="0">
              <a:solidFill>
                <a:schemeClr val="bg1"/>
              </a:solidFill>
              <a:latin typeface="微软雅黑" panose="020B0503020204020204" pitchFamily="34" charset="-122"/>
              <a:ea typeface="微软雅黑" panose="020B0503020204020204" pitchFamily="34" charset="-122"/>
            </a:endParaRPr>
          </a:p>
          <a:p>
            <a:pPr>
              <a:buFontTx/>
              <a:buNone/>
              <a:defRPr/>
            </a:pPr>
            <a:r>
              <a:rPr lang="en-US" altLang="zh-CN" b="1" dirty="0">
                <a:solidFill>
                  <a:schemeClr val="bg1"/>
                </a:solidFill>
                <a:latin typeface="微软雅黑" panose="020B0503020204020204" pitchFamily="34" charset="-122"/>
                <a:ea typeface="微软雅黑" panose="020B0503020204020204" pitchFamily="34" charset="-122"/>
              </a:rPr>
              <a:t>3.</a:t>
            </a:r>
            <a:r>
              <a:rPr lang="zh-CN" altLang="en-US" b="1" dirty="0">
                <a:solidFill>
                  <a:schemeClr val="bg1"/>
                </a:solidFill>
                <a:latin typeface="微软雅黑" panose="020B0503020204020204" pitchFamily="34" charset="-122"/>
                <a:ea typeface="微软雅黑" panose="020B0503020204020204" pitchFamily="34" charset="-122"/>
              </a:rPr>
              <a:t>通过实验室安全考试，并保留凭证</a:t>
            </a:r>
            <a:endParaRPr lang="en-US" altLang="zh-CN" b="1" dirty="0">
              <a:solidFill>
                <a:schemeClr val="bg1"/>
              </a:solidFill>
              <a:latin typeface="微软雅黑" panose="020B0503020204020204" pitchFamily="34" charset="-122"/>
              <a:ea typeface="微软雅黑" panose="020B0503020204020204" pitchFamily="34" charset="-122"/>
            </a:endParaRPr>
          </a:p>
          <a:p>
            <a:pPr algn="ctr" eaLnBrk="1" hangingPunct="1">
              <a:spcBef>
                <a:spcPct val="50000"/>
              </a:spcBef>
              <a:buFontTx/>
              <a:buNone/>
              <a:defRPr/>
            </a:pPr>
            <a:endParaRPr lang="zh-CN" altLang="en-US" sz="1800" b="1" dirty="0">
              <a:solidFill>
                <a:schemeClr val="bg1"/>
              </a:solidFill>
              <a:latin typeface="微软雅黑" panose="020B0503020204020204" pitchFamily="34" charset="-122"/>
              <a:ea typeface="微软雅黑" panose="020B0503020204020204" pitchFamily="34" charset="-122"/>
            </a:endParaRPr>
          </a:p>
          <a:p>
            <a:pPr algn="ctr" eaLnBrk="1" hangingPunct="1">
              <a:spcBef>
                <a:spcPct val="50000"/>
              </a:spcBef>
              <a:buFontTx/>
              <a:buNone/>
              <a:defRPr/>
            </a:pPr>
            <a:r>
              <a:rPr lang="zh-CN" altLang="en-US" sz="1800" b="1" dirty="0">
                <a:solidFill>
                  <a:schemeClr val="bg1"/>
                </a:solidFill>
                <a:latin typeface="微软雅黑" panose="020B0503020204020204" pitchFamily="34" charset="-122"/>
                <a:ea typeface="微软雅黑" panose="020B0503020204020204" pitchFamily="34" charset="-122"/>
              </a:rPr>
              <a:t>      </a:t>
            </a:r>
            <a:endParaRPr kumimoji="1" lang="zh-CN" altLang="en-US" sz="1800" b="1" dirty="0">
              <a:solidFill>
                <a:schemeClr val="bg1"/>
              </a:solidFill>
              <a:latin typeface="微软雅黑" panose="020B0503020204020204" pitchFamily="34" charset="-122"/>
              <a:ea typeface="微软雅黑" panose="020B0503020204020204" pitchFamily="34" charset="-122"/>
            </a:endParaRPr>
          </a:p>
          <a:p>
            <a:pPr algn="just">
              <a:buFontTx/>
              <a:buNone/>
              <a:defRPr/>
            </a:pPr>
            <a:endParaRPr lang="zh-CN" altLang="en-US" sz="1800" b="1" dirty="0">
              <a:solidFill>
                <a:schemeClr val="bg1"/>
              </a:solidFill>
              <a:latin typeface="微软雅黑" panose="020B0503020204020204" pitchFamily="34" charset="-122"/>
              <a:ea typeface="微软雅黑" panose="020B0503020204020204" pitchFamily="34" charset="-122"/>
              <a:sym typeface="Symbol" panose="05050102010706020507" pitchFamily="18" charset="2"/>
            </a:endParaRPr>
          </a:p>
          <a:p>
            <a:pPr>
              <a:buFontTx/>
              <a:buNone/>
              <a:defRPr/>
            </a:pPr>
            <a:endParaRPr lang="en-US" altLang="zh-CN" sz="1800" b="1" dirty="0">
              <a:solidFill>
                <a:schemeClr val="bg1"/>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pPr>
              <a:defRPr/>
            </a:pPr>
            <a:fld id="{C6DAB1E2-DF51-4F51-A6B8-342A1D947A21}"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1902" y="328878"/>
            <a:ext cx="92185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微软雅黑" panose="020B0503020204020204" pitchFamily="34" charset="-122"/>
              </a:defRPr>
            </a:lvl1pPr>
            <a:lvl2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2pPr>
            <a:lvl3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3pPr>
            <a:lvl4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4pPr>
            <a:lvl5pPr algn="ctr" rtl="0" eaLnBrk="0" fontAlgn="base" hangingPunct="0">
              <a:spcBef>
                <a:spcPct val="0"/>
              </a:spcBef>
              <a:spcAft>
                <a:spcPct val="0"/>
              </a:spcAft>
              <a:defRPr sz="4400">
                <a:solidFill>
                  <a:schemeClr val="tx1"/>
                </a:solidFill>
                <a:latin typeface="Verdana" panose="020B0604030504040204" pitchFamily="34" charset="0"/>
                <a:ea typeface="微软雅黑" panose="020B0503020204020204" pitchFamily="34" charset="-122"/>
                <a:cs typeface="微软雅黑" panose="020B0503020204020204" pitchFamily="34" charset="-122"/>
              </a:defRPr>
            </a:lvl5pPr>
            <a:lvl6pPr marL="4572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Verdana" panose="020B0604030504040204" pitchFamily="34" charset="0"/>
                <a:ea typeface="微软雅黑" panose="020B0503020204020204" pitchFamily="34" charset="-122"/>
              </a:defRPr>
            </a:lvl9pPr>
          </a:lstStyle>
          <a:p>
            <a:pPr algn="l" eaLnBrk="1" hangingPunct="1"/>
            <a:r>
              <a:rPr lang="zh-CN" altLang="en-US" sz="5400" b="1" dirty="0">
                <a:solidFill>
                  <a:schemeClr val="bg1"/>
                </a:solidFill>
                <a:latin typeface="微软雅黑" panose="020B0503020204020204" pitchFamily="34" charset="-122"/>
                <a:ea typeface="微软雅黑" panose="020B0503020204020204" pitchFamily="34" charset="-122"/>
              </a:rPr>
              <a:t>实验室安全教育</a:t>
            </a:r>
            <a:endParaRPr lang="zh-CN" altLang="en-US" sz="5400" b="1" dirty="0">
              <a:solidFill>
                <a:schemeClr val="bg1"/>
              </a:solidFill>
              <a:latin typeface="微软雅黑" panose="020B0503020204020204" pitchFamily="34" charset="-122"/>
              <a:ea typeface="微软雅黑" panose="020B0503020204020204" pitchFamily="34" charset="-122"/>
              <a:cs typeface="+mj-cs"/>
            </a:endParaRPr>
          </a:p>
        </p:txBody>
      </p:sp>
      <p:sp>
        <p:nvSpPr>
          <p:cNvPr id="2" name="灯片编号占位符 1"/>
          <p:cNvSpPr>
            <a:spLocks noGrp="1"/>
          </p:cNvSpPr>
          <p:nvPr>
            <p:ph type="sldNum" sz="quarter" idx="12"/>
          </p:nvPr>
        </p:nvSpPr>
        <p:spPr/>
        <p:txBody>
          <a:bodyPr/>
          <a:lstStyle/>
          <a:p>
            <a:pPr>
              <a:defRPr/>
            </a:pPr>
            <a:fld id="{A54D9D6D-0819-48BE-809C-2A51D04D71F0}" type="slidenum">
              <a:rPr lang="zh-CN" altLang="en-US" smtClean="0"/>
            </a:fld>
            <a:endParaRPr lang="zh-CN" altLang="en-US"/>
          </a:p>
        </p:txBody>
      </p:sp>
      <p:sp>
        <p:nvSpPr>
          <p:cNvPr id="5" name="内容占位符 1"/>
          <p:cNvSpPr txBox="1"/>
          <p:nvPr/>
        </p:nvSpPr>
        <p:spPr bwMode="auto">
          <a:xfrm>
            <a:off x="621902" y="1617321"/>
            <a:ext cx="11197989"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微软雅黑" panose="020B0503020204020204" pitchFamily="34" charset="-122"/>
              </a:defRPr>
            </a:lvl9pPr>
          </a:lstStyle>
          <a:p>
            <a:pPr>
              <a:buNone/>
              <a:defRPr/>
            </a:pPr>
            <a:r>
              <a:rPr lang="zh-CN" altLang="en-US" sz="3600" b="1" dirty="0">
                <a:solidFill>
                  <a:schemeClr val="bg1"/>
                </a:solidFill>
                <a:latin typeface="Times New Roman" panose="02020603050405020304" pitchFamily="18" charset="0"/>
                <a:cs typeface="Times New Roman" panose="02020603050405020304" pitchFamily="18" charset="0"/>
              </a:rPr>
              <a:t>复旦大学资产与实验室安全管理处</a:t>
            </a:r>
            <a:r>
              <a:rPr lang="en-US" altLang="zh-CN" sz="3600" b="1" dirty="0">
                <a:solidFill>
                  <a:schemeClr val="bg1"/>
                </a:solidFill>
                <a:latin typeface="Times New Roman" panose="02020603050405020304" pitchFamily="18" charset="0"/>
                <a:cs typeface="Times New Roman" panose="02020603050405020304" pitchFamily="18" charset="0"/>
                <a:hlinkClick r:id="rId1"/>
              </a:rPr>
              <a:t>https://zcglc.fudan.edu.cn/</a:t>
            </a:r>
            <a:endParaRPr lang="en-US" altLang="zh-CN" sz="3600" b="1" dirty="0">
              <a:solidFill>
                <a:schemeClr val="bg1"/>
              </a:solidFill>
              <a:latin typeface="Times New Roman" panose="02020603050405020304" pitchFamily="18" charset="0"/>
              <a:cs typeface="Times New Roman" panose="02020603050405020304" pitchFamily="18" charset="0"/>
            </a:endParaRPr>
          </a:p>
          <a:p>
            <a:pPr>
              <a:buNone/>
              <a:defRPr/>
            </a:pPr>
            <a:r>
              <a:rPr lang="zh-CN" altLang="en-US" sz="3600" b="1" dirty="0">
                <a:solidFill>
                  <a:schemeClr val="bg1"/>
                </a:solidFill>
                <a:latin typeface="Times New Roman" panose="02020603050405020304" pitchFamily="18" charset="0"/>
                <a:cs typeface="Times New Roman" panose="02020603050405020304" pitchFamily="18" charset="0"/>
              </a:rPr>
              <a:t>登录“</a:t>
            </a:r>
            <a:r>
              <a:rPr lang="zh-CN" altLang="en-US" sz="3600" b="1" dirty="0">
                <a:solidFill>
                  <a:srgbClr val="0070C0"/>
                </a:solidFill>
                <a:latin typeface="Times New Roman" panose="02020603050405020304" pitchFamily="18" charset="0"/>
                <a:cs typeface="Times New Roman" panose="02020603050405020304" pitchFamily="18" charset="0"/>
              </a:rPr>
              <a:t>安全考试系统</a:t>
            </a:r>
            <a:r>
              <a:rPr lang="zh-CN" altLang="en-US" sz="3600" b="1" dirty="0">
                <a:solidFill>
                  <a:schemeClr val="bg1"/>
                </a:solidFill>
                <a:latin typeface="Times New Roman" panose="02020603050405020304" pitchFamily="18" charset="0"/>
                <a:cs typeface="Times New Roman" panose="02020603050405020304" pitchFamily="18" charset="0"/>
              </a:rPr>
              <a:t>”板块</a:t>
            </a:r>
            <a:endParaRPr lang="en-US" altLang="zh-CN" sz="3600" b="1" dirty="0">
              <a:solidFill>
                <a:schemeClr val="bg1"/>
              </a:solidFill>
              <a:latin typeface="Times New Roman" panose="02020603050405020304" pitchFamily="18" charset="0"/>
              <a:cs typeface="Times New Roman" panose="02020603050405020304" pitchFamily="18" charset="0"/>
            </a:endParaRPr>
          </a:p>
          <a:p>
            <a:pPr>
              <a:buNone/>
              <a:defRPr/>
            </a:pPr>
            <a:r>
              <a:rPr lang="zh-CN" altLang="en-US" sz="3600" b="1" dirty="0">
                <a:solidFill>
                  <a:schemeClr val="bg1"/>
                </a:solidFill>
                <a:latin typeface="Times New Roman" panose="02020603050405020304" pitchFamily="18" charset="0"/>
                <a:cs typeface="Times New Roman" panose="02020603050405020304" pitchFamily="18" charset="0"/>
              </a:rPr>
              <a:t>参加“</a:t>
            </a:r>
            <a:r>
              <a:rPr lang="zh-CN" altLang="en-US" sz="3600" dirty="0">
                <a:solidFill>
                  <a:srgbClr val="0070C0"/>
                </a:solidFill>
              </a:rPr>
              <a:t>物理学系教学实验安全考试（本科教学）</a:t>
            </a:r>
            <a:r>
              <a:rPr lang="zh-CN" altLang="en-US" sz="3600" b="1" dirty="0">
                <a:solidFill>
                  <a:schemeClr val="bg1"/>
                </a:solidFill>
                <a:latin typeface="Times New Roman" panose="02020603050405020304" pitchFamily="18" charset="0"/>
                <a:cs typeface="Times New Roman" panose="02020603050405020304" pitchFamily="18" charset="0"/>
              </a:rPr>
              <a:t>”考试</a:t>
            </a:r>
            <a:endParaRPr lang="en-US" altLang="zh-CN" sz="3600" b="1" dirty="0">
              <a:solidFill>
                <a:schemeClr val="bg1"/>
              </a:solidFill>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2"/>
          <a:stretch>
            <a:fillRect/>
          </a:stretch>
        </p:blipFill>
        <p:spPr>
          <a:xfrm>
            <a:off x="191344" y="4509120"/>
            <a:ext cx="6388097" cy="2163896"/>
          </a:xfrm>
          <a:prstGeom prst="rect">
            <a:avLst/>
          </a:prstGeom>
        </p:spPr>
      </p:pic>
      <p:sp>
        <p:nvSpPr>
          <p:cNvPr id="8" name="矩形 7"/>
          <p:cNvSpPr/>
          <p:nvPr/>
        </p:nvSpPr>
        <p:spPr>
          <a:xfrm>
            <a:off x="6832518" y="4515519"/>
            <a:ext cx="5349206" cy="2169825"/>
          </a:xfrm>
          <a:prstGeom prst="rect">
            <a:avLst/>
          </a:prstGeom>
        </p:spPr>
        <p:txBody>
          <a:bodyPr wrap="square">
            <a:spAutoFit/>
          </a:bodyPr>
          <a:lstStyle/>
          <a:p>
            <a:pPr>
              <a:buNone/>
              <a:defRPr/>
            </a:pPr>
            <a:r>
              <a:rPr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注意：满分</a:t>
            </a: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分，</a:t>
            </a:r>
            <a:r>
              <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90</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分</a:t>
            </a:r>
            <a:r>
              <a:rPr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及以上的考试成绩视为</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合格</a:t>
            </a:r>
            <a:r>
              <a:rPr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，系统每天凌晨</a:t>
            </a: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将自动重置，成绩不合格可再次参加考试。</a:t>
            </a:r>
            <a:endPar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spcBef>
                <a:spcPts val="1800"/>
              </a:spcBef>
              <a:buNone/>
              <a:defRPr/>
            </a:pP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考试合格后请截图保存合格证书。</a:t>
            </a:r>
            <a:endPar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35760" y="2060848"/>
            <a:ext cx="5493812" cy="2215991"/>
          </a:xfrm>
          <a:prstGeom prst="rect">
            <a:avLst/>
          </a:prstGeom>
          <a:noFill/>
        </p:spPr>
        <p:txBody>
          <a:bodyPr wrap="none" rtlCol="0">
            <a:spAutoFit/>
          </a:bodyPr>
          <a:lstStyle/>
          <a:p>
            <a:r>
              <a:rPr lang="zh-CN" altLang="en-US" sz="13800" dirty="0">
                <a:solidFill>
                  <a:srgbClr val="0070C0"/>
                </a:solidFill>
                <a:latin typeface="微软雅黑" panose="020B0503020204020204" pitchFamily="34" charset="-122"/>
                <a:ea typeface="微软雅黑" panose="020B0503020204020204" pitchFamily="34" charset="-122"/>
              </a:rPr>
              <a:t>谢谢！</a:t>
            </a:r>
            <a:endParaRPr lang="zh-CN" altLang="en-US" sz="13800" dirty="0">
              <a:solidFill>
                <a:srgbClr val="0070C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pPr>
              <a:defRPr/>
            </a:pPr>
            <a:fld id="{7FA710DD-BCD0-4FBD-BFC9-938EC3A1E502}"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TIMING" val="|122.156|25.51701"/>
</p:tagLst>
</file>

<file path=ppt/tags/tag2.xml><?xml version="1.0" encoding="utf-8"?>
<p:tagLst xmlns:p="http://schemas.openxmlformats.org/presentationml/2006/main">
  <p:tag name="TIMING" val="|81.245|11.239"/>
</p:tagLst>
</file>

<file path=ppt/tags/tag3.xml><?xml version="1.0" encoding="utf-8"?>
<p:tagLst xmlns:p="http://schemas.openxmlformats.org/presentationml/2006/main">
  <p:tag name="TIMING" val="|11.603|11.042|8.334"/>
</p:tagLst>
</file>

<file path=ppt/tags/tag4.xml><?xml version="1.0" encoding="utf-8"?>
<p:tagLst xmlns:p="http://schemas.openxmlformats.org/presentationml/2006/main">
  <p:tag name="TIMING" val="|13.667"/>
</p:tagLst>
</file>

<file path=ppt/tags/tag5.xml><?xml version="1.0" encoding="utf-8"?>
<p:tagLst xmlns:p="http://schemas.openxmlformats.org/presentationml/2006/main">
  <p:tag name="TIMING" val="|1.933|0.613|45.552"/>
</p:tagLst>
</file>

<file path=ppt/tags/tag6.xml><?xml version="1.0" encoding="utf-8"?>
<p:tagLst xmlns:p="http://schemas.openxmlformats.org/presentationml/2006/main">
  <p:tag name="TIMING" val="|28.979|1.076|69.049|0.7570038|21.978"/>
</p:tagLst>
</file>

<file path=ppt/tags/tag7.xml><?xml version="1.0" encoding="utf-8"?>
<p:tagLst xmlns:p="http://schemas.openxmlformats.org/presentationml/2006/main">
  <p:tag name="TIMING" val="|1.489|66.883|1.997002|2.917|19.71"/>
</p:tagLst>
</file>

<file path=ppt/tags/tag8.xml><?xml version="1.0" encoding="utf-8"?>
<p:tagLst xmlns:p="http://schemas.openxmlformats.org/presentationml/2006/main">
  <p:tag name="TIMING" val="|29.261|128.3|17.976|1.623001|77.832"/>
</p:tagLst>
</file>

<file path=ppt/tags/tag9.xml><?xml version="1.0" encoding="utf-8"?>
<p:tagLst xmlns:p="http://schemas.openxmlformats.org/presentationml/2006/main">
  <p:tag name="TIMING" val="|32.827|3.415001"/>
</p:tagLst>
</file>

<file path=ppt/tags/tag10.xml><?xml version="1.0" encoding="utf-8"?>
<p:tagLst xmlns:p="http://schemas.openxmlformats.org/presentationml/2006/main">
  <p:tag name="TIMING" val="|23.281|15.175"/>
</p:tagLst>
</file>

<file path=ppt/tags/tag11.xml><?xml version="1.0" encoding="utf-8"?>
<p:tagLst xmlns:p="http://schemas.openxmlformats.org/presentationml/2006/main">
  <p:tag name="TIMING" val="|80.016|19.079|10.716|2.213005|9.534996|2.768005|2.837997|32.922|26.793|6.166"/>
</p:tagLst>
</file>

<file path=ppt/tags/tag12.xml><?xml version="1.0" encoding="utf-8"?>
<p:tagLst xmlns:p="http://schemas.openxmlformats.org/presentationml/2006/main">
  <p:tag name="TIMING" val="|41.031|48.789|119.836|0.7169952|1.296005|5.682999"/>
</p:tagLst>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离子">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13526</Words>
  <Application>WPS 演示</Application>
  <PresentationFormat>宽屏</PresentationFormat>
  <Paragraphs>1605</Paragraphs>
  <Slides>79</Slides>
  <Notes>28</Notes>
  <HiddenSlides>0</HiddenSlides>
  <MMClips>0</MMClips>
  <ScaleCrop>false</ScaleCrop>
  <HeadingPairs>
    <vt:vector size="8" baseType="variant">
      <vt:variant>
        <vt:lpstr>已用的字体</vt:lpstr>
      </vt:variant>
      <vt:variant>
        <vt:i4>27</vt:i4>
      </vt:variant>
      <vt:variant>
        <vt:lpstr>主题</vt:lpstr>
      </vt:variant>
      <vt:variant>
        <vt:i4>1</vt:i4>
      </vt:variant>
      <vt:variant>
        <vt:lpstr>嵌入 OLE 服务器</vt:lpstr>
      </vt:variant>
      <vt:variant>
        <vt:i4>27</vt:i4>
      </vt:variant>
      <vt:variant>
        <vt:lpstr>幻灯片标题</vt:lpstr>
      </vt:variant>
      <vt:variant>
        <vt:i4>79</vt:i4>
      </vt:variant>
    </vt:vector>
  </HeadingPairs>
  <TitlesOfParts>
    <vt:vector size="134" baseType="lpstr">
      <vt:lpstr>Arial</vt:lpstr>
      <vt:lpstr>宋体</vt:lpstr>
      <vt:lpstr>Wingdings</vt:lpstr>
      <vt:lpstr>Wingdings 3</vt:lpstr>
      <vt:lpstr>Arial</vt:lpstr>
      <vt:lpstr>微软雅黑</vt:lpstr>
      <vt:lpstr>Times New Roman</vt:lpstr>
      <vt:lpstr>Verdana</vt:lpstr>
      <vt:lpstr>楷体_GB2312</vt:lpstr>
      <vt:lpstr>新宋体</vt:lpstr>
      <vt:lpstr>Symbol</vt:lpstr>
      <vt:lpstr>Symbol</vt:lpstr>
      <vt:lpstr>Century Gothic</vt:lpstr>
      <vt:lpstr>Arial Unicode MS</vt:lpstr>
      <vt:lpstr>Calibri</vt:lpstr>
      <vt:lpstr>楷体_GB2312</vt:lpstr>
      <vt:lpstr>Cambria Math</vt:lpstr>
      <vt:lpstr>Segoe UI</vt:lpstr>
      <vt:lpstr>黑体</vt:lpstr>
      <vt:lpstr>Verdana</vt:lpstr>
      <vt:lpstr>等线</vt:lpstr>
      <vt:lpstr>Times New Roman</vt:lpstr>
      <vt:lpstr>楷体</vt:lpstr>
      <vt:lpstr>Symbol</vt:lpstr>
      <vt:lpstr>Wingdings</vt:lpstr>
      <vt:lpstr>楷体_GB2312</vt:lpstr>
      <vt:lpstr>方正楷体_GB2312</vt:lpstr>
      <vt:lpstr>离子</vt:lpstr>
      <vt:lpstr>Excel.Sheet.12</vt:lpstr>
      <vt:lpstr>Equation.DSMT4</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Equation.3</vt:lpstr>
      <vt:lpstr>Equation.3</vt:lpstr>
      <vt:lpstr>Equation.3</vt:lpstr>
      <vt:lpstr>Equation.DSMT4</vt:lpstr>
      <vt:lpstr>Equation.DSMT4</vt:lpstr>
      <vt:lpstr>Equation.DSMT4</vt:lpstr>
      <vt:lpstr>Equation.DSMT4</vt:lpstr>
      <vt:lpstr>Equation.DSMT4</vt:lpstr>
      <vt:lpstr>Equation.3</vt:lpstr>
      <vt:lpstr>Equation.DSMT4</vt:lpstr>
      <vt:lpstr>Equation.DSMT4</vt:lpstr>
      <vt:lpstr>Equation.3</vt:lpstr>
      <vt:lpstr>Equation.3</vt:lpstr>
      <vt:lpstr>Equation.DSMT4</vt:lpstr>
      <vt:lpstr>Equation.DSMT4</vt:lpstr>
      <vt:lpstr>基础物理实验</vt:lpstr>
      <vt:lpstr>你将学习以下内容：</vt:lpstr>
      <vt:lpstr>正确 理解 有效数字！ 正确 表示 有效数字!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不确定度的评定</vt:lpstr>
      <vt:lpstr>案例：不确定度分析的意义</vt:lpstr>
      <vt:lpstr>不确定度的评定方法</vt:lpstr>
      <vt:lpstr>测量不确定度的来源</vt:lpstr>
      <vt:lpstr>构建待测量的测量模型</vt:lpstr>
      <vt:lpstr>分析每个输入量的标准不确定度</vt:lpstr>
      <vt:lpstr>标准不确定度的A类评定</vt:lpstr>
      <vt:lpstr>PowerPoint 演示文稿</vt:lpstr>
      <vt:lpstr>PowerPoint 演示文稿</vt:lpstr>
      <vt:lpstr>常见情形：测量工具（仪器）的影响</vt:lpstr>
      <vt:lpstr>PowerPoint 演示文稿</vt:lpstr>
      <vt:lpstr>获得待测量的合成标准不确定度</vt:lpstr>
      <vt:lpstr>间接测量量：</vt:lpstr>
      <vt:lpstr>几个常见的合成公式</vt:lpstr>
      <vt:lpstr>PowerPoint 演示文稿</vt:lpstr>
      <vt:lpstr>PowerPoint 演示文稿</vt:lpstr>
      <vt:lpstr>示例:测量圆柱体合金的密度</vt:lpstr>
      <vt:lpstr>PowerPoint 演示文稿</vt:lpstr>
      <vt:lpstr>PowerPoint 演示文稿</vt:lpstr>
      <vt:lpstr>PowerPoint 演示文稿</vt:lpstr>
      <vt:lpstr>PowerPoint 演示文稿</vt:lpstr>
      <vt:lpstr>PowerPoint 演示文稿</vt:lpstr>
      <vt:lpstr>4. 作图</vt:lpstr>
      <vt:lpstr>为什么要作图</vt:lpstr>
      <vt:lpstr>作图规则</vt:lpstr>
      <vt:lpstr>作图规则</vt:lpstr>
      <vt:lpstr>作图规则</vt:lpstr>
      <vt:lpstr>作图规则</vt:lpstr>
      <vt:lpstr>作图规则</vt:lpstr>
      <vt:lpstr>作图规则</vt:lpstr>
      <vt:lpstr>作图规则</vt:lpstr>
      <vt:lpstr>作图规则</vt:lpstr>
      <vt:lpstr>PowerPoint 演示文稿</vt:lpstr>
      <vt:lpstr>例：如何读图</vt:lpstr>
      <vt:lpstr>例：如何读图</vt:lpstr>
      <vt:lpstr>例：如何读图</vt:lpstr>
      <vt:lpstr>5. 最小二乘法</vt:lpstr>
      <vt:lpstr>PowerPoint 演示文稿</vt:lpstr>
      <vt:lpstr>PowerPoint 演示文稿</vt:lpstr>
      <vt:lpstr>5.1 最小二乘法应用举例</vt:lpstr>
      <vt:lpstr>PowerPoint 演示文稿</vt:lpstr>
      <vt:lpstr>PowerPoint 演示文稿</vt:lpstr>
      <vt:lpstr>6. 用origin和excel作线性拟合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 第三周实验安排（恒隆物理楼2楼西侧）</vt:lpstr>
      <vt:lpstr>7. 第3-15周实验安排</vt:lpstr>
      <vt:lpstr>通过学习通观看视频预习实验、预习思考题、打印实验报告纸并完成数据处理作业！</vt:lpstr>
      <vt:lpstr>通过学习通观看视频预习实验、回答预习思考题、打印实验报告纸并完成数据处理作业！</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LBX</cp:lastModifiedBy>
  <cp:revision>299</cp:revision>
  <dcterms:created xsi:type="dcterms:W3CDTF">2013-08-19T00:06:00Z</dcterms:created>
  <dcterms:modified xsi:type="dcterms:W3CDTF">2026-03-11T12:15:50Z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5D00BE3EA1084E9A8336ABC1B6CE1071_12</vt:lpwstr>
  </property>
</Properties>
</file>