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318.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94"/>
  </p:notesMasterIdLst>
  <p:sldIdLst>
    <p:sldId id="673" r:id="rId2"/>
    <p:sldId id="357" r:id="rId3"/>
    <p:sldId id="465" r:id="rId4"/>
    <p:sldId id="582" r:id="rId5"/>
    <p:sldId id="466" r:id="rId6"/>
    <p:sldId id="467" r:id="rId7"/>
    <p:sldId id="468" r:id="rId8"/>
    <p:sldId id="469" r:id="rId9"/>
    <p:sldId id="470" r:id="rId10"/>
    <p:sldId id="576" r:id="rId11"/>
    <p:sldId id="658" r:id="rId12"/>
    <p:sldId id="472" r:id="rId13"/>
    <p:sldId id="473" r:id="rId14"/>
    <p:sldId id="653" r:id="rId15"/>
    <p:sldId id="475" r:id="rId16"/>
    <p:sldId id="677" r:id="rId17"/>
    <p:sldId id="477" r:id="rId18"/>
    <p:sldId id="478" r:id="rId19"/>
    <p:sldId id="479" r:id="rId20"/>
    <p:sldId id="480" r:id="rId21"/>
    <p:sldId id="481" r:id="rId22"/>
    <p:sldId id="482" r:id="rId23"/>
    <p:sldId id="590" r:id="rId24"/>
    <p:sldId id="591" r:id="rId25"/>
    <p:sldId id="583" r:id="rId26"/>
    <p:sldId id="584" r:id="rId27"/>
    <p:sldId id="624" r:id="rId28"/>
    <p:sldId id="611" r:id="rId29"/>
    <p:sldId id="612" r:id="rId30"/>
    <p:sldId id="613" r:id="rId31"/>
    <p:sldId id="614" r:id="rId32"/>
    <p:sldId id="615" r:id="rId33"/>
    <p:sldId id="616" r:id="rId34"/>
    <p:sldId id="617" r:id="rId35"/>
    <p:sldId id="618" r:id="rId36"/>
    <p:sldId id="619" r:id="rId37"/>
    <p:sldId id="620" r:id="rId38"/>
    <p:sldId id="659" r:id="rId39"/>
    <p:sldId id="661" r:id="rId40"/>
    <p:sldId id="604" r:id="rId41"/>
    <p:sldId id="605" r:id="rId42"/>
    <p:sldId id="606" r:id="rId43"/>
    <p:sldId id="621" r:id="rId44"/>
    <p:sldId id="608" r:id="rId45"/>
    <p:sldId id="662" r:id="rId46"/>
    <p:sldId id="626" r:id="rId47"/>
    <p:sldId id="674" r:id="rId48"/>
    <p:sldId id="609" r:id="rId49"/>
    <p:sldId id="656" r:id="rId50"/>
    <p:sldId id="664" r:id="rId51"/>
    <p:sldId id="631" r:id="rId52"/>
    <p:sldId id="632" r:id="rId53"/>
    <p:sldId id="633" r:id="rId54"/>
    <p:sldId id="627" r:id="rId55"/>
    <p:sldId id="628" r:id="rId56"/>
    <p:sldId id="672" r:id="rId57"/>
    <p:sldId id="666" r:id="rId58"/>
    <p:sldId id="630" r:id="rId59"/>
    <p:sldId id="587" r:id="rId60"/>
    <p:sldId id="634" r:id="rId61"/>
    <p:sldId id="635" r:id="rId62"/>
    <p:sldId id="636" r:id="rId63"/>
    <p:sldId id="676" r:id="rId64"/>
    <p:sldId id="637" r:id="rId65"/>
    <p:sldId id="638" r:id="rId66"/>
    <p:sldId id="377" r:id="rId67"/>
    <p:sldId id="378" r:id="rId68"/>
    <p:sldId id="395" r:id="rId69"/>
    <p:sldId id="399" r:id="rId70"/>
    <p:sldId id="379" r:id="rId71"/>
    <p:sldId id="411" r:id="rId72"/>
    <p:sldId id="380" r:id="rId73"/>
    <p:sldId id="381" r:id="rId74"/>
    <p:sldId id="382" r:id="rId75"/>
    <p:sldId id="675" r:id="rId76"/>
    <p:sldId id="415" r:id="rId77"/>
    <p:sldId id="670" r:id="rId78"/>
    <p:sldId id="639" r:id="rId79"/>
    <p:sldId id="640" r:id="rId80"/>
    <p:sldId id="641" r:id="rId81"/>
    <p:sldId id="642" r:id="rId82"/>
    <p:sldId id="643" r:id="rId83"/>
    <p:sldId id="644" r:id="rId84"/>
    <p:sldId id="645" r:id="rId85"/>
    <p:sldId id="652" r:id="rId86"/>
    <p:sldId id="667" r:id="rId87"/>
    <p:sldId id="668" r:id="rId88"/>
    <p:sldId id="671" r:id="rId89"/>
    <p:sldId id="646" r:id="rId90"/>
    <p:sldId id="647" r:id="rId91"/>
    <p:sldId id="651" r:id="rId92"/>
    <p:sldId id="669" r:id="rId9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楷体_GB2312" pitchFamily="49"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楷体_GB2312" pitchFamily="49"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楷体_GB2312" pitchFamily="49"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楷体_GB2312" pitchFamily="49"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楷体_GB2312" pitchFamily="49" charset="-122"/>
        <a:cs typeface="+mn-cs"/>
      </a:defRPr>
    </a:lvl5pPr>
    <a:lvl6pPr marL="2286000" algn="l" defTabSz="914400" rtl="0" eaLnBrk="1" latinLnBrk="0" hangingPunct="1">
      <a:defRPr kumimoji="1" sz="2400" kern="1200">
        <a:solidFill>
          <a:schemeClr val="tx1"/>
        </a:solidFill>
        <a:latin typeface="Times New Roman" pitchFamily="18" charset="0"/>
        <a:ea typeface="楷体_GB2312" pitchFamily="49" charset="-122"/>
        <a:cs typeface="+mn-cs"/>
      </a:defRPr>
    </a:lvl6pPr>
    <a:lvl7pPr marL="2743200" algn="l" defTabSz="914400" rtl="0" eaLnBrk="1" latinLnBrk="0" hangingPunct="1">
      <a:defRPr kumimoji="1" sz="2400" kern="1200">
        <a:solidFill>
          <a:schemeClr val="tx1"/>
        </a:solidFill>
        <a:latin typeface="Times New Roman" pitchFamily="18" charset="0"/>
        <a:ea typeface="楷体_GB2312" pitchFamily="49" charset="-122"/>
        <a:cs typeface="+mn-cs"/>
      </a:defRPr>
    </a:lvl7pPr>
    <a:lvl8pPr marL="3200400" algn="l" defTabSz="914400" rtl="0" eaLnBrk="1" latinLnBrk="0" hangingPunct="1">
      <a:defRPr kumimoji="1" sz="2400" kern="1200">
        <a:solidFill>
          <a:schemeClr val="tx1"/>
        </a:solidFill>
        <a:latin typeface="Times New Roman" pitchFamily="18" charset="0"/>
        <a:ea typeface="楷体_GB2312" pitchFamily="49" charset="-122"/>
        <a:cs typeface="+mn-cs"/>
      </a:defRPr>
    </a:lvl8pPr>
    <a:lvl9pPr marL="3657600" algn="l" defTabSz="914400" rtl="0" eaLnBrk="1" latinLnBrk="0" hangingPunct="1">
      <a:defRPr kumimoji="1" sz="2400" kern="1200">
        <a:solidFill>
          <a:schemeClr val="tx1"/>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FF0000"/>
    <a:srgbClr val="000066"/>
    <a:srgbClr val="FFCCCC"/>
    <a:srgbClr val="66FFFF"/>
    <a:srgbClr val="FFFF00"/>
    <a:srgbClr val="FFFF6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06" autoAdjust="0"/>
    <p:restoredTop sz="79627" autoAdjust="0"/>
  </p:normalViewPr>
  <p:slideViewPr>
    <p:cSldViewPr>
      <p:cViewPr varScale="1">
        <p:scale>
          <a:sx n="50" d="100"/>
          <a:sy n="50" d="100"/>
        </p:scale>
        <p:origin x="528" y="48"/>
      </p:cViewPr>
      <p:guideLst>
        <p:guide orient="horz" pos="2160"/>
        <p:guide pos="2880"/>
      </p:guideLst>
    </p:cSldViewPr>
  </p:slideViewPr>
  <p:outlineViewPr>
    <p:cViewPr>
      <p:scale>
        <a:sx n="33" d="100"/>
        <a:sy n="33" d="100"/>
      </p:scale>
      <p:origin x="0" y="-7372"/>
    </p:cViewPr>
  </p:outlineViewPr>
  <p:notesTextViewPr>
    <p:cViewPr>
      <p:scale>
        <a:sx n="100" d="100"/>
        <a:sy n="100" d="100"/>
      </p:scale>
      <p:origin x="0" y="0"/>
    </p:cViewPr>
  </p:notesTextViewPr>
  <p:sorterViewPr>
    <p:cViewPr varScale="1">
      <p:scale>
        <a:sx n="1" d="1"/>
        <a:sy n="1" d="1"/>
      </p:scale>
      <p:origin x="0" y="-2349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image" Target="../media/image47.wmf"/><Relationship Id="rId18" Type="http://schemas.openxmlformats.org/officeDocument/2006/relationships/image" Target="../media/image52.wmf"/><Relationship Id="rId3" Type="http://schemas.openxmlformats.org/officeDocument/2006/relationships/image" Target="../media/image37.wmf"/><Relationship Id="rId21" Type="http://schemas.openxmlformats.org/officeDocument/2006/relationships/image" Target="../media/image55.wmf"/><Relationship Id="rId7" Type="http://schemas.openxmlformats.org/officeDocument/2006/relationships/image" Target="../media/image41.wmf"/><Relationship Id="rId12" Type="http://schemas.openxmlformats.org/officeDocument/2006/relationships/image" Target="../media/image46.wmf"/><Relationship Id="rId17" Type="http://schemas.openxmlformats.org/officeDocument/2006/relationships/image" Target="../media/image51.wmf"/><Relationship Id="rId2" Type="http://schemas.openxmlformats.org/officeDocument/2006/relationships/image" Target="../media/image36.wmf"/><Relationship Id="rId16" Type="http://schemas.openxmlformats.org/officeDocument/2006/relationships/image" Target="../media/image50.wmf"/><Relationship Id="rId20" Type="http://schemas.openxmlformats.org/officeDocument/2006/relationships/image" Target="../media/image54.emf"/><Relationship Id="rId1" Type="http://schemas.openxmlformats.org/officeDocument/2006/relationships/image" Target="../media/image35.wmf"/><Relationship Id="rId6" Type="http://schemas.openxmlformats.org/officeDocument/2006/relationships/image" Target="../media/image40.wmf"/><Relationship Id="rId11" Type="http://schemas.openxmlformats.org/officeDocument/2006/relationships/image" Target="../media/image45.wmf"/><Relationship Id="rId5" Type="http://schemas.openxmlformats.org/officeDocument/2006/relationships/image" Target="../media/image39.wmf"/><Relationship Id="rId15" Type="http://schemas.openxmlformats.org/officeDocument/2006/relationships/image" Target="../media/image49.wmf"/><Relationship Id="rId10" Type="http://schemas.openxmlformats.org/officeDocument/2006/relationships/image" Target="../media/image44.wmf"/><Relationship Id="rId19" Type="http://schemas.openxmlformats.org/officeDocument/2006/relationships/image" Target="../media/image53.wmf"/><Relationship Id="rId4" Type="http://schemas.openxmlformats.org/officeDocument/2006/relationships/image" Target="../media/image38.wmf"/><Relationship Id="rId9" Type="http://schemas.openxmlformats.org/officeDocument/2006/relationships/image" Target="../media/image43.wmf"/><Relationship Id="rId14" Type="http://schemas.openxmlformats.org/officeDocument/2006/relationships/image" Target="../media/image4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8.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emf"/><Relationship Id="rId5" Type="http://schemas.openxmlformats.org/officeDocument/2006/relationships/image" Target="../media/image114.wmf"/><Relationship Id="rId4" Type="http://schemas.openxmlformats.org/officeDocument/2006/relationships/image" Target="../media/image113.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image" Target="../media/image11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8.emf"/><Relationship Id="rId1" Type="http://schemas.openxmlformats.org/officeDocument/2006/relationships/image" Target="../media/image11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3.emf"/><Relationship Id="rId1" Type="http://schemas.openxmlformats.org/officeDocument/2006/relationships/image" Target="../media/image24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image" Target="../media/image247.wmf"/><Relationship Id="rId1" Type="http://schemas.openxmlformats.org/officeDocument/2006/relationships/image" Target="../media/image24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1.wmf"/><Relationship Id="rId1" Type="http://schemas.openxmlformats.org/officeDocument/2006/relationships/image" Target="../media/image25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 Id="rId4" Type="http://schemas.openxmlformats.org/officeDocument/2006/relationships/image" Target="../media/image255.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263.wmf"/><Relationship Id="rId3" Type="http://schemas.openxmlformats.org/officeDocument/2006/relationships/image" Target="../media/image258.wmf"/><Relationship Id="rId7" Type="http://schemas.openxmlformats.org/officeDocument/2006/relationships/image" Target="../media/image262.wmf"/><Relationship Id="rId2" Type="http://schemas.openxmlformats.org/officeDocument/2006/relationships/image" Target="../media/image257.wmf"/><Relationship Id="rId1" Type="http://schemas.openxmlformats.org/officeDocument/2006/relationships/image" Target="../media/image256.wmf"/><Relationship Id="rId6" Type="http://schemas.openxmlformats.org/officeDocument/2006/relationships/image" Target="../media/image261.wmf"/><Relationship Id="rId5" Type="http://schemas.openxmlformats.org/officeDocument/2006/relationships/image" Target="../media/image260.wmf"/><Relationship Id="rId4" Type="http://schemas.openxmlformats.org/officeDocument/2006/relationships/image" Target="../media/image25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66.wmf"/><Relationship Id="rId2" Type="http://schemas.openxmlformats.org/officeDocument/2006/relationships/image" Target="../media/image265.wmf"/><Relationship Id="rId1" Type="http://schemas.openxmlformats.org/officeDocument/2006/relationships/image" Target="../media/image26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68.wmf"/><Relationship Id="rId1" Type="http://schemas.openxmlformats.org/officeDocument/2006/relationships/image" Target="../media/image267.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71.wmf"/><Relationship Id="rId1" Type="http://schemas.openxmlformats.org/officeDocument/2006/relationships/image" Target="../media/image27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81.wmf"/><Relationship Id="rId2" Type="http://schemas.openxmlformats.org/officeDocument/2006/relationships/image" Target="../media/image280.wmf"/><Relationship Id="rId1" Type="http://schemas.openxmlformats.org/officeDocument/2006/relationships/image" Target="../media/image279.wmf"/><Relationship Id="rId4" Type="http://schemas.openxmlformats.org/officeDocument/2006/relationships/image" Target="../media/image28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200">
                <a:ea typeface="宋体" pitchFamily="2" charset="-122"/>
                <a:cs typeface="+mn-cs"/>
              </a:defRPr>
            </a:lvl1pPr>
          </a:lstStyle>
          <a:p>
            <a:pPr>
              <a:defRPr/>
            </a:pPr>
            <a:endParaRPr lang="en-US" altLang="zh-CN"/>
          </a:p>
        </p:txBody>
      </p:sp>
      <p:sp>
        <p:nvSpPr>
          <p:cNvPr id="1628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200">
                <a:ea typeface="宋体" pitchFamily="2" charset="-122"/>
                <a:cs typeface="+mn-cs"/>
              </a:defRPr>
            </a:lvl1pPr>
          </a:lstStyle>
          <a:p>
            <a:pPr>
              <a:defRPr/>
            </a:pPr>
            <a:endParaRPr lang="en-US" altLang="zh-CN"/>
          </a:p>
        </p:txBody>
      </p:sp>
      <p:sp>
        <p:nvSpPr>
          <p:cNvPr id="1013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628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defRPr sz="1200">
                <a:ea typeface="宋体" pitchFamily="2" charset="-122"/>
                <a:cs typeface="+mn-cs"/>
              </a:defRPr>
            </a:lvl1pPr>
          </a:lstStyle>
          <a:p>
            <a:pPr>
              <a:defRPr/>
            </a:pPr>
            <a:endParaRPr lang="en-US" altLang="zh-CN"/>
          </a:p>
        </p:txBody>
      </p:sp>
      <p:sp>
        <p:nvSpPr>
          <p:cNvPr id="1628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a:ea typeface="宋体" pitchFamily="2" charset="-122"/>
                <a:cs typeface="+mn-cs"/>
              </a:defRPr>
            </a:lvl1pPr>
          </a:lstStyle>
          <a:p>
            <a:pPr>
              <a:defRPr/>
            </a:pPr>
            <a:fld id="{BAE61989-FCEC-4D8C-A88E-61A4EF5D2B87}" type="slidenum">
              <a:rPr lang="en-US" altLang="zh-CN"/>
              <a:pPr>
                <a:defRPr/>
              </a:pPr>
              <a:t>‹#›</a:t>
            </a:fld>
            <a:endParaRPr lang="en-US" altLang="zh-CN"/>
          </a:p>
        </p:txBody>
      </p:sp>
    </p:spTree>
    <p:extLst>
      <p:ext uri="{BB962C8B-B14F-4D97-AF65-F5344CB8AC3E}">
        <p14:creationId xmlns:p14="http://schemas.microsoft.com/office/powerpoint/2010/main" val="19940632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1</a:t>
            </a:fld>
            <a:endParaRPr lang="en-US" altLang="zh-CN"/>
          </a:p>
        </p:txBody>
      </p:sp>
    </p:spTree>
    <p:extLst>
      <p:ext uri="{BB962C8B-B14F-4D97-AF65-F5344CB8AC3E}">
        <p14:creationId xmlns:p14="http://schemas.microsoft.com/office/powerpoint/2010/main" val="753049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fld id="{E4408989-324C-468E-A997-AB5D29686AAC}" type="slidenum">
              <a:rPr lang="en-US" altLang="zh-CN" sz="1200" smtClean="0">
                <a:ea typeface="宋体" pitchFamily="2" charset="-122"/>
              </a:rPr>
              <a:pPr eaLnBrk="1" hangingPunct="1"/>
              <a:t>2</a:t>
            </a:fld>
            <a:endParaRPr lang="en-US" altLang="zh-CN" sz="120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sz="1200" b="0" i="0" kern="1200">
                <a:solidFill>
                  <a:schemeClr val="tx1"/>
                </a:solidFill>
                <a:effectLst/>
                <a:latin typeface="Times New Roman" pitchFamily="18" charset="0"/>
                <a:ea typeface="宋体" pitchFamily="2" charset="-122"/>
                <a:cs typeface="+mn-cs"/>
              </a:rPr>
              <a:t>通信工程系朱谦、汤大侃、任久春</a:t>
            </a:r>
            <a:endParaRPr lang="zh-CN" altLang="en-US"/>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fld id="{36E731B4-A87F-40C7-8208-7C74F94D65E9}" type="slidenum">
              <a:rPr lang="en-US" altLang="zh-CN" sz="1200" smtClean="0">
                <a:ea typeface="宋体" pitchFamily="2" charset="-122"/>
              </a:rPr>
              <a:pPr eaLnBrk="1" hangingPunct="1"/>
              <a:t>9</a:t>
            </a:fld>
            <a:endParaRPr lang="en-US" altLang="zh-CN" sz="1200">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11</a:t>
            </a:fld>
            <a:endParaRPr lang="en-US" altLang="zh-CN"/>
          </a:p>
        </p:txBody>
      </p:sp>
    </p:spTree>
    <p:extLst>
      <p:ext uri="{BB962C8B-B14F-4D97-AF65-F5344CB8AC3E}">
        <p14:creationId xmlns:p14="http://schemas.microsoft.com/office/powerpoint/2010/main" val="3994015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13</a:t>
            </a:fld>
            <a:endParaRPr lang="en-US" altLang="zh-CN"/>
          </a:p>
        </p:txBody>
      </p:sp>
    </p:spTree>
    <p:extLst>
      <p:ext uri="{BB962C8B-B14F-4D97-AF65-F5344CB8AC3E}">
        <p14:creationId xmlns:p14="http://schemas.microsoft.com/office/powerpoint/2010/main" val="402659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106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fld id="{B41E6B66-9822-4802-A0AC-2983A429B860}" type="slidenum">
              <a:rPr lang="en-US" altLang="zh-CN" sz="1200" smtClean="0">
                <a:ea typeface="宋体" pitchFamily="2" charset="-122"/>
              </a:rPr>
              <a:pPr eaLnBrk="1" hangingPunct="1"/>
              <a:t>40</a:t>
            </a:fld>
            <a:endParaRPr lang="en-US" altLang="zh-CN" sz="1200">
              <a:ea typeface="宋体" pitchFamily="2" charset="-122"/>
            </a:endParaRPr>
          </a:p>
        </p:txBody>
      </p:sp>
    </p:spTree>
    <p:extLst>
      <p:ext uri="{BB962C8B-B14F-4D97-AF65-F5344CB8AC3E}">
        <p14:creationId xmlns:p14="http://schemas.microsoft.com/office/powerpoint/2010/main" val="3336847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47</a:t>
            </a:fld>
            <a:endParaRPr lang="en-US" altLang="zh-CN"/>
          </a:p>
        </p:txBody>
      </p:sp>
    </p:spTree>
    <p:extLst>
      <p:ext uri="{BB962C8B-B14F-4D97-AF65-F5344CB8AC3E}">
        <p14:creationId xmlns:p14="http://schemas.microsoft.com/office/powerpoint/2010/main" val="766272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S</a:t>
            </a:r>
            <a:r>
              <a:rPr lang="zh-CN" altLang="en-US"/>
              <a:t>人地</a:t>
            </a:r>
            <a:r>
              <a:rPr lang="en-US" altLang="zh-CN"/>
              <a:t>=S</a:t>
            </a:r>
            <a:r>
              <a:rPr lang="zh-CN" altLang="en-US"/>
              <a:t>人船</a:t>
            </a:r>
            <a:r>
              <a:rPr lang="en-US" altLang="zh-CN"/>
              <a:t>+S</a:t>
            </a:r>
            <a:r>
              <a:rPr lang="zh-CN" altLang="en-US"/>
              <a:t>船人</a:t>
            </a:r>
            <a:r>
              <a:rPr lang="en-US" altLang="zh-CN"/>
              <a:t>=l-S</a:t>
            </a:r>
            <a:r>
              <a:rPr lang="zh-CN" altLang="en-US"/>
              <a:t>，</a:t>
            </a:r>
            <a:r>
              <a:rPr lang="en-US" altLang="zh-CN"/>
              <a:t>S</a:t>
            </a:r>
            <a:r>
              <a:rPr lang="zh-CN" altLang="en-US"/>
              <a:t>是正的，但</a:t>
            </a:r>
            <a:r>
              <a:rPr lang="en-US" altLang="zh-CN"/>
              <a:t>S</a:t>
            </a:r>
            <a:r>
              <a:rPr lang="zh-CN" altLang="en-US"/>
              <a:t>船人为负的，因此</a:t>
            </a:r>
            <a:r>
              <a:rPr lang="en-US" altLang="zh-CN"/>
              <a:t>S</a:t>
            </a:r>
            <a:r>
              <a:rPr lang="zh-CN" altLang="en-US"/>
              <a:t>人地</a:t>
            </a:r>
            <a:r>
              <a:rPr lang="en-US" altLang="zh-CN"/>
              <a:t>=l-S</a:t>
            </a:r>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48</a:t>
            </a:fld>
            <a:endParaRPr lang="en-US" altLang="zh-CN"/>
          </a:p>
        </p:txBody>
      </p:sp>
    </p:spTree>
    <p:extLst>
      <p:ext uri="{BB962C8B-B14F-4D97-AF65-F5344CB8AC3E}">
        <p14:creationId xmlns:p14="http://schemas.microsoft.com/office/powerpoint/2010/main" val="28052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这个图片描述了一个汽车碰撞的案例，涉及到两辆车在十字路口发生碰撞，随后撞到路灯杆的场景。交通事故发生在</a:t>
            </a:r>
            <a:r>
              <a:rPr lang="en-US" altLang="zh-CN"/>
              <a:t>Main Street</a:t>
            </a:r>
            <a:r>
              <a:rPr lang="zh-CN" altLang="en-US"/>
              <a:t>和</a:t>
            </a:r>
            <a:r>
              <a:rPr lang="en-US" altLang="zh-CN"/>
              <a:t>19th Avenue</a:t>
            </a:r>
            <a:r>
              <a:rPr lang="zh-CN" altLang="en-US"/>
              <a:t>的交叉口。两位司机（司机</a:t>
            </a:r>
            <a:r>
              <a:rPr lang="en-US" altLang="zh-CN"/>
              <a:t>A</a:t>
            </a:r>
            <a:r>
              <a:rPr lang="zh-CN" altLang="en-US"/>
              <a:t>和司机</a:t>
            </a:r>
            <a:r>
              <a:rPr lang="en-US" altLang="zh-CN"/>
              <a:t>B</a:t>
            </a:r>
            <a:r>
              <a:rPr lang="zh-CN" altLang="en-US"/>
              <a:t>）都声称自己是在绿灯亮起时启动的，认为对方是闯红灯和超速。然而，只有物理证据能判断谁在说实话。</a:t>
            </a:r>
          </a:p>
          <a:p>
            <a:r>
              <a:rPr lang="zh-CN" altLang="en-US"/>
              <a:t>事故分析由一位受过物理学训练的警官</a:t>
            </a:r>
            <a:r>
              <a:rPr lang="en-US" altLang="zh-CN"/>
              <a:t>Jones</a:t>
            </a:r>
            <a:r>
              <a:rPr lang="zh-CN" altLang="en-US"/>
              <a:t>进行。她通过以下观察得出了结论：</a:t>
            </a:r>
          </a:p>
          <a:p>
            <a:r>
              <a:rPr lang="zh-CN" altLang="en-US"/>
              <a:t>碰撞点由</a:t>
            </a:r>
            <a:r>
              <a:rPr lang="en-US" altLang="zh-CN"/>
              <a:t>B</a:t>
            </a:r>
            <a:r>
              <a:rPr lang="zh-CN" altLang="en-US"/>
              <a:t>车的大灯碎片和其他碎片清楚地标明。</a:t>
            </a:r>
          </a:p>
          <a:p>
            <a:r>
              <a:rPr lang="zh-CN" altLang="en-US"/>
              <a:t>两辆车碰撞后的行驶方向可以通过从碰撞点到最终停车位置的连线来确定。</a:t>
            </a:r>
          </a:p>
          <a:p>
            <a:r>
              <a:rPr lang="zh-CN" altLang="en-US"/>
              <a:t>警官还应用了动量守恒原理。两辆车的初始动量矢量构成直角三角形，合动量矢量指向撞击后的最终方向。动量矢量图显示，</a:t>
            </a:r>
            <a:r>
              <a:rPr lang="en-US" altLang="zh-CN"/>
              <a:t>B</a:t>
            </a:r>
            <a:r>
              <a:rPr lang="zh-CN" altLang="en-US"/>
              <a:t>车的动量显著大于</a:t>
            </a:r>
            <a:r>
              <a:rPr lang="en-US" altLang="zh-CN"/>
              <a:t>A</a:t>
            </a:r>
            <a:r>
              <a:rPr lang="zh-CN" altLang="en-US"/>
              <a:t>车，意味着</a:t>
            </a:r>
            <a:r>
              <a:rPr lang="en-US" altLang="zh-CN"/>
              <a:t>B</a:t>
            </a:r>
            <a:r>
              <a:rPr lang="zh-CN" altLang="en-US"/>
              <a:t>车的速度更大。因此，警官推断</a:t>
            </a:r>
            <a:r>
              <a:rPr lang="en-US" altLang="zh-CN"/>
              <a:t>B</a:t>
            </a:r>
            <a:r>
              <a:rPr lang="zh-CN" altLang="en-US"/>
              <a:t>车司机是超速并闯红灯的，最终裁定</a:t>
            </a:r>
            <a:r>
              <a:rPr lang="en-US" altLang="zh-CN"/>
              <a:t>B</a:t>
            </a:r>
            <a:r>
              <a:rPr lang="zh-CN" altLang="en-US"/>
              <a:t>车司机在撒谎。</a:t>
            </a:r>
          </a:p>
          <a:p>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50</a:t>
            </a:fld>
            <a:endParaRPr lang="en-US" altLang="zh-CN"/>
          </a:p>
        </p:txBody>
      </p:sp>
    </p:spTree>
    <p:extLst>
      <p:ext uri="{BB962C8B-B14F-4D97-AF65-F5344CB8AC3E}">
        <p14:creationId xmlns:p14="http://schemas.microsoft.com/office/powerpoint/2010/main" val="369745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fld id="{69099E39-05D9-49C2-AAD5-3B3C03D83FE7}" type="slidenum">
              <a:rPr lang="en-US" altLang="zh-CN" sz="1200" smtClean="0">
                <a:ea typeface="宋体" pitchFamily="2" charset="-122"/>
              </a:rPr>
              <a:pPr eaLnBrk="1" hangingPunct="1"/>
              <a:t>54</a:t>
            </a:fld>
            <a:endParaRPr lang="en-US" altLang="zh-CN" sz="1200">
              <a:ea typeface="宋体" pitchFamily="2" charset="-122"/>
            </a:endParaRPr>
          </a:p>
        </p:txBody>
      </p:sp>
    </p:spTree>
    <p:extLst>
      <p:ext uri="{BB962C8B-B14F-4D97-AF65-F5344CB8AC3E}">
        <p14:creationId xmlns:p14="http://schemas.microsoft.com/office/powerpoint/2010/main" val="540610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a:solidFill>
                  <a:schemeClr val="tx1"/>
                </a:solidFill>
                <a:effectLst/>
                <a:latin typeface="Times New Roman" pitchFamily="18" charset="0"/>
                <a:ea typeface="宋体" pitchFamily="2" charset="-122"/>
                <a:cs typeface="+mn-cs"/>
              </a:rPr>
              <a:t>2022</a:t>
            </a:r>
            <a:r>
              <a:rPr kumimoji="1" lang="zh-CN" altLang="en-US" sz="1200" b="0" i="0" kern="1200">
                <a:solidFill>
                  <a:schemeClr val="tx1"/>
                </a:solidFill>
                <a:effectLst/>
                <a:latin typeface="Times New Roman" pitchFamily="18" charset="0"/>
                <a:ea typeface="宋体" pitchFamily="2" charset="-122"/>
                <a:cs typeface="+mn-cs"/>
              </a:rPr>
              <a:t>年</a:t>
            </a:r>
            <a:r>
              <a:rPr kumimoji="1" lang="en-US" altLang="zh-CN" sz="1200" b="0" i="0" kern="1200">
                <a:solidFill>
                  <a:schemeClr val="tx1"/>
                </a:solidFill>
                <a:effectLst/>
                <a:latin typeface="Times New Roman" pitchFamily="18" charset="0"/>
                <a:ea typeface="宋体" pitchFamily="2" charset="-122"/>
                <a:cs typeface="+mn-cs"/>
              </a:rPr>
              <a:t>2</a:t>
            </a:r>
            <a:r>
              <a:rPr kumimoji="1" lang="zh-CN" altLang="en-US" sz="1200" b="0" i="0" kern="1200">
                <a:solidFill>
                  <a:schemeClr val="tx1"/>
                </a:solidFill>
                <a:effectLst/>
                <a:latin typeface="Times New Roman" pitchFamily="18" charset="0"/>
                <a:ea typeface="宋体" pitchFamily="2" charset="-122"/>
                <a:cs typeface="+mn-cs"/>
              </a:rPr>
              <a:t>月</a:t>
            </a:r>
            <a:r>
              <a:rPr kumimoji="1" lang="en-US" altLang="zh-CN" sz="1200" b="0" i="0" kern="1200">
                <a:solidFill>
                  <a:schemeClr val="tx1"/>
                </a:solidFill>
                <a:effectLst/>
                <a:latin typeface="Times New Roman" pitchFamily="18" charset="0"/>
                <a:ea typeface="宋体" pitchFamily="2" charset="-122"/>
                <a:cs typeface="+mn-cs"/>
              </a:rPr>
              <a:t>27</a:t>
            </a:r>
            <a:r>
              <a:rPr kumimoji="1" lang="zh-CN" altLang="en-US" sz="1200" b="0" i="0" kern="1200">
                <a:solidFill>
                  <a:schemeClr val="tx1"/>
                </a:solidFill>
                <a:effectLst/>
                <a:latin typeface="Times New Roman" pitchFamily="18" charset="0"/>
                <a:ea typeface="宋体" pitchFamily="2" charset="-122"/>
                <a:cs typeface="+mn-cs"/>
              </a:rPr>
              <a:t>日</a:t>
            </a:r>
            <a:r>
              <a:rPr kumimoji="1" lang="en-US" altLang="zh-CN" sz="1200" b="0" i="0" kern="1200">
                <a:solidFill>
                  <a:schemeClr val="tx1"/>
                </a:solidFill>
                <a:effectLst/>
                <a:latin typeface="Times New Roman" pitchFamily="18" charset="0"/>
                <a:ea typeface="宋体" pitchFamily="2" charset="-122"/>
                <a:cs typeface="+mn-cs"/>
              </a:rPr>
              <a:t>11</a:t>
            </a:r>
            <a:r>
              <a:rPr kumimoji="1" lang="zh-CN" altLang="en-US" sz="1200" b="0" i="0" kern="1200">
                <a:solidFill>
                  <a:schemeClr val="tx1"/>
                </a:solidFill>
                <a:effectLst/>
                <a:latin typeface="Times New Roman" pitchFamily="18" charset="0"/>
                <a:ea typeface="宋体" pitchFamily="2" charset="-122"/>
                <a:cs typeface="+mn-cs"/>
              </a:rPr>
              <a:t>时</a:t>
            </a:r>
            <a:r>
              <a:rPr kumimoji="1" lang="en-US" altLang="zh-CN" sz="1200" b="0" i="0" kern="1200">
                <a:solidFill>
                  <a:schemeClr val="tx1"/>
                </a:solidFill>
                <a:effectLst/>
                <a:latin typeface="Times New Roman" pitchFamily="18" charset="0"/>
                <a:ea typeface="宋体" pitchFamily="2" charset="-122"/>
                <a:cs typeface="+mn-cs"/>
              </a:rPr>
              <a:t>02</a:t>
            </a:r>
            <a:r>
              <a:rPr kumimoji="1" lang="zh-CN" altLang="en-US" sz="1200" b="0" i="0" kern="1200">
                <a:solidFill>
                  <a:schemeClr val="tx1"/>
                </a:solidFill>
                <a:effectLst/>
                <a:latin typeface="Times New Roman" pitchFamily="18" charset="0"/>
                <a:ea typeface="宋体" pitchFamily="2" charset="-122"/>
                <a:cs typeface="+mn-cs"/>
              </a:rPr>
              <a:t>分，海南文昌航天发射场。长征八号遥二运载火箭点火升空，成功将</a:t>
            </a:r>
            <a:r>
              <a:rPr kumimoji="1" lang="en-US" altLang="zh-CN" sz="1200" b="1" i="0" kern="1200">
                <a:solidFill>
                  <a:schemeClr val="tx1"/>
                </a:solidFill>
                <a:effectLst/>
                <a:latin typeface="Times New Roman" pitchFamily="18" charset="0"/>
                <a:ea typeface="宋体" pitchFamily="2" charset="-122"/>
                <a:cs typeface="+mn-cs"/>
              </a:rPr>
              <a:t>22</a:t>
            </a:r>
            <a:r>
              <a:rPr kumimoji="1" lang="zh-CN" altLang="en-US" sz="1200" b="1" i="0" kern="1200">
                <a:solidFill>
                  <a:schemeClr val="tx1"/>
                </a:solidFill>
                <a:effectLst/>
                <a:latin typeface="Times New Roman" pitchFamily="18" charset="0"/>
                <a:ea typeface="宋体" pitchFamily="2" charset="-122"/>
                <a:cs typeface="+mn-cs"/>
              </a:rPr>
              <a:t>颗卫星</a:t>
            </a:r>
            <a:r>
              <a:rPr kumimoji="1" lang="zh-CN" altLang="en-US" sz="1200" b="0" i="0" kern="1200">
                <a:solidFill>
                  <a:schemeClr val="tx1"/>
                </a:solidFill>
                <a:effectLst/>
                <a:latin typeface="Times New Roman" pitchFamily="18" charset="0"/>
                <a:ea typeface="宋体" pitchFamily="2" charset="-122"/>
                <a:cs typeface="+mn-cs"/>
              </a:rPr>
              <a:t>送入预定轨道，</a:t>
            </a:r>
            <a:r>
              <a:rPr kumimoji="1" lang="zh-CN" altLang="en-US" sz="1200" b="1" i="0" kern="1200">
                <a:solidFill>
                  <a:schemeClr val="tx1"/>
                </a:solidFill>
                <a:effectLst/>
                <a:latin typeface="Times New Roman" pitchFamily="18" charset="0"/>
                <a:ea typeface="宋体" pitchFamily="2" charset="-122"/>
                <a:cs typeface="+mn-cs"/>
              </a:rPr>
              <a:t>创造了我国一箭多星发射的新纪录。</a:t>
            </a:r>
            <a:r>
              <a:rPr kumimoji="1" lang="en-US" altLang="zh-CN" sz="1200" b="1" i="0" kern="1200">
                <a:solidFill>
                  <a:schemeClr val="tx1"/>
                </a:solidFill>
                <a:effectLst/>
                <a:latin typeface="Times New Roman" pitchFamily="18" charset="0"/>
                <a:ea typeface="宋体" pitchFamily="2" charset="-122"/>
                <a:cs typeface="+mn-cs"/>
              </a:rPr>
              <a:t>2023</a:t>
            </a:r>
            <a:r>
              <a:rPr kumimoji="1" lang="zh-CN" altLang="en-US" sz="1200" b="1" i="0" kern="1200">
                <a:solidFill>
                  <a:schemeClr val="tx1"/>
                </a:solidFill>
                <a:effectLst/>
                <a:latin typeface="Times New Roman" pitchFamily="18" charset="0"/>
                <a:ea typeface="宋体" pitchFamily="2" charset="-122"/>
                <a:cs typeface="+mn-cs"/>
              </a:rPr>
              <a:t>年</a:t>
            </a:r>
            <a:r>
              <a:rPr kumimoji="1" lang="en-US" altLang="zh-CN" sz="1200" b="0" i="0" kern="1200">
                <a:solidFill>
                  <a:schemeClr val="tx1"/>
                </a:solidFill>
                <a:effectLst/>
                <a:latin typeface="Times New Roman" pitchFamily="18" charset="0"/>
                <a:ea typeface="宋体" pitchFamily="2" charset="-122"/>
                <a:cs typeface="+mn-cs"/>
              </a:rPr>
              <a:t>6</a:t>
            </a:r>
            <a:r>
              <a:rPr kumimoji="1" lang="zh-CN" altLang="en-US" sz="1200" b="0" i="0" kern="1200">
                <a:solidFill>
                  <a:schemeClr val="tx1"/>
                </a:solidFill>
                <a:effectLst/>
                <a:latin typeface="Times New Roman" pitchFamily="18" charset="0"/>
                <a:ea typeface="宋体" pitchFamily="2" charset="-122"/>
                <a:cs typeface="+mn-cs"/>
              </a:rPr>
              <a:t>月</a:t>
            </a:r>
            <a:r>
              <a:rPr kumimoji="1" lang="en-US" altLang="zh-CN" sz="1200" b="0" i="0" kern="1200">
                <a:solidFill>
                  <a:schemeClr val="tx1"/>
                </a:solidFill>
                <a:effectLst/>
                <a:latin typeface="Times New Roman" pitchFamily="18" charset="0"/>
                <a:ea typeface="宋体" pitchFamily="2" charset="-122"/>
                <a:cs typeface="+mn-cs"/>
              </a:rPr>
              <a:t>15</a:t>
            </a:r>
            <a:r>
              <a:rPr kumimoji="1" lang="zh-CN" altLang="en-US" sz="1200" b="0" i="0" kern="1200">
                <a:solidFill>
                  <a:schemeClr val="tx1"/>
                </a:solidFill>
                <a:effectLst/>
                <a:latin typeface="Times New Roman" pitchFamily="18" charset="0"/>
                <a:ea typeface="宋体" pitchFamily="2" charset="-122"/>
                <a:cs typeface="+mn-cs"/>
              </a:rPr>
              <a:t>日</a:t>
            </a:r>
            <a:r>
              <a:rPr kumimoji="1" lang="en-US" altLang="zh-CN" sz="1200" b="0" i="0" kern="1200">
                <a:solidFill>
                  <a:schemeClr val="tx1"/>
                </a:solidFill>
                <a:effectLst/>
                <a:latin typeface="Times New Roman" pitchFamily="18" charset="0"/>
                <a:ea typeface="宋体" pitchFamily="2" charset="-122"/>
                <a:cs typeface="+mn-cs"/>
              </a:rPr>
              <a:t>13</a:t>
            </a:r>
            <a:r>
              <a:rPr kumimoji="1" lang="zh-CN" altLang="en-US" sz="1200" b="0" i="0" kern="1200">
                <a:solidFill>
                  <a:schemeClr val="tx1"/>
                </a:solidFill>
                <a:effectLst/>
                <a:latin typeface="Times New Roman" pitchFamily="18" charset="0"/>
                <a:ea typeface="宋体" pitchFamily="2" charset="-122"/>
                <a:cs typeface="+mn-cs"/>
              </a:rPr>
              <a:t>时</a:t>
            </a:r>
            <a:r>
              <a:rPr kumimoji="1" lang="en-US" altLang="zh-CN" sz="1200" b="0" i="0" kern="1200">
                <a:solidFill>
                  <a:schemeClr val="tx1"/>
                </a:solidFill>
                <a:effectLst/>
                <a:latin typeface="Times New Roman" pitchFamily="18" charset="0"/>
                <a:ea typeface="宋体" pitchFamily="2" charset="-122"/>
                <a:cs typeface="+mn-cs"/>
              </a:rPr>
              <a:t>30</a:t>
            </a:r>
            <a:r>
              <a:rPr kumimoji="1" lang="zh-CN" altLang="en-US" sz="1200" b="0" i="0" kern="1200">
                <a:solidFill>
                  <a:schemeClr val="tx1"/>
                </a:solidFill>
                <a:effectLst/>
                <a:latin typeface="Times New Roman" pitchFamily="18" charset="0"/>
                <a:ea typeface="宋体" pitchFamily="2" charset="-122"/>
                <a:cs typeface="+mn-cs"/>
              </a:rPr>
              <a:t>分，</a:t>
            </a:r>
            <a:r>
              <a:rPr kumimoji="1" lang="zh-CN" altLang="en-US" sz="1200" b="1" i="0" kern="1200">
                <a:solidFill>
                  <a:schemeClr val="tx1"/>
                </a:solidFill>
                <a:effectLst/>
                <a:latin typeface="Times New Roman" pitchFamily="18" charset="0"/>
                <a:ea typeface="宋体" pitchFamily="2" charset="-122"/>
                <a:cs typeface="+mn-cs"/>
              </a:rPr>
              <a:t>长征二号丁</a:t>
            </a:r>
            <a:r>
              <a:rPr kumimoji="1" lang="zh-CN" altLang="en-US" sz="1200" b="0" i="0" kern="1200">
                <a:solidFill>
                  <a:schemeClr val="tx1"/>
                </a:solidFill>
                <a:effectLst/>
                <a:latin typeface="Times New Roman" pitchFamily="18" charset="0"/>
                <a:ea typeface="宋体" pitchFamily="2" charset="-122"/>
                <a:cs typeface="+mn-cs"/>
              </a:rPr>
              <a:t>运载火箭在太原卫星发射中心点火起飞，随后将吉林一号高分</a:t>
            </a:r>
            <a:r>
              <a:rPr kumimoji="1" lang="en-US" altLang="zh-CN" sz="1200" b="0" i="0" kern="1200">
                <a:solidFill>
                  <a:schemeClr val="tx1"/>
                </a:solidFill>
                <a:effectLst/>
                <a:latin typeface="Times New Roman" pitchFamily="18" charset="0"/>
                <a:ea typeface="宋体" pitchFamily="2" charset="-122"/>
                <a:cs typeface="+mn-cs"/>
              </a:rPr>
              <a:t>06A</a:t>
            </a:r>
            <a:r>
              <a:rPr kumimoji="1" lang="zh-CN" altLang="en-US" sz="1200" b="0" i="0" kern="1200">
                <a:solidFill>
                  <a:schemeClr val="tx1"/>
                </a:solidFill>
                <a:effectLst/>
                <a:latin typeface="Times New Roman" pitchFamily="18" charset="0"/>
                <a:ea typeface="宋体" pitchFamily="2" charset="-122"/>
                <a:cs typeface="+mn-cs"/>
              </a:rPr>
              <a:t>星等</a:t>
            </a:r>
            <a:r>
              <a:rPr kumimoji="1" lang="en-US" altLang="zh-CN" sz="1200" b="1" i="0" kern="1200">
                <a:solidFill>
                  <a:schemeClr val="tx1"/>
                </a:solidFill>
                <a:effectLst/>
                <a:latin typeface="Times New Roman" pitchFamily="18" charset="0"/>
                <a:ea typeface="宋体" pitchFamily="2" charset="-122"/>
                <a:cs typeface="+mn-cs"/>
              </a:rPr>
              <a:t>41</a:t>
            </a:r>
            <a:r>
              <a:rPr kumimoji="1" lang="zh-CN" altLang="en-US" sz="1200" b="1" i="0" kern="1200">
                <a:solidFill>
                  <a:schemeClr val="tx1"/>
                </a:solidFill>
                <a:effectLst/>
                <a:latin typeface="Times New Roman" pitchFamily="18" charset="0"/>
                <a:ea typeface="宋体" pitchFamily="2" charset="-122"/>
                <a:cs typeface="+mn-cs"/>
              </a:rPr>
              <a:t>颗卫星</a:t>
            </a:r>
            <a:r>
              <a:rPr kumimoji="1" lang="zh-CN" altLang="en-US" sz="1200" b="0" i="0" kern="1200">
                <a:solidFill>
                  <a:schemeClr val="tx1"/>
                </a:solidFill>
                <a:effectLst/>
                <a:latin typeface="Times New Roman" pitchFamily="18" charset="0"/>
                <a:ea typeface="宋体" pitchFamily="2" charset="-122"/>
                <a:cs typeface="+mn-cs"/>
              </a:rPr>
              <a:t>成功送入预定轨道，刷新了我国</a:t>
            </a:r>
            <a:r>
              <a:rPr kumimoji="1" lang="zh-CN" altLang="en-US" sz="1200" b="1" i="0" kern="1200">
                <a:solidFill>
                  <a:schemeClr val="tx1"/>
                </a:solidFill>
                <a:effectLst/>
                <a:latin typeface="Times New Roman" pitchFamily="18" charset="0"/>
                <a:ea typeface="宋体" pitchFamily="2" charset="-122"/>
                <a:cs typeface="+mn-cs"/>
              </a:rPr>
              <a:t>一箭多星最高纪录</a:t>
            </a:r>
            <a:r>
              <a:rPr kumimoji="1" lang="zh-CN" altLang="en-US" sz="1200" b="0" i="0" kern="1200">
                <a:solidFill>
                  <a:schemeClr val="tx1"/>
                </a:solidFill>
                <a:effectLst/>
                <a:latin typeface="Times New Roman" pitchFamily="18" charset="0"/>
                <a:ea typeface="宋体" pitchFamily="2" charset="-122"/>
                <a:cs typeface="+mn-cs"/>
              </a:rPr>
              <a:t>。</a:t>
            </a:r>
            <a:endParaRPr kumimoji="1" lang="en-US" altLang="zh-CN" sz="1200" b="1" i="0" kern="1200">
              <a:solidFill>
                <a:schemeClr val="tx1"/>
              </a:solidFill>
              <a:effectLst/>
              <a:latin typeface="Times New Roman" pitchFamily="18" charset="0"/>
              <a:ea typeface="宋体" pitchFamily="2" charset="-122"/>
              <a:cs typeface="+mn-cs"/>
            </a:endParaRPr>
          </a:p>
          <a:p>
            <a:r>
              <a:rPr kumimoji="1" lang="en-US" altLang="zh-CN" sz="1200" b="0" i="0" kern="1200">
                <a:solidFill>
                  <a:schemeClr val="tx1"/>
                </a:solidFill>
                <a:effectLst/>
                <a:latin typeface="Times New Roman" pitchFamily="18" charset="0"/>
                <a:ea typeface="宋体" pitchFamily="2" charset="-122"/>
                <a:cs typeface="+mn-cs"/>
              </a:rPr>
              <a:t>2017</a:t>
            </a:r>
            <a:r>
              <a:rPr kumimoji="1" lang="zh-CN" altLang="en-US" sz="1200" b="0" i="0" kern="1200">
                <a:solidFill>
                  <a:schemeClr val="tx1"/>
                </a:solidFill>
                <a:effectLst/>
                <a:latin typeface="Times New Roman" pitchFamily="18" charset="0"/>
                <a:ea typeface="宋体" pitchFamily="2" charset="-122"/>
                <a:cs typeface="+mn-cs"/>
              </a:rPr>
              <a:t>年</a:t>
            </a:r>
            <a:r>
              <a:rPr kumimoji="1" lang="en-US" altLang="zh-CN" sz="1200" b="0" i="0" kern="1200">
                <a:solidFill>
                  <a:schemeClr val="tx1"/>
                </a:solidFill>
                <a:effectLst/>
                <a:latin typeface="Times New Roman" pitchFamily="18" charset="0"/>
                <a:ea typeface="宋体" pitchFamily="2" charset="-122"/>
                <a:cs typeface="+mn-cs"/>
              </a:rPr>
              <a:t>2</a:t>
            </a:r>
            <a:r>
              <a:rPr kumimoji="1" lang="zh-CN" altLang="en-US" sz="1200" b="0" i="0" kern="1200">
                <a:solidFill>
                  <a:schemeClr val="tx1"/>
                </a:solidFill>
                <a:effectLst/>
                <a:latin typeface="Times New Roman" pitchFamily="18" charset="0"/>
                <a:ea typeface="宋体" pitchFamily="2" charset="-122"/>
                <a:cs typeface="+mn-cs"/>
              </a:rPr>
              <a:t>月</a:t>
            </a:r>
            <a:r>
              <a:rPr kumimoji="1" lang="en-US" altLang="zh-CN" sz="1200" b="0" i="0" kern="1200">
                <a:solidFill>
                  <a:schemeClr val="tx1"/>
                </a:solidFill>
                <a:effectLst/>
                <a:latin typeface="Times New Roman" pitchFamily="18" charset="0"/>
                <a:ea typeface="宋体" pitchFamily="2" charset="-122"/>
                <a:cs typeface="+mn-cs"/>
              </a:rPr>
              <a:t>15</a:t>
            </a:r>
            <a:r>
              <a:rPr kumimoji="1" lang="zh-CN" altLang="en-US" sz="1200" b="0" i="0" kern="1200">
                <a:solidFill>
                  <a:schemeClr val="tx1"/>
                </a:solidFill>
                <a:effectLst/>
                <a:latin typeface="Times New Roman" pitchFamily="18" charset="0"/>
                <a:ea typeface="宋体" pitchFamily="2" charset="-122"/>
                <a:cs typeface="+mn-cs"/>
              </a:rPr>
              <a:t>日，印度空间研究组织用</a:t>
            </a:r>
            <a:r>
              <a:rPr kumimoji="1" lang="en-US" altLang="zh-CN" sz="1200" b="0" i="0" kern="1200">
                <a:solidFill>
                  <a:schemeClr val="tx1"/>
                </a:solidFill>
                <a:effectLst/>
                <a:latin typeface="Times New Roman" pitchFamily="18" charset="0"/>
                <a:ea typeface="宋体" pitchFamily="2" charset="-122"/>
                <a:cs typeface="+mn-cs"/>
              </a:rPr>
              <a:t>PSLV-37</a:t>
            </a:r>
            <a:r>
              <a:rPr kumimoji="1" lang="zh-CN" altLang="en-US" sz="1200" b="0" i="0" kern="1200">
                <a:solidFill>
                  <a:schemeClr val="tx1"/>
                </a:solidFill>
                <a:effectLst/>
                <a:latin typeface="Times New Roman" pitchFamily="18" charset="0"/>
                <a:ea typeface="宋体" pitchFamily="2" charset="-122"/>
                <a:cs typeface="+mn-cs"/>
              </a:rPr>
              <a:t>型极地卫星运载火箭成功发射了</a:t>
            </a:r>
            <a:r>
              <a:rPr kumimoji="1" lang="en-US" altLang="zh-CN" sz="1200" b="0" i="0" kern="1200">
                <a:solidFill>
                  <a:schemeClr val="tx1"/>
                </a:solidFill>
                <a:effectLst/>
                <a:latin typeface="Times New Roman" pitchFamily="18" charset="0"/>
                <a:ea typeface="宋体" pitchFamily="2" charset="-122"/>
                <a:cs typeface="+mn-cs"/>
              </a:rPr>
              <a:t>104</a:t>
            </a:r>
            <a:r>
              <a:rPr kumimoji="1" lang="zh-CN" altLang="en-US" sz="1200" b="0" i="0" kern="1200">
                <a:solidFill>
                  <a:schemeClr val="tx1"/>
                </a:solidFill>
                <a:effectLst/>
                <a:latin typeface="Times New Roman" pitchFamily="18" charset="0"/>
                <a:ea typeface="宋体" pitchFamily="2" charset="-122"/>
                <a:cs typeface="+mn-cs"/>
              </a:rPr>
              <a:t>颗卫星，打破了此前由俄罗斯保持的“</a:t>
            </a:r>
            <a:r>
              <a:rPr kumimoji="1" lang="en-US" altLang="zh-CN" sz="1200" b="0" i="0" kern="1200">
                <a:solidFill>
                  <a:schemeClr val="tx1"/>
                </a:solidFill>
                <a:effectLst/>
                <a:latin typeface="Times New Roman" pitchFamily="18" charset="0"/>
                <a:ea typeface="宋体" pitchFamily="2" charset="-122"/>
                <a:cs typeface="+mn-cs"/>
              </a:rPr>
              <a:t>1</a:t>
            </a:r>
            <a:r>
              <a:rPr kumimoji="1" lang="zh-CN" altLang="en-US" sz="1200" b="0" i="0" kern="1200">
                <a:solidFill>
                  <a:schemeClr val="tx1"/>
                </a:solidFill>
                <a:effectLst/>
                <a:latin typeface="Times New Roman" pitchFamily="18" charset="0"/>
                <a:ea typeface="宋体" pitchFamily="2" charset="-122"/>
                <a:cs typeface="+mn-cs"/>
              </a:rPr>
              <a:t>箭</a:t>
            </a:r>
            <a:r>
              <a:rPr kumimoji="1" lang="en-US" altLang="zh-CN" sz="1200" b="0" i="0" kern="1200">
                <a:solidFill>
                  <a:schemeClr val="tx1"/>
                </a:solidFill>
                <a:effectLst/>
                <a:latin typeface="Times New Roman" pitchFamily="18" charset="0"/>
                <a:ea typeface="宋体" pitchFamily="2" charset="-122"/>
                <a:cs typeface="+mn-cs"/>
              </a:rPr>
              <a:t>37</a:t>
            </a:r>
            <a:r>
              <a:rPr kumimoji="1" lang="zh-CN" altLang="en-US" sz="1200" b="0" i="0" kern="1200">
                <a:solidFill>
                  <a:schemeClr val="tx1"/>
                </a:solidFill>
                <a:effectLst/>
                <a:latin typeface="Times New Roman" pitchFamily="18" charset="0"/>
                <a:ea typeface="宋体" pitchFamily="2" charset="-122"/>
                <a:cs typeface="+mn-cs"/>
              </a:rPr>
              <a:t>星”世界纪录。不过这个纪录后来又被美国</a:t>
            </a:r>
            <a:r>
              <a:rPr kumimoji="1" lang="en-US" altLang="zh-CN" sz="1200" b="0" i="0" kern="1200">
                <a:solidFill>
                  <a:schemeClr val="tx1"/>
                </a:solidFill>
                <a:effectLst/>
                <a:latin typeface="Times New Roman" pitchFamily="18" charset="0"/>
                <a:ea typeface="宋体" pitchFamily="2" charset="-122"/>
                <a:cs typeface="+mn-cs"/>
              </a:rPr>
              <a:t>space</a:t>
            </a:r>
            <a:r>
              <a:rPr kumimoji="1" lang="zh-CN" altLang="en-US" sz="1200" b="0" i="0" kern="1200">
                <a:solidFill>
                  <a:schemeClr val="tx1"/>
                </a:solidFill>
                <a:effectLst/>
                <a:latin typeface="Times New Roman" pitchFamily="18" charset="0"/>
                <a:ea typeface="宋体" pitchFamily="2" charset="-122"/>
                <a:cs typeface="+mn-cs"/>
              </a:rPr>
              <a:t>的</a:t>
            </a:r>
            <a:r>
              <a:rPr kumimoji="1" lang="en-US" altLang="zh-CN" sz="1200" b="0" i="0" kern="1200">
                <a:solidFill>
                  <a:schemeClr val="tx1"/>
                </a:solidFill>
                <a:effectLst/>
                <a:latin typeface="Times New Roman" pitchFamily="18" charset="0"/>
                <a:ea typeface="宋体" pitchFamily="2" charset="-122"/>
                <a:cs typeface="+mn-cs"/>
              </a:rPr>
              <a:t>143</a:t>
            </a:r>
            <a:r>
              <a:rPr kumimoji="1" lang="zh-CN" altLang="en-US" sz="1200" b="0" i="0" kern="1200">
                <a:solidFill>
                  <a:schemeClr val="tx1"/>
                </a:solidFill>
                <a:effectLst/>
                <a:latin typeface="Times New Roman" pitchFamily="18" charset="0"/>
                <a:ea typeface="宋体" pitchFamily="2" charset="-122"/>
                <a:cs typeface="+mn-cs"/>
              </a:rPr>
              <a:t>颗打破。</a:t>
            </a:r>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64</a:t>
            </a:fld>
            <a:endParaRPr lang="en-US" altLang="zh-CN"/>
          </a:p>
        </p:txBody>
      </p:sp>
    </p:spTree>
    <p:extLst>
      <p:ext uri="{BB962C8B-B14F-4D97-AF65-F5344CB8AC3E}">
        <p14:creationId xmlns:p14="http://schemas.microsoft.com/office/powerpoint/2010/main" val="553698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66</a:t>
            </a:fld>
            <a:endParaRPr lang="en-US" altLang="zh-CN"/>
          </a:p>
        </p:txBody>
      </p:sp>
    </p:spTree>
    <p:extLst>
      <p:ext uri="{BB962C8B-B14F-4D97-AF65-F5344CB8AC3E}">
        <p14:creationId xmlns:p14="http://schemas.microsoft.com/office/powerpoint/2010/main" val="3176674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a:solidFill>
                  <a:schemeClr val="tx1"/>
                </a:solidFill>
                <a:effectLst/>
                <a:latin typeface="Times New Roman" pitchFamily="18" charset="0"/>
                <a:ea typeface="宋体" pitchFamily="2" charset="-122"/>
                <a:cs typeface="+mn-cs"/>
              </a:rPr>
              <a:t>CIS</a:t>
            </a:r>
            <a:r>
              <a:rPr kumimoji="1" lang="zh-CN" altLang="en-US" sz="1200" b="0" i="0" kern="1200">
                <a:solidFill>
                  <a:schemeClr val="tx1"/>
                </a:solidFill>
                <a:effectLst/>
                <a:latin typeface="Times New Roman" pitchFamily="18" charset="0"/>
                <a:ea typeface="宋体" pitchFamily="2" charset="-122"/>
                <a:cs typeface="+mn-cs"/>
              </a:rPr>
              <a:t>一般指独立国家联合体。 独立国家联合体，简称“独联体”，是前苏联解体时由多个前苏联加盟共和国组成的一个地区性组织。</a:t>
            </a:r>
            <a:endParaRPr kumimoji="1" lang="en-US" altLang="zh-CN" sz="1200" b="0" i="0" kern="1200">
              <a:solidFill>
                <a:schemeClr val="tx1"/>
              </a:solidFill>
              <a:effectLst/>
              <a:latin typeface="Times New Roman" pitchFamily="18" charset="0"/>
              <a:ea typeface="宋体" pitchFamily="2" charset="-122"/>
              <a:cs typeface="+mn-cs"/>
            </a:endParaRPr>
          </a:p>
          <a:p>
            <a:r>
              <a:rPr kumimoji="1" lang="zh-CN" altLang="en-US" sz="1200" b="0" i="0" kern="1200">
                <a:solidFill>
                  <a:schemeClr val="tx1"/>
                </a:solidFill>
                <a:effectLst/>
                <a:latin typeface="Times New Roman" pitchFamily="18" charset="0"/>
                <a:ea typeface="宋体" pitchFamily="2" charset="-122"/>
                <a:cs typeface="+mn-cs"/>
              </a:rPr>
              <a:t>欧洲航天局（英文：</a:t>
            </a:r>
            <a:r>
              <a:rPr kumimoji="1" lang="en-US" altLang="zh-CN" sz="1200" b="0" i="0" kern="1200">
                <a:solidFill>
                  <a:schemeClr val="tx1"/>
                </a:solidFill>
                <a:effectLst/>
                <a:latin typeface="Times New Roman" pitchFamily="18" charset="0"/>
                <a:ea typeface="宋体" pitchFamily="2" charset="-122"/>
                <a:cs typeface="+mn-cs"/>
              </a:rPr>
              <a:t>European Space Agency</a:t>
            </a:r>
            <a:r>
              <a:rPr kumimoji="1" lang="zh-CN" altLang="en-US" sz="1200" b="0" i="0" kern="1200">
                <a:solidFill>
                  <a:schemeClr val="tx1"/>
                </a:solidFill>
                <a:effectLst/>
                <a:latin typeface="Times New Roman" pitchFamily="18" charset="0"/>
                <a:ea typeface="宋体" pitchFamily="2" charset="-122"/>
                <a:cs typeface="+mn-cs"/>
              </a:rPr>
              <a:t>），简称欧空局或</a:t>
            </a:r>
            <a:r>
              <a:rPr kumimoji="1" lang="en-US" altLang="zh-CN" sz="1200" b="0" i="0" kern="1200">
                <a:solidFill>
                  <a:schemeClr val="tx1"/>
                </a:solidFill>
                <a:effectLst/>
                <a:latin typeface="Times New Roman" pitchFamily="18" charset="0"/>
                <a:ea typeface="宋体" pitchFamily="2" charset="-122"/>
                <a:cs typeface="+mn-cs"/>
              </a:rPr>
              <a:t>ESA</a:t>
            </a:r>
            <a:r>
              <a:rPr kumimoji="1" lang="zh-CN" altLang="en-US" sz="1200" b="0" i="0" kern="1200">
                <a:solidFill>
                  <a:schemeClr val="tx1"/>
                </a:solidFill>
                <a:effectLst/>
                <a:latin typeface="Times New Roman" pitchFamily="18" charset="0"/>
                <a:ea typeface="宋体" pitchFamily="2" charset="-122"/>
                <a:cs typeface="+mn-cs"/>
              </a:rPr>
              <a:t>，成立于</a:t>
            </a:r>
            <a:r>
              <a:rPr kumimoji="1" lang="en-US" altLang="zh-CN" sz="1200" b="0" i="0" kern="1200">
                <a:solidFill>
                  <a:schemeClr val="tx1"/>
                </a:solidFill>
                <a:effectLst/>
                <a:latin typeface="Times New Roman" pitchFamily="18" charset="0"/>
                <a:ea typeface="宋体" pitchFamily="2" charset="-122"/>
                <a:cs typeface="+mn-cs"/>
              </a:rPr>
              <a:t>1975</a:t>
            </a:r>
            <a:r>
              <a:rPr kumimoji="1" lang="zh-CN" altLang="en-US" sz="1200" b="0" i="0" kern="1200">
                <a:solidFill>
                  <a:schemeClr val="tx1"/>
                </a:solidFill>
                <a:effectLst/>
                <a:latin typeface="Times New Roman" pitchFamily="18" charset="0"/>
                <a:ea typeface="宋体" pitchFamily="2" charset="-122"/>
                <a:cs typeface="+mn-cs"/>
              </a:rPr>
              <a:t>年，是一个致力于探索太空的政府间组织，拥有</a:t>
            </a:r>
            <a:r>
              <a:rPr kumimoji="1" lang="en-US" altLang="zh-CN" sz="1200" b="0" i="0" kern="1200">
                <a:solidFill>
                  <a:schemeClr val="tx1"/>
                </a:solidFill>
                <a:effectLst/>
                <a:latin typeface="Times New Roman" pitchFamily="18" charset="0"/>
                <a:ea typeface="宋体" pitchFamily="2" charset="-122"/>
                <a:cs typeface="+mn-cs"/>
              </a:rPr>
              <a:t>22</a:t>
            </a:r>
            <a:r>
              <a:rPr kumimoji="1" lang="zh-CN" altLang="en-US" sz="1200" b="0" i="0" kern="1200">
                <a:solidFill>
                  <a:schemeClr val="tx1"/>
                </a:solidFill>
                <a:effectLst/>
                <a:latin typeface="Times New Roman" pitchFamily="18" charset="0"/>
                <a:ea typeface="宋体" pitchFamily="2" charset="-122"/>
                <a:cs typeface="+mn-cs"/>
              </a:rPr>
              <a:t>个成员国，总部设在法国巴黎</a:t>
            </a:r>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80</a:t>
            </a:fld>
            <a:endParaRPr lang="en-US" altLang="zh-CN"/>
          </a:p>
        </p:txBody>
      </p:sp>
    </p:spTree>
    <p:extLst>
      <p:ext uri="{BB962C8B-B14F-4D97-AF65-F5344CB8AC3E}">
        <p14:creationId xmlns:p14="http://schemas.microsoft.com/office/powerpoint/2010/main" val="1627518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BAE61989-FCEC-4D8C-A88E-61A4EF5D2B87}" type="slidenum">
              <a:rPr lang="en-US" altLang="zh-CN" smtClean="0"/>
              <a:pPr>
                <a:defRPr/>
              </a:pPr>
              <a:t>88</a:t>
            </a:fld>
            <a:endParaRPr lang="en-US" altLang="zh-CN"/>
          </a:p>
        </p:txBody>
      </p:sp>
    </p:spTree>
    <p:extLst>
      <p:ext uri="{BB962C8B-B14F-4D97-AF65-F5344CB8AC3E}">
        <p14:creationId xmlns:p14="http://schemas.microsoft.com/office/powerpoint/2010/main" val="617303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47421FC-60AF-49C9-A45A-43B8D9336CCC}" type="slidenum">
              <a:rPr lang="en-US" altLang="zh-CN"/>
              <a:pPr>
                <a:defRPr/>
              </a:pPr>
              <a:t>‹#›</a:t>
            </a:fld>
            <a:endParaRPr lang="en-US" altLang="zh-CN"/>
          </a:p>
        </p:txBody>
      </p:sp>
    </p:spTree>
    <p:extLst>
      <p:ext uri="{BB962C8B-B14F-4D97-AF65-F5344CB8AC3E}">
        <p14:creationId xmlns:p14="http://schemas.microsoft.com/office/powerpoint/2010/main" val="65171566"/>
      </p:ext>
    </p:extLst>
  </p:cSld>
  <p:clrMapOvr>
    <a:masterClrMapping/>
  </p:clrMapOvr>
  <p:transition>
    <p:checke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A22159B-3BEC-437F-9A6B-3142F8516A95}" type="slidenum">
              <a:rPr lang="en-US" altLang="zh-CN"/>
              <a:pPr>
                <a:defRPr/>
              </a:pPr>
              <a:t>‹#›</a:t>
            </a:fld>
            <a:endParaRPr lang="en-US" altLang="zh-CN"/>
          </a:p>
        </p:txBody>
      </p:sp>
    </p:spTree>
    <p:extLst>
      <p:ext uri="{BB962C8B-B14F-4D97-AF65-F5344CB8AC3E}">
        <p14:creationId xmlns:p14="http://schemas.microsoft.com/office/powerpoint/2010/main" val="3115480171"/>
      </p:ext>
    </p:extLst>
  </p:cSld>
  <p:clrMapOvr>
    <a:masterClrMapping/>
  </p:clrMapOvr>
  <p:transition>
    <p:checke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0909225-B143-4B2C-9C74-F96B2BABA59B}" type="slidenum">
              <a:rPr lang="en-US" altLang="zh-CN"/>
              <a:pPr>
                <a:defRPr/>
              </a:pPr>
              <a:t>‹#›</a:t>
            </a:fld>
            <a:endParaRPr lang="en-US" altLang="zh-CN"/>
          </a:p>
        </p:txBody>
      </p:sp>
    </p:spTree>
    <p:extLst>
      <p:ext uri="{BB962C8B-B14F-4D97-AF65-F5344CB8AC3E}">
        <p14:creationId xmlns:p14="http://schemas.microsoft.com/office/powerpoint/2010/main" val="2219129865"/>
      </p:ext>
    </p:extLst>
  </p:cSld>
  <p:clrMapOvr>
    <a:masterClrMapping/>
  </p:clrMapOvr>
  <p:transition>
    <p:checke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EBFCED0-A5EC-4221-A70D-E55B65527257}" type="slidenum">
              <a:rPr lang="en-US" altLang="zh-CN"/>
              <a:pPr>
                <a:defRPr/>
              </a:pPr>
              <a:t>‹#›</a:t>
            </a:fld>
            <a:endParaRPr lang="en-US" altLang="zh-CN"/>
          </a:p>
        </p:txBody>
      </p:sp>
    </p:spTree>
    <p:extLst>
      <p:ext uri="{BB962C8B-B14F-4D97-AF65-F5344CB8AC3E}">
        <p14:creationId xmlns:p14="http://schemas.microsoft.com/office/powerpoint/2010/main" val="3382724500"/>
      </p:ext>
    </p:extLst>
  </p:cSld>
  <p:clrMapOvr>
    <a:masterClrMapping/>
  </p:clrMapOvr>
  <p:transition>
    <p:checke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ACCABD9-6CF2-42B1-AFD1-7E4CC9B8D705}" type="slidenum">
              <a:rPr lang="en-US" altLang="zh-CN"/>
              <a:pPr>
                <a:defRPr/>
              </a:pPr>
              <a:t>‹#›</a:t>
            </a:fld>
            <a:endParaRPr lang="en-US" altLang="zh-CN"/>
          </a:p>
        </p:txBody>
      </p:sp>
    </p:spTree>
    <p:extLst>
      <p:ext uri="{BB962C8B-B14F-4D97-AF65-F5344CB8AC3E}">
        <p14:creationId xmlns:p14="http://schemas.microsoft.com/office/powerpoint/2010/main" val="3028023956"/>
      </p:ext>
    </p:extLst>
  </p:cSld>
  <p:clrMapOvr>
    <a:masterClrMapping/>
  </p:clrMapOvr>
  <p:transition>
    <p:checke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7D49ECC-3DB7-48F5-A9BB-998379A863CB}" type="slidenum">
              <a:rPr lang="en-US" altLang="zh-CN"/>
              <a:pPr>
                <a:defRPr/>
              </a:pPr>
              <a:t>‹#›</a:t>
            </a:fld>
            <a:endParaRPr lang="en-US" altLang="zh-CN"/>
          </a:p>
        </p:txBody>
      </p:sp>
    </p:spTree>
    <p:extLst>
      <p:ext uri="{BB962C8B-B14F-4D97-AF65-F5344CB8AC3E}">
        <p14:creationId xmlns:p14="http://schemas.microsoft.com/office/powerpoint/2010/main" val="3303904983"/>
      </p:ext>
    </p:extLst>
  </p:cSld>
  <p:clrMapOvr>
    <a:masterClrMapping/>
  </p:clrMapOvr>
  <p:transition>
    <p:checke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0D65BD4-5E0B-47C3-A769-DEA77D8A742E}" type="slidenum">
              <a:rPr lang="en-US" altLang="zh-CN"/>
              <a:pPr>
                <a:defRPr/>
              </a:pPr>
              <a:t>‹#›</a:t>
            </a:fld>
            <a:endParaRPr lang="en-US" altLang="zh-CN"/>
          </a:p>
        </p:txBody>
      </p:sp>
    </p:spTree>
    <p:extLst>
      <p:ext uri="{BB962C8B-B14F-4D97-AF65-F5344CB8AC3E}">
        <p14:creationId xmlns:p14="http://schemas.microsoft.com/office/powerpoint/2010/main" val="3689789258"/>
      </p:ext>
    </p:extLst>
  </p:cSld>
  <p:clrMapOvr>
    <a:masterClrMapping/>
  </p:clrMapOvr>
  <p:transition>
    <p:checke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5A1596E-E18B-4F6D-8BCB-AF8616677FAC}" type="slidenum">
              <a:rPr lang="en-US" altLang="zh-CN"/>
              <a:pPr>
                <a:defRPr/>
              </a:pPr>
              <a:t>‹#›</a:t>
            </a:fld>
            <a:endParaRPr lang="en-US" altLang="zh-CN"/>
          </a:p>
        </p:txBody>
      </p:sp>
    </p:spTree>
    <p:extLst>
      <p:ext uri="{BB962C8B-B14F-4D97-AF65-F5344CB8AC3E}">
        <p14:creationId xmlns:p14="http://schemas.microsoft.com/office/powerpoint/2010/main" val="1532576878"/>
      </p:ext>
    </p:extLst>
  </p:cSld>
  <p:clrMapOvr>
    <a:masterClrMapping/>
  </p:clrMapOvr>
  <p:transition>
    <p:checke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71C7958-73DF-4E76-BAF2-B9F4D78DDE6A}" type="slidenum">
              <a:rPr lang="en-US" altLang="zh-CN"/>
              <a:pPr>
                <a:defRPr/>
              </a:pPr>
              <a:t>‹#›</a:t>
            </a:fld>
            <a:endParaRPr lang="en-US" altLang="zh-CN"/>
          </a:p>
        </p:txBody>
      </p:sp>
    </p:spTree>
    <p:extLst>
      <p:ext uri="{BB962C8B-B14F-4D97-AF65-F5344CB8AC3E}">
        <p14:creationId xmlns:p14="http://schemas.microsoft.com/office/powerpoint/2010/main" val="2685419280"/>
      </p:ext>
    </p:extLst>
  </p:cSld>
  <p:clrMapOvr>
    <a:masterClrMapping/>
  </p:clrMapOvr>
  <p:transition>
    <p:checke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884BDCE-47D5-4582-96AE-E70D4FE37453}" type="slidenum">
              <a:rPr lang="en-US" altLang="zh-CN"/>
              <a:pPr>
                <a:defRPr/>
              </a:pPr>
              <a:t>‹#›</a:t>
            </a:fld>
            <a:endParaRPr lang="en-US" altLang="zh-CN"/>
          </a:p>
        </p:txBody>
      </p:sp>
    </p:spTree>
    <p:extLst>
      <p:ext uri="{BB962C8B-B14F-4D97-AF65-F5344CB8AC3E}">
        <p14:creationId xmlns:p14="http://schemas.microsoft.com/office/powerpoint/2010/main" val="2330485901"/>
      </p:ext>
    </p:extLst>
  </p:cSld>
  <p:clrMapOvr>
    <a:masterClrMapping/>
  </p:clrMapOvr>
  <p:transition>
    <p:checke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0DCD640-10C1-4C71-B8B5-009A208911EB}" type="slidenum">
              <a:rPr lang="en-US" altLang="zh-CN"/>
              <a:pPr>
                <a:defRPr/>
              </a:pPr>
              <a:t>‹#›</a:t>
            </a:fld>
            <a:endParaRPr lang="en-US" altLang="zh-CN"/>
          </a:p>
        </p:txBody>
      </p:sp>
    </p:spTree>
    <p:extLst>
      <p:ext uri="{BB962C8B-B14F-4D97-AF65-F5344CB8AC3E}">
        <p14:creationId xmlns:p14="http://schemas.microsoft.com/office/powerpoint/2010/main" val="3260635996"/>
      </p:ext>
    </p:extLst>
  </p:cSld>
  <p:clrMapOvr>
    <a:masterClrMapping/>
  </p:clrMapOvr>
  <p:transition>
    <p:checke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CB52E89-B1F1-4BAC-9FD7-BDEF173553C0}" type="slidenum">
              <a:rPr lang="en-US" altLang="zh-CN"/>
              <a:pPr>
                <a:defRPr/>
              </a:pPr>
              <a:t>‹#›</a:t>
            </a:fld>
            <a:endParaRPr lang="en-US" altLang="zh-CN"/>
          </a:p>
        </p:txBody>
      </p:sp>
    </p:spTree>
    <p:extLst>
      <p:ext uri="{BB962C8B-B14F-4D97-AF65-F5344CB8AC3E}">
        <p14:creationId xmlns:p14="http://schemas.microsoft.com/office/powerpoint/2010/main" val="3389154887"/>
      </p:ext>
    </p:extLst>
  </p:cSld>
  <p:clrMapOvr>
    <a:masterClrMapping/>
  </p:clrMapOvr>
  <p:transition>
    <p:checke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D2ABFAA6-ED57-457A-BB81-60CE9EF8ED2E}" type="slidenum">
              <a:rPr lang="en-US" altLang="zh-CN"/>
              <a:pPr/>
              <a:t>‹#›</a:t>
            </a:fld>
            <a:endParaRPr lang="en-US" altLang="zh-CN"/>
          </a:p>
        </p:txBody>
      </p:sp>
    </p:spTree>
    <p:extLst>
      <p:ext uri="{BB962C8B-B14F-4D97-AF65-F5344CB8AC3E}">
        <p14:creationId xmlns:p14="http://schemas.microsoft.com/office/powerpoint/2010/main" val="63623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tile tx="0" ty="0" sx="100000" sy="100000" flip="none" algn="tl"/>
        </a:blipFill>
        <a:effectLst/>
      </p:bgPr>
    </p:bg>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373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ea typeface="+mn-ea"/>
                <a:cs typeface="+mn-cs"/>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ea typeface="+mn-ea"/>
                <a:cs typeface="+mn-cs"/>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ea typeface="+mn-ea"/>
                <a:cs typeface="+mn-cs"/>
              </a:defRPr>
            </a:lvl1pPr>
          </a:lstStyle>
          <a:p>
            <a:pPr>
              <a:defRPr/>
            </a:pPr>
            <a:fld id="{C12B388C-FD03-4C4F-8BEE-AF58EFDD77B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Lst>
  <p:transition>
    <p:checker dir="ver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4.gif"/><Relationship Id="rId3" Type="http://schemas.openxmlformats.org/officeDocument/2006/relationships/hyperlink" Target="file:///D:\sec05\index.htm" TargetMode="External"/><Relationship Id="rId7"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7.xml"/><Relationship Id="rId6" Type="http://schemas.openxmlformats.org/officeDocument/2006/relationships/hyperlink" Target="file:///D:\sec01\index.htm" TargetMode="External"/><Relationship Id="rId5" Type="http://schemas.openxmlformats.org/officeDocument/2006/relationships/hyperlink" Target="file:///D:\sec03\index.htm" TargetMode="External"/><Relationship Id="rId10" Type="http://schemas.openxmlformats.org/officeDocument/2006/relationships/image" Target="../media/image5.gif"/><Relationship Id="rId4" Type="http://schemas.openxmlformats.org/officeDocument/2006/relationships/hyperlink" Target="file:///D:\sec04\index.htm" TargetMode="External"/><Relationship Id="rId9" Type="http://schemas.openxmlformats.org/officeDocument/2006/relationships/hyperlink" Target="file:///D:\sec02\index.ht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jpeg"/><Relationship Id="rId7" Type="http://schemas.openxmlformats.org/officeDocument/2006/relationships/hyperlink" Target="http://it.fudan.edu.cn/show.aspx?info_lb=15&amp;info_id=276&amp;flag=15"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26.png"/></Relationships>
</file>

<file path=ppt/slides/_rels/slide11.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jpg"/><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3" Type="http://schemas.openxmlformats.org/officeDocument/2006/relationships/hyperlink" Target="http://www.pcauto.com.cn/images/html/viewpic_pcauto.htm?http://img2.pcauto.com.cn/pcauto/0808/26/692083_08082015485104%5b1%5d.jpg&amp;channel=1126" TargetMode="External"/><Relationship Id="rId2" Type="http://schemas.openxmlformats.org/officeDocument/2006/relationships/image" Target="../media/image25.jpeg"/><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28.gif"/><Relationship Id="rId7"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www.nhecity.com/news/photonews.asp?id=" TargetMode="Externa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0.jpg"/><Relationship Id="rId7" Type="http://schemas.openxmlformats.org/officeDocument/2006/relationships/image" Target="../media/image34.jpg"/><Relationship Id="rId2" Type="http://schemas.openxmlformats.org/officeDocument/2006/relationships/hyperlink" Target="https://haokan.baidu.com/v?pd=wisenatural&amp;vid=12766489825265233682" TargetMode="External"/><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45.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13" Type="http://schemas.openxmlformats.org/officeDocument/2006/relationships/image" Target="../media/image38.wmf"/><Relationship Id="rId18" Type="http://schemas.openxmlformats.org/officeDocument/2006/relationships/oleObject" Target="../embeddings/oleObject7.bin"/><Relationship Id="rId26" Type="http://schemas.openxmlformats.org/officeDocument/2006/relationships/oleObject" Target="../embeddings/oleObject11.bin"/><Relationship Id="rId39" Type="http://schemas.openxmlformats.org/officeDocument/2006/relationships/oleObject" Target="../embeddings/oleObject18.bin"/><Relationship Id="rId21" Type="http://schemas.openxmlformats.org/officeDocument/2006/relationships/image" Target="../media/image42.wmf"/><Relationship Id="rId34" Type="http://schemas.openxmlformats.org/officeDocument/2006/relationships/oleObject" Target="../embeddings/oleObject15.bin"/><Relationship Id="rId42" Type="http://schemas.openxmlformats.org/officeDocument/2006/relationships/image" Target="../media/image52.wmf"/><Relationship Id="rId47" Type="http://schemas.openxmlformats.org/officeDocument/2006/relationships/oleObject" Target="../embeddings/oleObject22.bin"/><Relationship Id="rId7" Type="http://schemas.openxmlformats.org/officeDocument/2006/relationships/image" Target="../media/image35.wmf"/><Relationship Id="rId2" Type="http://schemas.openxmlformats.org/officeDocument/2006/relationships/slideLayout" Target="../slideLayouts/slideLayout7.xml"/><Relationship Id="rId16" Type="http://schemas.openxmlformats.org/officeDocument/2006/relationships/oleObject" Target="../embeddings/oleObject6.bin"/><Relationship Id="rId29" Type="http://schemas.openxmlformats.org/officeDocument/2006/relationships/image" Target="../media/image46.wmf"/><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37.wmf"/><Relationship Id="rId24" Type="http://schemas.openxmlformats.org/officeDocument/2006/relationships/oleObject" Target="../embeddings/oleObject10.bin"/><Relationship Id="rId32" Type="http://schemas.openxmlformats.org/officeDocument/2006/relationships/oleObject" Target="../embeddings/oleObject14.bin"/><Relationship Id="rId37" Type="http://schemas.openxmlformats.org/officeDocument/2006/relationships/oleObject" Target="../embeddings/oleObject17.bin"/><Relationship Id="rId40" Type="http://schemas.openxmlformats.org/officeDocument/2006/relationships/image" Target="../media/image51.wmf"/><Relationship Id="rId45" Type="http://schemas.openxmlformats.org/officeDocument/2006/relationships/oleObject" Target="../embeddings/oleObject21.bin"/><Relationship Id="rId5" Type="http://schemas.openxmlformats.org/officeDocument/2006/relationships/image" Target="../media/image58.png"/><Relationship Id="rId15" Type="http://schemas.openxmlformats.org/officeDocument/2006/relationships/image" Target="../media/image39.wmf"/><Relationship Id="rId23" Type="http://schemas.openxmlformats.org/officeDocument/2006/relationships/image" Target="../media/image43.wmf"/><Relationship Id="rId28" Type="http://schemas.openxmlformats.org/officeDocument/2006/relationships/oleObject" Target="../embeddings/oleObject12.bin"/><Relationship Id="rId36" Type="http://schemas.openxmlformats.org/officeDocument/2006/relationships/oleObject" Target="../embeddings/oleObject16.bin"/><Relationship Id="rId10" Type="http://schemas.openxmlformats.org/officeDocument/2006/relationships/oleObject" Target="../embeddings/oleObject3.bin"/><Relationship Id="rId19" Type="http://schemas.openxmlformats.org/officeDocument/2006/relationships/image" Target="../media/image41.wmf"/><Relationship Id="rId31" Type="http://schemas.openxmlformats.org/officeDocument/2006/relationships/image" Target="../media/image47.wmf"/><Relationship Id="rId44" Type="http://schemas.openxmlformats.org/officeDocument/2006/relationships/image" Target="../media/image53.wmf"/><Relationship Id="rId4" Type="http://schemas.openxmlformats.org/officeDocument/2006/relationships/image" Target="../media/image57.png"/><Relationship Id="rId9" Type="http://schemas.openxmlformats.org/officeDocument/2006/relationships/image" Target="../media/image36.wmf"/><Relationship Id="rId14" Type="http://schemas.openxmlformats.org/officeDocument/2006/relationships/oleObject" Target="../embeddings/oleObject5.bin"/><Relationship Id="rId22" Type="http://schemas.openxmlformats.org/officeDocument/2006/relationships/oleObject" Target="../embeddings/oleObject9.bin"/><Relationship Id="rId27" Type="http://schemas.openxmlformats.org/officeDocument/2006/relationships/image" Target="../media/image45.wmf"/><Relationship Id="rId30" Type="http://schemas.openxmlformats.org/officeDocument/2006/relationships/oleObject" Target="../embeddings/oleObject13.bin"/><Relationship Id="rId35" Type="http://schemas.openxmlformats.org/officeDocument/2006/relationships/image" Target="../media/image49.wmf"/><Relationship Id="rId43" Type="http://schemas.openxmlformats.org/officeDocument/2006/relationships/oleObject" Target="../embeddings/oleObject20.bin"/><Relationship Id="rId48" Type="http://schemas.openxmlformats.org/officeDocument/2006/relationships/image" Target="../media/image55.wmf"/><Relationship Id="rId8" Type="http://schemas.openxmlformats.org/officeDocument/2006/relationships/oleObject" Target="../embeddings/oleObject2.bin"/><Relationship Id="rId3" Type="http://schemas.openxmlformats.org/officeDocument/2006/relationships/image" Target="../media/image56.png"/><Relationship Id="rId12" Type="http://schemas.openxmlformats.org/officeDocument/2006/relationships/oleObject" Target="../embeddings/oleObject4.bin"/><Relationship Id="rId17" Type="http://schemas.openxmlformats.org/officeDocument/2006/relationships/image" Target="../media/image40.wmf"/><Relationship Id="rId25" Type="http://schemas.openxmlformats.org/officeDocument/2006/relationships/image" Target="../media/image44.wmf"/><Relationship Id="rId33" Type="http://schemas.openxmlformats.org/officeDocument/2006/relationships/image" Target="../media/image48.wmf"/><Relationship Id="rId38" Type="http://schemas.openxmlformats.org/officeDocument/2006/relationships/image" Target="../media/image50.wmf"/><Relationship Id="rId46" Type="http://schemas.openxmlformats.org/officeDocument/2006/relationships/image" Target="../media/image54.emf"/><Relationship Id="rId20" Type="http://schemas.openxmlformats.org/officeDocument/2006/relationships/oleObject" Target="../embeddings/oleObject8.bin"/><Relationship Id="rId41" Type="http://schemas.openxmlformats.org/officeDocument/2006/relationships/oleObject" Target="../embeddings/oleObject19.bin"/></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0.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0.png"/><Relationship Id="rId4" Type="http://schemas.openxmlformats.org/officeDocument/2006/relationships/image" Target="../media/image570.png"/><Relationship Id="rId9" Type="http://schemas.openxmlformats.org/officeDocument/2006/relationships/image" Target="../media/image62.png"/></Relationships>
</file>

<file path=ppt/slides/_rels/slide20.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36.png"/><Relationship Id="rId3" Type="http://schemas.openxmlformats.org/officeDocument/2006/relationships/image" Target="../media/image64.png"/><Relationship Id="rId7" Type="http://schemas.openxmlformats.org/officeDocument/2006/relationships/image" Target="../media/image37.png"/><Relationship Id="rId12" Type="http://schemas.openxmlformats.org/officeDocument/2006/relationships/image" Target="../media/image73.png"/><Relationship Id="rId17" Type="http://schemas.openxmlformats.org/officeDocument/2006/relationships/image" Target="../media/image39.png"/><Relationship Id="rId2" Type="http://schemas.openxmlformats.org/officeDocument/2006/relationships/image" Target="../media/image63.png"/><Relationship Id="rId16"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361.png"/><Relationship Id="rId15" Type="http://schemas.openxmlformats.org/officeDocument/2006/relationships/image" Target="../media/image38.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370.png"/></Relationships>
</file>

<file path=ppt/slides/_rels/slide21.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18" Type="http://schemas.openxmlformats.org/officeDocument/2006/relationships/image" Target="../media/image76.png"/><Relationship Id="rId3" Type="http://schemas.openxmlformats.org/officeDocument/2006/relationships/image" Target="../media/image41.png"/><Relationship Id="rId7" Type="http://schemas.openxmlformats.org/officeDocument/2006/relationships/image" Target="../media/image84.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image" Target="../media/image40.png"/><Relationship Id="rId16" Type="http://schemas.openxmlformats.org/officeDocument/2006/relationships/image" Target="../media/image75.png"/><Relationship Id="rId20" Type="http://schemas.openxmlformats.org/officeDocument/2006/relationships/image" Target="../media/image97.png"/><Relationship Id="rId1" Type="http://schemas.openxmlformats.org/officeDocument/2006/relationships/slideLayout" Target="../slideLayouts/slideLayout7.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5" Type="http://schemas.openxmlformats.org/officeDocument/2006/relationships/image" Target="../media/image74.png"/><Relationship Id="rId10" Type="http://schemas.openxmlformats.org/officeDocument/2006/relationships/image" Target="../media/image87.png"/><Relationship Id="rId19" Type="http://schemas.openxmlformats.org/officeDocument/2006/relationships/image" Target="../media/image78.png"/><Relationship Id="rId4" Type="http://schemas.openxmlformats.org/officeDocument/2006/relationships/image" Target="../media/image66.png"/><Relationship Id="rId9" Type="http://schemas.openxmlformats.org/officeDocument/2006/relationships/image" Target="../media/image86.png"/><Relationship Id="rId14" Type="http://schemas.openxmlformats.org/officeDocument/2006/relationships/image" Target="../media/image68.png"/></Relationships>
</file>

<file path=ppt/slides/_rels/slide2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91.png"/><Relationship Id="rId18" Type="http://schemas.openxmlformats.org/officeDocument/2006/relationships/image" Target="../media/image114.png"/><Relationship Id="rId3" Type="http://schemas.openxmlformats.org/officeDocument/2006/relationships/image" Target="../media/image99.png"/><Relationship Id="rId7" Type="http://schemas.openxmlformats.org/officeDocument/2006/relationships/image" Target="../media/image103.png"/><Relationship Id="rId12" Type="http://schemas.openxmlformats.org/officeDocument/2006/relationships/image" Target="../media/image81.png"/><Relationship Id="rId17" Type="http://schemas.openxmlformats.org/officeDocument/2006/relationships/image" Target="../media/image113.png"/><Relationship Id="rId2" Type="http://schemas.openxmlformats.org/officeDocument/2006/relationships/image" Target="../media/image98.png"/><Relationship Id="rId16" Type="http://schemas.openxmlformats.org/officeDocument/2006/relationships/image" Target="../media/image112.png"/><Relationship Id="rId20"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5" Type="http://schemas.openxmlformats.org/officeDocument/2006/relationships/image" Target="../media/image111.png"/><Relationship Id="rId10" Type="http://schemas.openxmlformats.org/officeDocument/2006/relationships/image" Target="../media/image80.png"/><Relationship Id="rId19" Type="http://schemas.openxmlformats.org/officeDocument/2006/relationships/image" Target="../media/image115.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10.png"/></Relationships>
</file>

<file path=ppt/slides/_rels/slide2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20.png"/><Relationship Id="rId7" Type="http://schemas.openxmlformats.org/officeDocument/2006/relationships/image" Target="../media/image96.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92.png"/><Relationship Id="rId4" Type="http://schemas.openxmlformats.org/officeDocument/2006/relationships/image" Target="../media/image60.jpeg"/></Relationships>
</file>

<file path=ppt/slides/_rels/slide25.xml.rels><?xml version="1.0" encoding="UTF-8" standalone="yes"?>
<Relationships xmlns="http://schemas.openxmlformats.org/package/2006/relationships"><Relationship Id="rId8" Type="http://schemas.openxmlformats.org/officeDocument/2006/relationships/image" Target="../media/image105.jpe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image" Target="../media/image126.png"/><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2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3.xml"/><Relationship Id="rId5" Type="http://schemas.openxmlformats.org/officeDocument/2006/relationships/image" Target="../media/image105.jpeg"/><Relationship Id="rId4" Type="http://schemas.openxmlformats.org/officeDocument/2006/relationships/image" Target="../media/image135.png"/></Relationships>
</file>

<file path=ppt/slides/_rels/slide27.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3" Type="http://schemas.openxmlformats.org/officeDocument/2006/relationships/image" Target="../media/image149.png"/><Relationship Id="rId7" Type="http://schemas.openxmlformats.org/officeDocument/2006/relationships/image" Target="../media/image153.png"/><Relationship Id="rId12" Type="http://schemas.openxmlformats.org/officeDocument/2006/relationships/image" Target="../media/image158.png"/><Relationship Id="rId2" Type="http://schemas.openxmlformats.org/officeDocument/2006/relationships/image" Target="../media/image148.png"/><Relationship Id="rId1" Type="http://schemas.openxmlformats.org/officeDocument/2006/relationships/slideLayout" Target="../slideLayouts/slideLayout1.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png"/></Relationships>
</file>

<file path=ppt/slides/_rels/slide28.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06.png"/><Relationship Id="rId1" Type="http://schemas.openxmlformats.org/officeDocument/2006/relationships/slideLayout" Target="../slideLayouts/slideLayout7.xml"/><Relationship Id="rId6" Type="http://schemas.openxmlformats.org/officeDocument/2006/relationships/image" Target="../media/image164.png"/><Relationship Id="rId5" Type="http://schemas.openxmlformats.org/officeDocument/2006/relationships/image" Target="../media/image122.png"/><Relationship Id="rId4" Type="http://schemas.openxmlformats.org/officeDocument/2006/relationships/image" Target="../media/image162.png"/></Relationships>
</file>

<file path=ppt/slides/_rels/slide29.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7.xml"/><Relationship Id="rId6" Type="http://schemas.openxmlformats.org/officeDocument/2006/relationships/image" Target="../media/image123.png"/><Relationship Id="rId5" Type="http://schemas.openxmlformats.org/officeDocument/2006/relationships/image" Target="../media/image168.png"/><Relationship Id="rId4" Type="http://schemas.openxmlformats.org/officeDocument/2006/relationships/image" Target="../media/image167.png"/></Relationships>
</file>

<file path=ppt/slides/_rels/slide30.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32.png"/><Relationship Id="rId7" Type="http://schemas.openxmlformats.org/officeDocument/2006/relationships/image" Target="../media/image108.png"/><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oleObject" Target="../embeddings/oleObject23.bin"/><Relationship Id="rId5" Type="http://schemas.openxmlformats.org/officeDocument/2006/relationships/image" Target="../media/image176.png"/><Relationship Id="rId4" Type="http://schemas.openxmlformats.org/officeDocument/2006/relationships/image" Target="../media/image137.png"/></Relationships>
</file>

<file path=ppt/slides/_rels/slide33.xml.rels><?xml version="1.0" encoding="UTF-8" standalone="yes"?>
<Relationships xmlns="http://schemas.openxmlformats.org/package/2006/relationships"><Relationship Id="rId8" Type="http://schemas.openxmlformats.org/officeDocument/2006/relationships/image" Target="../media/image184.png"/><Relationship Id="rId3" Type="http://schemas.openxmlformats.org/officeDocument/2006/relationships/image" Target="../media/image140.png"/><Relationship Id="rId7" Type="http://schemas.openxmlformats.org/officeDocument/2006/relationships/image" Target="../media/image183.png"/><Relationship Id="rId2" Type="http://schemas.openxmlformats.org/officeDocument/2006/relationships/image" Target="../media/image178.png"/><Relationship Id="rId1" Type="http://schemas.openxmlformats.org/officeDocument/2006/relationships/slideLayout" Target="../slideLayouts/slideLayout13.xml"/><Relationship Id="rId6" Type="http://schemas.openxmlformats.org/officeDocument/2006/relationships/image" Target="../media/image142.png"/><Relationship Id="rId5" Type="http://schemas.openxmlformats.org/officeDocument/2006/relationships/image" Target="../media/image18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s>
</file>

<file path=ppt/slides/_rels/slide34.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60.png"/><Relationship Id="rId1" Type="http://schemas.openxmlformats.org/officeDocument/2006/relationships/slideLayout" Target="../slideLayouts/slideLayout2.xml"/><Relationship Id="rId5" Type="http://schemas.openxmlformats.org/officeDocument/2006/relationships/image" Target="../media/image163.png"/><Relationship Id="rId4" Type="http://schemas.openxmlformats.org/officeDocument/2006/relationships/image" Target="../media/image1250.png"/></Relationships>
</file>

<file path=ppt/slides/_rels/slide35.xml.rels><?xml version="1.0" encoding="UTF-8" standalone="yes"?>
<Relationships xmlns="http://schemas.openxmlformats.org/package/2006/relationships"><Relationship Id="rId3" Type="http://schemas.openxmlformats.org/officeDocument/2006/relationships/image" Target="../media/image192.png"/><Relationship Id="rId7" Type="http://schemas.openxmlformats.org/officeDocument/2006/relationships/image" Target="../media/image169.png"/><Relationship Id="rId2" Type="http://schemas.openxmlformats.org/officeDocument/2006/relationships/image" Target="../media/image191.png"/><Relationship Id="rId1" Type="http://schemas.openxmlformats.org/officeDocument/2006/relationships/slideLayout" Target="../slideLayouts/slideLayout7.xml"/><Relationship Id="rId6" Type="http://schemas.openxmlformats.org/officeDocument/2006/relationships/image" Target="../media/image195.png"/><Relationship Id="rId5" Type="http://schemas.openxmlformats.org/officeDocument/2006/relationships/image" Target="../media/image194.png"/><Relationship Id="rId4" Type="http://schemas.openxmlformats.org/officeDocument/2006/relationships/image" Target="../media/image193.png"/></Relationships>
</file>

<file path=ppt/slides/_rels/slide36.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198.png"/><Relationship Id="rId7" Type="http://schemas.openxmlformats.org/officeDocument/2006/relationships/image" Target="../media/image202.png"/><Relationship Id="rId2" Type="http://schemas.openxmlformats.org/officeDocument/2006/relationships/image" Target="../media/image197.png"/><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image" Target="../media/image206.png"/><Relationship Id="rId5" Type="http://schemas.openxmlformats.org/officeDocument/2006/relationships/image" Target="../media/image200.png"/><Relationship Id="rId10" Type="http://schemas.openxmlformats.org/officeDocument/2006/relationships/image" Target="../media/image205.png"/><Relationship Id="rId4" Type="http://schemas.openxmlformats.org/officeDocument/2006/relationships/image" Target="../media/image172.png"/><Relationship Id="rId9" Type="http://schemas.openxmlformats.org/officeDocument/2006/relationships/image" Target="../media/image20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61.png"/><Relationship Id="rId7" Type="http://schemas.openxmlformats.org/officeDocument/2006/relationships/image" Target="../media/image189.png"/><Relationship Id="rId12" Type="http://schemas.openxmlformats.org/officeDocument/2006/relationships/image" Target="../media/image144.png"/><Relationship Id="rId2" Type="http://schemas.openxmlformats.org/officeDocument/2006/relationships/image" Target="../media/image260.png"/><Relationship Id="rId1" Type="http://schemas.openxmlformats.org/officeDocument/2006/relationships/slideLayout" Target="../slideLayouts/slideLayout7.xml"/><Relationship Id="rId6" Type="http://schemas.openxmlformats.org/officeDocument/2006/relationships/image" Target="../media/image1770.png"/><Relationship Id="rId11" Type="http://schemas.openxmlformats.org/officeDocument/2006/relationships/image" Target="../media/image143.png"/><Relationship Id="rId5" Type="http://schemas.openxmlformats.org/officeDocument/2006/relationships/image" Target="../media/image1750.png"/><Relationship Id="rId10" Type="http://schemas.openxmlformats.org/officeDocument/2006/relationships/image" Target="../media/image139.png"/><Relationship Id="rId4" Type="http://schemas.openxmlformats.org/officeDocument/2006/relationships/image" Target="../media/image262.png"/><Relationship Id="rId9" Type="http://schemas.openxmlformats.org/officeDocument/2006/relationships/image" Target="../media/image267.png"/></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114.wmf"/><Relationship Id="rId3" Type="http://schemas.openxmlformats.org/officeDocument/2006/relationships/notesSlide" Target="../notesSlides/notesSlide6.xml"/><Relationship Id="rId7" Type="http://schemas.openxmlformats.org/officeDocument/2006/relationships/image" Target="../media/image111.emf"/><Relationship Id="rId12"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25.bin"/><Relationship Id="rId11" Type="http://schemas.openxmlformats.org/officeDocument/2006/relationships/image" Target="../media/image113.emf"/><Relationship Id="rId5" Type="http://schemas.openxmlformats.org/officeDocument/2006/relationships/image" Target="../media/image110.e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112.emf"/></Relationships>
</file>

<file path=ppt/slides/_rels/slide41.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2.png"/><Relationship Id="rId7" Type="http://schemas.openxmlformats.org/officeDocument/2006/relationships/image" Target="../media/image216.png"/><Relationship Id="rId2" Type="http://schemas.openxmlformats.org/officeDocument/2006/relationships/image" Target="../media/image179.png"/><Relationship Id="rId1" Type="http://schemas.openxmlformats.org/officeDocument/2006/relationships/slideLayout" Target="../slideLayouts/slideLayout2.xml"/><Relationship Id="rId6" Type="http://schemas.openxmlformats.org/officeDocument/2006/relationships/image" Target="../media/image215.png"/><Relationship Id="rId5" Type="http://schemas.openxmlformats.org/officeDocument/2006/relationships/image" Target="../media/image117.png"/><Relationship Id="rId4" Type="http://schemas.openxmlformats.org/officeDocument/2006/relationships/image" Target="../media/image187.png"/><Relationship Id="rId9" Type="http://schemas.openxmlformats.org/officeDocument/2006/relationships/image" Target="../media/image119.png"/></Relationships>
</file>

<file path=ppt/slides/_rels/slide42.xml.rels><?xml version="1.0" encoding="UTF-8" standalone="yes"?>
<Relationships xmlns="http://schemas.openxmlformats.org/package/2006/relationships"><Relationship Id="rId8" Type="http://schemas.openxmlformats.org/officeDocument/2006/relationships/image" Target="../media/image224.png"/><Relationship Id="rId3" Type="http://schemas.openxmlformats.org/officeDocument/2006/relationships/image" Target="../media/image121.png"/><Relationship Id="rId7" Type="http://schemas.openxmlformats.org/officeDocument/2006/relationships/image" Target="../media/image223.png"/><Relationship Id="rId2" Type="http://schemas.openxmlformats.org/officeDocument/2006/relationships/image" Target="../media/image218.png"/><Relationship Id="rId1" Type="http://schemas.openxmlformats.org/officeDocument/2006/relationships/slideLayout" Target="../slideLayouts/slideLayout2.xml"/><Relationship Id="rId6" Type="http://schemas.openxmlformats.org/officeDocument/2006/relationships/image" Target="../media/image222.png"/><Relationship Id="rId5" Type="http://schemas.openxmlformats.org/officeDocument/2006/relationships/image" Target="../media/image125.png"/><Relationship Id="rId4" Type="http://schemas.openxmlformats.org/officeDocument/2006/relationships/image" Target="../media/image220.png"/><Relationship Id="rId9" Type="http://schemas.openxmlformats.org/officeDocument/2006/relationships/image" Target="../media/image136.png"/></Relationships>
</file>

<file path=ppt/slides/_rels/slide43.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8.png"/><Relationship Id="rId7" Type="http://schemas.openxmlformats.org/officeDocument/2006/relationships/image" Target="../media/image183.png"/><Relationship Id="rId2" Type="http://schemas.openxmlformats.org/officeDocument/2006/relationships/image" Target="../media/image1390.png"/><Relationship Id="rId1" Type="http://schemas.openxmlformats.org/officeDocument/2006/relationships/slideLayout" Target="../slideLayouts/slideLayout4.xml"/><Relationship Id="rId4" Type="http://schemas.openxmlformats.org/officeDocument/2006/relationships/image" Target="../media/image174.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16.emf"/><Relationship Id="rId5" Type="http://schemas.openxmlformats.org/officeDocument/2006/relationships/oleObject" Target="../embeddings/oleObject30.bin"/><Relationship Id="rId4" Type="http://schemas.openxmlformats.org/officeDocument/2006/relationships/image" Target="../media/image115.emf"/></Relationships>
</file>

<file path=ppt/slides/_rels/slide45.xml.rels><?xml version="1.0" encoding="UTF-8" standalone="yes"?>
<Relationships xmlns="http://schemas.openxmlformats.org/package/2006/relationships"><Relationship Id="rId3" Type="http://schemas.openxmlformats.org/officeDocument/2006/relationships/image" Target="../media/image233.png"/><Relationship Id="rId7" Type="http://schemas.openxmlformats.org/officeDocument/2006/relationships/image" Target="../media/image237.png"/><Relationship Id="rId2" Type="http://schemas.openxmlformats.org/officeDocument/2006/relationships/image" Target="../media/image232.png"/><Relationship Id="rId1" Type="http://schemas.openxmlformats.org/officeDocument/2006/relationships/slideLayout" Target="../slideLayouts/slideLayout13.xml"/><Relationship Id="rId6" Type="http://schemas.openxmlformats.org/officeDocument/2006/relationships/image" Target="../media/image236.png"/><Relationship Id="rId5" Type="http://schemas.openxmlformats.org/officeDocument/2006/relationships/image" Target="../media/image208.png"/><Relationship Id="rId4" Type="http://schemas.openxmlformats.org/officeDocument/2006/relationships/image" Target="../media/image234.png"/></Relationships>
</file>

<file path=ppt/slides/_rels/slide46.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8" Type="http://schemas.openxmlformats.org/officeDocument/2006/relationships/image" Target="../media/image196.png"/><Relationship Id="rId3" Type="http://schemas.openxmlformats.org/officeDocument/2006/relationships/image" Target="../media/image145.png"/><Relationship Id="rId7" Type="http://schemas.openxmlformats.org/officeDocument/2006/relationships/image" Target="../media/image17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5.png"/><Relationship Id="rId5" Type="http://schemas.openxmlformats.org/officeDocument/2006/relationships/image" Target="../media/image147.png"/><Relationship Id="rId10" Type="http://schemas.openxmlformats.org/officeDocument/2006/relationships/image" Target="../media/image201.png"/><Relationship Id="rId4" Type="http://schemas.openxmlformats.org/officeDocument/2006/relationships/image" Target="../media/image146.png"/><Relationship Id="rId9" Type="http://schemas.openxmlformats.org/officeDocument/2006/relationships/image" Target="../media/image199.png"/></Relationships>
</file>

<file path=ppt/slides/_rels/slide48.xml.rels><?xml version="1.0" encoding="UTF-8" standalone="yes"?>
<Relationships xmlns="http://schemas.openxmlformats.org/package/2006/relationships"><Relationship Id="rId8" Type="http://schemas.openxmlformats.org/officeDocument/2006/relationships/image" Target="../media/image1461.png"/><Relationship Id="rId13" Type="http://schemas.openxmlformats.org/officeDocument/2006/relationships/oleObject" Target="../embeddings/oleObject31.bin"/><Relationship Id="rId18" Type="http://schemas.openxmlformats.org/officeDocument/2006/relationships/image" Target="../media/image251.png"/><Relationship Id="rId3" Type="http://schemas.openxmlformats.org/officeDocument/2006/relationships/notesSlide" Target="../notesSlides/notesSlide8.xml"/><Relationship Id="rId7" Type="http://schemas.openxmlformats.org/officeDocument/2006/relationships/image" Target="../media/image1451.png"/><Relationship Id="rId12" Type="http://schemas.openxmlformats.org/officeDocument/2006/relationships/image" Target="../media/image1771.png"/><Relationship Id="rId17" Type="http://schemas.openxmlformats.org/officeDocument/2006/relationships/image" Target="../media/image250.png"/><Relationship Id="rId2" Type="http://schemas.openxmlformats.org/officeDocument/2006/relationships/slideLayout" Target="../slideLayouts/slideLayout7.xml"/><Relationship Id="rId16" Type="http://schemas.openxmlformats.org/officeDocument/2006/relationships/image" Target="../media/image118.emf"/><Relationship Id="rId20" Type="http://schemas.openxmlformats.org/officeDocument/2006/relationships/image" Target="../media/image253.png"/><Relationship Id="rId1" Type="http://schemas.openxmlformats.org/officeDocument/2006/relationships/vmlDrawing" Target="../drawings/vmlDrawing5.vml"/><Relationship Id="rId6" Type="http://schemas.openxmlformats.org/officeDocument/2006/relationships/image" Target="../media/image1410.png"/><Relationship Id="rId11" Type="http://schemas.openxmlformats.org/officeDocument/2006/relationships/image" Target="../media/image1751.png"/><Relationship Id="rId5" Type="http://schemas.openxmlformats.org/officeDocument/2006/relationships/image" Target="../media/image1381.png"/><Relationship Id="rId15" Type="http://schemas.openxmlformats.org/officeDocument/2006/relationships/oleObject" Target="../embeddings/oleObject32.bin"/><Relationship Id="rId10" Type="http://schemas.openxmlformats.org/officeDocument/2006/relationships/image" Target="../media/image247.png"/><Relationship Id="rId19" Type="http://schemas.openxmlformats.org/officeDocument/2006/relationships/image" Target="../media/image252.png"/><Relationship Id="rId4" Type="http://schemas.openxmlformats.org/officeDocument/2006/relationships/image" Target="../media/image241.png"/><Relationship Id="rId9" Type="http://schemas.openxmlformats.org/officeDocument/2006/relationships/image" Target="../media/image1470.png"/><Relationship Id="rId14" Type="http://schemas.openxmlformats.org/officeDocument/2006/relationships/image" Target="../media/image117.emf"/></Relationships>
</file>

<file path=ppt/slides/_rels/slide49.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54.png"/><Relationship Id="rId1" Type="http://schemas.openxmlformats.org/officeDocument/2006/relationships/slideLayout" Target="../slideLayouts/slideLayout7.xml"/><Relationship Id="rId6" Type="http://schemas.openxmlformats.org/officeDocument/2006/relationships/image" Target="../media/image2071.png"/><Relationship Id="rId5" Type="http://schemas.openxmlformats.org/officeDocument/2006/relationships/image" Target="../media/image2010.png"/><Relationship Id="rId4" Type="http://schemas.openxmlformats.org/officeDocument/2006/relationships/image" Target="../media/image210.png"/></Relationships>
</file>

<file path=ppt/slides/_rels/slide50.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image" Target="../media/image268.png"/><Relationship Id="rId1" Type="http://schemas.openxmlformats.org/officeDocument/2006/relationships/slideLayout" Target="../slideLayouts/slideLayout13.xml"/><Relationship Id="rId4" Type="http://schemas.openxmlformats.org/officeDocument/2006/relationships/image" Target="../media/image212.jpeg"/></Relationships>
</file>

<file path=ppt/slides/_rels/slide52.xml.rels><?xml version="1.0" encoding="UTF-8" standalone="yes"?>
<Relationships xmlns="http://schemas.openxmlformats.org/package/2006/relationships"><Relationship Id="rId8" Type="http://schemas.openxmlformats.org/officeDocument/2006/relationships/image" Target="../media/image276.png"/><Relationship Id="rId3" Type="http://schemas.openxmlformats.org/officeDocument/2006/relationships/image" Target="../media/image271.png"/><Relationship Id="rId7" Type="http://schemas.openxmlformats.org/officeDocument/2006/relationships/image" Target="../media/image275.png"/><Relationship Id="rId2" Type="http://schemas.openxmlformats.org/officeDocument/2006/relationships/image" Target="../media/image212.jpeg"/><Relationship Id="rId1" Type="http://schemas.openxmlformats.org/officeDocument/2006/relationships/slideLayout" Target="../slideLayouts/slideLayout13.xml"/><Relationship Id="rId6" Type="http://schemas.openxmlformats.org/officeDocument/2006/relationships/image" Target="../media/image274.png"/><Relationship Id="rId5" Type="http://schemas.openxmlformats.org/officeDocument/2006/relationships/image" Target="../media/image273.png"/><Relationship Id="rId4" Type="http://schemas.openxmlformats.org/officeDocument/2006/relationships/image" Target="../media/image2070.png"/></Relationships>
</file>

<file path=ppt/slides/_rels/slide53.xml.rels><?xml version="1.0" encoding="UTF-8" standalone="yes"?>
<Relationships xmlns="http://schemas.openxmlformats.org/package/2006/relationships"><Relationship Id="rId3" Type="http://schemas.openxmlformats.org/officeDocument/2006/relationships/image" Target="../media/image1210.png"/><Relationship Id="rId7" Type="http://schemas.openxmlformats.org/officeDocument/2006/relationships/image" Target="../media/image281.png"/><Relationship Id="rId2" Type="http://schemas.openxmlformats.org/officeDocument/2006/relationships/image" Target="../media/image277.png"/><Relationship Id="rId1" Type="http://schemas.openxmlformats.org/officeDocument/2006/relationships/slideLayout" Target="../slideLayouts/slideLayout13.xml"/><Relationship Id="rId6" Type="http://schemas.openxmlformats.org/officeDocument/2006/relationships/image" Target="../media/image280.png"/><Relationship Id="rId5" Type="http://schemas.openxmlformats.org/officeDocument/2006/relationships/image" Target="../media/image279.png"/><Relationship Id="rId4" Type="http://schemas.openxmlformats.org/officeDocument/2006/relationships/image" Target="../media/image212.jpeg"/></Relationships>
</file>

<file path=ppt/slides/_rels/slide54.xml.rels><?xml version="1.0" encoding="UTF-8" standalone="yes"?>
<Relationships xmlns="http://schemas.openxmlformats.org/package/2006/relationships"><Relationship Id="rId3" Type="http://schemas.openxmlformats.org/officeDocument/2006/relationships/image" Target="../media/image213.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14.jpeg"/></Relationships>
</file>

<file path=ppt/slides/_rels/slide55.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image" Target="../media/image284.png"/><Relationship Id="rId1" Type="http://schemas.openxmlformats.org/officeDocument/2006/relationships/slideLayout" Target="../slideLayouts/slideLayout13.xml"/><Relationship Id="rId5" Type="http://schemas.openxmlformats.org/officeDocument/2006/relationships/image" Target="../media/image214.jpeg"/><Relationship Id="rId4" Type="http://schemas.openxmlformats.org/officeDocument/2006/relationships/image" Target="../media/image286.png"/></Relationships>
</file>

<file path=ppt/slides/_rels/slide56.xml.rels><?xml version="1.0" encoding="UTF-8" standalone="yes"?>
<Relationships xmlns="http://schemas.openxmlformats.org/package/2006/relationships"><Relationship Id="rId3" Type="http://schemas.openxmlformats.org/officeDocument/2006/relationships/image" Target="../media/image216.emf"/><Relationship Id="rId2" Type="http://schemas.openxmlformats.org/officeDocument/2006/relationships/image" Target="../media/image215.emf"/><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2110.png"/><Relationship Id="rId2" Type="http://schemas.openxmlformats.org/officeDocument/2006/relationships/image" Target="../media/image2100.png"/><Relationship Id="rId1" Type="http://schemas.openxmlformats.org/officeDocument/2006/relationships/slideLayout" Target="../slideLayouts/slideLayout13.xml"/><Relationship Id="rId5" Type="http://schemas.openxmlformats.org/officeDocument/2006/relationships/image" Target="../media/image217.jpeg"/><Relationship Id="rId4" Type="http://schemas.openxmlformats.org/officeDocument/2006/relationships/image" Target="../media/image217.png"/></Relationships>
</file>

<file path=ppt/slides/_rels/slide58.xml.rels><?xml version="1.0" encoding="UTF-8" standalone="yes"?>
<Relationships xmlns="http://schemas.openxmlformats.org/package/2006/relationships"><Relationship Id="rId8" Type="http://schemas.openxmlformats.org/officeDocument/2006/relationships/image" Target="../media/image297.png"/><Relationship Id="rId3" Type="http://schemas.openxmlformats.org/officeDocument/2006/relationships/image" Target="../media/image292.png"/><Relationship Id="rId7" Type="http://schemas.openxmlformats.org/officeDocument/2006/relationships/image" Target="../media/image296.png"/><Relationship Id="rId12" Type="http://schemas.openxmlformats.org/officeDocument/2006/relationships/image" Target="../media/image217.jpeg"/><Relationship Id="rId2" Type="http://schemas.openxmlformats.org/officeDocument/2006/relationships/image" Target="../media/image291.png"/><Relationship Id="rId1" Type="http://schemas.openxmlformats.org/officeDocument/2006/relationships/slideLayout" Target="../slideLayouts/slideLayout13.xml"/><Relationship Id="rId6" Type="http://schemas.openxmlformats.org/officeDocument/2006/relationships/image" Target="../media/image295.png"/><Relationship Id="rId11" Type="http://schemas.openxmlformats.org/officeDocument/2006/relationships/image" Target="../media/image300.png"/><Relationship Id="rId5" Type="http://schemas.openxmlformats.org/officeDocument/2006/relationships/image" Target="../media/image294.png"/><Relationship Id="rId10" Type="http://schemas.openxmlformats.org/officeDocument/2006/relationships/image" Target="../media/image299.png"/><Relationship Id="rId4" Type="http://schemas.openxmlformats.org/officeDocument/2006/relationships/image" Target="../media/image293.png"/><Relationship Id="rId9" Type="http://schemas.openxmlformats.org/officeDocument/2006/relationships/image" Target="../media/image298.png"/></Relationships>
</file>

<file path=ppt/slides/_rels/slide59.xml.rels><?xml version="1.0" encoding="UTF-8" standalone="yes"?>
<Relationships xmlns="http://schemas.openxmlformats.org/package/2006/relationships"><Relationship Id="rId8" Type="http://schemas.openxmlformats.org/officeDocument/2006/relationships/image" Target="../media/image227.png"/><Relationship Id="rId3" Type="http://schemas.openxmlformats.org/officeDocument/2006/relationships/image" Target="../media/image1080.png"/><Relationship Id="rId7" Type="http://schemas.openxmlformats.org/officeDocument/2006/relationships/image" Target="../media/image225.png"/><Relationship Id="rId2" Type="http://schemas.openxmlformats.org/officeDocument/2006/relationships/image" Target="../media/image1360.png"/><Relationship Id="rId1" Type="http://schemas.openxmlformats.org/officeDocument/2006/relationships/slideLayout" Target="../slideLayouts/slideLayout13.xml"/><Relationship Id="rId6" Type="http://schemas.openxmlformats.org/officeDocument/2006/relationships/image" Target="../media/image221.png"/><Relationship Id="rId5" Type="http://schemas.openxmlformats.org/officeDocument/2006/relationships/image" Target="../media/image219.png"/><Relationship Id="rId4" Type="http://schemas.openxmlformats.org/officeDocument/2006/relationships/image" Target="../media/image1380.png"/><Relationship Id="rId9" Type="http://schemas.openxmlformats.org/officeDocument/2006/relationships/image" Target="../media/image228.png"/></Relationships>
</file>

<file path=ppt/slides/_rels/slide60.xml.rels><?xml version="1.0" encoding="UTF-8" standalone="yes"?>
<Relationships xmlns="http://schemas.openxmlformats.org/package/2006/relationships"><Relationship Id="rId3" Type="http://schemas.openxmlformats.org/officeDocument/2006/relationships/image" Target="../media/image1460.png"/><Relationship Id="rId2" Type="http://schemas.openxmlformats.org/officeDocument/2006/relationships/image" Target="../media/image1450.png"/><Relationship Id="rId1" Type="http://schemas.openxmlformats.org/officeDocument/2006/relationships/slideLayout" Target="../slideLayouts/slideLayout13.xml"/><Relationship Id="rId4" Type="http://schemas.openxmlformats.org/officeDocument/2006/relationships/image" Target="../media/image229.jpeg"/></Relationships>
</file>

<file path=ppt/slides/_rels/slide61.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4.png"/><Relationship Id="rId1" Type="http://schemas.openxmlformats.org/officeDocument/2006/relationships/slideLayout" Target="../slideLayouts/slideLayout13.xml"/><Relationship Id="rId5" Type="http://schemas.openxmlformats.org/officeDocument/2006/relationships/image" Target="../media/image307.png"/><Relationship Id="rId4" Type="http://schemas.openxmlformats.org/officeDocument/2006/relationships/image" Target="../media/image306.png"/></Relationships>
</file>

<file path=ppt/slides/_rels/slide62.xml.rels><?xml version="1.0" encoding="UTF-8" standalone="yes"?>
<Relationships xmlns="http://schemas.openxmlformats.org/package/2006/relationships"><Relationship Id="rId3" Type="http://schemas.openxmlformats.org/officeDocument/2006/relationships/image" Target="../media/image309.png"/><Relationship Id="rId7" Type="http://schemas.openxmlformats.org/officeDocument/2006/relationships/image" Target="../media/image230.png"/><Relationship Id="rId2" Type="http://schemas.openxmlformats.org/officeDocument/2006/relationships/image" Target="../media/image308.png"/><Relationship Id="rId1" Type="http://schemas.openxmlformats.org/officeDocument/2006/relationships/slideLayout" Target="../slideLayouts/slideLayout13.xml"/><Relationship Id="rId6" Type="http://schemas.openxmlformats.org/officeDocument/2006/relationships/image" Target="../media/image312.png"/><Relationship Id="rId5" Type="http://schemas.openxmlformats.org/officeDocument/2006/relationships/image" Target="../media/image311.png"/><Relationship Id="rId4" Type="http://schemas.openxmlformats.org/officeDocument/2006/relationships/image" Target="../media/image310.png"/></Relationships>
</file>

<file path=ppt/slides/_rels/slide63.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image" Target="../media/image231.png"/><Relationship Id="rId1" Type="http://schemas.openxmlformats.org/officeDocument/2006/relationships/slideLayout" Target="../slideLayouts/slideLayout13.xml"/><Relationship Id="rId4" Type="http://schemas.openxmlformats.org/officeDocument/2006/relationships/image" Target="../media/image238.png"/></Relationships>
</file>

<file path=ppt/slides/_rels/slide64.xml.rels><?xml version="1.0" encoding="UTF-8" standalone="yes"?>
<Relationships xmlns="http://schemas.openxmlformats.org/package/2006/relationships"><Relationship Id="rId3" Type="http://schemas.openxmlformats.org/officeDocument/2006/relationships/hyperlink" Target="http://www.bjkp.gov.cn/dxp2004/zuopin/web/class2/dry/djhjzyx.htm"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39.jpeg"/></Relationships>
</file>

<file path=ppt/slides/_rels/slide65.xml.rels><?xml version="1.0" encoding="UTF-8" standalone="yes"?>
<Relationships xmlns="http://schemas.openxmlformats.org/package/2006/relationships"><Relationship Id="rId3" Type="http://schemas.openxmlformats.org/officeDocument/2006/relationships/image" Target="../media/image240.jpeg"/><Relationship Id="rId2" Type="http://schemas.openxmlformats.org/officeDocument/2006/relationships/hyperlink" Target="http://photo9.yupoo.com/20061022/214348_458257176_qczfqjgv.jpg" TargetMode="External"/><Relationship Id="rId1" Type="http://schemas.openxmlformats.org/officeDocument/2006/relationships/slideLayout" Target="../slideLayouts/slideLayout7.xml"/><Relationship Id="rId5" Type="http://schemas.openxmlformats.org/officeDocument/2006/relationships/image" Target="../media/image241.jpeg"/><Relationship Id="rId4" Type="http://schemas.openxmlformats.org/officeDocument/2006/relationships/hyperlink" Target="http://news.cctv.com/science/20070922/100800.shtml" TargetMode="External"/></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12.xml"/><Relationship Id="rId7" Type="http://schemas.openxmlformats.org/officeDocument/2006/relationships/image" Target="../media/image242.wmf"/><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oleObject" Target="../embeddings/oleObject33.bin"/><Relationship Id="rId5" Type="http://schemas.openxmlformats.org/officeDocument/2006/relationships/image" Target="../media/image245.jpeg"/><Relationship Id="rId4" Type="http://schemas.openxmlformats.org/officeDocument/2006/relationships/image" Target="../media/image244.png"/><Relationship Id="rId9" Type="http://schemas.openxmlformats.org/officeDocument/2006/relationships/image" Target="../media/image243.emf"/></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249.jpeg"/><Relationship Id="rId7" Type="http://schemas.openxmlformats.org/officeDocument/2006/relationships/image" Target="../media/image247.wmf"/><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oleObject" Target="../embeddings/oleObject36.bin"/><Relationship Id="rId5" Type="http://schemas.openxmlformats.org/officeDocument/2006/relationships/image" Target="../media/image246.wmf"/><Relationship Id="rId4" Type="http://schemas.openxmlformats.org/officeDocument/2006/relationships/oleObject" Target="../embeddings/oleObject35.bin"/><Relationship Id="rId9" Type="http://schemas.openxmlformats.org/officeDocument/2006/relationships/image" Target="../media/image248.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251.wmf"/><Relationship Id="rId5" Type="http://schemas.openxmlformats.org/officeDocument/2006/relationships/oleObject" Target="../embeddings/oleObject39.bin"/><Relationship Id="rId4" Type="http://schemas.openxmlformats.org/officeDocument/2006/relationships/image" Target="../media/image250.wmf"/></Relationships>
</file>

<file path=ppt/slides/_rels/slide69.xml.rels><?xml version="1.0" encoding="UTF-8" standalone="yes"?>
<Relationships xmlns="http://schemas.openxmlformats.org/package/2006/relationships"><Relationship Id="rId8" Type="http://schemas.openxmlformats.org/officeDocument/2006/relationships/image" Target="../media/image254.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253.wmf"/><Relationship Id="rId5" Type="http://schemas.openxmlformats.org/officeDocument/2006/relationships/oleObject" Target="../embeddings/oleObject41.bin"/><Relationship Id="rId10" Type="http://schemas.openxmlformats.org/officeDocument/2006/relationships/image" Target="../media/image255.wmf"/><Relationship Id="rId4" Type="http://schemas.openxmlformats.org/officeDocument/2006/relationships/image" Target="../media/image252.wmf"/><Relationship Id="rId9" Type="http://schemas.openxmlformats.org/officeDocument/2006/relationships/oleObject" Target="../embeddings/oleObject43.bin"/></Relationships>
</file>

<file path=ppt/slides/_rels/slide70.xml.rels><?xml version="1.0" encoding="UTF-8" standalone="yes"?>
<Relationships xmlns="http://schemas.openxmlformats.org/package/2006/relationships"><Relationship Id="rId8" Type="http://schemas.openxmlformats.org/officeDocument/2006/relationships/image" Target="../media/image258.wmf"/><Relationship Id="rId13" Type="http://schemas.openxmlformats.org/officeDocument/2006/relationships/oleObject" Target="../embeddings/oleObject49.bin"/><Relationship Id="rId18" Type="http://schemas.openxmlformats.org/officeDocument/2006/relationships/image" Target="../media/image263.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260.wmf"/><Relationship Id="rId17" Type="http://schemas.openxmlformats.org/officeDocument/2006/relationships/oleObject" Target="../embeddings/oleObject51.bin"/><Relationship Id="rId2" Type="http://schemas.openxmlformats.org/officeDocument/2006/relationships/slideLayout" Target="../slideLayouts/slideLayout13.xml"/><Relationship Id="rId16" Type="http://schemas.openxmlformats.org/officeDocument/2006/relationships/image" Target="../media/image262.wmf"/><Relationship Id="rId1" Type="http://schemas.openxmlformats.org/officeDocument/2006/relationships/vmlDrawing" Target="../drawings/vmlDrawing10.vml"/><Relationship Id="rId6" Type="http://schemas.openxmlformats.org/officeDocument/2006/relationships/image" Target="../media/image257.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259.wmf"/><Relationship Id="rId4" Type="http://schemas.openxmlformats.org/officeDocument/2006/relationships/image" Target="../media/image256.wmf"/><Relationship Id="rId9" Type="http://schemas.openxmlformats.org/officeDocument/2006/relationships/oleObject" Target="../embeddings/oleObject47.bin"/><Relationship Id="rId14" Type="http://schemas.openxmlformats.org/officeDocument/2006/relationships/image" Target="../media/image261.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63.wmf"/></Relationships>
</file>

<file path=ppt/slides/_rels/slide72.xml.rels><?xml version="1.0" encoding="UTF-8" standalone="yes"?>
<Relationships xmlns="http://schemas.openxmlformats.org/package/2006/relationships"><Relationship Id="rId8" Type="http://schemas.openxmlformats.org/officeDocument/2006/relationships/image" Target="../media/image266.wmf"/><Relationship Id="rId3" Type="http://schemas.openxmlformats.org/officeDocument/2006/relationships/oleObject" Target="../embeddings/oleObject53.bin"/><Relationship Id="rId7" Type="http://schemas.openxmlformats.org/officeDocument/2006/relationships/oleObject" Target="../embeddings/oleObject55.bin"/><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image" Target="../media/image265.wmf"/><Relationship Id="rId5" Type="http://schemas.openxmlformats.org/officeDocument/2006/relationships/oleObject" Target="../embeddings/oleObject54.bin"/><Relationship Id="rId4" Type="http://schemas.openxmlformats.org/officeDocument/2006/relationships/image" Target="../media/image264.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56.bin"/><Relationship Id="rId7" Type="http://schemas.openxmlformats.org/officeDocument/2006/relationships/image" Target="../media/image269.jpeg"/><Relationship Id="rId2" Type="http://schemas.openxmlformats.org/officeDocument/2006/relationships/slideLayout" Target="../slideLayouts/slideLayout13.xml"/><Relationship Id="rId1" Type="http://schemas.openxmlformats.org/officeDocument/2006/relationships/vmlDrawing" Target="../drawings/vmlDrawing13.vml"/><Relationship Id="rId6" Type="http://schemas.openxmlformats.org/officeDocument/2006/relationships/image" Target="../media/image268.wmf"/><Relationship Id="rId5" Type="http://schemas.openxmlformats.org/officeDocument/2006/relationships/oleObject" Target="../embeddings/oleObject57.bin"/><Relationship Id="rId4" Type="http://schemas.openxmlformats.org/officeDocument/2006/relationships/image" Target="../media/image267.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8.bin"/><Relationship Id="rId7" Type="http://schemas.openxmlformats.org/officeDocument/2006/relationships/image" Target="../media/image272.jpeg"/><Relationship Id="rId2" Type="http://schemas.openxmlformats.org/officeDocument/2006/relationships/slideLayout" Target="../slideLayouts/slideLayout13.xml"/><Relationship Id="rId1" Type="http://schemas.openxmlformats.org/officeDocument/2006/relationships/vmlDrawing" Target="../drawings/vmlDrawing14.vml"/><Relationship Id="rId6" Type="http://schemas.openxmlformats.org/officeDocument/2006/relationships/image" Target="../media/image271.wmf"/><Relationship Id="rId5" Type="http://schemas.openxmlformats.org/officeDocument/2006/relationships/oleObject" Target="../embeddings/oleObject59.bin"/><Relationship Id="rId4" Type="http://schemas.openxmlformats.org/officeDocument/2006/relationships/image" Target="../media/image270.wmf"/></Relationships>
</file>

<file path=ppt/slides/_rels/slide75.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image" Target="../media/image278.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283.png"/><Relationship Id="rId7" Type="http://schemas.openxmlformats.org/officeDocument/2006/relationships/image" Target="../media/image280.wmf"/><Relationship Id="rId2" Type="http://schemas.openxmlformats.org/officeDocument/2006/relationships/slideLayout" Target="../slideLayouts/slideLayout13.xml"/><Relationship Id="rId1" Type="http://schemas.openxmlformats.org/officeDocument/2006/relationships/vmlDrawing" Target="../drawings/vmlDrawing15.vml"/><Relationship Id="rId6" Type="http://schemas.openxmlformats.org/officeDocument/2006/relationships/oleObject" Target="../embeddings/oleObject61.bin"/><Relationship Id="rId11" Type="http://schemas.openxmlformats.org/officeDocument/2006/relationships/image" Target="../media/image282.wmf"/><Relationship Id="rId5" Type="http://schemas.openxmlformats.org/officeDocument/2006/relationships/image" Target="../media/image279.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281.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84.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baijiahao.baidu.com/s?id=1756366127703752842&amp;wfr=spider&amp;for=pc"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5.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86.jpeg"/><Relationship Id="rId2" Type="http://schemas.openxmlformats.org/officeDocument/2006/relationships/hyperlink" Target="http://baike.baidu.com/view/271494.htm" TargetMode="External"/><Relationship Id="rId1" Type="http://schemas.openxmlformats.org/officeDocument/2006/relationships/slideLayout" Target="../slideLayouts/slideLayout2.xml"/><Relationship Id="rId4" Type="http://schemas.openxmlformats.org/officeDocument/2006/relationships/image" Target="../media/image287.jpeg"/></Relationships>
</file>

<file path=ppt/slides/_rels/slide83.xml.rels><?xml version="1.0" encoding="UTF-8" standalone="yes"?>
<Relationships xmlns="http://schemas.openxmlformats.org/package/2006/relationships"><Relationship Id="rId8" Type="http://schemas.openxmlformats.org/officeDocument/2006/relationships/image" Target="../media/image289.jpeg"/><Relationship Id="rId3" Type="http://schemas.openxmlformats.org/officeDocument/2006/relationships/hyperlink" Target="http://baike.baidu.com/view/19893.htm" TargetMode="External"/><Relationship Id="rId7" Type="http://schemas.openxmlformats.org/officeDocument/2006/relationships/image" Target="../media/image288.png"/><Relationship Id="rId2" Type="http://schemas.openxmlformats.org/officeDocument/2006/relationships/hyperlink" Target="http://baike.baidu.com/view/271494.htm" TargetMode="External"/><Relationship Id="rId1" Type="http://schemas.openxmlformats.org/officeDocument/2006/relationships/slideLayout" Target="../slideLayouts/slideLayout2.xml"/><Relationship Id="rId6" Type="http://schemas.openxmlformats.org/officeDocument/2006/relationships/hyperlink" Target="http://baike.baidu.com/view/1700785.htm" TargetMode="External"/><Relationship Id="rId5" Type="http://schemas.openxmlformats.org/officeDocument/2006/relationships/hyperlink" Target="http://baike.baidu.com/view/374671.htm" TargetMode="External"/><Relationship Id="rId4" Type="http://schemas.openxmlformats.org/officeDocument/2006/relationships/hyperlink" Target="http://baike.baidu.com/view/1209670.htm" TargetMode="External"/></Relationships>
</file>

<file path=ppt/slides/_rels/slide84.xml.rels><?xml version="1.0" encoding="UTF-8" standalone="yes"?>
<Relationships xmlns="http://schemas.openxmlformats.org/package/2006/relationships"><Relationship Id="rId8" Type="http://schemas.openxmlformats.org/officeDocument/2006/relationships/hyperlink" Target="http://baike.baidu.com/view/30612.htm" TargetMode="External"/><Relationship Id="rId3" Type="http://schemas.openxmlformats.org/officeDocument/2006/relationships/hyperlink" Target="http://baike.baidu.com/view/266577.htm" TargetMode="External"/><Relationship Id="rId7" Type="http://schemas.openxmlformats.org/officeDocument/2006/relationships/hyperlink" Target="http://baike.baidu.com/view/24299.htm" TargetMode="External"/><Relationship Id="rId2" Type="http://schemas.openxmlformats.org/officeDocument/2006/relationships/hyperlink" Target="http://baike.baidu.com/view/272162.htm" TargetMode="External"/><Relationship Id="rId1" Type="http://schemas.openxmlformats.org/officeDocument/2006/relationships/slideLayout" Target="../slideLayouts/slideLayout7.xml"/><Relationship Id="rId6" Type="http://schemas.openxmlformats.org/officeDocument/2006/relationships/hyperlink" Target="http://baike.baidu.com/view/3356.htm" TargetMode="External"/><Relationship Id="rId5" Type="http://schemas.openxmlformats.org/officeDocument/2006/relationships/hyperlink" Target="http://baike.baidu.com/view/266582.htm" TargetMode="External"/><Relationship Id="rId4" Type="http://schemas.openxmlformats.org/officeDocument/2006/relationships/hyperlink" Target="http://baike.baidu.com/view/266579.htm"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290.jpeg"/><Relationship Id="rId2" Type="http://schemas.openxmlformats.org/officeDocument/2006/relationships/hyperlink" Target="http://baike.baidu.com/view/30612.htm" TargetMode="External"/><Relationship Id="rId1" Type="http://schemas.openxmlformats.org/officeDocument/2006/relationships/slideLayout" Target="../slideLayouts/slideLayout7.xml"/><Relationship Id="rId4" Type="http://schemas.openxmlformats.org/officeDocument/2006/relationships/image" Target="../media/image291.jpg"/></Relationships>
</file>

<file path=ppt/slides/_rels/slide86.xml.rels><?xml version="1.0" encoding="UTF-8" standalone="yes"?>
<Relationships xmlns="http://schemas.openxmlformats.org/package/2006/relationships"><Relationship Id="rId8" Type="http://schemas.openxmlformats.org/officeDocument/2006/relationships/image" Target="../media/image293.jpeg"/><Relationship Id="rId3" Type="http://schemas.openxmlformats.org/officeDocument/2006/relationships/hyperlink" Target="https://baike.baidu.com/item/%E9%99%88%E5%86%AC/5465178" TargetMode="External"/><Relationship Id="rId7" Type="http://schemas.openxmlformats.org/officeDocument/2006/relationships/hyperlink" Target="https://baike.baidu.com/item/%E6%B1%A4%E6%B4%AA%E6%B3%A2/57276112" TargetMode="External"/><Relationship Id="rId2" Type="http://schemas.openxmlformats.org/officeDocument/2006/relationships/hyperlink" Target="https://baike.baidu.com/item/%E6%99%AF%E6%B5%B7%E9%B9%8F/45704" TargetMode="External"/><Relationship Id="rId1" Type="http://schemas.openxmlformats.org/officeDocument/2006/relationships/slideLayout" Target="../slideLayouts/slideLayout7.xml"/><Relationship Id="rId6" Type="http://schemas.openxmlformats.org/officeDocument/2006/relationships/hyperlink" Target="https://baike.baidu.com/item/%E5%88%98%E4%BC%AF%E6%98%8E/21889" TargetMode="External"/><Relationship Id="rId5" Type="http://schemas.openxmlformats.org/officeDocument/2006/relationships/hyperlink" Target="https://baike.baidu.com/item/%E8%81%82%E6%B5%B7%E8%83%9C/327234" TargetMode="External"/><Relationship Id="rId4" Type="http://schemas.openxmlformats.org/officeDocument/2006/relationships/image" Target="../media/image292.jpeg"/></Relationships>
</file>

<file path=ppt/slides/_rels/slide87.xml.rels><?xml version="1.0" encoding="UTF-8" standalone="yes"?>
<Relationships xmlns="http://schemas.openxmlformats.org/package/2006/relationships"><Relationship Id="rId3" Type="http://schemas.openxmlformats.org/officeDocument/2006/relationships/image" Target="../media/image302.jpeg"/><Relationship Id="rId2" Type="http://schemas.openxmlformats.org/officeDocument/2006/relationships/image" Target="../media/image301.png"/><Relationship Id="rId1" Type="http://schemas.openxmlformats.org/officeDocument/2006/relationships/slideLayout" Target="../slideLayouts/slideLayout7.xml"/><Relationship Id="rId6" Type="http://schemas.openxmlformats.org/officeDocument/2006/relationships/image" Target="../media/image313.png"/><Relationship Id="rId5" Type="http://schemas.openxmlformats.org/officeDocument/2006/relationships/image" Target="../media/image303.jpeg"/><Relationship Id="rId4" Type="http://schemas.openxmlformats.org/officeDocument/2006/relationships/hyperlink" Target="http://baike.baidu.com/view/30612.htm" TargetMode="External"/></Relationships>
</file>

<file path=ppt/slides/_rels/slide88.xml.rels><?xml version="1.0" encoding="UTF-8" standalone="yes"?>
<Relationships xmlns="http://schemas.openxmlformats.org/package/2006/relationships"><Relationship Id="rId13" Type="http://schemas.openxmlformats.org/officeDocument/2006/relationships/hyperlink" Target="https://baike.baidu.com/item/%E7%A5%9E%E8%88%9F%E4%B8%83%E5%8F%B7/0?fromModule=lemma_inlink" TargetMode="External"/><Relationship Id="rId18" Type="http://schemas.openxmlformats.org/officeDocument/2006/relationships/hyperlink" Target="https://baike.baidu.com/item/%E7%A5%9E%E8%88%9F%E4%B9%9D%E5%8F%B7/0?fromModule=lemma_inlink" TargetMode="External"/><Relationship Id="rId26" Type="http://schemas.openxmlformats.org/officeDocument/2006/relationships/hyperlink" Target="https://baike.baidu.com/item/%E7%A5%9E%E8%88%9F%E5%8D%81%E4%BA%8C%E5%8F%B7/24695455?fromModule=lemma_inlink" TargetMode="External"/><Relationship Id="rId39" Type="http://schemas.openxmlformats.org/officeDocument/2006/relationships/hyperlink" Target="https://baike.baidu.com/item/%E7%A5%9E%E8%88%9F%E5%8D%81%E4%B8%83%E5%8F%B7/58839380?fromModule=lemma_inlink" TargetMode="External"/><Relationship Id="rId21" Type="http://schemas.openxmlformats.org/officeDocument/2006/relationships/hyperlink" Target="https://baike.baidu.com/item/%E7%A5%9E%E8%88%9F%E5%8D%81%E5%8F%B7/0?fromModule=lemma_inlink" TargetMode="External"/><Relationship Id="rId34" Type="http://schemas.openxmlformats.org/officeDocument/2006/relationships/hyperlink" Target="https://baike.baidu.com/item/%E5%BC%A0%E9%99%86/62381191?fromModule=lemma_inlink" TargetMode="External"/><Relationship Id="rId42" Type="http://schemas.openxmlformats.org/officeDocument/2006/relationships/hyperlink" Target="https://baike.baidu.com/item/%E7%A5%9E%E8%88%9F%E5%8D%81%E5%85%AB%E5%8F%B7/61727219?fromModule=lemma_inlink" TargetMode="External"/><Relationship Id="rId7" Type="http://schemas.openxmlformats.org/officeDocument/2006/relationships/hyperlink" Target="https://baike.baidu.com/item/%E7%A5%9E%E8%88%9F%E5%9B%9B%E5%8F%B7/0?fromModule=lemma_inlink" TargetMode="External"/><Relationship Id="rId2" Type="http://schemas.openxmlformats.org/officeDocument/2006/relationships/notesSlide" Target="../notesSlides/notesSlide14.xml"/><Relationship Id="rId16" Type="http://schemas.openxmlformats.org/officeDocument/2006/relationships/hyperlink" Target="https://baike.baidu.com/item/%E6%99%AF%E6%B5%B7%E9%B9%8F/0?fromModule=lemma_inlink" TargetMode="External"/><Relationship Id="rId20" Type="http://schemas.openxmlformats.org/officeDocument/2006/relationships/hyperlink" Target="https://baike.baidu.com/item/%E5%88%98%E6%B4%8B/5146151?fromModule=lemma_inlink" TargetMode="External"/><Relationship Id="rId29" Type="http://schemas.openxmlformats.org/officeDocument/2006/relationships/hyperlink" Target="https://baike.baidu.com/item/%E5%8F%B6%E5%85%89%E5%AF%8C/45649?fromModule=lemma_inlink" TargetMode="External"/><Relationship Id="rId41" Type="http://schemas.openxmlformats.org/officeDocument/2006/relationships/hyperlink" Target="https://baike.baidu.com/item/%E6%B1%9F%E6%96%B0%E6%9E%97/63633256?fromModule=lemma_inlink" TargetMode="External"/><Relationship Id="rId1" Type="http://schemas.openxmlformats.org/officeDocument/2006/relationships/slideLayout" Target="../slideLayouts/slideLayout7.xml"/><Relationship Id="rId6" Type="http://schemas.openxmlformats.org/officeDocument/2006/relationships/hyperlink" Target="https://baike.baidu.com/item/%E7%A5%9E%E8%88%9F%E4%B8%89%E5%8F%B7/0?fromModule=lemma_inlink" TargetMode="External"/><Relationship Id="rId11" Type="http://schemas.openxmlformats.org/officeDocument/2006/relationships/hyperlink" Target="https://baike.baidu.com/item/%E8%B4%B9%E4%BF%8A%E9%BE%99/0?fromModule=lemma_inlink" TargetMode="External"/><Relationship Id="rId24" Type="http://schemas.openxmlformats.org/officeDocument/2006/relationships/hyperlink" Target="https://baike.baidu.com/item/%E7%A5%9E%E8%88%9F%E5%8D%81%E4%B8%80%E5%8F%B7/0?fromModule=lemma_inlink" TargetMode="External"/><Relationship Id="rId32" Type="http://schemas.openxmlformats.org/officeDocument/2006/relationships/hyperlink" Target="https://baike.baidu.com/item/%E7%A5%9E%E8%88%9F%E5%8D%81%E4%BA%94%E5%8F%B7/57961251?fromModule=lemma_inlink" TargetMode="External"/><Relationship Id="rId37" Type="http://schemas.openxmlformats.org/officeDocument/2006/relationships/hyperlink" Target="https://baike.baidu.com/item/%E6%9C%B1%E6%9D%A8%E6%9F%B1/63040865?fromModule=lemma_inlink" TargetMode="External"/><Relationship Id="rId40" Type="http://schemas.openxmlformats.org/officeDocument/2006/relationships/hyperlink" Target="https://baike.baidu.com/item/%E5%94%90%E8%83%9C%E6%9D%B0/63633241?fromModule=lemma_inlink" TargetMode="External"/><Relationship Id="rId5" Type="http://schemas.openxmlformats.org/officeDocument/2006/relationships/hyperlink" Target="https://baike.baidu.com/item/%E7%A5%9E%E8%88%9F%E4%BA%8C%E5%8F%B7/0?fromModule=lemma_inlink" TargetMode="External"/><Relationship Id="rId15" Type="http://schemas.openxmlformats.org/officeDocument/2006/relationships/hyperlink" Target="https://baike.baidu.com/item/%E5%88%98%E4%BC%AF%E6%98%8E/0?fromModule=lemma_inlink" TargetMode="External"/><Relationship Id="rId23" Type="http://schemas.openxmlformats.org/officeDocument/2006/relationships/hyperlink" Target="https://baike.baidu.com/item/%E7%8E%8B%E4%BA%9A%E5%B9%B3/0?fromModule=lemma_inlink" TargetMode="External"/><Relationship Id="rId28" Type="http://schemas.openxmlformats.org/officeDocument/2006/relationships/hyperlink" Target="https://baike.baidu.com/item/%E7%A5%9E%E8%88%9F%E5%8D%81%E4%B8%89%E5%8F%B7/57009923?fromModule=lemma_inlink" TargetMode="External"/><Relationship Id="rId36" Type="http://schemas.openxmlformats.org/officeDocument/2006/relationships/hyperlink" Target="https://baike.baidu.com/item/%E6%99%AF%E6%B5%B7%E9%B9%8F/45704?fromModule=lemma_inlink" TargetMode="External"/><Relationship Id="rId10" Type="http://schemas.openxmlformats.org/officeDocument/2006/relationships/hyperlink" Target="https://baike.baidu.com/item/%E7%A5%9E%E8%88%9F%E5%85%AD%E5%8F%B7/0?fromModule=lemma_inlink" TargetMode="External"/><Relationship Id="rId19" Type="http://schemas.openxmlformats.org/officeDocument/2006/relationships/hyperlink" Target="https://baike.baidu.com/item/%E5%88%98%E6%97%BA/0?fromModule=lemma_inlink" TargetMode="External"/><Relationship Id="rId31" Type="http://schemas.openxmlformats.org/officeDocument/2006/relationships/hyperlink" Target="https://baike.baidu.com/item/%E8%94%A1%E6%97%AD%E5%93%B2/58892341?fromModule=lemma_inlink" TargetMode="External"/><Relationship Id="rId44" Type="http://schemas.openxmlformats.org/officeDocument/2006/relationships/hyperlink" Target="https://baike.baidu.com/item/%E6%9D%8E%E5%B9%BF%E8%8B%8F/64329981?fromModule=lemma_inlink" TargetMode="External"/><Relationship Id="rId4" Type="http://schemas.openxmlformats.org/officeDocument/2006/relationships/hyperlink" Target="https://baike.baidu.com/item/%E9%85%92%E6%B3%89/226298?fromModule=lemma_inlink" TargetMode="External"/><Relationship Id="rId9" Type="http://schemas.openxmlformats.org/officeDocument/2006/relationships/hyperlink" Target="https://baike.baidu.com/item/%E6%9D%A8%E5%88%A9%E4%BC%9F/0?fromModule=lemma_inlink" TargetMode="External"/><Relationship Id="rId14" Type="http://schemas.openxmlformats.org/officeDocument/2006/relationships/hyperlink" Target="https://baike.baidu.com/item/%E7%BF%9F%E5%BF%97%E5%88%9A/0?fromModule=lemma_inlink" TargetMode="External"/><Relationship Id="rId22" Type="http://schemas.openxmlformats.org/officeDocument/2006/relationships/hyperlink" Target="https://baike.baidu.com/item/%E5%BC%A0%E6%99%93%E5%85%89/5471622?fromModule=lemma_inlink" TargetMode="External"/><Relationship Id="rId27" Type="http://schemas.openxmlformats.org/officeDocument/2006/relationships/hyperlink" Target="https://baike.baidu.com/item/%E6%B1%A4%E6%B4%AA%E6%B3%A2/57276112?fromModule=lemma_inlink" TargetMode="External"/><Relationship Id="rId30" Type="http://schemas.openxmlformats.org/officeDocument/2006/relationships/hyperlink" Target="https://baike.baidu.com/item/%E7%A5%9E%E8%88%9F%E5%8D%81%E5%9B%9B%E5%8F%B7/57942433?fromModule=lemma_inlink" TargetMode="External"/><Relationship Id="rId35" Type="http://schemas.openxmlformats.org/officeDocument/2006/relationships/hyperlink" Target="https://baike.baidu.com/item/%E7%A5%9E%E8%88%9F%E5%8D%81%E5%85%AD%E5%8F%B7/60821871?fromModule=lemma_inlink" TargetMode="External"/><Relationship Id="rId43" Type="http://schemas.openxmlformats.org/officeDocument/2006/relationships/hyperlink" Target="https://baike.baidu.com/item/%E6%9D%8E%E8%81%AA/64329986?fromModule=lemma_inlink" TargetMode="External"/><Relationship Id="rId8" Type="http://schemas.openxmlformats.org/officeDocument/2006/relationships/hyperlink" Target="https://baike.baidu.com/item/%E7%A5%9E%E8%88%9F%E4%BA%94%E5%8F%B7/0?fromModule=lemma_inlink" TargetMode="External"/><Relationship Id="rId3" Type="http://schemas.openxmlformats.org/officeDocument/2006/relationships/hyperlink" Target="https://baike.baidu.com/item/%E7%A5%9E%E8%88%9F%E4%B8%80%E5%8F%B7/0?fromModule=lemma_inlink" TargetMode="External"/><Relationship Id="rId12" Type="http://schemas.openxmlformats.org/officeDocument/2006/relationships/hyperlink" Target="https://baike.baidu.com/item/%E8%81%82%E6%B5%B7%E8%83%9C/0?fromModule=lemma_inlink" TargetMode="External"/><Relationship Id="rId17" Type="http://schemas.openxmlformats.org/officeDocument/2006/relationships/hyperlink" Target="https://baike.baidu.com/item/%E7%A5%9E%E8%88%9F%E5%85%AB%E5%8F%B7/0?fromModule=lemma_inlink" TargetMode="External"/><Relationship Id="rId25" Type="http://schemas.openxmlformats.org/officeDocument/2006/relationships/hyperlink" Target="https://baike.baidu.com/item/%E9%99%88%E5%86%AC/5465178?fromModule=lemma_inlink" TargetMode="External"/><Relationship Id="rId33" Type="http://schemas.openxmlformats.org/officeDocument/2006/relationships/hyperlink" Target="https://baike.baidu.com/item/%E9%82%93%E6%B8%85%E6%98%8E/5905501?fromModule=lemma_inlink" TargetMode="External"/><Relationship Id="rId38" Type="http://schemas.openxmlformats.org/officeDocument/2006/relationships/hyperlink" Target="https://baike.baidu.com/item/%E6%A1%82%E6%B5%B7%E6%BD%AE/63030972?fromModule=lemma_inlink" TargetMode="External"/></Relationships>
</file>

<file path=ppt/slides/_rels/slide89.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hyperlink" Target="http://baike.baidu.com/view/4353.htm" TargetMode="Externa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16.jpeg"/><Relationship Id="rId2" Type="http://schemas.openxmlformats.org/officeDocument/2006/relationships/image" Target="../media/image315.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318.jpg"/><Relationship Id="rId2" Type="http://schemas.openxmlformats.org/officeDocument/2006/relationships/image" Target="../media/image317.jpg"/><Relationship Id="rId1" Type="http://schemas.openxmlformats.org/officeDocument/2006/relationships/slideLayout" Target="../slideLayouts/slideLayout7.xml"/><Relationship Id="rId5" Type="http://schemas.openxmlformats.org/officeDocument/2006/relationships/image" Target="../media/image320.jpg"/><Relationship Id="rId4" Type="http://schemas.openxmlformats.org/officeDocument/2006/relationships/image" Target="../media/image319.jpg"/></Relationships>
</file>

<file path=ppt/slides/_rels/slide92.xml.rels><?xml version="1.0" encoding="UTF-8" standalone="yes"?>
<Relationships xmlns="http://schemas.openxmlformats.org/package/2006/relationships"><Relationship Id="rId8" Type="http://schemas.openxmlformats.org/officeDocument/2006/relationships/hyperlink" Target="https://baike.baidu.com/item/%E5%A4%A9%E8%88%9F%E8%B4%A7%E8%BF%90%E9%A3%9E%E8%88%B9/12755678?fromModule=lemma_inlink" TargetMode="External"/><Relationship Id="rId3" Type="http://schemas.openxmlformats.org/officeDocument/2006/relationships/hyperlink" Target="https://baike.baidu.com/item/%E5%A4%A9%E5%AE%AB/22537285?fromModule=lemma_inlink" TargetMode="External"/><Relationship Id="rId7" Type="http://schemas.openxmlformats.org/officeDocument/2006/relationships/hyperlink" Target="https://baike.baidu.com/item/%E5%A4%A9%E8%88%9F/54855292?fromModule=lemma_inlink" TargetMode="External"/><Relationship Id="rId2" Type="http://schemas.openxmlformats.org/officeDocument/2006/relationships/hyperlink" Target="https://baike.baidu.com/item/%E4%B8%AD%E5%9B%BD%E7%A9%BA%E9%97%B4%E7%AB%99/6287565?fr=aladdin#5_1" TargetMode="External"/><Relationship Id="rId1" Type="http://schemas.openxmlformats.org/officeDocument/2006/relationships/slideLayout" Target="../slideLayouts/slideLayout7.xml"/><Relationship Id="rId6" Type="http://schemas.openxmlformats.org/officeDocument/2006/relationships/hyperlink" Target="https://baike.baidu.com/item/%E6%A2%A6%E5%A4%A9/56111196?fromModule=lemma_inlink" TargetMode="External"/><Relationship Id="rId5" Type="http://schemas.openxmlformats.org/officeDocument/2006/relationships/hyperlink" Target="https://baike.baidu.com/item/%E9%97%AE%E5%A4%A9/56111140?fromModule=lemma_inlink" TargetMode="External"/><Relationship Id="rId10" Type="http://schemas.openxmlformats.org/officeDocument/2006/relationships/image" Target="../media/image321.jpeg"/><Relationship Id="rId4" Type="http://schemas.openxmlformats.org/officeDocument/2006/relationships/hyperlink" Target="https://baike.baidu.com/item/%E5%A4%A9%E5%92%8C/24279614?fromModule=lemma_inlink" TargetMode="External"/><Relationship Id="rId9" Type="http://schemas.openxmlformats.org/officeDocument/2006/relationships/hyperlink" Target="https://baike.baidu.com/item/%E4%B8%AD%E5%9B%BD%E7%A9%BA%E9%97%B4%E7%AB%99/6287565?fromtitle=%E5%A4%A9%E5%AE%AB&amp;fromid=225372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5A9406-D397-47B5-AB17-994DC4D28CF9}"/>
              </a:ext>
            </a:extLst>
          </p:cNvPr>
          <p:cNvSpPr>
            <a:spLocks noGrp="1"/>
          </p:cNvSpPr>
          <p:nvPr>
            <p:ph type="ctrTitle"/>
          </p:nvPr>
        </p:nvSpPr>
        <p:spPr>
          <a:xfrm>
            <a:off x="611560" y="188640"/>
            <a:ext cx="7772400" cy="1470025"/>
          </a:xfrm>
        </p:spPr>
        <p:txBody>
          <a:bodyPr/>
          <a:lstStyle/>
          <a:p>
            <a:r>
              <a:rPr lang="zh-CN" altLang="en-US" b="1"/>
              <a:t>通知</a:t>
            </a:r>
          </a:p>
        </p:txBody>
      </p:sp>
      <p:sp>
        <p:nvSpPr>
          <p:cNvPr id="3" name="副标题 2">
            <a:extLst>
              <a:ext uri="{FF2B5EF4-FFF2-40B4-BE49-F238E27FC236}">
                <a16:creationId xmlns:a16="http://schemas.microsoft.com/office/drawing/2014/main" id="{8A4E7E4D-4F50-47B9-88C0-65801373BEDE}"/>
              </a:ext>
            </a:extLst>
          </p:cNvPr>
          <p:cNvSpPr>
            <a:spLocks noGrp="1"/>
          </p:cNvSpPr>
          <p:nvPr>
            <p:ph type="subTitle" idx="1"/>
          </p:nvPr>
        </p:nvSpPr>
        <p:spPr>
          <a:xfrm>
            <a:off x="357300" y="1916832"/>
            <a:ext cx="8679196" cy="3888432"/>
          </a:xfrm>
        </p:spPr>
        <p:txBody>
          <a:bodyPr/>
          <a:lstStyle/>
          <a:p>
            <a:pPr algn="l"/>
            <a:r>
              <a:rPr lang="en-US" altLang="zh-CN" b="1"/>
              <a:t>     9</a:t>
            </a:r>
            <a:r>
              <a:rPr lang="zh-CN" altLang="en-US" b="1"/>
              <a:t>月</a:t>
            </a:r>
            <a:r>
              <a:rPr lang="en-US" altLang="zh-CN" b="1"/>
              <a:t>25</a:t>
            </a:r>
            <a:r>
              <a:rPr lang="zh-CN" altLang="en-US" b="1"/>
              <a:t>号（周四）上午第</a:t>
            </a:r>
            <a:r>
              <a:rPr lang="en-US" altLang="zh-CN" b="1"/>
              <a:t>2</a:t>
            </a:r>
            <a:r>
              <a:rPr lang="zh-CN" altLang="en-US" b="1"/>
              <a:t>节做第一章的测试，</a:t>
            </a:r>
            <a:r>
              <a:rPr lang="en-US" altLang="zh-CN" b="1"/>
              <a:t>5</a:t>
            </a:r>
            <a:r>
              <a:rPr lang="zh-CN" altLang="en-US" b="1"/>
              <a:t>道填空题（</a:t>
            </a:r>
            <a:r>
              <a:rPr lang="en-US" altLang="zh-CN" b="1"/>
              <a:t>25</a:t>
            </a:r>
            <a:r>
              <a:rPr lang="zh-CN" altLang="en-US" b="1"/>
              <a:t>分）、</a:t>
            </a:r>
            <a:r>
              <a:rPr lang="en-US" altLang="zh-CN" b="1"/>
              <a:t>5</a:t>
            </a:r>
            <a:r>
              <a:rPr lang="zh-CN" altLang="en-US" b="1"/>
              <a:t>道选择题（</a:t>
            </a:r>
            <a:r>
              <a:rPr lang="en-US" altLang="zh-CN" b="1"/>
              <a:t>25</a:t>
            </a:r>
            <a:r>
              <a:rPr lang="zh-CN" altLang="en-US" b="1"/>
              <a:t>分）、</a:t>
            </a:r>
            <a:r>
              <a:rPr lang="en-US" altLang="zh-CN" b="1"/>
              <a:t>2</a:t>
            </a:r>
            <a:r>
              <a:rPr lang="zh-CN" altLang="en-US" b="1"/>
              <a:t>道计算题（</a:t>
            </a:r>
            <a:r>
              <a:rPr lang="en-US" altLang="zh-CN" b="1"/>
              <a:t>50</a:t>
            </a:r>
            <a:r>
              <a:rPr lang="zh-CN" altLang="en-US" b="1"/>
              <a:t>分），本次考试不计入期末成绩，但成绩低于</a:t>
            </a:r>
            <a:r>
              <a:rPr lang="en-US" altLang="zh-CN" b="1"/>
              <a:t>60</a:t>
            </a:r>
            <a:r>
              <a:rPr lang="zh-CN" altLang="en-US" b="1"/>
              <a:t>分的需要找我分析原因！请做好准备！</a:t>
            </a:r>
            <a:endParaRPr lang="en-US" altLang="zh-CN" b="1"/>
          </a:p>
          <a:p>
            <a:pPr algn="l"/>
            <a:r>
              <a:rPr lang="zh-CN" altLang="en-US" b="1"/>
              <a:t>     特此通知！</a:t>
            </a:r>
            <a:endParaRPr lang="en-US" altLang="zh-CN" b="1"/>
          </a:p>
          <a:p>
            <a:pPr algn="l"/>
            <a:endParaRPr lang="zh-CN" altLang="en-US" b="1"/>
          </a:p>
        </p:txBody>
      </p:sp>
    </p:spTree>
    <p:extLst>
      <p:ext uri="{BB962C8B-B14F-4D97-AF65-F5344CB8AC3E}">
        <p14:creationId xmlns:p14="http://schemas.microsoft.com/office/powerpoint/2010/main" val="2602150628"/>
      </p:ext>
    </p:extLst>
  </p:cSld>
  <p:clrMapOvr>
    <a:masterClrMapping/>
  </p:clrMapOvr>
  <p:transition>
    <p:checke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611560" y="404664"/>
            <a:ext cx="74533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gn="ctr" eaLnBrk="1" hangingPunct="1">
              <a:spcBef>
                <a:spcPct val="50000"/>
              </a:spcBef>
            </a:pPr>
            <a:r>
              <a:rPr lang="zh-CN" altLang="en-US" sz="3200" b="1" dirty="0">
                <a:solidFill>
                  <a:srgbClr val="3333FF"/>
                </a:solidFill>
              </a:rPr>
              <a:t>第二章  运动的守恒量和守恒定律</a:t>
            </a:r>
          </a:p>
        </p:txBody>
      </p:sp>
      <p:sp>
        <p:nvSpPr>
          <p:cNvPr id="80899" name="Rectangle 3"/>
          <p:cNvSpPr>
            <a:spLocks noChangeArrowheads="1"/>
          </p:cNvSpPr>
          <p:nvPr/>
        </p:nvSpPr>
        <p:spPr bwMode="auto">
          <a:xfrm>
            <a:off x="762000" y="1304925"/>
            <a:ext cx="7993063"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150000"/>
              </a:lnSpc>
              <a:spcBef>
                <a:spcPct val="20000"/>
              </a:spcBef>
              <a:tabLst>
                <a:tab pos="228600" algn="l"/>
              </a:tabLst>
            </a:pPr>
            <a:r>
              <a:rPr lang="zh-CN" altLang="en-US" sz="2800" b="1">
                <a:solidFill>
                  <a:srgbClr val="FF0000"/>
                </a:solidFill>
              </a:rPr>
              <a:t>守  恒  量：</a:t>
            </a:r>
            <a:r>
              <a:rPr lang="zh-CN" altLang="en-US" sz="2000" b="1">
                <a:cs typeface="Times New Roman" pitchFamily="18" charset="0"/>
              </a:rPr>
              <a:t>动量，能量，角动量</a:t>
            </a:r>
            <a:endParaRPr lang="en-US" altLang="zh-CN" sz="2000" b="1">
              <a:cs typeface="Times New Roman" pitchFamily="18" charset="0"/>
            </a:endParaRPr>
          </a:p>
          <a:p>
            <a:pPr>
              <a:lnSpc>
                <a:spcPct val="150000"/>
              </a:lnSpc>
              <a:spcBef>
                <a:spcPct val="20000"/>
              </a:spcBef>
              <a:tabLst>
                <a:tab pos="228600" algn="l"/>
              </a:tabLst>
            </a:pPr>
            <a:r>
              <a:rPr lang="zh-CN" altLang="en-US" sz="2800" b="1">
                <a:solidFill>
                  <a:srgbClr val="FF0000"/>
                </a:solidFill>
                <a:cs typeface="Times New Roman" pitchFamily="18" charset="0"/>
              </a:rPr>
              <a:t>守恒定律：</a:t>
            </a:r>
            <a:r>
              <a:rPr lang="zh-CN" altLang="en-US" sz="2000" b="1"/>
              <a:t>动量守恒，机械能守恒，角动量守恒</a:t>
            </a:r>
            <a:endParaRPr lang="en-US" altLang="zh-CN" sz="2000" b="1">
              <a:solidFill>
                <a:srgbClr val="FF0000"/>
              </a:solidFill>
            </a:endParaRPr>
          </a:p>
          <a:p>
            <a:pPr>
              <a:lnSpc>
                <a:spcPct val="150000"/>
              </a:lnSpc>
              <a:spcBef>
                <a:spcPct val="20000"/>
              </a:spcBef>
              <a:tabLst>
                <a:tab pos="228600" algn="l"/>
              </a:tabLst>
            </a:pPr>
            <a:r>
              <a:rPr lang="zh-CN" altLang="en-US" sz="2800" b="1">
                <a:solidFill>
                  <a:srgbClr val="FF0000"/>
                </a:solidFill>
              </a:rPr>
              <a:t>目的</a:t>
            </a:r>
            <a:r>
              <a:rPr lang="en-US" altLang="zh-CN" sz="2800" b="1">
                <a:solidFill>
                  <a:srgbClr val="FF0000"/>
                </a:solidFill>
              </a:rPr>
              <a:t>:</a:t>
            </a:r>
          </a:p>
          <a:p>
            <a:pPr lvl="1">
              <a:lnSpc>
                <a:spcPct val="150000"/>
              </a:lnSpc>
              <a:spcBef>
                <a:spcPct val="20000"/>
              </a:spcBef>
              <a:tabLst>
                <a:tab pos="228600" algn="l"/>
              </a:tabLst>
            </a:pPr>
            <a:r>
              <a:rPr lang="zh-CN" altLang="en-US" sz="2000" b="1"/>
              <a:t>掌握动量定理</a:t>
            </a:r>
            <a:r>
              <a:rPr lang="en-US" altLang="zh-CN" sz="2000" b="1"/>
              <a:t>,</a:t>
            </a:r>
            <a:r>
              <a:rPr lang="zh-CN" altLang="en-US" sz="2000" b="1"/>
              <a:t>动量守恒定律</a:t>
            </a:r>
          </a:p>
          <a:p>
            <a:pPr lvl="1">
              <a:lnSpc>
                <a:spcPct val="150000"/>
              </a:lnSpc>
              <a:spcBef>
                <a:spcPct val="20000"/>
              </a:spcBef>
              <a:tabLst>
                <a:tab pos="228600" algn="l"/>
              </a:tabLst>
            </a:pPr>
            <a:r>
              <a:rPr lang="zh-CN" altLang="en-US" sz="2000" b="1"/>
              <a:t>理解动量</a:t>
            </a:r>
            <a:r>
              <a:rPr lang="en-US" altLang="zh-CN" sz="2000" b="1"/>
              <a:t>,</a:t>
            </a:r>
            <a:r>
              <a:rPr lang="zh-CN" altLang="en-US" sz="2000" b="1"/>
              <a:t>动能</a:t>
            </a:r>
            <a:r>
              <a:rPr lang="en-US" altLang="zh-CN" sz="2000" b="1"/>
              <a:t>,</a:t>
            </a:r>
            <a:r>
              <a:rPr lang="zh-CN" altLang="en-US" sz="2000" b="1"/>
              <a:t>角动量的概念及彼此的联系</a:t>
            </a:r>
          </a:p>
          <a:p>
            <a:pPr>
              <a:lnSpc>
                <a:spcPct val="150000"/>
              </a:lnSpc>
              <a:spcBef>
                <a:spcPct val="20000"/>
              </a:spcBef>
              <a:tabLst>
                <a:tab pos="228600" algn="l"/>
              </a:tabLst>
            </a:pPr>
            <a:r>
              <a:rPr lang="zh-CN" altLang="en-US" sz="2800" b="1">
                <a:solidFill>
                  <a:srgbClr val="FF0000"/>
                </a:solidFill>
              </a:rPr>
              <a:t>重点</a:t>
            </a:r>
            <a:r>
              <a:rPr lang="en-US" altLang="zh-CN" sz="2800" b="1">
                <a:solidFill>
                  <a:srgbClr val="FF0000"/>
                </a:solidFill>
              </a:rPr>
              <a:t>:</a:t>
            </a:r>
            <a:r>
              <a:rPr lang="zh-CN" altLang="en-US" sz="2000" b="1"/>
              <a:t>动量定理</a:t>
            </a:r>
            <a:r>
              <a:rPr lang="en-US" altLang="zh-CN" sz="2000" b="1"/>
              <a:t>,</a:t>
            </a:r>
            <a:r>
              <a:rPr lang="zh-CN" altLang="en-US" sz="2000" b="1"/>
              <a:t>动量守恒定律</a:t>
            </a:r>
            <a:r>
              <a:rPr lang="en-US" altLang="zh-CN" sz="2000" b="1"/>
              <a:t>,</a:t>
            </a:r>
            <a:r>
              <a:rPr lang="zh-CN" altLang="en-US" sz="2000" b="1"/>
              <a:t>动能定理</a:t>
            </a:r>
            <a:r>
              <a:rPr lang="en-US" altLang="zh-CN" sz="2000" b="1"/>
              <a:t>,</a:t>
            </a:r>
            <a:r>
              <a:rPr lang="zh-CN" altLang="en-US" sz="2000" b="1"/>
              <a:t>功能原理，机械能守恒定律</a:t>
            </a:r>
            <a:r>
              <a:rPr lang="en-US" altLang="zh-CN" sz="2000" b="1"/>
              <a:t>,</a:t>
            </a:r>
            <a:endParaRPr lang="zh-CN" altLang="en-US" sz="2000" b="1"/>
          </a:p>
          <a:p>
            <a:pPr>
              <a:lnSpc>
                <a:spcPct val="150000"/>
              </a:lnSpc>
              <a:spcBef>
                <a:spcPct val="20000"/>
              </a:spcBef>
              <a:tabLst>
                <a:tab pos="228600" algn="l"/>
              </a:tabLst>
            </a:pPr>
            <a:r>
              <a:rPr lang="zh-CN" altLang="en-US" sz="2800" b="1">
                <a:solidFill>
                  <a:srgbClr val="FF0000"/>
                </a:solidFill>
              </a:rPr>
              <a:t>难点</a:t>
            </a:r>
            <a:r>
              <a:rPr lang="en-US" altLang="zh-CN" sz="2800" b="1">
                <a:solidFill>
                  <a:srgbClr val="FF0000"/>
                </a:solidFill>
              </a:rPr>
              <a:t>:</a:t>
            </a:r>
            <a:r>
              <a:rPr lang="zh-CN" altLang="en-US" sz="2000" b="1"/>
              <a:t>质点的角动量和角动量守恒定律 </a:t>
            </a:r>
          </a:p>
        </p:txBody>
      </p:sp>
    </p:spTree>
  </p:cSld>
  <p:clrMapOvr>
    <a:masterClrMapping/>
  </p:clrMapOvr>
  <p:transition>
    <p:checke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84D299D2-1B50-42DC-AD03-BB37C0F6A8AA}" type="slidenum">
              <a:rPr lang="en-US" altLang="zh-CN"/>
              <a:pPr>
                <a:defRPr/>
              </a:pPr>
              <a:t>3</a:t>
            </a:fld>
            <a:endParaRPr lang="en-US" altLang="zh-CN"/>
          </a:p>
        </p:txBody>
      </p:sp>
      <p:sp>
        <p:nvSpPr>
          <p:cNvPr id="33798" name="Rectangle 6"/>
          <p:cNvSpPr>
            <a:spLocks noChangeArrowheads="1"/>
          </p:cNvSpPr>
          <p:nvPr/>
        </p:nvSpPr>
        <p:spPr bwMode="auto">
          <a:xfrm>
            <a:off x="465138" y="4346575"/>
            <a:ext cx="8197850"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5000"/>
              </a:lnSpc>
              <a:spcBef>
                <a:spcPct val="20000"/>
              </a:spcBef>
            </a:pPr>
            <a:r>
              <a:rPr lang="en-US" altLang="zh-CN" b="1"/>
              <a:t>  </a:t>
            </a:r>
            <a:r>
              <a:rPr lang="zh-CN" altLang="en-US" b="1"/>
              <a:t>本章从牛顿力学出发给出动量和角动量的定义，推导这两个守恒定律，并讨论它们在牛顿力学中的应用。</a:t>
            </a:r>
            <a:br>
              <a:rPr lang="en-US" altLang="zh-CN" b="1"/>
            </a:br>
            <a:r>
              <a:rPr lang="zh-CN" altLang="en-US" b="1"/>
              <a:t>从功的定义，引出动能和势能，推导出机械能守恒定律。</a:t>
            </a:r>
          </a:p>
        </p:txBody>
      </p:sp>
      <p:sp>
        <p:nvSpPr>
          <p:cNvPr id="33799" name="Rectangle 7"/>
          <p:cNvSpPr>
            <a:spLocks noChangeArrowheads="1"/>
          </p:cNvSpPr>
          <p:nvPr/>
        </p:nvSpPr>
        <p:spPr bwMode="auto">
          <a:xfrm>
            <a:off x="379413" y="504825"/>
            <a:ext cx="83169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5000"/>
              </a:lnSpc>
              <a:spcBef>
                <a:spcPct val="20000"/>
              </a:spcBef>
            </a:pPr>
            <a:r>
              <a:rPr lang="en-US" altLang="zh-CN" b="1"/>
              <a:t>  </a:t>
            </a:r>
            <a:r>
              <a:rPr lang="zh-CN" altLang="en-US" b="1"/>
              <a:t>能量、动量和角动量是最基本的守恒量。它们的守恒定律是自然界中的基本规律，适用范围远远超出了牛顿力学。</a:t>
            </a:r>
          </a:p>
        </p:txBody>
      </p:sp>
      <p:sp>
        <p:nvSpPr>
          <p:cNvPr id="33802" name="Rectangle 10"/>
          <p:cNvSpPr>
            <a:spLocks noChangeArrowheads="1"/>
          </p:cNvSpPr>
          <p:nvPr/>
        </p:nvSpPr>
        <p:spPr bwMode="auto">
          <a:xfrm>
            <a:off x="755650" y="1989138"/>
            <a:ext cx="6667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pPr>
            <a:r>
              <a:rPr lang="zh-CN" altLang="en-US" b="1" dirty="0">
                <a:solidFill>
                  <a:srgbClr val="3333FF"/>
                </a:solidFill>
              </a:rPr>
              <a:t>动量</a:t>
            </a:r>
            <a:r>
              <a:rPr lang="zh-CN" altLang="en-US" b="1" dirty="0"/>
              <a:t>描述平动，</a:t>
            </a:r>
            <a:r>
              <a:rPr lang="zh-CN" altLang="en-US" b="1" dirty="0">
                <a:solidFill>
                  <a:srgbClr val="3333FF"/>
                </a:solidFill>
              </a:rPr>
              <a:t>角动量</a:t>
            </a:r>
            <a:r>
              <a:rPr lang="zh-CN" altLang="en-US" b="1" dirty="0"/>
              <a:t>描述转动。</a:t>
            </a:r>
          </a:p>
        </p:txBody>
      </p:sp>
      <p:sp>
        <p:nvSpPr>
          <p:cNvPr id="33803" name="Rectangle 11"/>
          <p:cNvSpPr>
            <a:spLocks noChangeArrowheads="1"/>
          </p:cNvSpPr>
          <p:nvPr/>
        </p:nvSpPr>
        <p:spPr bwMode="auto">
          <a:xfrm>
            <a:off x="323850" y="2781300"/>
            <a:ext cx="8158163" cy="97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5000"/>
              </a:lnSpc>
              <a:spcBef>
                <a:spcPct val="20000"/>
              </a:spcBef>
            </a:pPr>
            <a:r>
              <a:rPr lang="zh-CN" altLang="en-US" b="1">
                <a:solidFill>
                  <a:srgbClr val="3333FF"/>
                </a:solidFill>
              </a:rPr>
              <a:t>力</a:t>
            </a:r>
            <a:r>
              <a:rPr lang="zh-CN" altLang="en-US" b="1" dirty="0">
                <a:solidFill>
                  <a:srgbClr val="3333FF"/>
                </a:solidFill>
              </a:rPr>
              <a:t>的时间积累（冲量</a:t>
            </a:r>
            <a:r>
              <a:rPr lang="zh-CN" altLang="en-US" b="1" dirty="0"/>
              <a:t>）引起动量的变化；</a:t>
            </a:r>
            <a:r>
              <a:rPr lang="zh-CN" altLang="en-US" b="1" dirty="0">
                <a:solidFill>
                  <a:srgbClr val="3333FF"/>
                </a:solidFill>
              </a:rPr>
              <a:t>力矩的时间积累</a:t>
            </a:r>
            <a:r>
              <a:rPr lang="zh-CN" altLang="en-US" b="1" dirty="0"/>
              <a:t>引起角动量</a:t>
            </a:r>
            <a:r>
              <a:rPr lang="zh-CN" altLang="en-US" b="1"/>
              <a:t>的变化；</a:t>
            </a:r>
            <a:r>
              <a:rPr lang="zh-CN" altLang="en-US" b="1">
                <a:solidFill>
                  <a:srgbClr val="3333FF"/>
                </a:solidFill>
              </a:rPr>
              <a:t>力的空间的积累</a:t>
            </a:r>
            <a:r>
              <a:rPr lang="zh-CN" altLang="en-US" b="1"/>
              <a:t>引起动能的变化。</a:t>
            </a:r>
            <a:endParaRPr lang="zh-CN" altLang="en-US" b="1" dirty="0"/>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37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8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80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37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autoUpdateAnimBg="0"/>
      <p:bldP spid="33799" grpId="0" autoUpdateAnimBg="0"/>
      <p:bldP spid="33802" grpId="0" autoUpdateAnimBg="0"/>
      <p:bldP spid="3380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2783450" y="840151"/>
            <a:ext cx="5326528" cy="1853247"/>
            <a:chOff x="0" y="0"/>
            <a:chExt cx="2568" cy="954"/>
          </a:xfrm>
        </p:grpSpPr>
        <p:pic>
          <p:nvPicPr>
            <p:cNvPr id="95236" name="Picture 4" descr="http://slxy.jgsu.edu.cn/syzx_jcwl/phyweb/wlkc/p01/ch04/navigate/image/nav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568" cy="95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hlinkClick r:id="rId3"/>
            </p:cNvPr>
            <p:cNvSpPr>
              <a:spLocks noChangeArrowheads="1"/>
            </p:cNvSpPr>
            <p:nvPr/>
          </p:nvSpPr>
          <p:spPr bwMode="auto">
            <a:xfrm>
              <a:off x="2028" y="630"/>
              <a:ext cx="510"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4" name="Rectangle 7">
              <a:hlinkClick r:id="rId4"/>
            </p:cNvPr>
            <p:cNvSpPr>
              <a:spLocks noChangeArrowheads="1"/>
            </p:cNvSpPr>
            <p:nvPr/>
          </p:nvSpPr>
          <p:spPr bwMode="auto">
            <a:xfrm>
              <a:off x="1224" y="522"/>
              <a:ext cx="5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5" name="Rectangle 6">
              <a:hlinkClick r:id="rId5"/>
            </p:cNvPr>
            <p:cNvSpPr>
              <a:spLocks noChangeArrowheads="1"/>
            </p:cNvSpPr>
            <p:nvPr/>
          </p:nvSpPr>
          <p:spPr bwMode="auto">
            <a:xfrm>
              <a:off x="306" y="516"/>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6" name="Rectangle 5">
              <a:hlinkClick r:id="rId6"/>
            </p:cNvPr>
            <p:cNvSpPr>
              <a:spLocks noChangeArrowheads="1"/>
            </p:cNvSpPr>
            <p:nvPr/>
          </p:nvSpPr>
          <p:spPr bwMode="auto">
            <a:xfrm>
              <a:off x="552" y="30"/>
              <a:ext cx="498" cy="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95235" name="Picture 3" descr="http://slxy.jgsu.edu.cn/syzx_jcwl/phyweb/wlkc/p01/ch04/image/zsdh1.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688" y="201321"/>
            <a:ext cx="4876800" cy="38100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25"/>
          <p:cNvGrpSpPr>
            <a:grpSpLocks/>
          </p:cNvGrpSpPr>
          <p:nvPr/>
        </p:nvGrpSpPr>
        <p:grpSpPr bwMode="auto">
          <a:xfrm>
            <a:off x="2788845" y="2801959"/>
            <a:ext cx="5762368" cy="1984456"/>
            <a:chOff x="98" y="-533"/>
            <a:chExt cx="2748" cy="947"/>
          </a:xfrm>
        </p:grpSpPr>
        <p:pic>
          <p:nvPicPr>
            <p:cNvPr id="38939" name="Picture 27" descr="http://slxy.jgsu.edu.cn/syzx_jcwl/phyweb/wlkc/p01/ch03/navigate/image/navigate03.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 y="-533"/>
              <a:ext cx="2748" cy="93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37">
              <a:hlinkClick r:id="rId9"/>
            </p:cNvPr>
            <p:cNvSpPr>
              <a:spLocks noChangeArrowheads="1"/>
            </p:cNvSpPr>
            <p:nvPr/>
          </p:nvSpPr>
          <p:spPr bwMode="auto">
            <a:xfrm>
              <a:off x="942" y="276"/>
              <a:ext cx="498"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Rectangle 36">
              <a:hlinkClick r:id="rId9"/>
            </p:cNvPr>
            <p:cNvSpPr>
              <a:spLocks noChangeArrowheads="1"/>
            </p:cNvSpPr>
            <p:nvPr/>
          </p:nvSpPr>
          <p:spPr bwMode="auto">
            <a:xfrm>
              <a:off x="936" y="36"/>
              <a:ext cx="504"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Rectangle 35">
              <a:hlinkClick r:id="rId5"/>
            </p:cNvPr>
            <p:cNvSpPr>
              <a:spLocks noChangeArrowheads="1"/>
            </p:cNvSpPr>
            <p:nvPr/>
          </p:nvSpPr>
          <p:spPr bwMode="auto">
            <a:xfrm>
              <a:off x="1860" y="264"/>
              <a:ext cx="486"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Rectangle 34">
              <a:hlinkClick r:id="rId5"/>
            </p:cNvPr>
            <p:cNvSpPr>
              <a:spLocks noChangeArrowheads="1"/>
            </p:cNvSpPr>
            <p:nvPr/>
          </p:nvSpPr>
          <p:spPr bwMode="auto">
            <a:xfrm>
              <a:off x="1854" y="36"/>
              <a:ext cx="504"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Rectangle 28">
              <a:hlinkClick r:id="rId6"/>
            </p:cNvPr>
            <p:cNvSpPr>
              <a:spLocks noChangeArrowheads="1"/>
            </p:cNvSpPr>
            <p:nvPr/>
          </p:nvSpPr>
          <p:spPr bwMode="auto">
            <a:xfrm>
              <a:off x="138" y="150"/>
              <a:ext cx="510" cy="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9" name="矩形 28"/>
          <p:cNvSpPr/>
          <p:nvPr/>
        </p:nvSpPr>
        <p:spPr>
          <a:xfrm>
            <a:off x="435025" y="1266545"/>
            <a:ext cx="2348425" cy="830997"/>
          </a:xfrm>
          <a:prstGeom prst="rect">
            <a:avLst/>
          </a:prstGeom>
        </p:spPr>
        <p:txBody>
          <a:bodyPr wrap="square">
            <a:spAutoFit/>
          </a:bodyPr>
          <a:lstStyle/>
          <a:p>
            <a:r>
              <a:rPr lang="zh-CN" altLang="en-US" b="1" dirty="0">
                <a:solidFill>
                  <a:srgbClr val="3333FF"/>
                </a:solidFill>
              </a:rPr>
              <a:t>力的时间积累（冲量</a:t>
            </a:r>
            <a:r>
              <a:rPr lang="zh-CN" altLang="en-US" b="1" dirty="0"/>
              <a:t>）</a:t>
            </a:r>
            <a:endParaRPr lang="en-US" altLang="zh-CN" b="1" dirty="0"/>
          </a:p>
        </p:txBody>
      </p:sp>
      <p:sp>
        <p:nvSpPr>
          <p:cNvPr id="30" name="矩形 29"/>
          <p:cNvSpPr/>
          <p:nvPr/>
        </p:nvSpPr>
        <p:spPr>
          <a:xfrm>
            <a:off x="691787" y="3664859"/>
            <a:ext cx="1626278" cy="830997"/>
          </a:xfrm>
          <a:prstGeom prst="rect">
            <a:avLst/>
          </a:prstGeom>
        </p:spPr>
        <p:txBody>
          <a:bodyPr wrap="square">
            <a:spAutoFit/>
          </a:bodyPr>
          <a:lstStyle/>
          <a:p>
            <a:r>
              <a:rPr lang="zh-CN" altLang="en-US" b="1" dirty="0">
                <a:solidFill>
                  <a:srgbClr val="3333FF"/>
                </a:solidFill>
              </a:rPr>
              <a:t>力的空间积累（功）</a:t>
            </a:r>
            <a:endParaRPr lang="zh-CN" altLang="en-US" dirty="0"/>
          </a:p>
        </p:txBody>
      </p:sp>
      <p:pic>
        <p:nvPicPr>
          <p:cNvPr id="31" name="图片 3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83450" y="4831539"/>
            <a:ext cx="5556962" cy="1837821"/>
          </a:xfrm>
          <a:prstGeom prst="rect">
            <a:avLst/>
          </a:prstGeom>
        </p:spPr>
      </p:pic>
      <p:sp>
        <p:nvSpPr>
          <p:cNvPr id="32" name="矩形 31"/>
          <p:cNvSpPr/>
          <p:nvPr/>
        </p:nvSpPr>
        <p:spPr>
          <a:xfrm>
            <a:off x="712255" y="5334950"/>
            <a:ext cx="1793964" cy="1200329"/>
          </a:xfrm>
          <a:prstGeom prst="rect">
            <a:avLst/>
          </a:prstGeom>
        </p:spPr>
        <p:txBody>
          <a:bodyPr wrap="square">
            <a:spAutoFit/>
          </a:bodyPr>
          <a:lstStyle/>
          <a:p>
            <a:r>
              <a:rPr lang="zh-CN" altLang="en-US" b="1" dirty="0">
                <a:solidFill>
                  <a:srgbClr val="3333FF"/>
                </a:solidFill>
              </a:rPr>
              <a:t>力矩的时间和</a:t>
            </a:r>
            <a:r>
              <a:rPr lang="zh-CN" altLang="en-US" b="1">
                <a:solidFill>
                  <a:srgbClr val="3333FF"/>
                </a:solidFill>
              </a:rPr>
              <a:t>空间积累</a:t>
            </a:r>
            <a:endParaRPr lang="en-US" altLang="zh-CN" b="1">
              <a:solidFill>
                <a:srgbClr val="3333FF"/>
              </a:solidFill>
            </a:endParaRPr>
          </a:p>
          <a:p>
            <a:r>
              <a:rPr lang="zh-CN" altLang="en-US" b="1">
                <a:solidFill>
                  <a:srgbClr val="FF0000"/>
                </a:solidFill>
              </a:rPr>
              <a:t>（第三章）</a:t>
            </a:r>
            <a:endParaRPr lang="zh-CN" altLang="en-US" dirty="0">
              <a:solidFill>
                <a:srgbClr val="FF0000"/>
              </a:solidFill>
            </a:endParaRPr>
          </a:p>
        </p:txBody>
      </p:sp>
    </p:spTree>
    <p:extLst>
      <p:ext uri="{BB962C8B-B14F-4D97-AF65-F5344CB8AC3E}">
        <p14:creationId xmlns:p14="http://schemas.microsoft.com/office/powerpoint/2010/main" val="1635886637"/>
      </p:ext>
    </p:extLst>
  </p:cSld>
  <p:clrMapOvr>
    <a:masterClrMapping/>
  </p:clrMapOvr>
  <p:transition>
    <p:checker dir="vert"/>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36" name="Text Box 16"/>
          <p:cNvSpPr txBox="1">
            <a:spLocks noChangeArrowheads="1"/>
          </p:cNvSpPr>
          <p:nvPr/>
        </p:nvSpPr>
        <p:spPr bwMode="auto">
          <a:xfrm>
            <a:off x="677862" y="1803399"/>
            <a:ext cx="7788275"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5000"/>
              </a:lnSpc>
              <a:spcBef>
                <a:spcPct val="20000"/>
              </a:spcBef>
              <a:buFontTx/>
              <a:buChar char="•"/>
            </a:pPr>
            <a:r>
              <a:rPr lang="zh-CN" altLang="en-US" b="1">
                <a:ea typeface="宋体" pitchFamily="2" charset="-122"/>
              </a:rPr>
              <a:t>牛顿第二定律</a:t>
            </a:r>
            <a:r>
              <a:rPr lang="en-US" altLang="zh-CN" b="1">
                <a:ea typeface="宋体" pitchFamily="2" charset="-122"/>
              </a:rPr>
              <a:t>——</a:t>
            </a:r>
            <a:r>
              <a:rPr lang="zh-CN" altLang="en-US" b="1">
                <a:ea typeface="宋体" pitchFamily="2" charset="-122"/>
              </a:rPr>
              <a:t>外力的作用，质点产生加速度，运动状态发生变化</a:t>
            </a:r>
            <a:r>
              <a:rPr lang="en-US" altLang="zh-CN" b="1">
                <a:ea typeface="宋体" pitchFamily="2" charset="-122"/>
              </a:rPr>
              <a:t>,</a:t>
            </a:r>
            <a:r>
              <a:rPr lang="zh-CN" altLang="en-US" b="1">
                <a:ea typeface="宋体" pitchFamily="2" charset="-122"/>
              </a:rPr>
              <a:t>考虑的是</a:t>
            </a:r>
            <a:r>
              <a:rPr lang="zh-CN" altLang="en-US" b="1">
                <a:solidFill>
                  <a:srgbClr val="FF0000"/>
                </a:solidFill>
                <a:ea typeface="宋体" pitchFamily="2" charset="-122"/>
              </a:rPr>
              <a:t>力的瞬时效果</a:t>
            </a:r>
            <a:r>
              <a:rPr lang="zh-CN" altLang="en-US" b="1">
                <a:ea typeface="宋体" pitchFamily="2" charset="-122"/>
              </a:rPr>
              <a:t>。</a:t>
            </a:r>
          </a:p>
          <a:p>
            <a:pPr eaLnBrk="1" hangingPunct="1">
              <a:lnSpc>
                <a:spcPct val="125000"/>
              </a:lnSpc>
              <a:spcBef>
                <a:spcPct val="20000"/>
              </a:spcBef>
              <a:buFontTx/>
              <a:buChar char="•"/>
            </a:pPr>
            <a:r>
              <a:rPr lang="zh-CN" altLang="en-US" b="1">
                <a:ea typeface="宋体" pitchFamily="2" charset="-122"/>
              </a:rPr>
              <a:t>力的作用需要持续一段时间，或者需要持续一段距离，这就是</a:t>
            </a:r>
            <a:r>
              <a:rPr lang="zh-CN" altLang="en-US" b="1">
                <a:solidFill>
                  <a:srgbClr val="FF3300"/>
                </a:solidFill>
                <a:ea typeface="宋体" pitchFamily="2" charset="-122"/>
              </a:rPr>
              <a:t>力对时间的累积作用</a:t>
            </a:r>
            <a:r>
              <a:rPr lang="zh-CN" altLang="en-US" b="1">
                <a:ea typeface="宋体" pitchFamily="2" charset="-122"/>
              </a:rPr>
              <a:t>和</a:t>
            </a:r>
            <a:r>
              <a:rPr lang="zh-CN" altLang="en-US" b="1">
                <a:solidFill>
                  <a:srgbClr val="FF3300"/>
                </a:solidFill>
                <a:ea typeface="宋体" pitchFamily="2" charset="-122"/>
              </a:rPr>
              <a:t>力对空间的累积作用</a:t>
            </a:r>
            <a:r>
              <a:rPr lang="zh-CN" altLang="en-US" b="1">
                <a:ea typeface="宋体" pitchFamily="2" charset="-122"/>
              </a:rPr>
              <a:t>。</a:t>
            </a:r>
          </a:p>
          <a:p>
            <a:pPr eaLnBrk="1" hangingPunct="1">
              <a:lnSpc>
                <a:spcPct val="125000"/>
              </a:lnSpc>
              <a:spcBef>
                <a:spcPct val="20000"/>
              </a:spcBef>
              <a:buFontTx/>
              <a:buChar char="•"/>
            </a:pPr>
            <a:r>
              <a:rPr lang="zh-CN" altLang="en-US" b="1">
                <a:ea typeface="宋体" pitchFamily="2" charset="-122"/>
              </a:rPr>
              <a:t>质点或质点系的动量、动能或能量将发生变化或转移。在一定条件下，质点系内的动量或能量将保持守恒。</a:t>
            </a:r>
          </a:p>
        </p:txBody>
      </p:sp>
      <p:sp>
        <p:nvSpPr>
          <p:cNvPr id="22531" name="AutoShape 18"/>
          <p:cNvSpPr>
            <a:spLocks noGrp="1" noChangeArrowheads="1"/>
          </p:cNvSpPr>
          <p:nvPr>
            <p:ph type="subTitle" idx="1"/>
          </p:nvPr>
        </p:nvSpPr>
        <p:spPr>
          <a:xfrm>
            <a:off x="357188" y="428625"/>
            <a:ext cx="8534400" cy="1000125"/>
          </a:xfrm>
          <a:prstGeom prst="ribbon">
            <a:avLst>
              <a:gd name="adj1" fmla="val 15972"/>
              <a:gd name="adj2" fmla="val 75000"/>
            </a:avLst>
          </a:prstGeom>
          <a:gradFill rotWithShape="0">
            <a:gsLst>
              <a:gs pos="0">
                <a:srgbClr val="996633"/>
              </a:gs>
              <a:gs pos="50000">
                <a:srgbClr val="FFFFFF"/>
              </a:gs>
              <a:gs pos="100000">
                <a:srgbClr val="996633"/>
              </a:gs>
            </a:gsLst>
            <a:lin ang="5400000" scaled="1"/>
          </a:gradFill>
          <a:ln cap="flat">
            <a:solidFill>
              <a:schemeClr val="tx1"/>
            </a:solidFill>
            <a:round/>
          </a:ln>
          <a:effectLst>
            <a:outerShdw dist="162639" dir="19280412" algn="ctr" rotWithShape="0">
              <a:srgbClr val="CBFB6B"/>
            </a:outerShdw>
          </a:effectLst>
        </p:spPr>
        <p:txBody>
          <a:bodyPr lIns="92075" tIns="46038" rIns="92075" bIns="46038"/>
          <a:lstStyle/>
          <a:p>
            <a:pPr>
              <a:spcBef>
                <a:spcPct val="0"/>
              </a:spcBef>
              <a:defRPr/>
            </a:pPr>
            <a:r>
              <a:rPr lang="en-US" altLang="zh-CN" sz="2000" b="1">
                <a:cs typeface="Times New Roman" pitchFamily="18" charset="0"/>
              </a:rPr>
              <a:t>§2-1~2 </a:t>
            </a:r>
            <a:r>
              <a:rPr lang="zh-CN" altLang="en-US" sz="2000" b="1">
                <a:cs typeface="Times New Roman" pitchFamily="18" charset="0"/>
              </a:rPr>
              <a:t>动量定理  动量守恒定律 </a:t>
            </a:r>
            <a:endParaRPr lang="en-US" altLang="zh-CN" sz="2000" b="1">
              <a:cs typeface="Times New Roman" pitchFamily="18" charset="0"/>
            </a:endParaRPr>
          </a:p>
          <a:p>
            <a:pPr>
              <a:spcBef>
                <a:spcPct val="0"/>
              </a:spcBef>
              <a:defRPr/>
            </a:pPr>
            <a:r>
              <a:rPr lang="zh-CN" altLang="en-US" sz="2000" b="1">
                <a:cs typeface="Times New Roman" pitchFamily="18" charset="0"/>
              </a:rPr>
              <a:t>质心 质心运动定理</a:t>
            </a:r>
          </a:p>
        </p:txBody>
      </p:sp>
      <p:pic>
        <p:nvPicPr>
          <p:cNvPr id="4" name="Picture 56" descr="图片5">
            <a:extLst>
              <a:ext uri="{FF2B5EF4-FFF2-40B4-BE49-F238E27FC236}">
                <a16:creationId xmlns:a16="http://schemas.microsoft.com/office/drawing/2014/main" id="{9F66B183-316A-413F-B4F8-75D6187403C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49085" y="4784724"/>
            <a:ext cx="3492500" cy="185420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F3C9B26B-FAEE-4282-9404-0962D1637BB8}"/>
              </a:ext>
            </a:extLst>
          </p:cNvPr>
          <p:cNvGrpSpPr>
            <a:grpSpLocks/>
          </p:cNvGrpSpPr>
          <p:nvPr/>
        </p:nvGrpSpPr>
        <p:grpSpPr bwMode="auto">
          <a:xfrm>
            <a:off x="1979712" y="4981064"/>
            <a:ext cx="2107704" cy="1906073"/>
            <a:chOff x="384" y="1824"/>
            <a:chExt cx="1872" cy="1727"/>
          </a:xfrm>
        </p:grpSpPr>
        <p:sp>
          <p:nvSpPr>
            <p:cNvPr id="6" name="Text Box 5">
              <a:extLst>
                <a:ext uri="{FF2B5EF4-FFF2-40B4-BE49-F238E27FC236}">
                  <a16:creationId xmlns:a16="http://schemas.microsoft.com/office/drawing/2014/main" id="{EDFCC015-BC48-47F3-A8EC-4F5442D281E6}"/>
                </a:ext>
              </a:extLst>
            </p:cNvPr>
            <p:cNvSpPr txBox="1">
              <a:spLocks noChangeArrowheads="1"/>
            </p:cNvSpPr>
            <p:nvPr/>
          </p:nvSpPr>
          <p:spPr bwMode="auto">
            <a:xfrm>
              <a:off x="384" y="3216"/>
              <a:ext cx="187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1800" b="1">
                  <a:latin typeface="Times New Roman" panose="02020603050405020304" pitchFamily="18" charset="0"/>
                </a:rPr>
                <a:t>以地球为参照系</a:t>
              </a:r>
            </a:p>
          </p:txBody>
        </p:sp>
        <p:sp>
          <p:nvSpPr>
            <p:cNvPr id="7" name="Oval 6">
              <a:extLst>
                <a:ext uri="{FF2B5EF4-FFF2-40B4-BE49-F238E27FC236}">
                  <a16:creationId xmlns:a16="http://schemas.microsoft.com/office/drawing/2014/main" id="{60322A92-179E-43A0-9A30-C73375BCC9B5}"/>
                </a:ext>
              </a:extLst>
            </p:cNvPr>
            <p:cNvSpPr>
              <a:spLocks noChangeArrowheads="1"/>
            </p:cNvSpPr>
            <p:nvPr/>
          </p:nvSpPr>
          <p:spPr bwMode="auto">
            <a:xfrm>
              <a:off x="528" y="1824"/>
              <a:ext cx="1296" cy="1296"/>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a:p>
          </p:txBody>
        </p:sp>
        <p:sp>
          <p:nvSpPr>
            <p:cNvPr id="8" name="Oval 7">
              <a:extLst>
                <a:ext uri="{FF2B5EF4-FFF2-40B4-BE49-F238E27FC236}">
                  <a16:creationId xmlns:a16="http://schemas.microsoft.com/office/drawing/2014/main" id="{8A86139C-10AA-4BC2-A578-5639231E305C}"/>
                </a:ext>
              </a:extLst>
            </p:cNvPr>
            <p:cNvSpPr>
              <a:spLocks noChangeArrowheads="1"/>
            </p:cNvSpPr>
            <p:nvPr/>
          </p:nvSpPr>
          <p:spPr bwMode="auto">
            <a:xfrm>
              <a:off x="1067" y="2359"/>
              <a:ext cx="227" cy="2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a:p>
          </p:txBody>
        </p:sp>
        <p:sp>
          <p:nvSpPr>
            <p:cNvPr id="9" name="Oval 8">
              <a:extLst>
                <a:ext uri="{FF2B5EF4-FFF2-40B4-BE49-F238E27FC236}">
                  <a16:creationId xmlns:a16="http://schemas.microsoft.com/office/drawing/2014/main" id="{B962C2B7-4EE2-4C96-8BC0-3F98F761558D}"/>
                </a:ext>
              </a:extLst>
            </p:cNvPr>
            <p:cNvSpPr>
              <a:spLocks noChangeArrowheads="1"/>
            </p:cNvSpPr>
            <p:nvPr/>
          </p:nvSpPr>
          <p:spPr bwMode="auto">
            <a:xfrm>
              <a:off x="1430" y="186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a:p>
          </p:txBody>
        </p:sp>
        <p:sp>
          <p:nvSpPr>
            <p:cNvPr id="10" name="Text Box 9">
              <a:extLst>
                <a:ext uri="{FF2B5EF4-FFF2-40B4-BE49-F238E27FC236}">
                  <a16:creationId xmlns:a16="http://schemas.microsoft.com/office/drawing/2014/main" id="{AAD15C85-70A8-45FC-B41F-2CF13608904E}"/>
                </a:ext>
              </a:extLst>
            </p:cNvPr>
            <p:cNvSpPr txBox="1">
              <a:spLocks noChangeArrowheads="1"/>
            </p:cNvSpPr>
            <p:nvPr/>
          </p:nvSpPr>
          <p:spPr bwMode="auto">
            <a:xfrm>
              <a:off x="950" y="2628"/>
              <a:ext cx="624"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1800" b="1">
                  <a:latin typeface="Times New Roman" panose="02020603050405020304" pitchFamily="18" charset="0"/>
                </a:rPr>
                <a:t>地球</a:t>
              </a:r>
            </a:p>
          </p:txBody>
        </p:sp>
        <p:sp>
          <p:nvSpPr>
            <p:cNvPr id="11" name="Text Box 10">
              <a:extLst>
                <a:ext uri="{FF2B5EF4-FFF2-40B4-BE49-F238E27FC236}">
                  <a16:creationId xmlns:a16="http://schemas.microsoft.com/office/drawing/2014/main" id="{F4967D74-28A7-4AEE-AA87-BF2543F6E415}"/>
                </a:ext>
              </a:extLst>
            </p:cNvPr>
            <p:cNvSpPr txBox="1">
              <a:spLocks noChangeArrowheads="1"/>
            </p:cNvSpPr>
            <p:nvPr/>
          </p:nvSpPr>
          <p:spPr bwMode="auto">
            <a:xfrm>
              <a:off x="1056" y="1968"/>
              <a:ext cx="67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1800" b="1">
                  <a:latin typeface="Times New Roman" panose="02020603050405020304" pitchFamily="18" charset="0"/>
                </a:rPr>
                <a:t>月亮</a:t>
              </a:r>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5136">
                                            <p:txEl>
                                              <p:pRg st="0" end="0"/>
                                            </p:txEl>
                                          </p:spTgt>
                                        </p:tgtEl>
                                        <p:attrNameLst>
                                          <p:attrName>style.visibility</p:attrName>
                                        </p:attrNameLst>
                                      </p:cBhvr>
                                      <p:to>
                                        <p:strVal val="visible"/>
                                      </p:to>
                                    </p:set>
                                    <p:animEffect transition="in" filter="wipe(left)">
                                      <p:cBhvr>
                                        <p:cTn id="12" dur="75"/>
                                        <p:tgtEl>
                                          <p:spTgt spid="513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5136">
                                            <p:txEl>
                                              <p:pRg st="1" end="1"/>
                                            </p:txEl>
                                          </p:spTgt>
                                        </p:tgtEl>
                                        <p:attrNameLst>
                                          <p:attrName>style.visibility</p:attrName>
                                        </p:attrNameLst>
                                      </p:cBhvr>
                                      <p:to>
                                        <p:strVal val="visible"/>
                                      </p:to>
                                    </p:set>
                                    <p:animEffect transition="in" filter="wipe(left)">
                                      <p:cBhvr>
                                        <p:cTn id="17" dur="75"/>
                                        <p:tgtEl>
                                          <p:spTgt spid="513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5136">
                                            <p:txEl>
                                              <p:pRg st="2" end="2"/>
                                            </p:txEl>
                                          </p:spTgt>
                                        </p:tgtEl>
                                        <p:attrNameLst>
                                          <p:attrName>style.visibility</p:attrName>
                                        </p:attrNameLst>
                                      </p:cBhvr>
                                      <p:to>
                                        <p:strVal val="visible"/>
                                      </p:to>
                                    </p:set>
                                    <p:animEffect transition="in" filter="wipe(left)">
                                      <p:cBhvr>
                                        <p:cTn id="22" dur="75"/>
                                        <p:tgtEl>
                                          <p:spTgt spid="513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6"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3"/>
          <p:cNvSpPr txBox="1">
            <a:spLocks noChangeArrowheads="1"/>
          </p:cNvSpPr>
          <p:nvPr/>
        </p:nvSpPr>
        <p:spPr bwMode="auto">
          <a:xfrm>
            <a:off x="0" y="333375"/>
            <a:ext cx="7232650" cy="519113"/>
          </a:xfrm>
          <a:prstGeom prst="rect">
            <a:avLst/>
          </a:prstGeom>
          <a:gradFill rotWithShape="0">
            <a:gsLst>
              <a:gs pos="0">
                <a:srgbClr val="ADB044"/>
              </a:gs>
              <a:gs pos="50000">
                <a:srgbClr val="FFFFFF"/>
              </a:gs>
              <a:gs pos="100000">
                <a:srgbClr val="ADB044"/>
              </a:gs>
            </a:gsLst>
            <a:lin ang="5400000" scaled="1"/>
          </a:gradFill>
          <a:ln w="9525">
            <a:noFill/>
            <a:miter lim="800000"/>
            <a:headEnd/>
            <a:tailEnd/>
          </a:ln>
          <a:effectLst>
            <a:outerShdw dist="162639" dir="18519588" algn="ctr" rotWithShape="0">
              <a:srgbClr val="D9FB9D"/>
            </a:outerShdw>
          </a:effectLst>
        </p:spPr>
        <p:txBody>
          <a:bodyPr lIns="92075" tIns="46038" rIns="92075" bIns="46038" anchor="ctr"/>
          <a:lstStyle/>
          <a:p>
            <a:pPr eaLnBrk="0" hangingPunct="0">
              <a:defRPr/>
            </a:pPr>
            <a:r>
              <a:rPr lang="zh-CN" altLang="en-US" sz="3200" b="1">
                <a:solidFill>
                  <a:schemeClr val="folHlink"/>
                </a:solidFill>
                <a:latin typeface="Arial" pitchFamily="34" charset="0"/>
              </a:rPr>
              <a:t>一）、冲量 、动量和质点的动量定理</a:t>
            </a:r>
          </a:p>
        </p:txBody>
      </p:sp>
      <p:sp>
        <p:nvSpPr>
          <p:cNvPr id="80900" name="Text Box 4"/>
          <p:cNvSpPr txBox="1">
            <a:spLocks noChangeArrowheads="1"/>
          </p:cNvSpPr>
          <p:nvPr/>
        </p:nvSpPr>
        <p:spPr bwMode="auto">
          <a:xfrm>
            <a:off x="365125" y="1052513"/>
            <a:ext cx="6569075"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800" b="1" dirty="0">
                <a:solidFill>
                  <a:srgbClr val="3333FF"/>
                </a:solidFill>
              </a:rPr>
              <a:t>1</a:t>
            </a:r>
            <a:r>
              <a:rPr lang="zh-CN" altLang="en-US" sz="2800" b="1" dirty="0">
                <a:solidFill>
                  <a:srgbClr val="3333FF"/>
                </a:solidFill>
              </a:rPr>
              <a:t>、冲量（</a:t>
            </a:r>
            <a:r>
              <a:rPr lang="en-US" altLang="zh-CN" sz="2800" b="1" dirty="0">
                <a:solidFill>
                  <a:srgbClr val="3333FF"/>
                </a:solidFill>
              </a:rPr>
              <a:t>Impulse)</a:t>
            </a:r>
          </a:p>
          <a:p>
            <a:pPr eaLnBrk="1" hangingPunct="1">
              <a:spcBef>
                <a:spcPct val="20000"/>
              </a:spcBef>
            </a:pPr>
            <a:r>
              <a:rPr lang="zh-CN" altLang="en-US" b="1" dirty="0">
                <a:latin typeface="楷体_GB2312" pitchFamily="49" charset="-122"/>
              </a:rPr>
              <a:t>（力的作用对时间的积累，矢量）</a:t>
            </a:r>
            <a:endParaRPr lang="zh-CN" altLang="en-US" sz="3200" b="1" dirty="0">
              <a:latin typeface="楷体_GB2312" pitchFamily="49" charset="-122"/>
            </a:endParaRPr>
          </a:p>
        </p:txBody>
      </p:sp>
      <p:sp>
        <p:nvSpPr>
          <p:cNvPr id="80901" name="Text Box 5"/>
          <p:cNvSpPr txBox="1">
            <a:spLocks noChangeArrowheads="1"/>
          </p:cNvSpPr>
          <p:nvPr/>
        </p:nvSpPr>
        <p:spPr bwMode="auto">
          <a:xfrm>
            <a:off x="477384" y="2943225"/>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b="1">
                <a:ea typeface="宋体" pitchFamily="2" charset="-122"/>
              </a:rPr>
              <a:t>大小：</a:t>
            </a:r>
          </a:p>
        </p:txBody>
      </p:sp>
      <p:sp>
        <p:nvSpPr>
          <p:cNvPr id="80903" name="Text Box 7"/>
          <p:cNvSpPr txBox="1">
            <a:spLocks noChangeArrowheads="1"/>
          </p:cNvSpPr>
          <p:nvPr/>
        </p:nvSpPr>
        <p:spPr bwMode="auto">
          <a:xfrm>
            <a:off x="392397" y="3639935"/>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b="1">
                <a:ea typeface="宋体" pitchFamily="2" charset="-122"/>
              </a:rPr>
              <a:t>方向：速度变化的方向</a:t>
            </a:r>
            <a:endParaRPr lang="zh-CN" altLang="en-US" sz="3200" b="1">
              <a:ea typeface="宋体" pitchFamily="2" charset="-122"/>
            </a:endParaRPr>
          </a:p>
        </p:txBody>
      </p:sp>
      <p:sp>
        <p:nvSpPr>
          <p:cNvPr id="80904" name="Text Box 8"/>
          <p:cNvSpPr txBox="1">
            <a:spLocks noChangeArrowheads="1"/>
          </p:cNvSpPr>
          <p:nvPr/>
        </p:nvSpPr>
        <p:spPr bwMode="auto">
          <a:xfrm>
            <a:off x="463834" y="4216197"/>
            <a:ext cx="4110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b="1">
                <a:ea typeface="宋体" pitchFamily="2" charset="-122"/>
              </a:rPr>
              <a:t>单位：</a:t>
            </a:r>
            <a:r>
              <a:rPr lang="en-US" altLang="zh-CN" b="1">
                <a:ea typeface="宋体" pitchFamily="2" charset="-122"/>
              </a:rPr>
              <a:t>N·s   </a:t>
            </a:r>
            <a:r>
              <a:rPr lang="zh-CN" altLang="en-US" b="1">
                <a:ea typeface="宋体" pitchFamily="2" charset="-122"/>
              </a:rPr>
              <a:t>量纲：</a:t>
            </a:r>
            <a:r>
              <a:rPr lang="en-US" altLang="zh-CN" b="1">
                <a:ea typeface="宋体" pitchFamily="2" charset="-122"/>
              </a:rPr>
              <a:t>MLT</a:t>
            </a:r>
            <a:r>
              <a:rPr lang="zh-CN" altLang="en-US" b="1" baseline="30000">
                <a:ea typeface="宋体" pitchFamily="2" charset="-122"/>
              </a:rPr>
              <a:t>－</a:t>
            </a:r>
            <a:r>
              <a:rPr lang="en-US" altLang="zh-CN" b="1" baseline="30000">
                <a:ea typeface="宋体" pitchFamily="2" charset="-122"/>
              </a:rPr>
              <a:t>1</a:t>
            </a:r>
          </a:p>
        </p:txBody>
      </p:sp>
      <p:sp>
        <p:nvSpPr>
          <p:cNvPr id="80906" name="Text Box 10"/>
          <p:cNvSpPr txBox="1">
            <a:spLocks noChangeArrowheads="1"/>
          </p:cNvSpPr>
          <p:nvPr/>
        </p:nvSpPr>
        <p:spPr bwMode="auto">
          <a:xfrm>
            <a:off x="107504" y="4613187"/>
            <a:ext cx="92170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r>
              <a:rPr lang="zh-CN" altLang="en-US" b="1">
                <a:solidFill>
                  <a:srgbClr val="FF3300"/>
                </a:solidFill>
                <a:ea typeface="宋体" pitchFamily="2" charset="-122"/>
              </a:rPr>
              <a:t>说明</a:t>
            </a:r>
            <a:endParaRPr lang="zh-CN" altLang="en-US" b="1">
              <a:ea typeface="宋体" pitchFamily="2" charset="-122"/>
            </a:endParaRPr>
          </a:p>
          <a:p>
            <a:pPr lvl="1" eaLnBrk="1" hangingPunct="1">
              <a:lnSpc>
                <a:spcPct val="125000"/>
              </a:lnSpc>
              <a:buFontTx/>
              <a:buChar char="•"/>
            </a:pPr>
            <a:r>
              <a:rPr lang="zh-CN" altLang="en-US" b="1">
                <a:ea typeface="宋体" pitchFamily="2" charset="-122"/>
              </a:rPr>
              <a:t>冲量是表征力持续作用一段时间的累积效应；</a:t>
            </a:r>
          </a:p>
          <a:p>
            <a:pPr lvl="1" eaLnBrk="1" hangingPunct="1">
              <a:lnSpc>
                <a:spcPct val="125000"/>
              </a:lnSpc>
              <a:buFontTx/>
              <a:buChar char="•"/>
            </a:pPr>
            <a:r>
              <a:rPr lang="zh-CN" altLang="en-US" b="1">
                <a:solidFill>
                  <a:srgbClr val="FF0000"/>
                </a:solidFill>
                <a:ea typeface="宋体" pitchFamily="2" charset="-122"/>
              </a:rPr>
              <a:t>  矢量：</a:t>
            </a:r>
            <a:r>
              <a:rPr lang="zh-CN" altLang="en-US" b="1">
                <a:ea typeface="宋体" pitchFamily="2" charset="-122"/>
              </a:rPr>
              <a:t> 大小和方向；</a:t>
            </a:r>
          </a:p>
          <a:p>
            <a:pPr lvl="1" eaLnBrk="1" hangingPunct="1">
              <a:lnSpc>
                <a:spcPct val="125000"/>
              </a:lnSpc>
              <a:buFontTx/>
              <a:buChar char="•"/>
            </a:pPr>
            <a:r>
              <a:rPr lang="zh-CN" altLang="en-US" b="1">
                <a:solidFill>
                  <a:srgbClr val="FF0000"/>
                </a:solidFill>
                <a:ea typeface="宋体" pitchFamily="2" charset="-122"/>
              </a:rPr>
              <a:t>  过程量</a:t>
            </a:r>
            <a:r>
              <a:rPr lang="zh-CN" altLang="en-US" b="1">
                <a:ea typeface="宋体" pitchFamily="2" charset="-122"/>
              </a:rPr>
              <a:t>， 改变物体机械运动状态的原因，由力的大小和作用 </a:t>
            </a:r>
            <a:endParaRPr lang="en-US" altLang="zh-CN" b="1">
              <a:ea typeface="宋体" pitchFamily="2" charset="-122"/>
            </a:endParaRPr>
          </a:p>
          <a:p>
            <a:pPr lvl="1" eaLnBrk="1" hangingPunct="1">
              <a:lnSpc>
                <a:spcPct val="125000"/>
              </a:lnSpc>
            </a:pPr>
            <a:r>
              <a:rPr lang="en-US" altLang="zh-CN" b="1">
                <a:ea typeface="宋体" pitchFamily="2" charset="-122"/>
              </a:rPr>
              <a:t>                    </a:t>
            </a:r>
            <a:r>
              <a:rPr lang="zh-CN" altLang="en-US" b="1">
                <a:ea typeface="宋体" pitchFamily="2" charset="-122"/>
              </a:rPr>
              <a:t>时间决定。</a:t>
            </a:r>
            <a:endParaRPr lang="zh-CN" altLang="en-US" sz="3600" b="1">
              <a:solidFill>
                <a:srgbClr val="FF3300"/>
              </a:solidFill>
            </a:endParaRPr>
          </a:p>
        </p:txBody>
      </p:sp>
      <mc:AlternateContent xmlns:mc="http://schemas.openxmlformats.org/markup-compatibility/2006" xmlns:a14="http://schemas.microsoft.com/office/drawing/2010/main">
        <mc:Choice Requires="a14">
          <p:sp>
            <p:nvSpPr>
              <p:cNvPr id="80907" name="Object 11"/>
              <p:cNvSpPr txBox="1"/>
              <p:nvPr/>
            </p:nvSpPr>
            <p:spPr bwMode="auto">
              <a:xfrm>
                <a:off x="2133713" y="2783904"/>
                <a:ext cx="2478088" cy="931862"/>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a:p>
            </p:txBody>
          </p:sp>
        </mc:Choice>
        <mc:Fallback xmlns="">
          <p:sp>
            <p:nvSpPr>
              <p:cNvPr id="80907" name="Object 11"/>
              <p:cNvSpPr txBox="1">
                <a:spLocks noRot="1" noChangeAspect="1" noMove="1" noResize="1" noEditPoints="1" noAdjustHandles="1" noChangeArrowheads="1" noChangeShapeType="1" noTextEdit="1"/>
              </p:cNvSpPr>
              <p:nvPr/>
            </p:nvSpPr>
            <p:spPr bwMode="auto">
              <a:xfrm>
                <a:off x="2133713" y="2783904"/>
                <a:ext cx="2478088" cy="931862"/>
              </a:xfrm>
              <a:prstGeom prst="rect">
                <a:avLst/>
              </a:prstGeom>
              <a:blipFill>
                <a:blip r:embed="rId2"/>
                <a:stretch>
                  <a:fillRect/>
                </a:stretch>
              </a:blipFill>
              <a:ln>
                <a:noFill/>
              </a:ln>
              <a:effectLst/>
              <a:extLst/>
            </p:spPr>
            <p:txBody>
              <a:bodyPr/>
              <a:lstStyle/>
              <a:p>
                <a:r>
                  <a:rPr lang="zh-CN" altLang="en-US">
                    <a:noFill/>
                  </a:rPr>
                  <a:t> </a:t>
                </a:r>
              </a:p>
            </p:txBody>
          </p:sp>
        </mc:Fallback>
      </mc:AlternateContent>
      <p:grpSp>
        <p:nvGrpSpPr>
          <p:cNvPr id="2" name="Group 12"/>
          <p:cNvGrpSpPr>
            <a:grpSpLocks/>
          </p:cNvGrpSpPr>
          <p:nvPr/>
        </p:nvGrpSpPr>
        <p:grpSpPr bwMode="auto">
          <a:xfrm>
            <a:off x="5318919" y="1949709"/>
            <a:ext cx="3808412" cy="2620962"/>
            <a:chOff x="2958" y="1296"/>
            <a:chExt cx="2736" cy="2064"/>
          </a:xfrm>
        </p:grpSpPr>
        <p:sp>
          <p:nvSpPr>
            <p:cNvPr id="23564" name="AutoShape 13"/>
            <p:cNvSpPr>
              <a:spLocks noChangeArrowheads="1"/>
            </p:cNvSpPr>
            <p:nvPr/>
          </p:nvSpPr>
          <p:spPr bwMode="auto">
            <a:xfrm>
              <a:off x="2958" y="1296"/>
              <a:ext cx="2736" cy="2064"/>
            </a:xfrm>
            <a:prstGeom prst="roundRect">
              <a:avLst>
                <a:gd name="adj" fmla="val 16667"/>
              </a:avLst>
            </a:prstGeom>
            <a:solidFill>
              <a:srgbClr val="FFFDE1"/>
            </a:solidFill>
            <a:ln w="9525">
              <a:noFill/>
              <a:round/>
              <a:headEnd/>
              <a:tailEnd/>
            </a:ln>
            <a:effectLst>
              <a:outerShdw dist="35921" dir="2700000" algn="ctr" rotWithShape="0">
                <a:schemeClr val="bg2"/>
              </a:outerShdw>
            </a:effectLst>
          </p:spPr>
          <p:txBody>
            <a:bodyPr wrap="none" lIns="90000" tIns="46800" rIns="90000" bIns="46800" anchor="ctr">
              <a:spAutoFit/>
            </a:bodyPr>
            <a:lstStyle/>
            <a:p>
              <a:pPr>
                <a:spcBef>
                  <a:spcPct val="20000"/>
                </a:spcBef>
                <a:defRPr/>
              </a:pPr>
              <a:endParaRPr lang="en-US" altLang="zh-CN"/>
            </a:p>
          </p:txBody>
        </p:sp>
        <p:grpSp>
          <p:nvGrpSpPr>
            <p:cNvPr id="13325" name="Group 14"/>
            <p:cNvGrpSpPr>
              <a:grpSpLocks/>
            </p:cNvGrpSpPr>
            <p:nvPr/>
          </p:nvGrpSpPr>
          <p:grpSpPr bwMode="auto">
            <a:xfrm>
              <a:off x="3046" y="1494"/>
              <a:ext cx="2594" cy="1840"/>
              <a:chOff x="3046" y="1208"/>
              <a:chExt cx="2594" cy="1840"/>
            </a:xfrm>
          </p:grpSpPr>
          <p:sp>
            <p:nvSpPr>
              <p:cNvPr id="13330" name="Line 15"/>
              <p:cNvSpPr>
                <a:spLocks noChangeShapeType="1"/>
              </p:cNvSpPr>
              <p:nvPr/>
            </p:nvSpPr>
            <p:spPr bwMode="auto">
              <a:xfrm>
                <a:off x="3287" y="2712"/>
                <a:ext cx="21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1" name="Line 16"/>
              <p:cNvSpPr>
                <a:spLocks noChangeShapeType="1"/>
              </p:cNvSpPr>
              <p:nvPr/>
            </p:nvSpPr>
            <p:spPr bwMode="auto">
              <a:xfrm flipV="1">
                <a:off x="3287" y="1272"/>
                <a:ext cx="0" cy="14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2" name="Text Box 17"/>
              <p:cNvSpPr txBox="1">
                <a:spLocks noChangeArrowheads="1"/>
              </p:cNvSpPr>
              <p:nvPr/>
            </p:nvSpPr>
            <p:spPr bwMode="auto">
              <a:xfrm>
                <a:off x="3479" y="2688"/>
                <a:ext cx="336"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i="1">
                    <a:ea typeface="宋体" pitchFamily="2" charset="-122"/>
                  </a:rPr>
                  <a:t>t</a:t>
                </a:r>
                <a:r>
                  <a:rPr lang="en-US" altLang="zh-CN" baseline="-25000">
                    <a:ea typeface="宋体" pitchFamily="2" charset="-122"/>
                  </a:rPr>
                  <a:t>1</a:t>
                </a:r>
                <a:endParaRPr lang="en-US" altLang="zh-CN">
                  <a:ea typeface="宋体" pitchFamily="2" charset="-122"/>
                </a:endParaRPr>
              </a:p>
            </p:txBody>
          </p:sp>
          <p:sp>
            <p:nvSpPr>
              <p:cNvPr id="13333" name="Rectangle 18"/>
              <p:cNvSpPr>
                <a:spLocks noChangeArrowheads="1"/>
              </p:cNvSpPr>
              <p:nvPr/>
            </p:nvSpPr>
            <p:spPr bwMode="auto">
              <a:xfrm>
                <a:off x="3046" y="1208"/>
                <a:ext cx="266"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i="1">
                    <a:ea typeface="宋体" pitchFamily="2" charset="-122"/>
                  </a:rPr>
                  <a:t>F</a:t>
                </a:r>
                <a:endParaRPr lang="en-US" altLang="zh-CN">
                  <a:ea typeface="宋体" pitchFamily="2" charset="-122"/>
                </a:endParaRPr>
              </a:p>
            </p:txBody>
          </p:sp>
          <p:sp>
            <p:nvSpPr>
              <p:cNvPr id="13334" name="Rectangle 19"/>
              <p:cNvSpPr>
                <a:spLocks noChangeArrowheads="1"/>
              </p:cNvSpPr>
              <p:nvPr/>
            </p:nvSpPr>
            <p:spPr bwMode="auto">
              <a:xfrm>
                <a:off x="3095" y="2561"/>
                <a:ext cx="24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a:ea typeface="宋体" pitchFamily="2" charset="-122"/>
                  </a:rPr>
                  <a:t>0</a:t>
                </a:r>
                <a:endParaRPr lang="en-US" altLang="zh-CN">
                  <a:ea typeface="宋体" pitchFamily="2" charset="-122"/>
                </a:endParaRPr>
              </a:p>
            </p:txBody>
          </p:sp>
          <p:sp>
            <p:nvSpPr>
              <p:cNvPr id="13335" name="Rectangle 20"/>
              <p:cNvSpPr>
                <a:spLocks noChangeArrowheads="1"/>
              </p:cNvSpPr>
              <p:nvPr/>
            </p:nvSpPr>
            <p:spPr bwMode="auto">
              <a:xfrm>
                <a:off x="5447" y="2552"/>
                <a:ext cx="19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ea typeface="宋体" pitchFamily="2" charset="-122"/>
                  </a:rPr>
                  <a:t>t</a:t>
                </a:r>
              </a:p>
            </p:txBody>
          </p:sp>
          <p:sp>
            <p:nvSpPr>
              <p:cNvPr id="13336" name="Text Box 21"/>
              <p:cNvSpPr txBox="1">
                <a:spLocks noChangeArrowheads="1"/>
              </p:cNvSpPr>
              <p:nvPr/>
            </p:nvSpPr>
            <p:spPr bwMode="auto">
              <a:xfrm>
                <a:off x="4679" y="2689"/>
                <a:ext cx="336"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i="1">
                    <a:ea typeface="宋体" pitchFamily="2" charset="-122"/>
                  </a:rPr>
                  <a:t>t</a:t>
                </a:r>
                <a:r>
                  <a:rPr lang="en-US" altLang="zh-CN" baseline="-25000">
                    <a:ea typeface="宋体" pitchFamily="2" charset="-122"/>
                  </a:rPr>
                  <a:t>2</a:t>
                </a:r>
                <a:endParaRPr lang="en-US" altLang="zh-CN">
                  <a:ea typeface="宋体" pitchFamily="2" charset="-122"/>
                </a:endParaRPr>
              </a:p>
            </p:txBody>
          </p:sp>
          <p:sp>
            <p:nvSpPr>
              <p:cNvPr id="13337" name="Freeform 22"/>
              <p:cNvSpPr>
                <a:spLocks/>
              </p:cNvSpPr>
              <p:nvPr/>
            </p:nvSpPr>
            <p:spPr bwMode="auto">
              <a:xfrm>
                <a:off x="3695" y="1378"/>
                <a:ext cx="1392" cy="1346"/>
              </a:xfrm>
              <a:custGeom>
                <a:avLst/>
                <a:gdLst>
                  <a:gd name="T0" fmla="*/ 0 w 1392"/>
                  <a:gd name="T1" fmla="*/ 1346 h 1346"/>
                  <a:gd name="T2" fmla="*/ 156 w 1392"/>
                  <a:gd name="T3" fmla="*/ 1238 h 1346"/>
                  <a:gd name="T4" fmla="*/ 300 w 1392"/>
                  <a:gd name="T5" fmla="*/ 890 h 1346"/>
                  <a:gd name="T6" fmla="*/ 384 w 1392"/>
                  <a:gd name="T7" fmla="*/ 326 h 1346"/>
                  <a:gd name="T8" fmla="*/ 492 w 1392"/>
                  <a:gd name="T9" fmla="*/ 26 h 1346"/>
                  <a:gd name="T10" fmla="*/ 696 w 1392"/>
                  <a:gd name="T11" fmla="*/ 170 h 1346"/>
                  <a:gd name="T12" fmla="*/ 840 w 1392"/>
                  <a:gd name="T13" fmla="*/ 758 h 1346"/>
                  <a:gd name="T14" fmla="*/ 1044 w 1392"/>
                  <a:gd name="T15" fmla="*/ 914 h 1346"/>
                  <a:gd name="T16" fmla="*/ 1128 w 1392"/>
                  <a:gd name="T17" fmla="*/ 1070 h 1346"/>
                  <a:gd name="T18" fmla="*/ 1212 w 1392"/>
                  <a:gd name="T19" fmla="*/ 1262 h 1346"/>
                  <a:gd name="T20" fmla="*/ 1392 w 1392"/>
                  <a:gd name="T21" fmla="*/ 1346 h 13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92"/>
                  <a:gd name="T34" fmla="*/ 0 h 1346"/>
                  <a:gd name="T35" fmla="*/ 1392 w 1392"/>
                  <a:gd name="T36" fmla="*/ 1346 h 13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92" h="1346">
                    <a:moveTo>
                      <a:pt x="0" y="1346"/>
                    </a:moveTo>
                    <a:cubicBezTo>
                      <a:pt x="26" y="1330"/>
                      <a:pt x="106" y="1314"/>
                      <a:pt x="156" y="1238"/>
                    </a:cubicBezTo>
                    <a:cubicBezTo>
                      <a:pt x="206" y="1162"/>
                      <a:pt x="262" y="1042"/>
                      <a:pt x="300" y="890"/>
                    </a:cubicBezTo>
                    <a:cubicBezTo>
                      <a:pt x="338" y="738"/>
                      <a:pt x="352" y="470"/>
                      <a:pt x="384" y="326"/>
                    </a:cubicBezTo>
                    <a:cubicBezTo>
                      <a:pt x="416" y="182"/>
                      <a:pt x="440" y="52"/>
                      <a:pt x="492" y="26"/>
                    </a:cubicBezTo>
                    <a:cubicBezTo>
                      <a:pt x="544" y="0"/>
                      <a:pt x="638" y="48"/>
                      <a:pt x="696" y="170"/>
                    </a:cubicBezTo>
                    <a:cubicBezTo>
                      <a:pt x="754" y="292"/>
                      <a:pt x="782" y="634"/>
                      <a:pt x="840" y="758"/>
                    </a:cubicBezTo>
                    <a:cubicBezTo>
                      <a:pt x="898" y="882"/>
                      <a:pt x="996" y="862"/>
                      <a:pt x="1044" y="914"/>
                    </a:cubicBezTo>
                    <a:cubicBezTo>
                      <a:pt x="1092" y="966"/>
                      <a:pt x="1100" y="1012"/>
                      <a:pt x="1128" y="1070"/>
                    </a:cubicBezTo>
                    <a:cubicBezTo>
                      <a:pt x="1156" y="1128"/>
                      <a:pt x="1168" y="1216"/>
                      <a:pt x="1212" y="1262"/>
                    </a:cubicBezTo>
                    <a:cubicBezTo>
                      <a:pt x="1256" y="1308"/>
                      <a:pt x="1354" y="1328"/>
                      <a:pt x="1392" y="134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326" name="Freeform 23" descr="浅色上对角线"/>
            <p:cNvSpPr>
              <a:spLocks/>
            </p:cNvSpPr>
            <p:nvPr/>
          </p:nvSpPr>
          <p:spPr bwMode="auto">
            <a:xfrm>
              <a:off x="4045" y="1889"/>
              <a:ext cx="67" cy="1111"/>
            </a:xfrm>
            <a:custGeom>
              <a:avLst/>
              <a:gdLst>
                <a:gd name="T0" fmla="*/ 0 w 67"/>
                <a:gd name="T1" fmla="*/ 322 h 1111"/>
                <a:gd name="T2" fmla="*/ 0 w 67"/>
                <a:gd name="T3" fmla="*/ 1111 h 1111"/>
                <a:gd name="T4" fmla="*/ 67 w 67"/>
                <a:gd name="T5" fmla="*/ 1111 h 1111"/>
                <a:gd name="T6" fmla="*/ 67 w 67"/>
                <a:gd name="T7" fmla="*/ 0 h 1111"/>
                <a:gd name="T8" fmla="*/ 0 60000 65536"/>
                <a:gd name="T9" fmla="*/ 0 60000 65536"/>
                <a:gd name="T10" fmla="*/ 0 60000 65536"/>
                <a:gd name="T11" fmla="*/ 0 60000 65536"/>
                <a:gd name="T12" fmla="*/ 0 w 67"/>
                <a:gd name="T13" fmla="*/ 0 h 1111"/>
                <a:gd name="T14" fmla="*/ 67 w 67"/>
                <a:gd name="T15" fmla="*/ 1111 h 1111"/>
              </a:gdLst>
              <a:ahLst/>
              <a:cxnLst>
                <a:cxn ang="T8">
                  <a:pos x="T0" y="T1"/>
                </a:cxn>
                <a:cxn ang="T9">
                  <a:pos x="T2" y="T3"/>
                </a:cxn>
                <a:cxn ang="T10">
                  <a:pos x="T4" y="T5"/>
                </a:cxn>
                <a:cxn ang="T11">
                  <a:pos x="T6" y="T7"/>
                </a:cxn>
              </a:cxnLst>
              <a:rect l="T12" t="T13" r="T14" b="T15"/>
              <a:pathLst>
                <a:path w="67" h="1111">
                  <a:moveTo>
                    <a:pt x="0" y="322"/>
                  </a:moveTo>
                  <a:lnTo>
                    <a:pt x="0" y="1111"/>
                  </a:lnTo>
                  <a:lnTo>
                    <a:pt x="67" y="1111"/>
                  </a:lnTo>
                  <a:lnTo>
                    <a:pt x="67" y="0"/>
                  </a:lnTo>
                </a:path>
              </a:pathLst>
            </a:custGeom>
            <a:pattFill prst="ltUpDiag">
              <a:fgClr>
                <a:srgbClr val="FF0000"/>
              </a:fgClr>
              <a:bgClr>
                <a:schemeClr val="bg1"/>
              </a:bgClr>
            </a:pattFill>
            <a:ln w="9525" cap="flat" cmpd="sng">
              <a:solidFill>
                <a:schemeClr val="tx1"/>
              </a:solidFill>
              <a:prstDash val="solid"/>
              <a:round/>
              <a:headEnd type="none" w="med" len="med"/>
              <a:tailEnd type="none" w="med" len="med"/>
            </a:ln>
          </p:spPr>
          <p:txBody>
            <a:bodyPr wrap="none" lIns="90000" tIns="46800" rIns="90000" bIns="46800" anchor="ctr">
              <a:spAutoFit/>
            </a:bodyPr>
            <a:lstStyle/>
            <a:p>
              <a:endParaRPr lang="zh-CN" altLang="en-US"/>
            </a:p>
          </p:txBody>
        </p:sp>
        <p:sp>
          <p:nvSpPr>
            <p:cNvPr id="13327" name="Text Box 24"/>
            <p:cNvSpPr txBox="1">
              <a:spLocks noChangeArrowheads="1"/>
            </p:cNvSpPr>
            <p:nvPr/>
          </p:nvSpPr>
          <p:spPr bwMode="auto">
            <a:xfrm>
              <a:off x="3906" y="2977"/>
              <a:ext cx="36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gn="ctr" eaLnBrk="1" hangingPunct="1">
                <a:spcBef>
                  <a:spcPct val="50000"/>
                </a:spcBef>
              </a:pPr>
              <a:r>
                <a:rPr lang="zh-CN" altLang="zh-CN">
                  <a:ea typeface="宋体" pitchFamily="2" charset="-122"/>
                </a:rPr>
                <a:t>d</a:t>
              </a:r>
              <a:r>
                <a:rPr lang="zh-CN" altLang="zh-CN" i="1">
                  <a:ea typeface="宋体" pitchFamily="2" charset="-122"/>
                </a:rPr>
                <a:t>t</a:t>
              </a:r>
              <a:endParaRPr lang="en-US" altLang="zh-CN" i="1">
                <a:ea typeface="宋体" pitchFamily="2" charset="-122"/>
              </a:endParaRPr>
            </a:p>
          </p:txBody>
        </p:sp>
        <p:sp>
          <p:nvSpPr>
            <p:cNvPr id="13328" name="Line 25"/>
            <p:cNvSpPr>
              <a:spLocks noChangeShapeType="1"/>
            </p:cNvSpPr>
            <p:nvPr/>
          </p:nvSpPr>
          <p:spPr bwMode="auto">
            <a:xfrm flipH="1">
              <a:off x="3287" y="2055"/>
              <a:ext cx="75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13329" name="Text Box 26"/>
            <p:cNvSpPr txBox="1">
              <a:spLocks noChangeArrowheads="1"/>
            </p:cNvSpPr>
            <p:nvPr/>
          </p:nvSpPr>
          <p:spPr bwMode="auto">
            <a:xfrm>
              <a:off x="3057" y="1892"/>
              <a:ext cx="17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gn="ctr" eaLnBrk="1" hangingPunct="1">
                <a:spcBef>
                  <a:spcPct val="50000"/>
                </a:spcBef>
              </a:pPr>
              <a:r>
                <a:rPr lang="en-US" altLang="zh-CN" i="1">
                  <a:ea typeface="宋体" pitchFamily="2" charset="-122"/>
                </a:rPr>
                <a:t>F</a:t>
              </a:r>
            </a:p>
          </p:txBody>
        </p:sp>
      </p:grpSp>
      <mc:AlternateContent xmlns:mc="http://schemas.openxmlformats.org/markup-compatibility/2006" xmlns:a14="http://schemas.microsoft.com/office/drawing/2010/main">
        <mc:Choice Requires="a14">
          <p:sp>
            <p:nvSpPr>
              <p:cNvPr id="80923" name="Object 27"/>
              <p:cNvSpPr txBox="1"/>
              <p:nvPr/>
            </p:nvSpPr>
            <p:spPr bwMode="auto">
              <a:xfrm>
                <a:off x="2987675" y="2079625"/>
                <a:ext cx="2473325" cy="6286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0">
                          <a:solidFill>
                            <a:srgbClr val="000000"/>
                          </a:solidFill>
                          <a:latin typeface="Cambria Math" panose="02040503050406030204" pitchFamily="18" charset="0"/>
                        </a:rPr>
                        <m:t> </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oMath>
                  </m:oMathPara>
                </a14:m>
                <a:endParaRPr lang="zh-CN" altLang="en-US" dirty="0"/>
              </a:p>
            </p:txBody>
          </p:sp>
        </mc:Choice>
        <mc:Fallback xmlns="">
          <p:sp>
            <p:nvSpPr>
              <p:cNvPr id="80923" name="Object 27"/>
              <p:cNvSpPr txBox="1">
                <a:spLocks noRot="1" noChangeAspect="1" noMove="1" noResize="1" noEditPoints="1" noAdjustHandles="1" noChangeArrowheads="1" noChangeShapeType="1" noTextEdit="1"/>
              </p:cNvSpPr>
              <p:nvPr/>
            </p:nvSpPr>
            <p:spPr bwMode="auto">
              <a:xfrm>
                <a:off x="2987675" y="2079625"/>
                <a:ext cx="2473325" cy="628650"/>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924" name="Object 28"/>
              <p:cNvSpPr txBox="1"/>
              <p:nvPr/>
            </p:nvSpPr>
            <p:spPr bwMode="auto">
              <a:xfrm>
                <a:off x="468313" y="1898650"/>
                <a:ext cx="1941512" cy="10985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nor/>
                        </m:rPr>
                        <a:rPr lang="zh-CN" altLang="en-US" i="0">
                          <a:solidFill>
                            <a:srgbClr val="000000"/>
                          </a:solidFill>
                          <a:latin typeface="Cambria Math" panose="02040503050406030204" pitchFamily="18" charset="0"/>
                        </a:rPr>
                        <m:t>  </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dirty="0"/>
              </a:p>
            </p:txBody>
          </p:sp>
        </mc:Choice>
        <mc:Fallback xmlns="">
          <p:sp>
            <p:nvSpPr>
              <p:cNvPr id="80924" name="Object 28"/>
              <p:cNvSpPr txBox="1">
                <a:spLocks noRot="1" noChangeAspect="1" noMove="1" noResize="1" noEditPoints="1" noAdjustHandles="1" noChangeArrowheads="1" noChangeShapeType="1" noTextEdit="1"/>
              </p:cNvSpPr>
              <p:nvPr/>
            </p:nvSpPr>
            <p:spPr bwMode="auto">
              <a:xfrm>
                <a:off x="468313" y="1898650"/>
                <a:ext cx="1941512" cy="1098550"/>
              </a:xfrm>
              <a:prstGeom prst="rect">
                <a:avLst/>
              </a:prstGeom>
              <a:blipFill>
                <a:blip r:embed="rId4"/>
                <a:stretch>
                  <a:fillRect/>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899"/>
                                        </p:tgtEl>
                                        <p:attrNameLst>
                                          <p:attrName>style.visibility</p:attrName>
                                        </p:attrNameLst>
                                      </p:cBhvr>
                                      <p:to>
                                        <p:strVal val="visible"/>
                                      </p:to>
                                    </p:set>
                                    <p:animEffect transition="in" filter="wipe(left)">
                                      <p:cBhvr>
                                        <p:cTn id="7" dur="500"/>
                                        <p:tgtEl>
                                          <p:spTgt spid="808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900"/>
                                        </p:tgtEl>
                                        <p:attrNameLst>
                                          <p:attrName>style.visibility</p:attrName>
                                        </p:attrNameLst>
                                      </p:cBhvr>
                                      <p:to>
                                        <p:strVal val="visible"/>
                                      </p:to>
                                    </p:set>
                                    <p:animEffect transition="in" filter="wipe(left)">
                                      <p:cBhvr>
                                        <p:cTn id="12" dur="500"/>
                                        <p:tgtEl>
                                          <p:spTgt spid="809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9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9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90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0901"/>
                                        </p:tgtEl>
                                        <p:attrNameLst>
                                          <p:attrName>style.visibility</p:attrName>
                                        </p:attrNameLst>
                                      </p:cBhvr>
                                      <p:to>
                                        <p:strVal val="visible"/>
                                      </p:to>
                                    </p:set>
                                    <p:animEffect transition="in" filter="wipe(left)">
                                      <p:cBhvr>
                                        <p:cTn id="25" dur="500"/>
                                        <p:tgtEl>
                                          <p:spTgt spid="80901"/>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272"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500" fill="hold"/>
                                        <p:tgtEl>
                                          <p:spTgt spid="2"/>
                                        </p:tgtEl>
                                        <p:attrNameLst>
                                          <p:attrName>ppt_w</p:attrName>
                                        </p:attrNameLst>
                                      </p:cBhvr>
                                      <p:tavLst>
                                        <p:tav tm="0">
                                          <p:val>
                                            <p:strVal val="2/3*#ppt_w"/>
                                          </p:val>
                                        </p:tav>
                                        <p:tav tm="100000">
                                          <p:val>
                                            <p:strVal val="#ppt_w"/>
                                          </p:val>
                                        </p:tav>
                                      </p:tavLst>
                                    </p:anim>
                                    <p:anim calcmode="lin" valueType="num">
                                      <p:cBhvr>
                                        <p:cTn id="31" dur="5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lt">
                                    <p:tmPct val="100000"/>
                                  </p:iterate>
                                  <p:childTnLst>
                                    <p:set>
                                      <p:cBhvr>
                                        <p:cTn id="35" dur="1" fill="hold">
                                          <p:stCondLst>
                                            <p:cond delay="0"/>
                                          </p:stCondLst>
                                        </p:cTn>
                                        <p:tgtEl>
                                          <p:spTgt spid="80903"/>
                                        </p:tgtEl>
                                        <p:attrNameLst>
                                          <p:attrName>style.visibility</p:attrName>
                                        </p:attrNameLst>
                                      </p:cBhvr>
                                      <p:to>
                                        <p:strVal val="visible"/>
                                      </p:to>
                                    </p:set>
                                    <p:animEffect transition="in" filter="wipe(left)">
                                      <p:cBhvr>
                                        <p:cTn id="36" dur="75"/>
                                        <p:tgtEl>
                                          <p:spTgt spid="8090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iterate type="lt">
                                    <p:tmPct val="100000"/>
                                  </p:iterate>
                                  <p:childTnLst>
                                    <p:set>
                                      <p:cBhvr>
                                        <p:cTn id="40" dur="1" fill="hold">
                                          <p:stCondLst>
                                            <p:cond delay="0"/>
                                          </p:stCondLst>
                                        </p:cTn>
                                        <p:tgtEl>
                                          <p:spTgt spid="80904"/>
                                        </p:tgtEl>
                                        <p:attrNameLst>
                                          <p:attrName>style.visibility</p:attrName>
                                        </p:attrNameLst>
                                      </p:cBhvr>
                                      <p:to>
                                        <p:strVal val="visible"/>
                                      </p:to>
                                    </p:set>
                                    <p:animEffect transition="in" filter="wipe(left)">
                                      <p:cBhvr>
                                        <p:cTn id="41" dur="75"/>
                                        <p:tgtEl>
                                          <p:spTgt spid="80904"/>
                                        </p:tgtEl>
                                      </p:cBhvr>
                                    </p:animEffect>
                                  </p:childTnLst>
                                </p:cTn>
                              </p:par>
                            </p:childTnLst>
                          </p:cTn>
                        </p:par>
                        <p:par>
                          <p:cTn id="42" fill="hold">
                            <p:stCondLst>
                              <p:cond delay="1050"/>
                            </p:stCondLst>
                            <p:childTnLst>
                              <p:par>
                                <p:cTn id="43" presetID="22" presetClass="entr" presetSubtype="8" fill="hold" grpId="0" nodeType="afterEffect">
                                  <p:stCondLst>
                                    <p:cond delay="0"/>
                                  </p:stCondLst>
                                  <p:childTnLst>
                                    <p:set>
                                      <p:cBhvr>
                                        <p:cTn id="44" dur="1" fill="hold">
                                          <p:stCondLst>
                                            <p:cond delay="0"/>
                                          </p:stCondLst>
                                        </p:cTn>
                                        <p:tgtEl>
                                          <p:spTgt spid="80906">
                                            <p:txEl>
                                              <p:pRg st="0" end="0"/>
                                            </p:txEl>
                                          </p:spTgt>
                                        </p:tgtEl>
                                        <p:attrNameLst>
                                          <p:attrName>style.visibility</p:attrName>
                                        </p:attrNameLst>
                                      </p:cBhvr>
                                      <p:to>
                                        <p:strVal val="visible"/>
                                      </p:to>
                                    </p:set>
                                    <p:animEffect transition="in" filter="wipe(left)">
                                      <p:cBhvr>
                                        <p:cTn id="45" dur="500"/>
                                        <p:tgtEl>
                                          <p:spTgt spid="80906">
                                            <p:txEl>
                                              <p:pRg st="0" end="0"/>
                                            </p:txEl>
                                          </p:spTgt>
                                        </p:tgtEl>
                                      </p:cBhvr>
                                    </p:animEffect>
                                  </p:childTnLst>
                                </p:cTn>
                              </p:par>
                            </p:childTnLst>
                          </p:cTn>
                        </p:par>
                        <p:par>
                          <p:cTn id="46" fill="hold" nodeType="withGroup">
                            <p:stCondLst>
                              <p:cond delay="1550"/>
                            </p:stCondLst>
                            <p:childTnLst>
                              <p:par>
                                <p:cTn id="47" presetID="22" presetClass="entr" presetSubtype="8" fill="hold" grpId="0" nodeType="afterEffect">
                                  <p:stCondLst>
                                    <p:cond delay="0"/>
                                  </p:stCondLst>
                                  <p:childTnLst>
                                    <p:set>
                                      <p:cBhvr>
                                        <p:cTn id="48" dur="1" fill="hold">
                                          <p:stCondLst>
                                            <p:cond delay="0"/>
                                          </p:stCondLst>
                                        </p:cTn>
                                        <p:tgtEl>
                                          <p:spTgt spid="80906">
                                            <p:txEl>
                                              <p:pRg st="1" end="1"/>
                                            </p:txEl>
                                          </p:spTgt>
                                        </p:tgtEl>
                                        <p:attrNameLst>
                                          <p:attrName>style.visibility</p:attrName>
                                        </p:attrNameLst>
                                      </p:cBhvr>
                                      <p:to>
                                        <p:strVal val="visible"/>
                                      </p:to>
                                    </p:set>
                                    <p:animEffect transition="in" filter="wipe(left)">
                                      <p:cBhvr>
                                        <p:cTn id="49" dur="500"/>
                                        <p:tgtEl>
                                          <p:spTgt spid="80906">
                                            <p:txEl>
                                              <p:pRg st="1" end="1"/>
                                            </p:txEl>
                                          </p:spTgt>
                                        </p:tgtEl>
                                      </p:cBhvr>
                                    </p:animEffect>
                                  </p:childTnLst>
                                </p:cTn>
                              </p:par>
                            </p:childTnLst>
                          </p:cTn>
                        </p:par>
                        <p:par>
                          <p:cTn id="50" fill="hold" nodeType="withGroup">
                            <p:stCondLst>
                              <p:cond delay="2050"/>
                            </p:stCondLst>
                            <p:childTnLst>
                              <p:par>
                                <p:cTn id="51" presetID="22" presetClass="entr" presetSubtype="8" fill="hold" grpId="0" nodeType="afterEffect">
                                  <p:stCondLst>
                                    <p:cond delay="0"/>
                                  </p:stCondLst>
                                  <p:childTnLst>
                                    <p:set>
                                      <p:cBhvr>
                                        <p:cTn id="52" dur="1" fill="hold">
                                          <p:stCondLst>
                                            <p:cond delay="0"/>
                                          </p:stCondLst>
                                        </p:cTn>
                                        <p:tgtEl>
                                          <p:spTgt spid="80906">
                                            <p:txEl>
                                              <p:pRg st="2" end="2"/>
                                            </p:txEl>
                                          </p:spTgt>
                                        </p:tgtEl>
                                        <p:attrNameLst>
                                          <p:attrName>style.visibility</p:attrName>
                                        </p:attrNameLst>
                                      </p:cBhvr>
                                      <p:to>
                                        <p:strVal val="visible"/>
                                      </p:to>
                                    </p:set>
                                    <p:animEffect transition="in" filter="wipe(left)">
                                      <p:cBhvr>
                                        <p:cTn id="53" dur="500"/>
                                        <p:tgtEl>
                                          <p:spTgt spid="80906">
                                            <p:txEl>
                                              <p:pRg st="2" end="2"/>
                                            </p:txEl>
                                          </p:spTgt>
                                        </p:tgtEl>
                                      </p:cBhvr>
                                    </p:animEffect>
                                  </p:childTnLst>
                                </p:cTn>
                              </p:par>
                            </p:childTnLst>
                          </p:cTn>
                        </p:par>
                        <p:par>
                          <p:cTn id="54" fill="hold" nodeType="withGroup">
                            <p:stCondLst>
                              <p:cond delay="2550"/>
                            </p:stCondLst>
                            <p:childTnLst>
                              <p:par>
                                <p:cTn id="55" presetID="22" presetClass="entr" presetSubtype="8" fill="hold" grpId="0" nodeType="afterEffect">
                                  <p:stCondLst>
                                    <p:cond delay="0"/>
                                  </p:stCondLst>
                                  <p:childTnLst>
                                    <p:set>
                                      <p:cBhvr>
                                        <p:cTn id="56" dur="1" fill="hold">
                                          <p:stCondLst>
                                            <p:cond delay="0"/>
                                          </p:stCondLst>
                                        </p:cTn>
                                        <p:tgtEl>
                                          <p:spTgt spid="80906">
                                            <p:txEl>
                                              <p:pRg st="3" end="3"/>
                                            </p:txEl>
                                          </p:spTgt>
                                        </p:tgtEl>
                                        <p:attrNameLst>
                                          <p:attrName>style.visibility</p:attrName>
                                        </p:attrNameLst>
                                      </p:cBhvr>
                                      <p:to>
                                        <p:strVal val="visible"/>
                                      </p:to>
                                    </p:set>
                                    <p:animEffect transition="in" filter="wipe(left)">
                                      <p:cBhvr>
                                        <p:cTn id="57" dur="500"/>
                                        <p:tgtEl>
                                          <p:spTgt spid="80906">
                                            <p:txEl>
                                              <p:pRg st="3" end="3"/>
                                            </p:txEl>
                                          </p:spTgt>
                                        </p:tgtEl>
                                      </p:cBhvr>
                                    </p:animEffect>
                                  </p:childTnLst>
                                </p:cTn>
                              </p:par>
                            </p:childTnLst>
                          </p:cTn>
                        </p:par>
                        <p:par>
                          <p:cTn id="58" fill="hold">
                            <p:stCondLst>
                              <p:cond delay="3050"/>
                            </p:stCondLst>
                            <p:childTnLst>
                              <p:par>
                                <p:cTn id="59" presetID="22" presetClass="entr" presetSubtype="8" fill="hold" grpId="0" nodeType="afterEffect">
                                  <p:stCondLst>
                                    <p:cond delay="0"/>
                                  </p:stCondLst>
                                  <p:childTnLst>
                                    <p:set>
                                      <p:cBhvr>
                                        <p:cTn id="60" dur="1" fill="hold">
                                          <p:stCondLst>
                                            <p:cond delay="0"/>
                                          </p:stCondLst>
                                        </p:cTn>
                                        <p:tgtEl>
                                          <p:spTgt spid="80906">
                                            <p:txEl>
                                              <p:pRg st="4" end="4"/>
                                            </p:txEl>
                                          </p:spTgt>
                                        </p:tgtEl>
                                        <p:attrNameLst>
                                          <p:attrName>style.visibility</p:attrName>
                                        </p:attrNameLst>
                                      </p:cBhvr>
                                      <p:to>
                                        <p:strVal val="visible"/>
                                      </p:to>
                                    </p:set>
                                    <p:animEffect transition="in" filter="wipe(left)">
                                      <p:cBhvr>
                                        <p:cTn id="61" dur="500"/>
                                        <p:tgtEl>
                                          <p:spTgt spid="809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nimBg="1" autoUpdateAnimBg="0"/>
      <p:bldP spid="80900" grpId="0" autoUpdateAnimBg="0"/>
      <p:bldP spid="80901" grpId="0" autoUpdateAnimBg="0"/>
      <p:bldP spid="80903" grpId="0" autoUpdateAnimBg="0"/>
      <p:bldP spid="80904" grpId="0" autoUpdateAnimBg="0"/>
      <p:bldP spid="80906" grpId="0" build="p" bldLvl="2" autoUpdateAnimBg="0"/>
      <p:bldP spid="80907" grpId="0" animBg="1"/>
      <p:bldP spid="80923" grpId="0"/>
      <p:bldP spid="809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6" name="Text Box 1034"/>
          <p:cNvSpPr txBox="1">
            <a:spLocks noChangeArrowheads="1"/>
          </p:cNvSpPr>
          <p:nvPr/>
        </p:nvSpPr>
        <p:spPr bwMode="auto">
          <a:xfrm>
            <a:off x="288925" y="120650"/>
            <a:ext cx="4178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800" b="1">
                <a:solidFill>
                  <a:srgbClr val="3333FF"/>
                </a:solidFill>
              </a:rPr>
              <a:t>2</a:t>
            </a:r>
            <a:r>
              <a:rPr lang="zh-CN" altLang="en-US" sz="2800" b="1">
                <a:solidFill>
                  <a:srgbClr val="3333FF"/>
                </a:solidFill>
              </a:rPr>
              <a:t>、动量</a:t>
            </a:r>
            <a:r>
              <a:rPr lang="zh-CN" altLang="en-US" sz="3600" b="1">
                <a:solidFill>
                  <a:srgbClr val="FF3300"/>
                </a:solidFill>
              </a:rPr>
              <a:t> </a:t>
            </a:r>
            <a:r>
              <a:rPr lang="en-US" altLang="zh-CN" sz="3600" b="1">
                <a:solidFill>
                  <a:srgbClr val="FF3300"/>
                </a:solidFill>
              </a:rPr>
              <a:t>(Momentum)</a:t>
            </a:r>
            <a:endParaRPr lang="zh-CN" altLang="en-US" sz="3600" b="1">
              <a:solidFill>
                <a:srgbClr val="FF3300"/>
              </a:solidFill>
            </a:endParaRPr>
          </a:p>
        </p:txBody>
      </p:sp>
      <p:sp>
        <p:nvSpPr>
          <p:cNvPr id="101387" name="Text Box 1035"/>
          <p:cNvSpPr txBox="1">
            <a:spLocks noChangeArrowheads="1"/>
          </p:cNvSpPr>
          <p:nvPr/>
        </p:nvSpPr>
        <p:spPr bwMode="auto">
          <a:xfrm>
            <a:off x="365125" y="3011488"/>
            <a:ext cx="7740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a:solidFill>
                  <a:srgbClr val="FF3300"/>
                </a:solidFill>
              </a:rPr>
              <a:t>定义：物体的质量与速度的乘积叫做物体的动量 </a:t>
            </a:r>
          </a:p>
        </p:txBody>
      </p:sp>
      <mc:AlternateContent xmlns:mc="http://schemas.openxmlformats.org/markup-compatibility/2006" xmlns:a14="http://schemas.microsoft.com/office/drawing/2010/main">
        <mc:Choice Requires="a14">
          <p:sp>
            <p:nvSpPr>
              <p:cNvPr id="101388" name="Object 1036"/>
              <p:cNvSpPr txBox="1"/>
              <p:nvPr/>
            </p:nvSpPr>
            <p:spPr bwMode="auto">
              <a:xfrm>
                <a:off x="2819400" y="3706813"/>
                <a:ext cx="1530350" cy="592137"/>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oMath>
                  </m:oMathPara>
                </a14:m>
                <a:endParaRPr lang="zh-CN" altLang="en-US" dirty="0"/>
              </a:p>
            </p:txBody>
          </p:sp>
        </mc:Choice>
        <mc:Fallback xmlns="">
          <p:sp>
            <p:nvSpPr>
              <p:cNvPr id="101388" name="Object 1036"/>
              <p:cNvSpPr txBox="1">
                <a:spLocks noRot="1" noChangeAspect="1" noMove="1" noResize="1" noEditPoints="1" noAdjustHandles="1" noChangeArrowheads="1" noChangeShapeType="1" noTextEdit="1"/>
              </p:cNvSpPr>
              <p:nvPr/>
            </p:nvSpPr>
            <p:spPr bwMode="auto">
              <a:xfrm>
                <a:off x="2819400" y="3706813"/>
                <a:ext cx="1530350" cy="592137"/>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101390" name="Text Box 1038"/>
          <p:cNvSpPr txBox="1">
            <a:spLocks noChangeArrowheads="1"/>
          </p:cNvSpPr>
          <p:nvPr/>
        </p:nvSpPr>
        <p:spPr bwMode="auto">
          <a:xfrm>
            <a:off x="593725" y="4437063"/>
            <a:ext cx="7940675"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buFontTx/>
              <a:buChar char="•"/>
            </a:pPr>
            <a:r>
              <a:rPr lang="zh-CN" altLang="en-US" b="1">
                <a:solidFill>
                  <a:srgbClr val="FF0000"/>
                </a:solidFill>
                <a:ea typeface="宋体" pitchFamily="2" charset="-122"/>
              </a:rPr>
              <a:t>动量是矢量</a:t>
            </a:r>
            <a:r>
              <a:rPr lang="zh-CN" altLang="en-US" b="1">
                <a:ea typeface="宋体" pitchFamily="2" charset="-122"/>
              </a:rPr>
              <a:t>，大小为 </a:t>
            </a:r>
            <a:r>
              <a:rPr lang="en-US" altLang="zh-CN" b="1" i="1">
                <a:ea typeface="宋体" pitchFamily="2" charset="-122"/>
              </a:rPr>
              <a:t>mv</a:t>
            </a:r>
            <a:r>
              <a:rPr lang="zh-CN" altLang="en-US" b="1">
                <a:ea typeface="宋体" pitchFamily="2" charset="-122"/>
              </a:rPr>
              <a:t>，方向就是速度的方向；</a:t>
            </a:r>
          </a:p>
          <a:p>
            <a:pPr eaLnBrk="1" hangingPunct="1">
              <a:spcBef>
                <a:spcPct val="20000"/>
              </a:spcBef>
              <a:buFontTx/>
              <a:buChar char="•"/>
            </a:pPr>
            <a:r>
              <a:rPr lang="zh-CN" altLang="en-US" b="1">
                <a:solidFill>
                  <a:srgbClr val="FF0000"/>
                </a:solidFill>
                <a:ea typeface="宋体" pitchFamily="2" charset="-122"/>
              </a:rPr>
              <a:t>状态量</a:t>
            </a:r>
            <a:r>
              <a:rPr lang="zh-CN" altLang="en-US" b="1">
                <a:ea typeface="宋体" pitchFamily="2" charset="-122"/>
              </a:rPr>
              <a:t>：表征了物体的运动状态</a:t>
            </a:r>
            <a:r>
              <a:rPr lang="zh-CN" altLang="en-US" sz="3600" b="1">
                <a:solidFill>
                  <a:srgbClr val="FF3300"/>
                </a:solidFill>
              </a:rPr>
              <a:t> </a:t>
            </a:r>
          </a:p>
        </p:txBody>
      </p:sp>
      <p:sp>
        <p:nvSpPr>
          <p:cNvPr id="101391" name="Text Box 1039"/>
          <p:cNvSpPr txBox="1">
            <a:spLocks noChangeArrowheads="1"/>
          </p:cNvSpPr>
          <p:nvPr/>
        </p:nvSpPr>
        <p:spPr bwMode="auto">
          <a:xfrm>
            <a:off x="611188" y="5637213"/>
            <a:ext cx="3192462"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buFontTx/>
              <a:buChar char="•"/>
            </a:pPr>
            <a:r>
              <a:rPr lang="zh-CN" altLang="en-US" sz="2800" b="1">
                <a:ea typeface="宋体" pitchFamily="2" charset="-122"/>
              </a:rPr>
              <a:t>单位： </a:t>
            </a:r>
            <a:r>
              <a:rPr lang="en-US" altLang="zh-CN" sz="2800" b="1">
                <a:ea typeface="宋体" pitchFamily="2" charset="-122"/>
              </a:rPr>
              <a:t>kg·m·s</a:t>
            </a:r>
            <a:r>
              <a:rPr lang="en-US" altLang="zh-CN" sz="2800" b="1" baseline="30000">
                <a:ea typeface="宋体" pitchFamily="2" charset="-122"/>
              </a:rPr>
              <a:t>-1</a:t>
            </a:r>
            <a:r>
              <a:rPr lang="en-US" altLang="zh-CN" sz="2800" b="1">
                <a:ea typeface="宋体" pitchFamily="2" charset="-122"/>
              </a:rPr>
              <a:t>      </a:t>
            </a:r>
          </a:p>
          <a:p>
            <a:pPr eaLnBrk="1" hangingPunct="1">
              <a:spcBef>
                <a:spcPct val="20000"/>
              </a:spcBef>
              <a:buFontTx/>
              <a:buChar char="•"/>
            </a:pPr>
            <a:r>
              <a:rPr lang="zh-CN" altLang="en-US" sz="2800" b="1">
                <a:ea typeface="宋体" pitchFamily="2" charset="-122"/>
              </a:rPr>
              <a:t>量纲：</a:t>
            </a:r>
            <a:r>
              <a:rPr lang="en-US" altLang="zh-CN" sz="2800" b="1">
                <a:ea typeface="宋体" pitchFamily="2" charset="-122"/>
              </a:rPr>
              <a:t>MLT</a:t>
            </a:r>
            <a:r>
              <a:rPr lang="zh-CN" altLang="en-US" sz="2800" b="1" baseline="30000">
                <a:ea typeface="宋体" pitchFamily="2" charset="-122"/>
              </a:rPr>
              <a:t>－</a:t>
            </a:r>
            <a:r>
              <a:rPr lang="en-US" altLang="zh-CN" sz="2800" b="1" baseline="30000">
                <a:ea typeface="宋体" pitchFamily="2" charset="-122"/>
              </a:rPr>
              <a:t>1</a:t>
            </a:r>
            <a:endParaRPr lang="en-US" altLang="zh-CN" sz="4000" b="1" baseline="30000">
              <a:solidFill>
                <a:srgbClr val="FF3300"/>
              </a:solidFill>
            </a:endParaRPr>
          </a:p>
        </p:txBody>
      </p:sp>
      <p:sp>
        <p:nvSpPr>
          <p:cNvPr id="101392" name="Text Box 1040"/>
          <p:cNvSpPr txBox="1">
            <a:spLocks noChangeArrowheads="1"/>
          </p:cNvSpPr>
          <p:nvPr/>
        </p:nvSpPr>
        <p:spPr bwMode="auto">
          <a:xfrm>
            <a:off x="609600" y="858838"/>
            <a:ext cx="4894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a:ea typeface="宋体" pitchFamily="2" charset="-122"/>
              </a:rPr>
              <a:t>牛顿第二定律的另外一种表示方法</a:t>
            </a:r>
            <a:r>
              <a:rPr lang="zh-CN" altLang="en-US" sz="3600" b="1">
                <a:solidFill>
                  <a:srgbClr val="FF3300"/>
                </a:solidFill>
              </a:rPr>
              <a:t> </a:t>
            </a:r>
          </a:p>
        </p:txBody>
      </p:sp>
      <mc:AlternateContent xmlns:mc="http://schemas.openxmlformats.org/markup-compatibility/2006" xmlns:a14="http://schemas.microsoft.com/office/drawing/2010/main">
        <mc:Choice Requires="a14">
          <p:sp>
            <p:nvSpPr>
              <p:cNvPr id="101395" name="Object 1043"/>
              <p:cNvSpPr txBox="1"/>
              <p:nvPr/>
            </p:nvSpPr>
            <p:spPr bwMode="auto">
              <a:xfrm>
                <a:off x="1952625" y="1652588"/>
                <a:ext cx="4857750" cy="984250"/>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dirty="0"/>
              </a:p>
            </p:txBody>
          </p:sp>
        </mc:Choice>
        <mc:Fallback xmlns="">
          <p:sp>
            <p:nvSpPr>
              <p:cNvPr id="101395" name="Object 1043"/>
              <p:cNvSpPr txBox="1">
                <a:spLocks noRot="1" noChangeAspect="1" noMove="1" noResize="1" noEditPoints="1" noAdjustHandles="1" noChangeArrowheads="1" noChangeShapeType="1" noTextEdit="1"/>
              </p:cNvSpPr>
              <p:nvPr/>
            </p:nvSpPr>
            <p:spPr bwMode="auto">
              <a:xfrm>
                <a:off x="1952625" y="1652588"/>
                <a:ext cx="4857750" cy="984250"/>
              </a:xfrm>
              <a:prstGeom prst="rect">
                <a:avLst/>
              </a:prstGeom>
              <a:blipFill>
                <a:blip r:embed="rId3"/>
                <a:stretch>
                  <a:fillRect/>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86"/>
                                        </p:tgtEl>
                                        <p:attrNameLst>
                                          <p:attrName>style.visibility</p:attrName>
                                        </p:attrNameLst>
                                      </p:cBhvr>
                                      <p:to>
                                        <p:strVal val="visible"/>
                                      </p:to>
                                    </p:set>
                                    <p:animEffect transition="in" filter="wipe(left)">
                                      <p:cBhvr>
                                        <p:cTn id="7" dur="500"/>
                                        <p:tgtEl>
                                          <p:spTgt spid="101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1392"/>
                                        </p:tgtEl>
                                        <p:attrNameLst>
                                          <p:attrName>style.visibility</p:attrName>
                                        </p:attrNameLst>
                                      </p:cBhvr>
                                      <p:to>
                                        <p:strVal val="visible"/>
                                      </p:to>
                                    </p:set>
                                    <p:animEffect transition="in" filter="wipe(left)">
                                      <p:cBhvr>
                                        <p:cTn id="12" dur="500"/>
                                        <p:tgtEl>
                                          <p:spTgt spid="1013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139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1387"/>
                                        </p:tgtEl>
                                        <p:attrNameLst>
                                          <p:attrName>style.visibility</p:attrName>
                                        </p:attrNameLst>
                                      </p:cBhvr>
                                      <p:to>
                                        <p:strVal val="visible"/>
                                      </p:to>
                                    </p:set>
                                    <p:animEffect transition="in" filter="wipe(left)">
                                      <p:cBhvr>
                                        <p:cTn id="21" dur="500"/>
                                        <p:tgtEl>
                                          <p:spTgt spid="10138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138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1390"/>
                                        </p:tgtEl>
                                        <p:attrNameLst>
                                          <p:attrName>style.visibility</p:attrName>
                                        </p:attrNameLst>
                                      </p:cBhvr>
                                      <p:to>
                                        <p:strVal val="visible"/>
                                      </p:to>
                                    </p:set>
                                    <p:animEffect transition="in" filter="wipe(left)">
                                      <p:cBhvr>
                                        <p:cTn id="30" dur="500"/>
                                        <p:tgtEl>
                                          <p:spTgt spid="10139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1391"/>
                                        </p:tgtEl>
                                        <p:attrNameLst>
                                          <p:attrName>style.visibility</p:attrName>
                                        </p:attrNameLst>
                                      </p:cBhvr>
                                      <p:to>
                                        <p:strVal val="visible"/>
                                      </p:to>
                                    </p:set>
                                    <p:animEffect transition="in" filter="wipe(left)">
                                      <p:cBhvr>
                                        <p:cTn id="35" dur="500"/>
                                        <p:tgtEl>
                                          <p:spTgt spid="101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6" grpId="0" autoUpdateAnimBg="0"/>
      <p:bldP spid="101387" grpId="0" autoUpdateAnimBg="0"/>
      <p:bldP spid="101388" grpId="0" animBg="1"/>
      <p:bldP spid="101390" grpId="0" autoUpdateAnimBg="0"/>
      <p:bldP spid="101391" grpId="0" autoUpdateAnimBg="0"/>
      <p:bldP spid="101392" grpId="0" autoUpdateAnimBg="0"/>
      <p:bldP spid="10139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304800" y="304800"/>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800" b="1">
                <a:solidFill>
                  <a:srgbClr val="3333FF"/>
                </a:solidFill>
              </a:rPr>
              <a:t>3</a:t>
            </a:r>
            <a:r>
              <a:rPr lang="zh-CN" altLang="en-US" sz="2800" b="1">
                <a:solidFill>
                  <a:srgbClr val="3333FF"/>
                </a:solidFill>
              </a:rPr>
              <a:t>、动量定理</a:t>
            </a:r>
          </a:p>
        </p:txBody>
      </p:sp>
      <mc:AlternateContent xmlns:mc="http://schemas.openxmlformats.org/markup-compatibility/2006" xmlns:a14="http://schemas.microsoft.com/office/drawing/2010/main">
        <mc:Choice Requires="a14">
          <p:sp>
            <p:nvSpPr>
              <p:cNvPr id="184320" name="Object 1024"/>
              <p:cNvSpPr txBox="1"/>
              <p:nvPr/>
            </p:nvSpPr>
            <p:spPr bwMode="auto">
              <a:xfrm>
                <a:off x="3492500" y="1828800"/>
                <a:ext cx="4256088" cy="930275"/>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a:p>
            </p:txBody>
          </p:sp>
        </mc:Choice>
        <mc:Fallback xmlns="">
          <p:sp>
            <p:nvSpPr>
              <p:cNvPr id="184320" name="Object 1024"/>
              <p:cNvSpPr txBox="1">
                <a:spLocks noRot="1" noChangeAspect="1" noMove="1" noResize="1" noEditPoints="1" noAdjustHandles="1" noChangeArrowheads="1" noChangeShapeType="1" noTextEdit="1"/>
              </p:cNvSpPr>
              <p:nvPr/>
            </p:nvSpPr>
            <p:spPr bwMode="auto">
              <a:xfrm>
                <a:off x="3492500" y="1828800"/>
                <a:ext cx="4256088" cy="930275"/>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81924" name="Text Box 4"/>
          <p:cNvSpPr txBox="1">
            <a:spLocks noChangeArrowheads="1"/>
          </p:cNvSpPr>
          <p:nvPr/>
        </p:nvSpPr>
        <p:spPr bwMode="auto">
          <a:xfrm>
            <a:off x="457200" y="28194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ea typeface="宋体" pitchFamily="2" charset="-122"/>
              </a:rPr>
              <a:t>F</a:t>
            </a:r>
            <a:r>
              <a:rPr lang="zh-CN" altLang="zh-CN" b="1">
                <a:ea typeface="宋体" pitchFamily="2" charset="-122"/>
              </a:rPr>
              <a:t>为恒力时，可以得出</a:t>
            </a:r>
            <a:r>
              <a:rPr lang="en-US" altLang="zh-CN" b="1" i="1">
                <a:ea typeface="宋体" pitchFamily="2" charset="-122"/>
              </a:rPr>
              <a:t>I</a:t>
            </a:r>
            <a:r>
              <a:rPr lang="zh-CN" altLang="en-US" b="1">
                <a:ea typeface="宋体" pitchFamily="2" charset="-122"/>
              </a:rPr>
              <a:t>＝</a:t>
            </a:r>
            <a:r>
              <a:rPr lang="en-US" altLang="zh-CN" b="1" i="1">
                <a:ea typeface="宋体" pitchFamily="2" charset="-122"/>
              </a:rPr>
              <a:t>F</a:t>
            </a:r>
            <a:r>
              <a:rPr lang="en-US" altLang="zh-CN" b="1">
                <a:ea typeface="宋体" pitchFamily="2" charset="-122"/>
                <a:sym typeface="Symbol" pitchFamily="18" charset="2"/>
              </a:rPr>
              <a:t></a:t>
            </a:r>
            <a:r>
              <a:rPr lang="en-US" altLang="zh-CN" b="1" i="1">
                <a:ea typeface="宋体" pitchFamily="2" charset="-122"/>
                <a:sym typeface="Symbol" pitchFamily="18" charset="2"/>
              </a:rPr>
              <a:t> t</a:t>
            </a:r>
          </a:p>
        </p:txBody>
      </p:sp>
      <mc:AlternateContent xmlns:mc="http://schemas.openxmlformats.org/markup-compatibility/2006" xmlns:a14="http://schemas.microsoft.com/office/drawing/2010/main">
        <mc:Choice Requires="a14">
          <p:sp>
            <p:nvSpPr>
              <p:cNvPr id="184321" name="Object 1025"/>
              <p:cNvSpPr txBox="1"/>
              <p:nvPr/>
            </p:nvSpPr>
            <p:spPr bwMode="auto">
              <a:xfrm>
                <a:off x="2095500" y="3617913"/>
                <a:ext cx="4722813" cy="1757362"/>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0">
                          <a:solidFill>
                            <a:srgbClr val="000000"/>
                          </a:solidFill>
                          <a:latin typeface="Cambria Math" panose="02040503050406030204" pitchFamily="18" charset="0"/>
                        </a:rPr>
                        <m:t> </m:t>
                      </m:r>
                    </m:oMath>
                    <m:oMath xmlns:m="http://schemas.openxmlformats.org/officeDocument/2006/math">
                      <m:r>
                        <a:rPr lang="zh-CN" altLang="en-US" i="0">
                          <a:solidFill>
                            <a:srgbClr val="000000"/>
                          </a:solidFill>
                          <a:latin typeface="Cambria Math" panose="02040503050406030204" pitchFamily="18" charset="0"/>
                        </a:rPr>
                        <m:t> </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184321" name="Object 1025"/>
              <p:cNvSpPr txBox="1">
                <a:spLocks noRot="1" noChangeAspect="1" noMove="1" noResize="1" noEditPoints="1" noAdjustHandles="1" noChangeArrowheads="1" noChangeShapeType="1" noTextEdit="1"/>
              </p:cNvSpPr>
              <p:nvPr/>
            </p:nvSpPr>
            <p:spPr bwMode="auto">
              <a:xfrm>
                <a:off x="2095500" y="3617913"/>
                <a:ext cx="4722813" cy="1757362"/>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81926" name="Text Box 6"/>
          <p:cNvSpPr txBox="1">
            <a:spLocks noChangeArrowheads="1"/>
          </p:cNvSpPr>
          <p:nvPr/>
        </p:nvSpPr>
        <p:spPr bwMode="auto">
          <a:xfrm>
            <a:off x="539750" y="5516563"/>
            <a:ext cx="7848600" cy="954087"/>
          </a:xfrm>
          <a:prstGeom prst="rect">
            <a:avLst/>
          </a:prstGeom>
          <a:solidFill>
            <a:srgbClr val="FFFF66"/>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a:t> </a:t>
            </a:r>
            <a:r>
              <a:rPr lang="zh-CN" altLang="en-US" b="1"/>
              <a:t>质点在运动过程中，所受合外力的冲量等于质点动量的增量</a:t>
            </a:r>
            <a:r>
              <a:rPr lang="en-US" altLang="zh-CN" b="1">
                <a:ea typeface="宋体" pitchFamily="2" charset="-122"/>
              </a:rPr>
              <a:t>——</a:t>
            </a:r>
            <a:r>
              <a:rPr lang="zh-CN" altLang="en-US" sz="3200" b="1">
                <a:solidFill>
                  <a:srgbClr val="0000FF"/>
                </a:solidFill>
              </a:rPr>
              <a:t>动量定理（</a:t>
            </a:r>
            <a:r>
              <a:rPr lang="en-US" altLang="zh-CN" sz="3200" b="1">
                <a:solidFill>
                  <a:srgbClr val="0000FF"/>
                </a:solidFill>
              </a:rPr>
              <a:t>theorem of momentum</a:t>
            </a:r>
            <a:r>
              <a:rPr lang="zh-CN" altLang="en-US" sz="3200" b="1">
                <a:solidFill>
                  <a:srgbClr val="0000FF"/>
                </a:solidFill>
              </a:rPr>
              <a:t>）</a:t>
            </a:r>
            <a:endParaRPr lang="zh-CN" altLang="en-US" sz="3200" b="1">
              <a:solidFill>
                <a:schemeClr val="tx2"/>
              </a:solidFill>
              <a:ea typeface="宋体" pitchFamily="2" charset="-122"/>
            </a:endParaRPr>
          </a:p>
        </p:txBody>
      </p:sp>
      <mc:AlternateContent xmlns:mc="http://schemas.openxmlformats.org/markup-compatibility/2006" xmlns:a14="http://schemas.microsoft.com/office/drawing/2010/main">
        <mc:Choice Requires="a14">
          <p:sp>
            <p:nvSpPr>
              <p:cNvPr id="184322" name="Object 1026"/>
              <p:cNvSpPr txBox="1"/>
              <p:nvPr/>
            </p:nvSpPr>
            <p:spPr bwMode="auto">
              <a:xfrm>
                <a:off x="250825" y="1854200"/>
                <a:ext cx="3038475" cy="927100"/>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2</m:t>
                              </m:r>
                            </m:sub>
                          </m:sSub>
                        </m:sup>
                        <m:e>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nary>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dirty="0"/>
              </a:p>
            </p:txBody>
          </p:sp>
        </mc:Choice>
        <mc:Fallback xmlns="">
          <p:sp>
            <p:nvSpPr>
              <p:cNvPr id="184322" name="Object 1026"/>
              <p:cNvSpPr txBox="1">
                <a:spLocks noRot="1" noChangeAspect="1" noMove="1" noResize="1" noEditPoints="1" noAdjustHandles="1" noChangeArrowheads="1" noChangeShapeType="1" noTextEdit="1"/>
              </p:cNvSpPr>
              <p:nvPr/>
            </p:nvSpPr>
            <p:spPr bwMode="auto">
              <a:xfrm>
                <a:off x="250825" y="1854200"/>
                <a:ext cx="3038475" cy="927100"/>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323" name="Object 1027"/>
              <p:cNvSpPr txBox="1"/>
              <p:nvPr/>
            </p:nvSpPr>
            <p:spPr bwMode="auto">
              <a:xfrm>
                <a:off x="4067175" y="908050"/>
                <a:ext cx="2473325" cy="6286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0">
                          <a:solidFill>
                            <a:srgbClr val="000000"/>
                          </a:solidFill>
                          <a:latin typeface="Cambria Math" panose="02040503050406030204" pitchFamily="18" charset="0"/>
                        </a:rPr>
                        <m:t> </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oMath>
                  </m:oMathPara>
                </a14:m>
                <a:endParaRPr lang="zh-CN" altLang="en-US"/>
              </a:p>
            </p:txBody>
          </p:sp>
        </mc:Choice>
        <mc:Fallback xmlns="">
          <p:sp>
            <p:nvSpPr>
              <p:cNvPr id="184323" name="Object 1027"/>
              <p:cNvSpPr txBox="1">
                <a:spLocks noRot="1" noChangeAspect="1" noMove="1" noResize="1" noEditPoints="1" noAdjustHandles="1" noChangeArrowheads="1" noChangeShapeType="1" noTextEdit="1"/>
              </p:cNvSpPr>
              <p:nvPr/>
            </p:nvSpPr>
            <p:spPr bwMode="auto">
              <a:xfrm>
                <a:off x="4067175" y="908050"/>
                <a:ext cx="2473325" cy="628650"/>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324" name="Object 1028"/>
              <p:cNvSpPr txBox="1"/>
              <p:nvPr/>
            </p:nvSpPr>
            <p:spPr bwMode="auto">
              <a:xfrm>
                <a:off x="1258888" y="719138"/>
                <a:ext cx="1941512" cy="10985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nor/>
                        </m:rPr>
                        <a:rPr lang="zh-CN" altLang="en-US" i="0">
                          <a:solidFill>
                            <a:srgbClr val="000000"/>
                          </a:solidFill>
                          <a:latin typeface="Cambria Math" panose="02040503050406030204" pitchFamily="18" charset="0"/>
                        </a:rPr>
                        <m:t>  </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dirty="0"/>
              </a:p>
            </p:txBody>
          </p:sp>
        </mc:Choice>
        <mc:Fallback xmlns="">
          <p:sp>
            <p:nvSpPr>
              <p:cNvPr id="184324" name="Object 1028"/>
              <p:cNvSpPr txBox="1">
                <a:spLocks noRot="1" noChangeAspect="1" noMove="1" noResize="1" noEditPoints="1" noAdjustHandles="1" noChangeArrowheads="1" noChangeShapeType="1" noTextEdit="1"/>
              </p:cNvSpPr>
              <p:nvPr/>
            </p:nvSpPr>
            <p:spPr bwMode="auto">
              <a:xfrm>
                <a:off x="1258888" y="719138"/>
                <a:ext cx="1941512" cy="1098550"/>
              </a:xfrm>
              <a:prstGeom prst="rect">
                <a:avLst/>
              </a:prstGeom>
              <a:blipFill>
                <a:blip r:embed="rId6"/>
                <a:stretch>
                  <a:fillRect/>
                </a:stretch>
              </a:blipFill>
              <a:ln>
                <a:noFill/>
              </a:ln>
              <a:effectLst/>
              <a:extLst/>
            </p:spPr>
            <p:txBody>
              <a:bodyPr/>
              <a:lstStyle/>
              <a:p>
                <a:r>
                  <a:rPr lang="zh-CN" altLang="en-US">
                    <a:noFill/>
                  </a:rPr>
                  <a:t> </a:t>
                </a:r>
              </a:p>
            </p:txBody>
          </p:sp>
        </mc:Fallback>
      </mc:AlternateContent>
      <p:sp>
        <p:nvSpPr>
          <p:cNvPr id="81934" name="Text Box 14"/>
          <p:cNvSpPr txBox="1">
            <a:spLocks noChangeArrowheads="1"/>
          </p:cNvSpPr>
          <p:nvPr/>
        </p:nvSpPr>
        <p:spPr bwMode="auto">
          <a:xfrm>
            <a:off x="6659563" y="981075"/>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b="1"/>
              <a:t>微分形式</a:t>
            </a:r>
          </a:p>
        </p:txBody>
      </p:sp>
      <p:sp>
        <p:nvSpPr>
          <p:cNvPr id="81935" name="Text Box 15"/>
          <p:cNvSpPr txBox="1">
            <a:spLocks noChangeArrowheads="1"/>
          </p:cNvSpPr>
          <p:nvPr/>
        </p:nvSpPr>
        <p:spPr bwMode="auto">
          <a:xfrm>
            <a:off x="7631113" y="1989138"/>
            <a:ext cx="154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b="1"/>
              <a:t>积分形式</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2"/>
                                        </p:tgtEl>
                                        <p:attrNameLst>
                                          <p:attrName>style.visibility</p:attrName>
                                        </p:attrNameLst>
                                      </p:cBhvr>
                                      <p:to>
                                        <p:strVal val="visible"/>
                                      </p:to>
                                    </p:set>
                                    <p:animEffect transition="in" filter="wipe(left)">
                                      <p:cBhvr>
                                        <p:cTn id="7" dur="500"/>
                                        <p:tgtEl>
                                          <p:spTgt spid="819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432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8432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1934"/>
                                        </p:tgtEl>
                                        <p:attrNameLst>
                                          <p:attrName>style.visibility</p:attrName>
                                        </p:attrNameLst>
                                      </p:cBhvr>
                                      <p:to>
                                        <p:strVal val="visible"/>
                                      </p:to>
                                    </p:set>
                                    <p:animEffect transition="in" filter="blinds(horizontal)">
                                      <p:cBhvr>
                                        <p:cTn id="18" dur="500"/>
                                        <p:tgtEl>
                                          <p:spTgt spid="8193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81935"/>
                                        </p:tgtEl>
                                        <p:attrNameLst>
                                          <p:attrName>style.visibility</p:attrName>
                                        </p:attrNameLst>
                                      </p:cBhvr>
                                      <p:to>
                                        <p:strVal val="visible"/>
                                      </p:to>
                                    </p:set>
                                    <p:animEffect transition="in" filter="blinds(horizontal)">
                                      <p:cBhvr>
                                        <p:cTn id="29" dur="500"/>
                                        <p:tgtEl>
                                          <p:spTgt spid="8193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1924"/>
                                        </p:tgtEl>
                                        <p:attrNameLst>
                                          <p:attrName>style.visibility</p:attrName>
                                        </p:attrNameLst>
                                      </p:cBhvr>
                                      <p:to>
                                        <p:strVal val="visible"/>
                                      </p:to>
                                    </p:set>
                                    <p:animEffect transition="in" filter="wipe(left)">
                                      <p:cBhvr>
                                        <p:cTn id="34" dur="500"/>
                                        <p:tgtEl>
                                          <p:spTgt spid="8192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3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81926"/>
                                        </p:tgtEl>
                                        <p:attrNameLst>
                                          <p:attrName>style.visibility</p:attrName>
                                        </p:attrNameLst>
                                      </p:cBhvr>
                                      <p:to>
                                        <p:strVal val="visible"/>
                                      </p:to>
                                    </p:set>
                                    <p:animEffect transition="in" filter="wipe(left)">
                                      <p:cBhvr>
                                        <p:cTn id="43" dur="75"/>
                                        <p:tgtEl>
                                          <p:spTgt spid="81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P spid="184320" grpId="0"/>
      <p:bldP spid="81924" grpId="0" autoUpdateAnimBg="0"/>
      <p:bldP spid="184321" grpId="0" animBg="1"/>
      <p:bldP spid="81926" grpId="0" animBg="1" autoUpdateAnimBg="0"/>
      <p:bldP spid="184322" grpId="0"/>
      <p:bldP spid="184323" grpId="0"/>
      <p:bldP spid="184324" grpId="0"/>
      <p:bldP spid="81934" grpId="0"/>
      <p:bldP spid="819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457200" y="228600"/>
            <a:ext cx="152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r>
              <a:rPr lang="zh-CN" altLang="en-US" sz="2800" b="1"/>
              <a:t>说明</a:t>
            </a:r>
            <a:endParaRPr lang="zh-CN" altLang="en-US" sz="3600" b="1"/>
          </a:p>
        </p:txBody>
      </p:sp>
      <p:sp>
        <p:nvSpPr>
          <p:cNvPr id="82947" name="Text Box 3"/>
          <p:cNvSpPr txBox="1">
            <a:spLocks noChangeArrowheads="1"/>
          </p:cNvSpPr>
          <p:nvPr/>
        </p:nvSpPr>
        <p:spPr bwMode="auto">
          <a:xfrm>
            <a:off x="300051" y="815975"/>
            <a:ext cx="8505825"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b="1">
                <a:latin typeface="华文楷体" pitchFamily="2" charset="-122"/>
                <a:ea typeface="华文楷体" pitchFamily="2" charset="-122"/>
              </a:rPr>
              <a:t>1</a:t>
            </a:r>
            <a:r>
              <a:rPr lang="zh-CN" altLang="en-US" b="1">
                <a:latin typeface="华文楷体" pitchFamily="2" charset="-122"/>
                <a:ea typeface="华文楷体" pitchFamily="2" charset="-122"/>
              </a:rPr>
              <a:t>、</a:t>
            </a:r>
            <a:r>
              <a:rPr lang="en-US" altLang="zh-CN" b="1">
                <a:latin typeface="华文楷体" pitchFamily="2" charset="-122"/>
                <a:ea typeface="华文楷体" pitchFamily="2" charset="-122"/>
              </a:rPr>
              <a:t> </a:t>
            </a:r>
            <a:r>
              <a:rPr lang="zh-CN" altLang="en-US" b="1">
                <a:latin typeface="华文楷体" pitchFamily="2" charset="-122"/>
                <a:ea typeface="华文楷体" pitchFamily="2" charset="-122"/>
              </a:rPr>
              <a:t>冲量</a:t>
            </a:r>
            <a:r>
              <a:rPr lang="en-US" altLang="zh-CN" b="1">
                <a:latin typeface="华文楷体" pitchFamily="2" charset="-122"/>
                <a:ea typeface="华文楷体" pitchFamily="2" charset="-122"/>
              </a:rPr>
              <a:t>I</a:t>
            </a:r>
            <a:r>
              <a:rPr lang="zh-CN" altLang="en-US" b="1">
                <a:latin typeface="华文楷体" pitchFamily="2" charset="-122"/>
                <a:ea typeface="华文楷体" pitchFamily="2" charset="-122"/>
              </a:rPr>
              <a:t> 的方向是所有元冲量  </a:t>
            </a:r>
            <a:r>
              <a:rPr lang="en-US" altLang="zh-CN" b="1" i="1">
                <a:latin typeface="+mj-lt"/>
                <a:ea typeface="华文楷体" pitchFamily="2" charset="-122"/>
              </a:rPr>
              <a:t>f</a:t>
            </a:r>
            <a:r>
              <a:rPr lang="en-US" altLang="zh-CN" b="1">
                <a:latin typeface="+mj-lt"/>
                <a:ea typeface="华文楷体" pitchFamily="2" charset="-122"/>
              </a:rPr>
              <a:t>d</a:t>
            </a:r>
            <a:r>
              <a:rPr lang="en-US" altLang="zh-CN" b="1" i="1">
                <a:latin typeface="华文楷体" pitchFamily="2" charset="-122"/>
                <a:ea typeface="华文楷体" pitchFamily="2" charset="-122"/>
              </a:rPr>
              <a:t>t</a:t>
            </a:r>
            <a:r>
              <a:rPr lang="zh-CN" altLang="en-US" b="1">
                <a:latin typeface="华文楷体" pitchFamily="2" charset="-122"/>
                <a:ea typeface="华文楷体" pitchFamily="2" charset="-122"/>
              </a:rPr>
              <a:t> 的合矢量的方向</a:t>
            </a:r>
            <a:r>
              <a:rPr lang="zh-CN" altLang="en-US">
                <a:latin typeface="华文楷体" pitchFamily="2" charset="-122"/>
                <a:ea typeface="华文楷体" pitchFamily="2" charset="-122"/>
              </a:rPr>
              <a:t>。</a:t>
            </a:r>
            <a:r>
              <a:rPr lang="zh-CN" altLang="en-US" b="1">
                <a:latin typeface="华文楷体" pitchFamily="2" charset="-122"/>
                <a:ea typeface="华文楷体" pitchFamily="2" charset="-122"/>
              </a:rPr>
              <a:t>动量定理反映了力在时间上的累积作用对质点产生的效果。</a:t>
            </a:r>
            <a:endParaRPr lang="zh-CN" altLang="en-US" b="1">
              <a:solidFill>
                <a:srgbClr val="FF0000"/>
              </a:solidFill>
              <a:latin typeface="华文楷体" pitchFamily="2" charset="-122"/>
              <a:ea typeface="华文楷体" pitchFamily="2" charset="-122"/>
            </a:endParaRPr>
          </a:p>
          <a:p>
            <a:pPr eaLnBrk="1" hangingPunct="1">
              <a:spcBef>
                <a:spcPct val="20000"/>
              </a:spcBef>
            </a:pPr>
            <a:r>
              <a:rPr lang="en-US" altLang="zh-CN" b="1">
                <a:latin typeface="华文楷体" pitchFamily="2" charset="-122"/>
                <a:ea typeface="华文楷体" pitchFamily="2" charset="-122"/>
              </a:rPr>
              <a:t>2</a:t>
            </a:r>
            <a:r>
              <a:rPr lang="zh-CN" altLang="en-US" b="1">
                <a:latin typeface="华文楷体" pitchFamily="2" charset="-122"/>
                <a:ea typeface="华文楷体" pitchFamily="2" charset="-122"/>
              </a:rPr>
              <a:t>、动量定理说明质点动量的改变是由外力和外力作用时间两个因素，即</a:t>
            </a:r>
            <a:r>
              <a:rPr lang="zh-CN" altLang="en-US" b="1">
                <a:solidFill>
                  <a:srgbClr val="FF0000"/>
                </a:solidFill>
                <a:latin typeface="华文楷体" pitchFamily="2" charset="-122"/>
                <a:ea typeface="华文楷体" pitchFamily="2" charset="-122"/>
              </a:rPr>
              <a:t>冲量决定的</a:t>
            </a:r>
            <a:r>
              <a:rPr lang="zh-CN" altLang="en-US" b="1">
                <a:latin typeface="华文楷体" pitchFamily="2" charset="-122"/>
                <a:ea typeface="华文楷体" pitchFamily="2" charset="-122"/>
              </a:rPr>
              <a:t>。</a:t>
            </a:r>
          </a:p>
        </p:txBody>
      </p:sp>
      <p:pic>
        <p:nvPicPr>
          <p:cNvPr id="8" name="Picture 3" descr="图2-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3212976"/>
            <a:ext cx="4175125"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13"/>
          <p:cNvSpPr txBox="1">
            <a:spLocks noChangeArrowheads="1"/>
          </p:cNvSpPr>
          <p:nvPr/>
        </p:nvSpPr>
        <p:spPr bwMode="auto">
          <a:xfrm>
            <a:off x="395288" y="4076700"/>
            <a:ext cx="3600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a:t>逆风行舟的分析：</a:t>
            </a:r>
          </a:p>
        </p:txBody>
      </p:sp>
      <p:cxnSp>
        <p:nvCxnSpPr>
          <p:cNvPr id="3" name="直接箭头连接符 2"/>
          <p:cNvCxnSpPr>
            <a:cxnSpLocks noChangeShapeType="1"/>
          </p:cNvCxnSpPr>
          <p:nvPr/>
        </p:nvCxnSpPr>
        <p:spPr bwMode="auto">
          <a:xfrm>
            <a:off x="4572000" y="4436914"/>
            <a:ext cx="0" cy="576262"/>
          </a:xfrm>
          <a:prstGeom prst="straightConnector1">
            <a:avLst/>
          </a:prstGeom>
          <a:noFill/>
          <a:ln w="38100" algn="ctr">
            <a:solidFill>
              <a:schemeClr val="accent1"/>
            </a:solidFill>
            <a:round/>
            <a:headEnd/>
            <a:tailEnd type="arrow" w="med" len="med"/>
          </a:ln>
          <a:extLst>
            <a:ext uri="{909E8E84-426E-40DD-AFC4-6F175D3DCCD1}">
              <a14:hiddenFill xmlns:a14="http://schemas.microsoft.com/office/drawing/2010/main">
                <a:noFill/>
              </a14:hiddenFill>
            </a:ext>
          </a:extLst>
        </p:spPr>
      </p:cxnSp>
      <p:sp>
        <p:nvSpPr>
          <p:cNvPr id="4" name="TextBox 3"/>
          <p:cNvSpPr txBox="1">
            <a:spLocks noRot="1" noChangeAspect="1" noMove="1" noResize="1" noEditPoints="1" noAdjustHandles="1" noChangeArrowheads="1" noChangeShapeType="1" noTextEdit="1"/>
          </p:cNvSpPr>
          <p:nvPr/>
        </p:nvSpPr>
        <p:spPr>
          <a:xfrm>
            <a:off x="4710701" y="4869160"/>
            <a:ext cx="437363" cy="461665"/>
          </a:xfrm>
          <a:prstGeom prst="rect">
            <a:avLst/>
          </a:prstGeom>
          <a:blipFill rotWithShape="1">
            <a:blip r:embed="rId4" cstate="print"/>
            <a:stretch>
              <a:fillRect t="-18667" r="-36620"/>
            </a:stretch>
          </a:blipFill>
          <a:ln>
            <a:noFill/>
          </a:ln>
        </p:spPr>
        <p:txBody>
          <a:bodyPr/>
          <a:lstStyle/>
          <a:p>
            <a:pPr>
              <a:spcBef>
                <a:spcPct val="20000"/>
              </a:spcBef>
              <a:defRPr/>
            </a:pPr>
            <a:r>
              <a:rPr lang="zh-CN" altLang="en-US">
                <a:noFill/>
              </a:rPr>
              <a:t> </a:t>
            </a:r>
          </a:p>
        </p:txBody>
      </p:sp>
      <p:sp>
        <p:nvSpPr>
          <p:cNvPr id="13" name="TextBox 12"/>
          <p:cNvSpPr txBox="1">
            <a:spLocks noRot="1" noChangeAspect="1" noMove="1" noResize="1" noEditPoints="1" noAdjustHandles="1" noChangeArrowheads="1" noChangeShapeType="1" noTextEdit="1"/>
          </p:cNvSpPr>
          <p:nvPr/>
        </p:nvSpPr>
        <p:spPr>
          <a:xfrm>
            <a:off x="5084209" y="3903439"/>
            <a:ext cx="567911" cy="461665"/>
          </a:xfrm>
          <a:prstGeom prst="rect">
            <a:avLst/>
          </a:prstGeom>
          <a:blipFill rotWithShape="1">
            <a:blip r:embed="rId5" cstate="print"/>
            <a:stretch>
              <a:fillRect b="-1316"/>
            </a:stretch>
          </a:blipFill>
          <a:ln>
            <a:noFill/>
          </a:ln>
        </p:spPr>
        <p:txBody>
          <a:bodyPr/>
          <a:lstStyle/>
          <a:p>
            <a:pPr>
              <a:spcBef>
                <a:spcPct val="20000"/>
              </a:spcBef>
              <a:defRPr/>
            </a:pPr>
            <a:r>
              <a:rPr lang="zh-CN" altLang="en-US">
                <a:noFill/>
              </a:rPr>
              <a:t> </a:t>
            </a:r>
          </a:p>
        </p:txBody>
      </p:sp>
      <p:sp>
        <p:nvSpPr>
          <p:cNvPr id="5" name="AutoShape 15" descr="http://t2.baidu.com/it/u=705439914,2613892978&amp;fm=11&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17" descr="http://t2.baidu.com/it/u=705439914,2613892978&amp;fm=11&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5" name="Picture 18"/>
          <p:cNvPicPr>
            <a:picLocks noChangeAspect="1" noChangeArrowheads="1"/>
          </p:cNvPicPr>
          <p:nvPr/>
        </p:nvPicPr>
        <p:blipFill rotWithShape="1">
          <a:blip r:embed="rId6">
            <a:extLst>
              <a:ext uri="{28A0092B-C50C-407E-A947-70E740481C1C}">
                <a14:useLocalDpi xmlns:a14="http://schemas.microsoft.com/office/drawing/2010/main" val="0"/>
              </a:ext>
            </a:extLst>
          </a:blip>
          <a:srcRect l="-952" t="-4583" r="952" b="13344"/>
          <a:stretch/>
        </p:blipFill>
        <p:spPr bwMode="auto">
          <a:xfrm>
            <a:off x="124867" y="1375712"/>
            <a:ext cx="6705600" cy="4692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a:hlinkClick r:id="rId7"/>
          </p:cNvPr>
          <p:cNvSpPr/>
          <p:nvPr/>
        </p:nvSpPr>
        <p:spPr>
          <a:xfrm>
            <a:off x="224172" y="6202883"/>
            <a:ext cx="8919827" cy="461665"/>
          </a:xfrm>
          <a:prstGeom prst="rect">
            <a:avLst/>
          </a:prstGeom>
        </p:spPr>
        <p:txBody>
          <a:bodyPr wrap="square">
            <a:spAutoFit/>
          </a:bodyPr>
          <a:lstStyle/>
          <a:p>
            <a:r>
              <a:rPr lang="zh-CN" altLang="en-US" b="1" dirty="0"/>
              <a:t>复旦科研成果助徐莉佳夺金 水纹测试仪发挥神效</a:t>
            </a:r>
            <a:r>
              <a:rPr lang="en-US" altLang="zh-CN" b="1" dirty="0"/>
              <a:t>,2012</a:t>
            </a:r>
            <a:r>
              <a:rPr lang="zh-CN" altLang="en-US" b="1" dirty="0"/>
              <a:t>伦敦奥运会</a:t>
            </a:r>
            <a:endParaRPr lang="zh-CN" altLang="en-US" dirty="0"/>
          </a:p>
        </p:txBody>
      </p:sp>
      <p:pic>
        <p:nvPicPr>
          <p:cNvPr id="7" name="图片 6">
            <a:extLst>
              <a:ext uri="{FF2B5EF4-FFF2-40B4-BE49-F238E27FC236}">
                <a16:creationId xmlns:a16="http://schemas.microsoft.com/office/drawing/2014/main" id="{234E5270-FA9E-48D7-9FE3-2C37F0F4FB5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27526" y="1662567"/>
            <a:ext cx="3115821" cy="4406098"/>
          </a:xfrm>
          <a:prstGeom prst="rect">
            <a:avLst/>
          </a:prstGeom>
        </p:spPr>
      </p:pic>
      <mc:AlternateContent xmlns:mc="http://schemas.openxmlformats.org/markup-compatibility/2006" xmlns:a14="http://schemas.microsoft.com/office/drawing/2010/main">
        <mc:Choice Requires="a14">
          <p:sp>
            <p:nvSpPr>
              <p:cNvPr id="14" name="Object 1025">
                <a:extLst>
                  <a:ext uri="{FF2B5EF4-FFF2-40B4-BE49-F238E27FC236}">
                    <a16:creationId xmlns:a16="http://schemas.microsoft.com/office/drawing/2014/main" id="{9E7334B8-B074-4971-BEB0-59C25A61DF47}"/>
                  </a:ext>
                </a:extLst>
              </p:cNvPr>
              <p:cNvSpPr txBox="1"/>
              <p:nvPr/>
            </p:nvSpPr>
            <p:spPr bwMode="auto">
              <a:xfrm>
                <a:off x="3059831" y="52669"/>
                <a:ext cx="3168353" cy="695043"/>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fontScale="47500" lnSpcReduction="200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0">
                          <a:solidFill>
                            <a:srgbClr val="000000"/>
                          </a:solidFill>
                          <a:latin typeface="Cambria Math" panose="02040503050406030204" pitchFamily="18" charset="0"/>
                        </a:rPr>
                        <m:t> </m:t>
                      </m:r>
                    </m:oMath>
                    <m:oMath xmlns:m="http://schemas.openxmlformats.org/officeDocument/2006/math">
                      <m:r>
                        <a:rPr lang="zh-CN" altLang="en-US" i="0">
                          <a:solidFill>
                            <a:srgbClr val="000000"/>
                          </a:solidFill>
                          <a:latin typeface="Cambria Math" panose="02040503050406030204" pitchFamily="18" charset="0"/>
                        </a:rPr>
                        <m:t> </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14" name="Object 1025">
                <a:extLst>
                  <a:ext uri="{FF2B5EF4-FFF2-40B4-BE49-F238E27FC236}">
                    <a16:creationId xmlns:a16="http://schemas.microsoft.com/office/drawing/2014/main" id="{9E7334B8-B074-4971-BEB0-59C25A61DF47}"/>
                  </a:ext>
                </a:extLst>
              </p:cNvPr>
              <p:cNvSpPr txBox="1">
                <a:spLocks noRot="1" noChangeAspect="1" noMove="1" noResize="1" noEditPoints="1" noAdjustHandles="1" noChangeArrowheads="1" noChangeShapeType="1" noTextEdit="1"/>
              </p:cNvSpPr>
              <p:nvPr/>
            </p:nvSpPr>
            <p:spPr bwMode="auto">
              <a:xfrm>
                <a:off x="3059831" y="52669"/>
                <a:ext cx="3168353" cy="695043"/>
              </a:xfrm>
              <a:prstGeom prst="rect">
                <a:avLst/>
              </a:prstGeom>
              <a:blipFill>
                <a:blip r:embed="rId9"/>
                <a:stretch>
                  <a:fillRect t="-97368" b="-104386"/>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wipe(left)">
                                      <p:cBhvr>
                                        <p:cTn id="7" dur="5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47">
                                            <p:txEl>
                                              <p:pRg st="0" end="0"/>
                                            </p:txEl>
                                          </p:spTgt>
                                        </p:tgtEl>
                                        <p:attrNameLst>
                                          <p:attrName>style.visibility</p:attrName>
                                        </p:attrNameLst>
                                      </p:cBhvr>
                                      <p:to>
                                        <p:strVal val="visible"/>
                                      </p:to>
                                    </p:set>
                                    <p:animEffect transition="in" filter="wipe(left)">
                                      <p:cBhvr>
                                        <p:cTn id="12" dur="500"/>
                                        <p:tgtEl>
                                          <p:spTgt spid="8294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947">
                                            <p:txEl>
                                              <p:pRg st="1" end="1"/>
                                            </p:txEl>
                                          </p:spTgt>
                                        </p:tgtEl>
                                        <p:attrNameLst>
                                          <p:attrName>style.visibility</p:attrName>
                                        </p:attrNameLst>
                                      </p:cBhvr>
                                      <p:to>
                                        <p:strVal val="visible"/>
                                      </p:to>
                                    </p:set>
                                    <p:animEffect transition="in" filter="wipe(left)">
                                      <p:cBhvr>
                                        <p:cTn id="17" dur="500"/>
                                        <p:tgtEl>
                                          <p:spTgt spid="8294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20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2000"/>
                                        <p:tgtEl>
                                          <p:spTgt spid="3"/>
                                        </p:tgtEl>
                                      </p:cBhvr>
                                    </p:animEffect>
                                  </p:childTnLst>
                                </p:cTn>
                              </p:par>
                              <p:par>
                                <p:cTn id="34" presetID="10" presetClass="entr" presetSubtype="0"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20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xit" presetSubtype="10" fill="hold" nodeType="clickEffect">
                                  <p:stCondLst>
                                    <p:cond delay="0"/>
                                  </p:stCondLst>
                                  <p:childTnLst>
                                    <p:animEffect transition="out" filter="blinds(horizontal)">
                                      <p:cBhvr>
                                        <p:cTn id="40" dur="500"/>
                                        <p:tgtEl>
                                          <p:spTgt spid="3"/>
                                        </p:tgtEl>
                                      </p:cBhvr>
                                    </p:animEffect>
                                    <p:set>
                                      <p:cBhvr>
                                        <p:cTn id="41" dur="1" fill="hold">
                                          <p:stCondLst>
                                            <p:cond delay="499"/>
                                          </p:stCondLst>
                                        </p:cTn>
                                        <p:tgtEl>
                                          <p:spTgt spid="3"/>
                                        </p:tgtEl>
                                        <p:attrNameLst>
                                          <p:attrName>style.visibility</p:attrName>
                                        </p:attrNameLst>
                                      </p:cBhvr>
                                      <p:to>
                                        <p:strVal val="hidden"/>
                                      </p:to>
                                    </p:set>
                                  </p:childTnLst>
                                </p:cTn>
                              </p:par>
                              <p:par>
                                <p:cTn id="42" presetID="3" presetClass="exit" presetSubtype="10" fill="hold" nodeType="withEffect">
                                  <p:stCondLst>
                                    <p:cond delay="0"/>
                                  </p:stCondLst>
                                  <p:childTnLst>
                                    <p:animEffect transition="out" filter="blinds(horizontal)">
                                      <p:cBhvr>
                                        <p:cTn id="43" dur="500"/>
                                        <p:tgtEl>
                                          <p:spTgt spid="13"/>
                                        </p:tgtEl>
                                      </p:cBhvr>
                                    </p:animEffect>
                                    <p:set>
                                      <p:cBhvr>
                                        <p:cTn id="44" dur="1" fill="hold">
                                          <p:stCondLst>
                                            <p:cond delay="499"/>
                                          </p:stCondLst>
                                        </p:cTn>
                                        <p:tgtEl>
                                          <p:spTgt spid="13"/>
                                        </p:tgtEl>
                                        <p:attrNameLst>
                                          <p:attrName>style.visibility</p:attrName>
                                        </p:attrNameLst>
                                      </p:cBhvr>
                                      <p:to>
                                        <p:strVal val="hidden"/>
                                      </p:to>
                                    </p:set>
                                  </p:childTnLst>
                                </p:cTn>
                              </p:par>
                              <p:par>
                                <p:cTn id="45" presetID="3" presetClass="exit" presetSubtype="10" fill="hold" nodeType="withEffect">
                                  <p:stCondLst>
                                    <p:cond delay="0"/>
                                  </p:stCondLst>
                                  <p:childTnLst>
                                    <p:animEffect transition="out" filter="blinds(horizontal)">
                                      <p:cBhvr>
                                        <p:cTn id="46" dur="500"/>
                                        <p:tgtEl>
                                          <p:spTgt spid="4"/>
                                        </p:tgtEl>
                                      </p:cBhvr>
                                    </p:animEffect>
                                    <p:set>
                                      <p:cBhvr>
                                        <p:cTn id="47" dur="1" fill="hold">
                                          <p:stCondLst>
                                            <p:cond delay="499"/>
                                          </p:stCondLst>
                                        </p:cTn>
                                        <p:tgtEl>
                                          <p:spTgt spid="4"/>
                                        </p:tgtEl>
                                        <p:attrNameLst>
                                          <p:attrName>style.visibility</p:attrName>
                                        </p:attrNameLst>
                                      </p:cBhvr>
                                      <p:to>
                                        <p:strVal val="hidden"/>
                                      </p:to>
                                    </p:set>
                                  </p:childTnLst>
                                </p:cTn>
                              </p:par>
                              <p:par>
                                <p:cTn id="48" presetID="3" presetClass="exit" presetSubtype="10" fill="hold" nodeType="withEffect">
                                  <p:stCondLst>
                                    <p:cond delay="0"/>
                                  </p:stCondLst>
                                  <p:childTnLst>
                                    <p:animEffect transition="out" filter="blinds(horizontal)">
                                      <p:cBhvr>
                                        <p:cTn id="49" dur="500"/>
                                        <p:tgtEl>
                                          <p:spTgt spid="8"/>
                                        </p:tgtEl>
                                      </p:cBhvr>
                                    </p:animEffect>
                                    <p:set>
                                      <p:cBhvr>
                                        <p:cTn id="50" dur="1" fill="hold">
                                          <p:stCondLst>
                                            <p:cond delay="499"/>
                                          </p:stCondLst>
                                        </p:cTn>
                                        <p:tgtEl>
                                          <p:spTgt spid="8"/>
                                        </p:tgtEl>
                                        <p:attrNameLst>
                                          <p:attrName>style.visibility</p:attrName>
                                        </p:attrNameLst>
                                      </p:cBhvr>
                                      <p:to>
                                        <p:strVal val="hidden"/>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xit" presetSubtype="10" fill="hold" grpId="1" nodeType="clickEffect">
                                  <p:stCondLst>
                                    <p:cond delay="0"/>
                                  </p:stCondLst>
                                  <p:childTnLst>
                                    <p:animEffect transition="out" filter="blinds(horizontal)">
                                      <p:cBhvr>
                                        <p:cTn id="54" dur="500"/>
                                        <p:tgtEl>
                                          <p:spTgt spid="9"/>
                                        </p:tgtEl>
                                      </p:cBhvr>
                                    </p:animEffect>
                                    <p:set>
                                      <p:cBhvr>
                                        <p:cTn id="55" dur="1" fill="hold">
                                          <p:stCondLst>
                                            <p:cond delay="499"/>
                                          </p:stCondLst>
                                        </p:cTn>
                                        <p:tgtEl>
                                          <p:spTgt spid="9"/>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utoUpdateAnimBg="0"/>
      <p:bldP spid="82947" grpId="0" uiExpand="1" build="p" autoUpdateAnimBg="0"/>
      <p:bldP spid="9" grpId="0" uiExpand="1"/>
      <p:bldP spid="9" grpId="1" uiExpand="1"/>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Object 2"/>
              <p:cNvSpPr txBox="1"/>
              <p:nvPr/>
            </p:nvSpPr>
            <p:spPr bwMode="auto">
              <a:xfrm>
                <a:off x="4139952" y="80920"/>
                <a:ext cx="3602037" cy="2509837"/>
              </a:xfrm>
              <a:prstGeom prst="rect">
                <a:avLst/>
              </a:prstGeom>
              <a:solidFill>
                <a:schemeClr val="bg1"/>
              </a:solid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nary>
                        <m:naryPr>
                          <m:limLoc m:val="undOvr"/>
                          <m:supHide m:val="on"/>
                          <m:ctrlPr>
                            <a:rPr lang="zh-CN" altLang="en-US" i="1">
                              <a:solidFill>
                                <a:srgbClr val="000000"/>
                              </a:solidFill>
                              <a:latin typeface="Cambria Math" panose="02040503050406030204" pitchFamily="18" charset="0"/>
                            </a:rPr>
                          </m:ctrlPr>
                        </m:naryPr>
                        <m:sub>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𝑥</m:t>
                          </m:r>
                        </m:sub>
                      </m:sSub>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m:t>
                      </m:r>
                      <m:nary>
                        <m:naryPr>
                          <m:limLoc m:val="undOvr"/>
                          <m:supHide m:val="on"/>
                          <m:ctrlPr>
                            <a:rPr lang="zh-CN" altLang="en-US" i="1">
                              <a:solidFill>
                                <a:srgbClr val="000000"/>
                              </a:solidFill>
                              <a:latin typeface="Cambria Math" panose="02040503050406030204" pitchFamily="18" charset="0"/>
                            </a:rPr>
                          </m:ctrlPr>
                        </m:naryPr>
                        <m:sub>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𝑦</m:t>
                          </m:r>
                        </m:sub>
                      </m:sSub>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𝑧</m:t>
                          </m:r>
                        </m:sub>
                      </m:sSub>
                      <m:r>
                        <a:rPr lang="zh-CN" altLang="en-US" i="1">
                          <a:solidFill>
                            <a:srgbClr val="000000"/>
                          </a:solidFill>
                          <a:latin typeface="Cambria Math" panose="02040503050406030204" pitchFamily="18" charset="0"/>
                        </a:rPr>
                        <m:t>=</m:t>
                      </m:r>
                      <m:nary>
                        <m:naryPr>
                          <m:limLoc m:val="undOvr"/>
                          <m:supHide m:val="on"/>
                          <m:ctrlPr>
                            <a:rPr lang="zh-CN" altLang="en-US" i="1">
                              <a:solidFill>
                                <a:srgbClr val="000000"/>
                              </a:solidFill>
                              <a:latin typeface="Cambria Math" panose="02040503050406030204" pitchFamily="18" charset="0"/>
                            </a:rPr>
                          </m:ctrlPr>
                        </m:naryPr>
                        <m:sub>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𝑧</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𝑧</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𝑧</m:t>
                          </m:r>
                        </m:sub>
                      </m:sSub>
                    </m:oMath>
                  </m:oMathPara>
                </a14:m>
                <a:endParaRPr lang="zh-CN" altLang="en-US" dirty="0"/>
              </a:p>
            </p:txBody>
          </p:sp>
        </mc:Choice>
        <mc:Fallback xmlns="">
          <p:sp>
            <p:nvSpPr>
              <p:cNvPr id="4" name="Object 2"/>
              <p:cNvSpPr txBox="1">
                <a:spLocks noRot="1" noChangeAspect="1" noMove="1" noResize="1" noEditPoints="1" noAdjustHandles="1" noChangeArrowheads="1" noChangeShapeType="1" noTextEdit="1"/>
              </p:cNvSpPr>
              <p:nvPr/>
            </p:nvSpPr>
            <p:spPr bwMode="auto">
              <a:xfrm>
                <a:off x="4139952" y="80920"/>
                <a:ext cx="3602037" cy="2509837"/>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7" name="矩形 6"/>
          <p:cNvSpPr/>
          <p:nvPr/>
        </p:nvSpPr>
        <p:spPr>
          <a:xfrm>
            <a:off x="251520" y="80920"/>
            <a:ext cx="3098925" cy="461665"/>
          </a:xfrm>
          <a:prstGeom prst="rect">
            <a:avLst/>
          </a:prstGeom>
        </p:spPr>
        <p:txBody>
          <a:bodyPr wrap="none">
            <a:spAutoFit/>
          </a:bodyPr>
          <a:lstStyle/>
          <a:p>
            <a:pPr eaLnBrk="1" hangingPunct="1">
              <a:spcBef>
                <a:spcPct val="20000"/>
              </a:spcBef>
            </a:pPr>
            <a:r>
              <a:rPr lang="en-US" altLang="zh-CN" b="1">
                <a:latin typeface="华文楷体" pitchFamily="2" charset="-122"/>
                <a:ea typeface="华文楷体" pitchFamily="2" charset="-122"/>
              </a:rPr>
              <a:t>3</a:t>
            </a:r>
            <a:r>
              <a:rPr lang="zh-CN" altLang="en-US" b="1">
                <a:latin typeface="华文楷体" pitchFamily="2" charset="-122"/>
                <a:ea typeface="华文楷体" pitchFamily="2" charset="-122"/>
              </a:rPr>
              <a:t>、动量定理的分量式</a:t>
            </a:r>
          </a:p>
        </p:txBody>
      </p:sp>
      <p:sp>
        <p:nvSpPr>
          <p:cNvPr id="13" name="Rectangle 1028"/>
          <p:cNvSpPr>
            <a:spLocks noChangeArrowheads="1"/>
          </p:cNvSpPr>
          <p:nvPr/>
        </p:nvSpPr>
        <p:spPr bwMode="auto">
          <a:xfrm>
            <a:off x="-22143" y="2761994"/>
            <a:ext cx="8893175"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r>
              <a:rPr lang="en-US" altLang="zh-CN" b="1" dirty="0">
                <a:solidFill>
                  <a:srgbClr val="3333FF"/>
                </a:solidFill>
                <a:ea typeface="宋体" pitchFamily="2" charset="-122"/>
              </a:rPr>
              <a:t>   </a:t>
            </a:r>
            <a:r>
              <a:rPr lang="en-US" altLang="zh-CN" b="1" dirty="0">
                <a:solidFill>
                  <a:srgbClr val="3333FF"/>
                </a:solidFill>
                <a:latin typeface="宋体" pitchFamily="2" charset="-122"/>
                <a:ea typeface="宋体" pitchFamily="2" charset="-122"/>
              </a:rPr>
              <a:t>4</a:t>
            </a:r>
            <a:r>
              <a:rPr lang="zh-CN" altLang="en-US" b="1" dirty="0">
                <a:solidFill>
                  <a:srgbClr val="3333FF"/>
                </a:solidFill>
                <a:latin typeface="宋体" pitchFamily="2" charset="-122"/>
                <a:ea typeface="宋体" pitchFamily="2" charset="-122"/>
              </a:rPr>
              <a:t>、</a:t>
            </a:r>
            <a:r>
              <a:rPr lang="en-US" altLang="zh-CN" b="1" i="1" dirty="0">
                <a:solidFill>
                  <a:srgbClr val="3333FF"/>
                </a:solidFill>
              </a:rPr>
              <a:t>F</a:t>
            </a:r>
            <a:r>
              <a:rPr lang="zh-CN" altLang="en-US" b="1" dirty="0">
                <a:solidFill>
                  <a:srgbClr val="3333FF"/>
                </a:solidFill>
              </a:rPr>
              <a:t>作用时间很短时，可用力的平均值来代替。</a:t>
            </a:r>
          </a:p>
          <a:p>
            <a:pPr algn="just"/>
            <a:r>
              <a:rPr lang="zh-CN" altLang="en-US" b="1" dirty="0"/>
              <a:t>如：利用动量定理处理冲击问题。</a:t>
            </a:r>
            <a:endParaRPr lang="zh-CN" altLang="en-US" b="1" i="1" dirty="0"/>
          </a:p>
          <a:p>
            <a:pPr algn="just"/>
            <a:r>
              <a:rPr lang="zh-CN" altLang="en-US" b="1" dirty="0">
                <a:latin typeface="宋体" pitchFamily="2" charset="-122"/>
                <a:ea typeface="宋体" pitchFamily="2" charset="-122"/>
              </a:rPr>
              <a:t>  此时的冲力变化很大，它随时间而变化的关系难以确定，牛顿第二定律无法直接应用，但根据动量定理，冲力的冲量具有确定的量值，它等于冲击（碰撞）前后动量的变化</a:t>
            </a:r>
          </a:p>
          <a:p>
            <a:pPr algn="just"/>
            <a:endParaRPr lang="zh-CN" altLang="en-US" b="1" dirty="0">
              <a:latin typeface="宋体" pitchFamily="2" charset="-122"/>
              <a:ea typeface="宋体" pitchFamily="2" charset="-122"/>
            </a:endParaRPr>
          </a:p>
          <a:p>
            <a:pPr algn="just" eaLnBrk="0" hangingPunct="0"/>
            <a:endParaRPr lang="zh-CN" altLang="en-US" dirty="0"/>
          </a:p>
          <a:p>
            <a:pPr algn="just" eaLnBrk="0" hangingPunct="0"/>
            <a:r>
              <a:rPr lang="zh-CN" altLang="en-US" dirty="0">
                <a:latin typeface="宋体" pitchFamily="2" charset="-122"/>
                <a:ea typeface="宋体" pitchFamily="2" charset="-122"/>
              </a:rPr>
              <a:t>平均冲</a:t>
            </a:r>
            <a:r>
              <a:rPr lang="zh-CN" altLang="en-US" dirty="0">
                <a:ea typeface="宋体" pitchFamily="2" charset="-122"/>
              </a:rPr>
              <a:t>力</a:t>
            </a:r>
            <a:r>
              <a:rPr lang="en-US" altLang="zh-CN" b="1" i="1" dirty="0"/>
              <a:t>F</a:t>
            </a:r>
            <a:r>
              <a:rPr lang="zh-CN" altLang="en-US" b="1" dirty="0">
                <a:latin typeface="宋体" pitchFamily="2" charset="-122"/>
                <a:ea typeface="宋体" pitchFamily="2" charset="-122"/>
              </a:rPr>
              <a:t>的估计</a:t>
            </a:r>
            <a:r>
              <a:rPr lang="zh-CN" altLang="en-US" dirty="0">
                <a:latin typeface="宋体" pitchFamily="2" charset="-122"/>
                <a:ea typeface="宋体" pitchFamily="2" charset="-122"/>
              </a:rPr>
              <a:t> </a:t>
            </a:r>
            <a:endParaRPr lang="en-US" altLang="zh-CN" dirty="0">
              <a:latin typeface="宋体" pitchFamily="2" charset="-122"/>
              <a:ea typeface="宋体" pitchFamily="2" charset="-122"/>
            </a:endParaRPr>
          </a:p>
          <a:p>
            <a:pPr algn="just" eaLnBrk="0" hangingPunct="0"/>
            <a:r>
              <a:rPr lang="zh-CN" altLang="en-US" sz="2700" dirty="0">
                <a:ea typeface="宋体" pitchFamily="2" charset="-122"/>
              </a:rPr>
              <a:t> </a:t>
            </a:r>
            <a:r>
              <a:rPr lang="zh-CN" altLang="en-US" dirty="0">
                <a:ea typeface="宋体" pitchFamily="2" charset="-122"/>
              </a:rPr>
              <a:t>        </a:t>
            </a:r>
            <a:endParaRPr lang="zh-CN" altLang="en-US" dirty="0"/>
          </a:p>
          <a:p>
            <a:pPr algn="just" eaLnBrk="0" hangingPunct="0"/>
            <a:r>
              <a:rPr lang="zh-CN" altLang="en-US" b="1" dirty="0"/>
              <a:t>   </a:t>
            </a:r>
            <a:endParaRPr lang="zh-CN" altLang="en-US" b="1" dirty="0">
              <a:latin typeface="宋体" pitchFamily="2" charset="-122"/>
              <a:ea typeface="宋体" pitchFamily="2" charset="-122"/>
            </a:endParaRPr>
          </a:p>
        </p:txBody>
      </p:sp>
      <mc:AlternateContent xmlns:mc="http://schemas.openxmlformats.org/markup-compatibility/2006" xmlns:a14="http://schemas.microsoft.com/office/drawing/2010/main">
        <mc:Choice Requires="a14">
          <p:sp>
            <p:nvSpPr>
              <p:cNvPr id="14" name="Object 5"/>
              <p:cNvSpPr txBox="1"/>
              <p:nvPr/>
            </p:nvSpPr>
            <p:spPr bwMode="auto">
              <a:xfrm>
                <a:off x="2339752" y="4705362"/>
                <a:ext cx="5571274" cy="820113"/>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m:rPr>
                          <m:nor/>
                        </m:rPr>
                        <a:rPr lang="zh-CN" altLang="en-US" i="0">
                          <a:solidFill>
                            <a:srgbClr val="000000"/>
                          </a:solidFill>
                          <a:latin typeface="Cambria Math" panose="02040503050406030204" pitchFamily="18" charset="0"/>
                        </a:rPr>
                        <m:t>  </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4" name="Object 5"/>
              <p:cNvSpPr txBox="1">
                <a:spLocks noRot="1" noChangeAspect="1" noMove="1" noResize="1" noEditPoints="1" noAdjustHandles="1" noChangeArrowheads="1" noChangeShapeType="1" noTextEdit="1"/>
              </p:cNvSpPr>
              <p:nvPr/>
            </p:nvSpPr>
            <p:spPr bwMode="auto">
              <a:xfrm>
                <a:off x="2339752" y="4705362"/>
                <a:ext cx="5571274" cy="820113"/>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6"/>
              <p:cNvSpPr txBox="1"/>
              <p:nvPr/>
            </p:nvSpPr>
            <p:spPr bwMode="auto">
              <a:xfrm>
                <a:off x="3350445" y="5723579"/>
                <a:ext cx="1930400" cy="10350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𝐼</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xmlns="">
          <p:sp>
            <p:nvSpPr>
              <p:cNvPr id="15" name="Object 6"/>
              <p:cNvSpPr txBox="1">
                <a:spLocks noRot="1" noChangeAspect="1" noMove="1" noResize="1" noEditPoints="1" noAdjustHandles="1" noChangeArrowheads="1" noChangeShapeType="1" noTextEdit="1"/>
              </p:cNvSpPr>
              <p:nvPr/>
            </p:nvSpPr>
            <p:spPr bwMode="auto">
              <a:xfrm>
                <a:off x="3350445" y="5723579"/>
                <a:ext cx="1930400" cy="1035050"/>
              </a:xfrm>
              <a:prstGeom prst="rect">
                <a:avLst/>
              </a:prstGeom>
              <a:blipFill>
                <a:blip r:embed="rId4"/>
                <a:stretch>
                  <a:fillRect/>
                </a:stretch>
              </a:blipFill>
              <a:ln>
                <a:noFill/>
              </a:ln>
              <a:effectLst/>
              <a:extLst/>
            </p:spPr>
            <p:txBody>
              <a:bodyPr/>
              <a:lstStyle/>
              <a:p>
                <a:r>
                  <a:rPr lang="zh-CN" altLang="en-US">
                    <a:noFill/>
                  </a:rPr>
                  <a:t> </a:t>
                </a:r>
              </a:p>
            </p:txBody>
          </p:sp>
        </mc:Fallback>
      </mc:AlternateContent>
    </p:spTree>
    <p:extLst>
      <p:ext uri="{BB962C8B-B14F-4D97-AF65-F5344CB8AC3E}">
        <p14:creationId xmlns:p14="http://schemas.microsoft.com/office/powerpoint/2010/main" val="206846078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46634" y="3901041"/>
            <a:ext cx="2488839" cy="2165898"/>
          </a:xfrm>
          <a:prstGeom prst="rect">
            <a:avLst/>
          </a:prstGeom>
        </p:spPr>
      </p:pic>
      <p:pic>
        <p:nvPicPr>
          <p:cNvPr id="10" name="图片 9"/>
          <p:cNvPicPr>
            <a:picLocks noChangeAspect="1"/>
          </p:cNvPicPr>
          <p:nvPr/>
        </p:nvPicPr>
        <p:blipFill>
          <a:blip r:embed="rId4"/>
          <a:stretch>
            <a:fillRect/>
          </a:stretch>
        </p:blipFill>
        <p:spPr>
          <a:xfrm>
            <a:off x="5506423" y="3817415"/>
            <a:ext cx="3242041" cy="2170646"/>
          </a:xfrm>
          <a:prstGeom prst="rect">
            <a:avLst/>
          </a:prstGeom>
        </p:spPr>
      </p:pic>
      <p:sp>
        <p:nvSpPr>
          <p:cNvPr id="11" name="矩形 10"/>
          <p:cNvSpPr/>
          <p:nvPr/>
        </p:nvSpPr>
        <p:spPr>
          <a:xfrm>
            <a:off x="6189302" y="6044325"/>
            <a:ext cx="2050561" cy="461665"/>
          </a:xfrm>
          <a:prstGeom prst="rect">
            <a:avLst/>
          </a:prstGeom>
        </p:spPr>
        <p:txBody>
          <a:bodyPr wrap="none">
            <a:spAutoFit/>
          </a:bodyPr>
          <a:lstStyle/>
          <a:p>
            <a:r>
              <a:rPr lang="en-US" altLang="zh-CN" b="1">
                <a:latin typeface="Frutiger-BoldCn"/>
              </a:rPr>
              <a:t>The Egg Toss</a:t>
            </a:r>
            <a:endParaRPr lang="zh-CN" altLang="en-US"/>
          </a:p>
        </p:txBody>
      </p:sp>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43134" y="3891682"/>
            <a:ext cx="2755628" cy="2069017"/>
          </a:xfrm>
          <a:prstGeom prst="rect">
            <a:avLst/>
          </a:prstGeom>
        </p:spPr>
      </p:pic>
      <p:sp>
        <p:nvSpPr>
          <p:cNvPr id="12" name="文本框 11"/>
          <p:cNvSpPr txBox="1"/>
          <p:nvPr/>
        </p:nvSpPr>
        <p:spPr>
          <a:xfrm>
            <a:off x="934974" y="6155606"/>
            <a:ext cx="3416320" cy="461665"/>
          </a:xfrm>
          <a:prstGeom prst="rect">
            <a:avLst/>
          </a:prstGeom>
          <a:noFill/>
        </p:spPr>
        <p:txBody>
          <a:bodyPr wrap="none" rtlCol="0">
            <a:spAutoFit/>
          </a:bodyPr>
          <a:lstStyle/>
          <a:p>
            <a:r>
              <a:rPr lang="zh-CN" altLang="en-US"/>
              <a:t>高尔夫球              乒乓球</a:t>
            </a:r>
          </a:p>
        </p:txBody>
      </p:sp>
      <p:sp>
        <p:nvSpPr>
          <p:cNvPr id="2" name="矩形 1"/>
          <p:cNvSpPr/>
          <p:nvPr/>
        </p:nvSpPr>
        <p:spPr>
          <a:xfrm>
            <a:off x="87780" y="114768"/>
            <a:ext cx="8527028" cy="1569660"/>
          </a:xfrm>
          <a:prstGeom prst="rect">
            <a:avLst/>
          </a:prstGeom>
        </p:spPr>
        <p:txBody>
          <a:bodyPr wrap="square">
            <a:spAutoFit/>
          </a:bodyPr>
          <a:lstStyle/>
          <a:p>
            <a:pPr algn="just" eaLnBrk="0" hangingPunct="0"/>
            <a:r>
              <a:rPr lang="zh-CN" altLang="en-US" b="1">
                <a:solidFill>
                  <a:schemeClr val="hlink"/>
                </a:solidFill>
              </a:rPr>
              <a:t>动量定理在日常生活中的应用：</a:t>
            </a:r>
            <a:endParaRPr lang="en-US" altLang="zh-CN" b="1">
              <a:solidFill>
                <a:schemeClr val="hlink"/>
              </a:solidFill>
            </a:endParaRPr>
          </a:p>
          <a:p>
            <a:pPr algn="just" eaLnBrk="0" hangingPunct="0"/>
            <a:endParaRPr lang="en-US" altLang="zh-CN" b="1"/>
          </a:p>
          <a:p>
            <a:pPr algn="just" eaLnBrk="0" hangingPunct="0"/>
            <a:r>
              <a:rPr lang="zh-CN" altLang="en-US" b="1"/>
              <a:t>利用冲力：增大冲力，减小作用时间</a:t>
            </a:r>
            <a:r>
              <a:rPr lang="en-US" altLang="zh-CN" b="1"/>
              <a:t>——</a:t>
            </a:r>
            <a:r>
              <a:rPr lang="zh-CN" altLang="en-US" b="1"/>
              <a:t>冲床  </a:t>
            </a:r>
          </a:p>
          <a:p>
            <a:pPr algn="just" eaLnBrk="0" hangingPunct="0"/>
            <a:r>
              <a:rPr lang="zh-CN" altLang="en-US" b="1"/>
              <a:t>避免冲力：减小冲力，增大作用时间</a:t>
            </a:r>
            <a:r>
              <a:rPr lang="en-US" altLang="zh-CN" b="1"/>
              <a:t>——</a:t>
            </a:r>
            <a:r>
              <a:rPr lang="zh-CN" altLang="en-US" b="1"/>
              <a:t>轮船靠岸时的缓冲 </a:t>
            </a:r>
          </a:p>
        </p:txBody>
      </p:sp>
      <p:pic>
        <p:nvPicPr>
          <p:cNvPr id="13" name="Picture 1035" descr="03-2"/>
          <p:cNvPicPr>
            <a:picLocks noChangeAspect="1" noChangeArrowheads="1"/>
          </p:cNvPicPr>
          <p:nvPr/>
        </p:nvPicPr>
        <p:blipFill>
          <a:blip r:embed="rId6">
            <a:extLst>
              <a:ext uri="{28A0092B-C50C-407E-A947-70E740481C1C}">
                <a14:useLocalDpi xmlns:a14="http://schemas.microsoft.com/office/drawing/2010/main" val="0"/>
              </a:ext>
            </a:extLst>
          </a:blip>
          <a:srcRect t="6403" r="-10167" b="55203"/>
          <a:stretch>
            <a:fillRect/>
          </a:stretch>
        </p:blipFill>
        <p:spPr bwMode="auto">
          <a:xfrm>
            <a:off x="34475" y="1613113"/>
            <a:ext cx="4538079" cy="2134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037" descr="200595116436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4048" y="1669052"/>
            <a:ext cx="2812994" cy="1969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2103017"/>
      </p:ext>
    </p:extLst>
  </p:cSld>
  <p:clrMapOvr>
    <a:masterClrMapping/>
  </p:clrMapOvr>
  <p:transition>
    <p:checke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6" name="Picture 6" descr="蒙迪欧-致胜全系车型安全升级 售价不变"/>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211638"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088" name="Picture 8" descr="安全气囊">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29000"/>
            <a:ext cx="4941888"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092" name="Picture 12" descr="专家教你如何保养安全气囊"/>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6100" y="44450"/>
            <a:ext cx="453707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94" name="Rectangle 14"/>
          <p:cNvSpPr>
            <a:spLocks noGrp="1" noChangeArrowheads="1"/>
          </p:cNvSpPr>
          <p:nvPr>
            <p:ph type="body" idx="4294967295"/>
          </p:nvPr>
        </p:nvSpPr>
        <p:spPr>
          <a:xfrm>
            <a:off x="4716463" y="3284538"/>
            <a:ext cx="4535487" cy="3168650"/>
          </a:xfrm>
        </p:spPr>
        <p:txBody>
          <a:bodyPr/>
          <a:lstStyle/>
          <a:p>
            <a:pPr eaLnBrk="1" hangingPunct="1">
              <a:lnSpc>
                <a:spcPct val="80000"/>
              </a:lnSpc>
            </a:pPr>
            <a:r>
              <a:rPr lang="zh-CN" altLang="en-US" sz="1600" b="1">
                <a:latin typeface="楷体_GB2312" pitchFamily="49" charset="-122"/>
                <a:ea typeface="楷体_GB2312" pitchFamily="49" charset="-122"/>
              </a:rPr>
              <a:t>驾驶员处的安全气囊是存放在方向盘衬垫内，因此，当您看见方向盘上标有</a:t>
            </a:r>
            <a:r>
              <a:rPr lang="en-US" altLang="zh-CN" sz="1600" b="1">
                <a:latin typeface="楷体_GB2312" pitchFamily="49" charset="-122"/>
                <a:ea typeface="楷体_GB2312" pitchFamily="49" charset="-122"/>
              </a:rPr>
              <a:t>"SRS (</a:t>
            </a:r>
            <a:r>
              <a:rPr lang="en-US" altLang="zh-CN" sz="1400" b="1"/>
              <a:t>Supplyment Resistant System)</a:t>
            </a:r>
            <a:r>
              <a:rPr lang="en-US" altLang="zh-CN" sz="1600" b="1">
                <a:latin typeface="楷体_GB2312" pitchFamily="49" charset="-122"/>
                <a:ea typeface="楷体_GB2312" pitchFamily="49" charset="-122"/>
              </a:rPr>
              <a:t>"</a:t>
            </a:r>
            <a:r>
              <a:rPr lang="zh-CN" altLang="en-US" sz="1600" b="1">
                <a:latin typeface="楷体_GB2312" pitchFamily="49" charset="-122"/>
                <a:ea typeface="楷体_GB2312" pitchFamily="49" charset="-122"/>
              </a:rPr>
              <a:t>或</a:t>
            </a:r>
            <a:r>
              <a:rPr lang="en-US" altLang="zh-CN" sz="1600" b="1">
                <a:latin typeface="楷体_GB2312" pitchFamily="49" charset="-122"/>
                <a:ea typeface="楷体_GB2312" pitchFamily="49" charset="-122"/>
              </a:rPr>
              <a:t>"Airbag"</a:t>
            </a:r>
            <a:r>
              <a:rPr lang="zh-CN" altLang="en-US" sz="1600" b="1">
                <a:latin typeface="楷体_GB2312" pitchFamily="49" charset="-122"/>
                <a:ea typeface="楷体_GB2312" pitchFamily="49" charset="-122"/>
              </a:rPr>
              <a:t>字样，就可知此车装有安全气囊。安全气囊系统主要由传感器、微处理器、气体发生器和气囊等主要部件组成。传感器和微处理器用以判断撞车程度，传递及发送信号；气体发生器根据信号指示产生点火动作，点燃固态燃料并产生气体向气囊充气，使气囊迅速膨胀。气囊装在方向盘毂内紧靠缓冲垫处，其容量约</a:t>
            </a:r>
            <a:r>
              <a:rPr lang="en-US" altLang="zh-CN" sz="1600" b="1">
                <a:latin typeface="楷体_GB2312" pitchFamily="49" charset="-122"/>
                <a:ea typeface="楷体_GB2312" pitchFamily="49" charset="-122"/>
              </a:rPr>
              <a:t>50</a:t>
            </a:r>
            <a:r>
              <a:rPr lang="zh-CN" altLang="en-US" sz="1600" b="1">
                <a:latin typeface="楷体_GB2312" pitchFamily="49" charset="-122"/>
                <a:ea typeface="楷体_GB2312" pitchFamily="49" charset="-122"/>
              </a:rPr>
              <a:t>至</a:t>
            </a:r>
            <a:r>
              <a:rPr lang="en-US" altLang="zh-CN" sz="1600" b="1">
                <a:latin typeface="楷体_GB2312" pitchFamily="49" charset="-122"/>
                <a:ea typeface="楷体_GB2312" pitchFamily="49" charset="-122"/>
              </a:rPr>
              <a:t>90</a:t>
            </a:r>
            <a:r>
              <a:rPr lang="zh-CN" altLang="en-US" sz="1600" b="1">
                <a:latin typeface="楷体_GB2312" pitchFamily="49" charset="-122"/>
                <a:ea typeface="楷体_GB2312" pitchFamily="49" charset="-122"/>
              </a:rPr>
              <a:t>升不等，做气囊的布料具有很高的抗拉强度，多以尼龙材质制成，折叠起来的表面附有干粉，以防安全气囊粘着在一起在爆发时被冲破；为了防止气体泄漏，气囊内层涂有密封橡胶；同时气囊设有安全阀，当充气过量或囊内压力超过一定值时会自动泄放部分气体，避免将乘客挤压受伤；气囊中所用的气体多是氮气。</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086"/>
                                        </p:tgtEl>
                                        <p:attrNameLst>
                                          <p:attrName>style.visibility</p:attrName>
                                        </p:attrNameLst>
                                      </p:cBhvr>
                                      <p:to>
                                        <p:strVal val="visible"/>
                                      </p:to>
                                    </p:set>
                                    <p:animEffect transition="in" filter="blinds(horizontal)">
                                      <p:cBhvr>
                                        <p:cTn id="7" dur="2000"/>
                                        <p:tgtEl>
                                          <p:spTgt spid="174086"/>
                                        </p:tgtEl>
                                      </p:cBhvr>
                                    </p:animEffect>
                                  </p:childTnLst>
                                </p:cTn>
                              </p:par>
                              <p:par>
                                <p:cTn id="8" presetID="3" presetClass="entr" presetSubtype="10" fill="hold" nodeType="withEffect">
                                  <p:stCondLst>
                                    <p:cond delay="0"/>
                                  </p:stCondLst>
                                  <p:childTnLst>
                                    <p:set>
                                      <p:cBhvr>
                                        <p:cTn id="9" dur="1" fill="hold">
                                          <p:stCondLst>
                                            <p:cond delay="0"/>
                                          </p:stCondLst>
                                        </p:cTn>
                                        <p:tgtEl>
                                          <p:spTgt spid="174092"/>
                                        </p:tgtEl>
                                        <p:attrNameLst>
                                          <p:attrName>style.visibility</p:attrName>
                                        </p:attrNameLst>
                                      </p:cBhvr>
                                      <p:to>
                                        <p:strVal val="visible"/>
                                      </p:to>
                                    </p:set>
                                    <p:animEffect transition="in" filter="blinds(horizontal)">
                                      <p:cBhvr>
                                        <p:cTn id="10" dur="2000"/>
                                        <p:tgtEl>
                                          <p:spTgt spid="174092"/>
                                        </p:tgtEl>
                                      </p:cBhvr>
                                    </p:animEffect>
                                  </p:childTnLst>
                                </p:cTn>
                              </p:par>
                              <p:par>
                                <p:cTn id="11" presetID="3" presetClass="entr" presetSubtype="10" fill="hold" nodeType="withEffect">
                                  <p:stCondLst>
                                    <p:cond delay="0"/>
                                  </p:stCondLst>
                                  <p:childTnLst>
                                    <p:set>
                                      <p:cBhvr>
                                        <p:cTn id="12" dur="1" fill="hold">
                                          <p:stCondLst>
                                            <p:cond delay="0"/>
                                          </p:stCondLst>
                                        </p:cTn>
                                        <p:tgtEl>
                                          <p:spTgt spid="174088"/>
                                        </p:tgtEl>
                                        <p:attrNameLst>
                                          <p:attrName>style.visibility</p:attrName>
                                        </p:attrNameLst>
                                      </p:cBhvr>
                                      <p:to>
                                        <p:strVal val="visible"/>
                                      </p:to>
                                    </p:set>
                                    <p:animEffect transition="in" filter="blinds(horizontal)">
                                      <p:cBhvr>
                                        <p:cTn id="13" dur="2000"/>
                                        <p:tgtEl>
                                          <p:spTgt spid="17408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74094">
                                            <p:txEl>
                                              <p:pRg st="0" end="0"/>
                                            </p:txEl>
                                          </p:spTgt>
                                        </p:tgtEl>
                                        <p:attrNameLst>
                                          <p:attrName>style.visibility</p:attrName>
                                        </p:attrNameLst>
                                      </p:cBhvr>
                                      <p:to>
                                        <p:strVal val="visible"/>
                                      </p:to>
                                    </p:set>
                                    <p:animEffect transition="in" filter="blinds(horizontal)">
                                      <p:cBhvr>
                                        <p:cTn id="16" dur="2000"/>
                                        <p:tgtEl>
                                          <p:spTgt spid="1740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9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p:cNvSpPr txBox="1">
            <a:spLocks noChangeArrowheads="1"/>
          </p:cNvSpPr>
          <p:nvPr/>
        </p:nvSpPr>
        <p:spPr bwMode="auto">
          <a:xfrm>
            <a:off x="457200" y="2286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r>
              <a:rPr lang="zh-CN" altLang="en-US" sz="2800" b="1">
                <a:solidFill>
                  <a:srgbClr val="3333FF"/>
                </a:solidFill>
              </a:rPr>
              <a:t>求作用力</a:t>
            </a:r>
            <a:endParaRPr lang="zh-CN" altLang="en-US" sz="3600" b="1">
              <a:solidFill>
                <a:srgbClr val="FF3300"/>
              </a:solidFill>
            </a:endParaRPr>
          </a:p>
        </p:txBody>
      </p:sp>
      <p:pic>
        <p:nvPicPr>
          <p:cNvPr id="111619" name="Picture 3" descr="chongliang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836613"/>
            <a:ext cx="3079750"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11620" name="Object 4"/>
              <p:cNvSpPr txBox="1"/>
              <p:nvPr/>
            </p:nvSpPr>
            <p:spPr bwMode="auto">
              <a:xfrm>
                <a:off x="3779838" y="333375"/>
                <a:ext cx="3230562" cy="9175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0">
                          <a:solidFill>
                            <a:srgbClr val="000000"/>
                          </a:solidFill>
                          <a:latin typeface="Cambria Math" panose="02040503050406030204" pitchFamily="18" charset="0"/>
                        </a:rPr>
                        <m:t> </m:t>
                      </m:r>
                    </m:oMath>
                  </m:oMathPara>
                </a14:m>
                <a:endParaRPr lang="zh-CN" altLang="en-US"/>
              </a:p>
            </p:txBody>
          </p:sp>
        </mc:Choice>
        <mc:Fallback xmlns="">
          <p:sp>
            <p:nvSpPr>
              <p:cNvPr id="111620" name="Object 4"/>
              <p:cNvSpPr txBox="1">
                <a:spLocks noRot="1" noChangeAspect="1" noMove="1" noResize="1" noEditPoints="1" noAdjustHandles="1" noChangeArrowheads="1" noChangeShapeType="1" noTextEdit="1"/>
              </p:cNvSpPr>
              <p:nvPr/>
            </p:nvSpPr>
            <p:spPr bwMode="auto">
              <a:xfrm>
                <a:off x="3779838" y="333375"/>
                <a:ext cx="3230562" cy="917575"/>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621" name="Object 5"/>
              <p:cNvSpPr txBox="1"/>
              <p:nvPr/>
            </p:nvSpPr>
            <p:spPr bwMode="auto">
              <a:xfrm>
                <a:off x="7019925" y="188913"/>
                <a:ext cx="1584325" cy="1093787"/>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num>
                        <m:den>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den>
                      </m:f>
                      <m:r>
                        <a:rPr lang="zh-CN" altLang="en-US" i="0">
                          <a:solidFill>
                            <a:srgbClr val="000000"/>
                          </a:solidFill>
                          <a:latin typeface="Cambria Math" panose="02040503050406030204" pitchFamily="18" charset="0"/>
                        </a:rPr>
                        <m:t> </m:t>
                      </m:r>
                    </m:oMath>
                  </m:oMathPara>
                </a14:m>
                <a:endParaRPr lang="zh-CN" altLang="en-US"/>
              </a:p>
            </p:txBody>
          </p:sp>
        </mc:Choice>
        <mc:Fallback xmlns="">
          <p:sp>
            <p:nvSpPr>
              <p:cNvPr id="111621" name="Object 5"/>
              <p:cNvSpPr txBox="1">
                <a:spLocks noRot="1" noChangeAspect="1" noMove="1" noResize="1" noEditPoints="1" noAdjustHandles="1" noChangeArrowheads="1" noChangeShapeType="1" noTextEdit="1"/>
              </p:cNvSpPr>
              <p:nvPr/>
            </p:nvSpPr>
            <p:spPr bwMode="auto">
              <a:xfrm>
                <a:off x="7019925" y="188913"/>
                <a:ext cx="1584325" cy="1093787"/>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111624" name="Rectangle 8"/>
          <p:cNvSpPr>
            <a:spLocks noChangeArrowheads="1"/>
          </p:cNvSpPr>
          <p:nvPr/>
        </p:nvSpPr>
        <p:spPr bwMode="auto">
          <a:xfrm>
            <a:off x="107950" y="3773488"/>
            <a:ext cx="8820150" cy="310832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zh-CN" altLang="en-US" sz="2000" b="1"/>
              <a:t>        鸟重</a:t>
            </a:r>
            <a:r>
              <a:rPr lang="en-US" altLang="zh-CN" sz="2000" b="1"/>
              <a:t>0.45kg</a:t>
            </a:r>
            <a:r>
              <a:rPr lang="zh-CN" altLang="en-US" sz="2000" b="1"/>
              <a:t>，飞机速度</a:t>
            </a:r>
            <a:r>
              <a:rPr lang="en-US" altLang="zh-CN" sz="2000" b="1"/>
              <a:t>80km/</a:t>
            </a:r>
            <a:r>
              <a:rPr lang="zh-CN" altLang="en-US" sz="2000" b="1"/>
              <a:t>小时，相撞将产生</a:t>
            </a:r>
            <a:r>
              <a:rPr lang="en-US" altLang="zh-CN" sz="2000" b="1"/>
              <a:t>1500</a:t>
            </a:r>
            <a:r>
              <a:rPr lang="zh-CN" altLang="en-US" sz="2000" b="1"/>
              <a:t>牛顿的力。  </a:t>
            </a:r>
            <a:endParaRPr lang="en-US" altLang="zh-CN" sz="2000" b="1"/>
          </a:p>
          <a:p>
            <a:pPr>
              <a:spcBef>
                <a:spcPct val="20000"/>
              </a:spcBef>
            </a:pPr>
            <a:r>
              <a:rPr lang="en-US" altLang="zh-CN" sz="2000" b="1"/>
              <a:t>        </a:t>
            </a:r>
            <a:r>
              <a:rPr lang="zh-CN" altLang="en-US" sz="2000" b="1"/>
              <a:t>鸟重</a:t>
            </a:r>
            <a:r>
              <a:rPr lang="en-US" altLang="zh-CN" sz="2000" b="1"/>
              <a:t>0.45kg</a:t>
            </a:r>
            <a:r>
              <a:rPr lang="zh-CN" altLang="en-US" sz="2000" b="1"/>
              <a:t>，飞机速度</a:t>
            </a:r>
            <a:r>
              <a:rPr lang="en-US" altLang="zh-CN" sz="2000" b="1"/>
              <a:t>960km/</a:t>
            </a:r>
            <a:r>
              <a:rPr lang="zh-CN" altLang="en-US" sz="2000" b="1"/>
              <a:t>小时，相撞将产生</a:t>
            </a:r>
            <a:r>
              <a:rPr lang="en-US" altLang="zh-CN" sz="2000" b="1"/>
              <a:t>21.6</a:t>
            </a:r>
            <a:r>
              <a:rPr lang="zh-CN" altLang="en-US" sz="2000" b="1"/>
              <a:t>万牛顿的力。</a:t>
            </a:r>
          </a:p>
          <a:p>
            <a:pPr algn="ctr">
              <a:spcBef>
                <a:spcPct val="20000"/>
              </a:spcBef>
            </a:pPr>
            <a:r>
              <a:rPr lang="zh-CN" altLang="en-US" sz="2000" b="1"/>
              <a:t> 鸟重</a:t>
            </a:r>
            <a:r>
              <a:rPr lang="en-US" altLang="zh-CN" sz="2000" b="1"/>
              <a:t>1.8kg,</a:t>
            </a:r>
            <a:r>
              <a:rPr lang="zh-CN" altLang="en-US" sz="2000" b="1"/>
              <a:t>飞机速度</a:t>
            </a:r>
            <a:r>
              <a:rPr lang="en-US" altLang="zh-CN" sz="2000" b="1"/>
              <a:t>700km/</a:t>
            </a:r>
            <a:r>
              <a:rPr lang="zh-CN" altLang="en-US" sz="2000" b="1"/>
              <a:t>小时，相撞将产生比炮弹还大的冲击力。</a:t>
            </a:r>
          </a:p>
          <a:p>
            <a:pPr>
              <a:spcBef>
                <a:spcPct val="20000"/>
              </a:spcBef>
            </a:pPr>
            <a:r>
              <a:rPr lang="zh-CN" altLang="en-US" sz="2000" b="1"/>
              <a:t>        当鸟与飞机相向飞行时，虽然鸟飞行的速度不会很快，但是飞机的飞行速度很快，鸟对飞机造成的撞击会非常大。</a:t>
            </a:r>
          </a:p>
          <a:p>
            <a:pPr>
              <a:spcBef>
                <a:spcPct val="20000"/>
              </a:spcBef>
            </a:pPr>
            <a:r>
              <a:rPr lang="zh-CN" altLang="en-US" sz="2000" b="1"/>
              <a:t>　　据权威统计，全世界每年大约发生</a:t>
            </a:r>
            <a:r>
              <a:rPr lang="en-US" altLang="zh-CN" sz="2000" b="1"/>
              <a:t>1</a:t>
            </a:r>
            <a:r>
              <a:rPr lang="zh-CN" altLang="en-US" sz="2000" b="1"/>
              <a:t>万次鸟撞飞机事件。自</a:t>
            </a:r>
            <a:r>
              <a:rPr lang="en-US" altLang="zh-CN" sz="2000" b="1"/>
              <a:t>1960</a:t>
            </a:r>
            <a:r>
              <a:rPr lang="zh-CN" altLang="en-US" sz="2000" b="1"/>
              <a:t>年以来，世界范围内由于飞鸟的撞击至少造成了</a:t>
            </a:r>
            <a:r>
              <a:rPr lang="en-US" altLang="zh-CN" sz="2000" b="1"/>
              <a:t>78</a:t>
            </a:r>
            <a:r>
              <a:rPr lang="zh-CN" altLang="en-US" sz="2000" b="1"/>
              <a:t>架民用飞机损失、</a:t>
            </a:r>
            <a:r>
              <a:rPr lang="en-US" altLang="zh-CN" sz="2000" b="1"/>
              <a:t>201</a:t>
            </a:r>
            <a:r>
              <a:rPr lang="zh-CN" altLang="en-US" sz="2000" b="1"/>
              <a:t>人丧生，</a:t>
            </a:r>
            <a:r>
              <a:rPr lang="en-US" altLang="zh-CN" sz="2000" b="1"/>
              <a:t>250</a:t>
            </a:r>
            <a:r>
              <a:rPr lang="zh-CN" altLang="en-US" sz="2000" b="1"/>
              <a:t>架军用飞机损失、</a:t>
            </a:r>
            <a:r>
              <a:rPr lang="en-US" altLang="zh-CN" sz="2000" b="1"/>
              <a:t>120</a:t>
            </a:r>
            <a:r>
              <a:rPr lang="zh-CN" altLang="en-US" sz="2000" b="1"/>
              <a:t>名飞行员丧生。目前，国际航空联合会已把鸟害升级为“</a:t>
            </a:r>
            <a:r>
              <a:rPr lang="en-US" altLang="zh-CN" sz="2000" b="1"/>
              <a:t>A”</a:t>
            </a:r>
            <a:r>
              <a:rPr lang="zh-CN" altLang="en-US" sz="2000" b="1"/>
              <a:t>类航空灾难。</a:t>
            </a:r>
          </a:p>
        </p:txBody>
      </p:sp>
      <p:sp>
        <p:nvSpPr>
          <p:cNvPr id="18439" name="Rectangle 9"/>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spcBef>
                <a:spcPct val="20000"/>
              </a:spcBef>
            </a:pPr>
            <a:endParaRPr lang="en-US" altLang="zh-CN"/>
          </a:p>
        </p:txBody>
      </p:sp>
      <p:graphicFrame>
        <p:nvGraphicFramePr>
          <p:cNvPr id="111635" name="Group 19"/>
          <p:cNvGraphicFramePr>
            <a:graphicFrameLocks noGrp="1"/>
          </p:cNvGraphicFramePr>
          <p:nvPr/>
        </p:nvGraphicFramePr>
        <p:xfrm>
          <a:off x="0" y="2400300"/>
          <a:ext cx="3098800" cy="2057400"/>
        </p:xfrm>
        <a:graphic>
          <a:graphicData uri="http://schemas.openxmlformats.org/drawingml/2006/table">
            <a:tbl>
              <a:tblPr/>
              <a:tblGrid>
                <a:gridCol w="3098800">
                  <a:extLst>
                    <a:ext uri="{9D8B030D-6E8A-4147-A177-3AD203B41FA5}">
                      <a16:colId xmlns:a16="http://schemas.microsoft.com/office/drawing/2014/main" val="20000"/>
                    </a:ext>
                  </a:extLst>
                </a:gridCol>
              </a:tblGrid>
              <a:tr h="2057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900" b="0" i="0" u="none" strike="noStrike" cap="none" normalizeH="0" baseline="0" dirty="0">
                          <a:ln>
                            <a:noFill/>
                          </a:ln>
                          <a:solidFill>
                            <a:srgbClr val="000000"/>
                          </a:solidFill>
                          <a:effectLst/>
                          <a:latin typeface="Times New Roman" pitchFamily="18" charset="0"/>
                          <a:ea typeface="宋体" pitchFamily="2" charset="-122"/>
                          <a:hlinkClick r:id="" action="ppaction://noaction"/>
                        </a:rPr>
                        <a:t>  </a:t>
                      </a:r>
                      <a:r>
                        <a:rPr kumimoji="1" lang="en-US" altLang="zh-CN" sz="12000" b="0" i="0" u="none" strike="noStrike" cap="none" normalizeH="0" baseline="0" dirty="0">
                          <a:ln>
                            <a:noFill/>
                          </a:ln>
                          <a:solidFill>
                            <a:srgbClr val="000000"/>
                          </a:solidFill>
                          <a:effectLst/>
                          <a:latin typeface="Times New Roman" pitchFamily="18" charset="0"/>
                          <a:ea typeface="宋体" pitchFamily="2" charset="-122"/>
                        </a:rPr>
                        <a:t> </a:t>
                      </a:r>
                      <a:r>
                        <a:rPr kumimoji="1" lang="en-US" altLang="zh-CN" sz="900" b="0" i="0" u="none" strike="noStrike" cap="none" normalizeH="0" baseline="0" dirty="0">
                          <a:ln>
                            <a:noFill/>
                          </a:ln>
                          <a:solidFill>
                            <a:srgbClr val="000000"/>
                          </a:solidFill>
                          <a:effectLst/>
                          <a:latin typeface="Times New Roman" pitchFamily="18" charset="0"/>
                          <a:ea typeface="宋体" pitchFamily="2" charset="-122"/>
                        </a:rPr>
                        <a:t>                                                                                                   </a:t>
                      </a:r>
                    </a:p>
                  </a:txBody>
                  <a:tcPr anchor="ct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111627" name="Picture 11" descr="3772951">
            <a:hlinkClick r:id="rId6"/>
          </p:cNvPr>
          <p:cNvPicPr>
            <a:picLocks noChangeAspect="1" noChangeArrowheads="1"/>
          </p:cNvPicPr>
          <p:nvPr/>
        </p:nvPicPr>
        <p:blipFill>
          <a:blip r:embed="rId7">
            <a:lum contrast="12000"/>
            <a:extLst>
              <a:ext uri="{28A0092B-C50C-407E-A947-70E740481C1C}">
                <a14:useLocalDpi xmlns:a14="http://schemas.microsoft.com/office/drawing/2010/main" val="0"/>
              </a:ext>
            </a:extLst>
          </a:blip>
          <a:srcRect/>
          <a:stretch>
            <a:fillRect/>
          </a:stretch>
        </p:blipFill>
        <p:spPr bwMode="auto">
          <a:xfrm>
            <a:off x="3924300" y="1196975"/>
            <a:ext cx="338455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37" name="Rectangle 21"/>
          <p:cNvSpPr>
            <a:spLocks noChangeArrowheads="1"/>
          </p:cNvSpPr>
          <p:nvPr/>
        </p:nvSpPr>
        <p:spPr bwMode="auto">
          <a:xfrm>
            <a:off x="7451725" y="1412875"/>
            <a:ext cx="1584325"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a:t>民航飞机一般是</a:t>
            </a:r>
            <a:r>
              <a:rPr lang="en-US" altLang="zh-CN" sz="2000" b="1"/>
              <a:t>500</a:t>
            </a:r>
            <a:r>
              <a:rPr lang="zh-CN" altLang="en-US" sz="2000" b="1"/>
              <a:t>－</a:t>
            </a:r>
            <a:r>
              <a:rPr lang="en-US" altLang="zh-CN" sz="2000" b="1"/>
              <a:t>1000km/h</a:t>
            </a:r>
            <a:r>
              <a:rPr lang="zh-CN" altLang="en-US" sz="2000" b="1"/>
              <a:t>。省油状态是</a:t>
            </a:r>
            <a:r>
              <a:rPr lang="en-US" altLang="zh-CN" sz="2000" b="1"/>
              <a:t>900</a:t>
            </a:r>
            <a:r>
              <a:rPr lang="zh-CN" altLang="en-US" sz="2000" b="1"/>
              <a:t>左右。起飞和降落时不到</a:t>
            </a:r>
            <a:r>
              <a:rPr lang="en-US" altLang="zh-CN" sz="2000" b="1"/>
              <a:t>300 </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wipe(left)">
                                      <p:cBhvr>
                                        <p:cTn id="7" dur="500"/>
                                        <p:tgtEl>
                                          <p:spTgt spid="111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11619"/>
                                        </p:tgtEl>
                                        <p:attrNameLst>
                                          <p:attrName>style.visibility</p:attrName>
                                        </p:attrNameLst>
                                      </p:cBhvr>
                                      <p:to>
                                        <p:strVal val="visible"/>
                                      </p:to>
                                    </p:set>
                                    <p:animEffect transition="in" filter="slide(fromBottom)">
                                      <p:cBhvr>
                                        <p:cTn id="12" dur="500"/>
                                        <p:tgtEl>
                                          <p:spTgt spid="1116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3" presetClass="entr" presetSubtype="16" fill="hold" nodeType="clickEffect">
                                  <p:stCondLst>
                                    <p:cond delay="0"/>
                                  </p:stCondLst>
                                  <p:childTnLst>
                                    <p:set>
                                      <p:cBhvr>
                                        <p:cTn id="16" dur="1" fill="hold">
                                          <p:stCondLst>
                                            <p:cond delay="0"/>
                                          </p:stCondLst>
                                        </p:cTn>
                                        <p:tgtEl>
                                          <p:spTgt spid="111627"/>
                                        </p:tgtEl>
                                        <p:attrNameLst>
                                          <p:attrName>style.visibility</p:attrName>
                                        </p:attrNameLst>
                                      </p:cBhvr>
                                      <p:to>
                                        <p:strVal val="visible"/>
                                      </p:to>
                                    </p:set>
                                    <p:animEffect transition="in" filter="plus(in)">
                                      <p:cBhvr>
                                        <p:cTn id="17" dur="2000"/>
                                        <p:tgtEl>
                                          <p:spTgt spid="1116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1637"/>
                                        </p:tgtEl>
                                        <p:attrNameLst>
                                          <p:attrName>style.visibility</p:attrName>
                                        </p:attrNameLst>
                                      </p:cBhvr>
                                      <p:to>
                                        <p:strVal val="visible"/>
                                      </p:to>
                                    </p:set>
                                    <p:anim calcmode="lin" valueType="num">
                                      <p:cBhvr additive="base">
                                        <p:cTn id="22" dur="500" fill="hold"/>
                                        <p:tgtEl>
                                          <p:spTgt spid="111637"/>
                                        </p:tgtEl>
                                        <p:attrNameLst>
                                          <p:attrName>ppt_x</p:attrName>
                                        </p:attrNameLst>
                                      </p:cBhvr>
                                      <p:tavLst>
                                        <p:tav tm="0">
                                          <p:val>
                                            <p:strVal val="#ppt_x"/>
                                          </p:val>
                                        </p:tav>
                                        <p:tav tm="100000">
                                          <p:val>
                                            <p:strVal val="#ppt_x"/>
                                          </p:val>
                                        </p:tav>
                                      </p:tavLst>
                                    </p:anim>
                                    <p:anim calcmode="lin" valueType="num">
                                      <p:cBhvr additive="base">
                                        <p:cTn id="23" dur="500" fill="hold"/>
                                        <p:tgtEl>
                                          <p:spTgt spid="111637"/>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16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utoUpdateAnimBg="0"/>
      <p:bldP spid="111624" grpId="0" animBg="1"/>
      <p:bldP spid="1116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hlinkClick r:id="rId2"/>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97" y="0"/>
            <a:ext cx="5473407" cy="3076631"/>
          </a:xfrm>
          <a:prstGeom prst="rect">
            <a:avLst/>
          </a:prstGeom>
        </p:spPr>
      </p:pic>
      <p:sp>
        <p:nvSpPr>
          <p:cNvPr id="4" name="矩形 3"/>
          <p:cNvSpPr/>
          <p:nvPr/>
        </p:nvSpPr>
        <p:spPr>
          <a:xfrm>
            <a:off x="5436096" y="23947"/>
            <a:ext cx="3816424" cy="3139321"/>
          </a:xfrm>
          <a:prstGeom prst="rect">
            <a:avLst/>
          </a:prstGeom>
        </p:spPr>
        <p:txBody>
          <a:bodyPr wrap="square">
            <a:spAutoFit/>
          </a:bodyPr>
          <a:lstStyle/>
          <a:p>
            <a:r>
              <a:rPr lang="zh-CN" altLang="en-US" sz="2200" dirty="0">
                <a:solidFill>
                  <a:srgbClr val="666666"/>
                </a:solidFill>
                <a:latin typeface="Microsoft Yahei" panose="020B0503020204020204" pitchFamily="34" charset="-122"/>
                <a:ea typeface="Microsoft Yahei" panose="020B0503020204020204" pitchFamily="34" charset="-122"/>
              </a:rPr>
              <a:t>非洲国家苏丹的</a:t>
            </a:r>
            <a:r>
              <a:rPr lang="en-US" altLang="zh-CN" sz="2200" dirty="0" err="1">
                <a:solidFill>
                  <a:srgbClr val="666666"/>
                </a:solidFill>
                <a:latin typeface="Microsoft Yahei" panose="020B0503020204020204" pitchFamily="34" charset="-122"/>
                <a:ea typeface="Microsoft Yahei" panose="020B0503020204020204" pitchFamily="34" charset="-122"/>
              </a:rPr>
              <a:t>Badr</a:t>
            </a:r>
            <a:r>
              <a:rPr lang="zh-CN" altLang="en-US" sz="2200" dirty="0">
                <a:solidFill>
                  <a:srgbClr val="666666"/>
                </a:solidFill>
                <a:latin typeface="Microsoft Yahei" panose="020B0503020204020204" pitchFamily="34" charset="-122"/>
                <a:ea typeface="Microsoft Yahei" panose="020B0503020204020204" pitchFamily="34" charset="-122"/>
              </a:rPr>
              <a:t>航空一架</a:t>
            </a:r>
            <a:r>
              <a:rPr lang="en-US" altLang="zh-CN" sz="2200" dirty="0">
                <a:solidFill>
                  <a:srgbClr val="666666"/>
                </a:solidFill>
                <a:latin typeface="Microsoft Yahei" panose="020B0503020204020204" pitchFamily="34" charset="-122"/>
                <a:ea typeface="Microsoft Yahei" panose="020B0503020204020204" pitchFamily="34" charset="-122"/>
              </a:rPr>
              <a:t>737</a:t>
            </a:r>
            <a:r>
              <a:rPr lang="zh-CN" altLang="en-US" sz="2200" dirty="0">
                <a:solidFill>
                  <a:srgbClr val="666666"/>
                </a:solidFill>
                <a:latin typeface="Microsoft Yahei" panose="020B0503020204020204" pitchFamily="34" charset="-122"/>
                <a:ea typeface="Microsoft Yahei" panose="020B0503020204020204" pitchFamily="34" charset="-122"/>
              </a:rPr>
              <a:t>当地时间</a:t>
            </a:r>
            <a:r>
              <a:rPr lang="en-US" altLang="zh-CN" sz="2200" dirty="0">
                <a:solidFill>
                  <a:srgbClr val="666666"/>
                </a:solidFill>
                <a:latin typeface="Microsoft Yahei" panose="020B0503020204020204" pitchFamily="34" charset="-122"/>
                <a:ea typeface="Microsoft Yahei" panose="020B0503020204020204" pitchFamily="34" charset="-122"/>
              </a:rPr>
              <a:t>2017-9-24</a:t>
            </a:r>
            <a:r>
              <a:rPr lang="zh-CN" altLang="en-US" sz="2200" dirty="0">
                <a:solidFill>
                  <a:srgbClr val="666666"/>
                </a:solidFill>
                <a:latin typeface="Microsoft Yahei" panose="020B0503020204020204" pitchFamily="34" charset="-122"/>
                <a:ea typeface="Microsoft Yahei" panose="020B0503020204020204" pitchFamily="34" charset="-122"/>
              </a:rPr>
              <a:t>日执飞</a:t>
            </a:r>
            <a:r>
              <a:rPr lang="en-US" altLang="zh-CN" sz="2200" dirty="0">
                <a:solidFill>
                  <a:srgbClr val="666666"/>
                </a:solidFill>
                <a:latin typeface="Microsoft Yahei" panose="020B0503020204020204" pitchFamily="34" charset="-122"/>
                <a:ea typeface="Microsoft Yahei" panose="020B0503020204020204" pitchFamily="34" charset="-122"/>
              </a:rPr>
              <a:t>J4341</a:t>
            </a:r>
            <a:r>
              <a:rPr lang="zh-CN" altLang="en-US" sz="2200" dirty="0">
                <a:solidFill>
                  <a:srgbClr val="666666"/>
                </a:solidFill>
                <a:latin typeface="Microsoft Yahei" panose="020B0503020204020204" pitchFamily="34" charset="-122"/>
                <a:ea typeface="Microsoft Yahei" panose="020B0503020204020204" pitchFamily="34" charset="-122"/>
              </a:rPr>
              <a:t>航班由</a:t>
            </a:r>
            <a:r>
              <a:rPr lang="en-US" altLang="zh-CN" sz="2200" dirty="0">
                <a:solidFill>
                  <a:srgbClr val="666666"/>
                </a:solidFill>
                <a:latin typeface="Microsoft Yahei" panose="020B0503020204020204" pitchFamily="34" charset="-122"/>
                <a:ea typeface="Microsoft Yahei" panose="020B0503020204020204" pitchFamily="34" charset="-122"/>
              </a:rPr>
              <a:t>Ad </a:t>
            </a:r>
            <a:r>
              <a:rPr lang="en-US" altLang="zh-CN" sz="2200" dirty="0" err="1">
                <a:solidFill>
                  <a:srgbClr val="666666"/>
                </a:solidFill>
                <a:latin typeface="Microsoft Yahei" panose="020B0503020204020204" pitchFamily="34" charset="-122"/>
                <a:ea typeface="Microsoft Yahei" panose="020B0503020204020204" pitchFamily="34" charset="-122"/>
              </a:rPr>
              <a:t>Damazeen</a:t>
            </a:r>
            <a:r>
              <a:rPr lang="zh-CN" altLang="en-US" sz="2200" dirty="0">
                <a:solidFill>
                  <a:srgbClr val="666666"/>
                </a:solidFill>
                <a:latin typeface="Microsoft Yahei" panose="020B0503020204020204" pitchFamily="34" charset="-122"/>
                <a:ea typeface="Microsoft Yahei" panose="020B0503020204020204" pitchFamily="34" charset="-122"/>
              </a:rPr>
              <a:t>前往</a:t>
            </a:r>
            <a:r>
              <a:rPr lang="en-US" altLang="zh-CN" sz="2200" dirty="0">
                <a:solidFill>
                  <a:srgbClr val="666666"/>
                </a:solidFill>
                <a:latin typeface="Microsoft Yahei" panose="020B0503020204020204" pitchFamily="34" charset="-122"/>
                <a:ea typeface="Microsoft Yahei" panose="020B0503020204020204" pitchFamily="34" charset="-122"/>
              </a:rPr>
              <a:t>Khartoum</a:t>
            </a:r>
            <a:r>
              <a:rPr lang="zh-CN" altLang="en-US" sz="2200" dirty="0">
                <a:solidFill>
                  <a:srgbClr val="666666"/>
                </a:solidFill>
                <a:latin typeface="Microsoft Yahei" panose="020B0503020204020204" pitchFamily="34" charset="-122"/>
                <a:ea typeface="Microsoft Yahei" panose="020B0503020204020204" pitchFamily="34" charset="-122"/>
              </a:rPr>
              <a:t>时遭遇鸟击，从现场图片看飞机受损严重，飞机机鼻整流罩被击穿，整流罩内部也有明显损伤，所幸飞行员驾驶飞机安全降落。</a:t>
            </a:r>
            <a:endParaRPr lang="zh-CN" altLang="en-US" sz="2200" dirty="0"/>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496" y="3148986"/>
            <a:ext cx="2084174" cy="3473624"/>
          </a:xfrm>
          <a:prstGeom prst="rect">
            <a:avLst/>
          </a:prstGeom>
          <a:ln>
            <a:solidFill>
              <a:srgbClr val="FF0000"/>
            </a:solidFill>
          </a:ln>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72552" y="3148986"/>
            <a:ext cx="2000820" cy="3473624"/>
          </a:xfrm>
          <a:prstGeom prst="rect">
            <a:avLst/>
          </a:prstGeom>
          <a:ln>
            <a:solidFill>
              <a:srgbClr val="FF0000"/>
            </a:solidFill>
          </a:ln>
        </p:spPr>
      </p:pic>
      <p:pic>
        <p:nvPicPr>
          <p:cNvPr id="7" name="图片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11960" y="3140968"/>
            <a:ext cx="1946598" cy="3460618"/>
          </a:xfrm>
          <a:prstGeom prst="rect">
            <a:avLst/>
          </a:prstGeom>
          <a:ln>
            <a:solidFill>
              <a:srgbClr val="FF0000"/>
            </a:solidFill>
          </a:ln>
        </p:spPr>
      </p:pic>
      <p:pic>
        <p:nvPicPr>
          <p:cNvPr id="8" name="图片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146" y="3140968"/>
            <a:ext cx="2868888" cy="3460618"/>
          </a:xfrm>
          <a:prstGeom prst="rect">
            <a:avLst/>
          </a:prstGeom>
          <a:ln>
            <a:solidFill>
              <a:srgbClr val="FF0000"/>
            </a:solidFill>
          </a:ln>
        </p:spPr>
      </p:pic>
    </p:spTree>
    <p:extLst>
      <p:ext uri="{BB962C8B-B14F-4D97-AF65-F5344CB8AC3E}">
        <p14:creationId xmlns:p14="http://schemas.microsoft.com/office/powerpoint/2010/main" val="801155291"/>
      </p:ext>
    </p:extLst>
  </p:cSld>
  <p:clrMapOvr>
    <a:masterClrMapping/>
  </p:clrMapOvr>
  <p:transition>
    <p:checke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315913" y="2565400"/>
            <a:ext cx="555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sz="3000" b="1">
                <a:solidFill>
                  <a:srgbClr val="FF0000"/>
                </a:solidFill>
                <a:ea typeface="黑体" pitchFamily="49" charset="-122"/>
              </a:rPr>
              <a:t>解：</a:t>
            </a:r>
            <a:r>
              <a:rPr lang="zh-CN" altLang="en-US" sz="3000" b="1"/>
              <a:t>由冲量定义有</a:t>
            </a:r>
          </a:p>
        </p:txBody>
      </p:sp>
      <mc:AlternateContent xmlns:mc="http://schemas.openxmlformats.org/markup-compatibility/2006" xmlns:a14="http://schemas.microsoft.com/office/drawing/2010/main">
        <mc:Choice Requires="a14">
          <p:sp>
            <p:nvSpPr>
              <p:cNvPr id="136195" name="Object 3"/>
              <p:cNvSpPr txBox="1"/>
              <p:nvPr/>
            </p:nvSpPr>
            <p:spPr bwMode="auto">
              <a:xfrm>
                <a:off x="3851275" y="2361761"/>
                <a:ext cx="2414588" cy="841375"/>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r>
                            <a:rPr lang="zh-CN" altLang="en-US" i="1">
                              <a:solidFill>
                                <a:srgbClr val="000000"/>
                              </a:solidFill>
                              <a:latin typeface="Cambria Math" panose="02040503050406030204" pitchFamily="18" charset="0"/>
                            </a:rPr>
                            <m:t>0−2</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2</m:t>
                          </m:r>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e>
                      </m:nary>
                    </m:oMath>
                  </m:oMathPara>
                </a14:m>
                <a:endParaRPr lang="zh-CN" altLang="en-US" dirty="0"/>
              </a:p>
            </p:txBody>
          </p:sp>
        </mc:Choice>
        <mc:Fallback xmlns="">
          <p:sp>
            <p:nvSpPr>
              <p:cNvPr id="136195" name="Object 3"/>
              <p:cNvSpPr txBox="1">
                <a:spLocks noRot="1" noChangeAspect="1" noMove="1" noResize="1" noEditPoints="1" noAdjustHandles="1" noChangeArrowheads="1" noChangeShapeType="1" noTextEdit="1"/>
              </p:cNvSpPr>
              <p:nvPr/>
            </p:nvSpPr>
            <p:spPr bwMode="auto">
              <a:xfrm>
                <a:off x="3851275" y="2361761"/>
                <a:ext cx="2414588" cy="841375"/>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6196" name="Object 4"/>
              <p:cNvSpPr txBox="1"/>
              <p:nvPr/>
            </p:nvSpPr>
            <p:spPr bwMode="auto">
              <a:xfrm>
                <a:off x="3635375" y="3080899"/>
                <a:ext cx="4976813" cy="90170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2</m:t>
                          </m:r>
                        </m:sup>
                        <m:e>
                          <m:r>
                            <a:rPr lang="zh-CN" altLang="en-US" i="1">
                              <a:solidFill>
                                <a:srgbClr val="000000"/>
                              </a:solidFill>
                              <a:latin typeface="Cambria Math" panose="02040503050406030204" pitchFamily="18" charset="0"/>
                            </a:rPr>
                            <m:t>[10</m:t>
                          </m:r>
                          <m:r>
                            <a:rPr lang="zh-CN" altLang="en-US" i="1">
                              <a:solidFill>
                                <a:srgbClr val="000000"/>
                              </a:solidFill>
                              <a:latin typeface="Cambria Math" panose="02040503050406030204" pitchFamily="18" charset="0"/>
                            </a:rPr>
                            <m:t>𝑡</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𝑖</m:t>
                              </m:r>
                            </m:e>
                          </m:acc>
                          <m:r>
                            <a:rPr lang="zh-CN" altLang="en-US" i="1">
                              <a:solidFill>
                                <a:srgbClr val="000000"/>
                              </a:solidFill>
                              <a:latin typeface="Cambria Math" panose="02040503050406030204" pitchFamily="18" charset="0"/>
                            </a:rPr>
                            <m:t>+2(2−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𝑗</m:t>
                              </m:r>
                            </m:e>
                          </m:acc>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𝑘</m:t>
                              </m:r>
                            </m:e>
                          </m:ac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e>
                      </m:nary>
                    </m:oMath>
                  </m:oMathPara>
                </a14:m>
                <a:endParaRPr lang="zh-CN" altLang="en-US" dirty="0"/>
              </a:p>
            </p:txBody>
          </p:sp>
        </mc:Choice>
        <mc:Fallback xmlns="">
          <p:sp>
            <p:nvSpPr>
              <p:cNvPr id="136196" name="Object 4"/>
              <p:cNvSpPr txBox="1">
                <a:spLocks noRot="1" noChangeAspect="1" noMove="1" noResize="1" noEditPoints="1" noAdjustHandles="1" noChangeArrowheads="1" noChangeShapeType="1" noTextEdit="1"/>
              </p:cNvSpPr>
              <p:nvPr/>
            </p:nvSpPr>
            <p:spPr bwMode="auto">
              <a:xfrm>
                <a:off x="3635375" y="3080899"/>
                <a:ext cx="4976813" cy="901700"/>
              </a:xfrm>
              <a:prstGeom prst="rect">
                <a:avLst/>
              </a:prstGeom>
              <a:blipFill>
                <a:blip r:embed="rId3"/>
                <a:stretch>
                  <a:fillRect/>
                </a:stretch>
              </a:blipFill>
              <a:ln>
                <a:noFill/>
              </a:ln>
              <a:effectLst/>
              <a:extLst/>
            </p:spPr>
            <p:txBody>
              <a:bodyPr/>
              <a:lstStyle/>
              <a:p>
                <a:r>
                  <a:rPr lang="zh-CN" altLang="en-US">
                    <a:noFill/>
                  </a:rPr>
                  <a:t> </a:t>
                </a:r>
              </a:p>
            </p:txBody>
          </p:sp>
        </mc:Fallback>
      </mc:AlternateContent>
      <p:grpSp>
        <p:nvGrpSpPr>
          <p:cNvPr id="20489" name="Group 5"/>
          <p:cNvGrpSpPr>
            <a:grpSpLocks/>
          </p:cNvGrpSpPr>
          <p:nvPr/>
        </p:nvGrpSpPr>
        <p:grpSpPr bwMode="auto">
          <a:xfrm>
            <a:off x="304800" y="228600"/>
            <a:ext cx="8267700" cy="2200275"/>
            <a:chOff x="144" y="144"/>
            <a:chExt cx="5208" cy="1386"/>
          </a:xfrm>
        </p:grpSpPr>
        <p:sp>
          <p:nvSpPr>
            <p:cNvPr id="20491" name="Text Box 6"/>
            <p:cNvSpPr txBox="1">
              <a:spLocks noChangeArrowheads="1"/>
            </p:cNvSpPr>
            <p:nvPr/>
          </p:nvSpPr>
          <p:spPr bwMode="auto">
            <a:xfrm>
              <a:off x="144" y="144"/>
              <a:ext cx="48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Aft>
                  <a:spcPts val="1800"/>
                </a:spcAft>
              </a:pPr>
              <a:r>
                <a:rPr lang="en-US" altLang="zh-CN" sz="3000" b="1">
                  <a:solidFill>
                    <a:srgbClr val="FF0000"/>
                  </a:solidFill>
                  <a:ea typeface="宋体" pitchFamily="2" charset="-122"/>
                </a:rPr>
                <a:t>[</a:t>
              </a:r>
              <a:r>
                <a:rPr lang="zh-CN" altLang="en-US" sz="3000" b="1">
                  <a:solidFill>
                    <a:srgbClr val="FF0000"/>
                  </a:solidFill>
                  <a:ea typeface="宋体" pitchFamily="2" charset="-122"/>
                </a:rPr>
                <a:t>例</a:t>
              </a:r>
              <a:r>
                <a:rPr lang="en-US" altLang="zh-CN" sz="3000" b="1">
                  <a:solidFill>
                    <a:srgbClr val="FF0000"/>
                  </a:solidFill>
                  <a:ea typeface="宋体" pitchFamily="2" charset="-122"/>
                </a:rPr>
                <a:t>1]</a:t>
              </a:r>
              <a:r>
                <a:rPr lang="zh-CN" altLang="en-US" sz="3000" b="1">
                  <a:ea typeface="宋体" pitchFamily="2" charset="-122"/>
                </a:rPr>
                <a:t>一质点受合外力作用，外力为</a:t>
              </a:r>
            </a:p>
          </p:txBody>
        </p:sp>
        <mc:AlternateContent xmlns:mc="http://schemas.openxmlformats.org/markup-compatibility/2006" xmlns:a14="http://schemas.microsoft.com/office/drawing/2010/main">
          <mc:Choice Requires="a14">
            <p:sp>
              <p:nvSpPr>
                <p:cNvPr id="20487" name="Object 7"/>
                <p:cNvSpPr txBox="1"/>
                <p:nvPr/>
              </p:nvSpPr>
              <p:spPr bwMode="auto">
                <a:xfrm>
                  <a:off x="894" y="482"/>
                  <a:ext cx="3117" cy="394"/>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=10</m:t>
                        </m:r>
                        <m:r>
                          <a:rPr lang="zh-CN" altLang="en-US" i="1">
                            <a:solidFill>
                              <a:srgbClr val="000000"/>
                            </a:solidFill>
                            <a:latin typeface="Cambria Math" panose="02040503050406030204" pitchFamily="18" charset="0"/>
                          </a:rPr>
                          <m:t>𝑡</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𝑖</m:t>
                            </m:r>
                          </m:e>
                        </m:acc>
                        <m:r>
                          <a:rPr lang="zh-CN" altLang="en-US" i="1">
                            <a:solidFill>
                              <a:srgbClr val="000000"/>
                            </a:solidFill>
                            <a:latin typeface="Cambria Math" panose="02040503050406030204" pitchFamily="18" charset="0"/>
                          </a:rPr>
                          <m:t>+2(2−</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𝑗</m:t>
                            </m:r>
                          </m:e>
                        </m:acc>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𝑘</m:t>
                            </m:r>
                          </m:e>
                        </m:acc>
                        <m:r>
                          <a:rPr lang="zh-CN" altLang="en-US" i="1">
                            <a:solidFill>
                              <a:srgbClr val="000000"/>
                            </a:solidFill>
                            <a:latin typeface="Cambria Math" panose="02040503050406030204" pitchFamily="18" charset="0"/>
                          </a:rPr>
                          <m:t> (</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m:t>
                            </m:r>
                          </m:fName>
                          <m:e>
                            <m:r>
                              <a:rPr lang="zh-CN" altLang="en-US" i="1">
                                <a:solidFill>
                                  <a:srgbClr val="000000"/>
                                </a:solidFill>
                                <a:latin typeface="Cambria Math" panose="02040503050406030204" pitchFamily="18" charset="0"/>
                              </a:rPr>
                              <m:t>)</m:t>
                            </m:r>
                          </m:e>
                        </m:func>
                      </m:oMath>
                    </m:oMathPara>
                  </a14:m>
                  <a:endParaRPr lang="zh-CN" altLang="en-US"/>
                </a:p>
              </p:txBody>
            </p:sp>
          </mc:Choice>
          <mc:Fallback xmlns="">
            <p:sp>
              <p:nvSpPr>
                <p:cNvPr id="20487" name="Object 7"/>
                <p:cNvSpPr txBox="1">
                  <a:spLocks noRot="1" noChangeAspect="1" noMove="1" noResize="1" noEditPoints="1" noAdjustHandles="1" noChangeArrowheads="1" noChangeShapeType="1" noTextEdit="1"/>
                </p:cNvSpPr>
                <p:nvPr/>
              </p:nvSpPr>
              <p:spPr bwMode="auto">
                <a:xfrm>
                  <a:off x="894" y="482"/>
                  <a:ext cx="3117" cy="394"/>
                </a:xfrm>
                <a:prstGeom prst="rect">
                  <a:avLst/>
                </a:prstGeom>
                <a:blipFill>
                  <a:blip r:embed="rId4"/>
                  <a:stretch>
                    <a:fillRect/>
                  </a:stretch>
                </a:blipFill>
                <a:ln>
                  <a:noFill/>
                </a:ln>
                <a:effectLst/>
                <a:extLst/>
              </p:spPr>
              <p:txBody>
                <a:bodyPr/>
                <a:lstStyle/>
                <a:p>
                  <a:r>
                    <a:rPr lang="zh-CN" altLang="en-US">
                      <a:noFill/>
                    </a:rPr>
                    <a:t> </a:t>
                  </a:r>
                </a:p>
              </p:txBody>
            </p:sp>
          </mc:Fallback>
        </mc:AlternateContent>
        <p:sp>
          <p:nvSpPr>
            <p:cNvPr id="20492" name="Text Box 8"/>
            <p:cNvSpPr txBox="1">
              <a:spLocks noChangeArrowheads="1"/>
            </p:cNvSpPr>
            <p:nvPr/>
          </p:nvSpPr>
          <p:spPr bwMode="auto">
            <a:xfrm>
              <a:off x="144" y="890"/>
              <a:ext cx="520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sz="3000" b="1">
                  <a:ea typeface="宋体" pitchFamily="2" charset="-122"/>
                </a:rPr>
                <a:t>求此质点从静止开始在</a:t>
              </a:r>
              <a:r>
                <a:rPr lang="en-US" altLang="zh-CN" sz="3000" b="1">
                  <a:solidFill>
                    <a:schemeClr val="tx2"/>
                  </a:solidFill>
                  <a:ea typeface="宋体" pitchFamily="2" charset="-122"/>
                </a:rPr>
                <a:t>2s</a:t>
              </a:r>
              <a:r>
                <a:rPr lang="zh-CN" altLang="en-US" sz="3000" b="1">
                  <a:ea typeface="宋体" pitchFamily="2" charset="-122"/>
                </a:rPr>
                <a:t>内所受合外力的冲量和质点在</a:t>
              </a:r>
              <a:r>
                <a:rPr lang="en-US" altLang="zh-CN" sz="3000" b="1">
                  <a:solidFill>
                    <a:schemeClr val="tx2"/>
                  </a:solidFill>
                  <a:ea typeface="宋体" pitchFamily="2" charset="-122"/>
                </a:rPr>
                <a:t>2s</a:t>
              </a:r>
              <a:r>
                <a:rPr lang="zh-CN" altLang="en-US" sz="3000" b="1">
                  <a:ea typeface="宋体" pitchFamily="2" charset="-122"/>
                </a:rPr>
                <a:t>末的动量。</a:t>
              </a:r>
            </a:p>
          </p:txBody>
        </p:sp>
      </p:grpSp>
      <mc:AlternateContent xmlns:mc="http://schemas.openxmlformats.org/markup-compatibility/2006" xmlns:a14="http://schemas.microsoft.com/office/drawing/2010/main">
        <mc:Choice Requires="a14">
          <p:sp>
            <p:nvSpPr>
              <p:cNvPr id="136201" name="Object 9"/>
              <p:cNvSpPr txBox="1"/>
              <p:nvPr/>
            </p:nvSpPr>
            <p:spPr bwMode="auto">
              <a:xfrm>
                <a:off x="3589338" y="3933825"/>
                <a:ext cx="3646487" cy="6572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=20</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𝑖</m:t>
                          </m:r>
                        </m:e>
                      </m:acc>
                      <m:r>
                        <a:rPr lang="zh-CN" altLang="en-US" i="1">
                          <a:solidFill>
                            <a:srgbClr val="000000"/>
                          </a:solidFill>
                          <a:latin typeface="Cambria Math" panose="02040503050406030204" pitchFamily="18" charset="0"/>
                        </a:rPr>
                        <m:t>+4</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𝑗</m:t>
                          </m:r>
                        </m:e>
                      </m:acc>
                      <m:r>
                        <a:rPr lang="zh-CN" altLang="en-US" i="1">
                          <a:solidFill>
                            <a:srgbClr val="000000"/>
                          </a:solidFill>
                          <a:latin typeface="Cambria Math" panose="02040503050406030204" pitchFamily="18" charset="0"/>
                        </a:rPr>
                        <m:t>+8</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𝑘</m:t>
                          </m:r>
                        </m:e>
                      </m:acc>
                      <m:r>
                        <m:rPr>
                          <m:sty m:val="p"/>
                        </m:rPr>
                        <a:rPr lang="zh-CN" altLang="en-US" i="0">
                          <a:solidFill>
                            <a:srgbClr val="000000"/>
                          </a:solidFill>
                          <a:latin typeface="Cambria Math" panose="02040503050406030204" pitchFamily="18" charset="0"/>
                        </a:rPr>
                        <m:t>N</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oMath>
                  </m:oMathPara>
                </a14:m>
                <a:endParaRPr lang="zh-CN" altLang="en-US" dirty="0"/>
              </a:p>
            </p:txBody>
          </p:sp>
        </mc:Choice>
        <mc:Fallback xmlns="">
          <p:sp>
            <p:nvSpPr>
              <p:cNvPr id="136201" name="Object 9"/>
              <p:cNvSpPr txBox="1">
                <a:spLocks noRot="1" noChangeAspect="1" noMove="1" noResize="1" noEditPoints="1" noAdjustHandles="1" noChangeArrowheads="1" noChangeShapeType="1" noTextEdit="1"/>
              </p:cNvSpPr>
              <p:nvPr/>
            </p:nvSpPr>
            <p:spPr bwMode="auto">
              <a:xfrm>
                <a:off x="3589338" y="3933825"/>
                <a:ext cx="3646487" cy="657225"/>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10" name="Text Box 2"/>
          <p:cNvSpPr txBox="1">
            <a:spLocks noChangeArrowheads="1"/>
          </p:cNvSpPr>
          <p:nvPr/>
        </p:nvSpPr>
        <p:spPr bwMode="auto">
          <a:xfrm>
            <a:off x="230188" y="4538663"/>
            <a:ext cx="28527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sz="3600" b="1"/>
              <a:t>由动量定理</a:t>
            </a:r>
            <a:endParaRPr lang="zh-CN" altLang="en-US" sz="3600"/>
          </a:p>
        </p:txBody>
      </p:sp>
      <mc:AlternateContent xmlns:mc="http://schemas.openxmlformats.org/markup-compatibility/2006" xmlns:a14="http://schemas.microsoft.com/office/drawing/2010/main">
        <mc:Choice Requires="a14">
          <p:sp>
            <p:nvSpPr>
              <p:cNvPr id="11" name="Object 8"/>
              <p:cNvSpPr txBox="1"/>
              <p:nvPr/>
            </p:nvSpPr>
            <p:spPr bwMode="auto">
              <a:xfrm>
                <a:off x="3059113" y="4724400"/>
                <a:ext cx="2330450" cy="74453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r>
                            <a:rPr lang="zh-CN" altLang="en-US" i="1">
                              <a:solidFill>
                                <a:srgbClr val="000000"/>
                              </a:solidFill>
                              <a:latin typeface="Cambria Math" panose="02040503050406030204" pitchFamily="18" charset="0"/>
                            </a:rPr>
                            <m:t>0−2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𝑝</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𝑝</m:t>
                              </m:r>
                            </m:e>
                          </m:acc>
                        </m:e>
                        <m:sub>
                          <m:r>
                            <a:rPr lang="zh-CN" altLang="en-US" i="1">
                              <a:solidFill>
                                <a:srgbClr val="000000"/>
                              </a:solidFill>
                              <a:latin typeface="Cambria Math" panose="02040503050406030204" pitchFamily="18" charset="0"/>
                            </a:rPr>
                            <m:t>0</m:t>
                          </m:r>
                        </m:sub>
                      </m:sSub>
                    </m:oMath>
                  </m:oMathPara>
                </a14:m>
                <a:endParaRPr lang="zh-CN" altLang="en-US" dirty="0"/>
              </a:p>
            </p:txBody>
          </p:sp>
        </mc:Choice>
        <mc:Fallback xmlns="">
          <p:sp>
            <p:nvSpPr>
              <p:cNvPr id="11" name="Object 8"/>
              <p:cNvSpPr txBox="1">
                <a:spLocks noRot="1" noChangeAspect="1" noMove="1" noResize="1" noEditPoints="1" noAdjustHandles="1" noChangeArrowheads="1" noChangeShapeType="1" noTextEdit="1"/>
              </p:cNvSpPr>
              <p:nvPr/>
            </p:nvSpPr>
            <p:spPr bwMode="auto">
              <a:xfrm>
                <a:off x="3059113" y="4724400"/>
                <a:ext cx="2330450" cy="744538"/>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5"/>
              <p:cNvSpPr txBox="1"/>
              <p:nvPr/>
            </p:nvSpPr>
            <p:spPr bwMode="auto">
              <a:xfrm>
                <a:off x="1692275" y="5732463"/>
                <a:ext cx="5091113" cy="74771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𝑝</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=20</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𝑖</m:t>
                          </m:r>
                        </m:e>
                      </m:acc>
                      <m:r>
                        <a:rPr lang="zh-CN" altLang="en-US" i="1">
                          <a:solidFill>
                            <a:srgbClr val="000000"/>
                          </a:solidFill>
                          <a:latin typeface="Cambria Math" panose="02040503050406030204" pitchFamily="18" charset="0"/>
                        </a:rPr>
                        <m:t>+4</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𝑗</m:t>
                          </m:r>
                        </m:e>
                      </m:acc>
                      <m:r>
                        <a:rPr lang="zh-CN" altLang="en-US" i="1">
                          <a:solidFill>
                            <a:srgbClr val="000000"/>
                          </a:solidFill>
                          <a:latin typeface="Cambria Math" panose="02040503050406030204" pitchFamily="18" charset="0"/>
                        </a:rPr>
                        <m:t>+8</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𝑘</m:t>
                          </m:r>
                        </m:e>
                      </m:ac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N</m:t>
                          </m:r>
                        </m:fName>
                        <m:e>
                          <m:r>
                            <a:rPr lang="zh-CN" altLang="en-US" i="1">
                              <a:solidFill>
                                <a:srgbClr val="000000"/>
                              </a:solidFill>
                              <a:latin typeface="Cambria Math" panose="02040503050406030204" pitchFamily="18" charset="0"/>
                            </a:rPr>
                            <m:t>⋅</m:t>
                          </m:r>
                        </m:e>
                      </m:fun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m:t>
                          </m:r>
                        </m:fName>
                        <m:e/>
                      </m:func>
                    </m:oMath>
                  </m:oMathPara>
                </a14:m>
                <a:endParaRPr lang="zh-CN" altLang="en-US"/>
              </a:p>
            </p:txBody>
          </p:sp>
        </mc:Choice>
        <mc:Fallback xmlns="">
          <p:sp>
            <p:nvSpPr>
              <p:cNvPr id="12" name="Object 5"/>
              <p:cNvSpPr txBox="1">
                <a:spLocks noRot="1" noChangeAspect="1" noMove="1" noResize="1" noEditPoints="1" noAdjustHandles="1" noChangeArrowheads="1" noChangeShapeType="1" noTextEdit="1"/>
              </p:cNvSpPr>
              <p:nvPr/>
            </p:nvSpPr>
            <p:spPr bwMode="auto">
              <a:xfrm>
                <a:off x="1692275" y="5732463"/>
                <a:ext cx="5091113" cy="747712"/>
              </a:xfrm>
              <a:prstGeom prst="rect">
                <a:avLst/>
              </a:prstGeom>
              <a:blipFill>
                <a:blip r:embed="rId7"/>
                <a:stretch>
                  <a:fillRect/>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animEffect transition="in" filter="slide(fromBottom)">
                                      <p:cBhvr>
                                        <p:cTn id="7" dur="500"/>
                                        <p:tgtEl>
                                          <p:spTgt spid="136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619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3619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3620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autoUpdateAnimBg="0"/>
      <p:bldP spid="136195" grpId="0"/>
      <p:bldP spid="136196" grpId="0"/>
      <p:bldP spid="136201" grpId="0"/>
      <p:bldP spid="10" grpId="0" autoUpdateAnimBg="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7" name="Rectangle 3"/>
          <p:cNvSpPr>
            <a:spLocks noChangeArrowheads="1"/>
          </p:cNvSpPr>
          <p:nvPr/>
        </p:nvSpPr>
        <p:spPr bwMode="auto">
          <a:xfrm>
            <a:off x="2843213" y="-171450"/>
            <a:ext cx="33845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0" hangingPunct="0">
              <a:spcBef>
                <a:spcPct val="20000"/>
              </a:spcBef>
            </a:pPr>
            <a:r>
              <a:rPr lang="zh-CN" altLang="en-US" sz="3200" b="1">
                <a:solidFill>
                  <a:srgbClr val="FF0000"/>
                </a:solidFill>
              </a:rPr>
              <a:t>上节内容回顾</a:t>
            </a:r>
          </a:p>
        </p:txBody>
      </p:sp>
      <p:sp>
        <p:nvSpPr>
          <p:cNvPr id="24" name="Rectangle 3"/>
          <p:cNvSpPr txBox="1">
            <a:spLocks noChangeArrowheads="1"/>
          </p:cNvSpPr>
          <p:nvPr/>
        </p:nvSpPr>
        <p:spPr>
          <a:xfrm>
            <a:off x="364681" y="5493886"/>
            <a:ext cx="8453136" cy="1305353"/>
          </a:xfrm>
          <a:prstGeom prst="rect">
            <a:avLst/>
          </a:prstGeom>
        </p:spPr>
        <p:txBody>
          <a:bodyPr/>
          <a:lstStyle/>
          <a:p>
            <a:pPr marL="342900" indent="-342900">
              <a:spcBef>
                <a:spcPct val="20000"/>
              </a:spcBef>
              <a:buFont typeface="Wingdings" pitchFamily="2" charset="2"/>
              <a:buNone/>
              <a:defRPr/>
            </a:pPr>
            <a:r>
              <a:rPr lang="en-US" altLang="zh-CN" sz="2800" b="1" kern="0">
                <a:solidFill>
                  <a:schemeClr val="accent2"/>
                </a:solidFill>
                <a:latin typeface="楷体_GB2312" pitchFamily="49" charset="-122"/>
              </a:rPr>
              <a:t>5</a:t>
            </a:r>
            <a:r>
              <a:rPr lang="zh-CN" altLang="en-US" sz="2800" b="1" kern="0">
                <a:solidFill>
                  <a:schemeClr val="accent2"/>
                </a:solidFill>
                <a:latin typeface="楷体_GB2312" pitchFamily="49" charset="-122"/>
              </a:rPr>
              <a:t>、</a:t>
            </a:r>
            <a:r>
              <a:rPr lang="zh-CN" altLang="en-US" sz="2800" b="1" kern="0" dirty="0">
                <a:solidFill>
                  <a:srgbClr val="FF0000"/>
                </a:solidFill>
                <a:latin typeface="楷体_GB2312" pitchFamily="49" charset="-122"/>
              </a:rPr>
              <a:t>质点</a:t>
            </a:r>
            <a:r>
              <a:rPr lang="zh-CN" altLang="en-US" sz="2800" b="1" kern="0" dirty="0">
                <a:solidFill>
                  <a:schemeClr val="accent2"/>
                </a:solidFill>
                <a:latin typeface="楷体_GB2312" pitchFamily="49" charset="-122"/>
              </a:rPr>
              <a:t>的</a:t>
            </a:r>
            <a:r>
              <a:rPr lang="zh-CN" altLang="en-US" sz="2800" b="1" kern="0">
                <a:solidFill>
                  <a:schemeClr val="accent2"/>
                </a:solidFill>
                <a:latin typeface="楷体_GB2312" pitchFamily="49" charset="-122"/>
              </a:rPr>
              <a:t>动量定理</a:t>
            </a:r>
            <a:r>
              <a:rPr lang="zh-CN" altLang="en-US" sz="2800" b="1" kern="0">
                <a:latin typeface="楷体_GB2312" pitchFamily="49" charset="-122"/>
              </a:rPr>
              <a:t>：</a:t>
            </a:r>
            <a:endParaRPr lang="en-US" altLang="zh-CN" sz="2800" b="1" kern="0">
              <a:latin typeface="楷体_GB2312" pitchFamily="49" charset="-122"/>
            </a:endParaRPr>
          </a:p>
          <a:p>
            <a:pPr marL="342900" indent="-342900">
              <a:spcBef>
                <a:spcPct val="20000"/>
              </a:spcBef>
              <a:buFont typeface="Wingdings" pitchFamily="2" charset="2"/>
              <a:buNone/>
              <a:defRPr/>
            </a:pPr>
            <a:r>
              <a:rPr lang="zh-CN" altLang="en-US" sz="2800" b="1" kern="0">
                <a:latin typeface="楷体_GB2312" pitchFamily="49" charset="-122"/>
              </a:rPr>
              <a:t> 积分形式                                微分形式</a:t>
            </a:r>
            <a:endParaRPr lang="zh-CN" altLang="en-US" sz="2800" b="1" kern="0" dirty="0">
              <a:latin typeface="楷体_GB2312" pitchFamily="49" charset="-122"/>
            </a:endParaRPr>
          </a:p>
          <a:p>
            <a:pPr marL="342900" indent="-342900">
              <a:spcBef>
                <a:spcPct val="20000"/>
              </a:spcBef>
              <a:buFont typeface="Wingdings" pitchFamily="2" charset="2"/>
              <a:buNone/>
              <a:defRPr/>
            </a:pPr>
            <a:r>
              <a:rPr lang="zh-CN" altLang="en-US" b="1" kern="0">
                <a:latin typeface="楷体_GB2312" pitchFamily="49" charset="-122"/>
              </a:rPr>
              <a:t> </a:t>
            </a:r>
            <a:endParaRPr lang="zh-CN" altLang="en-US" sz="2800" b="1" kern="0" dirty="0">
              <a:latin typeface="楷体_GB2312" pitchFamily="49" charset="-122"/>
            </a:endParaRPr>
          </a:p>
        </p:txBody>
      </p:sp>
      <mc:AlternateContent xmlns:mc="http://schemas.openxmlformats.org/markup-compatibility/2006">
        <mc:Choice xmlns:a14="http://schemas.microsoft.com/office/drawing/2010/main" Requires="a14">
          <p:sp>
            <p:nvSpPr>
              <p:cNvPr id="37890" name="Object 4"/>
              <p:cNvSpPr txBox="1"/>
              <p:nvPr/>
            </p:nvSpPr>
            <p:spPr bwMode="auto">
              <a:xfrm>
                <a:off x="2213666" y="6024478"/>
                <a:ext cx="2895600" cy="771525"/>
              </a:xfrm>
              <a:prstGeom prst="rect">
                <a:avLst/>
              </a:prstGeom>
              <a:noFill/>
              <a:ln w="9525">
                <a:solidFill>
                  <a:schemeClr val="tx1"/>
                </a:solidFill>
                <a:miter lim="800000"/>
                <a:headEnd/>
                <a:tailEnd/>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𝐼</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𝐅</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𝐯</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𝐯</m:t>
                          </m:r>
                        </m:e>
                        <m:sub>
                          <m:r>
                            <a:rPr lang="zh-CN" altLang="en-US" i="1">
                              <a:solidFill>
                                <a:srgbClr val="000000"/>
                              </a:solidFill>
                              <a:latin typeface="Cambria Math" panose="02040503050406030204" pitchFamily="18" charset="0"/>
                            </a:rPr>
                            <m:t>𝟎</m:t>
                          </m:r>
                        </m:sub>
                      </m:sSub>
                    </m:oMath>
                  </m:oMathPara>
                </a14:m>
                <a:endParaRPr lang="zh-CN" altLang="en-US"/>
              </a:p>
            </p:txBody>
          </p:sp>
        </mc:Choice>
        <mc:Fallback>
          <p:sp>
            <p:nvSpPr>
              <p:cNvPr id="37890" name="Object 4"/>
              <p:cNvSpPr txBox="1">
                <a:spLocks noRot="1" noChangeAspect="1" noMove="1" noResize="1" noEditPoints="1" noAdjustHandles="1" noChangeArrowheads="1" noChangeShapeType="1" noTextEdit="1"/>
              </p:cNvSpPr>
              <p:nvPr/>
            </p:nvSpPr>
            <p:spPr bwMode="auto">
              <a:xfrm>
                <a:off x="2213666" y="6024478"/>
                <a:ext cx="2895600" cy="771525"/>
              </a:xfrm>
              <a:prstGeom prst="rect">
                <a:avLst/>
              </a:prstGeom>
              <a:blipFill>
                <a:blip r:embed="rId3"/>
                <a:stretch>
                  <a:fillRect/>
                </a:stretch>
              </a:blipFill>
              <a:ln w="9525">
                <a:solidFill>
                  <a:schemeClr val="tx1"/>
                </a:solidFill>
                <a:miter lim="800000"/>
                <a:headEnd/>
                <a:tailEnd/>
              </a:ln>
              <a:effectLs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891" name="Object 5"/>
              <p:cNvSpPr txBox="1"/>
              <p:nvPr/>
            </p:nvSpPr>
            <p:spPr bwMode="auto">
              <a:xfrm>
                <a:off x="4246348" y="5467019"/>
                <a:ext cx="1449388" cy="493713"/>
              </a:xfrm>
              <a:prstGeom prst="rect">
                <a:avLst/>
              </a:prstGeom>
              <a:noFill/>
              <a:ln w="9525">
                <a:solidFill>
                  <a:schemeClr val="tx1"/>
                </a:solidFill>
                <a:miter lim="800000"/>
                <a:headEnd/>
                <a:tailEnd/>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𝐅</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𝐩</m:t>
                      </m:r>
                    </m:oMath>
                  </m:oMathPara>
                </a14:m>
                <a:endParaRPr lang="zh-CN" altLang="en-US"/>
              </a:p>
            </p:txBody>
          </p:sp>
        </mc:Choice>
        <mc:Fallback>
          <p:sp>
            <p:nvSpPr>
              <p:cNvPr id="37891" name="Object 5"/>
              <p:cNvSpPr txBox="1">
                <a:spLocks noRot="1" noChangeAspect="1" noMove="1" noResize="1" noEditPoints="1" noAdjustHandles="1" noChangeArrowheads="1" noChangeShapeType="1" noTextEdit="1"/>
              </p:cNvSpPr>
              <p:nvPr/>
            </p:nvSpPr>
            <p:spPr bwMode="auto">
              <a:xfrm>
                <a:off x="4246348" y="5467019"/>
                <a:ext cx="1449388" cy="493713"/>
              </a:xfrm>
              <a:prstGeom prst="rect">
                <a:avLst/>
              </a:prstGeom>
              <a:blipFill>
                <a:blip r:embed="rId4"/>
                <a:stretch>
                  <a:fillRect r="-2510" b="-8434"/>
                </a:stretch>
              </a:blipFill>
              <a:ln w="9525">
                <a:solidFill>
                  <a:schemeClr val="tx1"/>
                </a:solidFill>
                <a:miter lim="800000"/>
                <a:headEnd/>
                <a:tailEnd/>
              </a:ln>
              <a:effectLs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27"/>
              <p:cNvSpPr txBox="1"/>
              <p:nvPr/>
            </p:nvSpPr>
            <p:spPr bwMode="auto">
              <a:xfrm>
                <a:off x="6965579" y="6104237"/>
                <a:ext cx="2012578" cy="511541"/>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𝑑𝑡</m:t>
                      </m:r>
                    </m:oMath>
                  </m:oMathPara>
                </a14:m>
                <a:endParaRPr lang="zh-CN" altLang="en-US"/>
              </a:p>
            </p:txBody>
          </p:sp>
        </mc:Choice>
        <mc:Fallback>
          <p:sp>
            <p:nvSpPr>
              <p:cNvPr id="15" name="Object 27"/>
              <p:cNvSpPr txBox="1">
                <a:spLocks noRot="1" noChangeAspect="1" noMove="1" noResize="1" noEditPoints="1" noAdjustHandles="1" noChangeArrowheads="1" noChangeShapeType="1" noTextEdit="1"/>
              </p:cNvSpPr>
              <p:nvPr/>
            </p:nvSpPr>
            <p:spPr bwMode="auto">
              <a:xfrm>
                <a:off x="6965579" y="6104237"/>
                <a:ext cx="2012578" cy="511541"/>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22" name="矩形 2">
            <a:extLst>
              <a:ext uri="{FF2B5EF4-FFF2-40B4-BE49-F238E27FC236}">
                <a16:creationId xmlns:a16="http://schemas.microsoft.com/office/drawing/2014/main" id="{D3073E32-EF3C-4792-902B-572C3FF3F042}"/>
              </a:ext>
            </a:extLst>
          </p:cNvPr>
          <p:cNvSpPr>
            <a:spLocks noChangeArrowheads="1"/>
          </p:cNvSpPr>
          <p:nvPr/>
        </p:nvSpPr>
        <p:spPr bwMode="auto">
          <a:xfrm>
            <a:off x="-98425" y="548680"/>
            <a:ext cx="234872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500" baseline="0">
                <a:solidFill>
                  <a:srgbClr val="3333FF"/>
                </a:solidFill>
                <a:ea typeface="楷体_GB2312" pitchFamily="49" charset="-122"/>
              </a:rPr>
              <a:t> 1</a:t>
            </a:r>
            <a:r>
              <a:rPr lang="zh-CN" altLang="en-US" sz="2500" baseline="0">
                <a:solidFill>
                  <a:srgbClr val="3333FF"/>
                </a:solidFill>
                <a:ea typeface="楷体_GB2312" pitchFamily="49" charset="-122"/>
              </a:rPr>
              <a:t>、伽利略变换</a:t>
            </a:r>
            <a:endParaRPr lang="zh-CN" altLang="en-US" sz="2500">
              <a:solidFill>
                <a:srgbClr val="FF3300"/>
              </a:solidFill>
              <a:ea typeface="楷体_GB2312" pitchFamily="49" charset="-122"/>
            </a:endParaRPr>
          </a:p>
        </p:txBody>
      </p:sp>
      <p:graphicFrame>
        <p:nvGraphicFramePr>
          <p:cNvPr id="23" name="Object 2">
            <a:extLst>
              <a:ext uri="{FF2B5EF4-FFF2-40B4-BE49-F238E27FC236}">
                <a16:creationId xmlns:a16="http://schemas.microsoft.com/office/drawing/2014/main" id="{6E3501F4-545A-40B7-AC6E-F2EE9673FF8C}"/>
              </a:ext>
            </a:extLst>
          </p:cNvPr>
          <p:cNvGraphicFramePr>
            <a:graphicFrameLocks noChangeAspect="1"/>
          </p:cNvGraphicFramePr>
          <p:nvPr>
            <p:extLst>
              <p:ext uri="{D42A27DB-BD31-4B8C-83A1-F6EECF244321}">
                <p14:modId xmlns:p14="http://schemas.microsoft.com/office/powerpoint/2010/main" val="3704099959"/>
              </p:ext>
            </p:extLst>
          </p:nvPr>
        </p:nvGraphicFramePr>
        <p:xfrm>
          <a:off x="572497" y="980783"/>
          <a:ext cx="4943475" cy="615950"/>
        </p:xfrm>
        <a:graphic>
          <a:graphicData uri="http://schemas.openxmlformats.org/presentationml/2006/ole">
            <mc:AlternateContent xmlns:mc="http://schemas.openxmlformats.org/markup-compatibility/2006">
              <mc:Choice xmlns:v="urn:schemas-microsoft-com:vml" Requires="v">
                <p:oleObj spid="_x0000_s81987" name="Equation" r:id="rId6" imgW="2654300" imgH="292100" progId="Equation.DSMT4">
                  <p:embed/>
                </p:oleObj>
              </mc:Choice>
              <mc:Fallback>
                <p:oleObj name="Equation" r:id="rId6" imgW="2654300" imgH="292100" progId="Equation.DSMT4">
                  <p:embed/>
                  <p:pic>
                    <p:nvPicPr>
                      <p:cNvPr id="12" name="Object 2">
                        <a:extLst>
                          <a:ext uri="{FF2B5EF4-FFF2-40B4-BE49-F238E27FC236}">
                            <a16:creationId xmlns:a16="http://schemas.microsoft.com/office/drawing/2014/main" id="{8ABD6547-77AC-44BD-912B-74B888EE3C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497" y="980783"/>
                        <a:ext cx="4943475"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 name="Group 92">
            <a:extLst>
              <a:ext uri="{FF2B5EF4-FFF2-40B4-BE49-F238E27FC236}">
                <a16:creationId xmlns:a16="http://schemas.microsoft.com/office/drawing/2014/main" id="{EDBB8A42-E84D-4271-B6A3-47EC0BC99EFF}"/>
              </a:ext>
            </a:extLst>
          </p:cNvPr>
          <p:cNvGrpSpPr>
            <a:grpSpLocks/>
          </p:cNvGrpSpPr>
          <p:nvPr/>
        </p:nvGrpSpPr>
        <p:grpSpPr bwMode="auto">
          <a:xfrm>
            <a:off x="5515972" y="583665"/>
            <a:ext cx="3327400" cy="1477963"/>
            <a:chOff x="866" y="280"/>
            <a:chExt cx="3776" cy="1830"/>
          </a:xfrm>
        </p:grpSpPr>
        <p:grpSp>
          <p:nvGrpSpPr>
            <p:cNvPr id="26" name="Group 46">
              <a:extLst>
                <a:ext uri="{FF2B5EF4-FFF2-40B4-BE49-F238E27FC236}">
                  <a16:creationId xmlns:a16="http://schemas.microsoft.com/office/drawing/2014/main" id="{33004AB3-A663-4409-AE67-2DDD8C88DA54}"/>
                </a:ext>
              </a:extLst>
            </p:cNvPr>
            <p:cNvGrpSpPr>
              <a:grpSpLocks/>
            </p:cNvGrpSpPr>
            <p:nvPr/>
          </p:nvGrpSpPr>
          <p:grpSpPr bwMode="auto">
            <a:xfrm>
              <a:off x="866" y="280"/>
              <a:ext cx="3776" cy="1830"/>
              <a:chOff x="982" y="1013"/>
              <a:chExt cx="3776" cy="1830"/>
            </a:xfrm>
          </p:grpSpPr>
          <p:sp>
            <p:nvSpPr>
              <p:cNvPr id="38" name="Line 47">
                <a:extLst>
                  <a:ext uri="{FF2B5EF4-FFF2-40B4-BE49-F238E27FC236}">
                    <a16:creationId xmlns:a16="http://schemas.microsoft.com/office/drawing/2014/main" id="{D4E6C3FD-5104-4EEC-843A-2182C690BAB3}"/>
                  </a:ext>
                </a:extLst>
              </p:cNvPr>
              <p:cNvSpPr>
                <a:spLocks noChangeShapeType="1"/>
              </p:cNvSpPr>
              <p:nvPr/>
            </p:nvSpPr>
            <p:spPr bwMode="auto">
              <a:xfrm flipV="1">
                <a:off x="1678" y="1063"/>
                <a:ext cx="0" cy="125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48">
                <a:extLst>
                  <a:ext uri="{FF2B5EF4-FFF2-40B4-BE49-F238E27FC236}">
                    <a16:creationId xmlns:a16="http://schemas.microsoft.com/office/drawing/2014/main" id="{729257EA-C0E4-4B3E-9360-7320196B137C}"/>
                  </a:ext>
                </a:extLst>
              </p:cNvPr>
              <p:cNvSpPr>
                <a:spLocks noChangeShapeType="1"/>
              </p:cNvSpPr>
              <p:nvPr/>
            </p:nvSpPr>
            <p:spPr bwMode="auto">
              <a:xfrm>
                <a:off x="1669" y="2324"/>
                <a:ext cx="284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49">
                <a:extLst>
                  <a:ext uri="{FF2B5EF4-FFF2-40B4-BE49-F238E27FC236}">
                    <a16:creationId xmlns:a16="http://schemas.microsoft.com/office/drawing/2014/main" id="{5CC989E6-6FDC-4737-849A-A0DB11774E39}"/>
                  </a:ext>
                </a:extLst>
              </p:cNvPr>
              <p:cNvSpPr>
                <a:spLocks noChangeShapeType="1"/>
              </p:cNvSpPr>
              <p:nvPr/>
            </p:nvSpPr>
            <p:spPr bwMode="auto">
              <a:xfrm flipV="1">
                <a:off x="2620" y="1063"/>
                <a:ext cx="0" cy="1258"/>
              </a:xfrm>
              <a:prstGeom prst="line">
                <a:avLst/>
              </a:prstGeom>
              <a:noFill/>
              <a:ln w="28575">
                <a:solidFill>
                  <a:srgbClr val="0033CC"/>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50">
                <a:extLst>
                  <a:ext uri="{FF2B5EF4-FFF2-40B4-BE49-F238E27FC236}">
                    <a16:creationId xmlns:a16="http://schemas.microsoft.com/office/drawing/2014/main" id="{08B15745-EED9-42A8-9B80-CEB99C763609}"/>
                  </a:ext>
                </a:extLst>
              </p:cNvPr>
              <p:cNvSpPr>
                <a:spLocks noChangeShapeType="1"/>
              </p:cNvSpPr>
              <p:nvPr/>
            </p:nvSpPr>
            <p:spPr bwMode="auto">
              <a:xfrm flipH="1">
                <a:off x="982" y="2318"/>
                <a:ext cx="690" cy="482"/>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51">
                <a:extLst>
                  <a:ext uri="{FF2B5EF4-FFF2-40B4-BE49-F238E27FC236}">
                    <a16:creationId xmlns:a16="http://schemas.microsoft.com/office/drawing/2014/main" id="{AC8D6B92-1D2E-4550-B786-2053BBA6DDF6}"/>
                  </a:ext>
                </a:extLst>
              </p:cNvPr>
              <p:cNvSpPr>
                <a:spLocks noChangeShapeType="1"/>
              </p:cNvSpPr>
              <p:nvPr/>
            </p:nvSpPr>
            <p:spPr bwMode="auto">
              <a:xfrm flipH="1">
                <a:off x="1930" y="2318"/>
                <a:ext cx="690" cy="482"/>
              </a:xfrm>
              <a:prstGeom prst="line">
                <a:avLst/>
              </a:prstGeom>
              <a:noFill/>
              <a:ln w="28575">
                <a:solidFill>
                  <a:srgbClr val="0033CC"/>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52">
                <a:extLst>
                  <a:ext uri="{FF2B5EF4-FFF2-40B4-BE49-F238E27FC236}">
                    <a16:creationId xmlns:a16="http://schemas.microsoft.com/office/drawing/2014/main" id="{8ECB8C4B-2CD0-4639-BD9D-0EBF1E1DA60C}"/>
                  </a:ext>
                </a:extLst>
              </p:cNvPr>
              <p:cNvSpPr>
                <a:spLocks noChangeShapeType="1"/>
              </p:cNvSpPr>
              <p:nvPr/>
            </p:nvSpPr>
            <p:spPr bwMode="auto">
              <a:xfrm flipH="1">
                <a:off x="3604" y="2318"/>
                <a:ext cx="330" cy="239"/>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53">
                <a:extLst>
                  <a:ext uri="{FF2B5EF4-FFF2-40B4-BE49-F238E27FC236}">
                    <a16:creationId xmlns:a16="http://schemas.microsoft.com/office/drawing/2014/main" id="{E973AB6D-716A-4E82-87C7-9FF1D4435AF4}"/>
                  </a:ext>
                </a:extLst>
              </p:cNvPr>
              <p:cNvSpPr>
                <a:spLocks noChangeShapeType="1"/>
              </p:cNvSpPr>
              <p:nvPr/>
            </p:nvSpPr>
            <p:spPr bwMode="auto">
              <a:xfrm>
                <a:off x="1357" y="2552"/>
                <a:ext cx="2260" cy="0"/>
              </a:xfrm>
              <a:prstGeom prst="line">
                <a:avLst/>
              </a:prstGeom>
              <a:noFill/>
              <a:ln w="1905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54">
                <a:extLst>
                  <a:ext uri="{FF2B5EF4-FFF2-40B4-BE49-F238E27FC236}">
                    <a16:creationId xmlns:a16="http://schemas.microsoft.com/office/drawing/2014/main" id="{B37F01AD-F8FB-4FB5-BE01-AA683DB0F5E5}"/>
                  </a:ext>
                </a:extLst>
              </p:cNvPr>
              <p:cNvSpPr>
                <a:spLocks noChangeShapeType="1"/>
              </p:cNvSpPr>
              <p:nvPr/>
            </p:nvSpPr>
            <p:spPr bwMode="auto">
              <a:xfrm flipV="1">
                <a:off x="1675" y="2042"/>
                <a:ext cx="940" cy="0"/>
              </a:xfrm>
              <a:prstGeom prst="line">
                <a:avLst/>
              </a:prstGeom>
              <a:noFill/>
              <a:ln w="1905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55">
                <a:extLst>
                  <a:ext uri="{FF2B5EF4-FFF2-40B4-BE49-F238E27FC236}">
                    <a16:creationId xmlns:a16="http://schemas.microsoft.com/office/drawing/2014/main" id="{B4FE38FD-717C-448D-8A5A-B4516C4B2F1B}"/>
                  </a:ext>
                </a:extLst>
              </p:cNvPr>
              <p:cNvSpPr>
                <a:spLocks noChangeShapeType="1"/>
              </p:cNvSpPr>
              <p:nvPr/>
            </p:nvSpPr>
            <p:spPr bwMode="auto">
              <a:xfrm>
                <a:off x="3595" y="1938"/>
                <a:ext cx="0" cy="384"/>
              </a:xfrm>
              <a:prstGeom prst="line">
                <a:avLst/>
              </a:prstGeom>
              <a:noFill/>
              <a:ln w="1905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56">
                <a:extLst>
                  <a:ext uri="{FF2B5EF4-FFF2-40B4-BE49-F238E27FC236}">
                    <a16:creationId xmlns:a16="http://schemas.microsoft.com/office/drawing/2014/main" id="{8B89DB71-45BA-4056-A364-D4952F82439A}"/>
                  </a:ext>
                </a:extLst>
              </p:cNvPr>
              <p:cNvSpPr>
                <a:spLocks noChangeShapeType="1"/>
              </p:cNvSpPr>
              <p:nvPr/>
            </p:nvSpPr>
            <p:spPr bwMode="auto">
              <a:xfrm>
                <a:off x="2617" y="2042"/>
                <a:ext cx="978" cy="18"/>
              </a:xfrm>
              <a:prstGeom prst="line">
                <a:avLst/>
              </a:prstGeom>
              <a:noFill/>
              <a:ln w="19050">
                <a:solidFill>
                  <a:srgbClr val="0033CC"/>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57">
                <a:extLst>
                  <a:ext uri="{FF2B5EF4-FFF2-40B4-BE49-F238E27FC236}">
                    <a16:creationId xmlns:a16="http://schemas.microsoft.com/office/drawing/2014/main" id="{196372A9-F132-4CA1-86D6-C4AC3F0DF630}"/>
                  </a:ext>
                </a:extLst>
              </p:cNvPr>
              <p:cNvSpPr>
                <a:spLocks noChangeShapeType="1"/>
              </p:cNvSpPr>
              <p:nvPr/>
            </p:nvSpPr>
            <p:spPr bwMode="auto">
              <a:xfrm>
                <a:off x="2623" y="1340"/>
                <a:ext cx="53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58">
                <a:extLst>
                  <a:ext uri="{FF2B5EF4-FFF2-40B4-BE49-F238E27FC236}">
                    <a16:creationId xmlns:a16="http://schemas.microsoft.com/office/drawing/2014/main" id="{F39C57B4-5B7F-4C77-8108-DB2A04E0A466}"/>
                  </a:ext>
                </a:extLst>
              </p:cNvPr>
              <p:cNvSpPr>
                <a:spLocks noChangeShapeType="1"/>
              </p:cNvSpPr>
              <p:nvPr/>
            </p:nvSpPr>
            <p:spPr bwMode="auto">
              <a:xfrm>
                <a:off x="3595" y="1536"/>
                <a:ext cx="6" cy="10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Oval 59">
                <a:extLst>
                  <a:ext uri="{FF2B5EF4-FFF2-40B4-BE49-F238E27FC236}">
                    <a16:creationId xmlns:a16="http://schemas.microsoft.com/office/drawing/2014/main" id="{F5C24276-5F64-47E5-9885-345DF859F3DC}"/>
                  </a:ext>
                </a:extLst>
              </p:cNvPr>
              <p:cNvSpPr>
                <a:spLocks noChangeArrowheads="1"/>
              </p:cNvSpPr>
              <p:nvPr/>
            </p:nvSpPr>
            <p:spPr bwMode="auto">
              <a:xfrm>
                <a:off x="3582" y="1506"/>
                <a:ext cx="56" cy="56"/>
              </a:xfrm>
              <a:prstGeom prst="ellipse">
                <a:avLst/>
              </a:prstGeom>
              <a:solidFill>
                <a:srgbClr val="FFFFFF"/>
              </a:solidFill>
              <a:ln w="19050">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en-US" altLang="zh-CN" sz="3600" baseline="0">
                  <a:solidFill>
                    <a:srgbClr val="FF3300"/>
                  </a:solidFill>
                  <a:ea typeface="楷体_GB2312" pitchFamily="49" charset="-122"/>
                </a:endParaRPr>
              </a:p>
            </p:txBody>
          </p:sp>
          <p:graphicFrame>
            <p:nvGraphicFramePr>
              <p:cNvPr id="51" name="Object 5">
                <a:extLst>
                  <a:ext uri="{FF2B5EF4-FFF2-40B4-BE49-F238E27FC236}">
                    <a16:creationId xmlns:a16="http://schemas.microsoft.com/office/drawing/2014/main" id="{8827D9C2-DE34-4594-92C4-F3397CABE6BF}"/>
                  </a:ext>
                </a:extLst>
              </p:cNvPr>
              <p:cNvGraphicFramePr>
                <a:graphicFrameLocks noChangeAspect="1"/>
              </p:cNvGraphicFramePr>
              <p:nvPr/>
            </p:nvGraphicFramePr>
            <p:xfrm>
              <a:off x="4495" y="2312"/>
              <a:ext cx="234" cy="234"/>
            </p:xfrm>
            <a:graphic>
              <a:graphicData uri="http://schemas.openxmlformats.org/presentationml/2006/ole">
                <mc:AlternateContent xmlns:mc="http://schemas.openxmlformats.org/markup-compatibility/2006">
                  <mc:Choice xmlns:v="urn:schemas-microsoft-com:vml" Requires="v">
                    <p:oleObj spid="_x0000_s81988" name="Equation" r:id="rId8" imgW="139700" imgH="139700" progId="Equation.3">
                      <p:embed/>
                    </p:oleObj>
                  </mc:Choice>
                  <mc:Fallback>
                    <p:oleObj name="Equation" r:id="rId8" imgW="139700" imgH="139700" progId="Equation.3">
                      <p:embed/>
                      <p:pic>
                        <p:nvPicPr>
                          <p:cNvPr id="55338" name="Object 5">
                            <a:extLst>
                              <a:ext uri="{FF2B5EF4-FFF2-40B4-BE49-F238E27FC236}">
                                <a16:creationId xmlns:a16="http://schemas.microsoft.com/office/drawing/2014/main" id="{DC190EED-768A-4C08-AC3F-125E55F8501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5" y="2312"/>
                            <a:ext cx="234"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6">
                <a:extLst>
                  <a:ext uri="{FF2B5EF4-FFF2-40B4-BE49-F238E27FC236}">
                    <a16:creationId xmlns:a16="http://schemas.microsoft.com/office/drawing/2014/main" id="{BC11A856-6962-4351-B21D-2B6480615DA3}"/>
                  </a:ext>
                </a:extLst>
              </p:cNvPr>
              <p:cNvGraphicFramePr>
                <a:graphicFrameLocks noChangeAspect="1"/>
              </p:cNvGraphicFramePr>
              <p:nvPr/>
            </p:nvGraphicFramePr>
            <p:xfrm>
              <a:off x="4491" y="2053"/>
              <a:ext cx="267" cy="267"/>
            </p:xfrm>
            <a:graphic>
              <a:graphicData uri="http://schemas.openxmlformats.org/presentationml/2006/ole">
                <mc:AlternateContent xmlns:mc="http://schemas.openxmlformats.org/markup-compatibility/2006">
                  <mc:Choice xmlns:v="urn:schemas-microsoft-com:vml" Requires="v">
                    <p:oleObj spid="_x0000_s81989" name="Equation" r:id="rId10" imgW="177492" imgH="177492" progId="Equation.3">
                      <p:embed/>
                    </p:oleObj>
                  </mc:Choice>
                  <mc:Fallback>
                    <p:oleObj name="Equation" r:id="rId10" imgW="177492" imgH="177492" progId="Equation.3">
                      <p:embed/>
                      <p:pic>
                        <p:nvPicPr>
                          <p:cNvPr id="55339" name="Object 6">
                            <a:extLst>
                              <a:ext uri="{FF2B5EF4-FFF2-40B4-BE49-F238E27FC236}">
                                <a16:creationId xmlns:a16="http://schemas.microsoft.com/office/drawing/2014/main" id="{2F22A43E-7AB4-4D9E-95D4-69DC2902358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1" y="2053"/>
                            <a:ext cx="267"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 name="Object 7">
                <a:extLst>
                  <a:ext uri="{FF2B5EF4-FFF2-40B4-BE49-F238E27FC236}">
                    <a16:creationId xmlns:a16="http://schemas.microsoft.com/office/drawing/2014/main" id="{5578C7EB-8C23-4101-A524-96EB0C6E0EC6}"/>
                  </a:ext>
                </a:extLst>
              </p:cNvPr>
              <p:cNvGraphicFramePr>
                <a:graphicFrameLocks noChangeAspect="1"/>
              </p:cNvGraphicFramePr>
              <p:nvPr/>
            </p:nvGraphicFramePr>
            <p:xfrm>
              <a:off x="3631" y="1425"/>
              <a:ext cx="1109" cy="266"/>
            </p:xfrm>
            <a:graphic>
              <a:graphicData uri="http://schemas.openxmlformats.org/presentationml/2006/ole">
                <mc:AlternateContent xmlns:mc="http://schemas.openxmlformats.org/markup-compatibility/2006">
                  <mc:Choice xmlns:v="urn:schemas-microsoft-com:vml" Requires="v">
                    <p:oleObj spid="_x0000_s81990" name="Equation" r:id="rId12" imgW="748975" imgH="203112" progId="Equation.3">
                      <p:embed/>
                    </p:oleObj>
                  </mc:Choice>
                  <mc:Fallback>
                    <p:oleObj name="Equation" r:id="rId12" imgW="748975" imgH="203112" progId="Equation.3">
                      <p:embed/>
                      <p:pic>
                        <p:nvPicPr>
                          <p:cNvPr id="55340" name="Object 7">
                            <a:extLst>
                              <a:ext uri="{FF2B5EF4-FFF2-40B4-BE49-F238E27FC236}">
                                <a16:creationId xmlns:a16="http://schemas.microsoft.com/office/drawing/2014/main" id="{DD1AD1D1-F983-4B56-98EE-BAF978608C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31" y="1425"/>
                            <a:ext cx="1109"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8">
                <a:extLst>
                  <a:ext uri="{FF2B5EF4-FFF2-40B4-BE49-F238E27FC236}">
                    <a16:creationId xmlns:a16="http://schemas.microsoft.com/office/drawing/2014/main" id="{F8007F9E-2DF2-43C8-8751-E29B9153AA87}"/>
                  </a:ext>
                </a:extLst>
              </p:cNvPr>
              <p:cNvGraphicFramePr>
                <a:graphicFrameLocks noChangeAspect="1"/>
              </p:cNvGraphicFramePr>
              <p:nvPr/>
            </p:nvGraphicFramePr>
            <p:xfrm>
              <a:off x="3799" y="1684"/>
              <a:ext cx="934" cy="261"/>
            </p:xfrm>
            <a:graphic>
              <a:graphicData uri="http://schemas.openxmlformats.org/presentationml/2006/ole">
                <mc:AlternateContent xmlns:mc="http://schemas.openxmlformats.org/markup-compatibility/2006">
                  <mc:Choice xmlns:v="urn:schemas-microsoft-com:vml" Requires="v">
                    <p:oleObj spid="_x0000_s81991" name="Equation" r:id="rId14" imgW="774364" imgH="203112" progId="Equation.3">
                      <p:embed/>
                    </p:oleObj>
                  </mc:Choice>
                  <mc:Fallback>
                    <p:oleObj name="Equation" r:id="rId14" imgW="774364" imgH="203112" progId="Equation.3">
                      <p:embed/>
                      <p:pic>
                        <p:nvPicPr>
                          <p:cNvPr id="55341" name="Object 8">
                            <a:extLst>
                              <a:ext uri="{FF2B5EF4-FFF2-40B4-BE49-F238E27FC236}">
                                <a16:creationId xmlns:a16="http://schemas.microsoft.com/office/drawing/2014/main" id="{1202021F-46BC-4253-9722-68CCA30FCE3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99" y="1684"/>
                            <a:ext cx="934"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9">
                <a:extLst>
                  <a:ext uri="{FF2B5EF4-FFF2-40B4-BE49-F238E27FC236}">
                    <a16:creationId xmlns:a16="http://schemas.microsoft.com/office/drawing/2014/main" id="{B968F56B-4821-4205-8437-4BFA21D95D00}"/>
                  </a:ext>
                </a:extLst>
              </p:cNvPr>
              <p:cNvGraphicFramePr>
                <a:graphicFrameLocks noChangeAspect="1"/>
              </p:cNvGraphicFramePr>
              <p:nvPr/>
            </p:nvGraphicFramePr>
            <p:xfrm>
              <a:off x="1419" y="1061"/>
              <a:ext cx="223" cy="264"/>
            </p:xfrm>
            <a:graphic>
              <a:graphicData uri="http://schemas.openxmlformats.org/presentationml/2006/ole">
                <mc:AlternateContent xmlns:mc="http://schemas.openxmlformats.org/markup-compatibility/2006">
                  <mc:Choice xmlns:v="urn:schemas-microsoft-com:vml" Requires="v">
                    <p:oleObj spid="_x0000_s81992" name="Equation" r:id="rId16" imgW="139579" imgH="164957" progId="Equation.3">
                      <p:embed/>
                    </p:oleObj>
                  </mc:Choice>
                  <mc:Fallback>
                    <p:oleObj name="Equation" r:id="rId16" imgW="139579" imgH="164957" progId="Equation.3">
                      <p:embed/>
                      <p:pic>
                        <p:nvPicPr>
                          <p:cNvPr id="55342" name="Object 9">
                            <a:extLst>
                              <a:ext uri="{FF2B5EF4-FFF2-40B4-BE49-F238E27FC236}">
                                <a16:creationId xmlns:a16="http://schemas.microsoft.com/office/drawing/2014/main" id="{CFA16B83-9004-4FF1-871A-9E3B178E47C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19" y="1061"/>
                            <a:ext cx="22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10">
                <a:extLst>
                  <a:ext uri="{FF2B5EF4-FFF2-40B4-BE49-F238E27FC236}">
                    <a16:creationId xmlns:a16="http://schemas.microsoft.com/office/drawing/2014/main" id="{B0DBBE38-4D78-4ECA-9188-77A9A0F540A1}"/>
                  </a:ext>
                </a:extLst>
              </p:cNvPr>
              <p:cNvGraphicFramePr>
                <a:graphicFrameLocks noChangeAspect="1"/>
              </p:cNvGraphicFramePr>
              <p:nvPr/>
            </p:nvGraphicFramePr>
            <p:xfrm>
              <a:off x="2343" y="1013"/>
              <a:ext cx="264" cy="301"/>
            </p:xfrm>
            <a:graphic>
              <a:graphicData uri="http://schemas.openxmlformats.org/presentationml/2006/ole">
                <mc:AlternateContent xmlns:mc="http://schemas.openxmlformats.org/markup-compatibility/2006">
                  <mc:Choice xmlns:v="urn:schemas-microsoft-com:vml" Requires="v">
                    <p:oleObj spid="_x0000_s81993" name="Equation" r:id="rId18" imgW="177569" imgH="202936" progId="Equation.3">
                      <p:embed/>
                    </p:oleObj>
                  </mc:Choice>
                  <mc:Fallback>
                    <p:oleObj name="Equation" r:id="rId18" imgW="177569" imgH="202936" progId="Equation.3">
                      <p:embed/>
                      <p:pic>
                        <p:nvPicPr>
                          <p:cNvPr id="55343" name="Object 10">
                            <a:extLst>
                              <a:ext uri="{FF2B5EF4-FFF2-40B4-BE49-F238E27FC236}">
                                <a16:creationId xmlns:a16="http://schemas.microsoft.com/office/drawing/2014/main" id="{498A02BB-861F-47F0-8F5D-DF5FF6F8573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43" y="1013"/>
                            <a:ext cx="264"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 name="Object 11">
                <a:extLst>
                  <a:ext uri="{FF2B5EF4-FFF2-40B4-BE49-F238E27FC236}">
                    <a16:creationId xmlns:a16="http://schemas.microsoft.com/office/drawing/2014/main" id="{78267F84-6682-411B-BF43-BC067DC0F163}"/>
                  </a:ext>
                </a:extLst>
              </p:cNvPr>
              <p:cNvGraphicFramePr>
                <a:graphicFrameLocks noChangeAspect="1"/>
              </p:cNvGraphicFramePr>
              <p:nvPr/>
            </p:nvGraphicFramePr>
            <p:xfrm>
              <a:off x="1186" y="2596"/>
              <a:ext cx="192" cy="234"/>
            </p:xfrm>
            <a:graphic>
              <a:graphicData uri="http://schemas.openxmlformats.org/presentationml/2006/ole">
                <mc:AlternateContent xmlns:mc="http://schemas.openxmlformats.org/markup-compatibility/2006">
                  <mc:Choice xmlns:v="urn:schemas-microsoft-com:vml" Requires="v">
                    <p:oleObj spid="_x0000_s81994" name="Equation" r:id="rId20" imgW="114201" imgH="139579" progId="Equation.3">
                      <p:embed/>
                    </p:oleObj>
                  </mc:Choice>
                  <mc:Fallback>
                    <p:oleObj name="Equation" r:id="rId20" imgW="114201" imgH="139579" progId="Equation.3">
                      <p:embed/>
                      <p:pic>
                        <p:nvPicPr>
                          <p:cNvPr id="55344" name="Object 11">
                            <a:extLst>
                              <a:ext uri="{FF2B5EF4-FFF2-40B4-BE49-F238E27FC236}">
                                <a16:creationId xmlns:a16="http://schemas.microsoft.com/office/drawing/2014/main" id="{70FE0E4E-C368-45AB-8172-2337B1BFFA2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86" y="2596"/>
                            <a:ext cx="19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 name="Object 12">
                <a:extLst>
                  <a:ext uri="{FF2B5EF4-FFF2-40B4-BE49-F238E27FC236}">
                    <a16:creationId xmlns:a16="http://schemas.microsoft.com/office/drawing/2014/main" id="{E31FD0DB-839F-43F0-8984-5D7430F89377}"/>
                  </a:ext>
                </a:extLst>
              </p:cNvPr>
              <p:cNvGraphicFramePr>
                <a:graphicFrameLocks noChangeAspect="1"/>
              </p:cNvGraphicFramePr>
              <p:nvPr/>
            </p:nvGraphicFramePr>
            <p:xfrm>
              <a:off x="2136" y="2568"/>
              <a:ext cx="261" cy="275"/>
            </p:xfrm>
            <a:graphic>
              <a:graphicData uri="http://schemas.openxmlformats.org/presentationml/2006/ole">
                <mc:AlternateContent xmlns:mc="http://schemas.openxmlformats.org/markup-compatibility/2006">
                  <mc:Choice xmlns:v="urn:schemas-microsoft-com:vml" Requires="v">
                    <p:oleObj spid="_x0000_s81995" name="Equation" r:id="rId22" imgW="152202" imgH="177569" progId="Equation.3">
                      <p:embed/>
                    </p:oleObj>
                  </mc:Choice>
                  <mc:Fallback>
                    <p:oleObj name="Equation" r:id="rId22" imgW="152202" imgH="177569" progId="Equation.3">
                      <p:embed/>
                      <p:pic>
                        <p:nvPicPr>
                          <p:cNvPr id="55345" name="Object 12">
                            <a:extLst>
                              <a:ext uri="{FF2B5EF4-FFF2-40B4-BE49-F238E27FC236}">
                                <a16:creationId xmlns:a16="http://schemas.microsoft.com/office/drawing/2014/main" id="{505203DF-1539-43EF-9E10-A9E1B15DE0E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36" y="2568"/>
                            <a:ext cx="261"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 name="Object 13">
                <a:extLst>
                  <a:ext uri="{FF2B5EF4-FFF2-40B4-BE49-F238E27FC236}">
                    <a16:creationId xmlns:a16="http://schemas.microsoft.com/office/drawing/2014/main" id="{2D317D24-283D-4E35-A9D9-5B8E4E7AFB94}"/>
                  </a:ext>
                </a:extLst>
              </p:cNvPr>
              <p:cNvGraphicFramePr>
                <a:graphicFrameLocks noChangeAspect="1"/>
              </p:cNvGraphicFramePr>
              <p:nvPr/>
            </p:nvGraphicFramePr>
            <p:xfrm>
              <a:off x="1598" y="2285"/>
              <a:ext cx="223" cy="240"/>
            </p:xfrm>
            <a:graphic>
              <a:graphicData uri="http://schemas.openxmlformats.org/presentationml/2006/ole">
                <mc:AlternateContent xmlns:mc="http://schemas.openxmlformats.org/markup-compatibility/2006">
                  <mc:Choice xmlns:v="urn:schemas-microsoft-com:vml" Requires="v">
                    <p:oleObj spid="_x0000_s81996" name="Equation" r:id="rId24" imgW="164814" imgH="177492" progId="Equation.3">
                      <p:embed/>
                    </p:oleObj>
                  </mc:Choice>
                  <mc:Fallback>
                    <p:oleObj name="Equation" r:id="rId24" imgW="164814" imgH="177492" progId="Equation.3">
                      <p:embed/>
                      <p:pic>
                        <p:nvPicPr>
                          <p:cNvPr id="55346" name="Object 13">
                            <a:extLst>
                              <a:ext uri="{FF2B5EF4-FFF2-40B4-BE49-F238E27FC236}">
                                <a16:creationId xmlns:a16="http://schemas.microsoft.com/office/drawing/2014/main" id="{166DF2FC-35B7-4215-90AE-BD3CF2935A2C}"/>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98" y="2285"/>
                            <a:ext cx="22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14">
                <a:extLst>
                  <a:ext uri="{FF2B5EF4-FFF2-40B4-BE49-F238E27FC236}">
                    <a16:creationId xmlns:a16="http://schemas.microsoft.com/office/drawing/2014/main" id="{97406B52-45FD-4E72-80CC-9F7F7A034948}"/>
                  </a:ext>
                </a:extLst>
              </p:cNvPr>
              <p:cNvGraphicFramePr>
                <a:graphicFrameLocks noChangeAspect="1"/>
              </p:cNvGraphicFramePr>
              <p:nvPr/>
            </p:nvGraphicFramePr>
            <p:xfrm>
              <a:off x="2559" y="2294"/>
              <a:ext cx="260" cy="242"/>
            </p:xfrm>
            <a:graphic>
              <a:graphicData uri="http://schemas.openxmlformats.org/presentationml/2006/ole">
                <mc:AlternateContent xmlns:mc="http://schemas.openxmlformats.org/markup-compatibility/2006">
                  <mc:Choice xmlns:v="urn:schemas-microsoft-com:vml" Requires="v">
                    <p:oleObj spid="_x0000_s81997" name="Equation" r:id="rId26" imgW="190335" imgH="177646" progId="Equation.3">
                      <p:embed/>
                    </p:oleObj>
                  </mc:Choice>
                  <mc:Fallback>
                    <p:oleObj name="Equation" r:id="rId26" imgW="190335" imgH="177646" progId="Equation.3">
                      <p:embed/>
                      <p:pic>
                        <p:nvPicPr>
                          <p:cNvPr id="55347" name="Object 14">
                            <a:extLst>
                              <a:ext uri="{FF2B5EF4-FFF2-40B4-BE49-F238E27FC236}">
                                <a16:creationId xmlns:a16="http://schemas.microsoft.com/office/drawing/2014/main" id="{8ECF2074-C355-4906-8E0C-EF442EF43175}"/>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59" y="2294"/>
                            <a:ext cx="260"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Object 15">
                <a:extLst>
                  <a:ext uri="{FF2B5EF4-FFF2-40B4-BE49-F238E27FC236}">
                    <a16:creationId xmlns:a16="http://schemas.microsoft.com/office/drawing/2014/main" id="{A0ED4001-6C44-4D4A-89C3-6379F2C22113}"/>
                  </a:ext>
                </a:extLst>
              </p:cNvPr>
              <p:cNvGraphicFramePr>
                <a:graphicFrameLocks noChangeAspect="1"/>
              </p:cNvGraphicFramePr>
              <p:nvPr/>
            </p:nvGraphicFramePr>
            <p:xfrm>
              <a:off x="1679" y="1432"/>
              <a:ext cx="252" cy="234"/>
            </p:xfrm>
            <a:graphic>
              <a:graphicData uri="http://schemas.openxmlformats.org/presentationml/2006/ole">
                <mc:AlternateContent xmlns:mc="http://schemas.openxmlformats.org/markup-compatibility/2006">
                  <mc:Choice xmlns:v="urn:schemas-microsoft-com:vml" Requires="v">
                    <p:oleObj spid="_x0000_s81998" name="Equation" r:id="rId28" imgW="177492" imgH="164814" progId="Equation.DSMT4">
                      <p:embed/>
                    </p:oleObj>
                  </mc:Choice>
                  <mc:Fallback>
                    <p:oleObj name="Equation" r:id="rId28" imgW="177492" imgH="164814" progId="Equation.DSMT4">
                      <p:embed/>
                      <p:pic>
                        <p:nvPicPr>
                          <p:cNvPr id="55348" name="Object 15">
                            <a:extLst>
                              <a:ext uri="{FF2B5EF4-FFF2-40B4-BE49-F238E27FC236}">
                                <a16:creationId xmlns:a16="http://schemas.microsoft.com/office/drawing/2014/main" id="{C2059AA8-D9B2-4C03-B8C3-FCD688195305}"/>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679" y="1432"/>
                            <a:ext cx="25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16">
                <a:extLst>
                  <a:ext uri="{FF2B5EF4-FFF2-40B4-BE49-F238E27FC236}">
                    <a16:creationId xmlns:a16="http://schemas.microsoft.com/office/drawing/2014/main" id="{6C530413-A270-4BC6-9493-41EDCD2D548D}"/>
                  </a:ext>
                </a:extLst>
              </p:cNvPr>
              <p:cNvGraphicFramePr>
                <a:graphicFrameLocks noChangeAspect="1"/>
              </p:cNvGraphicFramePr>
              <p:nvPr/>
            </p:nvGraphicFramePr>
            <p:xfrm>
              <a:off x="2613" y="1417"/>
              <a:ext cx="295" cy="240"/>
            </p:xfrm>
            <a:graphic>
              <a:graphicData uri="http://schemas.openxmlformats.org/presentationml/2006/ole">
                <mc:AlternateContent xmlns:mc="http://schemas.openxmlformats.org/markup-compatibility/2006">
                  <mc:Choice xmlns:v="urn:schemas-microsoft-com:vml" Requires="v">
                    <p:oleObj spid="_x0000_s81999" name="Equation" r:id="rId30" imgW="203024" imgH="164957" progId="Equation.DSMT4">
                      <p:embed/>
                    </p:oleObj>
                  </mc:Choice>
                  <mc:Fallback>
                    <p:oleObj name="Equation" r:id="rId30" imgW="203024" imgH="164957" progId="Equation.DSMT4">
                      <p:embed/>
                      <p:pic>
                        <p:nvPicPr>
                          <p:cNvPr id="55349" name="Object 16">
                            <a:extLst>
                              <a:ext uri="{FF2B5EF4-FFF2-40B4-BE49-F238E27FC236}">
                                <a16:creationId xmlns:a16="http://schemas.microsoft.com/office/drawing/2014/main" id="{EEE63CEC-DD6F-4B72-BEA8-430D2BB5DA5C}"/>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613" y="1417"/>
                            <a:ext cx="29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 name="Object 17">
                <a:extLst>
                  <a:ext uri="{FF2B5EF4-FFF2-40B4-BE49-F238E27FC236}">
                    <a16:creationId xmlns:a16="http://schemas.microsoft.com/office/drawing/2014/main" id="{BD6383BE-14BB-4F7F-BD12-292A14EAB23C}"/>
                  </a:ext>
                </a:extLst>
              </p:cNvPr>
              <p:cNvGraphicFramePr>
                <a:graphicFrameLocks noChangeAspect="1"/>
              </p:cNvGraphicFramePr>
              <p:nvPr/>
            </p:nvGraphicFramePr>
            <p:xfrm>
              <a:off x="3171" y="1190"/>
              <a:ext cx="178" cy="250"/>
            </p:xfrm>
            <a:graphic>
              <a:graphicData uri="http://schemas.openxmlformats.org/presentationml/2006/ole">
                <mc:AlternateContent xmlns:mc="http://schemas.openxmlformats.org/markup-compatibility/2006">
                  <mc:Choice xmlns:v="urn:schemas-microsoft-com:vml" Requires="v">
                    <p:oleObj spid="_x0000_s82000" name="Equation" r:id="rId32" imgW="126725" imgH="177415" progId="Equation.DSMT4">
                      <p:embed/>
                    </p:oleObj>
                  </mc:Choice>
                  <mc:Fallback>
                    <p:oleObj name="Equation" r:id="rId32" imgW="126725" imgH="177415" progId="Equation.DSMT4">
                      <p:embed/>
                      <p:pic>
                        <p:nvPicPr>
                          <p:cNvPr id="55350" name="Object 17">
                            <a:extLst>
                              <a:ext uri="{FF2B5EF4-FFF2-40B4-BE49-F238E27FC236}">
                                <a16:creationId xmlns:a16="http://schemas.microsoft.com/office/drawing/2014/main" id="{AD9E17F3-8FA7-4558-8168-1664B807BA22}"/>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171" y="1190"/>
                            <a:ext cx="17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 name="Object 18">
                <a:extLst>
                  <a:ext uri="{FF2B5EF4-FFF2-40B4-BE49-F238E27FC236}">
                    <a16:creationId xmlns:a16="http://schemas.microsoft.com/office/drawing/2014/main" id="{70212424-1B48-4BD3-BCD6-43AA541D4A42}"/>
                  </a:ext>
                </a:extLst>
              </p:cNvPr>
              <p:cNvGraphicFramePr>
                <a:graphicFrameLocks noChangeAspect="1"/>
              </p:cNvGraphicFramePr>
              <p:nvPr/>
            </p:nvGraphicFramePr>
            <p:xfrm>
              <a:off x="2040" y="1919"/>
              <a:ext cx="250" cy="231"/>
            </p:xfrm>
            <a:graphic>
              <a:graphicData uri="http://schemas.openxmlformats.org/presentationml/2006/ole">
                <mc:AlternateContent xmlns:mc="http://schemas.openxmlformats.org/markup-compatibility/2006">
                  <mc:Choice xmlns:v="urn:schemas-microsoft-com:vml" Requires="v">
                    <p:oleObj spid="_x0000_s82001" name="Equation" r:id="rId34" imgW="164957" imgH="152268" progId="Equation.DSMT4">
                      <p:embed/>
                    </p:oleObj>
                  </mc:Choice>
                  <mc:Fallback>
                    <p:oleObj name="Equation" r:id="rId34" imgW="164957" imgH="152268" progId="Equation.DSMT4">
                      <p:embed/>
                      <p:pic>
                        <p:nvPicPr>
                          <p:cNvPr id="55351" name="Object 18">
                            <a:extLst>
                              <a:ext uri="{FF2B5EF4-FFF2-40B4-BE49-F238E27FC236}">
                                <a16:creationId xmlns:a16="http://schemas.microsoft.com/office/drawing/2014/main" id="{9582E2A1-A460-413A-94A8-79DBDBD1D072}"/>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040" y="1919"/>
                            <a:ext cx="250" cy="231"/>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 name="Object 19">
                <a:extLst>
                  <a:ext uri="{FF2B5EF4-FFF2-40B4-BE49-F238E27FC236}">
                    <a16:creationId xmlns:a16="http://schemas.microsoft.com/office/drawing/2014/main" id="{161B78C4-376A-4E9A-85AC-748850614CCE}"/>
                  </a:ext>
                </a:extLst>
              </p:cNvPr>
              <p:cNvGraphicFramePr>
                <a:graphicFrameLocks noChangeAspect="1"/>
              </p:cNvGraphicFramePr>
              <p:nvPr/>
            </p:nvGraphicFramePr>
            <p:xfrm>
              <a:off x="2767" y="2445"/>
              <a:ext cx="251" cy="251"/>
            </p:xfrm>
            <a:graphic>
              <a:graphicData uri="http://schemas.openxmlformats.org/presentationml/2006/ole">
                <mc:AlternateContent xmlns:mc="http://schemas.openxmlformats.org/markup-compatibility/2006">
                  <mc:Choice xmlns:v="urn:schemas-microsoft-com:vml" Requires="v">
                    <p:oleObj spid="_x0000_s82002" name="Equation" r:id="rId36" imgW="139700" imgH="139700" progId="Equation.3">
                      <p:embed/>
                    </p:oleObj>
                  </mc:Choice>
                  <mc:Fallback>
                    <p:oleObj name="Equation" r:id="rId36" imgW="139700" imgH="139700" progId="Equation.3">
                      <p:embed/>
                      <p:pic>
                        <p:nvPicPr>
                          <p:cNvPr id="55352" name="Object 19">
                            <a:extLst>
                              <a:ext uri="{FF2B5EF4-FFF2-40B4-BE49-F238E27FC236}">
                                <a16:creationId xmlns:a16="http://schemas.microsoft.com/office/drawing/2014/main" id="{44A95991-024A-48DF-88FE-79C2A027BDB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67" y="2445"/>
                            <a:ext cx="251" cy="251"/>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 name="Object 20">
                <a:extLst>
                  <a:ext uri="{FF2B5EF4-FFF2-40B4-BE49-F238E27FC236}">
                    <a16:creationId xmlns:a16="http://schemas.microsoft.com/office/drawing/2014/main" id="{05676590-221E-4F34-A0D0-565AD0B4E4CD}"/>
                  </a:ext>
                </a:extLst>
              </p:cNvPr>
              <p:cNvGraphicFramePr>
                <a:graphicFrameLocks noChangeAspect="1"/>
              </p:cNvGraphicFramePr>
              <p:nvPr/>
            </p:nvGraphicFramePr>
            <p:xfrm>
              <a:off x="2921" y="1898"/>
              <a:ext cx="266" cy="266"/>
            </p:xfrm>
            <a:graphic>
              <a:graphicData uri="http://schemas.openxmlformats.org/presentationml/2006/ole">
                <mc:AlternateContent xmlns:mc="http://schemas.openxmlformats.org/markup-compatibility/2006">
                  <mc:Choice xmlns:v="urn:schemas-microsoft-com:vml" Requires="v">
                    <p:oleObj spid="_x0000_s82003" name="Equation" r:id="rId37" imgW="177492" imgH="177492" progId="Equation.3">
                      <p:embed/>
                    </p:oleObj>
                  </mc:Choice>
                  <mc:Fallback>
                    <p:oleObj name="Equation" r:id="rId37" imgW="177492" imgH="177492" progId="Equation.3">
                      <p:embed/>
                      <p:pic>
                        <p:nvPicPr>
                          <p:cNvPr id="55353" name="Object 20">
                            <a:extLst>
                              <a:ext uri="{FF2B5EF4-FFF2-40B4-BE49-F238E27FC236}">
                                <a16:creationId xmlns:a16="http://schemas.microsoft.com/office/drawing/2014/main" id="{EB93718D-7805-40F5-A140-72BBBDFDF05A}"/>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921" y="1898"/>
                            <a:ext cx="266" cy="266"/>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7" name="Group 82">
              <a:extLst>
                <a:ext uri="{FF2B5EF4-FFF2-40B4-BE49-F238E27FC236}">
                  <a16:creationId xmlns:a16="http://schemas.microsoft.com/office/drawing/2014/main" id="{470CD9ED-DF71-4D07-9B7B-2B7BC0F1871D}"/>
                </a:ext>
              </a:extLst>
            </p:cNvPr>
            <p:cNvGrpSpPr>
              <a:grpSpLocks/>
            </p:cNvGrpSpPr>
            <p:nvPr/>
          </p:nvGrpSpPr>
          <p:grpSpPr bwMode="auto">
            <a:xfrm>
              <a:off x="1804" y="789"/>
              <a:ext cx="404" cy="388"/>
              <a:chOff x="1491" y="3602"/>
              <a:chExt cx="353" cy="388"/>
            </a:xfrm>
          </p:grpSpPr>
          <p:grpSp>
            <p:nvGrpSpPr>
              <p:cNvPr id="34" name="Group 83">
                <a:extLst>
                  <a:ext uri="{FF2B5EF4-FFF2-40B4-BE49-F238E27FC236}">
                    <a16:creationId xmlns:a16="http://schemas.microsoft.com/office/drawing/2014/main" id="{6C31E4B7-B772-46DF-80C1-BEB011A9994B}"/>
                  </a:ext>
                </a:extLst>
              </p:cNvPr>
              <p:cNvGrpSpPr>
                <a:grpSpLocks/>
              </p:cNvGrpSpPr>
              <p:nvPr/>
            </p:nvGrpSpPr>
            <p:grpSpPr bwMode="auto">
              <a:xfrm>
                <a:off x="1491" y="3612"/>
                <a:ext cx="353" cy="378"/>
                <a:chOff x="1335" y="3612"/>
                <a:chExt cx="353" cy="378"/>
              </a:xfrm>
            </p:grpSpPr>
            <p:sp>
              <p:nvSpPr>
                <p:cNvPr id="36" name="Oval 84">
                  <a:extLst>
                    <a:ext uri="{FF2B5EF4-FFF2-40B4-BE49-F238E27FC236}">
                      <a16:creationId xmlns:a16="http://schemas.microsoft.com/office/drawing/2014/main" id="{F9997CC7-E9D8-4A13-BF70-431A82F8BB59}"/>
                    </a:ext>
                  </a:extLst>
                </p:cNvPr>
                <p:cNvSpPr>
                  <a:spLocks noChangeArrowheads="1"/>
                </p:cNvSpPr>
                <p:nvPr/>
              </p:nvSpPr>
              <p:spPr bwMode="auto">
                <a:xfrm>
                  <a:off x="1335" y="3612"/>
                  <a:ext cx="353" cy="37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en-US" altLang="zh-CN" sz="3600" baseline="0">
                    <a:solidFill>
                      <a:srgbClr val="FF3300"/>
                    </a:solidFill>
                    <a:ea typeface="楷体_GB2312" pitchFamily="49" charset="-122"/>
                  </a:endParaRPr>
                </a:p>
              </p:txBody>
            </p:sp>
            <p:sp>
              <p:nvSpPr>
                <p:cNvPr id="37" name="Line 85">
                  <a:extLst>
                    <a:ext uri="{FF2B5EF4-FFF2-40B4-BE49-F238E27FC236}">
                      <a16:creationId xmlns:a16="http://schemas.microsoft.com/office/drawing/2014/main" id="{EFA4BC04-492C-43B9-99C2-DD2D44B99187}"/>
                    </a:ext>
                  </a:extLst>
                </p:cNvPr>
                <p:cNvSpPr>
                  <a:spLocks noChangeShapeType="1"/>
                </p:cNvSpPr>
                <p:nvPr/>
              </p:nvSpPr>
              <p:spPr bwMode="auto">
                <a:xfrm flipV="1">
                  <a:off x="1516" y="3707"/>
                  <a:ext cx="146" cy="1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35" name="Object 4">
                <a:extLst>
                  <a:ext uri="{FF2B5EF4-FFF2-40B4-BE49-F238E27FC236}">
                    <a16:creationId xmlns:a16="http://schemas.microsoft.com/office/drawing/2014/main" id="{E141A548-8237-4C3D-8DFB-7B3E1F205203}"/>
                  </a:ext>
                </a:extLst>
              </p:cNvPr>
              <p:cNvGraphicFramePr>
                <a:graphicFrameLocks noChangeAspect="1"/>
              </p:cNvGraphicFramePr>
              <p:nvPr/>
            </p:nvGraphicFramePr>
            <p:xfrm>
              <a:off x="1606" y="3602"/>
              <a:ext cx="137" cy="223"/>
            </p:xfrm>
            <a:graphic>
              <a:graphicData uri="http://schemas.openxmlformats.org/presentationml/2006/ole">
                <mc:AlternateContent xmlns:mc="http://schemas.openxmlformats.org/markup-compatibility/2006">
                  <mc:Choice xmlns:v="urn:schemas-microsoft-com:vml" Requires="v">
                    <p:oleObj spid="_x0000_s82004" name="Equation" r:id="rId39" imgW="101468" imgH="164885" progId="Equation.3">
                      <p:embed/>
                    </p:oleObj>
                  </mc:Choice>
                  <mc:Fallback>
                    <p:oleObj name="Equation" r:id="rId39" imgW="101468" imgH="164885" progId="Equation.3">
                      <p:embed/>
                      <p:pic>
                        <p:nvPicPr>
                          <p:cNvPr id="55322" name="Object 4">
                            <a:extLst>
                              <a:ext uri="{FF2B5EF4-FFF2-40B4-BE49-F238E27FC236}">
                                <a16:creationId xmlns:a16="http://schemas.microsoft.com/office/drawing/2014/main" id="{07468DC1-B067-4B9E-8E40-34D222386762}"/>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606" y="3602"/>
                            <a:ext cx="137"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8" name="Group 87">
              <a:extLst>
                <a:ext uri="{FF2B5EF4-FFF2-40B4-BE49-F238E27FC236}">
                  <a16:creationId xmlns:a16="http://schemas.microsoft.com/office/drawing/2014/main" id="{8C6C2FEA-3371-45D8-87F3-B2A7EF11C941}"/>
                </a:ext>
              </a:extLst>
            </p:cNvPr>
            <p:cNvGrpSpPr>
              <a:grpSpLocks/>
            </p:cNvGrpSpPr>
            <p:nvPr/>
          </p:nvGrpSpPr>
          <p:grpSpPr bwMode="auto">
            <a:xfrm>
              <a:off x="2741" y="803"/>
              <a:ext cx="395" cy="386"/>
              <a:chOff x="885" y="3508"/>
              <a:chExt cx="353" cy="386"/>
            </a:xfrm>
          </p:grpSpPr>
          <p:grpSp>
            <p:nvGrpSpPr>
              <p:cNvPr id="29" name="Group 88">
                <a:extLst>
                  <a:ext uri="{FF2B5EF4-FFF2-40B4-BE49-F238E27FC236}">
                    <a16:creationId xmlns:a16="http://schemas.microsoft.com/office/drawing/2014/main" id="{4A89B727-196F-4949-8B0F-6952E72D6592}"/>
                  </a:ext>
                </a:extLst>
              </p:cNvPr>
              <p:cNvGrpSpPr>
                <a:grpSpLocks/>
              </p:cNvGrpSpPr>
              <p:nvPr/>
            </p:nvGrpSpPr>
            <p:grpSpPr bwMode="auto">
              <a:xfrm>
                <a:off x="885" y="3516"/>
                <a:ext cx="353" cy="378"/>
                <a:chOff x="885" y="3516"/>
                <a:chExt cx="353" cy="378"/>
              </a:xfrm>
            </p:grpSpPr>
            <p:sp>
              <p:nvSpPr>
                <p:cNvPr id="31" name="Oval 89">
                  <a:extLst>
                    <a:ext uri="{FF2B5EF4-FFF2-40B4-BE49-F238E27FC236}">
                      <a16:creationId xmlns:a16="http://schemas.microsoft.com/office/drawing/2014/main" id="{50ECAAD4-6EC3-4C63-8EA2-45EEA5FB7B84}"/>
                    </a:ext>
                  </a:extLst>
                </p:cNvPr>
                <p:cNvSpPr>
                  <a:spLocks noChangeArrowheads="1"/>
                </p:cNvSpPr>
                <p:nvPr/>
              </p:nvSpPr>
              <p:spPr bwMode="auto">
                <a:xfrm>
                  <a:off x="885" y="3516"/>
                  <a:ext cx="353" cy="378"/>
                </a:xfrm>
                <a:prstGeom prst="ellipse">
                  <a:avLst/>
                </a:prstGeom>
                <a:noFill/>
                <a:ln w="19050">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en-US" altLang="zh-CN" sz="3600" baseline="0">
                    <a:solidFill>
                      <a:srgbClr val="FF3300"/>
                    </a:solidFill>
                    <a:ea typeface="楷体_GB2312" pitchFamily="49" charset="-122"/>
                  </a:endParaRPr>
                </a:p>
              </p:txBody>
            </p:sp>
            <p:sp>
              <p:nvSpPr>
                <p:cNvPr id="33" name="Line 90">
                  <a:extLst>
                    <a:ext uri="{FF2B5EF4-FFF2-40B4-BE49-F238E27FC236}">
                      <a16:creationId xmlns:a16="http://schemas.microsoft.com/office/drawing/2014/main" id="{C65C50C0-1387-4F4E-8051-B3C0FF63BEB5}"/>
                    </a:ext>
                  </a:extLst>
                </p:cNvPr>
                <p:cNvSpPr>
                  <a:spLocks noChangeShapeType="1"/>
                </p:cNvSpPr>
                <p:nvPr/>
              </p:nvSpPr>
              <p:spPr bwMode="auto">
                <a:xfrm flipV="1">
                  <a:off x="1066" y="3611"/>
                  <a:ext cx="146" cy="103"/>
                </a:xfrm>
                <a:prstGeom prst="line">
                  <a:avLst/>
                </a:prstGeom>
                <a:noFill/>
                <a:ln w="9525">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30" name="Object 3">
                <a:extLst>
                  <a:ext uri="{FF2B5EF4-FFF2-40B4-BE49-F238E27FC236}">
                    <a16:creationId xmlns:a16="http://schemas.microsoft.com/office/drawing/2014/main" id="{04F273A2-D0BE-4E78-8AB1-AD92C2012D9A}"/>
                  </a:ext>
                </a:extLst>
              </p:cNvPr>
              <p:cNvGraphicFramePr>
                <a:graphicFrameLocks noChangeAspect="1"/>
              </p:cNvGraphicFramePr>
              <p:nvPr/>
            </p:nvGraphicFramePr>
            <p:xfrm>
              <a:off x="1000" y="3508"/>
              <a:ext cx="183" cy="232"/>
            </p:xfrm>
            <a:graphic>
              <a:graphicData uri="http://schemas.openxmlformats.org/presentationml/2006/ole">
                <mc:AlternateContent xmlns:mc="http://schemas.openxmlformats.org/markup-compatibility/2006">
                  <mc:Choice xmlns:v="urn:schemas-microsoft-com:vml" Requires="v">
                    <p:oleObj spid="_x0000_s82005" name="Equation" r:id="rId41" imgW="139579" imgH="177646" progId="Equation.3">
                      <p:embed/>
                    </p:oleObj>
                  </mc:Choice>
                  <mc:Fallback>
                    <p:oleObj name="Equation" r:id="rId41" imgW="139579" imgH="177646" progId="Equation.3">
                      <p:embed/>
                      <p:pic>
                        <p:nvPicPr>
                          <p:cNvPr id="55318" name="Object 3">
                            <a:extLst>
                              <a:ext uri="{FF2B5EF4-FFF2-40B4-BE49-F238E27FC236}">
                                <a16:creationId xmlns:a16="http://schemas.microsoft.com/office/drawing/2014/main" id="{A6AC6B8A-E5AF-47ED-84F3-C75A055112C6}"/>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000" y="3508"/>
                            <a:ext cx="18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67" name="Text Box 2">
            <a:extLst>
              <a:ext uri="{FF2B5EF4-FFF2-40B4-BE49-F238E27FC236}">
                <a16:creationId xmlns:a16="http://schemas.microsoft.com/office/drawing/2014/main" id="{2C69041F-9DD9-4DA5-A035-1B3BAD7DB13C}"/>
              </a:ext>
            </a:extLst>
          </p:cNvPr>
          <p:cNvSpPr txBox="1">
            <a:spLocks noChangeArrowheads="1"/>
          </p:cNvSpPr>
          <p:nvPr/>
        </p:nvSpPr>
        <p:spPr bwMode="auto">
          <a:xfrm>
            <a:off x="19108" y="1788313"/>
            <a:ext cx="4418117" cy="273315"/>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500">
                <a:solidFill>
                  <a:srgbClr val="3333FF"/>
                </a:solidFill>
                <a:latin typeface="Arial" panose="020B0604020202020204" pitchFamily="34" charset="0"/>
                <a:ea typeface="楷体_GB2312" pitchFamily="49" charset="-122"/>
              </a:rPr>
              <a:t>2</a:t>
            </a:r>
            <a:r>
              <a:rPr lang="zh-CN" altLang="en-US" sz="2500" baseline="0">
                <a:solidFill>
                  <a:srgbClr val="3333FF"/>
                </a:solidFill>
                <a:latin typeface="Arial" panose="020B0604020202020204" pitchFamily="34" charset="0"/>
                <a:ea typeface="楷体_GB2312" pitchFamily="49" charset="-122"/>
              </a:rPr>
              <a:t>、</a:t>
            </a:r>
            <a:r>
              <a:rPr lang="zh-CN" altLang="en-US" sz="2500">
                <a:solidFill>
                  <a:srgbClr val="3333FF"/>
                </a:solidFill>
                <a:ea typeface="楷体_GB2312" pitchFamily="49" charset="-122"/>
              </a:rPr>
              <a:t>伽利略速度和加速度变换</a:t>
            </a:r>
            <a:endParaRPr lang="zh-CN" altLang="en-US" sz="2500" baseline="0">
              <a:solidFill>
                <a:srgbClr val="3333FF"/>
              </a:solidFill>
              <a:latin typeface="Arial" panose="020B0604020202020204" pitchFamily="34" charset="0"/>
              <a:ea typeface="楷体_GB2312" pitchFamily="49" charset="-122"/>
            </a:endParaRPr>
          </a:p>
        </p:txBody>
      </p:sp>
      <p:grpSp>
        <p:nvGrpSpPr>
          <p:cNvPr id="72" name="Group 42">
            <a:extLst>
              <a:ext uri="{FF2B5EF4-FFF2-40B4-BE49-F238E27FC236}">
                <a16:creationId xmlns:a16="http://schemas.microsoft.com/office/drawing/2014/main" id="{1E46D66A-2C3B-4577-BEEC-E3B0307B10E1}"/>
              </a:ext>
            </a:extLst>
          </p:cNvPr>
          <p:cNvGrpSpPr>
            <a:grpSpLocks/>
          </p:cNvGrpSpPr>
          <p:nvPr/>
        </p:nvGrpSpPr>
        <p:grpSpPr bwMode="auto">
          <a:xfrm>
            <a:off x="634258" y="2321762"/>
            <a:ext cx="3500437" cy="741363"/>
            <a:chOff x="1815" y="2208"/>
            <a:chExt cx="2205" cy="467"/>
          </a:xfrm>
        </p:grpSpPr>
        <p:graphicFrame>
          <p:nvGraphicFramePr>
            <p:cNvPr id="73" name="Object 10">
              <a:extLst>
                <a:ext uri="{FF2B5EF4-FFF2-40B4-BE49-F238E27FC236}">
                  <a16:creationId xmlns:a16="http://schemas.microsoft.com/office/drawing/2014/main" id="{BD21003E-3940-4842-B711-D59EFDEDDF83}"/>
                </a:ext>
              </a:extLst>
            </p:cNvPr>
            <p:cNvGraphicFramePr>
              <a:graphicFrameLocks noChangeAspect="1"/>
            </p:cNvGraphicFramePr>
            <p:nvPr/>
          </p:nvGraphicFramePr>
          <p:xfrm>
            <a:off x="1840" y="2208"/>
            <a:ext cx="2042" cy="467"/>
          </p:xfrm>
          <a:graphic>
            <a:graphicData uri="http://schemas.openxmlformats.org/presentationml/2006/ole">
              <mc:AlternateContent xmlns:mc="http://schemas.openxmlformats.org/markup-compatibility/2006">
                <mc:Choice xmlns:v="urn:schemas-microsoft-com:vml" Requires="v">
                  <p:oleObj spid="_x0000_s82006" name="Equation" r:id="rId43" imgW="990600" imgH="228600" progId="Equation.DSMT4">
                    <p:embed/>
                  </p:oleObj>
                </mc:Choice>
                <mc:Fallback>
                  <p:oleObj name="Equation" r:id="rId43" imgW="990600" imgH="228600" progId="Equation.DSMT4">
                    <p:embed/>
                    <p:pic>
                      <p:nvPicPr>
                        <p:cNvPr id="57359" name="Object 10">
                          <a:extLst>
                            <a:ext uri="{FF2B5EF4-FFF2-40B4-BE49-F238E27FC236}">
                              <a16:creationId xmlns:a16="http://schemas.microsoft.com/office/drawing/2014/main" id="{B020DD18-2542-40F5-B233-A835E2E37E21}"/>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840" y="2208"/>
                          <a:ext cx="2042"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 name="Rectangle 41">
              <a:extLst>
                <a:ext uri="{FF2B5EF4-FFF2-40B4-BE49-F238E27FC236}">
                  <a16:creationId xmlns:a16="http://schemas.microsoft.com/office/drawing/2014/main" id="{98CC9EE4-AB38-41FB-BE10-1389F839BDC9}"/>
                </a:ext>
              </a:extLst>
            </p:cNvPr>
            <p:cNvSpPr>
              <a:spLocks noChangeArrowheads="1"/>
            </p:cNvSpPr>
            <p:nvPr/>
          </p:nvSpPr>
          <p:spPr bwMode="auto">
            <a:xfrm>
              <a:off x="1815" y="2208"/>
              <a:ext cx="2205" cy="456"/>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en-US" altLang="zh-CN" sz="3600">
                <a:solidFill>
                  <a:srgbClr val="FF3300"/>
                </a:solidFill>
                <a:ea typeface="楷体_GB2312" pitchFamily="49" charset="-122"/>
              </a:endParaRPr>
            </a:p>
          </p:txBody>
        </p:sp>
      </p:grpSp>
      <p:graphicFrame>
        <p:nvGraphicFramePr>
          <p:cNvPr id="2" name="对象 1">
            <a:extLst>
              <a:ext uri="{FF2B5EF4-FFF2-40B4-BE49-F238E27FC236}">
                <a16:creationId xmlns:a16="http://schemas.microsoft.com/office/drawing/2014/main" id="{60BBC765-EA11-48F1-B059-9FDD54EA558E}"/>
              </a:ext>
            </a:extLst>
          </p:cNvPr>
          <p:cNvGraphicFramePr>
            <a:graphicFrameLocks noChangeAspect="1"/>
          </p:cNvGraphicFramePr>
          <p:nvPr>
            <p:extLst>
              <p:ext uri="{D42A27DB-BD31-4B8C-83A1-F6EECF244321}">
                <p14:modId xmlns:p14="http://schemas.microsoft.com/office/powerpoint/2010/main" val="1376190570"/>
              </p:ext>
            </p:extLst>
          </p:nvPr>
        </p:nvGraphicFramePr>
        <p:xfrm>
          <a:off x="4676534" y="2318465"/>
          <a:ext cx="3349625" cy="774700"/>
        </p:xfrm>
        <a:graphic>
          <a:graphicData uri="http://schemas.openxmlformats.org/presentationml/2006/ole">
            <mc:AlternateContent xmlns:mc="http://schemas.openxmlformats.org/markup-compatibility/2006">
              <mc:Choice xmlns:v="urn:schemas-microsoft-com:vml" Requires="v">
                <p:oleObj spid="_x0000_s82007" name="Equation" r:id="rId45" imgW="3350050" imgH="774388" progId="Equation.DSMT4">
                  <p:embed/>
                </p:oleObj>
              </mc:Choice>
              <mc:Fallback>
                <p:oleObj name="Equation" r:id="rId45" imgW="3350050" imgH="774388" progId="Equation.DSMT4">
                  <p:embed/>
                  <p:pic>
                    <p:nvPicPr>
                      <p:cNvPr id="0" name=""/>
                      <p:cNvPicPr/>
                      <p:nvPr/>
                    </p:nvPicPr>
                    <p:blipFill>
                      <a:blip r:embed="rId46"/>
                      <a:stretch>
                        <a:fillRect/>
                      </a:stretch>
                    </p:blipFill>
                    <p:spPr>
                      <a:xfrm>
                        <a:off x="4676534" y="2318465"/>
                        <a:ext cx="3349625" cy="774700"/>
                      </a:xfrm>
                      <a:prstGeom prst="rect">
                        <a:avLst/>
                      </a:prstGeom>
                    </p:spPr>
                  </p:pic>
                </p:oleObj>
              </mc:Fallback>
            </mc:AlternateContent>
          </a:graphicData>
        </a:graphic>
      </p:graphicFrame>
      <p:sp>
        <p:nvSpPr>
          <p:cNvPr id="75" name="Text Box 2">
            <a:extLst>
              <a:ext uri="{FF2B5EF4-FFF2-40B4-BE49-F238E27FC236}">
                <a16:creationId xmlns:a16="http://schemas.microsoft.com/office/drawing/2014/main" id="{F4E14A11-DA7B-4041-BCE3-ACBF22E96EBD}"/>
              </a:ext>
            </a:extLst>
          </p:cNvPr>
          <p:cNvSpPr txBox="1">
            <a:spLocks noChangeArrowheads="1"/>
          </p:cNvSpPr>
          <p:nvPr/>
        </p:nvSpPr>
        <p:spPr bwMode="auto">
          <a:xfrm>
            <a:off x="119329" y="3087000"/>
            <a:ext cx="4529840" cy="482944"/>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500">
                <a:solidFill>
                  <a:srgbClr val="3333FF"/>
                </a:solidFill>
                <a:latin typeface="Arial" panose="020B0604020202020204" pitchFamily="34" charset="0"/>
                <a:ea typeface="楷体_GB2312" pitchFamily="49" charset="-122"/>
              </a:rPr>
              <a:t>3</a:t>
            </a:r>
            <a:r>
              <a:rPr lang="zh-CN" altLang="en-US" sz="2500" baseline="0">
                <a:solidFill>
                  <a:srgbClr val="3333FF"/>
                </a:solidFill>
                <a:latin typeface="Arial" panose="020B0604020202020204" pitchFamily="34" charset="0"/>
                <a:ea typeface="楷体_GB2312" pitchFamily="49" charset="-122"/>
              </a:rPr>
              <a:t>、力学相对新原理</a:t>
            </a:r>
          </a:p>
        </p:txBody>
      </p:sp>
      <p:sp>
        <p:nvSpPr>
          <p:cNvPr id="3" name="矩形 2">
            <a:extLst>
              <a:ext uri="{FF2B5EF4-FFF2-40B4-BE49-F238E27FC236}">
                <a16:creationId xmlns:a16="http://schemas.microsoft.com/office/drawing/2014/main" id="{42F0DD64-D1C0-42F4-9D3A-7675A593E626}"/>
              </a:ext>
            </a:extLst>
          </p:cNvPr>
          <p:cNvSpPr/>
          <p:nvPr/>
        </p:nvSpPr>
        <p:spPr>
          <a:xfrm>
            <a:off x="254264" y="3496422"/>
            <a:ext cx="8536188" cy="830997"/>
          </a:xfrm>
          <a:prstGeom prst="rect">
            <a:avLst/>
          </a:prstGeom>
        </p:spPr>
        <p:txBody>
          <a:bodyPr wrap="square">
            <a:spAutoFit/>
          </a:bodyPr>
          <a:lstStyle/>
          <a:p>
            <a:r>
              <a:rPr lang="zh-CN" altLang="zh-CN">
                <a:solidFill>
                  <a:srgbClr val="FF3300"/>
                </a:solidFill>
              </a:rPr>
              <a:t>对于不同的惯性系，牛顿力学规律都具有相同的形式</a:t>
            </a:r>
            <a:r>
              <a:rPr lang="zh-CN" altLang="zh-CN">
                <a:solidFill>
                  <a:srgbClr val="FF3300"/>
                </a:solidFill>
                <a:latin typeface="宋体" panose="02010600030101010101" pitchFamily="2" charset="-122"/>
              </a:rPr>
              <a:t>。</a:t>
            </a:r>
            <a:r>
              <a:rPr lang="zh-CN" altLang="en-US">
                <a:solidFill>
                  <a:srgbClr val="FF3300"/>
                </a:solidFill>
              </a:rPr>
              <a:t>称为</a:t>
            </a:r>
            <a:r>
              <a:rPr lang="zh-CN" altLang="en-US">
                <a:solidFill>
                  <a:srgbClr val="0000FF"/>
                </a:solidFill>
              </a:rPr>
              <a:t>力学的相对性原理</a:t>
            </a:r>
            <a:r>
              <a:rPr lang="zh-CN" altLang="en-US">
                <a:solidFill>
                  <a:srgbClr val="FF3300"/>
                </a:solidFill>
              </a:rPr>
              <a:t>，或</a:t>
            </a:r>
            <a:r>
              <a:rPr lang="zh-CN" altLang="en-US">
                <a:solidFill>
                  <a:srgbClr val="0000FF"/>
                </a:solidFill>
              </a:rPr>
              <a:t>伽利略相对性原理</a:t>
            </a:r>
            <a:endParaRPr lang="zh-CN" altLang="en-US"/>
          </a:p>
        </p:txBody>
      </p:sp>
      <p:sp>
        <p:nvSpPr>
          <p:cNvPr id="76" name="Text Box 2">
            <a:extLst>
              <a:ext uri="{FF2B5EF4-FFF2-40B4-BE49-F238E27FC236}">
                <a16:creationId xmlns:a16="http://schemas.microsoft.com/office/drawing/2014/main" id="{513738A4-F04C-42B0-98B8-1B57B559FE86}"/>
              </a:ext>
            </a:extLst>
          </p:cNvPr>
          <p:cNvSpPr txBox="1">
            <a:spLocks noChangeArrowheads="1"/>
          </p:cNvSpPr>
          <p:nvPr/>
        </p:nvSpPr>
        <p:spPr bwMode="auto">
          <a:xfrm>
            <a:off x="141136" y="4472090"/>
            <a:ext cx="4105212" cy="528642"/>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500">
                <a:solidFill>
                  <a:srgbClr val="3333FF"/>
                </a:solidFill>
                <a:latin typeface="Arial" panose="020B0604020202020204" pitchFamily="34" charset="0"/>
                <a:ea typeface="楷体_GB2312" pitchFamily="49" charset="-122"/>
              </a:rPr>
              <a:t>4</a:t>
            </a:r>
            <a:r>
              <a:rPr lang="zh-CN" altLang="en-US" sz="2500" baseline="0">
                <a:solidFill>
                  <a:srgbClr val="3333FF"/>
                </a:solidFill>
                <a:latin typeface="Arial" panose="020B0604020202020204" pitchFamily="34" charset="0"/>
                <a:ea typeface="楷体_GB2312" pitchFamily="49" charset="-122"/>
              </a:rPr>
              <a:t>、</a:t>
            </a:r>
            <a:r>
              <a:rPr lang="zh-CN" altLang="en-US" sz="2500">
                <a:solidFill>
                  <a:srgbClr val="3333FF"/>
                </a:solidFill>
                <a:latin typeface="Arial" panose="020B0604020202020204" pitchFamily="34" charset="0"/>
                <a:ea typeface="楷体_GB2312" pitchFamily="49" charset="-122"/>
              </a:rPr>
              <a:t>非惯性系中的</a:t>
            </a:r>
            <a:r>
              <a:rPr lang="zh-CN" altLang="en-US" sz="2500" baseline="0">
                <a:solidFill>
                  <a:srgbClr val="3333FF"/>
                </a:solidFill>
                <a:latin typeface="Arial" panose="020B0604020202020204" pitchFamily="34" charset="0"/>
                <a:ea typeface="楷体_GB2312" pitchFamily="49" charset="-122"/>
              </a:rPr>
              <a:t>惯性力</a:t>
            </a:r>
          </a:p>
        </p:txBody>
      </p:sp>
      <p:graphicFrame>
        <p:nvGraphicFramePr>
          <p:cNvPr id="5" name="对象 4">
            <a:extLst>
              <a:ext uri="{FF2B5EF4-FFF2-40B4-BE49-F238E27FC236}">
                <a16:creationId xmlns:a16="http://schemas.microsoft.com/office/drawing/2014/main" id="{E29C896E-ACEC-413B-BBD3-A0A015B98585}"/>
              </a:ext>
            </a:extLst>
          </p:cNvPr>
          <p:cNvGraphicFramePr>
            <a:graphicFrameLocks noChangeAspect="1"/>
          </p:cNvGraphicFramePr>
          <p:nvPr>
            <p:extLst>
              <p:ext uri="{D42A27DB-BD31-4B8C-83A1-F6EECF244321}">
                <p14:modId xmlns:p14="http://schemas.microsoft.com/office/powerpoint/2010/main" val="3270410121"/>
              </p:ext>
            </p:extLst>
          </p:nvPr>
        </p:nvGraphicFramePr>
        <p:xfrm>
          <a:off x="4696448" y="4381309"/>
          <a:ext cx="2460958" cy="834223"/>
        </p:xfrm>
        <a:graphic>
          <a:graphicData uri="http://schemas.openxmlformats.org/presentationml/2006/ole">
            <mc:AlternateContent xmlns:mc="http://schemas.openxmlformats.org/markup-compatibility/2006">
              <mc:Choice xmlns:v="urn:schemas-microsoft-com:vml" Requires="v">
                <p:oleObj spid="_x0000_s82008" name="Equation" r:id="rId47" imgW="749160" imgH="253800" progId="Equation.DSMT4">
                  <p:embed/>
                </p:oleObj>
              </mc:Choice>
              <mc:Fallback>
                <p:oleObj name="Equation" r:id="rId47" imgW="749160" imgH="253800" progId="Equation.DSMT4">
                  <p:embed/>
                  <p:pic>
                    <p:nvPicPr>
                      <p:cNvPr id="0" name=""/>
                      <p:cNvPicPr/>
                      <p:nvPr/>
                    </p:nvPicPr>
                    <p:blipFill>
                      <a:blip r:embed="rId48"/>
                      <a:stretch>
                        <a:fillRect/>
                      </a:stretch>
                    </p:blipFill>
                    <p:spPr>
                      <a:xfrm>
                        <a:off x="4696448" y="4381309"/>
                        <a:ext cx="2460958" cy="834223"/>
                      </a:xfrm>
                      <a:prstGeom prst="rect">
                        <a:avLst/>
                      </a:prstGeom>
                    </p:spPr>
                  </p:pic>
                </p:oleObj>
              </mc:Fallback>
            </mc:AlternateContent>
          </a:graphicData>
        </a:graphic>
      </p:graphicFrame>
    </p:spTree>
    <p:extLst>
      <p:ext uri="{BB962C8B-B14F-4D97-AF65-F5344CB8AC3E}">
        <p14:creationId xmlns:p14="http://schemas.microsoft.com/office/powerpoint/2010/main" val="139907300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499"/>
                                          </p:stCondLst>
                                        </p:cTn>
                                        <p:tgtEl>
                                          <p:spTgt spid="2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2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7">
                                            <p:bg/>
                                          </p:spTgt>
                                        </p:tgtEl>
                                        <p:attrNameLst>
                                          <p:attrName>style.visibility</p:attrName>
                                        </p:attrNameLst>
                                      </p:cBhvr>
                                      <p:to>
                                        <p:strVal val="visible"/>
                                      </p:to>
                                    </p:set>
                                    <p:animEffect transition="in" filter="wipe(left)">
                                      <p:cBhvr>
                                        <p:cTn id="18" dur="500"/>
                                        <p:tgtEl>
                                          <p:spTgt spid="67">
                                            <p:bg/>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7">
                                            <p:txEl>
                                              <p:pRg st="0" end="0"/>
                                            </p:txEl>
                                          </p:spTgt>
                                        </p:tgtEl>
                                        <p:attrNameLst>
                                          <p:attrName>style.visibility</p:attrName>
                                        </p:attrNameLst>
                                      </p:cBhvr>
                                      <p:to>
                                        <p:strVal val="visible"/>
                                      </p:to>
                                    </p:set>
                                    <p:animEffect transition="in" filter="wipe(left)">
                                      <p:cBhvr>
                                        <p:cTn id="23" dur="500"/>
                                        <p:tgtEl>
                                          <p:spTgt spid="6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789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789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7890" grpId="0" animBg="1"/>
      <p:bldP spid="37891" grpId="0" animBg="1"/>
      <p:bldP spid="15" grpId="0"/>
      <p:bldP spid="22" grpId="0"/>
      <p:bldP spid="67" grpId="0" build="p" animBg="1" autoUpdateAnimBg="0"/>
      <p:bldP spid="75" grpId="0" animBg="1"/>
      <p:bldP spid="3" grpId="0"/>
      <p:bldP spid="7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p:cNvSpPr txBox="1">
            <a:spLocks noChangeArrowheads="1"/>
          </p:cNvSpPr>
          <p:nvPr/>
        </p:nvSpPr>
        <p:spPr bwMode="auto">
          <a:xfrm>
            <a:off x="0" y="304800"/>
            <a:ext cx="5791200" cy="270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b="1">
                <a:solidFill>
                  <a:srgbClr val="3333FF"/>
                </a:solidFill>
              </a:rPr>
              <a:t>例</a:t>
            </a:r>
            <a:r>
              <a:rPr lang="en-US" altLang="zh-CN" sz="2800" b="1">
                <a:solidFill>
                  <a:srgbClr val="3333FF"/>
                </a:solidFill>
              </a:rPr>
              <a:t>2</a:t>
            </a:r>
            <a:r>
              <a:rPr lang="zh-CN" altLang="en-US" sz="2800" b="1">
                <a:solidFill>
                  <a:srgbClr val="3333FF"/>
                </a:solidFill>
              </a:rPr>
              <a:t>、</a:t>
            </a:r>
            <a:r>
              <a:rPr lang="zh-CN" altLang="en-US" b="1">
                <a:ea typeface="宋体" pitchFamily="2" charset="-122"/>
              </a:rPr>
              <a:t>质量为</a:t>
            </a:r>
            <a:r>
              <a:rPr lang="en-US" altLang="zh-CN" b="1">
                <a:ea typeface="宋体" pitchFamily="2" charset="-122"/>
              </a:rPr>
              <a:t>2.5g</a:t>
            </a:r>
            <a:r>
              <a:rPr lang="zh-CN" altLang="zh-CN" b="1">
                <a:ea typeface="宋体" pitchFamily="2" charset="-122"/>
              </a:rPr>
              <a:t>的乒乓球以10</a:t>
            </a:r>
            <a:r>
              <a:rPr lang="en-US" altLang="zh-CN" b="1">
                <a:ea typeface="宋体" pitchFamily="2" charset="-122"/>
              </a:rPr>
              <a:t>m/s</a:t>
            </a:r>
            <a:r>
              <a:rPr lang="zh-CN" altLang="zh-CN" b="1">
                <a:ea typeface="宋体" pitchFamily="2" charset="-122"/>
              </a:rPr>
              <a:t>的速率飞来，被板推挡后，又以20</a:t>
            </a:r>
            <a:r>
              <a:rPr lang="en-US" altLang="zh-CN" b="1">
                <a:ea typeface="宋体" pitchFamily="2" charset="-122"/>
              </a:rPr>
              <a:t>m/s</a:t>
            </a:r>
            <a:r>
              <a:rPr lang="zh-CN" altLang="zh-CN" b="1">
                <a:ea typeface="宋体" pitchFamily="2" charset="-122"/>
              </a:rPr>
              <a:t>的速率飞出。设两速度在垂直于板面的同一平面内，且它们与板面法线的夹角分别为45</a:t>
            </a:r>
            <a:r>
              <a:rPr lang="en-US" altLang="zh-CN" b="1" baseline="30000">
                <a:ea typeface="宋体" pitchFamily="2" charset="-122"/>
              </a:rPr>
              <a:t>o</a:t>
            </a:r>
            <a:r>
              <a:rPr lang="zh-CN" altLang="zh-CN" b="1">
                <a:ea typeface="宋体" pitchFamily="2" charset="-122"/>
              </a:rPr>
              <a:t>和30</a:t>
            </a:r>
            <a:r>
              <a:rPr lang="en-US" altLang="zh-CN" b="1" baseline="30000">
                <a:ea typeface="宋体" pitchFamily="2" charset="-122"/>
              </a:rPr>
              <a:t>o</a:t>
            </a:r>
            <a:r>
              <a:rPr lang="zh-CN" altLang="en-US" b="1">
                <a:ea typeface="宋体" pitchFamily="2" charset="-122"/>
              </a:rPr>
              <a:t>，</a:t>
            </a:r>
            <a:r>
              <a:rPr lang="zh-CN" altLang="zh-CN" b="1">
                <a:ea typeface="宋体" pitchFamily="2" charset="-122"/>
              </a:rPr>
              <a:t>求：（1）乒乓球得到的冲量；（2）若撞击时间为0.01</a:t>
            </a:r>
            <a:r>
              <a:rPr lang="en-US" altLang="zh-CN" b="1">
                <a:ea typeface="宋体" pitchFamily="2" charset="-122"/>
              </a:rPr>
              <a:t>s</a:t>
            </a:r>
            <a:r>
              <a:rPr lang="zh-CN" altLang="en-US" b="1">
                <a:ea typeface="宋体" pitchFamily="2" charset="-122"/>
              </a:rPr>
              <a:t>，</a:t>
            </a:r>
            <a:r>
              <a:rPr lang="zh-CN" altLang="zh-CN" b="1">
                <a:ea typeface="宋体" pitchFamily="2" charset="-122"/>
              </a:rPr>
              <a:t>求板施于球的平均冲力的大小和方向。</a:t>
            </a:r>
            <a:endParaRPr lang="zh-CN" altLang="en-US" b="1">
              <a:ea typeface="宋体" pitchFamily="2" charset="-122"/>
            </a:endParaRPr>
          </a:p>
        </p:txBody>
      </p:sp>
      <p:grpSp>
        <p:nvGrpSpPr>
          <p:cNvPr id="2" name="Group 3"/>
          <p:cNvGrpSpPr>
            <a:grpSpLocks/>
          </p:cNvGrpSpPr>
          <p:nvPr/>
        </p:nvGrpSpPr>
        <p:grpSpPr bwMode="auto">
          <a:xfrm>
            <a:off x="6934200" y="152400"/>
            <a:ext cx="1855788" cy="2743200"/>
            <a:chOff x="3888" y="1632"/>
            <a:chExt cx="1625" cy="1968"/>
          </a:xfrm>
        </p:grpSpPr>
        <p:sp>
          <p:nvSpPr>
            <p:cNvPr id="21530" name="Rectangle 4" descr="宽上对角线"/>
            <p:cNvSpPr>
              <a:spLocks noChangeArrowheads="1"/>
            </p:cNvSpPr>
            <p:nvPr/>
          </p:nvSpPr>
          <p:spPr bwMode="auto">
            <a:xfrm>
              <a:off x="3888" y="1632"/>
              <a:ext cx="144" cy="1968"/>
            </a:xfrm>
            <a:prstGeom prst="rect">
              <a:avLst/>
            </a:prstGeom>
            <a:pattFill prst="wdUpDiag">
              <a:fgClr>
                <a:schemeClr val="tx2"/>
              </a:fgClr>
              <a:bgClr>
                <a:srgbClr val="FF9900"/>
              </a:bgClr>
            </a:pattFill>
            <a:ln w="9525">
              <a:solidFill>
                <a:schemeClr val="tx2"/>
              </a:solidFill>
              <a:miter lim="800000"/>
              <a:headEnd/>
              <a:tailEnd/>
            </a:ln>
          </p:spPr>
          <p:txBody>
            <a:bodyPr wrap="none" anchor="ctr"/>
            <a:lstStyle/>
            <a:p>
              <a:pPr algn="ctr"/>
              <a:endParaRPr lang="en-US" altLang="zh-CN" b="1" i="1">
                <a:ea typeface="宋体" pitchFamily="2" charset="-122"/>
              </a:endParaRPr>
            </a:p>
          </p:txBody>
        </p:sp>
        <p:sp>
          <p:nvSpPr>
            <p:cNvPr id="21531" name="Line 5"/>
            <p:cNvSpPr>
              <a:spLocks noChangeShapeType="1"/>
            </p:cNvSpPr>
            <p:nvPr/>
          </p:nvSpPr>
          <p:spPr bwMode="auto">
            <a:xfrm>
              <a:off x="4032" y="2640"/>
              <a:ext cx="13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2" name="Line 6"/>
            <p:cNvSpPr>
              <a:spLocks noChangeShapeType="1"/>
            </p:cNvSpPr>
            <p:nvPr/>
          </p:nvSpPr>
          <p:spPr bwMode="auto">
            <a:xfrm>
              <a:off x="4032" y="2640"/>
              <a:ext cx="96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3" name="Oval 7"/>
            <p:cNvSpPr>
              <a:spLocks noChangeArrowheads="1"/>
            </p:cNvSpPr>
            <p:nvPr/>
          </p:nvSpPr>
          <p:spPr bwMode="auto">
            <a:xfrm>
              <a:off x="4944" y="3312"/>
              <a:ext cx="192" cy="192"/>
            </a:xfrm>
            <a:prstGeom prst="ellipse">
              <a:avLst/>
            </a:prstGeom>
            <a:solidFill>
              <a:srgbClr val="FFFF00"/>
            </a:solidFill>
            <a:ln w="9525">
              <a:solidFill>
                <a:schemeClr val="tx1"/>
              </a:solidFill>
              <a:round/>
              <a:headEnd/>
              <a:tailEnd/>
            </a:ln>
          </p:spPr>
          <p:txBody>
            <a:bodyPr wrap="none" anchor="ctr"/>
            <a:lstStyle/>
            <a:p>
              <a:pPr>
                <a:spcBef>
                  <a:spcPct val="20000"/>
                </a:spcBef>
              </a:pPr>
              <a:endParaRPr lang="en-US" altLang="zh-CN"/>
            </a:p>
          </p:txBody>
        </p:sp>
        <p:sp>
          <p:nvSpPr>
            <p:cNvPr id="21534" name="Line 8"/>
            <p:cNvSpPr>
              <a:spLocks noChangeShapeType="1"/>
            </p:cNvSpPr>
            <p:nvPr/>
          </p:nvSpPr>
          <p:spPr bwMode="auto">
            <a:xfrm rot="-377056" flipH="1" flipV="1">
              <a:off x="4656" y="3120"/>
              <a:ext cx="288"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5" name="Line 9"/>
            <p:cNvSpPr>
              <a:spLocks noChangeShapeType="1"/>
            </p:cNvSpPr>
            <p:nvPr/>
          </p:nvSpPr>
          <p:spPr bwMode="auto">
            <a:xfrm flipV="1">
              <a:off x="4032" y="2256"/>
              <a:ext cx="720" cy="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6" name="Rectangle 10"/>
            <p:cNvSpPr>
              <a:spLocks noChangeArrowheads="1"/>
            </p:cNvSpPr>
            <p:nvPr/>
          </p:nvSpPr>
          <p:spPr bwMode="auto">
            <a:xfrm>
              <a:off x="4416" y="2688"/>
              <a:ext cx="517"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45</a:t>
              </a:r>
              <a:r>
                <a:rPr lang="en-US" altLang="zh-CN" b="1" i="1" baseline="30000">
                  <a:ea typeface="宋体" pitchFamily="2" charset="-122"/>
                </a:rPr>
                <a:t>o</a:t>
              </a:r>
            </a:p>
          </p:txBody>
        </p:sp>
        <p:sp>
          <p:nvSpPr>
            <p:cNvPr id="21537" name="Rectangle 11"/>
            <p:cNvSpPr>
              <a:spLocks noChangeArrowheads="1"/>
            </p:cNvSpPr>
            <p:nvPr/>
          </p:nvSpPr>
          <p:spPr bwMode="auto">
            <a:xfrm>
              <a:off x="4368" y="2352"/>
              <a:ext cx="58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 30</a:t>
              </a:r>
              <a:r>
                <a:rPr lang="en-US" altLang="zh-CN" b="1" i="1" baseline="30000">
                  <a:ea typeface="宋体" pitchFamily="2" charset="-122"/>
                </a:rPr>
                <a:t>o</a:t>
              </a:r>
            </a:p>
          </p:txBody>
        </p:sp>
        <p:sp>
          <p:nvSpPr>
            <p:cNvPr id="21538" name="Rectangle 12"/>
            <p:cNvSpPr>
              <a:spLocks noChangeArrowheads="1"/>
            </p:cNvSpPr>
            <p:nvPr/>
          </p:nvSpPr>
          <p:spPr bwMode="auto">
            <a:xfrm>
              <a:off x="5136" y="2640"/>
              <a:ext cx="377"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 </a:t>
              </a:r>
              <a:r>
                <a:rPr lang="en-US" altLang="zh-CN" b="1" i="1">
                  <a:ea typeface="宋体" pitchFamily="2" charset="-122"/>
                </a:rPr>
                <a:t>n</a:t>
              </a:r>
            </a:p>
          </p:txBody>
        </p:sp>
        <p:sp>
          <p:nvSpPr>
            <p:cNvPr id="21539" name="Rectangle 13"/>
            <p:cNvSpPr>
              <a:spLocks noChangeArrowheads="1"/>
            </p:cNvSpPr>
            <p:nvPr/>
          </p:nvSpPr>
          <p:spPr bwMode="auto">
            <a:xfrm>
              <a:off x="4464" y="1968"/>
              <a:ext cx="36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i="1">
                  <a:ea typeface="宋体" pitchFamily="2" charset="-122"/>
                </a:rPr>
                <a:t>v</a:t>
              </a:r>
              <a:r>
                <a:rPr lang="en-US" altLang="zh-CN" b="1" i="1" baseline="-25000">
                  <a:ea typeface="宋体" pitchFamily="2" charset="-122"/>
                </a:rPr>
                <a:t>2</a:t>
              </a:r>
            </a:p>
          </p:txBody>
        </p:sp>
        <p:sp>
          <p:nvSpPr>
            <p:cNvPr id="21540" name="Rectangle 14"/>
            <p:cNvSpPr>
              <a:spLocks noChangeArrowheads="1"/>
            </p:cNvSpPr>
            <p:nvPr/>
          </p:nvSpPr>
          <p:spPr bwMode="auto">
            <a:xfrm>
              <a:off x="4655" y="3168"/>
              <a:ext cx="36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i="1">
                  <a:ea typeface="宋体" pitchFamily="2" charset="-122"/>
                </a:rPr>
                <a:t>v</a:t>
              </a:r>
              <a:r>
                <a:rPr lang="en-US" altLang="zh-CN" b="1" i="1" baseline="-25000">
                  <a:ea typeface="宋体" pitchFamily="2" charset="-122"/>
                </a:rPr>
                <a:t>1</a:t>
              </a:r>
            </a:p>
          </p:txBody>
        </p:sp>
      </p:grpSp>
      <p:grpSp>
        <p:nvGrpSpPr>
          <p:cNvPr id="3" name="Group 15"/>
          <p:cNvGrpSpPr>
            <a:grpSpLocks/>
          </p:cNvGrpSpPr>
          <p:nvPr/>
        </p:nvGrpSpPr>
        <p:grpSpPr bwMode="auto">
          <a:xfrm>
            <a:off x="6705600" y="3048000"/>
            <a:ext cx="2225675" cy="2514600"/>
            <a:chOff x="3648" y="144"/>
            <a:chExt cx="1785" cy="1968"/>
          </a:xfrm>
        </p:grpSpPr>
        <p:grpSp>
          <p:nvGrpSpPr>
            <p:cNvPr id="21512" name="Group 16"/>
            <p:cNvGrpSpPr>
              <a:grpSpLocks/>
            </p:cNvGrpSpPr>
            <p:nvPr/>
          </p:nvGrpSpPr>
          <p:grpSpPr bwMode="auto">
            <a:xfrm>
              <a:off x="3840" y="144"/>
              <a:ext cx="1593" cy="1968"/>
              <a:chOff x="3840" y="144"/>
              <a:chExt cx="1593" cy="1968"/>
            </a:xfrm>
          </p:grpSpPr>
          <p:sp>
            <p:nvSpPr>
              <p:cNvPr id="21518" name="Rectangle 17" descr="宽上对角线"/>
              <p:cNvSpPr>
                <a:spLocks noChangeArrowheads="1"/>
              </p:cNvSpPr>
              <p:nvPr/>
            </p:nvSpPr>
            <p:spPr bwMode="auto">
              <a:xfrm>
                <a:off x="3840" y="144"/>
                <a:ext cx="144" cy="1968"/>
              </a:xfrm>
              <a:prstGeom prst="rect">
                <a:avLst/>
              </a:prstGeom>
              <a:pattFill prst="wdUpDiag">
                <a:fgClr>
                  <a:schemeClr val="tx2"/>
                </a:fgClr>
                <a:bgClr>
                  <a:srgbClr val="FF9900"/>
                </a:bgClr>
              </a:pattFill>
              <a:ln w="9525">
                <a:solidFill>
                  <a:schemeClr val="tx2"/>
                </a:solidFill>
                <a:miter lim="800000"/>
                <a:headEnd/>
                <a:tailEnd/>
              </a:ln>
            </p:spPr>
            <p:txBody>
              <a:bodyPr wrap="none" anchor="ctr"/>
              <a:lstStyle/>
              <a:p>
                <a:pPr algn="ctr"/>
                <a:endParaRPr lang="en-US" altLang="zh-CN" b="1" i="1">
                  <a:ea typeface="宋体" pitchFamily="2" charset="-122"/>
                </a:endParaRPr>
              </a:p>
            </p:txBody>
          </p:sp>
          <p:sp>
            <p:nvSpPr>
              <p:cNvPr id="21519" name="Line 18"/>
              <p:cNvSpPr>
                <a:spLocks noChangeShapeType="1"/>
              </p:cNvSpPr>
              <p:nvPr/>
            </p:nvSpPr>
            <p:spPr bwMode="auto">
              <a:xfrm>
                <a:off x="3984" y="1152"/>
                <a:ext cx="13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0" name="Line 19"/>
              <p:cNvSpPr>
                <a:spLocks noChangeShapeType="1"/>
              </p:cNvSpPr>
              <p:nvPr/>
            </p:nvSpPr>
            <p:spPr bwMode="auto">
              <a:xfrm>
                <a:off x="3984" y="1152"/>
                <a:ext cx="96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1" name="Oval 20"/>
              <p:cNvSpPr>
                <a:spLocks noChangeArrowheads="1"/>
              </p:cNvSpPr>
              <p:nvPr/>
            </p:nvSpPr>
            <p:spPr bwMode="auto">
              <a:xfrm>
                <a:off x="4896" y="1824"/>
                <a:ext cx="192" cy="192"/>
              </a:xfrm>
              <a:prstGeom prst="ellipse">
                <a:avLst/>
              </a:prstGeom>
              <a:solidFill>
                <a:srgbClr val="FFFF00"/>
              </a:solidFill>
              <a:ln w="9525">
                <a:solidFill>
                  <a:schemeClr val="tx1"/>
                </a:solidFill>
                <a:round/>
                <a:headEnd/>
                <a:tailEnd/>
              </a:ln>
            </p:spPr>
            <p:txBody>
              <a:bodyPr wrap="none" anchor="ctr"/>
              <a:lstStyle/>
              <a:p>
                <a:pPr>
                  <a:spcBef>
                    <a:spcPct val="20000"/>
                  </a:spcBef>
                </a:pPr>
                <a:endParaRPr lang="en-US" altLang="zh-CN"/>
              </a:p>
            </p:txBody>
          </p:sp>
          <p:sp>
            <p:nvSpPr>
              <p:cNvPr id="21522" name="Rectangle 21"/>
              <p:cNvSpPr>
                <a:spLocks noChangeArrowheads="1"/>
              </p:cNvSpPr>
              <p:nvPr/>
            </p:nvSpPr>
            <p:spPr bwMode="auto">
              <a:xfrm>
                <a:off x="4369" y="1200"/>
                <a:ext cx="473"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45</a:t>
                </a:r>
                <a:r>
                  <a:rPr lang="en-US" altLang="zh-CN" b="1" i="1" baseline="30000">
                    <a:ea typeface="宋体" pitchFamily="2" charset="-122"/>
                  </a:rPr>
                  <a:t>o</a:t>
                </a:r>
              </a:p>
            </p:txBody>
          </p:sp>
          <p:sp>
            <p:nvSpPr>
              <p:cNvPr id="21523" name="Rectangle 22"/>
              <p:cNvSpPr>
                <a:spLocks noChangeArrowheads="1"/>
              </p:cNvSpPr>
              <p:nvPr/>
            </p:nvSpPr>
            <p:spPr bwMode="auto">
              <a:xfrm>
                <a:off x="4320" y="865"/>
                <a:ext cx="53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 30</a:t>
                </a:r>
                <a:r>
                  <a:rPr lang="en-US" altLang="zh-CN" b="1" i="1" baseline="30000">
                    <a:ea typeface="宋体" pitchFamily="2" charset="-122"/>
                  </a:rPr>
                  <a:t>o</a:t>
                </a:r>
              </a:p>
            </p:txBody>
          </p:sp>
          <p:sp>
            <p:nvSpPr>
              <p:cNvPr id="21524" name="Rectangle 23"/>
              <p:cNvSpPr>
                <a:spLocks noChangeArrowheads="1"/>
              </p:cNvSpPr>
              <p:nvPr/>
            </p:nvSpPr>
            <p:spPr bwMode="auto">
              <a:xfrm>
                <a:off x="5088" y="1152"/>
                <a:ext cx="34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 </a:t>
                </a:r>
                <a:r>
                  <a:rPr lang="en-US" altLang="zh-CN" b="1" i="1">
                    <a:ea typeface="宋体" pitchFamily="2" charset="-122"/>
                  </a:rPr>
                  <a:t>n</a:t>
                </a:r>
              </a:p>
            </p:txBody>
          </p:sp>
          <p:grpSp>
            <p:nvGrpSpPr>
              <p:cNvPr id="21525" name="Group 24"/>
              <p:cNvGrpSpPr>
                <a:grpSpLocks/>
              </p:cNvGrpSpPr>
              <p:nvPr/>
            </p:nvGrpSpPr>
            <p:grpSpPr bwMode="auto">
              <a:xfrm>
                <a:off x="3984" y="479"/>
                <a:ext cx="961" cy="1560"/>
                <a:chOff x="3984" y="479"/>
                <a:chExt cx="961" cy="1560"/>
              </a:xfrm>
            </p:grpSpPr>
            <p:sp>
              <p:nvSpPr>
                <p:cNvPr id="21526" name="Line 25"/>
                <p:cNvSpPr>
                  <a:spLocks noChangeShapeType="1"/>
                </p:cNvSpPr>
                <p:nvPr/>
              </p:nvSpPr>
              <p:spPr bwMode="auto">
                <a:xfrm rot="-377056" flipH="1" flipV="1">
                  <a:off x="4608" y="1632"/>
                  <a:ext cx="288"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7" name="Line 26"/>
                <p:cNvSpPr>
                  <a:spLocks noChangeShapeType="1"/>
                </p:cNvSpPr>
                <p:nvPr/>
              </p:nvSpPr>
              <p:spPr bwMode="auto">
                <a:xfrm flipV="1">
                  <a:off x="3984" y="768"/>
                  <a:ext cx="720" cy="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8" name="Rectangle 27"/>
                <p:cNvSpPr>
                  <a:spLocks noChangeArrowheads="1"/>
                </p:cNvSpPr>
                <p:nvPr/>
              </p:nvSpPr>
              <p:spPr bwMode="auto">
                <a:xfrm>
                  <a:off x="4416" y="479"/>
                  <a:ext cx="337"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i="1">
                      <a:ea typeface="宋体" pitchFamily="2" charset="-122"/>
                    </a:rPr>
                    <a:t>v</a:t>
                  </a:r>
                  <a:r>
                    <a:rPr lang="en-US" altLang="zh-CN" b="1" i="1" baseline="-25000">
                      <a:ea typeface="宋体" pitchFamily="2" charset="-122"/>
                    </a:rPr>
                    <a:t>2</a:t>
                  </a:r>
                </a:p>
              </p:txBody>
            </p:sp>
            <p:sp>
              <p:nvSpPr>
                <p:cNvPr id="21529" name="Rectangle 28"/>
                <p:cNvSpPr>
                  <a:spLocks noChangeArrowheads="1"/>
                </p:cNvSpPr>
                <p:nvPr/>
              </p:nvSpPr>
              <p:spPr bwMode="auto">
                <a:xfrm>
                  <a:off x="4608" y="1681"/>
                  <a:ext cx="337"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i="1">
                      <a:ea typeface="宋体" pitchFamily="2" charset="-122"/>
                    </a:rPr>
                    <a:t>v</a:t>
                  </a:r>
                  <a:r>
                    <a:rPr lang="en-US" altLang="zh-CN" b="1" i="1" baseline="-25000">
                      <a:ea typeface="宋体" pitchFamily="2" charset="-122"/>
                    </a:rPr>
                    <a:t>1</a:t>
                  </a:r>
                </a:p>
              </p:txBody>
            </p:sp>
          </p:grpSp>
        </p:grpSp>
        <p:sp>
          <p:nvSpPr>
            <p:cNvPr id="21513" name="Line 29"/>
            <p:cNvSpPr>
              <a:spLocks noChangeShapeType="1"/>
            </p:cNvSpPr>
            <p:nvPr/>
          </p:nvSpPr>
          <p:spPr bwMode="auto">
            <a:xfrm>
              <a:off x="3984" y="1152"/>
              <a:ext cx="91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4" name="Line 30"/>
            <p:cNvSpPr>
              <a:spLocks noChangeShapeType="1"/>
            </p:cNvSpPr>
            <p:nvPr/>
          </p:nvSpPr>
          <p:spPr bwMode="auto">
            <a:xfrm flipV="1">
              <a:off x="3984" y="528"/>
              <a:ext cx="0" cy="62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5" name="Text Box 31"/>
            <p:cNvSpPr txBox="1">
              <a:spLocks noChangeArrowheads="1"/>
            </p:cNvSpPr>
            <p:nvPr/>
          </p:nvSpPr>
          <p:spPr bwMode="auto">
            <a:xfrm>
              <a:off x="3648" y="960"/>
              <a:ext cx="384"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solidFill>
                    <a:srgbClr val="CCFFCC"/>
                  </a:solidFill>
                  <a:ea typeface="宋体" pitchFamily="2" charset="-122"/>
                </a:rPr>
                <a:t>O</a:t>
              </a:r>
              <a:endParaRPr lang="en-US" altLang="zh-CN" i="1">
                <a:solidFill>
                  <a:srgbClr val="CCFFCC"/>
                </a:solidFill>
                <a:ea typeface="宋体" pitchFamily="2" charset="-122"/>
              </a:endParaRPr>
            </a:p>
          </p:txBody>
        </p:sp>
        <p:sp>
          <p:nvSpPr>
            <p:cNvPr id="21516" name="Text Box 32"/>
            <p:cNvSpPr txBox="1">
              <a:spLocks noChangeArrowheads="1"/>
            </p:cNvSpPr>
            <p:nvPr/>
          </p:nvSpPr>
          <p:spPr bwMode="auto">
            <a:xfrm>
              <a:off x="4656" y="1152"/>
              <a:ext cx="288"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solidFill>
                    <a:srgbClr val="FF0000"/>
                  </a:solidFill>
                  <a:ea typeface="宋体" pitchFamily="2" charset="-122"/>
                </a:rPr>
                <a:t>x</a:t>
              </a:r>
              <a:endParaRPr lang="en-US" altLang="zh-CN" b="1" i="1">
                <a:solidFill>
                  <a:srgbClr val="CCFFCC"/>
                </a:solidFill>
                <a:ea typeface="宋体" pitchFamily="2" charset="-122"/>
              </a:endParaRPr>
            </a:p>
          </p:txBody>
        </p:sp>
        <p:sp>
          <p:nvSpPr>
            <p:cNvPr id="21517" name="Text Box 33"/>
            <p:cNvSpPr txBox="1">
              <a:spLocks noChangeArrowheads="1"/>
            </p:cNvSpPr>
            <p:nvPr/>
          </p:nvSpPr>
          <p:spPr bwMode="auto">
            <a:xfrm>
              <a:off x="3984" y="384"/>
              <a:ext cx="336"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solidFill>
                    <a:srgbClr val="FF0000"/>
                  </a:solidFill>
                  <a:ea typeface="宋体" pitchFamily="2" charset="-122"/>
                </a:rPr>
                <a:t>y</a:t>
              </a:r>
              <a:endParaRPr lang="en-US" altLang="zh-CN" b="1" i="1">
                <a:solidFill>
                  <a:srgbClr val="CCFFCC"/>
                </a:solidFill>
                <a:ea typeface="宋体" pitchFamily="2" charset="-122"/>
              </a:endParaRPr>
            </a:p>
          </p:txBody>
        </p:sp>
      </p:grpSp>
      <p:sp>
        <p:nvSpPr>
          <p:cNvPr id="102434" name="Text Box 34"/>
          <p:cNvSpPr txBox="1">
            <a:spLocks noChangeArrowheads="1"/>
          </p:cNvSpPr>
          <p:nvPr/>
        </p:nvSpPr>
        <p:spPr bwMode="auto">
          <a:xfrm>
            <a:off x="0" y="3048000"/>
            <a:ext cx="56546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b="1">
                <a:ea typeface="宋体" pitchFamily="2" charset="-122"/>
              </a:rPr>
              <a:t>解：取挡板和球为研究对象，由于作用时间很短，忽略重力影响。设挡板对球的冲力为</a:t>
            </a:r>
            <a:r>
              <a:rPr lang="en-US" altLang="zh-CN" b="1" i="1">
                <a:ea typeface="宋体" pitchFamily="2" charset="-122"/>
              </a:rPr>
              <a:t>F</a:t>
            </a:r>
            <a:r>
              <a:rPr lang="zh-CN" altLang="en-US" b="1">
                <a:ea typeface="宋体" pitchFamily="2" charset="-122"/>
              </a:rPr>
              <a:t>则有：</a:t>
            </a:r>
            <a:endParaRPr lang="zh-CN" altLang="en-US" sz="3600" b="1">
              <a:solidFill>
                <a:srgbClr val="FF3300"/>
              </a:solidFill>
            </a:endParaRPr>
          </a:p>
        </p:txBody>
      </p:sp>
      <mc:AlternateContent xmlns:mc="http://schemas.openxmlformats.org/markup-compatibility/2006" xmlns:a14="http://schemas.microsoft.com/office/drawing/2010/main">
        <mc:Choice Requires="a14">
          <p:sp>
            <p:nvSpPr>
              <p:cNvPr id="102435" name="Object 35"/>
              <p:cNvSpPr txBox="1"/>
              <p:nvPr/>
            </p:nvSpPr>
            <p:spPr bwMode="auto">
              <a:xfrm>
                <a:off x="1046163" y="4267200"/>
                <a:ext cx="3862387" cy="742950"/>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102435" name="Object 35"/>
              <p:cNvSpPr txBox="1">
                <a:spLocks noRot="1" noChangeAspect="1" noMove="1" noResize="1" noEditPoints="1" noAdjustHandles="1" noChangeArrowheads="1" noChangeShapeType="1" noTextEdit="1"/>
              </p:cNvSpPr>
              <p:nvPr/>
            </p:nvSpPr>
            <p:spPr bwMode="auto">
              <a:xfrm>
                <a:off x="1046163" y="4267200"/>
                <a:ext cx="3862387" cy="742950"/>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36" name="Object 36"/>
              <p:cNvSpPr txBox="1"/>
              <p:nvPr/>
            </p:nvSpPr>
            <p:spPr bwMode="auto">
              <a:xfrm>
                <a:off x="381000" y="5307013"/>
                <a:ext cx="7759700" cy="1550987"/>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𝑑𝑡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3</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4</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sub>
                          </m:sSub>
                        </m:e>
                      </m:ba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𝑑𝑡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3</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4</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sub>
                          </m:sSub>
                        </m:e>
                      </m:ba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oMath>
                  </m:oMathPara>
                </a14:m>
                <a:endParaRPr lang="zh-CN" altLang="en-US"/>
              </a:p>
            </p:txBody>
          </p:sp>
        </mc:Choice>
        <mc:Fallback xmlns="">
          <p:sp>
            <p:nvSpPr>
              <p:cNvPr id="102436" name="Object 36"/>
              <p:cNvSpPr txBox="1">
                <a:spLocks noRot="1" noChangeAspect="1" noMove="1" noResize="1" noEditPoints="1" noAdjustHandles="1" noChangeArrowheads="1" noChangeShapeType="1" noTextEdit="1"/>
              </p:cNvSpPr>
              <p:nvPr/>
            </p:nvSpPr>
            <p:spPr bwMode="auto">
              <a:xfrm>
                <a:off x="381000" y="5307013"/>
                <a:ext cx="7759700" cy="1550987"/>
              </a:xfrm>
              <a:prstGeom prst="rect">
                <a:avLst/>
              </a:prstGeom>
              <a:blipFill>
                <a:blip r:embed="rId3"/>
                <a:stretch>
                  <a:fillRect/>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02402"/>
                                        </p:tgtEl>
                                        <p:attrNameLst>
                                          <p:attrName>style.visibility</p:attrName>
                                        </p:attrNameLst>
                                      </p:cBhvr>
                                      <p:to>
                                        <p:strVal val="visible"/>
                                      </p:to>
                                    </p:set>
                                    <p:animEffect transition="in" filter="wipe(left)">
                                      <p:cBhvr>
                                        <p:cTn id="7" dur="75"/>
                                        <p:tgtEl>
                                          <p:spTgt spid="1024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02434"/>
                                        </p:tgtEl>
                                        <p:attrNameLst>
                                          <p:attrName>style.visibility</p:attrName>
                                        </p:attrNameLst>
                                      </p:cBhvr>
                                      <p:to>
                                        <p:strVal val="visible"/>
                                      </p:to>
                                    </p:set>
                                    <p:animEffect transition="in" filter="wipe(left)">
                                      <p:cBhvr>
                                        <p:cTn id="17" dur="75"/>
                                        <p:tgtEl>
                                          <p:spTgt spid="1024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2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autoUpdateAnimBg="0"/>
      <p:bldP spid="102434" grpId="0" autoUpdateAnimBg="0"/>
      <p:bldP spid="102435" grpId="0"/>
      <p:bldP spid="10243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3426" name="Object 2"/>
              <p:cNvSpPr txBox="1"/>
              <p:nvPr/>
            </p:nvSpPr>
            <p:spPr bwMode="auto">
              <a:xfrm>
                <a:off x="381000" y="1457325"/>
                <a:ext cx="8432800" cy="63023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0.01</m:t>
                      </m:r>
                      <m:r>
                        <m:rPr>
                          <m:nor/>
                        </m:rPr>
                        <a:rPr lang="zh-CN" altLang="en-US" i="0">
                          <a:solidFill>
                            <a:srgbClr val="000000"/>
                          </a:solidFill>
                          <a:latin typeface="Cambria Math" panose="02040503050406030204" pitchFamily="18" charset="0"/>
                        </a:rPr>
                        <m:t>s</m:t>
                      </m:r>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=10</m:t>
                      </m:r>
                      <m:r>
                        <m:rPr>
                          <m:nor/>
                        </m:rPr>
                        <a:rPr lang="zh-CN" altLang="en-US" i="0">
                          <a:solidFill>
                            <a:srgbClr val="000000"/>
                          </a:solidFill>
                          <a:latin typeface="Cambria Math" panose="02040503050406030204" pitchFamily="18" charset="0"/>
                        </a:rPr>
                        <m:t>m</m:t>
                      </m:r>
                      <m:r>
                        <m:rPr>
                          <m:nor/>
                        </m:rPr>
                        <a:rPr lang="zh-CN" altLang="en-US" i="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s</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=20</m:t>
                      </m:r>
                      <m:r>
                        <m:rPr>
                          <m:nor/>
                        </m:rPr>
                        <a:rPr lang="zh-CN" altLang="en-US" i="0">
                          <a:solidFill>
                            <a:srgbClr val="000000"/>
                          </a:solidFill>
                          <a:latin typeface="Cambria Math" panose="02040503050406030204" pitchFamily="18" charset="0"/>
                        </a:rPr>
                        <m:t>m</m:t>
                      </m:r>
                      <m:r>
                        <m:rPr>
                          <m:nor/>
                        </m:rPr>
                        <a:rPr lang="zh-CN" altLang="en-US" i="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s</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2.5</m:t>
                      </m:r>
                      <m:r>
                        <m:rPr>
                          <m:nor/>
                        </m:rPr>
                        <a:rPr lang="zh-CN" altLang="en-US" i="0">
                          <a:solidFill>
                            <a:srgbClr val="000000"/>
                          </a:solidFill>
                          <a:latin typeface="Cambria Math" panose="02040503050406030204" pitchFamily="18" charset="0"/>
                        </a:rPr>
                        <m:t>g</m:t>
                      </m:r>
                    </m:oMath>
                  </m:oMathPara>
                </a14:m>
                <a:endParaRPr lang="zh-CN" altLang="en-US"/>
              </a:p>
            </p:txBody>
          </p:sp>
        </mc:Choice>
        <mc:Fallback xmlns="">
          <p:sp>
            <p:nvSpPr>
              <p:cNvPr id="103426" name="Object 2"/>
              <p:cNvSpPr txBox="1">
                <a:spLocks noRot="1" noChangeAspect="1" noMove="1" noResize="1" noEditPoints="1" noAdjustHandles="1" noChangeArrowheads="1" noChangeShapeType="1" noTextEdit="1"/>
              </p:cNvSpPr>
              <p:nvPr/>
            </p:nvSpPr>
            <p:spPr bwMode="auto">
              <a:xfrm>
                <a:off x="381000" y="1457325"/>
                <a:ext cx="8432800" cy="630238"/>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427" name="Object 3"/>
              <p:cNvSpPr txBox="1"/>
              <p:nvPr/>
            </p:nvSpPr>
            <p:spPr bwMode="auto">
              <a:xfrm>
                <a:off x="511175" y="2066925"/>
                <a:ext cx="7947025" cy="87788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sub>
                          </m:sSub>
                        </m:e>
                      </m:bar>
                      <m:r>
                        <a:rPr lang="zh-CN" altLang="en-US" i="1">
                          <a:solidFill>
                            <a:srgbClr val="000000"/>
                          </a:solidFill>
                          <a:latin typeface="Cambria Math" panose="02040503050406030204" pitchFamily="18" charset="0"/>
                        </a:rPr>
                        <m:t>=6.1</m:t>
                      </m:r>
                      <m:r>
                        <m:rPr>
                          <m:nor/>
                        </m:rPr>
                        <a:rPr lang="zh-CN" altLang="en-US" i="0">
                          <a:solidFill>
                            <a:srgbClr val="000000"/>
                          </a:solidFill>
                          <a:latin typeface="Cambria Math" panose="02040503050406030204" pitchFamily="18" charset="0"/>
                        </a:rPr>
                        <m:t>N</m:t>
                      </m:r>
                      <m:r>
                        <m:rPr>
                          <m:nor/>
                        </m:rPr>
                        <a:rPr lang="zh-CN" altLang="en-US" i="0">
                          <a:solidFill>
                            <a:srgbClr val="000000"/>
                          </a:solidFill>
                          <a:latin typeface="Cambria Math" panose="02040503050406030204" pitchFamily="18" charset="0"/>
                        </a:rPr>
                        <m:t>    </m:t>
                      </m:r>
                      <m:bar>
                        <m:barPr>
                          <m:pos m:val="top"/>
                          <m:ctrlPr>
                            <a:rPr lang="zh-CN" altLang="en-US" i="1">
                              <a:solidFill>
                                <a:srgbClr val="000000"/>
                              </a:solidFill>
                              <a:latin typeface="Cambria Math" panose="02040503050406030204" pitchFamily="18" charset="0"/>
                            </a:rPr>
                          </m:ctrlPr>
                        </m:ba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sub>
                          </m:sSub>
                        </m:e>
                      </m:bar>
                      <m:r>
                        <a:rPr lang="zh-CN" altLang="en-US" i="1">
                          <a:solidFill>
                            <a:srgbClr val="000000"/>
                          </a:solidFill>
                          <a:latin typeface="Cambria Math" panose="02040503050406030204" pitchFamily="18" charset="0"/>
                        </a:rPr>
                        <m:t>=0.7</m:t>
                      </m:r>
                      <m:r>
                        <m:rPr>
                          <m:nor/>
                        </m:rPr>
                        <a:rPr lang="zh-CN" altLang="en-US" i="0">
                          <a:solidFill>
                            <a:srgbClr val="000000"/>
                          </a:solidFill>
                          <a:latin typeface="Cambria Math" panose="02040503050406030204" pitchFamily="18" charset="0"/>
                        </a:rPr>
                        <m:t>N</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bSup>
                            <m:sSubSupPr>
                              <m:ctrlPr>
                                <a:rPr lang="zh-CN" altLang="en-US" i="1">
                                  <a:solidFill>
                                    <a:srgbClr val="000000"/>
                                  </a:solidFill>
                                  <a:latin typeface="Cambria Math" panose="02040503050406030204" pitchFamily="18" charset="0"/>
                                </a:rPr>
                              </m:ctrlPr>
                            </m:sSubSupPr>
                            <m:e>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𝐹</m:t>
                                  </m:r>
                                </m:e>
                              </m:bar>
                            </m:e>
                            <m:sub>
                              <m:r>
                                <a:rPr lang="zh-CN" altLang="en-US" i="1">
                                  <a:solidFill>
                                    <a:srgbClr val="000000"/>
                                  </a:solidFill>
                                  <a:latin typeface="Cambria Math" panose="02040503050406030204" pitchFamily="18" charset="0"/>
                                </a:rPr>
                                <m:t>𝑥</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𝐹</m:t>
                                  </m:r>
                                </m:e>
                              </m:bar>
                            </m:e>
                            <m:sub>
                              <m:r>
                                <a:rPr lang="zh-CN" altLang="en-US" i="1">
                                  <a:solidFill>
                                    <a:srgbClr val="000000"/>
                                  </a:solidFill>
                                  <a:latin typeface="Cambria Math" panose="02040503050406030204" pitchFamily="18" charset="0"/>
                                </a:rPr>
                                <m:t>𝑦</m:t>
                              </m:r>
                            </m:sub>
                            <m:sup>
                              <m:r>
                                <a:rPr lang="zh-CN" altLang="en-US" i="1">
                                  <a:solidFill>
                                    <a:srgbClr val="000000"/>
                                  </a:solidFill>
                                  <a:latin typeface="Cambria Math" panose="02040503050406030204" pitchFamily="18" charset="0"/>
                                </a:rPr>
                                <m:t>2</m:t>
                              </m:r>
                            </m:sup>
                          </m:sSubSup>
                        </m:e>
                      </m:rad>
                      <m:r>
                        <a:rPr lang="zh-CN" altLang="en-US" i="1">
                          <a:solidFill>
                            <a:srgbClr val="000000"/>
                          </a:solidFill>
                          <a:latin typeface="Cambria Math" panose="02040503050406030204" pitchFamily="18" charset="0"/>
                        </a:rPr>
                        <m:t>=6.14</m:t>
                      </m:r>
                      <m:r>
                        <m:rPr>
                          <m:sty m:val="p"/>
                        </m:rPr>
                        <a:rPr lang="zh-CN" altLang="en-US" i="0">
                          <a:solidFill>
                            <a:srgbClr val="000000"/>
                          </a:solidFill>
                          <a:latin typeface="Cambria Math" panose="02040503050406030204" pitchFamily="18" charset="0"/>
                        </a:rPr>
                        <m:t>N</m:t>
                      </m:r>
                    </m:oMath>
                  </m:oMathPara>
                </a14:m>
                <a:endParaRPr lang="zh-CN" altLang="en-US"/>
              </a:p>
            </p:txBody>
          </p:sp>
        </mc:Choice>
        <mc:Fallback xmlns="">
          <p:sp>
            <p:nvSpPr>
              <p:cNvPr id="103427" name="Object 3"/>
              <p:cNvSpPr txBox="1">
                <a:spLocks noRot="1" noChangeAspect="1" noMove="1" noResize="1" noEditPoints="1" noAdjustHandles="1" noChangeArrowheads="1" noChangeShapeType="1" noTextEdit="1"/>
              </p:cNvSpPr>
              <p:nvPr/>
            </p:nvSpPr>
            <p:spPr bwMode="auto">
              <a:xfrm>
                <a:off x="511175" y="2066925"/>
                <a:ext cx="7947025" cy="877888"/>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103428" name="Text Box 4"/>
          <p:cNvSpPr txBox="1">
            <a:spLocks noChangeArrowheads="1"/>
          </p:cNvSpPr>
          <p:nvPr/>
        </p:nvSpPr>
        <p:spPr bwMode="auto">
          <a:xfrm>
            <a:off x="2668588" y="6021388"/>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ea typeface="宋体" pitchFamily="2" charset="-122"/>
                <a:sym typeface="Symbol" pitchFamily="18" charset="2"/>
              </a:rPr>
              <a:t></a:t>
            </a:r>
            <a:r>
              <a:rPr lang="zh-CN" altLang="en-US" b="1">
                <a:ea typeface="宋体" pitchFamily="2" charset="-122"/>
                <a:sym typeface="Symbol" pitchFamily="18" charset="2"/>
              </a:rPr>
              <a:t>为 </a:t>
            </a:r>
            <a:r>
              <a:rPr lang="en-US" altLang="zh-CN" b="1" i="1">
                <a:ea typeface="宋体" pitchFamily="2" charset="-122"/>
                <a:sym typeface="Symbol" pitchFamily="18" charset="2"/>
              </a:rPr>
              <a:t>I  </a:t>
            </a:r>
            <a:r>
              <a:rPr lang="zh-CN" altLang="zh-CN" b="1">
                <a:ea typeface="宋体" pitchFamily="2" charset="-122"/>
                <a:sym typeface="Symbol" pitchFamily="18" charset="2"/>
              </a:rPr>
              <a:t>与</a:t>
            </a:r>
            <a:r>
              <a:rPr lang="en-US" altLang="zh-CN" b="1" i="1">
                <a:ea typeface="宋体" pitchFamily="2" charset="-122"/>
                <a:sym typeface="Symbol" pitchFamily="18" charset="2"/>
              </a:rPr>
              <a:t>x</a:t>
            </a:r>
            <a:r>
              <a:rPr lang="zh-CN" altLang="zh-CN" b="1">
                <a:ea typeface="宋体" pitchFamily="2" charset="-122"/>
                <a:sym typeface="Symbol" pitchFamily="18" charset="2"/>
              </a:rPr>
              <a:t>方向的夹角。</a:t>
            </a:r>
            <a:endParaRPr lang="zh-CN" altLang="en-US" sz="4000" b="1">
              <a:ea typeface="宋体" pitchFamily="2" charset="-122"/>
            </a:endParaRPr>
          </a:p>
        </p:txBody>
      </p:sp>
      <mc:AlternateContent xmlns:mc="http://schemas.openxmlformats.org/markup-compatibility/2006" xmlns:a14="http://schemas.microsoft.com/office/drawing/2010/main">
        <mc:Choice Requires="a14">
          <p:sp>
            <p:nvSpPr>
              <p:cNvPr id="103429" name="Object 5"/>
              <p:cNvSpPr txBox="1"/>
              <p:nvPr/>
            </p:nvSpPr>
            <p:spPr bwMode="auto">
              <a:xfrm>
                <a:off x="533400" y="4810125"/>
                <a:ext cx="4572000" cy="103663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nor/>
                        </m:rPr>
                        <a:rPr lang="zh-CN" altLang="en-US" i="0">
                          <a:solidFill>
                            <a:srgbClr val="000000"/>
                          </a:solidFill>
                          <a:latin typeface="Cambria Math" panose="02040503050406030204" pitchFamily="18" charset="0"/>
                        </a:rPr>
                        <m:t>tg</m:t>
                      </m:r>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m:t>
                      </m:r>
                      <m:f>
                        <m:fPr>
                          <m:type m:val="skw"/>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𝑦</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𝑥</m:t>
                              </m:r>
                            </m:sub>
                          </m:sSub>
                        </m:den>
                      </m:f>
                      <m:r>
                        <a:rPr lang="zh-CN" altLang="en-US" i="1">
                          <a:solidFill>
                            <a:srgbClr val="000000"/>
                          </a:solidFill>
                          <a:latin typeface="Cambria Math" panose="02040503050406030204" pitchFamily="18" charset="0"/>
                        </a:rPr>
                        <m:t>=0.1148</m:t>
                      </m:r>
                      <m:r>
                        <a:rPr lang="zh-CN" altLang="en-US" i="0">
                          <a:solidFill>
                            <a:srgbClr val="000000"/>
                          </a:solidFill>
                          <a:latin typeface="Cambria Math" panose="02040503050406030204" pitchFamily="18" charset="0"/>
                        </a:rPr>
                        <m:t> </m:t>
                      </m:r>
                    </m:oMath>
                  </m:oMathPara>
                </a14:m>
                <a:endParaRPr lang="zh-CN" altLang="en-US"/>
              </a:p>
            </p:txBody>
          </p:sp>
        </mc:Choice>
        <mc:Fallback xmlns="">
          <p:sp>
            <p:nvSpPr>
              <p:cNvPr id="103429" name="Object 5"/>
              <p:cNvSpPr txBox="1">
                <a:spLocks noRot="1" noChangeAspect="1" noMove="1" noResize="1" noEditPoints="1" noAdjustHandles="1" noChangeArrowheads="1" noChangeShapeType="1" noTextEdit="1"/>
              </p:cNvSpPr>
              <p:nvPr/>
            </p:nvSpPr>
            <p:spPr bwMode="auto">
              <a:xfrm>
                <a:off x="533400" y="4810125"/>
                <a:ext cx="4572000" cy="1036638"/>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430" name="Object 6"/>
              <p:cNvSpPr txBox="1"/>
              <p:nvPr/>
            </p:nvSpPr>
            <p:spPr bwMode="auto">
              <a:xfrm>
                <a:off x="457200" y="3971925"/>
                <a:ext cx="6019800" cy="91916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𝐼</m:t>
                      </m:r>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𝑥</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𝑦</m:t>
                              </m:r>
                            </m:sub>
                            <m:sup>
                              <m:r>
                                <a:rPr lang="zh-CN" altLang="en-US" i="1">
                                  <a:solidFill>
                                    <a:srgbClr val="000000"/>
                                  </a:solidFill>
                                  <a:latin typeface="Cambria Math" panose="02040503050406030204" pitchFamily="18" charset="0"/>
                                </a:rPr>
                                <m:t>2</m:t>
                              </m:r>
                            </m:sup>
                          </m:sSubSup>
                        </m:e>
                      </m:rad>
                      <m:r>
                        <a:rPr lang="zh-CN" altLang="en-US" i="1">
                          <a:solidFill>
                            <a:srgbClr val="000000"/>
                          </a:solidFill>
                          <a:latin typeface="Cambria Math" panose="02040503050406030204" pitchFamily="18" charset="0"/>
                        </a:rPr>
                        <m:t>=6.14×1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−2</m:t>
                          </m:r>
                        </m:sup>
                      </m:sSup>
                      <m:r>
                        <m:rPr>
                          <m:nor/>
                        </m:rPr>
                        <a:rPr lang="zh-CN" altLang="en-US" i="0">
                          <a:solidFill>
                            <a:srgbClr val="000000"/>
                          </a:solidFill>
                          <a:latin typeface="Cambria Math" panose="02040503050406030204" pitchFamily="18" charset="0"/>
                        </a:rPr>
                        <m:t>Ns</m:t>
                      </m:r>
                    </m:oMath>
                  </m:oMathPara>
                </a14:m>
                <a:endParaRPr lang="zh-CN" altLang="en-US"/>
              </a:p>
            </p:txBody>
          </p:sp>
        </mc:Choice>
        <mc:Fallback xmlns="">
          <p:sp>
            <p:nvSpPr>
              <p:cNvPr id="103430" name="Object 6"/>
              <p:cNvSpPr txBox="1">
                <a:spLocks noRot="1" noChangeAspect="1" noMove="1" noResize="1" noEditPoints="1" noAdjustHandles="1" noChangeArrowheads="1" noChangeShapeType="1" noTextEdit="1"/>
              </p:cNvSpPr>
              <p:nvPr/>
            </p:nvSpPr>
            <p:spPr bwMode="auto">
              <a:xfrm>
                <a:off x="457200" y="3971925"/>
                <a:ext cx="6019800" cy="919163"/>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431" name="Object 7"/>
              <p:cNvSpPr txBox="1"/>
              <p:nvPr/>
            </p:nvSpPr>
            <p:spPr bwMode="auto">
              <a:xfrm>
                <a:off x="477838" y="3057525"/>
                <a:ext cx="5237162" cy="7175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=0.061</m:t>
                      </m:r>
                      <m:r>
                        <m:rPr>
                          <m:nor/>
                        </m:rPr>
                        <a:rPr lang="zh-CN" altLang="en-US" i="0">
                          <a:solidFill>
                            <a:srgbClr val="000000"/>
                          </a:solidFill>
                          <a:latin typeface="Cambria Math" panose="02040503050406030204" pitchFamily="18" charset="0"/>
                        </a:rPr>
                        <m:t>Ns</m:t>
                      </m:r>
                      <m:r>
                        <m:rPr>
                          <m:nor/>
                        </m:rP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=0.007</m:t>
                      </m:r>
                      <m:r>
                        <m:rPr>
                          <m:nor/>
                        </m:rPr>
                        <a:rPr lang="zh-CN" altLang="en-US" i="0">
                          <a:solidFill>
                            <a:srgbClr val="000000"/>
                          </a:solidFill>
                          <a:latin typeface="Cambria Math" panose="02040503050406030204" pitchFamily="18" charset="0"/>
                        </a:rPr>
                        <m:t>Ns</m:t>
                      </m:r>
                    </m:oMath>
                  </m:oMathPara>
                </a14:m>
                <a:endParaRPr lang="zh-CN" altLang="en-US"/>
              </a:p>
            </p:txBody>
          </p:sp>
        </mc:Choice>
        <mc:Fallback xmlns="">
          <p:sp>
            <p:nvSpPr>
              <p:cNvPr id="103431" name="Object 7"/>
              <p:cNvSpPr txBox="1">
                <a:spLocks noRot="1" noChangeAspect="1" noMove="1" noResize="1" noEditPoints="1" noAdjustHandles="1" noChangeArrowheads="1" noChangeShapeType="1" noTextEdit="1"/>
              </p:cNvSpPr>
              <p:nvPr/>
            </p:nvSpPr>
            <p:spPr bwMode="auto">
              <a:xfrm>
                <a:off x="477838" y="3057525"/>
                <a:ext cx="5237162" cy="717550"/>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432" name="Object 8"/>
              <p:cNvSpPr txBox="1"/>
              <p:nvPr/>
            </p:nvSpPr>
            <p:spPr bwMode="auto">
              <a:xfrm>
                <a:off x="609600" y="5876925"/>
                <a:ext cx="1828800" cy="6096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6.5</m:t>
                      </m:r>
                      <m:sSup>
                        <m:sSupPr>
                          <m:ctrlPr>
                            <a:rPr lang="zh-CN" altLang="en-US" i="1">
                              <a:solidFill>
                                <a:srgbClr val="000000"/>
                              </a:solidFill>
                              <a:latin typeface="Cambria Math" panose="02040503050406030204" pitchFamily="18" charset="0"/>
                            </a:rPr>
                          </m:ctrlPr>
                        </m:sSupPr>
                        <m:e>
                          <m:r>
                            <m:rPr>
                              <m:nor/>
                            </m:rPr>
                            <a:rPr lang="zh-CN" altLang="en-US" i="0">
                              <a:solidFill>
                                <a:srgbClr val="000000"/>
                              </a:solidFill>
                              <a:latin typeface="Cambria Math" panose="02040503050406030204" pitchFamily="18" charset="0"/>
                            </a:rPr>
                            <m:t>4</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xmlns="">
          <p:sp>
            <p:nvSpPr>
              <p:cNvPr id="103432" name="Object 8"/>
              <p:cNvSpPr txBox="1">
                <a:spLocks noRot="1" noChangeAspect="1" noMove="1" noResize="1" noEditPoints="1" noAdjustHandles="1" noChangeArrowheads="1" noChangeShapeType="1" noTextEdit="1"/>
              </p:cNvSpPr>
              <p:nvPr/>
            </p:nvSpPr>
            <p:spPr bwMode="auto">
              <a:xfrm>
                <a:off x="609600" y="5876925"/>
                <a:ext cx="1828800" cy="609600"/>
              </a:xfrm>
              <a:prstGeom prst="rect">
                <a:avLst/>
              </a:prstGeom>
              <a:blipFill>
                <a:blip r:embed="rId7"/>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433" name="Object 9"/>
              <p:cNvSpPr txBox="1"/>
              <p:nvPr/>
            </p:nvSpPr>
            <p:spPr bwMode="auto">
              <a:xfrm>
                <a:off x="484188" y="-100013"/>
                <a:ext cx="7759700" cy="1550988"/>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𝑑𝑡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3</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4</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𝑥</m:t>
                              </m:r>
                            </m:sub>
                          </m:sSub>
                        </m:e>
                      </m:ba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𝑑𝑡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3</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4</m:t>
                          </m:r>
                        </m:e>
                      </m:fun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𝑦</m:t>
                              </m:r>
                            </m:sub>
                          </m:sSub>
                        </m:e>
                      </m:ba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𝑡</m:t>
                      </m:r>
                    </m:oMath>
                  </m:oMathPara>
                </a14:m>
                <a:endParaRPr lang="zh-CN" altLang="en-US"/>
              </a:p>
            </p:txBody>
          </p:sp>
        </mc:Choice>
        <mc:Fallback xmlns="">
          <p:sp>
            <p:nvSpPr>
              <p:cNvPr id="103433" name="Object 9"/>
              <p:cNvSpPr txBox="1">
                <a:spLocks noRot="1" noChangeAspect="1" noMove="1" noResize="1" noEditPoints="1" noAdjustHandles="1" noChangeArrowheads="1" noChangeShapeType="1" noTextEdit="1"/>
              </p:cNvSpPr>
              <p:nvPr/>
            </p:nvSpPr>
            <p:spPr bwMode="auto">
              <a:xfrm>
                <a:off x="484188" y="-100013"/>
                <a:ext cx="7759700" cy="1550988"/>
              </a:xfrm>
              <a:prstGeom prst="rect">
                <a:avLst/>
              </a:prstGeom>
              <a:blipFill>
                <a:blip r:embed="rId8"/>
                <a:stretch>
                  <a:fillRect/>
                </a:stretch>
              </a:blipFill>
              <a:ln>
                <a:noFill/>
              </a:ln>
              <a:effectLst/>
              <a:extLst/>
            </p:spPr>
            <p:txBody>
              <a:bodyPr/>
              <a:lstStyle/>
              <a:p>
                <a:r>
                  <a:rPr lang="zh-CN" altLang="en-US">
                    <a:noFill/>
                  </a:rPr>
                  <a:t> </a:t>
                </a:r>
              </a:p>
            </p:txBody>
          </p:sp>
        </mc:Fallback>
      </mc:AlternateContent>
      <p:grpSp>
        <p:nvGrpSpPr>
          <p:cNvPr id="2" name="Group 10"/>
          <p:cNvGrpSpPr>
            <a:grpSpLocks/>
          </p:cNvGrpSpPr>
          <p:nvPr/>
        </p:nvGrpSpPr>
        <p:grpSpPr bwMode="auto">
          <a:xfrm>
            <a:off x="6705600" y="3651250"/>
            <a:ext cx="2225675" cy="2514600"/>
            <a:chOff x="3648" y="144"/>
            <a:chExt cx="1785" cy="1968"/>
          </a:xfrm>
        </p:grpSpPr>
        <p:grpSp>
          <p:nvGrpSpPr>
            <p:cNvPr id="22539" name="Group 11"/>
            <p:cNvGrpSpPr>
              <a:grpSpLocks/>
            </p:cNvGrpSpPr>
            <p:nvPr/>
          </p:nvGrpSpPr>
          <p:grpSpPr bwMode="auto">
            <a:xfrm>
              <a:off x="3840" y="144"/>
              <a:ext cx="1593" cy="1968"/>
              <a:chOff x="3840" y="144"/>
              <a:chExt cx="1593" cy="1968"/>
            </a:xfrm>
          </p:grpSpPr>
          <p:sp>
            <p:nvSpPr>
              <p:cNvPr id="22545" name="Rectangle 12" descr="宽上对角线"/>
              <p:cNvSpPr>
                <a:spLocks noChangeArrowheads="1"/>
              </p:cNvSpPr>
              <p:nvPr/>
            </p:nvSpPr>
            <p:spPr bwMode="auto">
              <a:xfrm>
                <a:off x="3840" y="144"/>
                <a:ext cx="144" cy="1968"/>
              </a:xfrm>
              <a:prstGeom prst="rect">
                <a:avLst/>
              </a:prstGeom>
              <a:pattFill prst="wdUpDiag">
                <a:fgClr>
                  <a:schemeClr val="tx2"/>
                </a:fgClr>
                <a:bgClr>
                  <a:srgbClr val="FF9900"/>
                </a:bgClr>
              </a:pattFill>
              <a:ln w="9525">
                <a:solidFill>
                  <a:schemeClr val="tx2"/>
                </a:solidFill>
                <a:miter lim="800000"/>
                <a:headEnd/>
                <a:tailEnd/>
              </a:ln>
            </p:spPr>
            <p:txBody>
              <a:bodyPr wrap="none" anchor="ctr"/>
              <a:lstStyle/>
              <a:p>
                <a:pPr algn="ctr"/>
                <a:endParaRPr lang="en-US" altLang="zh-CN" b="1" i="1">
                  <a:ea typeface="宋体" pitchFamily="2" charset="-122"/>
                </a:endParaRPr>
              </a:p>
            </p:txBody>
          </p:sp>
          <p:sp>
            <p:nvSpPr>
              <p:cNvPr id="22546" name="Line 13"/>
              <p:cNvSpPr>
                <a:spLocks noChangeShapeType="1"/>
              </p:cNvSpPr>
              <p:nvPr/>
            </p:nvSpPr>
            <p:spPr bwMode="auto">
              <a:xfrm>
                <a:off x="3984" y="1152"/>
                <a:ext cx="13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7" name="Line 14"/>
              <p:cNvSpPr>
                <a:spLocks noChangeShapeType="1"/>
              </p:cNvSpPr>
              <p:nvPr/>
            </p:nvSpPr>
            <p:spPr bwMode="auto">
              <a:xfrm>
                <a:off x="3984" y="1152"/>
                <a:ext cx="96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8" name="Oval 15"/>
              <p:cNvSpPr>
                <a:spLocks noChangeArrowheads="1"/>
              </p:cNvSpPr>
              <p:nvPr/>
            </p:nvSpPr>
            <p:spPr bwMode="auto">
              <a:xfrm>
                <a:off x="4896" y="1824"/>
                <a:ext cx="192" cy="192"/>
              </a:xfrm>
              <a:prstGeom prst="ellipse">
                <a:avLst/>
              </a:prstGeom>
              <a:solidFill>
                <a:srgbClr val="FFFF00"/>
              </a:solidFill>
              <a:ln w="9525">
                <a:solidFill>
                  <a:schemeClr val="tx1"/>
                </a:solidFill>
                <a:round/>
                <a:headEnd/>
                <a:tailEnd/>
              </a:ln>
            </p:spPr>
            <p:txBody>
              <a:bodyPr wrap="none" anchor="ctr"/>
              <a:lstStyle/>
              <a:p>
                <a:pPr>
                  <a:spcBef>
                    <a:spcPct val="20000"/>
                  </a:spcBef>
                </a:pPr>
                <a:endParaRPr lang="en-US" altLang="zh-CN"/>
              </a:p>
            </p:txBody>
          </p:sp>
          <p:sp>
            <p:nvSpPr>
              <p:cNvPr id="22549" name="Rectangle 16"/>
              <p:cNvSpPr>
                <a:spLocks noChangeArrowheads="1"/>
              </p:cNvSpPr>
              <p:nvPr/>
            </p:nvSpPr>
            <p:spPr bwMode="auto">
              <a:xfrm>
                <a:off x="4369" y="1200"/>
                <a:ext cx="473"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45</a:t>
                </a:r>
                <a:r>
                  <a:rPr lang="en-US" altLang="zh-CN" b="1" i="1" baseline="30000">
                    <a:ea typeface="宋体" pitchFamily="2" charset="-122"/>
                  </a:rPr>
                  <a:t>o</a:t>
                </a:r>
              </a:p>
            </p:txBody>
          </p:sp>
          <p:sp>
            <p:nvSpPr>
              <p:cNvPr id="22550" name="Rectangle 17"/>
              <p:cNvSpPr>
                <a:spLocks noChangeArrowheads="1"/>
              </p:cNvSpPr>
              <p:nvPr/>
            </p:nvSpPr>
            <p:spPr bwMode="auto">
              <a:xfrm>
                <a:off x="4320" y="865"/>
                <a:ext cx="53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 30</a:t>
                </a:r>
                <a:r>
                  <a:rPr lang="en-US" altLang="zh-CN" b="1" i="1" baseline="30000">
                    <a:ea typeface="宋体" pitchFamily="2" charset="-122"/>
                  </a:rPr>
                  <a:t>o</a:t>
                </a:r>
              </a:p>
            </p:txBody>
          </p:sp>
          <p:sp>
            <p:nvSpPr>
              <p:cNvPr id="22551" name="Rectangle 18"/>
              <p:cNvSpPr>
                <a:spLocks noChangeArrowheads="1"/>
              </p:cNvSpPr>
              <p:nvPr/>
            </p:nvSpPr>
            <p:spPr bwMode="auto">
              <a:xfrm>
                <a:off x="5088" y="1152"/>
                <a:ext cx="34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i="1">
                    <a:ea typeface="宋体" pitchFamily="2" charset="-122"/>
                  </a:rPr>
                  <a:t> </a:t>
                </a:r>
                <a:r>
                  <a:rPr lang="en-US" altLang="zh-CN" b="1" i="1">
                    <a:ea typeface="宋体" pitchFamily="2" charset="-122"/>
                  </a:rPr>
                  <a:t>n</a:t>
                </a:r>
              </a:p>
            </p:txBody>
          </p:sp>
          <p:grpSp>
            <p:nvGrpSpPr>
              <p:cNvPr id="22552" name="Group 19"/>
              <p:cNvGrpSpPr>
                <a:grpSpLocks/>
              </p:cNvGrpSpPr>
              <p:nvPr/>
            </p:nvGrpSpPr>
            <p:grpSpPr bwMode="auto">
              <a:xfrm>
                <a:off x="3984" y="479"/>
                <a:ext cx="961" cy="1560"/>
                <a:chOff x="3984" y="479"/>
                <a:chExt cx="961" cy="1560"/>
              </a:xfrm>
            </p:grpSpPr>
            <p:sp>
              <p:nvSpPr>
                <p:cNvPr id="22553" name="Line 20"/>
                <p:cNvSpPr>
                  <a:spLocks noChangeShapeType="1"/>
                </p:cNvSpPr>
                <p:nvPr/>
              </p:nvSpPr>
              <p:spPr bwMode="auto">
                <a:xfrm rot="-377056" flipH="1" flipV="1">
                  <a:off x="4608" y="1632"/>
                  <a:ext cx="288"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4" name="Line 21"/>
                <p:cNvSpPr>
                  <a:spLocks noChangeShapeType="1"/>
                </p:cNvSpPr>
                <p:nvPr/>
              </p:nvSpPr>
              <p:spPr bwMode="auto">
                <a:xfrm flipV="1">
                  <a:off x="3984" y="768"/>
                  <a:ext cx="720" cy="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5" name="Rectangle 22"/>
                <p:cNvSpPr>
                  <a:spLocks noChangeArrowheads="1"/>
                </p:cNvSpPr>
                <p:nvPr/>
              </p:nvSpPr>
              <p:spPr bwMode="auto">
                <a:xfrm>
                  <a:off x="4416" y="479"/>
                  <a:ext cx="337"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i="1">
                      <a:ea typeface="宋体" pitchFamily="2" charset="-122"/>
                    </a:rPr>
                    <a:t>v</a:t>
                  </a:r>
                  <a:r>
                    <a:rPr lang="en-US" altLang="zh-CN" b="1" i="1" baseline="-25000">
                      <a:ea typeface="宋体" pitchFamily="2" charset="-122"/>
                    </a:rPr>
                    <a:t>2</a:t>
                  </a:r>
                </a:p>
              </p:txBody>
            </p:sp>
            <p:sp>
              <p:nvSpPr>
                <p:cNvPr id="22556" name="Rectangle 23"/>
                <p:cNvSpPr>
                  <a:spLocks noChangeArrowheads="1"/>
                </p:cNvSpPr>
                <p:nvPr/>
              </p:nvSpPr>
              <p:spPr bwMode="auto">
                <a:xfrm>
                  <a:off x="4608" y="1681"/>
                  <a:ext cx="337"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i="1">
                      <a:ea typeface="宋体" pitchFamily="2" charset="-122"/>
                    </a:rPr>
                    <a:t>v</a:t>
                  </a:r>
                  <a:r>
                    <a:rPr lang="en-US" altLang="zh-CN" b="1" i="1" baseline="-25000">
                      <a:ea typeface="宋体" pitchFamily="2" charset="-122"/>
                    </a:rPr>
                    <a:t>1</a:t>
                  </a:r>
                </a:p>
              </p:txBody>
            </p:sp>
          </p:grpSp>
        </p:grpSp>
        <p:sp>
          <p:nvSpPr>
            <p:cNvPr id="22540" name="Line 24"/>
            <p:cNvSpPr>
              <a:spLocks noChangeShapeType="1"/>
            </p:cNvSpPr>
            <p:nvPr/>
          </p:nvSpPr>
          <p:spPr bwMode="auto">
            <a:xfrm>
              <a:off x="3984" y="1152"/>
              <a:ext cx="91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1" name="Line 25"/>
            <p:cNvSpPr>
              <a:spLocks noChangeShapeType="1"/>
            </p:cNvSpPr>
            <p:nvPr/>
          </p:nvSpPr>
          <p:spPr bwMode="auto">
            <a:xfrm flipV="1">
              <a:off x="3984" y="528"/>
              <a:ext cx="0" cy="62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2" name="Text Box 26"/>
            <p:cNvSpPr txBox="1">
              <a:spLocks noChangeArrowheads="1"/>
            </p:cNvSpPr>
            <p:nvPr/>
          </p:nvSpPr>
          <p:spPr bwMode="auto">
            <a:xfrm>
              <a:off x="3648" y="960"/>
              <a:ext cx="384"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solidFill>
                    <a:srgbClr val="CCFFCC"/>
                  </a:solidFill>
                  <a:ea typeface="宋体" pitchFamily="2" charset="-122"/>
                </a:rPr>
                <a:t>O</a:t>
              </a:r>
              <a:endParaRPr lang="en-US" altLang="zh-CN" i="1">
                <a:solidFill>
                  <a:srgbClr val="CCFFCC"/>
                </a:solidFill>
                <a:ea typeface="宋体" pitchFamily="2" charset="-122"/>
              </a:endParaRPr>
            </a:p>
          </p:txBody>
        </p:sp>
        <p:sp>
          <p:nvSpPr>
            <p:cNvPr id="22543" name="Text Box 27"/>
            <p:cNvSpPr txBox="1">
              <a:spLocks noChangeArrowheads="1"/>
            </p:cNvSpPr>
            <p:nvPr/>
          </p:nvSpPr>
          <p:spPr bwMode="auto">
            <a:xfrm>
              <a:off x="4656" y="1152"/>
              <a:ext cx="288"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solidFill>
                    <a:srgbClr val="FF0000"/>
                  </a:solidFill>
                  <a:ea typeface="宋体" pitchFamily="2" charset="-122"/>
                </a:rPr>
                <a:t>x</a:t>
              </a:r>
              <a:endParaRPr lang="en-US" altLang="zh-CN" b="1" i="1">
                <a:solidFill>
                  <a:srgbClr val="CCFFCC"/>
                </a:solidFill>
                <a:ea typeface="宋体" pitchFamily="2" charset="-122"/>
              </a:endParaRPr>
            </a:p>
          </p:txBody>
        </p:sp>
        <p:sp>
          <p:nvSpPr>
            <p:cNvPr id="22544" name="Text Box 28"/>
            <p:cNvSpPr txBox="1">
              <a:spLocks noChangeArrowheads="1"/>
            </p:cNvSpPr>
            <p:nvPr/>
          </p:nvSpPr>
          <p:spPr bwMode="auto">
            <a:xfrm>
              <a:off x="3984" y="384"/>
              <a:ext cx="336"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b="1" i="1">
                  <a:solidFill>
                    <a:srgbClr val="FF0000"/>
                  </a:solidFill>
                  <a:ea typeface="宋体" pitchFamily="2" charset="-122"/>
                </a:rPr>
                <a:t>y</a:t>
              </a:r>
              <a:endParaRPr lang="en-US" altLang="zh-CN" b="1" i="1">
                <a:solidFill>
                  <a:srgbClr val="CCFFCC"/>
                </a:solidFill>
                <a:ea typeface="宋体" pitchFamily="2" charset="-122"/>
              </a:endParaRPr>
            </a:p>
          </p:txBody>
        </p:sp>
      </p:grpSp>
      <p:cxnSp>
        <p:nvCxnSpPr>
          <p:cNvPr id="4" name="直接箭头连接符 3">
            <a:extLst>
              <a:ext uri="{FF2B5EF4-FFF2-40B4-BE49-F238E27FC236}">
                <a16:creationId xmlns:a16="http://schemas.microsoft.com/office/drawing/2014/main" id="{CFAB3D84-FB6D-4D5E-9C48-E4B53D308DD6}"/>
              </a:ext>
            </a:extLst>
          </p:cNvPr>
          <p:cNvCxnSpPr>
            <a:stCxn id="22540" idx="0"/>
          </p:cNvCxnSpPr>
          <p:nvPr/>
        </p:nvCxnSpPr>
        <p:spPr bwMode="auto">
          <a:xfrm flipV="1">
            <a:off x="7124551" y="4693889"/>
            <a:ext cx="1119337" cy="245327"/>
          </a:xfrm>
          <a:prstGeom prst="straightConnector1">
            <a:avLst/>
          </a:prstGeom>
          <a:noFill/>
          <a:ln w="38100" cap="flat" cmpd="sng" algn="ctr">
            <a:solidFill>
              <a:srgbClr val="3333FF"/>
            </a:solidFill>
            <a:prstDash val="solid"/>
            <a:round/>
            <a:headEnd type="none" w="med" len="med"/>
            <a:tailEnd type="triangle"/>
          </a:ln>
          <a:effectLst/>
        </p:spPr>
      </p:cxnSp>
      <p:sp>
        <p:nvSpPr>
          <p:cNvPr id="5" name="矩形 4">
            <a:extLst>
              <a:ext uri="{FF2B5EF4-FFF2-40B4-BE49-F238E27FC236}">
                <a16:creationId xmlns:a16="http://schemas.microsoft.com/office/drawing/2014/main" id="{C63FE463-8566-4A22-AD02-5759AF6C3DFE}"/>
              </a:ext>
            </a:extLst>
          </p:cNvPr>
          <p:cNvSpPr/>
          <p:nvPr/>
        </p:nvSpPr>
        <p:spPr>
          <a:xfrm>
            <a:off x="8244408" y="4365104"/>
            <a:ext cx="304892" cy="461665"/>
          </a:xfrm>
          <a:prstGeom prst="rect">
            <a:avLst/>
          </a:prstGeom>
        </p:spPr>
        <p:txBody>
          <a:bodyPr wrap="none">
            <a:spAutoFit/>
          </a:bodyPr>
          <a:lstStyle/>
          <a:p>
            <a:r>
              <a:rPr lang="en-US" altLang="zh-CN" b="1" i="1">
                <a:solidFill>
                  <a:srgbClr val="3333FF"/>
                </a:solidFill>
                <a:ea typeface="宋体" pitchFamily="2" charset="-122"/>
                <a:sym typeface="Symbol" pitchFamily="18" charset="2"/>
              </a:rPr>
              <a:t>I</a:t>
            </a:r>
            <a:endParaRPr lang="zh-CN" altLang="en-US">
              <a:solidFill>
                <a:srgbClr val="3333FF"/>
              </a:solidFill>
            </a:endParaRPr>
          </a:p>
        </p:txBody>
      </p:sp>
      <p:sp>
        <p:nvSpPr>
          <p:cNvPr id="6" name="矩形 5">
            <a:extLst>
              <a:ext uri="{FF2B5EF4-FFF2-40B4-BE49-F238E27FC236}">
                <a16:creationId xmlns:a16="http://schemas.microsoft.com/office/drawing/2014/main" id="{09EEC2F7-7D13-4046-9442-C67FFC1B5AC5}"/>
              </a:ext>
            </a:extLst>
          </p:cNvPr>
          <p:cNvSpPr/>
          <p:nvPr/>
        </p:nvSpPr>
        <p:spPr>
          <a:xfrm>
            <a:off x="8028384" y="4581128"/>
            <a:ext cx="378630" cy="461665"/>
          </a:xfrm>
          <a:prstGeom prst="rect">
            <a:avLst/>
          </a:prstGeom>
        </p:spPr>
        <p:txBody>
          <a:bodyPr wrap="none">
            <a:spAutoFit/>
          </a:bodyPr>
          <a:lstStyle/>
          <a:p>
            <a:r>
              <a:rPr lang="en-US" altLang="zh-CN" b="1" i="1">
                <a:solidFill>
                  <a:srgbClr val="3333FF"/>
                </a:solidFill>
                <a:ea typeface="宋体" pitchFamily="2" charset="-122"/>
                <a:sym typeface="Symbol" pitchFamily="18" charset="2"/>
              </a:rPr>
              <a:t></a:t>
            </a:r>
            <a:endParaRPr lang="zh-CN" altLang="en-US">
              <a:solidFill>
                <a:srgbClr val="3333FF"/>
              </a:solidFill>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28"/>
                                        </p:tgtEl>
                                        <p:attrNameLst>
                                          <p:attrName>style.visibility</p:attrName>
                                        </p:attrNameLst>
                                      </p:cBhvr>
                                      <p:to>
                                        <p:strVal val="visible"/>
                                      </p:to>
                                    </p:set>
                                    <p:animEffect transition="in" filter="wipe(left)">
                                      <p:cBhvr>
                                        <p:cTn id="12" dur="500"/>
                                        <p:tgtEl>
                                          <p:spTgt spid="10342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autoUpdateAnimBg="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2" name="Text Box 1026"/>
          <p:cNvSpPr txBox="1">
            <a:spLocks noChangeArrowheads="1"/>
          </p:cNvSpPr>
          <p:nvPr/>
        </p:nvSpPr>
        <p:spPr bwMode="auto">
          <a:xfrm>
            <a:off x="323850" y="188913"/>
            <a:ext cx="8499475"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en-US" altLang="zh-CN" sz="3200" b="1">
                <a:solidFill>
                  <a:srgbClr val="FF0000"/>
                </a:solidFill>
                <a:ea typeface="宋体" pitchFamily="2" charset="-122"/>
              </a:rPr>
              <a:t>[</a:t>
            </a:r>
            <a:r>
              <a:rPr lang="zh-CN" altLang="en-US" sz="3200" b="1">
                <a:solidFill>
                  <a:srgbClr val="FF0000"/>
                </a:solidFill>
                <a:ea typeface="宋体" pitchFamily="2" charset="-122"/>
              </a:rPr>
              <a:t>例</a:t>
            </a:r>
            <a:r>
              <a:rPr lang="en-US" altLang="zh-CN" sz="3200" b="1">
                <a:solidFill>
                  <a:srgbClr val="FF0000"/>
                </a:solidFill>
                <a:ea typeface="宋体" pitchFamily="2" charset="-122"/>
              </a:rPr>
              <a:t>3]</a:t>
            </a:r>
            <a:r>
              <a:rPr lang="zh-CN" altLang="en-US" sz="3200" b="1">
                <a:ea typeface="宋体" pitchFamily="2" charset="-122"/>
              </a:rPr>
              <a:t>一装煤车以速率</a:t>
            </a:r>
            <a:r>
              <a:rPr lang="en-US" altLang="zh-CN" sz="3200" b="1" i="1">
                <a:solidFill>
                  <a:srgbClr val="3333FF"/>
                </a:solidFill>
                <a:ea typeface="宋体" pitchFamily="2" charset="-122"/>
              </a:rPr>
              <a:t>v </a:t>
            </a:r>
            <a:r>
              <a:rPr lang="en-US" altLang="zh-CN" sz="3200" b="1">
                <a:solidFill>
                  <a:srgbClr val="3333FF"/>
                </a:solidFill>
                <a:ea typeface="宋体" pitchFamily="2" charset="-122"/>
              </a:rPr>
              <a:t>=3m/s</a:t>
            </a:r>
            <a:r>
              <a:rPr lang="zh-CN" altLang="en-US" sz="3200" b="1">
                <a:ea typeface="宋体" pitchFamily="2" charset="-122"/>
              </a:rPr>
              <a:t>从沙斗下通过。每秒钟落入车厢的煤为</a:t>
            </a:r>
            <a:r>
              <a:rPr lang="zh-CN" altLang="en-US" sz="3200" b="1">
                <a:solidFill>
                  <a:srgbClr val="3333FF"/>
                </a:solidFill>
                <a:ea typeface="宋体" pitchFamily="2" charset="-122"/>
                <a:sym typeface="Symbol" pitchFamily="18" charset="2"/>
              </a:rPr>
              <a:t></a:t>
            </a:r>
            <a:r>
              <a:rPr lang="en-US" altLang="zh-CN" sz="3200" b="1" i="1">
                <a:solidFill>
                  <a:srgbClr val="3333FF"/>
                </a:solidFill>
                <a:ea typeface="宋体" pitchFamily="2" charset="-122"/>
                <a:sym typeface="Symbol" pitchFamily="18" charset="2"/>
              </a:rPr>
              <a:t>m</a:t>
            </a:r>
            <a:r>
              <a:rPr lang="en-US" altLang="zh-CN" sz="3200" b="1">
                <a:solidFill>
                  <a:srgbClr val="3333FF"/>
                </a:solidFill>
                <a:ea typeface="宋体" pitchFamily="2" charset="-122"/>
                <a:sym typeface="Symbol" pitchFamily="18" charset="2"/>
              </a:rPr>
              <a:t>=500Kg</a:t>
            </a:r>
            <a:r>
              <a:rPr lang="zh-CN" altLang="en-US" sz="3200" b="1">
                <a:ea typeface="宋体" pitchFamily="2" charset="-122"/>
                <a:sym typeface="Symbol" pitchFamily="18" charset="2"/>
              </a:rPr>
              <a:t>，</a:t>
            </a:r>
            <a:r>
              <a:rPr lang="zh-CN" altLang="en-US" sz="3200" b="1">
                <a:ea typeface="宋体" pitchFamily="2" charset="-122"/>
              </a:rPr>
              <a:t>如果使车厢的速率保持不变，应用多大的牵引力？</a:t>
            </a:r>
            <a:r>
              <a:rPr lang="en-US" altLang="zh-CN" sz="3200" b="1">
                <a:ea typeface="宋体" pitchFamily="2" charset="-122"/>
              </a:rPr>
              <a:t>(</a:t>
            </a:r>
            <a:r>
              <a:rPr lang="zh-CN" altLang="en-US" sz="3200" b="1">
                <a:ea typeface="宋体" pitchFamily="2" charset="-122"/>
              </a:rPr>
              <a:t>车与轨道的摩擦不计</a:t>
            </a:r>
            <a:r>
              <a:rPr lang="en-US" altLang="zh-CN" sz="3200" b="1">
                <a:ea typeface="宋体" pitchFamily="2" charset="-122"/>
              </a:rPr>
              <a:t>)</a:t>
            </a:r>
          </a:p>
        </p:txBody>
      </p:sp>
      <p:grpSp>
        <p:nvGrpSpPr>
          <p:cNvPr id="2" name="Group 1027"/>
          <p:cNvGrpSpPr>
            <a:grpSpLocks/>
          </p:cNvGrpSpPr>
          <p:nvPr/>
        </p:nvGrpSpPr>
        <p:grpSpPr bwMode="auto">
          <a:xfrm>
            <a:off x="4211638" y="1844675"/>
            <a:ext cx="4859337" cy="2305050"/>
            <a:chOff x="2160" y="1872"/>
            <a:chExt cx="3420" cy="1644"/>
          </a:xfrm>
        </p:grpSpPr>
        <p:grpSp>
          <p:nvGrpSpPr>
            <p:cNvPr id="23568" name="Group 1028"/>
            <p:cNvGrpSpPr>
              <a:grpSpLocks/>
            </p:cNvGrpSpPr>
            <p:nvPr/>
          </p:nvGrpSpPr>
          <p:grpSpPr bwMode="auto">
            <a:xfrm>
              <a:off x="2160" y="1872"/>
              <a:ext cx="3192" cy="1644"/>
              <a:chOff x="2340" y="2376"/>
              <a:chExt cx="3192" cy="1644"/>
            </a:xfrm>
          </p:grpSpPr>
          <p:sp>
            <p:nvSpPr>
              <p:cNvPr id="23572" name="Rectangle 1029"/>
              <p:cNvSpPr>
                <a:spLocks noChangeArrowheads="1"/>
              </p:cNvSpPr>
              <p:nvPr/>
            </p:nvSpPr>
            <p:spPr bwMode="auto">
              <a:xfrm>
                <a:off x="2340" y="3948"/>
                <a:ext cx="3192" cy="72"/>
              </a:xfrm>
              <a:prstGeom prst="rect">
                <a:avLst/>
              </a:prstGeom>
              <a:solidFill>
                <a:srgbClr val="CCFFCC"/>
              </a:solidFill>
              <a:ln w="12700">
                <a:solidFill>
                  <a:schemeClr val="tx1"/>
                </a:solidFill>
                <a:miter lim="800000"/>
                <a:headEnd type="none" w="sm" len="sm"/>
                <a:tailEnd type="none" w="sm" len="sm"/>
              </a:ln>
            </p:spPr>
            <p:txBody>
              <a:bodyPr wrap="none" anchor="ctr"/>
              <a:lstStyle/>
              <a:p>
                <a:pPr>
                  <a:spcBef>
                    <a:spcPct val="20000"/>
                  </a:spcBef>
                </a:pPr>
                <a:endParaRPr lang="en-US" altLang="zh-CN"/>
              </a:p>
            </p:txBody>
          </p:sp>
          <p:sp>
            <p:nvSpPr>
              <p:cNvPr id="23573" name="Rectangle 1030"/>
              <p:cNvSpPr>
                <a:spLocks noChangeArrowheads="1"/>
              </p:cNvSpPr>
              <p:nvPr/>
            </p:nvSpPr>
            <p:spPr bwMode="auto">
              <a:xfrm>
                <a:off x="2448" y="3084"/>
                <a:ext cx="1956" cy="672"/>
              </a:xfrm>
              <a:prstGeom prst="rect">
                <a:avLst/>
              </a:prstGeom>
              <a:solidFill>
                <a:schemeClr val="accent1"/>
              </a:solidFill>
              <a:ln w="12700">
                <a:solidFill>
                  <a:schemeClr val="tx1"/>
                </a:solidFill>
                <a:miter lim="800000"/>
                <a:headEnd type="none" w="sm" len="sm"/>
                <a:tailEnd type="none" w="sm" len="sm"/>
              </a:ln>
            </p:spPr>
            <p:txBody>
              <a:bodyPr wrap="none" anchor="ctr"/>
              <a:lstStyle/>
              <a:p>
                <a:pPr>
                  <a:spcBef>
                    <a:spcPct val="20000"/>
                  </a:spcBef>
                </a:pPr>
                <a:endParaRPr lang="en-US" altLang="zh-CN"/>
              </a:p>
            </p:txBody>
          </p:sp>
          <p:sp>
            <p:nvSpPr>
              <p:cNvPr id="23574" name="Oval 1031"/>
              <p:cNvSpPr>
                <a:spLocks noChangeArrowheads="1"/>
              </p:cNvSpPr>
              <p:nvPr/>
            </p:nvSpPr>
            <p:spPr bwMode="auto">
              <a:xfrm>
                <a:off x="2748" y="3624"/>
                <a:ext cx="300" cy="304"/>
              </a:xfrm>
              <a:prstGeom prst="ellipse">
                <a:avLst/>
              </a:prstGeom>
              <a:solidFill>
                <a:schemeClr val="hlink"/>
              </a:solidFill>
              <a:ln w="12700">
                <a:solidFill>
                  <a:schemeClr val="tx1"/>
                </a:solidFill>
                <a:round/>
                <a:headEnd type="none" w="sm" len="sm"/>
                <a:tailEnd type="none" w="sm" len="sm"/>
              </a:ln>
            </p:spPr>
            <p:txBody>
              <a:bodyPr wrap="none" anchor="ctr"/>
              <a:lstStyle/>
              <a:p>
                <a:pPr>
                  <a:spcBef>
                    <a:spcPct val="20000"/>
                  </a:spcBef>
                </a:pPr>
                <a:endParaRPr lang="en-US" altLang="zh-CN"/>
              </a:p>
            </p:txBody>
          </p:sp>
          <p:grpSp>
            <p:nvGrpSpPr>
              <p:cNvPr id="23575" name="Group 1032"/>
              <p:cNvGrpSpPr>
                <a:grpSpLocks/>
              </p:cNvGrpSpPr>
              <p:nvPr/>
            </p:nvGrpSpPr>
            <p:grpSpPr bwMode="auto">
              <a:xfrm>
                <a:off x="3996" y="2588"/>
                <a:ext cx="444" cy="487"/>
                <a:chOff x="4452" y="2960"/>
                <a:chExt cx="444" cy="487"/>
              </a:xfrm>
            </p:grpSpPr>
            <p:sp>
              <p:nvSpPr>
                <p:cNvPr id="23597" name="Line 1033"/>
                <p:cNvSpPr>
                  <a:spLocks noChangeShapeType="1"/>
                </p:cNvSpPr>
                <p:nvPr/>
              </p:nvSpPr>
              <p:spPr bwMode="auto">
                <a:xfrm>
                  <a:off x="4452" y="3420"/>
                  <a:ext cx="444" cy="0"/>
                </a:xfrm>
                <a:prstGeom prst="line">
                  <a:avLst/>
                </a:prstGeom>
                <a:noFill/>
                <a:ln w="38100">
                  <a:solidFill>
                    <a:schemeClr val="tx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3561" name="Object 1034"/>
                    <p:cNvSpPr txBox="1"/>
                    <p:nvPr/>
                  </p:nvSpPr>
                  <p:spPr bwMode="auto">
                    <a:xfrm>
                      <a:off x="4460" y="2960"/>
                      <a:ext cx="374" cy="48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oMath>
                        </m:oMathPara>
                      </a14:m>
                      <a:endParaRPr lang="zh-CN" altLang="en-US"/>
                    </a:p>
                  </p:txBody>
                </p:sp>
              </mc:Choice>
              <mc:Fallback xmlns="">
                <p:sp>
                  <p:nvSpPr>
                    <p:cNvPr id="23561" name="Object 1034"/>
                    <p:cNvSpPr txBox="1">
                      <a:spLocks noRot="1" noChangeAspect="1" noMove="1" noResize="1" noEditPoints="1" noAdjustHandles="1" noChangeArrowheads="1" noChangeShapeType="1" noTextEdit="1"/>
                    </p:cNvSpPr>
                    <p:nvPr/>
                  </p:nvSpPr>
                  <p:spPr bwMode="auto">
                    <a:xfrm>
                      <a:off x="4460" y="2960"/>
                      <a:ext cx="374" cy="487"/>
                    </a:xfrm>
                    <a:prstGeom prst="rect">
                      <a:avLst/>
                    </a:prstGeom>
                    <a:blipFill>
                      <a:blip r:embed="rId2"/>
                      <a:stretch>
                        <a:fillRect t="-893" r="-25287"/>
                      </a:stretch>
                    </a:blipFill>
                    <a:ln>
                      <a:noFill/>
                    </a:ln>
                    <a:effectLst/>
                    <a:extLst/>
                  </p:spPr>
                  <p:txBody>
                    <a:bodyPr/>
                    <a:lstStyle/>
                    <a:p>
                      <a:r>
                        <a:rPr lang="zh-CN" altLang="en-US">
                          <a:noFill/>
                        </a:rPr>
                        <a:t> </a:t>
                      </a:r>
                    </a:p>
                  </p:txBody>
                </p:sp>
              </mc:Fallback>
            </mc:AlternateContent>
          </p:grpSp>
          <p:sp>
            <p:nvSpPr>
              <p:cNvPr id="23576" name="Freeform 1035" descr="20%"/>
              <p:cNvSpPr>
                <a:spLocks/>
              </p:cNvSpPr>
              <p:nvPr/>
            </p:nvSpPr>
            <p:spPr bwMode="auto">
              <a:xfrm>
                <a:off x="3216" y="3288"/>
                <a:ext cx="1176" cy="468"/>
              </a:xfrm>
              <a:custGeom>
                <a:avLst/>
                <a:gdLst>
                  <a:gd name="T0" fmla="*/ 1176 w 1176"/>
                  <a:gd name="T1" fmla="*/ 216 h 468"/>
                  <a:gd name="T2" fmla="*/ 648 w 1176"/>
                  <a:gd name="T3" fmla="*/ 0 h 468"/>
                  <a:gd name="T4" fmla="*/ 432 w 1176"/>
                  <a:gd name="T5" fmla="*/ 0 h 468"/>
                  <a:gd name="T6" fmla="*/ 120 w 1176"/>
                  <a:gd name="T7" fmla="*/ 288 h 468"/>
                  <a:gd name="T8" fmla="*/ 84 w 1176"/>
                  <a:gd name="T9" fmla="*/ 372 h 468"/>
                  <a:gd name="T10" fmla="*/ 0 w 1176"/>
                  <a:gd name="T11" fmla="*/ 468 h 468"/>
                  <a:gd name="T12" fmla="*/ 1164 w 1176"/>
                  <a:gd name="T13" fmla="*/ 468 h 468"/>
                  <a:gd name="T14" fmla="*/ 1176 w 1176"/>
                  <a:gd name="T15" fmla="*/ 216 h 468"/>
                  <a:gd name="T16" fmla="*/ 0 60000 65536"/>
                  <a:gd name="T17" fmla="*/ 0 60000 65536"/>
                  <a:gd name="T18" fmla="*/ 0 60000 65536"/>
                  <a:gd name="T19" fmla="*/ 0 60000 65536"/>
                  <a:gd name="T20" fmla="*/ 0 60000 65536"/>
                  <a:gd name="T21" fmla="*/ 0 60000 65536"/>
                  <a:gd name="T22" fmla="*/ 0 60000 65536"/>
                  <a:gd name="T23" fmla="*/ 0 60000 65536"/>
                  <a:gd name="T24" fmla="*/ 0 w 1176"/>
                  <a:gd name="T25" fmla="*/ 0 h 468"/>
                  <a:gd name="T26" fmla="*/ 1176 w 1176"/>
                  <a:gd name="T27" fmla="*/ 468 h 4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6" h="468">
                    <a:moveTo>
                      <a:pt x="1176" y="216"/>
                    </a:moveTo>
                    <a:lnTo>
                      <a:pt x="648" y="0"/>
                    </a:lnTo>
                    <a:lnTo>
                      <a:pt x="432" y="0"/>
                    </a:lnTo>
                    <a:lnTo>
                      <a:pt x="120" y="288"/>
                    </a:lnTo>
                    <a:lnTo>
                      <a:pt x="84" y="372"/>
                    </a:lnTo>
                    <a:lnTo>
                      <a:pt x="0" y="468"/>
                    </a:lnTo>
                    <a:lnTo>
                      <a:pt x="1164" y="468"/>
                    </a:lnTo>
                    <a:lnTo>
                      <a:pt x="1176" y="216"/>
                    </a:lnTo>
                    <a:close/>
                  </a:path>
                </a:pathLst>
              </a:custGeom>
              <a:pattFill prst="pct20">
                <a:fgClr>
                  <a:schemeClr val="folHlink"/>
                </a:fgClr>
                <a:bgClr>
                  <a:srgbClr val="FFFF99"/>
                </a:bgClr>
              </a:pattFill>
              <a:ln w="12700" cap="flat" cmpd="sng">
                <a:solidFill>
                  <a:schemeClr val="tx1"/>
                </a:solidFill>
                <a:prstDash val="solid"/>
                <a:round/>
                <a:headEnd type="none" w="sm" len="sm"/>
                <a:tailEnd type="none" w="sm" len="sm"/>
              </a:ln>
            </p:spPr>
            <p:txBody>
              <a:bodyPr wrap="none" anchor="ctr"/>
              <a:lstStyle/>
              <a:p>
                <a:endParaRPr lang="zh-CN" altLang="en-US"/>
              </a:p>
            </p:txBody>
          </p:sp>
          <p:grpSp>
            <p:nvGrpSpPr>
              <p:cNvPr id="23577" name="Group 1036"/>
              <p:cNvGrpSpPr>
                <a:grpSpLocks/>
              </p:cNvGrpSpPr>
              <p:nvPr/>
            </p:nvGrpSpPr>
            <p:grpSpPr bwMode="auto">
              <a:xfrm>
                <a:off x="3480" y="2376"/>
                <a:ext cx="468" cy="888"/>
                <a:chOff x="3480" y="2376"/>
                <a:chExt cx="468" cy="888"/>
              </a:xfrm>
            </p:grpSpPr>
            <p:grpSp>
              <p:nvGrpSpPr>
                <p:cNvPr id="23579" name="Group 1037"/>
                <p:cNvGrpSpPr>
                  <a:grpSpLocks/>
                </p:cNvGrpSpPr>
                <p:nvPr/>
              </p:nvGrpSpPr>
              <p:grpSpPr bwMode="auto">
                <a:xfrm>
                  <a:off x="3480" y="2376"/>
                  <a:ext cx="468" cy="468"/>
                  <a:chOff x="2904" y="2388"/>
                  <a:chExt cx="468" cy="468"/>
                </a:xfrm>
              </p:grpSpPr>
              <p:sp>
                <p:nvSpPr>
                  <p:cNvPr id="23595" name="Freeform 1038"/>
                  <p:cNvSpPr>
                    <a:spLocks/>
                  </p:cNvSpPr>
                  <p:nvPr/>
                </p:nvSpPr>
                <p:spPr bwMode="auto">
                  <a:xfrm>
                    <a:off x="2904" y="2388"/>
                    <a:ext cx="144" cy="468"/>
                  </a:xfrm>
                  <a:custGeom>
                    <a:avLst/>
                    <a:gdLst>
                      <a:gd name="T0" fmla="*/ 0 w 144"/>
                      <a:gd name="T1" fmla="*/ 0 h 468"/>
                      <a:gd name="T2" fmla="*/ 0 w 144"/>
                      <a:gd name="T3" fmla="*/ 312 h 468"/>
                      <a:gd name="T4" fmla="*/ 144 w 144"/>
                      <a:gd name="T5" fmla="*/ 360 h 468"/>
                      <a:gd name="T6" fmla="*/ 144 w 144"/>
                      <a:gd name="T7" fmla="*/ 468 h 468"/>
                      <a:gd name="T8" fmla="*/ 0 60000 65536"/>
                      <a:gd name="T9" fmla="*/ 0 60000 65536"/>
                      <a:gd name="T10" fmla="*/ 0 60000 65536"/>
                      <a:gd name="T11" fmla="*/ 0 60000 65536"/>
                      <a:gd name="T12" fmla="*/ 0 w 144"/>
                      <a:gd name="T13" fmla="*/ 0 h 468"/>
                      <a:gd name="T14" fmla="*/ 144 w 144"/>
                      <a:gd name="T15" fmla="*/ 468 h 468"/>
                    </a:gdLst>
                    <a:ahLst/>
                    <a:cxnLst>
                      <a:cxn ang="T8">
                        <a:pos x="T0" y="T1"/>
                      </a:cxn>
                      <a:cxn ang="T9">
                        <a:pos x="T2" y="T3"/>
                      </a:cxn>
                      <a:cxn ang="T10">
                        <a:pos x="T4" y="T5"/>
                      </a:cxn>
                      <a:cxn ang="T11">
                        <a:pos x="T6" y="T7"/>
                      </a:cxn>
                    </a:cxnLst>
                    <a:rect l="T12" t="T13" r="T14" b="T15"/>
                    <a:pathLst>
                      <a:path w="144" h="468">
                        <a:moveTo>
                          <a:pt x="0" y="0"/>
                        </a:moveTo>
                        <a:lnTo>
                          <a:pt x="0" y="312"/>
                        </a:lnTo>
                        <a:lnTo>
                          <a:pt x="144" y="360"/>
                        </a:lnTo>
                        <a:lnTo>
                          <a:pt x="144" y="468"/>
                        </a:lnTo>
                      </a:path>
                    </a:pathLst>
                  </a:custGeom>
                  <a:noFill/>
                  <a:ln w="28575" cap="flat" cmpd="sng">
                    <a:solidFill>
                      <a:srgbClr val="00FF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6" name="Freeform 1039"/>
                  <p:cNvSpPr>
                    <a:spLocks/>
                  </p:cNvSpPr>
                  <p:nvPr/>
                </p:nvSpPr>
                <p:spPr bwMode="auto">
                  <a:xfrm flipH="1">
                    <a:off x="3228" y="2388"/>
                    <a:ext cx="144" cy="468"/>
                  </a:xfrm>
                  <a:custGeom>
                    <a:avLst/>
                    <a:gdLst>
                      <a:gd name="T0" fmla="*/ 0 w 144"/>
                      <a:gd name="T1" fmla="*/ 0 h 468"/>
                      <a:gd name="T2" fmla="*/ 0 w 144"/>
                      <a:gd name="T3" fmla="*/ 312 h 468"/>
                      <a:gd name="T4" fmla="*/ 144 w 144"/>
                      <a:gd name="T5" fmla="*/ 360 h 468"/>
                      <a:gd name="T6" fmla="*/ 144 w 144"/>
                      <a:gd name="T7" fmla="*/ 468 h 468"/>
                      <a:gd name="T8" fmla="*/ 0 60000 65536"/>
                      <a:gd name="T9" fmla="*/ 0 60000 65536"/>
                      <a:gd name="T10" fmla="*/ 0 60000 65536"/>
                      <a:gd name="T11" fmla="*/ 0 60000 65536"/>
                      <a:gd name="T12" fmla="*/ 0 w 144"/>
                      <a:gd name="T13" fmla="*/ 0 h 468"/>
                      <a:gd name="T14" fmla="*/ 144 w 144"/>
                      <a:gd name="T15" fmla="*/ 468 h 468"/>
                    </a:gdLst>
                    <a:ahLst/>
                    <a:cxnLst>
                      <a:cxn ang="T8">
                        <a:pos x="T0" y="T1"/>
                      </a:cxn>
                      <a:cxn ang="T9">
                        <a:pos x="T2" y="T3"/>
                      </a:cxn>
                      <a:cxn ang="T10">
                        <a:pos x="T4" y="T5"/>
                      </a:cxn>
                      <a:cxn ang="T11">
                        <a:pos x="T6" y="T7"/>
                      </a:cxn>
                    </a:cxnLst>
                    <a:rect l="T12" t="T13" r="T14" b="T15"/>
                    <a:pathLst>
                      <a:path w="144" h="468">
                        <a:moveTo>
                          <a:pt x="0" y="0"/>
                        </a:moveTo>
                        <a:lnTo>
                          <a:pt x="0" y="312"/>
                        </a:lnTo>
                        <a:lnTo>
                          <a:pt x="144" y="360"/>
                        </a:lnTo>
                        <a:lnTo>
                          <a:pt x="144" y="468"/>
                        </a:lnTo>
                      </a:path>
                    </a:pathLst>
                  </a:custGeom>
                  <a:noFill/>
                  <a:ln w="28575" cap="flat" cmpd="sng">
                    <a:solidFill>
                      <a:srgbClr val="00FF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23580" name="Group 1040"/>
                <p:cNvGrpSpPr>
                  <a:grpSpLocks/>
                </p:cNvGrpSpPr>
                <p:nvPr/>
              </p:nvGrpSpPr>
              <p:grpSpPr bwMode="auto">
                <a:xfrm>
                  <a:off x="3480" y="2472"/>
                  <a:ext cx="456" cy="792"/>
                  <a:chOff x="3372" y="2484"/>
                  <a:chExt cx="456" cy="792"/>
                </a:xfrm>
              </p:grpSpPr>
              <p:grpSp>
                <p:nvGrpSpPr>
                  <p:cNvPr id="23581" name="Group 1041"/>
                  <p:cNvGrpSpPr>
                    <a:grpSpLocks/>
                  </p:cNvGrpSpPr>
                  <p:nvPr/>
                </p:nvGrpSpPr>
                <p:grpSpPr bwMode="auto">
                  <a:xfrm>
                    <a:off x="3372" y="2484"/>
                    <a:ext cx="456" cy="576"/>
                    <a:chOff x="3372" y="2484"/>
                    <a:chExt cx="456" cy="576"/>
                  </a:xfrm>
                </p:grpSpPr>
                <p:sp>
                  <p:nvSpPr>
                    <p:cNvPr id="23588" name="Freeform 1042" descr="20%"/>
                    <p:cNvSpPr>
                      <a:spLocks/>
                    </p:cNvSpPr>
                    <p:nvPr/>
                  </p:nvSpPr>
                  <p:spPr bwMode="auto">
                    <a:xfrm>
                      <a:off x="3372" y="2484"/>
                      <a:ext cx="456" cy="348"/>
                    </a:xfrm>
                    <a:custGeom>
                      <a:avLst/>
                      <a:gdLst>
                        <a:gd name="T0" fmla="*/ 0 w 456"/>
                        <a:gd name="T1" fmla="*/ 0 h 348"/>
                        <a:gd name="T2" fmla="*/ 456 w 456"/>
                        <a:gd name="T3" fmla="*/ 0 h 348"/>
                        <a:gd name="T4" fmla="*/ 456 w 456"/>
                        <a:gd name="T5" fmla="*/ 204 h 348"/>
                        <a:gd name="T6" fmla="*/ 312 w 456"/>
                        <a:gd name="T7" fmla="*/ 264 h 348"/>
                        <a:gd name="T8" fmla="*/ 312 w 456"/>
                        <a:gd name="T9" fmla="*/ 348 h 348"/>
                        <a:gd name="T10" fmla="*/ 144 w 456"/>
                        <a:gd name="T11" fmla="*/ 348 h 348"/>
                        <a:gd name="T12" fmla="*/ 144 w 456"/>
                        <a:gd name="T13" fmla="*/ 264 h 348"/>
                        <a:gd name="T14" fmla="*/ 0 w 456"/>
                        <a:gd name="T15" fmla="*/ 204 h 348"/>
                        <a:gd name="T16" fmla="*/ 0 w 456"/>
                        <a:gd name="T17" fmla="*/ 0 h 3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6"/>
                        <a:gd name="T28" fmla="*/ 0 h 348"/>
                        <a:gd name="T29" fmla="*/ 456 w 456"/>
                        <a:gd name="T30" fmla="*/ 348 h 3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6" h="348">
                          <a:moveTo>
                            <a:pt x="0" y="0"/>
                          </a:moveTo>
                          <a:lnTo>
                            <a:pt x="456" y="0"/>
                          </a:lnTo>
                          <a:lnTo>
                            <a:pt x="456" y="204"/>
                          </a:lnTo>
                          <a:lnTo>
                            <a:pt x="312" y="264"/>
                          </a:lnTo>
                          <a:lnTo>
                            <a:pt x="312" y="348"/>
                          </a:lnTo>
                          <a:lnTo>
                            <a:pt x="144" y="348"/>
                          </a:lnTo>
                          <a:lnTo>
                            <a:pt x="144" y="264"/>
                          </a:lnTo>
                          <a:lnTo>
                            <a:pt x="0" y="204"/>
                          </a:lnTo>
                          <a:lnTo>
                            <a:pt x="0" y="0"/>
                          </a:lnTo>
                          <a:close/>
                        </a:path>
                      </a:pathLst>
                    </a:custGeom>
                    <a:pattFill prst="pct20">
                      <a:fgClr>
                        <a:schemeClr val="folHlink"/>
                      </a:fgClr>
                      <a:bgClr>
                        <a:srgbClr val="FFFF99"/>
                      </a:bgClr>
                    </a:pattFill>
                    <a:ln w="12700" cap="flat" cmpd="sng">
                      <a:solidFill>
                        <a:schemeClr val="tx1"/>
                      </a:solidFill>
                      <a:prstDash val="solid"/>
                      <a:round/>
                      <a:headEnd type="none" w="sm" len="sm"/>
                      <a:tailEnd type="none" w="sm" len="sm"/>
                    </a:ln>
                  </p:spPr>
                  <p:txBody>
                    <a:bodyPr wrap="none" anchor="ctr"/>
                    <a:lstStyle/>
                    <a:p>
                      <a:endParaRPr lang="zh-CN" altLang="en-US"/>
                    </a:p>
                  </p:txBody>
                </p:sp>
                <p:grpSp>
                  <p:nvGrpSpPr>
                    <p:cNvPr id="23589" name="Group 1043"/>
                    <p:cNvGrpSpPr>
                      <a:grpSpLocks/>
                    </p:cNvGrpSpPr>
                    <p:nvPr/>
                  </p:nvGrpSpPr>
                  <p:grpSpPr bwMode="auto">
                    <a:xfrm>
                      <a:off x="3528" y="2856"/>
                      <a:ext cx="144" cy="204"/>
                      <a:chOff x="3528" y="2856"/>
                      <a:chExt cx="144" cy="204"/>
                    </a:xfrm>
                  </p:grpSpPr>
                  <p:sp>
                    <p:nvSpPr>
                      <p:cNvPr id="23590" name="Line 1044"/>
                      <p:cNvSpPr>
                        <a:spLocks noChangeShapeType="1"/>
                      </p:cNvSpPr>
                      <p:nvPr/>
                    </p:nvSpPr>
                    <p:spPr bwMode="auto">
                      <a:xfrm flipH="1">
                        <a:off x="3528"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1" name="Line 1045"/>
                      <p:cNvSpPr>
                        <a:spLocks noChangeShapeType="1"/>
                      </p:cNvSpPr>
                      <p:nvPr/>
                    </p:nvSpPr>
                    <p:spPr bwMode="auto">
                      <a:xfrm flipH="1">
                        <a:off x="3564"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2" name="Line 1046"/>
                      <p:cNvSpPr>
                        <a:spLocks noChangeShapeType="1"/>
                      </p:cNvSpPr>
                      <p:nvPr/>
                    </p:nvSpPr>
                    <p:spPr bwMode="auto">
                      <a:xfrm flipH="1">
                        <a:off x="3600"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3" name="Line 1047"/>
                      <p:cNvSpPr>
                        <a:spLocks noChangeShapeType="1"/>
                      </p:cNvSpPr>
                      <p:nvPr/>
                    </p:nvSpPr>
                    <p:spPr bwMode="auto">
                      <a:xfrm flipH="1">
                        <a:off x="3636" y="2868"/>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4" name="Line 1048"/>
                      <p:cNvSpPr>
                        <a:spLocks noChangeShapeType="1"/>
                      </p:cNvSpPr>
                      <p:nvPr/>
                    </p:nvSpPr>
                    <p:spPr bwMode="auto">
                      <a:xfrm flipH="1">
                        <a:off x="3672"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3582" name="Group 1049"/>
                  <p:cNvGrpSpPr>
                    <a:grpSpLocks/>
                  </p:cNvGrpSpPr>
                  <p:nvPr/>
                </p:nvGrpSpPr>
                <p:grpSpPr bwMode="auto">
                  <a:xfrm>
                    <a:off x="3540" y="3072"/>
                    <a:ext cx="144" cy="204"/>
                    <a:chOff x="3528" y="2856"/>
                    <a:chExt cx="144" cy="204"/>
                  </a:xfrm>
                </p:grpSpPr>
                <p:sp>
                  <p:nvSpPr>
                    <p:cNvPr id="23583" name="Line 1050"/>
                    <p:cNvSpPr>
                      <a:spLocks noChangeShapeType="1"/>
                    </p:cNvSpPr>
                    <p:nvPr/>
                  </p:nvSpPr>
                  <p:spPr bwMode="auto">
                    <a:xfrm flipH="1">
                      <a:off x="3528"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4" name="Line 1051"/>
                    <p:cNvSpPr>
                      <a:spLocks noChangeShapeType="1"/>
                    </p:cNvSpPr>
                    <p:nvPr/>
                  </p:nvSpPr>
                  <p:spPr bwMode="auto">
                    <a:xfrm flipH="1">
                      <a:off x="3564"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5" name="Line 1052"/>
                    <p:cNvSpPr>
                      <a:spLocks noChangeShapeType="1"/>
                    </p:cNvSpPr>
                    <p:nvPr/>
                  </p:nvSpPr>
                  <p:spPr bwMode="auto">
                    <a:xfrm flipH="1">
                      <a:off x="3600"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6" name="Line 1053"/>
                    <p:cNvSpPr>
                      <a:spLocks noChangeShapeType="1"/>
                    </p:cNvSpPr>
                    <p:nvPr/>
                  </p:nvSpPr>
                  <p:spPr bwMode="auto">
                    <a:xfrm flipH="1">
                      <a:off x="3636" y="2868"/>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7" name="Line 1054"/>
                    <p:cNvSpPr>
                      <a:spLocks noChangeShapeType="1"/>
                    </p:cNvSpPr>
                    <p:nvPr/>
                  </p:nvSpPr>
                  <p:spPr bwMode="auto">
                    <a:xfrm flipH="1">
                      <a:off x="3672"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sp>
            <p:nvSpPr>
              <p:cNvPr id="23578" name="Oval 1055"/>
              <p:cNvSpPr>
                <a:spLocks noChangeArrowheads="1"/>
              </p:cNvSpPr>
              <p:nvPr/>
            </p:nvSpPr>
            <p:spPr bwMode="auto">
              <a:xfrm>
                <a:off x="3852" y="3624"/>
                <a:ext cx="300" cy="304"/>
              </a:xfrm>
              <a:prstGeom prst="ellipse">
                <a:avLst/>
              </a:prstGeom>
              <a:solidFill>
                <a:schemeClr val="hlink"/>
              </a:solidFill>
              <a:ln w="12700">
                <a:solidFill>
                  <a:schemeClr val="tx1"/>
                </a:solidFill>
                <a:round/>
                <a:headEnd type="none" w="sm" len="sm"/>
                <a:tailEnd type="none" w="sm" len="sm"/>
              </a:ln>
            </p:spPr>
            <p:txBody>
              <a:bodyPr wrap="none" anchor="ctr"/>
              <a:lstStyle/>
              <a:p>
                <a:pPr>
                  <a:spcBef>
                    <a:spcPct val="20000"/>
                  </a:spcBef>
                </a:pPr>
                <a:endParaRPr lang="en-US" altLang="zh-CN"/>
              </a:p>
            </p:txBody>
          </p:sp>
        </p:grpSp>
        <p:sp>
          <p:nvSpPr>
            <p:cNvPr id="23569" name="AutoShape 1056"/>
            <p:cNvSpPr>
              <a:spLocks noChangeArrowheads="1"/>
            </p:cNvSpPr>
            <p:nvPr/>
          </p:nvSpPr>
          <p:spPr bwMode="auto">
            <a:xfrm>
              <a:off x="4380" y="2808"/>
              <a:ext cx="336" cy="192"/>
            </a:xfrm>
            <a:prstGeom prst="rightArrow">
              <a:avLst>
                <a:gd name="adj1" fmla="val 50000"/>
                <a:gd name="adj2" fmla="val 43750"/>
              </a:avLst>
            </a:prstGeom>
            <a:solidFill>
              <a:schemeClr val="accent2"/>
            </a:solidFill>
            <a:ln w="12700">
              <a:solidFill>
                <a:schemeClr val="tx1"/>
              </a:solidFill>
              <a:miter lim="800000"/>
              <a:headEnd type="none" w="sm" len="sm"/>
              <a:tailEnd type="none" w="sm" len="sm"/>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3557" name="Object 1057"/>
                <p:cNvSpPr txBox="1"/>
                <p:nvPr/>
              </p:nvSpPr>
              <p:spPr bwMode="auto">
                <a:xfrm>
                  <a:off x="4404" y="2454"/>
                  <a:ext cx="348" cy="37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oMath>
                    </m:oMathPara>
                  </a14:m>
                  <a:endParaRPr lang="zh-CN" altLang="en-US"/>
                </a:p>
              </p:txBody>
            </p:sp>
          </mc:Choice>
          <mc:Fallback xmlns="">
            <p:sp>
              <p:nvSpPr>
                <p:cNvPr id="23557" name="Object 1057"/>
                <p:cNvSpPr txBox="1">
                  <a:spLocks noRot="1" noChangeAspect="1" noMove="1" noResize="1" noEditPoints="1" noAdjustHandles="1" noChangeArrowheads="1" noChangeShapeType="1" noTextEdit="1"/>
                </p:cNvSpPr>
                <p:nvPr/>
              </p:nvSpPr>
              <p:spPr bwMode="auto">
                <a:xfrm>
                  <a:off x="4404" y="2454"/>
                  <a:ext cx="348" cy="378"/>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558" name="Object 1058"/>
                <p:cNvSpPr txBox="1"/>
                <p:nvPr/>
              </p:nvSpPr>
              <p:spPr bwMode="auto">
                <a:xfrm>
                  <a:off x="2884" y="2212"/>
                  <a:ext cx="591" cy="3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oMath>
                    </m:oMathPara>
                  </a14:m>
                  <a:endParaRPr lang="zh-CN" altLang="en-US"/>
                </a:p>
              </p:txBody>
            </p:sp>
          </mc:Choice>
          <mc:Fallback xmlns="">
            <p:sp>
              <p:nvSpPr>
                <p:cNvPr id="23558" name="Object 1058"/>
                <p:cNvSpPr txBox="1">
                  <a:spLocks noRot="1" noChangeAspect="1" noMove="1" noResize="1" noEditPoints="1" noAdjustHandles="1" noChangeArrowheads="1" noChangeShapeType="1" noTextEdit="1"/>
                </p:cNvSpPr>
                <p:nvPr/>
              </p:nvSpPr>
              <p:spPr bwMode="auto">
                <a:xfrm>
                  <a:off x="2884" y="2212"/>
                  <a:ext cx="591" cy="375"/>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559" name="Object 1059"/>
                <p:cNvSpPr txBox="1"/>
                <p:nvPr/>
              </p:nvSpPr>
              <p:spPr bwMode="auto">
                <a:xfrm>
                  <a:off x="3377" y="2851"/>
                  <a:ext cx="347" cy="297"/>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𝑚</m:t>
                        </m:r>
                      </m:oMath>
                    </m:oMathPara>
                  </a14:m>
                  <a:endParaRPr lang="zh-CN" altLang="en-US"/>
                </a:p>
              </p:txBody>
            </p:sp>
          </mc:Choice>
          <mc:Fallback xmlns="">
            <p:sp>
              <p:nvSpPr>
                <p:cNvPr id="23559" name="Object 1059"/>
                <p:cNvSpPr txBox="1">
                  <a:spLocks noRot="1" noChangeAspect="1" noMove="1" noResize="1" noEditPoints="1" noAdjustHandles="1" noChangeArrowheads="1" noChangeShapeType="1" noTextEdit="1"/>
                </p:cNvSpPr>
                <p:nvPr/>
              </p:nvSpPr>
              <p:spPr bwMode="auto">
                <a:xfrm>
                  <a:off x="3377" y="2851"/>
                  <a:ext cx="347" cy="297"/>
                </a:xfrm>
                <a:prstGeom prst="rect">
                  <a:avLst/>
                </a:prstGeom>
                <a:blipFill>
                  <a:blip r:embed="rId5"/>
                  <a:stretch>
                    <a:fillRect/>
                  </a:stretch>
                </a:blipFill>
                <a:ln>
                  <a:noFill/>
                </a:ln>
                <a:effectLst/>
                <a:extLst/>
              </p:spPr>
              <p:txBody>
                <a:bodyPr/>
                <a:lstStyle/>
                <a:p>
                  <a:r>
                    <a:rPr lang="zh-CN" altLang="en-US">
                      <a:noFill/>
                    </a:rPr>
                    <a:t> </a:t>
                  </a:r>
                </a:p>
              </p:txBody>
            </p:sp>
          </mc:Fallback>
        </mc:AlternateContent>
        <p:grpSp>
          <p:nvGrpSpPr>
            <p:cNvPr id="23570" name="Group 1060"/>
            <p:cNvGrpSpPr>
              <a:grpSpLocks/>
            </p:cNvGrpSpPr>
            <p:nvPr/>
          </p:nvGrpSpPr>
          <p:grpSpPr bwMode="auto">
            <a:xfrm>
              <a:off x="2244" y="3007"/>
              <a:ext cx="3336" cy="425"/>
              <a:chOff x="2424" y="3511"/>
              <a:chExt cx="3336" cy="425"/>
            </a:xfrm>
          </p:grpSpPr>
          <p:sp>
            <p:nvSpPr>
              <p:cNvPr id="23571" name="Line 1061"/>
              <p:cNvSpPr>
                <a:spLocks noChangeShapeType="1"/>
              </p:cNvSpPr>
              <p:nvPr/>
            </p:nvSpPr>
            <p:spPr bwMode="auto">
              <a:xfrm>
                <a:off x="2424" y="3936"/>
                <a:ext cx="3336" cy="0"/>
              </a:xfrm>
              <a:prstGeom prst="line">
                <a:avLst/>
              </a:prstGeom>
              <a:noFill/>
              <a:ln w="38100">
                <a:solidFill>
                  <a:schemeClr val="tx2"/>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3560" name="Object 1062"/>
                  <p:cNvSpPr txBox="1"/>
                  <p:nvPr/>
                </p:nvSpPr>
                <p:spPr bwMode="auto">
                  <a:xfrm>
                    <a:off x="5428" y="3511"/>
                    <a:ext cx="332" cy="36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𝑥</m:t>
                          </m:r>
                        </m:oMath>
                      </m:oMathPara>
                    </a14:m>
                    <a:endParaRPr lang="zh-CN" altLang="en-US"/>
                  </a:p>
                </p:txBody>
              </p:sp>
            </mc:Choice>
            <mc:Fallback xmlns="">
              <p:sp>
                <p:nvSpPr>
                  <p:cNvPr id="23560" name="Object 1062"/>
                  <p:cNvSpPr txBox="1">
                    <a:spLocks noRot="1" noChangeAspect="1" noMove="1" noResize="1" noEditPoints="1" noAdjustHandles="1" noChangeArrowheads="1" noChangeShapeType="1" noTextEdit="1"/>
                  </p:cNvSpPr>
                  <p:nvPr/>
                </p:nvSpPr>
                <p:spPr bwMode="auto">
                  <a:xfrm>
                    <a:off x="5428" y="3511"/>
                    <a:ext cx="332" cy="369"/>
                  </a:xfrm>
                  <a:prstGeom prst="rect">
                    <a:avLst/>
                  </a:prstGeom>
                  <a:blipFill>
                    <a:blip r:embed="rId6"/>
                    <a:stretch>
                      <a:fillRect/>
                    </a:stretch>
                  </a:blipFill>
                  <a:ln>
                    <a:noFill/>
                  </a:ln>
                  <a:effectLst/>
                  <a:extLst/>
                </p:spPr>
                <p:txBody>
                  <a:bodyPr/>
                  <a:lstStyle/>
                  <a:p>
                    <a:r>
                      <a:rPr lang="zh-CN" altLang="en-US">
                        <a:noFill/>
                      </a:rPr>
                      <a:t> </a:t>
                    </a:r>
                  </a:p>
                </p:txBody>
              </p:sp>
            </mc:Fallback>
          </mc:AlternateContent>
        </p:grpSp>
      </p:grpSp>
      <p:sp>
        <p:nvSpPr>
          <p:cNvPr id="133159" name="Text Box 1063"/>
          <p:cNvSpPr txBox="1">
            <a:spLocks noChangeArrowheads="1"/>
          </p:cNvSpPr>
          <p:nvPr/>
        </p:nvSpPr>
        <p:spPr bwMode="auto">
          <a:xfrm>
            <a:off x="304800" y="2276475"/>
            <a:ext cx="40528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sz="3600" b="1">
                <a:solidFill>
                  <a:srgbClr val="FF0000"/>
                </a:solidFill>
                <a:ea typeface="黑体" pitchFamily="49" charset="-122"/>
              </a:rPr>
              <a:t>解：</a:t>
            </a:r>
            <a:r>
              <a:rPr lang="en-US" altLang="zh-CN" sz="2800" b="1">
                <a:solidFill>
                  <a:srgbClr val="3333FF"/>
                </a:solidFill>
                <a:ea typeface="黑体" pitchFamily="49" charset="-122"/>
              </a:rPr>
              <a:t>m</a:t>
            </a:r>
            <a:r>
              <a:rPr lang="zh-CN" altLang="en-US" sz="2800" b="1">
                <a:solidFill>
                  <a:srgbClr val="3333FF"/>
                </a:solidFill>
                <a:ea typeface="黑体" pitchFamily="49" charset="-122"/>
              </a:rPr>
              <a:t>和</a:t>
            </a:r>
            <a:r>
              <a:rPr lang="en-US" altLang="zh-CN" sz="2800" b="1">
                <a:solidFill>
                  <a:srgbClr val="3333FF"/>
                </a:solidFill>
                <a:ea typeface="黑体" pitchFamily="49" charset="-122"/>
              </a:rPr>
              <a:t>dm</a:t>
            </a:r>
            <a:r>
              <a:rPr lang="zh-CN" altLang="en-US" sz="2800" b="1">
                <a:solidFill>
                  <a:srgbClr val="3333FF"/>
                </a:solidFill>
                <a:ea typeface="黑体" pitchFamily="49" charset="-122"/>
              </a:rPr>
              <a:t>为研究对象</a:t>
            </a:r>
            <a:endParaRPr lang="zh-CN" altLang="en-US" sz="2800">
              <a:solidFill>
                <a:srgbClr val="3333FF"/>
              </a:solidFill>
              <a:ea typeface="宋体" pitchFamily="2" charset="-122"/>
            </a:endParaRPr>
          </a:p>
        </p:txBody>
      </p:sp>
      <mc:AlternateContent xmlns:mc="http://schemas.openxmlformats.org/markup-compatibility/2006" xmlns:a14="http://schemas.microsoft.com/office/drawing/2010/main">
        <mc:Choice Requires="a14">
          <p:sp>
            <p:nvSpPr>
              <p:cNvPr id="133160" name="Object 1064"/>
              <p:cNvSpPr txBox="1"/>
              <p:nvPr/>
            </p:nvSpPr>
            <p:spPr bwMode="auto">
              <a:xfrm>
                <a:off x="1214438" y="3009900"/>
                <a:ext cx="2428875" cy="134778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oMath>
                    <m:oMath xmlns:m="http://schemas.openxmlformats.org/officeDocument/2006/math">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oMath>
                  </m:oMathPara>
                </a14:m>
                <a:endParaRPr lang="zh-CN" altLang="en-US" dirty="0"/>
              </a:p>
            </p:txBody>
          </p:sp>
        </mc:Choice>
        <mc:Fallback xmlns="">
          <p:sp>
            <p:nvSpPr>
              <p:cNvPr id="133160" name="Object 1064"/>
              <p:cNvSpPr txBox="1">
                <a:spLocks noRot="1" noChangeAspect="1" noMove="1" noResize="1" noEditPoints="1" noAdjustHandles="1" noChangeArrowheads="1" noChangeShapeType="1" noTextEdit="1"/>
              </p:cNvSpPr>
              <p:nvPr/>
            </p:nvSpPr>
            <p:spPr bwMode="auto">
              <a:xfrm>
                <a:off x="1214438" y="3009900"/>
                <a:ext cx="2428875" cy="1347788"/>
              </a:xfrm>
              <a:prstGeom prst="rect">
                <a:avLst/>
              </a:prstGeom>
              <a:blipFill>
                <a:blip r:embed="rId7"/>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161" name="Object 1065"/>
              <p:cNvSpPr txBox="1"/>
              <p:nvPr/>
            </p:nvSpPr>
            <p:spPr bwMode="auto">
              <a:xfrm>
                <a:off x="4463722" y="5066187"/>
                <a:ext cx="3935412" cy="6762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𝑚𝑣</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𝑚𝑣</m:t>
                      </m:r>
                    </m:oMath>
                  </m:oMathPara>
                </a14:m>
                <a:endParaRPr lang="zh-CN" altLang="en-US"/>
              </a:p>
            </p:txBody>
          </p:sp>
        </mc:Choice>
        <mc:Fallback xmlns="">
          <p:sp>
            <p:nvSpPr>
              <p:cNvPr id="133161" name="Object 1065"/>
              <p:cNvSpPr txBox="1">
                <a:spLocks noRot="1" noChangeAspect="1" noMove="1" noResize="1" noEditPoints="1" noAdjustHandles="1" noChangeArrowheads="1" noChangeShapeType="1" noTextEdit="1"/>
              </p:cNvSpPr>
              <p:nvPr/>
            </p:nvSpPr>
            <p:spPr bwMode="auto">
              <a:xfrm>
                <a:off x="4463722" y="5066187"/>
                <a:ext cx="3935412" cy="676275"/>
              </a:xfrm>
              <a:prstGeom prst="rect">
                <a:avLst/>
              </a:prstGeom>
              <a:blipFill>
                <a:blip r:embed="rId8"/>
                <a:stretch>
                  <a:fillRect/>
                </a:stretch>
              </a:blipFill>
              <a:ln>
                <a:noFill/>
              </a:ln>
              <a:effectLst/>
              <a:extLst/>
            </p:spPr>
            <p:txBody>
              <a:bodyPr/>
              <a:lstStyle/>
              <a:p>
                <a:r>
                  <a:rPr lang="zh-CN" altLang="en-US">
                    <a:noFill/>
                  </a:rPr>
                  <a:t> </a:t>
                </a:r>
              </a:p>
            </p:txBody>
          </p:sp>
        </mc:Fallback>
      </mc:AlternateContent>
      <p:sp>
        <p:nvSpPr>
          <p:cNvPr id="133162" name="Text Box 1066"/>
          <p:cNvSpPr txBox="1">
            <a:spLocks noChangeArrowheads="1"/>
          </p:cNvSpPr>
          <p:nvPr/>
        </p:nvSpPr>
        <p:spPr bwMode="auto">
          <a:xfrm>
            <a:off x="612774" y="6045200"/>
            <a:ext cx="385094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en-US" altLang="zh-CN" sz="3600" b="1" i="1" dirty="0" err="1">
                <a:solidFill>
                  <a:schemeClr val="tx2"/>
                </a:solidFill>
                <a:ea typeface="宋体" pitchFamily="2" charset="-122"/>
              </a:rPr>
              <a:t>t+</a:t>
            </a:r>
            <a:r>
              <a:rPr lang="en-US" altLang="zh-CN" sz="3600" b="1" dirty="0" err="1">
                <a:solidFill>
                  <a:schemeClr val="tx2"/>
                </a:solidFill>
                <a:ea typeface="宋体" pitchFamily="2" charset="-122"/>
              </a:rPr>
              <a:t>d</a:t>
            </a:r>
            <a:r>
              <a:rPr lang="en-US" altLang="zh-CN" sz="3600" b="1" i="1" dirty="0" err="1">
                <a:solidFill>
                  <a:schemeClr val="tx2"/>
                </a:solidFill>
                <a:ea typeface="宋体" pitchFamily="2" charset="-122"/>
              </a:rPr>
              <a:t>t</a:t>
            </a:r>
            <a:r>
              <a:rPr lang="en-US" altLang="zh-CN" sz="3600" b="1" i="1" dirty="0">
                <a:solidFill>
                  <a:schemeClr val="tx2"/>
                </a:solidFill>
                <a:ea typeface="宋体" pitchFamily="2" charset="-122"/>
              </a:rPr>
              <a:t> </a:t>
            </a:r>
            <a:r>
              <a:rPr lang="zh-CN" altLang="en-US" sz="3600" b="1" dirty="0"/>
              <a:t>时刻的总动量</a:t>
            </a:r>
            <a:endParaRPr lang="zh-CN" altLang="en-US" sz="3600" dirty="0"/>
          </a:p>
        </p:txBody>
      </p:sp>
      <mc:AlternateContent xmlns:mc="http://schemas.openxmlformats.org/markup-compatibility/2006" xmlns:a14="http://schemas.microsoft.com/office/drawing/2010/main">
        <mc:Choice Requires="a14">
          <p:sp>
            <p:nvSpPr>
              <p:cNvPr id="133163" name="Object 1067"/>
              <p:cNvSpPr txBox="1"/>
              <p:nvPr/>
            </p:nvSpPr>
            <p:spPr bwMode="auto">
              <a:xfrm>
                <a:off x="4436734" y="5921849"/>
                <a:ext cx="2349500" cy="77311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oMath>
                  </m:oMathPara>
                </a14:m>
                <a:endParaRPr lang="zh-CN" altLang="en-US" dirty="0"/>
              </a:p>
            </p:txBody>
          </p:sp>
        </mc:Choice>
        <mc:Fallback xmlns="">
          <p:sp>
            <p:nvSpPr>
              <p:cNvPr id="133163" name="Object 1067"/>
              <p:cNvSpPr txBox="1">
                <a:spLocks noRot="1" noChangeAspect="1" noMove="1" noResize="1" noEditPoints="1" noAdjustHandles="1" noChangeArrowheads="1" noChangeShapeType="1" noTextEdit="1"/>
              </p:cNvSpPr>
              <p:nvPr/>
            </p:nvSpPr>
            <p:spPr bwMode="auto">
              <a:xfrm>
                <a:off x="4436734" y="5921849"/>
                <a:ext cx="2349500" cy="773113"/>
              </a:xfrm>
              <a:prstGeom prst="rect">
                <a:avLst/>
              </a:prstGeom>
              <a:blipFill>
                <a:blip r:embed="rId9"/>
                <a:stretch>
                  <a:fillRect/>
                </a:stretch>
              </a:blipFill>
              <a:ln>
                <a:noFill/>
              </a:ln>
              <a:effectLst/>
              <a:extLst/>
            </p:spPr>
            <p:txBody>
              <a:bodyPr/>
              <a:lstStyle/>
              <a:p>
                <a:r>
                  <a:rPr lang="zh-CN" altLang="en-US">
                    <a:noFill/>
                  </a:rPr>
                  <a:t> </a:t>
                </a:r>
              </a:p>
            </p:txBody>
          </p:sp>
        </mc:Fallback>
      </mc:AlternateContent>
      <p:sp>
        <p:nvSpPr>
          <p:cNvPr id="133164" name="Text Box 1068"/>
          <p:cNvSpPr txBox="1">
            <a:spLocks noChangeArrowheads="1"/>
          </p:cNvSpPr>
          <p:nvPr/>
        </p:nvSpPr>
        <p:spPr bwMode="auto">
          <a:xfrm>
            <a:off x="555624" y="5175250"/>
            <a:ext cx="37753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en-US" altLang="en-US" sz="3600" b="1" i="1" dirty="0">
                <a:solidFill>
                  <a:schemeClr val="tx2"/>
                </a:solidFill>
                <a:ea typeface="宋体" pitchFamily="2" charset="-122"/>
              </a:rPr>
              <a:t> </a:t>
            </a:r>
            <a:r>
              <a:rPr lang="en-US" altLang="zh-CN" sz="3600" b="1" i="1" dirty="0">
                <a:solidFill>
                  <a:schemeClr val="tx2"/>
                </a:solidFill>
                <a:ea typeface="宋体" pitchFamily="2" charset="-122"/>
              </a:rPr>
              <a:t>t </a:t>
            </a:r>
            <a:r>
              <a:rPr lang="zh-CN" altLang="en-US" sz="3600" b="1" dirty="0"/>
              <a:t>时刻的总动量</a:t>
            </a:r>
            <a:endParaRPr lang="zh-CN" altLang="en-US" sz="3600" dirty="0"/>
          </a:p>
        </p:txBody>
      </p:sp>
      <p:sp>
        <p:nvSpPr>
          <p:cNvPr id="23567" name="Rectangle 1069"/>
          <p:cNvSpPr>
            <a:spLocks noChangeArrowheads="1"/>
          </p:cNvSpPr>
          <p:nvPr/>
        </p:nvSpPr>
        <p:spPr bwMode="auto">
          <a:xfrm>
            <a:off x="250825" y="4368800"/>
            <a:ext cx="3403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3600" b="1" dirty="0">
                <a:ea typeface="宋体" pitchFamily="2" charset="-122"/>
              </a:rPr>
              <a:t>水平方向：</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9"/>
                                        </p:tgtEl>
                                        <p:attrNameLst>
                                          <p:attrName>style.visibility</p:attrName>
                                        </p:attrNameLst>
                                      </p:cBhvr>
                                      <p:to>
                                        <p:strVal val="visible"/>
                                      </p:to>
                                    </p:set>
                                    <p:animEffect transition="in" filter="blinds(horizontal)">
                                      <p:cBhvr>
                                        <p:cTn id="12" dur="500"/>
                                        <p:tgtEl>
                                          <p:spTgt spid="1331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316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5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3164"/>
                                        </p:tgtEl>
                                        <p:attrNameLst>
                                          <p:attrName>style.visibility</p:attrName>
                                        </p:attrNameLst>
                                      </p:cBhvr>
                                      <p:to>
                                        <p:strVal val="visible"/>
                                      </p:to>
                                    </p:set>
                                    <p:animEffect transition="in" filter="wipe(left)">
                                      <p:cBhvr>
                                        <p:cTn id="25" dur="500"/>
                                        <p:tgtEl>
                                          <p:spTgt spid="13316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316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3162"/>
                                        </p:tgtEl>
                                        <p:attrNameLst>
                                          <p:attrName>style.visibility</p:attrName>
                                        </p:attrNameLst>
                                      </p:cBhvr>
                                      <p:to>
                                        <p:strVal val="visible"/>
                                      </p:to>
                                    </p:set>
                                    <p:animEffect transition="in" filter="wipe(left)">
                                      <p:cBhvr>
                                        <p:cTn id="34" dur="500"/>
                                        <p:tgtEl>
                                          <p:spTgt spid="13316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9" grpId="0" autoUpdateAnimBg="0"/>
      <p:bldP spid="133160" grpId="0"/>
      <p:bldP spid="133161" grpId="0"/>
      <p:bldP spid="133162" grpId="0" autoUpdateAnimBg="0"/>
      <p:bldP spid="133163" grpId="0"/>
      <p:bldP spid="133164" grpId="0" autoUpdateAnimBg="0"/>
      <p:bldP spid="2356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50" name="Text Box 6"/>
          <p:cNvSpPr txBox="1">
            <a:spLocks noChangeArrowheads="1"/>
          </p:cNvSpPr>
          <p:nvPr/>
        </p:nvSpPr>
        <p:spPr bwMode="auto">
          <a:xfrm>
            <a:off x="214313" y="379413"/>
            <a:ext cx="2214562"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en-US" altLang="zh-CN" sz="2500" b="1">
                <a:solidFill>
                  <a:srgbClr val="3333FF"/>
                </a:solidFill>
              </a:rPr>
              <a:t>dt</a:t>
            </a:r>
            <a:r>
              <a:rPr lang="zh-CN" altLang="en-US" sz="2500" b="1"/>
              <a:t>时间内增量</a:t>
            </a:r>
            <a:endParaRPr lang="zh-CN" altLang="en-US" sz="2500"/>
          </a:p>
        </p:txBody>
      </p:sp>
      <mc:AlternateContent xmlns:mc="http://schemas.openxmlformats.org/markup-compatibility/2006" xmlns:a14="http://schemas.microsoft.com/office/drawing/2010/main">
        <mc:Choice Requires="a14">
          <p:sp>
            <p:nvSpPr>
              <p:cNvPr id="134151" name="Object 7"/>
              <p:cNvSpPr txBox="1"/>
              <p:nvPr/>
            </p:nvSpPr>
            <p:spPr bwMode="auto">
              <a:xfrm>
                <a:off x="2500313" y="285750"/>
                <a:ext cx="3794125" cy="59531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𝑝</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𝑚𝑣</m:t>
                      </m:r>
                    </m:oMath>
                  </m:oMathPara>
                </a14:m>
                <a:endParaRPr lang="zh-CN" altLang="en-US" dirty="0"/>
              </a:p>
            </p:txBody>
          </p:sp>
        </mc:Choice>
        <mc:Fallback xmlns="">
          <p:sp>
            <p:nvSpPr>
              <p:cNvPr id="134151" name="Object 7"/>
              <p:cNvSpPr txBox="1">
                <a:spLocks noRot="1" noChangeAspect="1" noMove="1" noResize="1" noEditPoints="1" noAdjustHandles="1" noChangeArrowheads="1" noChangeShapeType="1" noTextEdit="1"/>
              </p:cNvSpPr>
              <p:nvPr/>
            </p:nvSpPr>
            <p:spPr bwMode="auto">
              <a:xfrm>
                <a:off x="2500313" y="285750"/>
                <a:ext cx="3794125" cy="595313"/>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152" name="Object 8"/>
              <p:cNvSpPr txBox="1"/>
              <p:nvPr/>
            </p:nvSpPr>
            <p:spPr bwMode="auto">
              <a:xfrm>
                <a:off x="6403975" y="285750"/>
                <a:ext cx="1454150" cy="52228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oMath>
                  </m:oMathPara>
                </a14:m>
                <a:endParaRPr lang="zh-CN" altLang="en-US" dirty="0"/>
              </a:p>
            </p:txBody>
          </p:sp>
        </mc:Choice>
        <mc:Fallback xmlns="">
          <p:sp>
            <p:nvSpPr>
              <p:cNvPr id="134152" name="Object 8"/>
              <p:cNvSpPr txBox="1">
                <a:spLocks noRot="1" noChangeAspect="1" noMove="1" noResize="1" noEditPoints="1" noAdjustHandles="1" noChangeArrowheads="1" noChangeShapeType="1" noTextEdit="1"/>
              </p:cNvSpPr>
              <p:nvPr/>
            </p:nvSpPr>
            <p:spPr bwMode="auto">
              <a:xfrm>
                <a:off x="6403975" y="285750"/>
                <a:ext cx="1454150" cy="522288"/>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134153" name="Text Box 9"/>
          <p:cNvSpPr txBox="1">
            <a:spLocks noChangeArrowheads="1"/>
          </p:cNvSpPr>
          <p:nvPr/>
        </p:nvSpPr>
        <p:spPr bwMode="auto">
          <a:xfrm>
            <a:off x="107950" y="908050"/>
            <a:ext cx="3181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sz="3200" b="1" dirty="0">
                <a:ea typeface="宋体" pitchFamily="2" charset="-122"/>
              </a:rPr>
              <a:t>根据动量定理</a:t>
            </a:r>
            <a:endParaRPr lang="zh-CN" altLang="en-US" sz="3200" dirty="0">
              <a:ea typeface="宋体" pitchFamily="2" charset="-122"/>
            </a:endParaRPr>
          </a:p>
        </p:txBody>
      </p:sp>
      <mc:AlternateContent xmlns:mc="http://schemas.openxmlformats.org/markup-compatibility/2006" xmlns:a14="http://schemas.microsoft.com/office/drawing/2010/main">
        <mc:Choice Requires="a14">
          <p:sp>
            <p:nvSpPr>
              <p:cNvPr id="134154" name="Object 10"/>
              <p:cNvSpPr txBox="1"/>
              <p:nvPr/>
            </p:nvSpPr>
            <p:spPr bwMode="auto">
              <a:xfrm>
                <a:off x="3281363" y="836613"/>
                <a:ext cx="2146300" cy="62071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𝐹</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𝑝</m:t>
                          </m:r>
                        </m:e>
                      </m:func>
                    </m:oMath>
                  </m:oMathPara>
                </a14:m>
                <a:endParaRPr lang="zh-CN" altLang="en-US" dirty="0"/>
              </a:p>
            </p:txBody>
          </p:sp>
        </mc:Choice>
        <mc:Fallback xmlns="">
          <p:sp>
            <p:nvSpPr>
              <p:cNvPr id="134154" name="Object 10"/>
              <p:cNvSpPr txBox="1">
                <a:spLocks noRot="1" noChangeAspect="1" noMove="1" noResize="1" noEditPoints="1" noAdjustHandles="1" noChangeArrowheads="1" noChangeShapeType="1" noTextEdit="1"/>
              </p:cNvSpPr>
              <p:nvPr/>
            </p:nvSpPr>
            <p:spPr bwMode="auto">
              <a:xfrm>
                <a:off x="3281363" y="836613"/>
                <a:ext cx="2146300" cy="620712"/>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155" name="Object 11"/>
              <p:cNvSpPr txBox="1"/>
              <p:nvPr/>
            </p:nvSpPr>
            <p:spPr bwMode="auto">
              <a:xfrm>
                <a:off x="4935017" y="874694"/>
                <a:ext cx="1677988" cy="5429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oMath>
                  </m:oMathPara>
                </a14:m>
                <a:endParaRPr lang="zh-CN" altLang="en-US" dirty="0"/>
              </a:p>
            </p:txBody>
          </p:sp>
        </mc:Choice>
        <mc:Fallback xmlns="">
          <p:sp>
            <p:nvSpPr>
              <p:cNvPr id="134155" name="Object 11"/>
              <p:cNvSpPr txBox="1">
                <a:spLocks noRot="1" noChangeAspect="1" noMove="1" noResize="1" noEditPoints="1" noAdjustHandles="1" noChangeArrowheads="1" noChangeShapeType="1" noTextEdit="1"/>
              </p:cNvSpPr>
              <p:nvPr/>
            </p:nvSpPr>
            <p:spPr bwMode="auto">
              <a:xfrm>
                <a:off x="4935017" y="874694"/>
                <a:ext cx="1677988" cy="542925"/>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156" name="Object 12"/>
              <p:cNvSpPr txBox="1"/>
              <p:nvPr/>
            </p:nvSpPr>
            <p:spPr bwMode="auto">
              <a:xfrm>
                <a:off x="2627313" y="1412875"/>
                <a:ext cx="2343150" cy="114776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num>
                        <m:den>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den>
                      </m:f>
                      <m:r>
                        <a:rPr lang="zh-CN" altLang="en-US" i="1">
                          <a:solidFill>
                            <a:srgbClr val="000000"/>
                          </a:solidFill>
                          <a:latin typeface="Cambria Math" panose="02040503050406030204" pitchFamily="18" charset="0"/>
                        </a:rPr>
                        <m:t>𝑣</m:t>
                      </m:r>
                    </m:oMath>
                  </m:oMathPara>
                </a14:m>
                <a:endParaRPr lang="zh-CN" altLang="en-US" dirty="0"/>
              </a:p>
            </p:txBody>
          </p:sp>
        </mc:Choice>
        <mc:Fallback xmlns="">
          <p:sp>
            <p:nvSpPr>
              <p:cNvPr id="134156" name="Object 12"/>
              <p:cNvSpPr txBox="1">
                <a:spLocks noRot="1" noChangeAspect="1" noMove="1" noResize="1" noEditPoints="1" noAdjustHandles="1" noChangeArrowheads="1" noChangeShapeType="1" noTextEdit="1"/>
              </p:cNvSpPr>
              <p:nvPr/>
            </p:nvSpPr>
            <p:spPr bwMode="auto">
              <a:xfrm>
                <a:off x="2627313" y="1412875"/>
                <a:ext cx="2343150" cy="1147763"/>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157" name="Object 13"/>
              <p:cNvSpPr txBox="1"/>
              <p:nvPr/>
            </p:nvSpPr>
            <p:spPr bwMode="auto">
              <a:xfrm>
                <a:off x="4530343" y="1652509"/>
                <a:ext cx="2398713" cy="6064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=1.5×1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3</m:t>
                          </m:r>
                        </m:sup>
                      </m:sSup>
                      <m:r>
                        <m:rPr>
                          <m:sty m:val="p"/>
                        </m:rPr>
                        <a:rPr lang="zh-CN" altLang="en-US" i="0">
                          <a:solidFill>
                            <a:srgbClr val="000000"/>
                          </a:solidFill>
                          <a:latin typeface="Cambria Math" panose="02040503050406030204" pitchFamily="18" charset="0"/>
                        </a:rPr>
                        <m:t>N</m:t>
                      </m:r>
                    </m:oMath>
                  </m:oMathPara>
                </a14:m>
                <a:endParaRPr lang="zh-CN" altLang="en-US" dirty="0"/>
              </a:p>
            </p:txBody>
          </p:sp>
        </mc:Choice>
        <mc:Fallback xmlns="">
          <p:sp>
            <p:nvSpPr>
              <p:cNvPr id="134157" name="Object 13"/>
              <p:cNvSpPr txBox="1">
                <a:spLocks noRot="1" noChangeAspect="1" noMove="1" noResize="1" noEditPoints="1" noAdjustHandles="1" noChangeArrowheads="1" noChangeShapeType="1" noTextEdit="1"/>
              </p:cNvSpPr>
              <p:nvPr/>
            </p:nvSpPr>
            <p:spPr bwMode="auto">
              <a:xfrm>
                <a:off x="4530343" y="1652509"/>
                <a:ext cx="2398713" cy="606425"/>
              </a:xfrm>
              <a:prstGeom prst="rect">
                <a:avLst/>
              </a:prstGeom>
              <a:blipFill>
                <a:blip r:embed="rId7"/>
                <a:stretch>
                  <a:fillRect/>
                </a:stretch>
              </a:blipFill>
              <a:ln>
                <a:noFill/>
              </a:ln>
              <a:effectLst/>
              <a:extLst/>
            </p:spPr>
            <p:txBody>
              <a:bodyPr/>
              <a:lstStyle/>
              <a:p>
                <a:r>
                  <a:rPr lang="zh-CN" altLang="en-US">
                    <a:noFill/>
                  </a:rPr>
                  <a:t> </a:t>
                </a:r>
              </a:p>
            </p:txBody>
          </p:sp>
        </mc:Fallback>
      </mc:AlternateContent>
      <p:grpSp>
        <p:nvGrpSpPr>
          <p:cNvPr id="24596" name="Group 15"/>
          <p:cNvGrpSpPr>
            <a:grpSpLocks/>
          </p:cNvGrpSpPr>
          <p:nvPr/>
        </p:nvGrpSpPr>
        <p:grpSpPr bwMode="auto">
          <a:xfrm>
            <a:off x="4572000" y="2852738"/>
            <a:ext cx="4032250" cy="2200275"/>
            <a:chOff x="2160" y="1872"/>
            <a:chExt cx="3420" cy="1644"/>
          </a:xfrm>
        </p:grpSpPr>
        <p:grpSp>
          <p:nvGrpSpPr>
            <p:cNvPr id="24601" name="Group 16"/>
            <p:cNvGrpSpPr>
              <a:grpSpLocks/>
            </p:cNvGrpSpPr>
            <p:nvPr/>
          </p:nvGrpSpPr>
          <p:grpSpPr bwMode="auto">
            <a:xfrm>
              <a:off x="2160" y="1872"/>
              <a:ext cx="3192" cy="1644"/>
              <a:chOff x="2340" y="2376"/>
              <a:chExt cx="3192" cy="1644"/>
            </a:xfrm>
          </p:grpSpPr>
          <p:sp>
            <p:nvSpPr>
              <p:cNvPr id="24605" name="Rectangle 17"/>
              <p:cNvSpPr>
                <a:spLocks noChangeArrowheads="1"/>
              </p:cNvSpPr>
              <p:nvPr/>
            </p:nvSpPr>
            <p:spPr bwMode="auto">
              <a:xfrm>
                <a:off x="2340" y="3948"/>
                <a:ext cx="3192" cy="72"/>
              </a:xfrm>
              <a:prstGeom prst="rect">
                <a:avLst/>
              </a:prstGeom>
              <a:solidFill>
                <a:srgbClr val="CCFFCC"/>
              </a:solidFill>
              <a:ln w="12700">
                <a:solidFill>
                  <a:schemeClr val="tx1"/>
                </a:solidFill>
                <a:miter lim="800000"/>
                <a:headEnd type="none" w="sm" len="sm"/>
                <a:tailEnd type="none" w="sm" len="sm"/>
              </a:ln>
            </p:spPr>
            <p:txBody>
              <a:bodyPr wrap="none" anchor="ctr"/>
              <a:lstStyle/>
              <a:p>
                <a:pPr>
                  <a:spcBef>
                    <a:spcPct val="20000"/>
                  </a:spcBef>
                </a:pPr>
                <a:endParaRPr lang="en-US" altLang="zh-CN"/>
              </a:p>
            </p:txBody>
          </p:sp>
          <p:sp>
            <p:nvSpPr>
              <p:cNvPr id="24606" name="Rectangle 18"/>
              <p:cNvSpPr>
                <a:spLocks noChangeArrowheads="1"/>
              </p:cNvSpPr>
              <p:nvPr/>
            </p:nvSpPr>
            <p:spPr bwMode="auto">
              <a:xfrm>
                <a:off x="2448" y="3084"/>
                <a:ext cx="1956" cy="672"/>
              </a:xfrm>
              <a:prstGeom prst="rect">
                <a:avLst/>
              </a:prstGeom>
              <a:solidFill>
                <a:schemeClr val="accent1"/>
              </a:solidFill>
              <a:ln w="12700">
                <a:solidFill>
                  <a:schemeClr val="tx1"/>
                </a:solidFill>
                <a:miter lim="800000"/>
                <a:headEnd type="none" w="sm" len="sm"/>
                <a:tailEnd type="none" w="sm" len="sm"/>
              </a:ln>
            </p:spPr>
            <p:txBody>
              <a:bodyPr wrap="none" anchor="ctr"/>
              <a:lstStyle/>
              <a:p>
                <a:pPr>
                  <a:spcBef>
                    <a:spcPct val="20000"/>
                  </a:spcBef>
                </a:pPr>
                <a:endParaRPr lang="en-US" altLang="zh-CN"/>
              </a:p>
            </p:txBody>
          </p:sp>
          <p:sp>
            <p:nvSpPr>
              <p:cNvPr id="24607" name="Oval 19"/>
              <p:cNvSpPr>
                <a:spLocks noChangeArrowheads="1"/>
              </p:cNvSpPr>
              <p:nvPr/>
            </p:nvSpPr>
            <p:spPr bwMode="auto">
              <a:xfrm>
                <a:off x="2748" y="3624"/>
                <a:ext cx="300" cy="304"/>
              </a:xfrm>
              <a:prstGeom prst="ellipse">
                <a:avLst/>
              </a:prstGeom>
              <a:solidFill>
                <a:schemeClr val="hlink"/>
              </a:solidFill>
              <a:ln w="12700">
                <a:solidFill>
                  <a:schemeClr val="tx1"/>
                </a:solidFill>
                <a:round/>
                <a:headEnd type="none" w="sm" len="sm"/>
                <a:tailEnd type="none" w="sm" len="sm"/>
              </a:ln>
            </p:spPr>
            <p:txBody>
              <a:bodyPr wrap="none" anchor="ctr"/>
              <a:lstStyle/>
              <a:p>
                <a:pPr>
                  <a:spcBef>
                    <a:spcPct val="20000"/>
                  </a:spcBef>
                </a:pPr>
                <a:endParaRPr lang="en-US" altLang="zh-CN"/>
              </a:p>
            </p:txBody>
          </p:sp>
          <p:grpSp>
            <p:nvGrpSpPr>
              <p:cNvPr id="24608" name="Group 20"/>
              <p:cNvGrpSpPr>
                <a:grpSpLocks/>
              </p:cNvGrpSpPr>
              <p:nvPr/>
            </p:nvGrpSpPr>
            <p:grpSpPr bwMode="auto">
              <a:xfrm>
                <a:off x="3996" y="2588"/>
                <a:ext cx="444" cy="487"/>
                <a:chOff x="4452" y="2960"/>
                <a:chExt cx="444" cy="487"/>
              </a:xfrm>
            </p:grpSpPr>
            <p:sp>
              <p:nvSpPr>
                <p:cNvPr id="24630" name="Line 21"/>
                <p:cNvSpPr>
                  <a:spLocks noChangeShapeType="1"/>
                </p:cNvSpPr>
                <p:nvPr/>
              </p:nvSpPr>
              <p:spPr bwMode="auto">
                <a:xfrm>
                  <a:off x="4452" y="3420"/>
                  <a:ext cx="444" cy="0"/>
                </a:xfrm>
                <a:prstGeom prst="line">
                  <a:avLst/>
                </a:prstGeom>
                <a:noFill/>
                <a:ln w="38100">
                  <a:solidFill>
                    <a:schemeClr val="tx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4593" name="Object 22"/>
                    <p:cNvSpPr txBox="1"/>
                    <p:nvPr/>
                  </p:nvSpPr>
                  <p:spPr bwMode="auto">
                    <a:xfrm>
                      <a:off x="4460" y="2960"/>
                      <a:ext cx="374" cy="48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oMath>
                        </m:oMathPara>
                      </a14:m>
                      <a:endParaRPr lang="zh-CN" altLang="en-US"/>
                    </a:p>
                  </p:txBody>
                </p:sp>
              </mc:Choice>
              <mc:Fallback xmlns="">
                <p:sp>
                  <p:nvSpPr>
                    <p:cNvPr id="24593" name="Object 22"/>
                    <p:cNvSpPr txBox="1">
                      <a:spLocks noRot="1" noChangeAspect="1" noMove="1" noResize="1" noEditPoints="1" noAdjustHandles="1" noChangeArrowheads="1" noChangeShapeType="1" noTextEdit="1"/>
                    </p:cNvSpPr>
                    <p:nvPr/>
                  </p:nvSpPr>
                  <p:spPr bwMode="auto">
                    <a:xfrm>
                      <a:off x="4460" y="2960"/>
                      <a:ext cx="374" cy="487"/>
                    </a:xfrm>
                    <a:prstGeom prst="rect">
                      <a:avLst/>
                    </a:prstGeom>
                    <a:blipFill>
                      <a:blip r:embed="rId8"/>
                      <a:stretch>
                        <a:fillRect t="-943" r="-20833"/>
                      </a:stretch>
                    </a:blipFill>
                    <a:ln>
                      <a:noFill/>
                    </a:ln>
                    <a:effectLst/>
                    <a:extLst/>
                  </p:spPr>
                  <p:txBody>
                    <a:bodyPr/>
                    <a:lstStyle/>
                    <a:p>
                      <a:r>
                        <a:rPr lang="zh-CN" altLang="en-US">
                          <a:noFill/>
                        </a:rPr>
                        <a:t> </a:t>
                      </a:r>
                    </a:p>
                  </p:txBody>
                </p:sp>
              </mc:Fallback>
            </mc:AlternateContent>
          </p:grpSp>
          <p:sp>
            <p:nvSpPr>
              <p:cNvPr id="24609" name="Freeform 23" descr="20%"/>
              <p:cNvSpPr>
                <a:spLocks/>
              </p:cNvSpPr>
              <p:nvPr/>
            </p:nvSpPr>
            <p:spPr bwMode="auto">
              <a:xfrm>
                <a:off x="3216" y="3288"/>
                <a:ext cx="1176" cy="468"/>
              </a:xfrm>
              <a:custGeom>
                <a:avLst/>
                <a:gdLst>
                  <a:gd name="T0" fmla="*/ 1176 w 1176"/>
                  <a:gd name="T1" fmla="*/ 216 h 468"/>
                  <a:gd name="T2" fmla="*/ 648 w 1176"/>
                  <a:gd name="T3" fmla="*/ 0 h 468"/>
                  <a:gd name="T4" fmla="*/ 432 w 1176"/>
                  <a:gd name="T5" fmla="*/ 0 h 468"/>
                  <a:gd name="T6" fmla="*/ 120 w 1176"/>
                  <a:gd name="T7" fmla="*/ 288 h 468"/>
                  <a:gd name="T8" fmla="*/ 84 w 1176"/>
                  <a:gd name="T9" fmla="*/ 372 h 468"/>
                  <a:gd name="T10" fmla="*/ 0 w 1176"/>
                  <a:gd name="T11" fmla="*/ 468 h 468"/>
                  <a:gd name="T12" fmla="*/ 1164 w 1176"/>
                  <a:gd name="T13" fmla="*/ 468 h 468"/>
                  <a:gd name="T14" fmla="*/ 1176 w 1176"/>
                  <a:gd name="T15" fmla="*/ 216 h 468"/>
                  <a:gd name="T16" fmla="*/ 0 60000 65536"/>
                  <a:gd name="T17" fmla="*/ 0 60000 65536"/>
                  <a:gd name="T18" fmla="*/ 0 60000 65536"/>
                  <a:gd name="T19" fmla="*/ 0 60000 65536"/>
                  <a:gd name="T20" fmla="*/ 0 60000 65536"/>
                  <a:gd name="T21" fmla="*/ 0 60000 65536"/>
                  <a:gd name="T22" fmla="*/ 0 60000 65536"/>
                  <a:gd name="T23" fmla="*/ 0 60000 65536"/>
                  <a:gd name="T24" fmla="*/ 0 w 1176"/>
                  <a:gd name="T25" fmla="*/ 0 h 468"/>
                  <a:gd name="T26" fmla="*/ 1176 w 1176"/>
                  <a:gd name="T27" fmla="*/ 468 h 4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6" h="468">
                    <a:moveTo>
                      <a:pt x="1176" y="216"/>
                    </a:moveTo>
                    <a:lnTo>
                      <a:pt x="648" y="0"/>
                    </a:lnTo>
                    <a:lnTo>
                      <a:pt x="432" y="0"/>
                    </a:lnTo>
                    <a:lnTo>
                      <a:pt x="120" y="288"/>
                    </a:lnTo>
                    <a:lnTo>
                      <a:pt x="84" y="372"/>
                    </a:lnTo>
                    <a:lnTo>
                      <a:pt x="0" y="468"/>
                    </a:lnTo>
                    <a:lnTo>
                      <a:pt x="1164" y="468"/>
                    </a:lnTo>
                    <a:lnTo>
                      <a:pt x="1176" y="216"/>
                    </a:lnTo>
                    <a:close/>
                  </a:path>
                </a:pathLst>
              </a:custGeom>
              <a:pattFill prst="pct20">
                <a:fgClr>
                  <a:schemeClr val="folHlink"/>
                </a:fgClr>
                <a:bgClr>
                  <a:srgbClr val="FFFF99"/>
                </a:bgClr>
              </a:pattFill>
              <a:ln w="12700" cap="flat" cmpd="sng">
                <a:solidFill>
                  <a:schemeClr val="tx1"/>
                </a:solidFill>
                <a:prstDash val="solid"/>
                <a:round/>
                <a:headEnd type="none" w="sm" len="sm"/>
                <a:tailEnd type="none" w="sm" len="sm"/>
              </a:ln>
            </p:spPr>
            <p:txBody>
              <a:bodyPr wrap="none" anchor="ctr"/>
              <a:lstStyle/>
              <a:p>
                <a:endParaRPr lang="zh-CN" altLang="en-US"/>
              </a:p>
            </p:txBody>
          </p:sp>
          <p:grpSp>
            <p:nvGrpSpPr>
              <p:cNvPr id="24610" name="Group 24"/>
              <p:cNvGrpSpPr>
                <a:grpSpLocks/>
              </p:cNvGrpSpPr>
              <p:nvPr/>
            </p:nvGrpSpPr>
            <p:grpSpPr bwMode="auto">
              <a:xfrm>
                <a:off x="3480" y="2376"/>
                <a:ext cx="468" cy="888"/>
                <a:chOff x="3480" y="2376"/>
                <a:chExt cx="468" cy="888"/>
              </a:xfrm>
            </p:grpSpPr>
            <p:grpSp>
              <p:nvGrpSpPr>
                <p:cNvPr id="24612" name="Group 25"/>
                <p:cNvGrpSpPr>
                  <a:grpSpLocks/>
                </p:cNvGrpSpPr>
                <p:nvPr/>
              </p:nvGrpSpPr>
              <p:grpSpPr bwMode="auto">
                <a:xfrm>
                  <a:off x="3480" y="2376"/>
                  <a:ext cx="468" cy="468"/>
                  <a:chOff x="2904" y="2388"/>
                  <a:chExt cx="468" cy="468"/>
                </a:xfrm>
              </p:grpSpPr>
              <p:sp>
                <p:nvSpPr>
                  <p:cNvPr id="24628" name="Freeform 26"/>
                  <p:cNvSpPr>
                    <a:spLocks/>
                  </p:cNvSpPr>
                  <p:nvPr/>
                </p:nvSpPr>
                <p:spPr bwMode="auto">
                  <a:xfrm>
                    <a:off x="2904" y="2388"/>
                    <a:ext cx="144" cy="468"/>
                  </a:xfrm>
                  <a:custGeom>
                    <a:avLst/>
                    <a:gdLst>
                      <a:gd name="T0" fmla="*/ 0 w 144"/>
                      <a:gd name="T1" fmla="*/ 0 h 468"/>
                      <a:gd name="T2" fmla="*/ 0 w 144"/>
                      <a:gd name="T3" fmla="*/ 312 h 468"/>
                      <a:gd name="T4" fmla="*/ 144 w 144"/>
                      <a:gd name="T5" fmla="*/ 360 h 468"/>
                      <a:gd name="T6" fmla="*/ 144 w 144"/>
                      <a:gd name="T7" fmla="*/ 468 h 468"/>
                      <a:gd name="T8" fmla="*/ 0 60000 65536"/>
                      <a:gd name="T9" fmla="*/ 0 60000 65536"/>
                      <a:gd name="T10" fmla="*/ 0 60000 65536"/>
                      <a:gd name="T11" fmla="*/ 0 60000 65536"/>
                      <a:gd name="T12" fmla="*/ 0 w 144"/>
                      <a:gd name="T13" fmla="*/ 0 h 468"/>
                      <a:gd name="T14" fmla="*/ 144 w 144"/>
                      <a:gd name="T15" fmla="*/ 468 h 468"/>
                    </a:gdLst>
                    <a:ahLst/>
                    <a:cxnLst>
                      <a:cxn ang="T8">
                        <a:pos x="T0" y="T1"/>
                      </a:cxn>
                      <a:cxn ang="T9">
                        <a:pos x="T2" y="T3"/>
                      </a:cxn>
                      <a:cxn ang="T10">
                        <a:pos x="T4" y="T5"/>
                      </a:cxn>
                      <a:cxn ang="T11">
                        <a:pos x="T6" y="T7"/>
                      </a:cxn>
                    </a:cxnLst>
                    <a:rect l="T12" t="T13" r="T14" b="T15"/>
                    <a:pathLst>
                      <a:path w="144" h="468">
                        <a:moveTo>
                          <a:pt x="0" y="0"/>
                        </a:moveTo>
                        <a:lnTo>
                          <a:pt x="0" y="312"/>
                        </a:lnTo>
                        <a:lnTo>
                          <a:pt x="144" y="360"/>
                        </a:lnTo>
                        <a:lnTo>
                          <a:pt x="144" y="468"/>
                        </a:lnTo>
                      </a:path>
                    </a:pathLst>
                  </a:custGeom>
                  <a:noFill/>
                  <a:ln w="28575" cap="flat" cmpd="sng">
                    <a:solidFill>
                      <a:srgbClr val="00FF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29" name="Freeform 27"/>
                  <p:cNvSpPr>
                    <a:spLocks/>
                  </p:cNvSpPr>
                  <p:nvPr/>
                </p:nvSpPr>
                <p:spPr bwMode="auto">
                  <a:xfrm flipH="1">
                    <a:off x="3228" y="2388"/>
                    <a:ext cx="144" cy="468"/>
                  </a:xfrm>
                  <a:custGeom>
                    <a:avLst/>
                    <a:gdLst>
                      <a:gd name="T0" fmla="*/ 0 w 144"/>
                      <a:gd name="T1" fmla="*/ 0 h 468"/>
                      <a:gd name="T2" fmla="*/ 0 w 144"/>
                      <a:gd name="T3" fmla="*/ 312 h 468"/>
                      <a:gd name="T4" fmla="*/ 144 w 144"/>
                      <a:gd name="T5" fmla="*/ 360 h 468"/>
                      <a:gd name="T6" fmla="*/ 144 w 144"/>
                      <a:gd name="T7" fmla="*/ 468 h 468"/>
                      <a:gd name="T8" fmla="*/ 0 60000 65536"/>
                      <a:gd name="T9" fmla="*/ 0 60000 65536"/>
                      <a:gd name="T10" fmla="*/ 0 60000 65536"/>
                      <a:gd name="T11" fmla="*/ 0 60000 65536"/>
                      <a:gd name="T12" fmla="*/ 0 w 144"/>
                      <a:gd name="T13" fmla="*/ 0 h 468"/>
                      <a:gd name="T14" fmla="*/ 144 w 144"/>
                      <a:gd name="T15" fmla="*/ 468 h 468"/>
                    </a:gdLst>
                    <a:ahLst/>
                    <a:cxnLst>
                      <a:cxn ang="T8">
                        <a:pos x="T0" y="T1"/>
                      </a:cxn>
                      <a:cxn ang="T9">
                        <a:pos x="T2" y="T3"/>
                      </a:cxn>
                      <a:cxn ang="T10">
                        <a:pos x="T4" y="T5"/>
                      </a:cxn>
                      <a:cxn ang="T11">
                        <a:pos x="T6" y="T7"/>
                      </a:cxn>
                    </a:cxnLst>
                    <a:rect l="T12" t="T13" r="T14" b="T15"/>
                    <a:pathLst>
                      <a:path w="144" h="468">
                        <a:moveTo>
                          <a:pt x="0" y="0"/>
                        </a:moveTo>
                        <a:lnTo>
                          <a:pt x="0" y="312"/>
                        </a:lnTo>
                        <a:lnTo>
                          <a:pt x="144" y="360"/>
                        </a:lnTo>
                        <a:lnTo>
                          <a:pt x="144" y="468"/>
                        </a:lnTo>
                      </a:path>
                    </a:pathLst>
                  </a:custGeom>
                  <a:noFill/>
                  <a:ln w="28575" cap="flat" cmpd="sng">
                    <a:solidFill>
                      <a:srgbClr val="00FF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24613" name="Group 28"/>
                <p:cNvGrpSpPr>
                  <a:grpSpLocks/>
                </p:cNvGrpSpPr>
                <p:nvPr/>
              </p:nvGrpSpPr>
              <p:grpSpPr bwMode="auto">
                <a:xfrm>
                  <a:off x="3480" y="2472"/>
                  <a:ext cx="456" cy="792"/>
                  <a:chOff x="3372" y="2484"/>
                  <a:chExt cx="456" cy="792"/>
                </a:xfrm>
              </p:grpSpPr>
              <p:grpSp>
                <p:nvGrpSpPr>
                  <p:cNvPr id="24614" name="Group 29"/>
                  <p:cNvGrpSpPr>
                    <a:grpSpLocks/>
                  </p:cNvGrpSpPr>
                  <p:nvPr/>
                </p:nvGrpSpPr>
                <p:grpSpPr bwMode="auto">
                  <a:xfrm>
                    <a:off x="3372" y="2484"/>
                    <a:ext cx="456" cy="576"/>
                    <a:chOff x="3372" y="2484"/>
                    <a:chExt cx="456" cy="576"/>
                  </a:xfrm>
                </p:grpSpPr>
                <p:sp>
                  <p:nvSpPr>
                    <p:cNvPr id="24621" name="Freeform 30" descr="20%"/>
                    <p:cNvSpPr>
                      <a:spLocks/>
                    </p:cNvSpPr>
                    <p:nvPr/>
                  </p:nvSpPr>
                  <p:spPr bwMode="auto">
                    <a:xfrm>
                      <a:off x="3372" y="2484"/>
                      <a:ext cx="456" cy="348"/>
                    </a:xfrm>
                    <a:custGeom>
                      <a:avLst/>
                      <a:gdLst>
                        <a:gd name="T0" fmla="*/ 0 w 456"/>
                        <a:gd name="T1" fmla="*/ 0 h 348"/>
                        <a:gd name="T2" fmla="*/ 456 w 456"/>
                        <a:gd name="T3" fmla="*/ 0 h 348"/>
                        <a:gd name="T4" fmla="*/ 456 w 456"/>
                        <a:gd name="T5" fmla="*/ 204 h 348"/>
                        <a:gd name="T6" fmla="*/ 312 w 456"/>
                        <a:gd name="T7" fmla="*/ 264 h 348"/>
                        <a:gd name="T8" fmla="*/ 312 w 456"/>
                        <a:gd name="T9" fmla="*/ 348 h 348"/>
                        <a:gd name="T10" fmla="*/ 144 w 456"/>
                        <a:gd name="T11" fmla="*/ 348 h 348"/>
                        <a:gd name="T12" fmla="*/ 144 w 456"/>
                        <a:gd name="T13" fmla="*/ 264 h 348"/>
                        <a:gd name="T14" fmla="*/ 0 w 456"/>
                        <a:gd name="T15" fmla="*/ 204 h 348"/>
                        <a:gd name="T16" fmla="*/ 0 w 456"/>
                        <a:gd name="T17" fmla="*/ 0 h 3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6"/>
                        <a:gd name="T28" fmla="*/ 0 h 348"/>
                        <a:gd name="T29" fmla="*/ 456 w 456"/>
                        <a:gd name="T30" fmla="*/ 348 h 3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6" h="348">
                          <a:moveTo>
                            <a:pt x="0" y="0"/>
                          </a:moveTo>
                          <a:lnTo>
                            <a:pt x="456" y="0"/>
                          </a:lnTo>
                          <a:lnTo>
                            <a:pt x="456" y="204"/>
                          </a:lnTo>
                          <a:lnTo>
                            <a:pt x="312" y="264"/>
                          </a:lnTo>
                          <a:lnTo>
                            <a:pt x="312" y="348"/>
                          </a:lnTo>
                          <a:lnTo>
                            <a:pt x="144" y="348"/>
                          </a:lnTo>
                          <a:lnTo>
                            <a:pt x="144" y="264"/>
                          </a:lnTo>
                          <a:lnTo>
                            <a:pt x="0" y="204"/>
                          </a:lnTo>
                          <a:lnTo>
                            <a:pt x="0" y="0"/>
                          </a:lnTo>
                          <a:close/>
                        </a:path>
                      </a:pathLst>
                    </a:custGeom>
                    <a:pattFill prst="pct20">
                      <a:fgClr>
                        <a:schemeClr val="folHlink"/>
                      </a:fgClr>
                      <a:bgClr>
                        <a:srgbClr val="FFFF99"/>
                      </a:bgClr>
                    </a:pattFill>
                    <a:ln w="12700" cap="flat" cmpd="sng">
                      <a:solidFill>
                        <a:schemeClr val="tx1"/>
                      </a:solidFill>
                      <a:prstDash val="solid"/>
                      <a:round/>
                      <a:headEnd type="none" w="sm" len="sm"/>
                      <a:tailEnd type="none" w="sm" len="sm"/>
                    </a:ln>
                  </p:spPr>
                  <p:txBody>
                    <a:bodyPr wrap="none" anchor="ctr"/>
                    <a:lstStyle/>
                    <a:p>
                      <a:endParaRPr lang="zh-CN" altLang="en-US"/>
                    </a:p>
                  </p:txBody>
                </p:sp>
                <p:grpSp>
                  <p:nvGrpSpPr>
                    <p:cNvPr id="24622" name="Group 31"/>
                    <p:cNvGrpSpPr>
                      <a:grpSpLocks/>
                    </p:cNvGrpSpPr>
                    <p:nvPr/>
                  </p:nvGrpSpPr>
                  <p:grpSpPr bwMode="auto">
                    <a:xfrm>
                      <a:off x="3528" y="2856"/>
                      <a:ext cx="144" cy="204"/>
                      <a:chOff x="3528" y="2856"/>
                      <a:chExt cx="144" cy="204"/>
                    </a:xfrm>
                  </p:grpSpPr>
                  <p:sp>
                    <p:nvSpPr>
                      <p:cNvPr id="24623" name="Line 32"/>
                      <p:cNvSpPr>
                        <a:spLocks noChangeShapeType="1"/>
                      </p:cNvSpPr>
                      <p:nvPr/>
                    </p:nvSpPr>
                    <p:spPr bwMode="auto">
                      <a:xfrm flipH="1">
                        <a:off x="3528"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4" name="Line 33"/>
                      <p:cNvSpPr>
                        <a:spLocks noChangeShapeType="1"/>
                      </p:cNvSpPr>
                      <p:nvPr/>
                    </p:nvSpPr>
                    <p:spPr bwMode="auto">
                      <a:xfrm flipH="1">
                        <a:off x="3564"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5" name="Line 34"/>
                      <p:cNvSpPr>
                        <a:spLocks noChangeShapeType="1"/>
                      </p:cNvSpPr>
                      <p:nvPr/>
                    </p:nvSpPr>
                    <p:spPr bwMode="auto">
                      <a:xfrm flipH="1">
                        <a:off x="3600"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6" name="Line 35"/>
                      <p:cNvSpPr>
                        <a:spLocks noChangeShapeType="1"/>
                      </p:cNvSpPr>
                      <p:nvPr/>
                    </p:nvSpPr>
                    <p:spPr bwMode="auto">
                      <a:xfrm flipH="1">
                        <a:off x="3636" y="2868"/>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7" name="Line 36"/>
                      <p:cNvSpPr>
                        <a:spLocks noChangeShapeType="1"/>
                      </p:cNvSpPr>
                      <p:nvPr/>
                    </p:nvSpPr>
                    <p:spPr bwMode="auto">
                      <a:xfrm flipH="1">
                        <a:off x="3672"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4615" name="Group 37"/>
                  <p:cNvGrpSpPr>
                    <a:grpSpLocks/>
                  </p:cNvGrpSpPr>
                  <p:nvPr/>
                </p:nvGrpSpPr>
                <p:grpSpPr bwMode="auto">
                  <a:xfrm>
                    <a:off x="3540" y="3072"/>
                    <a:ext cx="144" cy="204"/>
                    <a:chOff x="3528" y="2856"/>
                    <a:chExt cx="144" cy="204"/>
                  </a:xfrm>
                </p:grpSpPr>
                <p:sp>
                  <p:nvSpPr>
                    <p:cNvPr id="24616" name="Line 38"/>
                    <p:cNvSpPr>
                      <a:spLocks noChangeShapeType="1"/>
                    </p:cNvSpPr>
                    <p:nvPr/>
                  </p:nvSpPr>
                  <p:spPr bwMode="auto">
                    <a:xfrm flipH="1">
                      <a:off x="3528"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7" name="Line 39"/>
                    <p:cNvSpPr>
                      <a:spLocks noChangeShapeType="1"/>
                    </p:cNvSpPr>
                    <p:nvPr/>
                  </p:nvSpPr>
                  <p:spPr bwMode="auto">
                    <a:xfrm flipH="1">
                      <a:off x="3564"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8" name="Line 40"/>
                    <p:cNvSpPr>
                      <a:spLocks noChangeShapeType="1"/>
                    </p:cNvSpPr>
                    <p:nvPr/>
                  </p:nvSpPr>
                  <p:spPr bwMode="auto">
                    <a:xfrm flipH="1">
                      <a:off x="3600" y="2856"/>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19" name="Line 41"/>
                    <p:cNvSpPr>
                      <a:spLocks noChangeShapeType="1"/>
                    </p:cNvSpPr>
                    <p:nvPr/>
                  </p:nvSpPr>
                  <p:spPr bwMode="auto">
                    <a:xfrm flipH="1">
                      <a:off x="3636" y="2868"/>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0" name="Line 42"/>
                    <p:cNvSpPr>
                      <a:spLocks noChangeShapeType="1"/>
                    </p:cNvSpPr>
                    <p:nvPr/>
                  </p:nvSpPr>
                  <p:spPr bwMode="auto">
                    <a:xfrm flipH="1">
                      <a:off x="3672" y="2880"/>
                      <a:ext cx="0" cy="180"/>
                    </a:xfrm>
                    <a:prstGeom prst="line">
                      <a:avLst/>
                    </a:prstGeom>
                    <a:noFill/>
                    <a:ln w="28575">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sp>
            <p:nvSpPr>
              <p:cNvPr id="24611" name="Oval 43"/>
              <p:cNvSpPr>
                <a:spLocks noChangeArrowheads="1"/>
              </p:cNvSpPr>
              <p:nvPr/>
            </p:nvSpPr>
            <p:spPr bwMode="auto">
              <a:xfrm>
                <a:off x="3852" y="3624"/>
                <a:ext cx="300" cy="304"/>
              </a:xfrm>
              <a:prstGeom prst="ellipse">
                <a:avLst/>
              </a:prstGeom>
              <a:solidFill>
                <a:schemeClr val="hlink"/>
              </a:solidFill>
              <a:ln w="12700">
                <a:solidFill>
                  <a:schemeClr val="tx1"/>
                </a:solidFill>
                <a:round/>
                <a:headEnd type="none" w="sm" len="sm"/>
                <a:tailEnd type="none" w="sm" len="sm"/>
              </a:ln>
            </p:spPr>
            <p:txBody>
              <a:bodyPr wrap="none" anchor="ctr"/>
              <a:lstStyle/>
              <a:p>
                <a:pPr>
                  <a:spcBef>
                    <a:spcPct val="20000"/>
                  </a:spcBef>
                </a:pPr>
                <a:endParaRPr lang="en-US" altLang="zh-CN"/>
              </a:p>
            </p:txBody>
          </p:sp>
        </p:grpSp>
        <p:sp>
          <p:nvSpPr>
            <p:cNvPr id="24602" name="AutoShape 44"/>
            <p:cNvSpPr>
              <a:spLocks noChangeArrowheads="1"/>
            </p:cNvSpPr>
            <p:nvPr/>
          </p:nvSpPr>
          <p:spPr bwMode="auto">
            <a:xfrm>
              <a:off x="4380" y="2808"/>
              <a:ext cx="336" cy="192"/>
            </a:xfrm>
            <a:prstGeom prst="rightArrow">
              <a:avLst>
                <a:gd name="adj1" fmla="val 50000"/>
                <a:gd name="adj2" fmla="val 43750"/>
              </a:avLst>
            </a:prstGeom>
            <a:solidFill>
              <a:schemeClr val="accent2"/>
            </a:solidFill>
            <a:ln w="12700">
              <a:solidFill>
                <a:schemeClr val="tx1"/>
              </a:solidFill>
              <a:miter lim="800000"/>
              <a:headEnd type="none" w="sm" len="sm"/>
              <a:tailEnd type="none" w="sm" len="sm"/>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4589" name="Object 45"/>
                <p:cNvSpPr txBox="1"/>
                <p:nvPr/>
              </p:nvSpPr>
              <p:spPr bwMode="auto">
                <a:xfrm>
                  <a:off x="4404" y="2454"/>
                  <a:ext cx="348" cy="37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oMath>
                    </m:oMathPara>
                  </a14:m>
                  <a:endParaRPr lang="zh-CN" altLang="en-US"/>
                </a:p>
              </p:txBody>
            </p:sp>
          </mc:Choice>
          <mc:Fallback xmlns="">
            <p:sp>
              <p:nvSpPr>
                <p:cNvPr id="24589" name="Object 45"/>
                <p:cNvSpPr txBox="1">
                  <a:spLocks noRot="1" noChangeAspect="1" noMove="1" noResize="1" noEditPoints="1" noAdjustHandles="1" noChangeArrowheads="1" noChangeShapeType="1" noTextEdit="1"/>
                </p:cNvSpPr>
                <p:nvPr/>
              </p:nvSpPr>
              <p:spPr bwMode="auto">
                <a:xfrm>
                  <a:off x="4404" y="2454"/>
                  <a:ext cx="348" cy="378"/>
                </a:xfrm>
                <a:prstGeom prst="rect">
                  <a:avLst/>
                </a:prstGeom>
                <a:blipFill>
                  <a:blip r:embed="rId9"/>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0" name="Object 46"/>
                <p:cNvSpPr txBox="1"/>
                <p:nvPr/>
              </p:nvSpPr>
              <p:spPr bwMode="auto">
                <a:xfrm>
                  <a:off x="2884" y="2212"/>
                  <a:ext cx="591" cy="3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oMath>
                    </m:oMathPara>
                  </a14:m>
                  <a:endParaRPr lang="zh-CN" altLang="en-US"/>
                </a:p>
              </p:txBody>
            </p:sp>
          </mc:Choice>
          <mc:Fallback xmlns="">
            <p:sp>
              <p:nvSpPr>
                <p:cNvPr id="24590" name="Object 46"/>
                <p:cNvSpPr txBox="1">
                  <a:spLocks noRot="1" noChangeAspect="1" noMove="1" noResize="1" noEditPoints="1" noAdjustHandles="1" noChangeArrowheads="1" noChangeShapeType="1" noTextEdit="1"/>
                </p:cNvSpPr>
                <p:nvPr/>
              </p:nvSpPr>
              <p:spPr bwMode="auto">
                <a:xfrm>
                  <a:off x="2884" y="2212"/>
                  <a:ext cx="591" cy="375"/>
                </a:xfrm>
                <a:prstGeom prst="rect">
                  <a:avLst/>
                </a:prstGeom>
                <a:blipFill>
                  <a:blip r:embed="rId10"/>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91" name="Object 47"/>
                <p:cNvSpPr txBox="1"/>
                <p:nvPr/>
              </p:nvSpPr>
              <p:spPr bwMode="auto">
                <a:xfrm>
                  <a:off x="3377" y="2851"/>
                  <a:ext cx="347" cy="297"/>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𝑚</m:t>
                        </m:r>
                      </m:oMath>
                    </m:oMathPara>
                  </a14:m>
                  <a:endParaRPr lang="zh-CN" altLang="en-US"/>
                </a:p>
              </p:txBody>
            </p:sp>
          </mc:Choice>
          <mc:Fallback xmlns="">
            <p:sp>
              <p:nvSpPr>
                <p:cNvPr id="24591" name="Object 47"/>
                <p:cNvSpPr txBox="1">
                  <a:spLocks noRot="1" noChangeAspect="1" noMove="1" noResize="1" noEditPoints="1" noAdjustHandles="1" noChangeArrowheads="1" noChangeShapeType="1" noTextEdit="1"/>
                </p:cNvSpPr>
                <p:nvPr/>
              </p:nvSpPr>
              <p:spPr bwMode="auto">
                <a:xfrm>
                  <a:off x="3377" y="2851"/>
                  <a:ext cx="347" cy="297"/>
                </a:xfrm>
                <a:prstGeom prst="rect">
                  <a:avLst/>
                </a:prstGeom>
                <a:blipFill>
                  <a:blip r:embed="rId11"/>
                  <a:stretch>
                    <a:fillRect/>
                  </a:stretch>
                </a:blipFill>
                <a:ln>
                  <a:noFill/>
                </a:ln>
                <a:effectLst/>
                <a:extLst/>
              </p:spPr>
              <p:txBody>
                <a:bodyPr/>
                <a:lstStyle/>
                <a:p>
                  <a:r>
                    <a:rPr lang="zh-CN" altLang="en-US">
                      <a:noFill/>
                    </a:rPr>
                    <a:t> </a:t>
                  </a:r>
                </a:p>
              </p:txBody>
            </p:sp>
          </mc:Fallback>
        </mc:AlternateContent>
        <p:grpSp>
          <p:nvGrpSpPr>
            <p:cNvPr id="24603" name="Group 48"/>
            <p:cNvGrpSpPr>
              <a:grpSpLocks/>
            </p:cNvGrpSpPr>
            <p:nvPr/>
          </p:nvGrpSpPr>
          <p:grpSpPr bwMode="auto">
            <a:xfrm>
              <a:off x="2244" y="3007"/>
              <a:ext cx="3336" cy="425"/>
              <a:chOff x="2424" y="3511"/>
              <a:chExt cx="3336" cy="425"/>
            </a:xfrm>
          </p:grpSpPr>
          <p:sp>
            <p:nvSpPr>
              <p:cNvPr id="24604" name="Line 49"/>
              <p:cNvSpPr>
                <a:spLocks noChangeShapeType="1"/>
              </p:cNvSpPr>
              <p:nvPr/>
            </p:nvSpPr>
            <p:spPr bwMode="auto">
              <a:xfrm>
                <a:off x="2424" y="3936"/>
                <a:ext cx="3336" cy="0"/>
              </a:xfrm>
              <a:prstGeom prst="line">
                <a:avLst/>
              </a:prstGeom>
              <a:noFill/>
              <a:ln w="38100">
                <a:solidFill>
                  <a:schemeClr val="tx2"/>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4592" name="Object 50"/>
                  <p:cNvSpPr txBox="1"/>
                  <p:nvPr/>
                </p:nvSpPr>
                <p:spPr bwMode="auto">
                  <a:xfrm>
                    <a:off x="5428" y="3511"/>
                    <a:ext cx="332" cy="36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𝑥</m:t>
                          </m:r>
                        </m:oMath>
                      </m:oMathPara>
                    </a14:m>
                    <a:endParaRPr lang="zh-CN" altLang="en-US"/>
                  </a:p>
                </p:txBody>
              </p:sp>
            </mc:Choice>
            <mc:Fallback xmlns="">
              <p:sp>
                <p:nvSpPr>
                  <p:cNvPr id="24592" name="Object 50"/>
                  <p:cNvSpPr txBox="1">
                    <a:spLocks noRot="1" noChangeAspect="1" noMove="1" noResize="1" noEditPoints="1" noAdjustHandles="1" noChangeArrowheads="1" noChangeShapeType="1" noTextEdit="1"/>
                  </p:cNvSpPr>
                  <p:nvPr/>
                </p:nvSpPr>
                <p:spPr bwMode="auto">
                  <a:xfrm>
                    <a:off x="5428" y="3511"/>
                    <a:ext cx="332" cy="369"/>
                  </a:xfrm>
                  <a:prstGeom prst="rect">
                    <a:avLst/>
                  </a:prstGeom>
                  <a:blipFill>
                    <a:blip r:embed="rId12"/>
                    <a:stretch>
                      <a:fillRect/>
                    </a:stretch>
                  </a:blipFill>
                  <a:ln>
                    <a:noFill/>
                  </a:ln>
                  <a:effectLst/>
                  <a:extLst/>
                </p:spPr>
                <p:txBody>
                  <a:bodyPr/>
                  <a:lstStyle/>
                  <a:p>
                    <a:r>
                      <a:rPr lang="zh-CN" altLang="en-US">
                        <a:noFill/>
                      </a:rPr>
                      <a:t> </a:t>
                    </a:r>
                  </a:p>
                </p:txBody>
              </p:sp>
            </mc:Fallback>
          </mc:AlternateContent>
        </p:grpSp>
      </p:grpSp>
      <p:sp>
        <p:nvSpPr>
          <p:cNvPr id="134195" name="Rectangle 51"/>
          <p:cNvSpPr>
            <a:spLocks noChangeArrowheads="1"/>
          </p:cNvSpPr>
          <p:nvPr/>
        </p:nvSpPr>
        <p:spPr bwMode="auto">
          <a:xfrm>
            <a:off x="106363" y="193040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p>
            <a:pPr algn="ctr"/>
            <a:r>
              <a:rPr lang="zh-CN" altLang="en-US" b="1">
                <a:solidFill>
                  <a:srgbClr val="FF0000"/>
                </a:solidFill>
                <a:ea typeface="黑体" pitchFamily="49" charset="-122"/>
              </a:rPr>
              <a:t>另解：</a:t>
            </a:r>
          </a:p>
        </p:txBody>
      </p:sp>
      <p:sp>
        <p:nvSpPr>
          <p:cNvPr id="134196" name="Rectangle 52"/>
          <p:cNvSpPr>
            <a:spLocks noChangeArrowheads="1"/>
          </p:cNvSpPr>
          <p:nvPr/>
        </p:nvSpPr>
        <p:spPr bwMode="auto">
          <a:xfrm>
            <a:off x="381000" y="2611438"/>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b="1">
                <a:ea typeface="宋体" pitchFamily="2" charset="-122"/>
              </a:rPr>
              <a:t>在水平方向应用牛顿定律：</a:t>
            </a:r>
          </a:p>
        </p:txBody>
      </p:sp>
      <mc:AlternateContent xmlns:mc="http://schemas.openxmlformats.org/markup-compatibility/2006" xmlns:a14="http://schemas.microsoft.com/office/drawing/2010/main">
        <mc:Choice Requires="a14">
          <p:sp>
            <p:nvSpPr>
              <p:cNvPr id="134197" name="Object 53"/>
              <p:cNvSpPr txBox="1"/>
              <p:nvPr/>
            </p:nvSpPr>
            <p:spPr bwMode="auto">
              <a:xfrm>
                <a:off x="468313" y="3068638"/>
                <a:ext cx="2654300" cy="12827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𝑚𝑣</m:t>
                              </m:r>
                              <m:r>
                                <a:rPr lang="zh-CN" altLang="en-US" i="1">
                                  <a:solidFill>
                                    <a:srgbClr val="000000"/>
                                  </a:solidFill>
                                  <a:latin typeface="Cambria Math" panose="02040503050406030204" pitchFamily="18" charset="0"/>
                                </a:rPr>
                                <m:t>)</m:t>
                              </m:r>
                            </m:e>
                          </m:func>
                        </m:num>
                        <m:den>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den>
                      </m:f>
                    </m:oMath>
                  </m:oMathPara>
                </a14:m>
                <a:endParaRPr lang="zh-CN" altLang="en-US" dirty="0"/>
              </a:p>
            </p:txBody>
          </p:sp>
        </mc:Choice>
        <mc:Fallback xmlns="">
          <p:sp>
            <p:nvSpPr>
              <p:cNvPr id="134197" name="Object 53"/>
              <p:cNvSpPr txBox="1">
                <a:spLocks noRot="1" noChangeAspect="1" noMove="1" noResize="1" noEditPoints="1" noAdjustHandles="1" noChangeArrowheads="1" noChangeShapeType="1" noTextEdit="1"/>
              </p:cNvSpPr>
              <p:nvPr/>
            </p:nvSpPr>
            <p:spPr bwMode="auto">
              <a:xfrm>
                <a:off x="468313" y="3068638"/>
                <a:ext cx="2654300" cy="1282700"/>
              </a:xfrm>
              <a:prstGeom prst="rect">
                <a:avLst/>
              </a:prstGeom>
              <a:blipFill>
                <a:blip r:embed="rId1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198" name="Object 54"/>
              <p:cNvSpPr txBox="1"/>
              <p:nvPr/>
            </p:nvSpPr>
            <p:spPr bwMode="auto">
              <a:xfrm>
                <a:off x="734358" y="4349828"/>
                <a:ext cx="2808287" cy="111601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num>
                        <m:den>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den>
                      </m:f>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𝑣</m:t>
                              </m:r>
                            </m:e>
                          </m:func>
                        </m:num>
                        <m:den>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den>
                      </m:f>
                    </m:oMath>
                  </m:oMathPara>
                </a14:m>
                <a:endParaRPr lang="zh-CN" altLang="en-US"/>
              </a:p>
            </p:txBody>
          </p:sp>
        </mc:Choice>
        <mc:Fallback xmlns="">
          <p:sp>
            <p:nvSpPr>
              <p:cNvPr id="134198" name="Object 54"/>
              <p:cNvSpPr txBox="1">
                <a:spLocks noRot="1" noChangeAspect="1" noMove="1" noResize="1" noEditPoints="1" noAdjustHandles="1" noChangeArrowheads="1" noChangeShapeType="1" noTextEdit="1"/>
              </p:cNvSpPr>
              <p:nvPr/>
            </p:nvSpPr>
            <p:spPr bwMode="auto">
              <a:xfrm>
                <a:off x="734358" y="4349828"/>
                <a:ext cx="2808287" cy="1116013"/>
              </a:xfrm>
              <a:prstGeom prst="rect">
                <a:avLst/>
              </a:prstGeom>
              <a:blipFill>
                <a:blip r:embed="rId1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199" name="Object 55"/>
              <p:cNvSpPr txBox="1"/>
              <p:nvPr/>
            </p:nvSpPr>
            <p:spPr bwMode="auto">
              <a:xfrm>
                <a:off x="468313" y="5661025"/>
                <a:ext cx="1947862" cy="57626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=500×3</m:t>
                      </m:r>
                    </m:oMath>
                  </m:oMathPara>
                </a14:m>
                <a:endParaRPr lang="zh-CN" altLang="en-US" dirty="0"/>
              </a:p>
            </p:txBody>
          </p:sp>
        </mc:Choice>
        <mc:Fallback xmlns="">
          <p:sp>
            <p:nvSpPr>
              <p:cNvPr id="134199" name="Object 55"/>
              <p:cNvSpPr txBox="1">
                <a:spLocks noRot="1" noChangeAspect="1" noMove="1" noResize="1" noEditPoints="1" noAdjustHandles="1" noChangeArrowheads="1" noChangeShapeType="1" noTextEdit="1"/>
              </p:cNvSpPr>
              <p:nvPr/>
            </p:nvSpPr>
            <p:spPr bwMode="auto">
              <a:xfrm>
                <a:off x="468313" y="5661025"/>
                <a:ext cx="1947862" cy="576263"/>
              </a:xfrm>
              <a:prstGeom prst="rect">
                <a:avLst/>
              </a:prstGeom>
              <a:blipFill>
                <a:blip r:embed="rId15"/>
                <a:stretch>
                  <a:fillRect/>
                </a:stretch>
              </a:blipFill>
              <a:ln>
                <a:noFill/>
              </a:ln>
              <a:effectLst/>
              <a:extLst/>
            </p:spPr>
            <p:txBody>
              <a:bodyPr/>
              <a:lstStyle/>
              <a:p>
                <a:r>
                  <a:rPr lang="zh-CN" altLang="en-US">
                    <a:noFill/>
                  </a:rPr>
                  <a:t> </a:t>
                </a:r>
              </a:p>
            </p:txBody>
          </p:sp>
        </mc:Fallback>
      </mc:AlternateContent>
      <p:grpSp>
        <p:nvGrpSpPr>
          <p:cNvPr id="12" name="Group 56"/>
          <p:cNvGrpSpPr>
            <a:grpSpLocks/>
          </p:cNvGrpSpPr>
          <p:nvPr/>
        </p:nvGrpSpPr>
        <p:grpSpPr bwMode="auto">
          <a:xfrm>
            <a:off x="2771775" y="4149725"/>
            <a:ext cx="1152525" cy="1477963"/>
            <a:chOff x="4272" y="1968"/>
            <a:chExt cx="1076" cy="1104"/>
          </a:xfrm>
        </p:grpSpPr>
        <p:sp>
          <p:nvSpPr>
            <p:cNvPr id="24600" name="Rectangle 57"/>
            <p:cNvSpPr>
              <a:spLocks noChangeArrowheads="1"/>
            </p:cNvSpPr>
            <p:nvPr/>
          </p:nvSpPr>
          <p:spPr bwMode="auto">
            <a:xfrm>
              <a:off x="4272" y="1968"/>
              <a:ext cx="528" cy="1056"/>
            </a:xfrm>
            <a:prstGeom prst="rect">
              <a:avLst/>
            </a:prstGeom>
            <a:noFill/>
            <a:ln w="38100">
              <a:solidFill>
                <a:srgbClr val="FF33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4588" name="Object 58"/>
                <p:cNvSpPr txBox="1"/>
                <p:nvPr/>
              </p:nvSpPr>
              <p:spPr bwMode="auto">
                <a:xfrm>
                  <a:off x="4800" y="2678"/>
                  <a:ext cx="548" cy="394"/>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24588" name="Object 58"/>
                <p:cNvSpPr txBox="1">
                  <a:spLocks noRot="1" noChangeAspect="1" noMove="1" noResize="1" noEditPoints="1" noAdjustHandles="1" noChangeArrowheads="1" noChangeShapeType="1" noTextEdit="1"/>
                </p:cNvSpPr>
                <p:nvPr/>
              </p:nvSpPr>
              <p:spPr bwMode="auto">
                <a:xfrm>
                  <a:off x="4800" y="2678"/>
                  <a:ext cx="548" cy="394"/>
                </a:xfrm>
                <a:prstGeom prst="rect">
                  <a:avLst/>
                </a:prstGeom>
                <a:blipFill>
                  <a:blip r:embed="rId16"/>
                  <a:stretch>
                    <a:fillRect r="-15464"/>
                  </a:stretch>
                </a:blipFill>
                <a:ln>
                  <a:noFill/>
                </a:ln>
                <a:effectLs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4203" name="Object 59"/>
              <p:cNvSpPr txBox="1"/>
              <p:nvPr/>
            </p:nvSpPr>
            <p:spPr bwMode="auto">
              <a:xfrm>
                <a:off x="1935163" y="5661025"/>
                <a:ext cx="2374900" cy="6000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=1.5×1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3</m:t>
                          </m:r>
                        </m:sup>
                      </m:sSup>
                      <m:r>
                        <m:rPr>
                          <m:sty m:val="p"/>
                        </m:rPr>
                        <a:rPr lang="zh-CN" altLang="en-US" i="0">
                          <a:solidFill>
                            <a:srgbClr val="000000"/>
                          </a:solidFill>
                          <a:latin typeface="Cambria Math" panose="02040503050406030204" pitchFamily="18" charset="0"/>
                        </a:rPr>
                        <m:t>N</m:t>
                      </m:r>
                    </m:oMath>
                  </m:oMathPara>
                </a14:m>
                <a:endParaRPr lang="zh-CN" altLang="en-US" dirty="0"/>
              </a:p>
            </p:txBody>
          </p:sp>
        </mc:Choice>
        <mc:Fallback xmlns="">
          <p:sp>
            <p:nvSpPr>
              <p:cNvPr id="134203" name="Object 59"/>
              <p:cNvSpPr txBox="1">
                <a:spLocks noRot="1" noChangeAspect="1" noMove="1" noResize="1" noEditPoints="1" noAdjustHandles="1" noChangeArrowheads="1" noChangeShapeType="1" noTextEdit="1"/>
              </p:cNvSpPr>
              <p:nvPr/>
            </p:nvSpPr>
            <p:spPr bwMode="auto">
              <a:xfrm>
                <a:off x="1935163" y="5661025"/>
                <a:ext cx="2374900" cy="600075"/>
              </a:xfrm>
              <a:prstGeom prst="rect">
                <a:avLst/>
              </a:prstGeom>
              <a:blipFill>
                <a:blip r:embed="rId17"/>
                <a:stretch>
                  <a:fillRect/>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4150"/>
                                        </p:tgtEl>
                                        <p:attrNameLst>
                                          <p:attrName>style.visibility</p:attrName>
                                        </p:attrNameLst>
                                      </p:cBhvr>
                                      <p:to>
                                        <p:strVal val="visible"/>
                                      </p:to>
                                    </p:set>
                                    <p:animEffect transition="in" filter="wipe(left)">
                                      <p:cBhvr>
                                        <p:cTn id="7" dur="500"/>
                                        <p:tgtEl>
                                          <p:spTgt spid="1341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4151"/>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3415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4153"/>
                                        </p:tgtEl>
                                        <p:attrNameLst>
                                          <p:attrName>style.visibility</p:attrName>
                                        </p:attrNameLst>
                                      </p:cBhvr>
                                      <p:to>
                                        <p:strVal val="visible"/>
                                      </p:to>
                                    </p:set>
                                    <p:animEffect transition="in" filter="wipe(left)">
                                      <p:cBhvr>
                                        <p:cTn id="18" dur="500"/>
                                        <p:tgtEl>
                                          <p:spTgt spid="13415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41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41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34195"/>
                                        </p:tgtEl>
                                        <p:attrNameLst>
                                          <p:attrName>style.visibility</p:attrName>
                                        </p:attrNameLst>
                                      </p:cBhvr>
                                      <p:to>
                                        <p:strVal val="visible"/>
                                      </p:to>
                                    </p:set>
                                    <p:animEffect transition="in" filter="blinds(horizontal)">
                                      <p:cBhvr>
                                        <p:cTn id="29" dur="500"/>
                                        <p:tgtEl>
                                          <p:spTgt spid="134195"/>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13415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3415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7" presetClass="entr" presetSubtype="2" fill="hold" grpId="0" nodeType="clickEffect">
                                  <p:stCondLst>
                                    <p:cond delay="0"/>
                                  </p:stCondLst>
                                  <p:childTnLst>
                                    <p:set>
                                      <p:cBhvr>
                                        <p:cTn id="37" dur="1" fill="hold">
                                          <p:stCondLst>
                                            <p:cond delay="0"/>
                                          </p:stCondLst>
                                        </p:cTn>
                                        <p:tgtEl>
                                          <p:spTgt spid="134196"/>
                                        </p:tgtEl>
                                        <p:attrNameLst>
                                          <p:attrName>style.visibility</p:attrName>
                                        </p:attrNameLst>
                                      </p:cBhvr>
                                      <p:to>
                                        <p:strVal val="visible"/>
                                      </p:to>
                                    </p:set>
                                    <p:anim calcmode="lin" valueType="num">
                                      <p:cBhvr>
                                        <p:cTn id="38" dur="500" fill="hold"/>
                                        <p:tgtEl>
                                          <p:spTgt spid="134196"/>
                                        </p:tgtEl>
                                        <p:attrNameLst>
                                          <p:attrName>ppt_x</p:attrName>
                                        </p:attrNameLst>
                                      </p:cBhvr>
                                      <p:tavLst>
                                        <p:tav tm="0">
                                          <p:val>
                                            <p:strVal val="#ppt_x+#ppt_w/2"/>
                                          </p:val>
                                        </p:tav>
                                        <p:tav tm="100000">
                                          <p:val>
                                            <p:strVal val="#ppt_x"/>
                                          </p:val>
                                        </p:tav>
                                      </p:tavLst>
                                    </p:anim>
                                    <p:anim calcmode="lin" valueType="num">
                                      <p:cBhvr>
                                        <p:cTn id="39" dur="500" fill="hold"/>
                                        <p:tgtEl>
                                          <p:spTgt spid="134196"/>
                                        </p:tgtEl>
                                        <p:attrNameLst>
                                          <p:attrName>ppt_y</p:attrName>
                                        </p:attrNameLst>
                                      </p:cBhvr>
                                      <p:tavLst>
                                        <p:tav tm="0">
                                          <p:val>
                                            <p:strVal val="#ppt_y"/>
                                          </p:val>
                                        </p:tav>
                                        <p:tav tm="100000">
                                          <p:val>
                                            <p:strVal val="#ppt_y"/>
                                          </p:val>
                                        </p:tav>
                                      </p:tavLst>
                                    </p:anim>
                                    <p:anim calcmode="lin" valueType="num">
                                      <p:cBhvr>
                                        <p:cTn id="40" dur="500" fill="hold"/>
                                        <p:tgtEl>
                                          <p:spTgt spid="134196"/>
                                        </p:tgtEl>
                                        <p:attrNameLst>
                                          <p:attrName>ppt_w</p:attrName>
                                        </p:attrNameLst>
                                      </p:cBhvr>
                                      <p:tavLst>
                                        <p:tav tm="0">
                                          <p:val>
                                            <p:fltVal val="0"/>
                                          </p:val>
                                        </p:tav>
                                        <p:tav tm="100000">
                                          <p:val>
                                            <p:strVal val="#ppt_w"/>
                                          </p:val>
                                        </p:tav>
                                      </p:tavLst>
                                    </p:anim>
                                    <p:anim calcmode="lin" valueType="num">
                                      <p:cBhvr>
                                        <p:cTn id="41" dur="500" fill="hold"/>
                                        <p:tgtEl>
                                          <p:spTgt spid="134196"/>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3419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randombar(horizontal)">
                                      <p:cBhvr>
                                        <p:cTn id="50" dur="500"/>
                                        <p:tgtEl>
                                          <p:spTgt spid="12"/>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134198"/>
                                        </p:tgtEl>
                                        <p:attrNameLst>
                                          <p:attrName>style.visibility</p:attrName>
                                        </p:attrNameLst>
                                      </p:cBhvr>
                                      <p:to>
                                        <p:strVal val="visible"/>
                                      </p:to>
                                    </p:set>
                                    <p:animEffect transition="in" filter="randombar(horizontal)">
                                      <p:cBhvr>
                                        <p:cTn id="53" dur="500"/>
                                        <p:tgtEl>
                                          <p:spTgt spid="134198"/>
                                        </p:tgtEl>
                                      </p:cBhvr>
                                    </p:animEffect>
                                  </p:childTnLst>
                                </p:cTn>
                              </p:par>
                              <p:par>
                                <p:cTn id="54" presetID="14" presetClass="entr" presetSubtype="10" fill="hold" grpId="0" nodeType="withEffect">
                                  <p:stCondLst>
                                    <p:cond delay="0"/>
                                  </p:stCondLst>
                                  <p:childTnLst>
                                    <p:set>
                                      <p:cBhvr>
                                        <p:cTn id="55" dur="1" fill="hold">
                                          <p:stCondLst>
                                            <p:cond delay="0"/>
                                          </p:stCondLst>
                                        </p:cTn>
                                        <p:tgtEl>
                                          <p:spTgt spid="134203"/>
                                        </p:tgtEl>
                                        <p:attrNameLst>
                                          <p:attrName>style.visibility</p:attrName>
                                        </p:attrNameLst>
                                      </p:cBhvr>
                                      <p:to>
                                        <p:strVal val="visible"/>
                                      </p:to>
                                    </p:set>
                                    <p:animEffect transition="in" filter="randombar(horizontal)">
                                      <p:cBhvr>
                                        <p:cTn id="56" dur="500"/>
                                        <p:tgtEl>
                                          <p:spTgt spid="134203"/>
                                        </p:tgtEl>
                                      </p:cBhvr>
                                    </p:animEffect>
                                  </p:childTnLst>
                                </p:cTn>
                              </p:par>
                              <p:par>
                                <p:cTn id="57" presetID="14" presetClass="entr" presetSubtype="10" fill="hold" grpId="0" nodeType="withEffect">
                                  <p:stCondLst>
                                    <p:cond delay="0"/>
                                  </p:stCondLst>
                                  <p:childTnLst>
                                    <p:set>
                                      <p:cBhvr>
                                        <p:cTn id="58" dur="1" fill="hold">
                                          <p:stCondLst>
                                            <p:cond delay="0"/>
                                          </p:stCondLst>
                                        </p:cTn>
                                        <p:tgtEl>
                                          <p:spTgt spid="134199"/>
                                        </p:tgtEl>
                                        <p:attrNameLst>
                                          <p:attrName>style.visibility</p:attrName>
                                        </p:attrNameLst>
                                      </p:cBhvr>
                                      <p:to>
                                        <p:strVal val="visible"/>
                                      </p:to>
                                    </p:set>
                                    <p:animEffect transition="in" filter="randombar(horizontal)">
                                      <p:cBhvr>
                                        <p:cTn id="59" dur="500"/>
                                        <p:tgtEl>
                                          <p:spTgt spid="134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0" grpId="0" autoUpdateAnimBg="0"/>
      <p:bldP spid="134151" grpId="0"/>
      <p:bldP spid="134152" grpId="0"/>
      <p:bldP spid="134153" grpId="0" autoUpdateAnimBg="0"/>
      <p:bldP spid="134154" grpId="0"/>
      <p:bldP spid="134155" grpId="0"/>
      <p:bldP spid="134156" grpId="0"/>
      <p:bldP spid="134157" grpId="0"/>
      <p:bldP spid="134195" grpId="0"/>
      <p:bldP spid="134196" grpId="0" autoUpdateAnimBg="0"/>
      <p:bldP spid="134197" grpId="0"/>
      <p:bldP spid="134198" grpId="0"/>
      <p:bldP spid="134199" grpId="0"/>
      <p:bldP spid="13420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21" name="Text Box 3"/>
          <p:cNvSpPr txBox="1">
            <a:spLocks noChangeArrowheads="1"/>
          </p:cNvSpPr>
          <p:nvPr/>
        </p:nvSpPr>
        <p:spPr bwMode="auto">
          <a:xfrm>
            <a:off x="250825" y="188913"/>
            <a:ext cx="8281988"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Aft>
                <a:spcPts val="1800"/>
              </a:spcAft>
            </a:pPr>
            <a:r>
              <a:rPr lang="en-US" altLang="zh-CN" sz="2800" b="1">
                <a:solidFill>
                  <a:srgbClr val="FF0000"/>
                </a:solidFill>
                <a:ea typeface="宋体" pitchFamily="2" charset="-122"/>
              </a:rPr>
              <a:t>[</a:t>
            </a:r>
            <a:r>
              <a:rPr lang="zh-CN" altLang="en-US" sz="2800" b="1">
                <a:solidFill>
                  <a:srgbClr val="FF0000"/>
                </a:solidFill>
                <a:ea typeface="宋体" pitchFamily="2" charset="-122"/>
              </a:rPr>
              <a:t>例</a:t>
            </a:r>
            <a:r>
              <a:rPr lang="en-US" altLang="zh-CN" sz="2800" b="1">
                <a:solidFill>
                  <a:srgbClr val="FF0000"/>
                </a:solidFill>
                <a:ea typeface="宋体" pitchFamily="2" charset="-122"/>
              </a:rPr>
              <a:t>4]</a:t>
            </a:r>
            <a:r>
              <a:rPr lang="zh-CN" altLang="en-US" sz="2800" b="1">
                <a:ea typeface="宋体" pitchFamily="2" charset="-122"/>
              </a:rPr>
              <a:t>质量</a:t>
            </a:r>
            <a:r>
              <a:rPr lang="en-US" altLang="zh-CN" sz="2800" b="1" i="1">
                <a:solidFill>
                  <a:srgbClr val="3333FF"/>
                </a:solidFill>
                <a:ea typeface="宋体" pitchFamily="2" charset="-122"/>
              </a:rPr>
              <a:t>m=</a:t>
            </a:r>
            <a:r>
              <a:rPr lang="en-US" altLang="zh-CN" sz="2800" b="1">
                <a:solidFill>
                  <a:srgbClr val="3333FF"/>
                </a:solidFill>
                <a:ea typeface="宋体" pitchFamily="2" charset="-122"/>
              </a:rPr>
              <a:t>1kg</a:t>
            </a:r>
            <a:r>
              <a:rPr lang="zh-CN" altLang="en-US" sz="2800" b="1">
                <a:ea typeface="宋体" pitchFamily="2" charset="-122"/>
              </a:rPr>
              <a:t>的小球作半径</a:t>
            </a:r>
            <a:r>
              <a:rPr lang="en-US" altLang="zh-CN" sz="2800" b="1" i="1">
                <a:solidFill>
                  <a:srgbClr val="3333FF"/>
                </a:solidFill>
                <a:ea typeface="宋体" pitchFamily="2" charset="-122"/>
              </a:rPr>
              <a:t>R=</a:t>
            </a:r>
            <a:r>
              <a:rPr lang="en-US" altLang="zh-CN" sz="2800" b="1">
                <a:solidFill>
                  <a:srgbClr val="3333FF"/>
                </a:solidFill>
                <a:ea typeface="宋体" pitchFamily="2" charset="-122"/>
              </a:rPr>
              <a:t>2m</a:t>
            </a:r>
            <a:r>
              <a:rPr lang="en-US" altLang="zh-CN" sz="2800" b="1">
                <a:solidFill>
                  <a:schemeClr val="tx2"/>
                </a:solidFill>
                <a:ea typeface="宋体" pitchFamily="2" charset="-122"/>
              </a:rPr>
              <a:t> </a:t>
            </a:r>
            <a:r>
              <a:rPr lang="zh-CN" altLang="en-US" sz="2800" b="1">
                <a:ea typeface="宋体" pitchFamily="2" charset="-122"/>
              </a:rPr>
              <a:t>的圆周运动，运动方程为                      </a:t>
            </a:r>
            <a:r>
              <a:rPr lang="en-US" altLang="zh-CN" sz="2800" b="1">
                <a:ea typeface="宋体" pitchFamily="2" charset="-122"/>
              </a:rPr>
              <a:t>(</a:t>
            </a:r>
            <a:r>
              <a:rPr lang="zh-CN" altLang="en-US" sz="2800" b="1">
                <a:ea typeface="宋体" pitchFamily="2" charset="-122"/>
              </a:rPr>
              <a:t>自然坐标</a:t>
            </a:r>
            <a:r>
              <a:rPr lang="en-US" altLang="zh-CN" sz="2800" b="1">
                <a:ea typeface="宋体" pitchFamily="2" charset="-122"/>
              </a:rPr>
              <a:t>), </a:t>
            </a:r>
            <a:r>
              <a:rPr lang="zh-CN" altLang="en-US" sz="2800" b="1">
                <a:ea typeface="宋体" pitchFamily="2" charset="-122"/>
              </a:rPr>
              <a:t>求小球从               到                 所受外力的冲量。</a:t>
            </a:r>
          </a:p>
        </p:txBody>
      </p:sp>
      <mc:AlternateContent xmlns:mc="http://schemas.openxmlformats.org/markup-compatibility/2006" xmlns:a14="http://schemas.microsoft.com/office/drawing/2010/main">
        <mc:Choice Requires="a14">
          <p:sp>
            <p:nvSpPr>
              <p:cNvPr id="25602" name="Object 4"/>
              <p:cNvSpPr txBox="1"/>
              <p:nvPr/>
            </p:nvSpPr>
            <p:spPr bwMode="auto">
              <a:xfrm>
                <a:off x="2215069" y="671513"/>
                <a:ext cx="1681162" cy="485775"/>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25602" name="Object 4"/>
              <p:cNvSpPr txBox="1">
                <a:spLocks noRot="1" noChangeAspect="1" noMove="1" noResize="1" noEditPoints="1" noAdjustHandles="1" noChangeArrowheads="1" noChangeShapeType="1" noTextEdit="1"/>
              </p:cNvSpPr>
              <p:nvPr/>
            </p:nvSpPr>
            <p:spPr bwMode="auto">
              <a:xfrm>
                <a:off x="2215069" y="671513"/>
                <a:ext cx="1681162" cy="485775"/>
              </a:xfrm>
              <a:prstGeom prst="rect">
                <a:avLst/>
              </a:prstGeom>
              <a:blipFill>
                <a:blip r:embed="rId2"/>
                <a:stretch>
                  <a:fillRect t="-95000" r="-4348" b="-130000"/>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03" name="Object 5"/>
              <p:cNvSpPr txBox="1"/>
              <p:nvPr/>
            </p:nvSpPr>
            <p:spPr bwMode="auto">
              <a:xfrm>
                <a:off x="7362950" y="634649"/>
                <a:ext cx="1439738" cy="533388"/>
              </a:xfrm>
              <a:prstGeom prst="rect">
                <a:avLst/>
              </a:prstGeom>
              <a:noFill/>
              <a:ln>
                <a:noFill/>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m:t>
                          </m:r>
                        </m:fName>
                        <m:e/>
                      </m:func>
                    </m:oMath>
                  </m:oMathPara>
                </a14:m>
                <a:endParaRPr lang="zh-CN" altLang="en-US" dirty="0"/>
              </a:p>
            </p:txBody>
          </p:sp>
        </mc:Choice>
        <mc:Fallback xmlns="">
          <p:sp>
            <p:nvSpPr>
              <p:cNvPr id="25603" name="Object 5"/>
              <p:cNvSpPr txBox="1">
                <a:spLocks noRot="1" noChangeAspect="1" noMove="1" noResize="1" noEditPoints="1" noAdjustHandles="1" noChangeArrowheads="1" noChangeShapeType="1" noTextEdit="1"/>
              </p:cNvSpPr>
              <p:nvPr/>
            </p:nvSpPr>
            <p:spPr bwMode="auto">
              <a:xfrm>
                <a:off x="7362950" y="634649"/>
                <a:ext cx="1439738" cy="533388"/>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04" name="Object 6"/>
              <p:cNvSpPr txBox="1"/>
              <p:nvPr/>
            </p:nvSpPr>
            <p:spPr bwMode="auto">
              <a:xfrm>
                <a:off x="867857" y="1086022"/>
                <a:ext cx="1286887" cy="627063"/>
              </a:xfrm>
              <a:prstGeom prst="rect">
                <a:avLst/>
              </a:prstGeom>
              <a:noFill/>
              <a:ln>
                <a:noFill/>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m:t>
                          </m:r>
                        </m:fName>
                        <m:e/>
                      </m:func>
                    </m:oMath>
                  </m:oMathPara>
                </a14:m>
                <a:endParaRPr lang="zh-CN" altLang="en-US" dirty="0"/>
              </a:p>
            </p:txBody>
          </p:sp>
        </mc:Choice>
        <mc:Fallback xmlns="">
          <p:sp>
            <p:nvSpPr>
              <p:cNvPr id="25604" name="Object 6"/>
              <p:cNvSpPr txBox="1">
                <a:spLocks noRot="1" noChangeAspect="1" noMove="1" noResize="1" noEditPoints="1" noAdjustHandles="1" noChangeArrowheads="1" noChangeShapeType="1" noTextEdit="1"/>
              </p:cNvSpPr>
              <p:nvPr/>
            </p:nvSpPr>
            <p:spPr bwMode="auto">
              <a:xfrm>
                <a:off x="867857" y="1086022"/>
                <a:ext cx="1286887" cy="627063"/>
              </a:xfrm>
              <a:prstGeom prst="rect">
                <a:avLst/>
              </a:prstGeom>
              <a:blipFill>
                <a:blip r:embed="rId4"/>
                <a:stretch>
                  <a:fillRect/>
                </a:stretch>
              </a:blipFill>
              <a:ln>
                <a:noFill/>
              </a:ln>
              <a:effectLst/>
              <a:extLst/>
            </p:spPr>
            <p:txBody>
              <a:bodyPr/>
              <a:lstStyle/>
              <a:p>
                <a:r>
                  <a:rPr lang="zh-CN" altLang="en-US">
                    <a:noFill/>
                  </a:rPr>
                  <a:t> </a:t>
                </a:r>
              </a:p>
            </p:txBody>
          </p:sp>
        </mc:Fallback>
      </mc:AlternateContent>
      <p:grpSp>
        <p:nvGrpSpPr>
          <p:cNvPr id="2" name="Group 7"/>
          <p:cNvGrpSpPr>
            <a:grpSpLocks/>
          </p:cNvGrpSpPr>
          <p:nvPr/>
        </p:nvGrpSpPr>
        <p:grpSpPr bwMode="auto">
          <a:xfrm>
            <a:off x="285750" y="1738313"/>
            <a:ext cx="6153150" cy="519112"/>
            <a:chOff x="180" y="1860"/>
            <a:chExt cx="3876" cy="327"/>
          </a:xfrm>
        </p:grpSpPr>
        <p:sp>
          <p:nvSpPr>
            <p:cNvPr id="25641" name="Text Box 8"/>
            <p:cNvSpPr txBox="1">
              <a:spLocks noChangeArrowheads="1"/>
            </p:cNvSpPr>
            <p:nvPr/>
          </p:nvSpPr>
          <p:spPr bwMode="auto">
            <a:xfrm>
              <a:off x="180" y="1860"/>
              <a:ext cx="8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sz="2800" b="1">
                  <a:solidFill>
                    <a:srgbClr val="FF0000"/>
                  </a:solidFill>
                  <a:ea typeface="黑体" pitchFamily="49" charset="-122"/>
                </a:rPr>
                <a:t>解：</a:t>
              </a:r>
              <a:endParaRPr lang="zh-CN" altLang="en-US" sz="2800">
                <a:solidFill>
                  <a:srgbClr val="FF0000"/>
                </a:solidFill>
                <a:ea typeface="宋体" pitchFamily="2" charset="-122"/>
              </a:endParaRPr>
            </a:p>
          </p:txBody>
        </p:sp>
        <p:sp>
          <p:nvSpPr>
            <p:cNvPr id="25642" name="Text Box 9"/>
            <p:cNvSpPr txBox="1">
              <a:spLocks noChangeArrowheads="1"/>
            </p:cNvSpPr>
            <p:nvPr/>
          </p:nvSpPr>
          <p:spPr bwMode="auto">
            <a:xfrm>
              <a:off x="567" y="1872"/>
              <a:ext cx="348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b="1">
                  <a:latin typeface="楷体_GB2312" pitchFamily="49" charset="-122"/>
                </a:rPr>
                <a:t>以</a:t>
              </a:r>
              <a:r>
                <a:rPr lang="en-US" altLang="zh-CN" b="1">
                  <a:latin typeface="楷体_GB2312" pitchFamily="49" charset="-122"/>
                </a:rPr>
                <a:t>o</a:t>
              </a:r>
              <a:r>
                <a:rPr lang="zh-CN" altLang="en-US" b="1">
                  <a:latin typeface="楷体_GB2312" pitchFamily="49" charset="-122"/>
                </a:rPr>
                <a:t>为自然坐标原点，</a:t>
              </a:r>
              <a:r>
                <a:rPr lang="en-US" altLang="zh-CN" b="1">
                  <a:latin typeface="楷体_GB2312" pitchFamily="49" charset="-122"/>
                </a:rPr>
                <a:t>OP</a:t>
              </a:r>
              <a:r>
                <a:rPr lang="zh-CN" altLang="en-US" b="1">
                  <a:latin typeface="楷体_GB2312" pitchFamily="49" charset="-122"/>
                </a:rPr>
                <a:t>为初始位置</a:t>
              </a:r>
              <a:endParaRPr lang="zh-CN" altLang="en-US">
                <a:latin typeface="楷体_GB2312" pitchFamily="49" charset="-122"/>
              </a:endParaRPr>
            </a:p>
          </p:txBody>
        </p:sp>
      </p:grpSp>
      <p:grpSp>
        <p:nvGrpSpPr>
          <p:cNvPr id="3" name="Group 10"/>
          <p:cNvGrpSpPr>
            <a:grpSpLocks/>
          </p:cNvGrpSpPr>
          <p:nvPr/>
        </p:nvGrpSpPr>
        <p:grpSpPr bwMode="auto">
          <a:xfrm>
            <a:off x="468313" y="3213100"/>
            <a:ext cx="3160712" cy="630238"/>
            <a:chOff x="657" y="2784"/>
            <a:chExt cx="2503" cy="654"/>
          </a:xfrm>
        </p:grpSpPr>
        <mc:AlternateContent xmlns:mc="http://schemas.openxmlformats.org/markup-compatibility/2006" xmlns:a14="http://schemas.microsoft.com/office/drawing/2010/main">
          <mc:Choice Requires="a14">
            <p:sp>
              <p:nvSpPr>
                <p:cNvPr id="25618" name="Object 11"/>
                <p:cNvSpPr txBox="1"/>
                <p:nvPr/>
              </p:nvSpPr>
              <p:spPr bwMode="auto">
                <a:xfrm>
                  <a:off x="657" y="2784"/>
                  <a:ext cx="1071" cy="621"/>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r>
                          <a:rPr lang="zh-CN" altLang="en-US" i="1">
                            <a:solidFill>
                              <a:srgbClr val="000000"/>
                            </a:solidFill>
                            <a:latin typeface="Cambria Math" panose="02040503050406030204" pitchFamily="18" charset="0"/>
                          </a:rPr>
                          <m:t>𝑠</m:t>
                        </m:r>
                      </m:oMath>
                    </m:oMathPara>
                  </a14:m>
                  <a:endParaRPr lang="zh-CN" altLang="en-US"/>
                </a:p>
              </p:txBody>
            </p:sp>
          </mc:Choice>
          <mc:Fallback xmlns="">
            <p:sp>
              <p:nvSpPr>
                <p:cNvPr id="25618" name="Object 11"/>
                <p:cNvSpPr txBox="1">
                  <a:spLocks noRot="1" noChangeAspect="1" noMove="1" noResize="1" noEditPoints="1" noAdjustHandles="1" noChangeArrowheads="1" noChangeShapeType="1" noTextEdit="1"/>
                </p:cNvSpPr>
                <p:nvPr/>
              </p:nvSpPr>
              <p:spPr bwMode="auto">
                <a:xfrm>
                  <a:off x="657" y="2784"/>
                  <a:ext cx="1071" cy="621"/>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9" name="Object 12"/>
                <p:cNvSpPr txBox="1"/>
                <p:nvPr/>
              </p:nvSpPr>
              <p:spPr bwMode="auto">
                <a:xfrm>
                  <a:off x="2074" y="2898"/>
                  <a:ext cx="1086" cy="54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oMath>
                    </m:oMathPara>
                  </a14:m>
                  <a:endParaRPr lang="zh-CN" altLang="en-US"/>
                </a:p>
              </p:txBody>
            </p:sp>
          </mc:Choice>
          <mc:Fallback xmlns="">
            <p:sp>
              <p:nvSpPr>
                <p:cNvPr id="25619" name="Object 12"/>
                <p:cNvSpPr txBox="1">
                  <a:spLocks noRot="1" noChangeAspect="1" noMove="1" noResize="1" noEditPoints="1" noAdjustHandles="1" noChangeArrowheads="1" noChangeShapeType="1" noTextEdit="1"/>
                </p:cNvSpPr>
                <p:nvPr/>
              </p:nvSpPr>
              <p:spPr bwMode="auto">
                <a:xfrm>
                  <a:off x="2074" y="2898"/>
                  <a:ext cx="1086" cy="540"/>
                </a:xfrm>
                <a:prstGeom prst="rect">
                  <a:avLst/>
                </a:prstGeom>
                <a:blipFill>
                  <a:blip r:embed="rId6"/>
                  <a:stretch>
                    <a:fillRect/>
                  </a:stretch>
                </a:blipFill>
                <a:ln>
                  <a:noFill/>
                </a:ln>
                <a:effectLst/>
                <a:extLst/>
              </p:spPr>
              <p:txBody>
                <a:bodyPr/>
                <a:lstStyle/>
                <a:p>
                  <a:r>
                    <a:rPr lang="zh-CN" altLang="en-US">
                      <a:noFill/>
                    </a:rPr>
                    <a:t> </a:t>
                  </a:r>
                </a:p>
              </p:txBody>
            </p:sp>
          </mc:Fallback>
        </mc:AlternateContent>
      </p:grpSp>
      <p:grpSp>
        <p:nvGrpSpPr>
          <p:cNvPr id="4" name="Group 13"/>
          <p:cNvGrpSpPr>
            <a:grpSpLocks/>
          </p:cNvGrpSpPr>
          <p:nvPr/>
        </p:nvGrpSpPr>
        <p:grpSpPr bwMode="auto">
          <a:xfrm>
            <a:off x="485775" y="4211638"/>
            <a:ext cx="3295650" cy="539750"/>
            <a:chOff x="648" y="3413"/>
            <a:chExt cx="2611" cy="559"/>
          </a:xfrm>
        </p:grpSpPr>
        <mc:AlternateContent xmlns:mc="http://schemas.openxmlformats.org/markup-compatibility/2006" xmlns:a14="http://schemas.microsoft.com/office/drawing/2010/main">
          <mc:Choice Requires="a14">
            <p:sp>
              <p:nvSpPr>
                <p:cNvPr id="25616" name="Object 14"/>
                <p:cNvSpPr txBox="1"/>
                <p:nvPr/>
              </p:nvSpPr>
              <p:spPr bwMode="auto">
                <a:xfrm>
                  <a:off x="648" y="3413"/>
                  <a:ext cx="888" cy="523"/>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𝑠</m:t>
                        </m:r>
                      </m:oMath>
                    </m:oMathPara>
                  </a14:m>
                  <a:endParaRPr lang="zh-CN" altLang="en-US"/>
                </a:p>
              </p:txBody>
            </p:sp>
          </mc:Choice>
          <mc:Fallback xmlns="">
            <p:sp>
              <p:nvSpPr>
                <p:cNvPr id="25616" name="Object 14"/>
                <p:cNvSpPr txBox="1">
                  <a:spLocks noRot="1" noChangeAspect="1" noMove="1" noResize="1" noEditPoints="1" noAdjustHandles="1" noChangeArrowheads="1" noChangeShapeType="1" noTextEdit="1"/>
                </p:cNvSpPr>
                <p:nvPr/>
              </p:nvSpPr>
              <p:spPr bwMode="auto">
                <a:xfrm>
                  <a:off x="648" y="3413"/>
                  <a:ext cx="888" cy="523"/>
                </a:xfrm>
                <a:prstGeom prst="rect">
                  <a:avLst/>
                </a:prstGeom>
                <a:blipFill>
                  <a:blip r:embed="rId7"/>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7" name="Object 15"/>
                <p:cNvSpPr txBox="1"/>
                <p:nvPr/>
              </p:nvSpPr>
              <p:spPr bwMode="auto">
                <a:xfrm>
                  <a:off x="2109" y="3426"/>
                  <a:ext cx="1150" cy="546"/>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𝑆</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oMath>
                    </m:oMathPara>
                  </a14:m>
                  <a:endParaRPr lang="zh-CN" altLang="en-US"/>
                </a:p>
              </p:txBody>
            </p:sp>
          </mc:Choice>
          <mc:Fallback xmlns="">
            <p:sp>
              <p:nvSpPr>
                <p:cNvPr id="25617" name="Object 15"/>
                <p:cNvSpPr txBox="1">
                  <a:spLocks noRot="1" noChangeAspect="1" noMove="1" noResize="1" noEditPoints="1" noAdjustHandles="1" noChangeArrowheads="1" noChangeShapeType="1" noTextEdit="1"/>
                </p:cNvSpPr>
                <p:nvPr/>
              </p:nvSpPr>
              <p:spPr bwMode="auto">
                <a:xfrm>
                  <a:off x="2109" y="3426"/>
                  <a:ext cx="1150" cy="546"/>
                </a:xfrm>
                <a:prstGeom prst="rect">
                  <a:avLst/>
                </a:prstGeom>
                <a:blipFill>
                  <a:blip r:embed="rId8"/>
                  <a:stretch>
                    <a:fillRect/>
                  </a:stretch>
                </a:blipFill>
                <a:ln>
                  <a:noFill/>
                </a:ln>
                <a:effectLst/>
                <a:extLst/>
              </p:spPr>
              <p:txBody>
                <a:bodyPr/>
                <a:lstStyle/>
                <a:p>
                  <a:r>
                    <a:rPr lang="zh-CN" altLang="en-US">
                      <a:noFill/>
                    </a:rPr>
                    <a:t> </a:t>
                  </a:r>
                </a:p>
              </p:txBody>
            </p:sp>
          </mc:Fallback>
        </mc:AlternateContent>
      </p:grpSp>
      <p:grpSp>
        <p:nvGrpSpPr>
          <p:cNvPr id="5" name="Group 16"/>
          <p:cNvGrpSpPr>
            <a:grpSpLocks/>
          </p:cNvGrpSpPr>
          <p:nvPr/>
        </p:nvGrpSpPr>
        <p:grpSpPr bwMode="auto">
          <a:xfrm>
            <a:off x="539750" y="2476500"/>
            <a:ext cx="3168650" cy="592138"/>
            <a:chOff x="340" y="2227"/>
            <a:chExt cx="2754" cy="427"/>
          </a:xfrm>
        </p:grpSpPr>
        <p:sp>
          <p:nvSpPr>
            <p:cNvPr id="25640" name="Text Box 17"/>
            <p:cNvSpPr txBox="1">
              <a:spLocks noChangeArrowheads="1"/>
            </p:cNvSpPr>
            <p:nvPr/>
          </p:nvSpPr>
          <p:spPr bwMode="auto">
            <a:xfrm>
              <a:off x="340" y="2236"/>
              <a:ext cx="90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zh-CN" altLang="en-US" sz="2800" b="1"/>
                <a:t>周长</a:t>
              </a:r>
            </a:p>
          </p:txBody>
        </p:sp>
        <mc:AlternateContent xmlns:mc="http://schemas.openxmlformats.org/markup-compatibility/2006" xmlns:a14="http://schemas.microsoft.com/office/drawing/2010/main">
          <mc:Choice Requires="a14">
            <p:sp>
              <p:nvSpPr>
                <p:cNvPr id="25614" name="Object 18"/>
                <p:cNvSpPr txBox="1"/>
                <p:nvPr/>
              </p:nvSpPr>
              <p:spPr bwMode="auto">
                <a:xfrm>
                  <a:off x="1056" y="2239"/>
                  <a:ext cx="1242" cy="41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𝐿</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𝑅</m:t>
                        </m:r>
                      </m:oMath>
                    </m:oMathPara>
                  </a14:m>
                  <a:endParaRPr lang="zh-CN" altLang="en-US"/>
                </a:p>
              </p:txBody>
            </p:sp>
          </mc:Choice>
          <mc:Fallback xmlns="">
            <p:sp>
              <p:nvSpPr>
                <p:cNvPr id="25614" name="Object 18"/>
                <p:cNvSpPr txBox="1">
                  <a:spLocks noRot="1" noChangeAspect="1" noMove="1" noResize="1" noEditPoints="1" noAdjustHandles="1" noChangeArrowheads="1" noChangeShapeType="1" noTextEdit="1"/>
                </p:cNvSpPr>
                <p:nvPr/>
              </p:nvSpPr>
              <p:spPr bwMode="auto">
                <a:xfrm>
                  <a:off x="1056" y="2239"/>
                  <a:ext cx="1242" cy="410"/>
                </a:xfrm>
                <a:prstGeom prst="rect">
                  <a:avLst/>
                </a:prstGeom>
                <a:blipFill>
                  <a:blip r:embed="rId9"/>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5" name="Object 19"/>
                <p:cNvSpPr txBox="1"/>
                <p:nvPr/>
              </p:nvSpPr>
              <p:spPr bwMode="auto">
                <a:xfrm>
                  <a:off x="2256" y="2227"/>
                  <a:ext cx="838" cy="42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𝜋</m:t>
                        </m:r>
                      </m:oMath>
                    </m:oMathPara>
                  </a14:m>
                  <a:endParaRPr lang="zh-CN" altLang="en-US"/>
                </a:p>
              </p:txBody>
            </p:sp>
          </mc:Choice>
          <mc:Fallback xmlns="">
            <p:sp>
              <p:nvSpPr>
                <p:cNvPr id="25615" name="Object 19"/>
                <p:cNvSpPr txBox="1">
                  <a:spLocks noRot="1" noChangeAspect="1" noMove="1" noResize="1" noEditPoints="1" noAdjustHandles="1" noChangeArrowheads="1" noChangeShapeType="1" noTextEdit="1"/>
                </p:cNvSpPr>
                <p:nvPr/>
              </p:nvSpPr>
              <p:spPr bwMode="auto">
                <a:xfrm>
                  <a:off x="2256" y="2227"/>
                  <a:ext cx="838" cy="427"/>
                </a:xfrm>
                <a:prstGeom prst="rect">
                  <a:avLst/>
                </a:prstGeom>
                <a:blipFill>
                  <a:blip r:embed="rId10"/>
                  <a:stretch>
                    <a:fillRect/>
                  </a:stretch>
                </a:blipFill>
                <a:ln>
                  <a:noFill/>
                </a:ln>
                <a:effectLst/>
                <a:extLst/>
              </p:spPr>
              <p:txBody>
                <a:bodyPr/>
                <a:lstStyle/>
                <a:p>
                  <a:r>
                    <a:rPr lang="zh-CN" altLang="en-US">
                      <a:noFill/>
                    </a:rPr>
                    <a:t> </a:t>
                  </a:r>
                </a:p>
              </p:txBody>
            </p:sp>
          </mc:Fallback>
        </mc:AlternateContent>
      </p:grpSp>
      <p:grpSp>
        <p:nvGrpSpPr>
          <p:cNvPr id="6" name="Group 20"/>
          <p:cNvGrpSpPr>
            <a:grpSpLocks/>
          </p:cNvGrpSpPr>
          <p:nvPr/>
        </p:nvGrpSpPr>
        <p:grpSpPr bwMode="auto">
          <a:xfrm>
            <a:off x="7223398" y="1412776"/>
            <a:ext cx="588962" cy="693737"/>
            <a:chOff x="4464" y="1567"/>
            <a:chExt cx="371" cy="437"/>
          </a:xfrm>
        </p:grpSpPr>
        <mc:AlternateContent xmlns:mc="http://schemas.openxmlformats.org/markup-compatibility/2006" xmlns:a14="http://schemas.microsoft.com/office/drawing/2010/main">
          <mc:Choice Requires="a14">
            <p:sp>
              <p:nvSpPr>
                <p:cNvPr id="25613" name="Object 21"/>
                <p:cNvSpPr txBox="1"/>
                <p:nvPr/>
              </p:nvSpPr>
              <p:spPr bwMode="auto">
                <a:xfrm>
                  <a:off x="4500" y="1567"/>
                  <a:ext cx="335" cy="336"/>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5613" name="Object 21"/>
                <p:cNvSpPr txBox="1">
                  <a:spLocks noRot="1" noChangeAspect="1" noMove="1" noResize="1" noEditPoints="1" noAdjustHandles="1" noChangeArrowheads="1" noChangeShapeType="1" noTextEdit="1"/>
                </p:cNvSpPr>
                <p:nvPr/>
              </p:nvSpPr>
              <p:spPr bwMode="auto">
                <a:xfrm>
                  <a:off x="4500" y="1567"/>
                  <a:ext cx="335" cy="336"/>
                </a:xfrm>
                <a:prstGeom prst="rect">
                  <a:avLst/>
                </a:prstGeom>
                <a:blipFill>
                  <a:blip r:embed="rId11"/>
                  <a:stretch>
                    <a:fillRect/>
                  </a:stretch>
                </a:blipFill>
                <a:ln>
                  <a:noFill/>
                </a:ln>
                <a:effectLst/>
                <a:extLst/>
              </p:spPr>
              <p:txBody>
                <a:bodyPr/>
                <a:lstStyle/>
                <a:p>
                  <a:r>
                    <a:rPr lang="zh-CN" altLang="en-US">
                      <a:noFill/>
                    </a:rPr>
                    <a:t> </a:t>
                  </a:r>
                </a:p>
              </p:txBody>
            </p:sp>
          </mc:Fallback>
        </mc:AlternateContent>
        <p:sp>
          <p:nvSpPr>
            <p:cNvPr id="25639" name="Oval 22"/>
            <p:cNvSpPr>
              <a:spLocks noChangeArrowheads="1"/>
            </p:cNvSpPr>
            <p:nvPr/>
          </p:nvSpPr>
          <p:spPr bwMode="auto">
            <a:xfrm>
              <a:off x="4464" y="1908"/>
              <a:ext cx="89" cy="96"/>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pPr>
                <a:spcBef>
                  <a:spcPct val="20000"/>
                </a:spcBef>
              </a:pPr>
              <a:endParaRPr lang="en-US" altLang="zh-CN"/>
            </a:p>
          </p:txBody>
        </p:sp>
      </p:grpSp>
      <p:grpSp>
        <p:nvGrpSpPr>
          <p:cNvPr id="7" name="Group 23"/>
          <p:cNvGrpSpPr>
            <a:grpSpLocks/>
          </p:cNvGrpSpPr>
          <p:nvPr/>
        </p:nvGrpSpPr>
        <p:grpSpPr bwMode="auto">
          <a:xfrm>
            <a:off x="5488624" y="2654299"/>
            <a:ext cx="720725" cy="576263"/>
            <a:chOff x="3408" y="2366"/>
            <a:chExt cx="454" cy="363"/>
          </a:xfrm>
        </p:grpSpPr>
        <mc:AlternateContent xmlns:mc="http://schemas.openxmlformats.org/markup-compatibility/2006" xmlns:a14="http://schemas.microsoft.com/office/drawing/2010/main">
          <mc:Choice Requires="a14">
            <p:sp>
              <p:nvSpPr>
                <p:cNvPr id="25612" name="Object 24"/>
                <p:cNvSpPr txBox="1"/>
                <p:nvPr/>
              </p:nvSpPr>
              <p:spPr bwMode="auto">
                <a:xfrm>
                  <a:off x="3408" y="2366"/>
                  <a:ext cx="335" cy="33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25612" name="Object 24"/>
                <p:cNvSpPr txBox="1">
                  <a:spLocks noRot="1" noChangeAspect="1" noMove="1" noResize="1" noEditPoints="1" noAdjustHandles="1" noChangeArrowheads="1" noChangeShapeType="1" noTextEdit="1"/>
                </p:cNvSpPr>
                <p:nvPr/>
              </p:nvSpPr>
              <p:spPr bwMode="auto">
                <a:xfrm>
                  <a:off x="3408" y="2366"/>
                  <a:ext cx="335" cy="335"/>
                </a:xfrm>
                <a:prstGeom prst="rect">
                  <a:avLst/>
                </a:prstGeom>
                <a:blipFill>
                  <a:blip r:embed="rId12"/>
                  <a:stretch>
                    <a:fillRect/>
                  </a:stretch>
                </a:blipFill>
                <a:ln>
                  <a:noFill/>
                </a:ln>
                <a:effectLst/>
                <a:extLst/>
              </p:spPr>
              <p:txBody>
                <a:bodyPr/>
                <a:lstStyle/>
                <a:p>
                  <a:r>
                    <a:rPr lang="zh-CN" altLang="en-US">
                      <a:noFill/>
                    </a:rPr>
                    <a:t> </a:t>
                  </a:r>
                </a:p>
              </p:txBody>
            </p:sp>
          </mc:Fallback>
        </mc:AlternateContent>
        <p:sp>
          <p:nvSpPr>
            <p:cNvPr id="25638" name="Oval 25"/>
            <p:cNvSpPr>
              <a:spLocks noChangeArrowheads="1"/>
            </p:cNvSpPr>
            <p:nvPr/>
          </p:nvSpPr>
          <p:spPr bwMode="auto">
            <a:xfrm>
              <a:off x="3773" y="2633"/>
              <a:ext cx="89" cy="96"/>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pPr>
                <a:spcBef>
                  <a:spcPct val="20000"/>
                </a:spcBef>
              </a:pPr>
              <a:endParaRPr lang="en-US" altLang="zh-CN"/>
            </a:p>
          </p:txBody>
        </p:sp>
      </p:grpSp>
      <p:grpSp>
        <p:nvGrpSpPr>
          <p:cNvPr id="8" name="Group 26"/>
          <p:cNvGrpSpPr>
            <a:grpSpLocks/>
          </p:cNvGrpSpPr>
          <p:nvPr/>
        </p:nvGrpSpPr>
        <p:grpSpPr bwMode="auto">
          <a:xfrm>
            <a:off x="6159501" y="1706087"/>
            <a:ext cx="2804594" cy="2781300"/>
            <a:chOff x="3749" y="1779"/>
            <a:chExt cx="1746" cy="1752"/>
          </a:xfrm>
        </p:grpSpPr>
        <p:sp>
          <p:nvSpPr>
            <p:cNvPr id="25632" name="Line 27"/>
            <p:cNvSpPr>
              <a:spLocks noChangeShapeType="1"/>
            </p:cNvSpPr>
            <p:nvPr/>
          </p:nvSpPr>
          <p:spPr bwMode="auto">
            <a:xfrm>
              <a:off x="3759" y="2700"/>
              <a:ext cx="1736" cy="7"/>
            </a:xfrm>
            <a:prstGeom prst="line">
              <a:avLst/>
            </a:prstGeom>
            <a:noFill/>
            <a:ln w="28575">
              <a:solidFill>
                <a:srgbClr val="3333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3" name="Line 28"/>
            <p:cNvSpPr>
              <a:spLocks noChangeShapeType="1"/>
            </p:cNvSpPr>
            <p:nvPr/>
          </p:nvSpPr>
          <p:spPr bwMode="auto">
            <a:xfrm>
              <a:off x="4447" y="1779"/>
              <a:ext cx="0" cy="1752"/>
            </a:xfrm>
            <a:prstGeom prst="line">
              <a:avLst/>
            </a:prstGeom>
            <a:noFill/>
            <a:ln w="28575">
              <a:solidFill>
                <a:srgbClr val="3333FF"/>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4" name="Oval 29"/>
            <p:cNvSpPr>
              <a:spLocks noChangeArrowheads="1"/>
            </p:cNvSpPr>
            <p:nvPr/>
          </p:nvSpPr>
          <p:spPr bwMode="auto">
            <a:xfrm>
              <a:off x="3749" y="1981"/>
              <a:ext cx="1464" cy="1464"/>
            </a:xfrm>
            <a:prstGeom prst="ellipse">
              <a:avLst/>
            </a:prstGeom>
            <a:noFill/>
            <a:ln w="38100">
              <a:solidFill>
                <a:srgbClr val="3333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en-US" altLang="zh-CN"/>
            </a:p>
          </p:txBody>
        </p:sp>
        <p:sp>
          <p:nvSpPr>
            <p:cNvPr id="25635" name="Freeform 30"/>
            <p:cNvSpPr>
              <a:spLocks/>
            </p:cNvSpPr>
            <p:nvPr/>
          </p:nvSpPr>
          <p:spPr bwMode="auto">
            <a:xfrm>
              <a:off x="5077" y="1992"/>
              <a:ext cx="264" cy="336"/>
            </a:xfrm>
            <a:custGeom>
              <a:avLst/>
              <a:gdLst>
                <a:gd name="T0" fmla="*/ 264 w 264"/>
                <a:gd name="T1" fmla="*/ 336 h 336"/>
                <a:gd name="T2" fmla="*/ 144 w 264"/>
                <a:gd name="T3" fmla="*/ 132 h 336"/>
                <a:gd name="T4" fmla="*/ 0 w 264"/>
                <a:gd name="T5" fmla="*/ 0 h 336"/>
                <a:gd name="T6" fmla="*/ 0 60000 65536"/>
                <a:gd name="T7" fmla="*/ 0 60000 65536"/>
                <a:gd name="T8" fmla="*/ 0 60000 65536"/>
                <a:gd name="T9" fmla="*/ 0 w 264"/>
                <a:gd name="T10" fmla="*/ 0 h 336"/>
                <a:gd name="T11" fmla="*/ 264 w 264"/>
                <a:gd name="T12" fmla="*/ 336 h 336"/>
              </a:gdLst>
              <a:ahLst/>
              <a:cxnLst>
                <a:cxn ang="T6">
                  <a:pos x="T0" y="T1"/>
                </a:cxn>
                <a:cxn ang="T7">
                  <a:pos x="T2" y="T3"/>
                </a:cxn>
                <a:cxn ang="T8">
                  <a:pos x="T4" y="T5"/>
                </a:cxn>
              </a:cxnLst>
              <a:rect l="T9" t="T10" r="T11" b="T12"/>
              <a:pathLst>
                <a:path w="264" h="336">
                  <a:moveTo>
                    <a:pt x="264" y="336"/>
                  </a:moveTo>
                  <a:cubicBezTo>
                    <a:pt x="244" y="302"/>
                    <a:pt x="188" y="188"/>
                    <a:pt x="144" y="132"/>
                  </a:cubicBezTo>
                  <a:cubicBezTo>
                    <a:pt x="100" y="76"/>
                    <a:pt x="30" y="27"/>
                    <a:pt x="0" y="0"/>
                  </a:cubicBezTo>
                </a:path>
              </a:pathLst>
            </a:custGeom>
            <a:noFill/>
            <a:ln w="38100" cap="flat" cmpd="sng">
              <a:solidFill>
                <a:srgbClr val="FF0000"/>
              </a:solidFill>
              <a:prstDash val="solid"/>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5636" name="Group 31"/>
            <p:cNvGrpSpPr>
              <a:grpSpLocks/>
            </p:cNvGrpSpPr>
            <p:nvPr/>
          </p:nvGrpSpPr>
          <p:grpSpPr bwMode="auto">
            <a:xfrm>
              <a:off x="4419" y="2638"/>
              <a:ext cx="308" cy="369"/>
              <a:chOff x="4419" y="2638"/>
              <a:chExt cx="308" cy="369"/>
            </a:xfrm>
          </p:grpSpPr>
          <mc:AlternateContent xmlns:mc="http://schemas.openxmlformats.org/markup-compatibility/2006" xmlns:a14="http://schemas.microsoft.com/office/drawing/2010/main">
            <mc:Choice Requires="a14">
              <p:sp>
                <p:nvSpPr>
                  <p:cNvPr id="25611" name="Object 32"/>
                  <p:cNvSpPr txBox="1"/>
                  <p:nvPr/>
                </p:nvSpPr>
                <p:spPr bwMode="auto">
                  <a:xfrm>
                    <a:off x="4447" y="2704"/>
                    <a:ext cx="280" cy="30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𝑂</m:t>
                          </m:r>
                        </m:oMath>
                      </m:oMathPara>
                    </a14:m>
                    <a:endParaRPr lang="zh-CN" altLang="en-US"/>
                  </a:p>
                </p:txBody>
              </p:sp>
            </mc:Choice>
            <mc:Fallback xmlns="">
              <p:sp>
                <p:nvSpPr>
                  <p:cNvPr id="25611" name="Object 32"/>
                  <p:cNvSpPr txBox="1">
                    <a:spLocks noRot="1" noChangeAspect="1" noMove="1" noResize="1" noEditPoints="1" noAdjustHandles="1" noChangeArrowheads="1" noChangeShapeType="1" noTextEdit="1"/>
                  </p:cNvSpPr>
                  <p:nvPr/>
                </p:nvSpPr>
                <p:spPr bwMode="auto">
                  <a:xfrm>
                    <a:off x="4447" y="2704"/>
                    <a:ext cx="280" cy="303"/>
                  </a:xfrm>
                  <a:prstGeom prst="rect">
                    <a:avLst/>
                  </a:prstGeom>
                  <a:blipFill>
                    <a:blip r:embed="rId13"/>
                    <a:stretch>
                      <a:fillRect/>
                    </a:stretch>
                  </a:blipFill>
                  <a:ln>
                    <a:noFill/>
                  </a:ln>
                  <a:effectLst/>
                  <a:extLst/>
                </p:spPr>
                <p:txBody>
                  <a:bodyPr/>
                  <a:lstStyle/>
                  <a:p>
                    <a:r>
                      <a:rPr lang="zh-CN" altLang="en-US">
                        <a:noFill/>
                      </a:rPr>
                      <a:t> </a:t>
                    </a:r>
                  </a:p>
                </p:txBody>
              </p:sp>
            </mc:Fallback>
          </mc:AlternateContent>
          <p:sp>
            <p:nvSpPr>
              <p:cNvPr id="25637" name="Oval 33"/>
              <p:cNvSpPr>
                <a:spLocks noChangeArrowheads="1"/>
              </p:cNvSpPr>
              <p:nvPr/>
            </p:nvSpPr>
            <p:spPr bwMode="auto">
              <a:xfrm>
                <a:off x="4419" y="2638"/>
                <a:ext cx="89" cy="96"/>
              </a:xfrm>
              <a:prstGeom prst="ellipse">
                <a:avLst/>
              </a:prstGeom>
              <a:solidFill>
                <a:srgbClr val="FF5050"/>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pPr>
                  <a:spcBef>
                    <a:spcPct val="20000"/>
                  </a:spcBef>
                </a:pPr>
                <a:endParaRPr lang="en-US" altLang="zh-CN"/>
              </a:p>
            </p:txBody>
          </p:sp>
        </p:grpSp>
      </p:grpSp>
      <mc:AlternateContent xmlns:mc="http://schemas.openxmlformats.org/markup-compatibility/2006" xmlns:a14="http://schemas.microsoft.com/office/drawing/2010/main">
        <mc:Choice Requires="a14">
          <p:sp>
            <p:nvSpPr>
              <p:cNvPr id="138274" name="Object 34"/>
              <p:cNvSpPr txBox="1"/>
              <p:nvPr/>
            </p:nvSpPr>
            <p:spPr bwMode="auto">
              <a:xfrm>
                <a:off x="1757709" y="4880369"/>
                <a:ext cx="1431925" cy="12001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𝑠</m:t>
                              </m:r>
                            </m:e>
                          </m:func>
                        </m:num>
                        <m:den>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den>
                      </m:f>
                    </m:oMath>
                  </m:oMathPara>
                </a14:m>
                <a:endParaRPr lang="zh-CN" altLang="en-US" dirty="0"/>
              </a:p>
            </p:txBody>
          </p:sp>
        </mc:Choice>
        <mc:Fallback xmlns="">
          <p:sp>
            <p:nvSpPr>
              <p:cNvPr id="138274" name="Object 34"/>
              <p:cNvSpPr txBox="1">
                <a:spLocks noRot="1" noChangeAspect="1" noMove="1" noResize="1" noEditPoints="1" noAdjustHandles="1" noChangeArrowheads="1" noChangeShapeType="1" noTextEdit="1"/>
              </p:cNvSpPr>
              <p:nvPr/>
            </p:nvSpPr>
            <p:spPr bwMode="auto">
              <a:xfrm>
                <a:off x="1757709" y="4880369"/>
                <a:ext cx="1431925" cy="1200150"/>
              </a:xfrm>
              <a:prstGeom prst="rect">
                <a:avLst/>
              </a:prstGeom>
              <a:blipFill>
                <a:blip r:embed="rId1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275" name="Object 35"/>
              <p:cNvSpPr txBox="1"/>
              <p:nvPr/>
            </p:nvSpPr>
            <p:spPr bwMode="auto">
              <a:xfrm>
                <a:off x="2587118" y="5949950"/>
                <a:ext cx="2774950" cy="760413"/>
              </a:xfrm>
              <a:prstGeom prst="rect">
                <a:avLst/>
              </a:prstGeom>
              <a:noFill/>
              <a:ln>
                <a:noFill/>
              </a:ln>
              <a:effectLst/>
              <a:extLst/>
            </p:spPr>
            <p:txBody>
              <a:bodyPr>
                <a:normAutofit/>
              </a:bodyPr>
              <a:lstStyle/>
              <a:p>
                <a14:m>
                  <m:oMath xmlns:m="http://schemas.openxmlformats.org/officeDocument/2006/math">
                    <m:r>
                      <a:rPr lang="zh-CN" altLang="en-US"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r>
                      <a:rPr lang="zh-CN" altLang="en-US" i="1">
                        <a:solidFill>
                          <a:srgbClr val="000000"/>
                        </a:solidFill>
                        <a:latin typeface="Cambria Math" panose="02040503050406030204" pitchFamily="18" charset="0"/>
                      </a:rPr>
                      <m:t>𝜋</m:t>
                    </m:r>
                  </m:oMath>
                </a14:m>
                <a:r>
                  <a:rPr lang="en-US" altLang="zh-CN" dirty="0"/>
                  <a:t> m/s</a:t>
                </a:r>
                <a:endParaRPr lang="zh-CN" altLang="en-US" dirty="0"/>
              </a:p>
            </p:txBody>
          </p:sp>
        </mc:Choice>
        <mc:Fallback xmlns="">
          <p:sp>
            <p:nvSpPr>
              <p:cNvPr id="138275" name="Object 35"/>
              <p:cNvSpPr txBox="1">
                <a:spLocks noRot="1" noChangeAspect="1" noMove="1" noResize="1" noEditPoints="1" noAdjustHandles="1" noChangeArrowheads="1" noChangeShapeType="1" noTextEdit="1"/>
              </p:cNvSpPr>
              <p:nvPr/>
            </p:nvSpPr>
            <p:spPr bwMode="auto">
              <a:xfrm>
                <a:off x="2587118" y="5949950"/>
                <a:ext cx="2774950" cy="760413"/>
              </a:xfrm>
              <a:prstGeom prst="rect">
                <a:avLst/>
              </a:prstGeom>
              <a:blipFill>
                <a:blip r:embed="rId15"/>
                <a:stretch>
                  <a:fillRect t="-1600"/>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276" name="Object 36"/>
              <p:cNvSpPr txBox="1"/>
              <p:nvPr/>
            </p:nvSpPr>
            <p:spPr bwMode="auto">
              <a:xfrm>
                <a:off x="5580063" y="5949950"/>
                <a:ext cx="2281237" cy="665163"/>
              </a:xfrm>
              <a:prstGeom prst="rect">
                <a:avLst/>
              </a:prstGeom>
              <a:noFill/>
              <a:ln>
                <a:noFill/>
              </a:ln>
              <a:effectLst/>
              <a:extLst/>
            </p:spPr>
            <p:txBody>
              <a:bodyPr>
                <a:normAutofit/>
              </a:bodyPr>
              <a:lstStyle/>
              <a:p>
                <a14:m>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𝐵</m:t>
                        </m:r>
                      </m:sub>
                    </m:s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oMath>
                </a14:m>
                <a:r>
                  <a:rPr lang="en-US" altLang="zh-CN" dirty="0"/>
                  <a:t> m/s</a:t>
                </a:r>
                <a:endParaRPr lang="zh-CN" altLang="en-US" dirty="0"/>
              </a:p>
            </p:txBody>
          </p:sp>
        </mc:Choice>
        <mc:Fallback xmlns="">
          <p:sp>
            <p:nvSpPr>
              <p:cNvPr id="138276" name="Object 36"/>
              <p:cNvSpPr txBox="1">
                <a:spLocks noRot="1" noChangeAspect="1" noMove="1" noResize="1" noEditPoints="1" noAdjustHandles="1" noChangeArrowheads="1" noChangeShapeType="1" noTextEdit="1"/>
              </p:cNvSpPr>
              <p:nvPr/>
            </p:nvSpPr>
            <p:spPr bwMode="auto">
              <a:xfrm>
                <a:off x="5580063" y="5949950"/>
                <a:ext cx="2281237" cy="665163"/>
              </a:xfrm>
              <a:prstGeom prst="rect">
                <a:avLst/>
              </a:prstGeom>
              <a:blipFill>
                <a:blip r:embed="rId16"/>
                <a:stretch>
                  <a:fillRect t="-7339"/>
                </a:stretch>
              </a:blipFill>
              <a:ln>
                <a:noFill/>
              </a:ln>
              <a:effectLst/>
              <a:extLst/>
            </p:spPr>
            <p:txBody>
              <a:bodyPr/>
              <a:lstStyle/>
              <a:p>
                <a:r>
                  <a:rPr lang="zh-CN" altLang="en-US">
                    <a:noFill/>
                  </a:rPr>
                  <a:t> </a:t>
                </a:r>
              </a:p>
            </p:txBody>
          </p:sp>
        </mc:Fallback>
      </mc:AlternateContent>
      <p:grpSp>
        <p:nvGrpSpPr>
          <p:cNvPr id="10" name="Group 40"/>
          <p:cNvGrpSpPr>
            <a:grpSpLocks/>
          </p:cNvGrpSpPr>
          <p:nvPr/>
        </p:nvGrpSpPr>
        <p:grpSpPr bwMode="auto">
          <a:xfrm>
            <a:off x="250826" y="5013325"/>
            <a:ext cx="7314180" cy="989013"/>
            <a:chOff x="3107" y="3067"/>
            <a:chExt cx="4164" cy="623"/>
          </a:xfrm>
        </p:grpSpPr>
        <mc:AlternateContent xmlns:mc="http://schemas.openxmlformats.org/markup-compatibility/2006" xmlns:a14="http://schemas.microsoft.com/office/drawing/2010/main">
          <mc:Choice Requires="a14">
            <p:sp>
              <p:nvSpPr>
                <p:cNvPr id="25609" name="Object 38"/>
                <p:cNvSpPr txBox="1"/>
                <p:nvPr/>
              </p:nvSpPr>
              <p:spPr bwMode="auto">
                <a:xfrm>
                  <a:off x="3107" y="3067"/>
                  <a:ext cx="728" cy="623"/>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25609" name="Object 38"/>
                <p:cNvSpPr txBox="1">
                  <a:spLocks noRot="1" noChangeAspect="1" noMove="1" noResize="1" noEditPoints="1" noAdjustHandles="1" noChangeArrowheads="1" noChangeShapeType="1" noTextEdit="1"/>
                </p:cNvSpPr>
                <p:nvPr/>
              </p:nvSpPr>
              <p:spPr bwMode="auto">
                <a:xfrm>
                  <a:off x="3107" y="3067"/>
                  <a:ext cx="728" cy="623"/>
                </a:xfrm>
                <a:prstGeom prst="rect">
                  <a:avLst/>
                </a:prstGeom>
                <a:blipFill>
                  <a:blip r:embed="rId17"/>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0" name="Object 39"/>
                <p:cNvSpPr txBox="1"/>
                <p:nvPr/>
              </p:nvSpPr>
              <p:spPr bwMode="auto">
                <a:xfrm>
                  <a:off x="5702" y="3177"/>
                  <a:ext cx="1569" cy="44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m:t>
                            </m:r>
                            <m:r>
                              <a:rPr lang="zh-CN" altLang="en-US" i="0">
                                <a:solidFill>
                                  <a:srgbClr val="000000"/>
                                </a:solidFill>
                                <a:latin typeface="Cambria Math" panose="02040503050406030204" pitchFamily="18" charset="0"/>
                              </a:rPr>
                              <m:t>,</m:t>
                            </m:r>
                          </m:fName>
                          <m:e>
                            <m:r>
                              <a:rPr lang="zh-CN" altLang="en-US" i="1">
                                <a:solidFill>
                                  <a:srgbClr val="000000"/>
                                </a:solidFill>
                                <a:latin typeface="Cambria Math" panose="02040503050406030204" pitchFamily="18" charset="0"/>
                              </a:rPr>
                              <m:t> </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m:t>
                            </m:r>
                          </m:fName>
                          <m:e/>
                        </m:func>
                      </m:oMath>
                    </m:oMathPara>
                  </a14:m>
                  <a:endParaRPr lang="zh-CN" altLang="en-US" dirty="0"/>
                </a:p>
              </p:txBody>
            </p:sp>
          </mc:Choice>
          <mc:Fallback xmlns="">
            <p:sp>
              <p:nvSpPr>
                <p:cNvPr id="25610" name="Object 39"/>
                <p:cNvSpPr txBox="1">
                  <a:spLocks noRot="1" noChangeAspect="1" noMove="1" noResize="1" noEditPoints="1" noAdjustHandles="1" noChangeArrowheads="1" noChangeShapeType="1" noTextEdit="1"/>
                </p:cNvSpPr>
                <p:nvPr/>
              </p:nvSpPr>
              <p:spPr bwMode="auto">
                <a:xfrm>
                  <a:off x="5702" y="3177"/>
                  <a:ext cx="1569" cy="440"/>
                </a:xfrm>
                <a:prstGeom prst="rect">
                  <a:avLst/>
                </a:prstGeom>
                <a:blipFill>
                  <a:blip r:embed="rId18"/>
                  <a:stretch>
                    <a:fillRect/>
                  </a:stretch>
                </a:blipFill>
                <a:ln>
                  <a:noFill/>
                </a:ln>
                <a:effectLs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8281" name="Object 41"/>
              <p:cNvSpPr txBox="1"/>
              <p:nvPr/>
            </p:nvSpPr>
            <p:spPr bwMode="auto">
              <a:xfrm>
                <a:off x="2871341" y="5137283"/>
                <a:ext cx="1274762" cy="70326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𝑡</m:t>
                      </m:r>
                    </m:oMath>
                  </m:oMathPara>
                </a14:m>
                <a:endParaRPr lang="zh-CN" altLang="en-US" dirty="0"/>
              </a:p>
            </p:txBody>
          </p:sp>
        </mc:Choice>
        <mc:Fallback xmlns="">
          <p:sp>
            <p:nvSpPr>
              <p:cNvPr id="138281" name="Object 41"/>
              <p:cNvSpPr txBox="1">
                <a:spLocks noRot="1" noChangeAspect="1" noMove="1" noResize="1" noEditPoints="1" noAdjustHandles="1" noChangeArrowheads="1" noChangeShapeType="1" noTextEdit="1"/>
              </p:cNvSpPr>
              <p:nvPr/>
            </p:nvSpPr>
            <p:spPr bwMode="auto">
              <a:xfrm>
                <a:off x="2871341" y="5137283"/>
                <a:ext cx="1274762" cy="703262"/>
              </a:xfrm>
              <a:prstGeom prst="rect">
                <a:avLst/>
              </a:prstGeom>
              <a:blipFill>
                <a:blip r:embed="rId19"/>
                <a:stretch>
                  <a:fillRect/>
                </a:stretch>
              </a:blipFill>
              <a:ln>
                <a:noFill/>
              </a:ln>
              <a:effectLst/>
              <a:extLst/>
            </p:spPr>
            <p:txBody>
              <a:bodyPr/>
              <a:lstStyle/>
              <a:p>
                <a:r>
                  <a:rPr lang="zh-CN" altLang="en-US">
                    <a:noFill/>
                  </a:rPr>
                  <a:t> </a:t>
                </a:r>
              </a:p>
            </p:txBody>
          </p:sp>
        </mc:Fallback>
      </mc:AlternateContent>
      <p:sp>
        <p:nvSpPr>
          <p:cNvPr id="138282" name="Text Box 42"/>
          <p:cNvSpPr txBox="1">
            <a:spLocks noChangeArrowheads="1"/>
          </p:cNvSpPr>
          <p:nvPr/>
        </p:nvSpPr>
        <p:spPr bwMode="auto">
          <a:xfrm>
            <a:off x="3759200" y="3305175"/>
            <a:ext cx="71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b="1">
                <a:solidFill>
                  <a:srgbClr val="0066FF"/>
                </a:solidFill>
              </a:rPr>
              <a:t>A</a:t>
            </a:r>
            <a:r>
              <a:rPr lang="zh-CN" altLang="en-US" b="1">
                <a:solidFill>
                  <a:srgbClr val="0066FF"/>
                </a:solidFill>
              </a:rPr>
              <a:t>点</a:t>
            </a:r>
          </a:p>
        </p:txBody>
      </p:sp>
      <p:sp>
        <p:nvSpPr>
          <p:cNvPr id="138283" name="Text Box 43"/>
          <p:cNvSpPr txBox="1">
            <a:spLocks noChangeArrowheads="1"/>
          </p:cNvSpPr>
          <p:nvPr/>
        </p:nvSpPr>
        <p:spPr bwMode="auto">
          <a:xfrm>
            <a:off x="4119563" y="4241800"/>
            <a:ext cx="693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b="1">
                <a:solidFill>
                  <a:srgbClr val="0066FF"/>
                </a:solidFill>
              </a:rPr>
              <a:t>B</a:t>
            </a:r>
            <a:r>
              <a:rPr lang="zh-CN" altLang="en-US" b="1">
                <a:solidFill>
                  <a:srgbClr val="0066FF"/>
                </a:solidFill>
              </a:rPr>
              <a:t>点</a:t>
            </a:r>
          </a:p>
        </p:txBody>
      </p:sp>
      <mc:AlternateContent xmlns:mc="http://schemas.openxmlformats.org/markup-compatibility/2006" xmlns:a14="http://schemas.microsoft.com/office/drawing/2010/main">
        <mc:Choice Requires="a14">
          <p:sp>
            <p:nvSpPr>
              <p:cNvPr id="25620" name="Object 42"/>
              <p:cNvSpPr txBox="1"/>
              <p:nvPr/>
            </p:nvSpPr>
            <p:spPr bwMode="auto">
              <a:xfrm>
                <a:off x="8172450" y="3278188"/>
                <a:ext cx="679450" cy="65563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𝑃</m:t>
                      </m:r>
                    </m:oMath>
                  </m:oMathPara>
                </a14:m>
                <a:endParaRPr lang="zh-CN" altLang="en-US" dirty="0"/>
              </a:p>
            </p:txBody>
          </p:sp>
        </mc:Choice>
        <mc:Fallback xmlns="">
          <p:sp>
            <p:nvSpPr>
              <p:cNvPr id="25620" name="Object 42"/>
              <p:cNvSpPr txBox="1">
                <a:spLocks noRot="1" noChangeAspect="1" noMove="1" noResize="1" noEditPoints="1" noAdjustHandles="1" noChangeArrowheads="1" noChangeShapeType="1" noTextEdit="1"/>
              </p:cNvSpPr>
              <p:nvPr/>
            </p:nvSpPr>
            <p:spPr bwMode="auto">
              <a:xfrm>
                <a:off x="8172450" y="3278188"/>
                <a:ext cx="679450" cy="655637"/>
              </a:xfrm>
              <a:prstGeom prst="rect">
                <a:avLst/>
              </a:prstGeom>
              <a:blipFill>
                <a:blip r:embed="rId20"/>
                <a:stretch>
                  <a:fillRect/>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2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linds(horizontal)">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38282"/>
                                        </p:tgtEl>
                                        <p:attrNameLst>
                                          <p:attrName>style.visibility</p:attrName>
                                        </p:attrNameLst>
                                      </p:cBhvr>
                                      <p:to>
                                        <p:strVal val="visible"/>
                                      </p:to>
                                    </p:set>
                                    <p:animEffect transition="in" filter="blinds(horizontal)">
                                      <p:cBhvr>
                                        <p:cTn id="31" dur="500"/>
                                        <p:tgtEl>
                                          <p:spTgt spid="13828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linds(horizontal)">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linds(horizontal)">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38283"/>
                                        </p:tgtEl>
                                        <p:attrNameLst>
                                          <p:attrName>style.visibility</p:attrName>
                                        </p:attrNameLst>
                                      </p:cBhvr>
                                      <p:to>
                                        <p:strVal val="visible"/>
                                      </p:to>
                                    </p:set>
                                    <p:animEffect transition="in" filter="blinds(horizontal)">
                                      <p:cBhvr>
                                        <p:cTn id="46" dur="500"/>
                                        <p:tgtEl>
                                          <p:spTgt spid="138283"/>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linds(horizontal)">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3827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3828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38275"/>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38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74" grpId="0"/>
      <p:bldP spid="138275" grpId="0"/>
      <p:bldP spid="138276" grpId="0"/>
      <p:bldP spid="138281" grpId="0"/>
      <p:bldP spid="138282" grpId="0"/>
      <p:bldP spid="138283" grpId="0"/>
      <p:bldP spid="256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45" name="Group 9"/>
          <p:cNvGrpSpPr>
            <a:grpSpLocks/>
          </p:cNvGrpSpPr>
          <p:nvPr/>
        </p:nvGrpSpPr>
        <p:grpSpPr bwMode="auto">
          <a:xfrm>
            <a:off x="5805488" y="-100013"/>
            <a:ext cx="3303587" cy="3170238"/>
            <a:chOff x="3408" y="1567"/>
            <a:chExt cx="2081" cy="1997"/>
          </a:xfrm>
        </p:grpSpPr>
        <p:sp>
          <p:nvSpPr>
            <p:cNvPr id="26658" name="Oval 10"/>
            <p:cNvSpPr>
              <a:spLocks noChangeArrowheads="1"/>
            </p:cNvSpPr>
            <p:nvPr/>
          </p:nvSpPr>
          <p:spPr bwMode="auto">
            <a:xfrm>
              <a:off x="4464" y="1908"/>
              <a:ext cx="89" cy="96"/>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pPr>
                <a:spcBef>
                  <a:spcPct val="20000"/>
                </a:spcBef>
              </a:pPr>
              <a:endParaRPr lang="en-US" altLang="zh-CN"/>
            </a:p>
          </p:txBody>
        </p:sp>
        <p:sp>
          <p:nvSpPr>
            <p:cNvPr id="26659" name="Oval 11"/>
            <p:cNvSpPr>
              <a:spLocks noChangeArrowheads="1"/>
            </p:cNvSpPr>
            <p:nvPr/>
          </p:nvSpPr>
          <p:spPr bwMode="auto">
            <a:xfrm>
              <a:off x="3708" y="2640"/>
              <a:ext cx="89" cy="96"/>
            </a:xfrm>
            <a:prstGeom prst="ellipse">
              <a:avLst/>
            </a:prstGeom>
            <a:solidFill>
              <a:srgbClr val="FF0000"/>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pPr>
                <a:spcBef>
                  <a:spcPct val="20000"/>
                </a:spcBef>
              </a:pPr>
              <a:endParaRPr lang="en-US" altLang="zh-CN"/>
            </a:p>
          </p:txBody>
        </p:sp>
        <p:grpSp>
          <p:nvGrpSpPr>
            <p:cNvPr id="26660" name="Group 12"/>
            <p:cNvGrpSpPr>
              <a:grpSpLocks/>
            </p:cNvGrpSpPr>
            <p:nvPr/>
          </p:nvGrpSpPr>
          <p:grpSpPr bwMode="auto">
            <a:xfrm>
              <a:off x="3408" y="1567"/>
              <a:ext cx="2081" cy="1997"/>
              <a:chOff x="3408" y="1567"/>
              <a:chExt cx="2081" cy="1997"/>
            </a:xfrm>
          </p:grpSpPr>
          <p:sp>
            <p:nvSpPr>
              <p:cNvPr id="26661" name="Line 13"/>
              <p:cNvSpPr>
                <a:spLocks noChangeShapeType="1"/>
              </p:cNvSpPr>
              <p:nvPr/>
            </p:nvSpPr>
            <p:spPr bwMode="auto">
              <a:xfrm>
                <a:off x="3625" y="2700"/>
                <a:ext cx="1848" cy="0"/>
              </a:xfrm>
              <a:prstGeom prst="line">
                <a:avLst/>
              </a:prstGeom>
              <a:noFill/>
              <a:ln w="28575">
                <a:solidFill>
                  <a:srgbClr val="3333FF"/>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2" name="Line 14"/>
              <p:cNvSpPr>
                <a:spLocks noChangeShapeType="1"/>
              </p:cNvSpPr>
              <p:nvPr/>
            </p:nvSpPr>
            <p:spPr bwMode="auto">
              <a:xfrm>
                <a:off x="4489" y="1812"/>
                <a:ext cx="0" cy="1752"/>
              </a:xfrm>
              <a:prstGeom prst="line">
                <a:avLst/>
              </a:prstGeom>
              <a:noFill/>
              <a:ln w="28575">
                <a:solidFill>
                  <a:srgbClr val="3333FF"/>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6642" name="Object 15"/>
                  <p:cNvSpPr txBox="1"/>
                  <p:nvPr/>
                </p:nvSpPr>
                <p:spPr bwMode="auto">
                  <a:xfrm>
                    <a:off x="5209" y="2704"/>
                    <a:ext cx="280" cy="30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𝑂</m:t>
                          </m:r>
                        </m:oMath>
                      </m:oMathPara>
                    </a14:m>
                    <a:endParaRPr lang="zh-CN" altLang="en-US"/>
                  </a:p>
                </p:txBody>
              </p:sp>
            </mc:Choice>
            <mc:Fallback xmlns="">
              <p:sp>
                <p:nvSpPr>
                  <p:cNvPr id="26642" name="Object 15"/>
                  <p:cNvSpPr txBox="1">
                    <a:spLocks noRot="1" noChangeAspect="1" noMove="1" noResize="1" noEditPoints="1" noAdjustHandles="1" noChangeArrowheads="1" noChangeShapeType="1" noTextEdit="1"/>
                  </p:cNvSpPr>
                  <p:nvPr/>
                </p:nvSpPr>
                <p:spPr bwMode="auto">
                  <a:xfrm>
                    <a:off x="5209" y="2704"/>
                    <a:ext cx="280" cy="303"/>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26663" name="Oval 16"/>
              <p:cNvSpPr>
                <a:spLocks noChangeArrowheads="1"/>
              </p:cNvSpPr>
              <p:nvPr/>
            </p:nvSpPr>
            <p:spPr bwMode="auto">
              <a:xfrm>
                <a:off x="3757" y="1968"/>
                <a:ext cx="1464" cy="1464"/>
              </a:xfrm>
              <a:prstGeom prst="ellipse">
                <a:avLst/>
              </a:prstGeom>
              <a:noFill/>
              <a:ln w="38100">
                <a:solidFill>
                  <a:srgbClr val="3333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en-US" altLang="zh-CN"/>
              </a:p>
            </p:txBody>
          </p:sp>
          <p:sp>
            <p:nvSpPr>
              <p:cNvPr id="26664" name="Freeform 17"/>
              <p:cNvSpPr>
                <a:spLocks/>
              </p:cNvSpPr>
              <p:nvPr/>
            </p:nvSpPr>
            <p:spPr bwMode="auto">
              <a:xfrm>
                <a:off x="5077" y="1992"/>
                <a:ext cx="264" cy="336"/>
              </a:xfrm>
              <a:custGeom>
                <a:avLst/>
                <a:gdLst>
                  <a:gd name="T0" fmla="*/ 264 w 264"/>
                  <a:gd name="T1" fmla="*/ 336 h 336"/>
                  <a:gd name="T2" fmla="*/ 144 w 264"/>
                  <a:gd name="T3" fmla="*/ 132 h 336"/>
                  <a:gd name="T4" fmla="*/ 0 w 264"/>
                  <a:gd name="T5" fmla="*/ 0 h 336"/>
                  <a:gd name="T6" fmla="*/ 0 60000 65536"/>
                  <a:gd name="T7" fmla="*/ 0 60000 65536"/>
                  <a:gd name="T8" fmla="*/ 0 60000 65536"/>
                  <a:gd name="T9" fmla="*/ 0 w 264"/>
                  <a:gd name="T10" fmla="*/ 0 h 336"/>
                  <a:gd name="T11" fmla="*/ 264 w 264"/>
                  <a:gd name="T12" fmla="*/ 336 h 336"/>
                </a:gdLst>
                <a:ahLst/>
                <a:cxnLst>
                  <a:cxn ang="T6">
                    <a:pos x="T0" y="T1"/>
                  </a:cxn>
                  <a:cxn ang="T7">
                    <a:pos x="T2" y="T3"/>
                  </a:cxn>
                  <a:cxn ang="T8">
                    <a:pos x="T4" y="T5"/>
                  </a:cxn>
                </a:cxnLst>
                <a:rect l="T9" t="T10" r="T11" b="T12"/>
                <a:pathLst>
                  <a:path w="264" h="336">
                    <a:moveTo>
                      <a:pt x="264" y="336"/>
                    </a:moveTo>
                    <a:cubicBezTo>
                      <a:pt x="244" y="302"/>
                      <a:pt x="188" y="188"/>
                      <a:pt x="144" y="132"/>
                    </a:cubicBezTo>
                    <a:cubicBezTo>
                      <a:pt x="100" y="76"/>
                      <a:pt x="30" y="27"/>
                      <a:pt x="0" y="0"/>
                    </a:cubicBezTo>
                  </a:path>
                </a:pathLst>
              </a:custGeom>
              <a:noFill/>
              <a:ln w="38100" cap="flat" cmpd="sng">
                <a:solidFill>
                  <a:srgbClr val="FF0000"/>
                </a:solidFill>
                <a:prstDash val="solid"/>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6643" name="Object 18"/>
                  <p:cNvSpPr txBox="1"/>
                  <p:nvPr/>
                </p:nvSpPr>
                <p:spPr bwMode="auto">
                  <a:xfrm>
                    <a:off x="4500" y="1567"/>
                    <a:ext cx="335" cy="336"/>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6643" name="Object 18"/>
                  <p:cNvSpPr txBox="1">
                    <a:spLocks noRot="1" noChangeAspect="1" noMove="1" noResize="1" noEditPoints="1" noAdjustHandles="1" noChangeArrowheads="1" noChangeShapeType="1" noTextEdit="1"/>
                  </p:cNvSpPr>
                  <p:nvPr/>
                </p:nvSpPr>
                <p:spPr bwMode="auto">
                  <a:xfrm>
                    <a:off x="4500" y="1567"/>
                    <a:ext cx="335" cy="336"/>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644" name="Object 19"/>
                  <p:cNvSpPr txBox="1"/>
                  <p:nvPr/>
                </p:nvSpPr>
                <p:spPr bwMode="auto">
                  <a:xfrm>
                    <a:off x="3408" y="2366"/>
                    <a:ext cx="335" cy="33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26644" name="Object 19"/>
                  <p:cNvSpPr txBox="1">
                    <a:spLocks noRot="1" noChangeAspect="1" noMove="1" noResize="1" noEditPoints="1" noAdjustHandles="1" noChangeArrowheads="1" noChangeShapeType="1" noTextEdit="1"/>
                  </p:cNvSpPr>
                  <p:nvPr/>
                </p:nvSpPr>
                <p:spPr bwMode="auto">
                  <a:xfrm>
                    <a:off x="3408" y="2366"/>
                    <a:ext cx="335" cy="335"/>
                  </a:xfrm>
                  <a:prstGeom prst="rect">
                    <a:avLst/>
                  </a:prstGeom>
                  <a:blipFill>
                    <a:blip r:embed="rId4"/>
                    <a:stretch>
                      <a:fillRect/>
                    </a:stretch>
                  </a:blipFill>
                  <a:ln>
                    <a:noFill/>
                  </a:ln>
                  <a:effectLst/>
                  <a:extLst/>
                </p:spPr>
                <p:txBody>
                  <a:bodyPr/>
                  <a:lstStyle/>
                  <a:p>
                    <a:r>
                      <a:rPr lang="zh-CN" altLang="en-US">
                        <a:noFill/>
                      </a:rPr>
                      <a:t> </a:t>
                    </a:r>
                  </a:p>
                </p:txBody>
              </p:sp>
            </mc:Fallback>
          </mc:AlternateContent>
          <p:sp>
            <p:nvSpPr>
              <p:cNvPr id="26665" name="Oval 20"/>
              <p:cNvSpPr>
                <a:spLocks noChangeArrowheads="1"/>
              </p:cNvSpPr>
              <p:nvPr/>
            </p:nvSpPr>
            <p:spPr bwMode="auto">
              <a:xfrm>
                <a:off x="5184" y="2640"/>
                <a:ext cx="89" cy="96"/>
              </a:xfrm>
              <a:prstGeom prst="ellipse">
                <a:avLst/>
              </a:prstGeom>
              <a:solidFill>
                <a:srgbClr val="FF5050"/>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pPr>
                  <a:spcBef>
                    <a:spcPct val="20000"/>
                  </a:spcBef>
                </a:pPr>
                <a:endParaRPr lang="en-US" altLang="zh-CN"/>
              </a:p>
            </p:txBody>
          </p:sp>
        </p:grpSp>
      </p:grpSp>
      <p:grpSp>
        <p:nvGrpSpPr>
          <p:cNvPr id="4" name="Group 21"/>
          <p:cNvGrpSpPr>
            <a:grpSpLocks/>
          </p:cNvGrpSpPr>
          <p:nvPr/>
        </p:nvGrpSpPr>
        <p:grpSpPr bwMode="auto">
          <a:xfrm>
            <a:off x="5500688" y="171450"/>
            <a:ext cx="1981200" cy="790575"/>
            <a:chOff x="3216" y="1728"/>
            <a:chExt cx="1248" cy="498"/>
          </a:xfrm>
        </p:grpSpPr>
        <p:sp>
          <p:nvSpPr>
            <p:cNvPr id="26657" name="Line 22"/>
            <p:cNvSpPr>
              <a:spLocks noChangeShapeType="1"/>
            </p:cNvSpPr>
            <p:nvPr/>
          </p:nvSpPr>
          <p:spPr bwMode="auto">
            <a:xfrm flipH="1">
              <a:off x="3648" y="1932"/>
              <a:ext cx="81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mc:AlternateContent xmlns:mc="http://schemas.openxmlformats.org/markup-compatibility/2006" xmlns:a14="http://schemas.microsoft.com/office/drawing/2010/main">
          <mc:Choice Requires="a14">
            <p:sp>
              <p:nvSpPr>
                <p:cNvPr id="26641" name="Object 23"/>
                <p:cNvSpPr txBox="1"/>
                <p:nvPr/>
              </p:nvSpPr>
              <p:spPr bwMode="auto">
                <a:xfrm>
                  <a:off x="3216" y="1728"/>
                  <a:ext cx="438" cy="49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𝐴</m:t>
                            </m:r>
                          </m:sub>
                        </m:sSub>
                      </m:oMath>
                    </m:oMathPara>
                  </a14:m>
                  <a:endParaRPr lang="zh-CN" altLang="en-US"/>
                </a:p>
              </p:txBody>
            </p:sp>
          </mc:Choice>
          <mc:Fallback xmlns="">
            <p:sp>
              <p:nvSpPr>
                <p:cNvPr id="26641" name="Object 23"/>
                <p:cNvSpPr txBox="1">
                  <a:spLocks noRot="1" noChangeAspect="1" noMove="1" noResize="1" noEditPoints="1" noAdjustHandles="1" noChangeArrowheads="1" noChangeShapeType="1" noTextEdit="1"/>
                </p:cNvSpPr>
                <p:nvPr/>
              </p:nvSpPr>
              <p:spPr bwMode="auto">
                <a:xfrm>
                  <a:off x="3216" y="1728"/>
                  <a:ext cx="438" cy="498"/>
                </a:xfrm>
                <a:prstGeom prst="rect">
                  <a:avLst/>
                </a:prstGeom>
                <a:blipFill>
                  <a:blip r:embed="rId5"/>
                  <a:stretch>
                    <a:fillRect t="-769" r="-15789"/>
                  </a:stretch>
                </a:blipFill>
                <a:ln>
                  <a:noFill/>
                </a:ln>
                <a:effectLst/>
                <a:extLst/>
              </p:spPr>
              <p:txBody>
                <a:bodyPr/>
                <a:lstStyle/>
                <a:p>
                  <a:r>
                    <a:rPr lang="zh-CN" altLang="en-US">
                      <a:noFill/>
                    </a:rPr>
                    <a:t> </a:t>
                  </a:r>
                </a:p>
              </p:txBody>
            </p:sp>
          </mc:Fallback>
        </mc:AlternateContent>
      </p:grpSp>
      <p:grpSp>
        <p:nvGrpSpPr>
          <p:cNvPr id="5" name="Group 24"/>
          <p:cNvGrpSpPr>
            <a:grpSpLocks/>
          </p:cNvGrpSpPr>
          <p:nvPr/>
        </p:nvGrpSpPr>
        <p:grpSpPr bwMode="auto">
          <a:xfrm>
            <a:off x="6338888" y="1676400"/>
            <a:ext cx="762000" cy="1905000"/>
            <a:chOff x="3744" y="2688"/>
            <a:chExt cx="480" cy="1200"/>
          </a:xfrm>
        </p:grpSpPr>
        <p:sp>
          <p:nvSpPr>
            <p:cNvPr id="26656" name="Line 25"/>
            <p:cNvSpPr>
              <a:spLocks noChangeShapeType="1"/>
            </p:cNvSpPr>
            <p:nvPr/>
          </p:nvSpPr>
          <p:spPr bwMode="auto">
            <a:xfrm>
              <a:off x="3744" y="2688"/>
              <a:ext cx="0" cy="1056"/>
            </a:xfrm>
            <a:prstGeom prst="line">
              <a:avLst/>
            </a:prstGeom>
            <a:noFill/>
            <a:ln w="38100">
              <a:solidFill>
                <a:srgbClr val="FF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mc:AlternateContent xmlns:mc="http://schemas.openxmlformats.org/markup-compatibility/2006" xmlns:a14="http://schemas.microsoft.com/office/drawing/2010/main">
          <mc:Choice Requires="a14">
            <p:sp>
              <p:nvSpPr>
                <p:cNvPr id="26640" name="Object 26"/>
                <p:cNvSpPr txBox="1"/>
                <p:nvPr/>
              </p:nvSpPr>
              <p:spPr bwMode="auto">
                <a:xfrm>
                  <a:off x="3786" y="3390"/>
                  <a:ext cx="438" cy="49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𝐵</m:t>
                            </m:r>
                          </m:sub>
                        </m:sSub>
                      </m:oMath>
                    </m:oMathPara>
                  </a14:m>
                  <a:endParaRPr lang="zh-CN" altLang="en-US"/>
                </a:p>
              </p:txBody>
            </p:sp>
          </mc:Choice>
          <mc:Fallback xmlns="">
            <p:sp>
              <p:nvSpPr>
                <p:cNvPr id="26640" name="Object 26"/>
                <p:cNvSpPr txBox="1">
                  <a:spLocks noRot="1" noChangeAspect="1" noMove="1" noResize="1" noEditPoints="1" noAdjustHandles="1" noChangeArrowheads="1" noChangeShapeType="1" noTextEdit="1"/>
                </p:cNvSpPr>
                <p:nvPr/>
              </p:nvSpPr>
              <p:spPr bwMode="auto">
                <a:xfrm>
                  <a:off x="3786" y="3390"/>
                  <a:ext cx="438" cy="498"/>
                </a:xfrm>
                <a:prstGeom prst="rect">
                  <a:avLst/>
                </a:prstGeom>
                <a:blipFill>
                  <a:blip r:embed="rId6"/>
                  <a:stretch>
                    <a:fillRect t="-769" r="-13158"/>
                  </a:stretch>
                </a:blipFill>
                <a:ln>
                  <a:noFill/>
                </a:ln>
                <a:effectLst/>
                <a:extLst/>
              </p:spPr>
              <p:txBody>
                <a:bodyPr/>
                <a:lstStyle/>
                <a:p>
                  <a:r>
                    <a:rPr lang="zh-CN" altLang="en-US">
                      <a:noFill/>
                    </a:rPr>
                    <a:t> </a:t>
                  </a:r>
                </a:p>
              </p:txBody>
            </p:sp>
          </mc:Fallback>
        </mc:AlternateContent>
      </p:grpSp>
      <p:grpSp>
        <p:nvGrpSpPr>
          <p:cNvPr id="26648" name="Group 31"/>
          <p:cNvGrpSpPr>
            <a:grpSpLocks/>
          </p:cNvGrpSpPr>
          <p:nvPr/>
        </p:nvGrpSpPr>
        <p:grpSpPr bwMode="auto">
          <a:xfrm>
            <a:off x="323850" y="0"/>
            <a:ext cx="5280025" cy="963613"/>
            <a:chOff x="336" y="119"/>
            <a:chExt cx="3326" cy="607"/>
          </a:xfrm>
        </p:grpSpPr>
        <mc:AlternateContent xmlns:mc="http://schemas.openxmlformats.org/markup-compatibility/2006" xmlns:a14="http://schemas.microsoft.com/office/drawing/2010/main">
          <mc:Choice Requires="a14">
            <p:sp>
              <p:nvSpPr>
                <p:cNvPr id="26638" name="Object 27"/>
                <p:cNvSpPr txBox="1"/>
                <p:nvPr/>
              </p:nvSpPr>
              <p:spPr bwMode="auto">
                <a:xfrm>
                  <a:off x="336" y="119"/>
                  <a:ext cx="1206" cy="53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𝐴</m:t>
                            </m:r>
                          </m:sub>
                        </m:sSub>
                      </m:oMath>
                    </m:oMathPara>
                  </a14:m>
                  <a:endParaRPr lang="zh-CN" altLang="en-US"/>
                </a:p>
              </p:txBody>
            </p:sp>
          </mc:Choice>
          <mc:Fallback xmlns="">
            <p:sp>
              <p:nvSpPr>
                <p:cNvPr id="26638" name="Object 27"/>
                <p:cNvSpPr txBox="1">
                  <a:spLocks noRot="1" noChangeAspect="1" noMove="1" noResize="1" noEditPoints="1" noAdjustHandles="1" noChangeArrowheads="1" noChangeShapeType="1" noTextEdit="1"/>
                </p:cNvSpPr>
                <p:nvPr/>
              </p:nvSpPr>
              <p:spPr bwMode="auto">
                <a:xfrm>
                  <a:off x="336" y="119"/>
                  <a:ext cx="1206" cy="539"/>
                </a:xfrm>
                <a:prstGeom prst="rect">
                  <a:avLst/>
                </a:prstGeom>
                <a:blipFill>
                  <a:blip r:embed="rId7"/>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639" name="Object 28"/>
                <p:cNvSpPr txBox="1"/>
                <p:nvPr/>
              </p:nvSpPr>
              <p:spPr bwMode="auto">
                <a:xfrm>
                  <a:off x="1610" y="119"/>
                  <a:ext cx="2052" cy="607"/>
                </a:xfrm>
                <a:prstGeom prst="rect">
                  <a:avLst/>
                </a:prstGeom>
                <a:noFill/>
                <a:ln>
                  <a:noFill/>
                </a:ln>
                <a:effectLst/>
                <a:extLst/>
              </p:spPr>
              <p:txBody>
                <a:bodyPr>
                  <a:normAutofit/>
                </a:bodyPr>
                <a:lstStyle/>
                <a:p>
                  <a14:m>
                    <m:oMath xmlns:m="http://schemas.openxmlformats.org/officeDocument/2006/math">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 </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kg</m:t>
                          </m:r>
                        </m:fName>
                        <m:e>
                          <m:r>
                            <a:rPr lang="zh-CN" altLang="en-US" i="1">
                              <a:solidFill>
                                <a:srgbClr val="000000"/>
                              </a:solidFill>
                              <a:latin typeface="Cambria Math" panose="02040503050406030204" pitchFamily="18" charset="0"/>
                            </a:rPr>
                            <m:t>⋅</m:t>
                          </m:r>
                        </m:e>
                      </m:func>
                    </m:oMath>
                  </a14:m>
                  <a:r>
                    <a:rPr lang="en-US" altLang="zh-CN" dirty="0"/>
                    <a:t>m/s</a:t>
                  </a:r>
                  <a:endParaRPr lang="zh-CN" altLang="en-US" dirty="0"/>
                </a:p>
              </p:txBody>
            </p:sp>
          </mc:Choice>
          <mc:Fallback xmlns="">
            <p:sp>
              <p:nvSpPr>
                <p:cNvPr id="26639" name="Object 28"/>
                <p:cNvSpPr txBox="1">
                  <a:spLocks noRot="1" noChangeAspect="1" noMove="1" noResize="1" noEditPoints="1" noAdjustHandles="1" noChangeArrowheads="1" noChangeShapeType="1" noTextEdit="1"/>
                </p:cNvSpPr>
                <p:nvPr/>
              </p:nvSpPr>
              <p:spPr bwMode="auto">
                <a:xfrm>
                  <a:off x="1610" y="119"/>
                  <a:ext cx="2052" cy="607"/>
                </a:xfrm>
                <a:prstGeom prst="rect">
                  <a:avLst/>
                </a:prstGeom>
                <a:blipFill>
                  <a:blip r:embed="rId8"/>
                  <a:stretch>
                    <a:fillRect t="-1266"/>
                  </a:stretch>
                </a:blipFill>
                <a:ln>
                  <a:noFill/>
                </a:ln>
                <a:effectLst/>
                <a:extLst/>
              </p:spPr>
              <p:txBody>
                <a:bodyPr/>
                <a:lstStyle/>
                <a:p>
                  <a:r>
                    <a:rPr lang="zh-CN" altLang="en-US">
                      <a:noFill/>
                    </a:rPr>
                    <a:t> </a:t>
                  </a:r>
                </a:p>
              </p:txBody>
            </p:sp>
          </mc:Fallback>
        </mc:AlternateContent>
      </p:grpSp>
      <p:grpSp>
        <p:nvGrpSpPr>
          <p:cNvPr id="26649" name="Group 32"/>
          <p:cNvGrpSpPr>
            <a:grpSpLocks/>
          </p:cNvGrpSpPr>
          <p:nvPr/>
        </p:nvGrpSpPr>
        <p:grpSpPr bwMode="auto">
          <a:xfrm>
            <a:off x="179388" y="1052513"/>
            <a:ext cx="5060950" cy="828675"/>
            <a:chOff x="113" y="845"/>
            <a:chExt cx="3188" cy="522"/>
          </a:xfrm>
        </p:grpSpPr>
        <mc:AlternateContent xmlns:mc="http://schemas.openxmlformats.org/markup-compatibility/2006" xmlns:a14="http://schemas.microsoft.com/office/drawing/2010/main">
          <mc:Choice Requires="a14">
            <p:sp>
              <p:nvSpPr>
                <p:cNvPr id="26636" name="Object 29"/>
                <p:cNvSpPr txBox="1"/>
                <p:nvPr/>
              </p:nvSpPr>
              <p:spPr bwMode="auto">
                <a:xfrm>
                  <a:off x="113" y="845"/>
                  <a:ext cx="1331" cy="52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𝐵</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𝐵</m:t>
                            </m:r>
                          </m:sub>
                        </m:sSub>
                      </m:oMath>
                    </m:oMathPara>
                  </a14:m>
                  <a:endParaRPr lang="zh-CN" altLang="en-US"/>
                </a:p>
              </p:txBody>
            </p:sp>
          </mc:Choice>
          <mc:Fallback xmlns="">
            <p:sp>
              <p:nvSpPr>
                <p:cNvPr id="26636" name="Object 29"/>
                <p:cNvSpPr txBox="1">
                  <a:spLocks noRot="1" noChangeAspect="1" noMove="1" noResize="1" noEditPoints="1" noAdjustHandles="1" noChangeArrowheads="1" noChangeShapeType="1" noTextEdit="1"/>
                </p:cNvSpPr>
                <p:nvPr/>
              </p:nvSpPr>
              <p:spPr bwMode="auto">
                <a:xfrm>
                  <a:off x="113" y="845"/>
                  <a:ext cx="1331" cy="522"/>
                </a:xfrm>
                <a:prstGeom prst="rect">
                  <a:avLst/>
                </a:prstGeom>
                <a:blipFill>
                  <a:blip r:embed="rId9"/>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637" name="Object 30"/>
                <p:cNvSpPr txBox="1"/>
                <p:nvPr/>
              </p:nvSpPr>
              <p:spPr bwMode="auto">
                <a:xfrm>
                  <a:off x="1474" y="845"/>
                  <a:ext cx="1827" cy="511"/>
                </a:xfrm>
                <a:prstGeom prst="rect">
                  <a:avLst/>
                </a:prstGeom>
                <a:noFill/>
                <a:ln>
                  <a:noFill/>
                </a:ln>
                <a:effectLst/>
                <a:extLst/>
              </p:spPr>
              <p:txBody>
                <a:bodyPr>
                  <a:normAutofit/>
                </a:bodyPr>
                <a:lstStyle/>
                <a:p>
                  <a14:m>
                    <m:oMath xmlns:m="http://schemas.openxmlformats.org/officeDocument/2006/math">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 </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kg</m:t>
                          </m:r>
                        </m:fName>
                        <m:e>
                          <m:r>
                            <a:rPr lang="zh-CN" altLang="en-US" i="1">
                              <a:solidFill>
                                <a:srgbClr val="000000"/>
                              </a:solidFill>
                              <a:latin typeface="Cambria Math" panose="02040503050406030204" pitchFamily="18" charset="0"/>
                            </a:rPr>
                            <m:t>⋅</m:t>
                          </m:r>
                        </m:e>
                      </m:func>
                    </m:oMath>
                  </a14:m>
                  <a:r>
                    <a:rPr lang="en-US" altLang="zh-CN" dirty="0"/>
                    <a:t>m/s</a:t>
                  </a:r>
                  <a:endParaRPr lang="zh-CN" altLang="en-US" dirty="0"/>
                </a:p>
              </p:txBody>
            </p:sp>
          </mc:Choice>
          <mc:Fallback xmlns="">
            <p:sp>
              <p:nvSpPr>
                <p:cNvPr id="26637" name="Object 30"/>
                <p:cNvSpPr txBox="1">
                  <a:spLocks noRot="1" noChangeAspect="1" noMove="1" noResize="1" noEditPoints="1" noAdjustHandles="1" noChangeArrowheads="1" noChangeShapeType="1" noTextEdit="1"/>
                </p:cNvSpPr>
                <p:nvPr/>
              </p:nvSpPr>
              <p:spPr bwMode="auto">
                <a:xfrm>
                  <a:off x="1474" y="845"/>
                  <a:ext cx="1827" cy="511"/>
                </a:xfrm>
                <a:prstGeom prst="rect">
                  <a:avLst/>
                </a:prstGeom>
                <a:blipFill>
                  <a:blip r:embed="rId10"/>
                  <a:stretch>
                    <a:fillRect t="-6015"/>
                  </a:stretch>
                </a:blipFill>
                <a:ln>
                  <a:noFill/>
                </a:ln>
                <a:effectLs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9297" name="Object 33"/>
              <p:cNvSpPr txBox="1"/>
              <p:nvPr/>
            </p:nvSpPr>
            <p:spPr bwMode="auto">
              <a:xfrm>
                <a:off x="323850" y="2060575"/>
                <a:ext cx="4133850" cy="8794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𝐵</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𝐴</m:t>
                          </m:r>
                        </m:sub>
                      </m:sSub>
                    </m:oMath>
                  </m:oMathPara>
                </a14:m>
                <a:endParaRPr lang="zh-CN" altLang="en-US"/>
              </a:p>
            </p:txBody>
          </p:sp>
        </mc:Choice>
        <mc:Fallback xmlns="">
          <p:sp>
            <p:nvSpPr>
              <p:cNvPr id="139297" name="Object 33"/>
              <p:cNvSpPr txBox="1">
                <a:spLocks noRot="1" noChangeAspect="1" noMove="1" noResize="1" noEditPoints="1" noAdjustHandles="1" noChangeArrowheads="1" noChangeShapeType="1" noTextEdit="1"/>
              </p:cNvSpPr>
              <p:nvPr/>
            </p:nvSpPr>
            <p:spPr bwMode="auto">
              <a:xfrm>
                <a:off x="323850" y="2060575"/>
                <a:ext cx="4133850" cy="879475"/>
              </a:xfrm>
              <a:prstGeom prst="rect">
                <a:avLst/>
              </a:prstGeom>
              <a:blipFill>
                <a:blip r:embed="rId11"/>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298" name="Object 34"/>
              <p:cNvSpPr txBox="1"/>
              <p:nvPr/>
            </p:nvSpPr>
            <p:spPr bwMode="auto">
              <a:xfrm>
                <a:off x="498475" y="3378953"/>
                <a:ext cx="4479925" cy="11334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b>
                          </m:sSub>
                        </m:e>
                      </m:d>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𝑚</m:t>
                          </m:r>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𝐴</m:t>
                                  </m:r>
                                </m:sub>
                              </m:sSub>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𝐵</m:t>
                                  </m:r>
                                </m:sub>
                              </m:sSub>
                            </m:e>
                            <m:sup>
                              <m:r>
                                <a:rPr lang="zh-CN" altLang="en-US" i="1">
                                  <a:solidFill>
                                    <a:srgbClr val="000000"/>
                                  </a:solidFill>
                                  <a:latin typeface="Cambria Math" panose="02040503050406030204" pitchFamily="18" charset="0"/>
                                </a:rPr>
                                <m:t>2</m:t>
                              </m:r>
                            </m:sup>
                          </m:sSup>
                        </m:e>
                      </m:rad>
                    </m:oMath>
                  </m:oMathPara>
                </a14:m>
                <a:endParaRPr lang="zh-CN" altLang="en-US" dirty="0"/>
              </a:p>
            </p:txBody>
          </p:sp>
        </mc:Choice>
        <mc:Fallback xmlns="">
          <p:sp>
            <p:nvSpPr>
              <p:cNvPr id="139298" name="Object 34"/>
              <p:cNvSpPr txBox="1">
                <a:spLocks noRot="1" noChangeAspect="1" noMove="1" noResize="1" noEditPoints="1" noAdjustHandles="1" noChangeArrowheads="1" noChangeShapeType="1" noTextEdit="1"/>
              </p:cNvSpPr>
              <p:nvPr/>
            </p:nvSpPr>
            <p:spPr bwMode="auto">
              <a:xfrm>
                <a:off x="498475" y="3378953"/>
                <a:ext cx="4479925" cy="1133475"/>
              </a:xfrm>
              <a:prstGeom prst="rect">
                <a:avLst/>
              </a:prstGeom>
              <a:blipFill>
                <a:blip r:embed="rId1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299" name="Object 35"/>
              <p:cNvSpPr txBox="1"/>
              <p:nvPr/>
            </p:nvSpPr>
            <p:spPr bwMode="auto">
              <a:xfrm>
                <a:off x="4500563" y="3429000"/>
                <a:ext cx="3198812" cy="900113"/>
              </a:xfrm>
              <a:prstGeom prst="rect">
                <a:avLst/>
              </a:prstGeom>
              <a:noFill/>
              <a:ln>
                <a:noFill/>
              </a:ln>
              <a:effectLst/>
              <a:extLst/>
            </p:spPr>
            <p:txBody>
              <a:bodyPr>
                <a:normAutofit/>
              </a:bodyPr>
              <a:lstStyle/>
              <a:p>
                <a14:m>
                  <m:oMath xmlns:m="http://schemas.openxmlformats.org/officeDocument/2006/math">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6</m:t>
                        </m:r>
                      </m:e>
                    </m:rad>
                    <m:r>
                      <a:rPr lang="zh-CN" altLang="en-US" i="1">
                        <a:solidFill>
                          <a:srgbClr val="000000"/>
                        </a:solidFill>
                        <a:latin typeface="Cambria Math" panose="02040503050406030204" pitchFamily="18" charset="0"/>
                      </a:rPr>
                      <m:t>𝜋</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kg</m:t>
                        </m:r>
                      </m:fName>
                      <m:e>
                        <m:r>
                          <a:rPr lang="zh-CN" altLang="en-US" i="1">
                            <a:solidFill>
                              <a:srgbClr val="000000"/>
                            </a:solidFill>
                            <a:latin typeface="Cambria Math" panose="02040503050406030204" pitchFamily="18" charset="0"/>
                          </a:rPr>
                          <m:t>⋅</m:t>
                        </m:r>
                      </m:e>
                    </m:func>
                  </m:oMath>
                </a14:m>
                <a:r>
                  <a:rPr lang="en-US" altLang="zh-CN" dirty="0"/>
                  <a:t>m/s</a:t>
                </a:r>
                <a:endParaRPr lang="zh-CN" altLang="en-US" dirty="0"/>
              </a:p>
            </p:txBody>
          </p:sp>
        </mc:Choice>
        <mc:Fallback xmlns="">
          <p:sp>
            <p:nvSpPr>
              <p:cNvPr id="139299" name="Object 35"/>
              <p:cNvSpPr txBox="1">
                <a:spLocks noRot="1" noChangeAspect="1" noMove="1" noResize="1" noEditPoints="1" noAdjustHandles="1" noChangeArrowheads="1" noChangeShapeType="1" noTextEdit="1"/>
              </p:cNvSpPr>
              <p:nvPr/>
            </p:nvSpPr>
            <p:spPr bwMode="auto">
              <a:xfrm>
                <a:off x="4500563" y="3429000"/>
                <a:ext cx="3198812" cy="900113"/>
              </a:xfrm>
              <a:prstGeom prst="rect">
                <a:avLst/>
              </a:prstGeom>
              <a:blipFill>
                <a:blip r:embed="rId13"/>
                <a:stretch>
                  <a:fillRect t="-1361"/>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300" name="Object 36"/>
              <p:cNvSpPr txBox="1"/>
              <p:nvPr/>
            </p:nvSpPr>
            <p:spPr bwMode="auto">
              <a:xfrm>
                <a:off x="708025" y="4394200"/>
                <a:ext cx="2351088" cy="12477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nor/>
                        </m:rPr>
                        <a:rPr lang="zh-CN" altLang="en-US" i="0">
                          <a:solidFill>
                            <a:srgbClr val="000000"/>
                          </a:solidFill>
                          <a:latin typeface="Cambria Math" panose="02040503050406030204" pitchFamily="18" charset="0"/>
                        </a:rPr>
                        <m:t>tan</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𝐵</m:t>
                              </m:r>
                            </m:sub>
                          </m:sSub>
                        </m:num>
                        <m:den>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𝐴</m:t>
                              </m:r>
                            </m:sub>
                          </m:sSub>
                        </m:den>
                      </m:f>
                    </m:oMath>
                  </m:oMathPara>
                </a14:m>
                <a:endParaRPr lang="zh-CN" altLang="en-US"/>
              </a:p>
            </p:txBody>
          </p:sp>
        </mc:Choice>
        <mc:Fallback xmlns="">
          <p:sp>
            <p:nvSpPr>
              <p:cNvPr id="139300" name="Object 36"/>
              <p:cNvSpPr txBox="1">
                <a:spLocks noRot="1" noChangeAspect="1" noMove="1" noResize="1" noEditPoints="1" noAdjustHandles="1" noChangeArrowheads="1" noChangeShapeType="1" noTextEdit="1"/>
              </p:cNvSpPr>
              <p:nvPr/>
            </p:nvSpPr>
            <p:spPr bwMode="auto">
              <a:xfrm>
                <a:off x="708025" y="4394200"/>
                <a:ext cx="2351088" cy="1247775"/>
              </a:xfrm>
              <a:prstGeom prst="rect">
                <a:avLst/>
              </a:prstGeom>
              <a:blipFill>
                <a:blip r:embed="rId1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301" name="Object 37"/>
              <p:cNvSpPr txBox="1"/>
              <p:nvPr/>
            </p:nvSpPr>
            <p:spPr bwMode="auto">
              <a:xfrm>
                <a:off x="3059113" y="4365625"/>
                <a:ext cx="1285875" cy="13747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den>
                      </m:f>
                    </m:oMath>
                  </m:oMathPara>
                </a14:m>
                <a:endParaRPr lang="zh-CN" altLang="en-US"/>
              </a:p>
            </p:txBody>
          </p:sp>
        </mc:Choice>
        <mc:Fallback xmlns="">
          <p:sp>
            <p:nvSpPr>
              <p:cNvPr id="139301" name="Object 37"/>
              <p:cNvSpPr txBox="1">
                <a:spLocks noRot="1" noChangeAspect="1" noMove="1" noResize="1" noEditPoints="1" noAdjustHandles="1" noChangeArrowheads="1" noChangeShapeType="1" noTextEdit="1"/>
              </p:cNvSpPr>
              <p:nvPr/>
            </p:nvSpPr>
            <p:spPr bwMode="auto">
              <a:xfrm>
                <a:off x="3059113" y="4365625"/>
                <a:ext cx="1285875" cy="1374775"/>
              </a:xfrm>
              <a:prstGeom prst="rect">
                <a:avLst/>
              </a:prstGeom>
              <a:blipFill>
                <a:blip r:embed="rId15"/>
                <a:stretch>
                  <a:fillRect/>
                </a:stretch>
              </a:blipFill>
              <a:ln>
                <a:noFill/>
              </a:ln>
              <a:effectLst/>
              <a:extLst/>
            </p:spPr>
            <p:txBody>
              <a:bodyPr/>
              <a:lstStyle/>
              <a:p>
                <a:r>
                  <a:rPr lang="zh-CN" altLang="en-US">
                    <a:noFill/>
                  </a:rPr>
                  <a:t> </a:t>
                </a:r>
              </a:p>
            </p:txBody>
          </p:sp>
        </mc:Fallback>
      </mc:AlternateContent>
      <p:grpSp>
        <p:nvGrpSpPr>
          <p:cNvPr id="8" name="Group 38"/>
          <p:cNvGrpSpPr>
            <a:grpSpLocks/>
          </p:cNvGrpSpPr>
          <p:nvPr/>
        </p:nvGrpSpPr>
        <p:grpSpPr bwMode="auto">
          <a:xfrm>
            <a:off x="5553075" y="4076700"/>
            <a:ext cx="2332038" cy="2765425"/>
            <a:chOff x="2179" y="2304"/>
            <a:chExt cx="1469" cy="1742"/>
          </a:xfrm>
        </p:grpSpPr>
        <p:sp>
          <p:nvSpPr>
            <p:cNvPr id="26651" name="Line 39"/>
            <p:cNvSpPr>
              <a:spLocks noChangeShapeType="1"/>
            </p:cNvSpPr>
            <p:nvPr/>
          </p:nvSpPr>
          <p:spPr bwMode="auto">
            <a:xfrm flipH="1">
              <a:off x="2460" y="2693"/>
              <a:ext cx="684" cy="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6632" name="Object 40"/>
                <p:cNvSpPr txBox="1"/>
                <p:nvPr/>
              </p:nvSpPr>
              <p:spPr bwMode="auto">
                <a:xfrm>
                  <a:off x="2548" y="2304"/>
                  <a:ext cx="560" cy="38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𝐴</m:t>
                            </m:r>
                          </m:sub>
                        </m:sSub>
                      </m:oMath>
                    </m:oMathPara>
                  </a14:m>
                  <a:endParaRPr lang="zh-CN" altLang="en-US"/>
                </a:p>
              </p:txBody>
            </p:sp>
          </mc:Choice>
          <mc:Fallback xmlns="">
            <p:sp>
              <p:nvSpPr>
                <p:cNvPr id="26632" name="Object 40"/>
                <p:cNvSpPr txBox="1">
                  <a:spLocks noRot="1" noChangeAspect="1" noMove="1" noResize="1" noEditPoints="1" noAdjustHandles="1" noChangeArrowheads="1" noChangeShapeType="1" noTextEdit="1"/>
                </p:cNvSpPr>
                <p:nvPr/>
              </p:nvSpPr>
              <p:spPr bwMode="auto">
                <a:xfrm>
                  <a:off x="2548" y="2304"/>
                  <a:ext cx="560" cy="389"/>
                </a:xfrm>
                <a:prstGeom prst="rect">
                  <a:avLst/>
                </a:prstGeom>
                <a:blipFill>
                  <a:blip r:embed="rId16"/>
                  <a:stretch>
                    <a:fillRect t="-990" r="-15753"/>
                  </a:stretch>
                </a:blipFill>
                <a:ln>
                  <a:noFill/>
                </a:ln>
                <a:effectLst/>
                <a:extLst/>
              </p:spPr>
              <p:txBody>
                <a:bodyPr/>
                <a:lstStyle/>
                <a:p>
                  <a:r>
                    <a:rPr lang="zh-CN" altLang="en-US">
                      <a:noFill/>
                    </a:rPr>
                    <a:t> </a:t>
                  </a:r>
                </a:p>
              </p:txBody>
            </p:sp>
          </mc:Fallback>
        </mc:AlternateContent>
        <p:sp>
          <p:nvSpPr>
            <p:cNvPr id="26652" name="Freeform 41"/>
            <p:cNvSpPr>
              <a:spLocks/>
            </p:cNvSpPr>
            <p:nvPr/>
          </p:nvSpPr>
          <p:spPr bwMode="auto">
            <a:xfrm>
              <a:off x="3144" y="2693"/>
              <a:ext cx="1" cy="1020"/>
            </a:xfrm>
            <a:custGeom>
              <a:avLst/>
              <a:gdLst>
                <a:gd name="T0" fmla="*/ 0 w 1"/>
                <a:gd name="T1" fmla="*/ 0 h 1020"/>
                <a:gd name="T2" fmla="*/ 0 w 1"/>
                <a:gd name="T3" fmla="*/ 1020 h 1020"/>
                <a:gd name="T4" fmla="*/ 0 60000 65536"/>
                <a:gd name="T5" fmla="*/ 0 60000 65536"/>
                <a:gd name="T6" fmla="*/ 0 w 1"/>
                <a:gd name="T7" fmla="*/ 0 h 1020"/>
                <a:gd name="T8" fmla="*/ 1 w 1"/>
                <a:gd name="T9" fmla="*/ 1020 h 1020"/>
              </a:gdLst>
              <a:ahLst/>
              <a:cxnLst>
                <a:cxn ang="T4">
                  <a:pos x="T0" y="T1"/>
                </a:cxn>
                <a:cxn ang="T5">
                  <a:pos x="T2" y="T3"/>
                </a:cxn>
              </a:cxnLst>
              <a:rect l="T6" t="T7" r="T8" b="T9"/>
              <a:pathLst>
                <a:path w="1" h="1020">
                  <a:moveTo>
                    <a:pt x="0" y="0"/>
                  </a:moveTo>
                  <a:lnTo>
                    <a:pt x="0" y="1020"/>
                  </a:lnTo>
                </a:path>
              </a:pathLst>
            </a:custGeom>
            <a:noFill/>
            <a:ln w="38100">
              <a:solidFill>
                <a:srgbClr val="FF33CC"/>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6633" name="Object 42"/>
                <p:cNvSpPr txBox="1"/>
                <p:nvPr/>
              </p:nvSpPr>
              <p:spPr bwMode="auto">
                <a:xfrm>
                  <a:off x="3012" y="3605"/>
                  <a:ext cx="636" cy="441"/>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𝐵</m:t>
                            </m:r>
                          </m:sub>
                        </m:sSub>
                      </m:oMath>
                    </m:oMathPara>
                  </a14:m>
                  <a:endParaRPr lang="zh-CN" altLang="en-US"/>
                </a:p>
              </p:txBody>
            </p:sp>
          </mc:Choice>
          <mc:Fallback xmlns="">
            <p:sp>
              <p:nvSpPr>
                <p:cNvPr id="26633" name="Object 42"/>
                <p:cNvSpPr txBox="1">
                  <a:spLocks noRot="1" noChangeAspect="1" noMove="1" noResize="1" noEditPoints="1" noAdjustHandles="1" noChangeArrowheads="1" noChangeShapeType="1" noTextEdit="1"/>
                </p:cNvSpPr>
                <p:nvPr/>
              </p:nvSpPr>
              <p:spPr bwMode="auto">
                <a:xfrm>
                  <a:off x="3012" y="3605"/>
                  <a:ext cx="636" cy="441"/>
                </a:xfrm>
                <a:prstGeom prst="rect">
                  <a:avLst/>
                </a:prstGeom>
                <a:blipFill>
                  <a:blip r:embed="rId17"/>
                  <a:stretch>
                    <a:fillRect t="-877" r="-6667"/>
                  </a:stretch>
                </a:blipFill>
                <a:ln>
                  <a:noFill/>
                </a:ln>
                <a:effectLst/>
                <a:extLst/>
              </p:spPr>
              <p:txBody>
                <a:bodyPr/>
                <a:lstStyle/>
                <a:p>
                  <a:r>
                    <a:rPr lang="zh-CN" altLang="en-US">
                      <a:noFill/>
                    </a:rPr>
                    <a:t> </a:t>
                  </a:r>
                </a:p>
              </p:txBody>
            </p:sp>
          </mc:Fallback>
        </mc:AlternateContent>
        <p:sp>
          <p:nvSpPr>
            <p:cNvPr id="26653" name="Freeform 43"/>
            <p:cNvSpPr>
              <a:spLocks/>
            </p:cNvSpPr>
            <p:nvPr/>
          </p:nvSpPr>
          <p:spPr bwMode="auto">
            <a:xfrm>
              <a:off x="2472" y="2693"/>
              <a:ext cx="672" cy="1008"/>
            </a:xfrm>
            <a:custGeom>
              <a:avLst/>
              <a:gdLst>
                <a:gd name="T0" fmla="*/ 0 w 672"/>
                <a:gd name="T1" fmla="*/ 0 h 1008"/>
                <a:gd name="T2" fmla="*/ 672 w 672"/>
                <a:gd name="T3" fmla="*/ 1008 h 1008"/>
                <a:gd name="T4" fmla="*/ 0 60000 65536"/>
                <a:gd name="T5" fmla="*/ 0 60000 65536"/>
                <a:gd name="T6" fmla="*/ 0 w 672"/>
                <a:gd name="T7" fmla="*/ 0 h 1008"/>
                <a:gd name="T8" fmla="*/ 672 w 672"/>
                <a:gd name="T9" fmla="*/ 1008 h 1008"/>
              </a:gdLst>
              <a:ahLst/>
              <a:cxnLst>
                <a:cxn ang="T4">
                  <a:pos x="T0" y="T1"/>
                </a:cxn>
                <a:cxn ang="T5">
                  <a:pos x="T2" y="T3"/>
                </a:cxn>
              </a:cxnLst>
              <a:rect l="T6" t="T7" r="T8" b="T9"/>
              <a:pathLst>
                <a:path w="672" h="1008">
                  <a:moveTo>
                    <a:pt x="0" y="0"/>
                  </a:moveTo>
                  <a:lnTo>
                    <a:pt x="672" y="1008"/>
                  </a:lnTo>
                </a:path>
              </a:pathLst>
            </a:custGeom>
            <a:noFill/>
            <a:ln w="38100">
              <a:solidFill>
                <a:srgbClr val="3333FF"/>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6634" name="Object 44"/>
                <p:cNvSpPr txBox="1"/>
                <p:nvPr/>
              </p:nvSpPr>
              <p:spPr bwMode="auto">
                <a:xfrm>
                  <a:off x="2179" y="2936"/>
                  <a:ext cx="785" cy="621"/>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b>
                        </m:sSub>
                      </m:oMath>
                    </m:oMathPara>
                  </a14:m>
                  <a:endParaRPr lang="zh-CN" altLang="en-US"/>
                </a:p>
              </p:txBody>
            </p:sp>
          </mc:Choice>
          <mc:Fallback xmlns="">
            <p:sp>
              <p:nvSpPr>
                <p:cNvPr id="26634" name="Object 44"/>
                <p:cNvSpPr txBox="1">
                  <a:spLocks noRot="1" noChangeAspect="1" noMove="1" noResize="1" noEditPoints="1" noAdjustHandles="1" noChangeArrowheads="1" noChangeShapeType="1" noTextEdit="1"/>
                </p:cNvSpPr>
                <p:nvPr/>
              </p:nvSpPr>
              <p:spPr bwMode="auto">
                <a:xfrm>
                  <a:off x="2179" y="2936"/>
                  <a:ext cx="785" cy="621"/>
                </a:xfrm>
                <a:prstGeom prst="rect">
                  <a:avLst/>
                </a:prstGeom>
                <a:blipFill>
                  <a:blip r:embed="rId18"/>
                  <a:stretch>
                    <a:fillRect/>
                  </a:stretch>
                </a:blipFill>
                <a:ln>
                  <a:noFill/>
                </a:ln>
                <a:effectLst/>
                <a:extLst/>
              </p:spPr>
              <p:txBody>
                <a:bodyPr/>
                <a:lstStyle/>
                <a:p>
                  <a:r>
                    <a:rPr lang="zh-CN" altLang="en-US">
                      <a:noFill/>
                    </a:rPr>
                    <a:t> </a:t>
                  </a:r>
                </a:p>
              </p:txBody>
            </p:sp>
          </mc:Fallback>
        </mc:AlternateContent>
        <p:grpSp>
          <p:nvGrpSpPr>
            <p:cNvPr id="26654" name="Group 45"/>
            <p:cNvGrpSpPr>
              <a:grpSpLocks/>
            </p:cNvGrpSpPr>
            <p:nvPr/>
          </p:nvGrpSpPr>
          <p:grpSpPr bwMode="auto">
            <a:xfrm>
              <a:off x="2580" y="2676"/>
              <a:ext cx="400" cy="382"/>
              <a:chOff x="4488" y="1504"/>
              <a:chExt cx="400" cy="382"/>
            </a:xfrm>
          </p:grpSpPr>
          <p:sp>
            <p:nvSpPr>
              <p:cNvPr id="26655" name="Line 46"/>
              <p:cNvSpPr>
                <a:spLocks noChangeShapeType="1"/>
              </p:cNvSpPr>
              <p:nvPr/>
            </p:nvSpPr>
            <p:spPr bwMode="auto">
              <a:xfrm flipH="1">
                <a:off x="4488" y="1524"/>
                <a:ext cx="84" cy="108"/>
              </a:xfrm>
              <a:prstGeom prst="line">
                <a:avLst/>
              </a:prstGeom>
              <a:noFill/>
              <a:ln w="381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6635" name="Object 47"/>
                  <p:cNvSpPr txBox="1"/>
                  <p:nvPr/>
                </p:nvSpPr>
                <p:spPr bwMode="auto">
                  <a:xfrm>
                    <a:off x="4616" y="1504"/>
                    <a:ext cx="272" cy="38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𝜃</m:t>
                          </m:r>
                        </m:oMath>
                      </m:oMathPara>
                    </a14:m>
                    <a:endParaRPr lang="zh-CN" altLang="en-US"/>
                  </a:p>
                </p:txBody>
              </p:sp>
            </mc:Choice>
            <mc:Fallback xmlns="">
              <p:sp>
                <p:nvSpPr>
                  <p:cNvPr id="26635" name="Object 47"/>
                  <p:cNvSpPr txBox="1">
                    <a:spLocks noRot="1" noChangeAspect="1" noMove="1" noResize="1" noEditPoints="1" noAdjustHandles="1" noChangeArrowheads="1" noChangeShapeType="1" noTextEdit="1"/>
                  </p:cNvSpPr>
                  <p:nvPr/>
                </p:nvSpPr>
                <p:spPr bwMode="auto">
                  <a:xfrm>
                    <a:off x="4616" y="1504"/>
                    <a:ext cx="272" cy="382"/>
                  </a:xfrm>
                  <a:prstGeom prst="rect">
                    <a:avLst/>
                  </a:prstGeom>
                  <a:blipFill>
                    <a:blip r:embed="rId19"/>
                    <a:stretch>
                      <a:fillRect/>
                    </a:stretch>
                  </a:blipFill>
                  <a:ln>
                    <a:noFill/>
                  </a:ln>
                  <a:effectLst/>
                  <a:extLst/>
                </p:spPr>
                <p:txBody>
                  <a:bodyPr/>
                  <a:lstStyle/>
                  <a:p>
                    <a:r>
                      <a:rPr lang="zh-CN" altLang="en-US">
                        <a:noFill/>
                      </a:rPr>
                      <a:t> </a:t>
                    </a:r>
                  </a:p>
                </p:txBody>
              </p:sp>
            </mc:Fallback>
          </mc:AlternateContent>
        </p:grpSp>
      </p:grpSp>
      <mc:AlternateContent xmlns:mc="http://schemas.openxmlformats.org/markup-compatibility/2006" xmlns:a14="http://schemas.microsoft.com/office/drawing/2010/main">
        <mc:Choice Requires="a14">
          <p:sp>
            <p:nvSpPr>
              <p:cNvPr id="139312" name="Object 48"/>
              <p:cNvSpPr txBox="1"/>
              <p:nvPr/>
            </p:nvSpPr>
            <p:spPr bwMode="auto">
              <a:xfrm>
                <a:off x="850900" y="5857875"/>
                <a:ext cx="2336800" cy="6985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=5</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4</m:t>
                          </m:r>
                        </m:e>
                        <m:sup>
                          <m:r>
                            <m:rPr>
                              <m:sty m:val="p"/>
                            </m:rPr>
                            <a:rPr lang="zh-CN" altLang="en-US" i="0">
                              <a:solidFill>
                                <a:srgbClr val="000000"/>
                              </a:solidFill>
                              <a:latin typeface="Cambria Math" panose="02040503050406030204" pitchFamily="18" charset="0"/>
                            </a:rPr>
                            <m:t>o</m:t>
                          </m:r>
                        </m:sup>
                      </m:sSup>
                      <m:r>
                        <a:rPr lang="zh-CN" altLang="en-US" i="1">
                          <a:solidFill>
                            <a:srgbClr val="000000"/>
                          </a:solidFill>
                          <a:latin typeface="Cambria Math" panose="02040503050406030204" pitchFamily="18" charset="0"/>
                        </a:rPr>
                        <m:t>44′</m:t>
                      </m:r>
                    </m:oMath>
                  </m:oMathPara>
                </a14:m>
                <a:endParaRPr lang="zh-CN" altLang="en-US"/>
              </a:p>
            </p:txBody>
          </p:sp>
        </mc:Choice>
        <mc:Fallback xmlns="">
          <p:sp>
            <p:nvSpPr>
              <p:cNvPr id="139312" name="Object 48"/>
              <p:cNvSpPr txBox="1">
                <a:spLocks noRot="1" noChangeAspect="1" noMove="1" noResize="1" noEditPoints="1" noAdjustHandles="1" noChangeArrowheads="1" noChangeShapeType="1" noTextEdit="1"/>
              </p:cNvSpPr>
              <p:nvPr/>
            </p:nvSpPr>
            <p:spPr bwMode="auto">
              <a:xfrm>
                <a:off x="850900" y="5857875"/>
                <a:ext cx="2336800" cy="698500"/>
              </a:xfrm>
              <a:prstGeom prst="rect">
                <a:avLst/>
              </a:prstGeom>
              <a:blipFill>
                <a:blip r:embed="rId20"/>
                <a:stretch>
                  <a:fillRect/>
                </a:stretch>
              </a:blipFill>
              <a:ln>
                <a:noFill/>
              </a:ln>
              <a:effectLst/>
              <a:extLst/>
            </p:spPr>
            <p:txBody>
              <a:bodyPr/>
              <a:lstStyle/>
              <a:p>
                <a:r>
                  <a:rPr lang="zh-CN" altLang="en-US">
                    <a:noFill/>
                  </a:rPr>
                  <a:t> </a:t>
                </a:r>
              </a:p>
            </p:txBody>
          </p:sp>
        </mc:Fallback>
      </mc:AlternateContent>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288925" y="115888"/>
            <a:ext cx="8675688" cy="265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zh-CN" altLang="en-US" sz="2800" b="1" dirty="0">
                <a:solidFill>
                  <a:srgbClr val="0000FF"/>
                </a:solidFill>
                <a:sym typeface="Symbol" pitchFamily="18" charset="2"/>
              </a:rPr>
              <a:t>例</a:t>
            </a:r>
            <a:r>
              <a:rPr lang="en-US" altLang="zh-CN" sz="2800" b="1" dirty="0">
                <a:solidFill>
                  <a:srgbClr val="0000FF"/>
                </a:solidFill>
                <a:sym typeface="Symbol" pitchFamily="18" charset="2"/>
              </a:rPr>
              <a:t>2-5  </a:t>
            </a:r>
            <a:r>
              <a:rPr lang="zh-CN" altLang="en-US" sz="2800" b="1" dirty="0"/>
              <a:t>矿砂从传送带</a:t>
            </a:r>
            <a:r>
              <a:rPr lang="en-US" altLang="zh-CN" sz="2800" b="1" dirty="0"/>
              <a:t>A</a:t>
            </a:r>
            <a:r>
              <a:rPr lang="zh-CN" altLang="en-US" sz="2800" b="1" dirty="0"/>
              <a:t>落到另一传送带</a:t>
            </a:r>
            <a:r>
              <a:rPr lang="en-US" altLang="zh-CN" sz="2800" b="1" dirty="0"/>
              <a:t>B</a:t>
            </a:r>
            <a:r>
              <a:rPr lang="zh-CN" altLang="en-US" sz="2800" b="1" dirty="0"/>
              <a:t>，其速度</a:t>
            </a:r>
            <a:r>
              <a:rPr lang="en-US" altLang="zh-CN" sz="2800" b="1" i="1" dirty="0"/>
              <a:t>v</a:t>
            </a:r>
            <a:r>
              <a:rPr lang="en-US" altLang="zh-CN" sz="2800" b="1" baseline="-25000" dirty="0"/>
              <a:t>1</a:t>
            </a:r>
            <a:r>
              <a:rPr lang="en-US" altLang="zh-CN" sz="2800" b="1" dirty="0"/>
              <a:t>=4 m/s</a:t>
            </a:r>
            <a:r>
              <a:rPr lang="zh-CN" altLang="en-US" sz="2800" b="1" dirty="0"/>
              <a:t>，方向与竖直方向成</a:t>
            </a:r>
            <a:r>
              <a:rPr lang="en-US" altLang="zh-CN" sz="2800" b="1" dirty="0"/>
              <a:t>30°</a:t>
            </a:r>
            <a:r>
              <a:rPr lang="zh-CN" altLang="en-US" sz="2800" b="1" dirty="0"/>
              <a:t>角，而传送带</a:t>
            </a:r>
            <a:r>
              <a:rPr lang="en-US" altLang="zh-CN" sz="2800" b="1" dirty="0"/>
              <a:t>B</a:t>
            </a:r>
            <a:r>
              <a:rPr lang="zh-CN" altLang="en-US" sz="2800" b="1" dirty="0"/>
              <a:t>与水平成</a:t>
            </a:r>
            <a:r>
              <a:rPr lang="en-US" altLang="zh-CN" sz="2800" b="1" dirty="0"/>
              <a:t>15°</a:t>
            </a:r>
            <a:r>
              <a:rPr lang="zh-CN" altLang="en-US" sz="2800" b="1" dirty="0"/>
              <a:t>角，其速度</a:t>
            </a:r>
            <a:r>
              <a:rPr lang="en-US" altLang="zh-CN" sz="2800" b="1" i="1" dirty="0"/>
              <a:t>v</a:t>
            </a:r>
            <a:r>
              <a:rPr lang="en-US" altLang="zh-CN" sz="2800" b="1" baseline="-25000" dirty="0"/>
              <a:t>2</a:t>
            </a:r>
            <a:r>
              <a:rPr lang="en-US" altLang="zh-CN" sz="2800" b="1" dirty="0"/>
              <a:t>=2 m/s</a:t>
            </a:r>
            <a:r>
              <a:rPr lang="zh-CN" altLang="en-US" sz="2800" b="1" dirty="0"/>
              <a:t>。如传送带的运送量恒定，设为</a:t>
            </a:r>
            <a:r>
              <a:rPr lang="en-US" altLang="zh-CN" sz="2800" b="1" i="1" dirty="0"/>
              <a:t>k</a:t>
            </a:r>
            <a:r>
              <a:rPr lang="en-US" altLang="zh-CN" sz="2800" b="1" dirty="0"/>
              <a:t>=20 kg/s</a:t>
            </a:r>
            <a:r>
              <a:rPr lang="zh-CN" altLang="en-US" sz="2800" b="1" dirty="0"/>
              <a:t>，求落到传送带</a:t>
            </a:r>
            <a:r>
              <a:rPr lang="en-US" altLang="zh-CN" sz="2800" b="1" dirty="0"/>
              <a:t>B</a:t>
            </a:r>
            <a:r>
              <a:rPr lang="zh-CN" altLang="en-US" sz="2800" b="1" dirty="0"/>
              <a:t>上的矿砂在落上时所受到的力。</a:t>
            </a:r>
          </a:p>
        </p:txBody>
      </p:sp>
      <p:sp>
        <p:nvSpPr>
          <p:cNvPr id="24579" name="Rectangle 3"/>
          <p:cNvSpPr>
            <a:spLocks noChangeArrowheads="1"/>
          </p:cNvSpPr>
          <p:nvPr/>
        </p:nvSpPr>
        <p:spPr bwMode="auto">
          <a:xfrm>
            <a:off x="293688" y="5141913"/>
            <a:ext cx="1182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a:solidFill>
                  <a:srgbClr val="0000FF"/>
                </a:solidFill>
                <a:sym typeface="Symbol" pitchFamily="18" charset="2"/>
              </a:rPr>
              <a:t>解：</a:t>
            </a:r>
          </a:p>
        </p:txBody>
      </p:sp>
      <p:sp>
        <p:nvSpPr>
          <p:cNvPr id="24580" name="Text Box 4"/>
          <p:cNvSpPr txBox="1">
            <a:spLocks noChangeArrowheads="1"/>
          </p:cNvSpPr>
          <p:nvPr/>
        </p:nvSpPr>
        <p:spPr bwMode="auto">
          <a:xfrm>
            <a:off x="971550" y="5084763"/>
            <a:ext cx="792162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zh-CN" altLang="en-US" sz="2800" b="1"/>
              <a:t>设在某极短的时间</a:t>
            </a:r>
            <a:r>
              <a:rPr lang="zh-CN" altLang="en-US" sz="2800" b="1">
                <a:sym typeface="Symbol" pitchFamily="18" charset="2"/>
              </a:rPr>
              <a:t></a:t>
            </a:r>
            <a:r>
              <a:rPr lang="en-US" altLang="zh-CN" sz="2800" b="1" i="1">
                <a:sym typeface="Symbol" pitchFamily="18" charset="2"/>
              </a:rPr>
              <a:t>t </a:t>
            </a:r>
            <a:r>
              <a:rPr lang="zh-CN" altLang="en-US" sz="2800" b="1">
                <a:sym typeface="Symbol" pitchFamily="18" charset="2"/>
              </a:rPr>
              <a:t>内落在传送带上矿砂的质量为</a:t>
            </a:r>
            <a:r>
              <a:rPr lang="en-US" altLang="zh-CN" sz="2800" b="1" i="1">
                <a:sym typeface="Symbol" pitchFamily="18" charset="2"/>
              </a:rPr>
              <a:t>m </a:t>
            </a:r>
            <a:r>
              <a:rPr lang="zh-CN" altLang="en-US" sz="2800" b="1">
                <a:sym typeface="Symbol" pitchFamily="18" charset="2"/>
              </a:rPr>
              <a:t>，即</a:t>
            </a:r>
            <a:r>
              <a:rPr lang="en-US" altLang="zh-CN" sz="2800" b="1" i="1">
                <a:sym typeface="Symbol" pitchFamily="18" charset="2"/>
              </a:rPr>
              <a:t>m</a:t>
            </a:r>
            <a:r>
              <a:rPr lang="en-US" altLang="zh-CN" sz="2800" b="1">
                <a:sym typeface="Symbol" pitchFamily="18" charset="2"/>
              </a:rPr>
              <a:t>=</a:t>
            </a:r>
            <a:r>
              <a:rPr lang="en-US" altLang="zh-CN" sz="2800" b="1" i="1">
                <a:sym typeface="Symbol" pitchFamily="18" charset="2"/>
              </a:rPr>
              <a:t>k</a:t>
            </a:r>
            <a:r>
              <a:rPr lang="en-US" altLang="zh-CN" sz="2800" b="1">
                <a:sym typeface="Symbol" pitchFamily="18" charset="2"/>
              </a:rPr>
              <a:t></a:t>
            </a:r>
            <a:r>
              <a:rPr lang="en-US" altLang="zh-CN" sz="2800" b="1" i="1">
                <a:sym typeface="Symbol" pitchFamily="18" charset="2"/>
              </a:rPr>
              <a:t>t</a:t>
            </a:r>
            <a:r>
              <a:rPr lang="zh-CN" altLang="en-US" sz="2800" b="1">
                <a:sym typeface="Symbol" pitchFamily="18" charset="2"/>
              </a:rPr>
              <a:t>，这些矿砂动量的增量为</a:t>
            </a:r>
          </a:p>
        </p:txBody>
      </p:sp>
      <p:pic>
        <p:nvPicPr>
          <p:cNvPr id="24582" name="Picture 6" descr="图形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2497138"/>
            <a:ext cx="4826000" cy="258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7" name="Object 35"/>
              <p:cNvSpPr txBox="1"/>
              <p:nvPr/>
            </p:nvSpPr>
            <p:spPr bwMode="auto">
              <a:xfrm>
                <a:off x="2921000" y="6202363"/>
                <a:ext cx="3375025" cy="5492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7" name="Object 35"/>
              <p:cNvSpPr txBox="1">
                <a:spLocks noRot="1" noChangeAspect="1" noMove="1" noResize="1" noEditPoints="1" noAdjustHandles="1" noChangeArrowheads="1" noChangeShapeType="1" noTextEdit="1"/>
              </p:cNvSpPr>
              <p:nvPr/>
            </p:nvSpPr>
            <p:spPr bwMode="auto">
              <a:xfrm>
                <a:off x="2921000" y="6202363"/>
                <a:ext cx="3375025" cy="549275"/>
              </a:xfrm>
              <a:prstGeom prst="rect">
                <a:avLst/>
              </a:prstGeom>
              <a:blipFill>
                <a:blip r:embed="rId3"/>
                <a:stretch>
                  <a:fillRect t="-1099" r="-5235"/>
                </a:stretch>
              </a:blipFill>
              <a:ln>
                <a:noFill/>
              </a:ln>
              <a:effectLst/>
              <a:extLst/>
            </p:spPr>
            <p:txBody>
              <a:bodyPr/>
              <a:lstStyle/>
              <a:p>
                <a:r>
                  <a:rPr lang="zh-CN" altLang="en-US">
                    <a:noFill/>
                  </a:rPr>
                  <a:t> </a:t>
                </a:r>
              </a:p>
            </p:txBody>
          </p:sp>
        </mc:Fallback>
      </mc:AlternateContent>
    </p:spTree>
    <p:extLst>
      <p:ext uri="{BB962C8B-B14F-4D97-AF65-F5344CB8AC3E}">
        <p14:creationId xmlns:p14="http://schemas.microsoft.com/office/powerpoint/2010/main" val="2483159311"/>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wipe(left)">
                                      <p:cBhvr>
                                        <p:cTn id="7" dur="500"/>
                                        <p:tgtEl>
                                          <p:spTgt spid="2457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4582"/>
                                        </p:tgtEl>
                                        <p:attrNameLst>
                                          <p:attrName>style.visibility</p:attrName>
                                        </p:attrNameLst>
                                      </p:cBhvr>
                                      <p:to>
                                        <p:strVal val="visible"/>
                                      </p:to>
                                    </p:set>
                                    <p:animEffect transition="in" filter="wipe(left)">
                                      <p:cBhvr>
                                        <p:cTn id="11" dur="500"/>
                                        <p:tgtEl>
                                          <p:spTgt spid="245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579"/>
                                        </p:tgtEl>
                                        <p:attrNameLst>
                                          <p:attrName>style.visibility</p:attrName>
                                        </p:attrNameLst>
                                      </p:cBhvr>
                                      <p:to>
                                        <p:strVal val="visible"/>
                                      </p:to>
                                    </p:set>
                                    <p:animEffect transition="in" filter="wipe(left)">
                                      <p:cBhvr>
                                        <p:cTn id="16" dur="500"/>
                                        <p:tgtEl>
                                          <p:spTgt spid="2457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5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79" grpId="0"/>
      <p:bldP spid="24580"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468313" y="188913"/>
            <a:ext cx="4464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b="1"/>
              <a:t>其大小为</a:t>
            </a:r>
          </a:p>
        </p:txBody>
      </p:sp>
      <p:grpSp>
        <p:nvGrpSpPr>
          <p:cNvPr id="2" name="Group 4"/>
          <p:cNvGrpSpPr>
            <a:grpSpLocks/>
          </p:cNvGrpSpPr>
          <p:nvPr/>
        </p:nvGrpSpPr>
        <p:grpSpPr bwMode="auto">
          <a:xfrm>
            <a:off x="468313" y="2062163"/>
            <a:ext cx="6265862" cy="1196975"/>
            <a:chOff x="385" y="1842"/>
            <a:chExt cx="3947" cy="754"/>
          </a:xfrm>
        </p:grpSpPr>
        <p:sp>
          <p:nvSpPr>
            <p:cNvPr id="54287" name="Text Box 5"/>
            <p:cNvSpPr txBox="1">
              <a:spLocks noChangeArrowheads="1"/>
            </p:cNvSpPr>
            <p:nvPr/>
          </p:nvSpPr>
          <p:spPr bwMode="auto">
            <a:xfrm>
              <a:off x="385" y="1842"/>
              <a:ext cx="3947"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zh-CN" altLang="en-US" sz="2800" b="1" dirty="0"/>
                <a:t>设这些矿砂在时间</a:t>
              </a:r>
              <a:r>
                <a:rPr lang="zh-CN" altLang="en-US" sz="2800" b="1" dirty="0">
                  <a:sym typeface="Symbol" pitchFamily="18" charset="2"/>
                </a:rPr>
                <a:t></a:t>
              </a:r>
              <a:r>
                <a:rPr lang="en-US" altLang="zh-CN" sz="2800" b="1" i="1" dirty="0">
                  <a:sym typeface="Symbol" pitchFamily="18" charset="2"/>
                </a:rPr>
                <a:t>t </a:t>
              </a:r>
              <a:r>
                <a:rPr lang="zh-CN" altLang="en-US" sz="2800" b="1" dirty="0">
                  <a:sym typeface="Symbol" pitchFamily="18" charset="2"/>
                </a:rPr>
                <a:t>内所受的平均作用力（所有力）为        ，由动量定理</a:t>
              </a:r>
            </a:p>
          </p:txBody>
        </p:sp>
        <mc:AlternateContent xmlns:mc="http://schemas.openxmlformats.org/markup-compatibility/2006" xmlns:a14="http://schemas.microsoft.com/office/drawing/2010/main">
          <mc:Choice Requires="a14">
            <p:sp>
              <p:nvSpPr>
                <p:cNvPr id="54279" name="Object 7"/>
                <p:cNvSpPr txBox="1"/>
                <p:nvPr/>
              </p:nvSpPr>
              <p:spPr bwMode="auto">
                <a:xfrm>
                  <a:off x="2244" y="2194"/>
                  <a:ext cx="402" cy="40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oMath>
                    </m:oMathPara>
                  </a14:m>
                  <a:endParaRPr lang="zh-CN" altLang="en-US" dirty="0"/>
                </a:p>
              </p:txBody>
            </p:sp>
          </mc:Choice>
          <mc:Fallback xmlns="">
            <p:sp>
              <p:nvSpPr>
                <p:cNvPr id="54279" name="Object 7"/>
                <p:cNvSpPr txBox="1">
                  <a:spLocks noRot="1" noChangeAspect="1" noMove="1" noResize="1" noEditPoints="1" noAdjustHandles="1" noChangeArrowheads="1" noChangeShapeType="1" noTextEdit="1"/>
                </p:cNvSpPr>
                <p:nvPr/>
              </p:nvSpPr>
              <p:spPr bwMode="auto">
                <a:xfrm>
                  <a:off x="2244" y="2194"/>
                  <a:ext cx="402" cy="402"/>
                </a:xfrm>
                <a:prstGeom prst="rect">
                  <a:avLst/>
                </a:prstGeom>
                <a:blipFill>
                  <a:blip r:embed="rId2"/>
                  <a:stretch>
                    <a:fillRect r="-4762"/>
                  </a:stretch>
                </a:blipFill>
                <a:ln>
                  <a:noFill/>
                </a:ln>
                <a:effectLst/>
                <a:extLst/>
              </p:spPr>
              <p:txBody>
                <a:bodyPr/>
                <a:lstStyle/>
                <a:p>
                  <a:r>
                    <a:rPr lang="zh-CN" altLang="en-US">
                      <a:noFill/>
                    </a:rPr>
                    <a:t> </a:t>
                  </a:r>
                </a:p>
              </p:txBody>
            </p:sp>
          </mc:Fallback>
        </mc:AlternateContent>
      </p:grpSp>
      <p:sp>
        <p:nvSpPr>
          <p:cNvPr id="25608" name="AutoShape 8"/>
          <p:cNvSpPr>
            <a:spLocks noChangeArrowheads="1"/>
          </p:cNvSpPr>
          <p:nvPr/>
        </p:nvSpPr>
        <p:spPr bwMode="auto">
          <a:xfrm>
            <a:off x="684213" y="4581525"/>
            <a:ext cx="649287" cy="144463"/>
          </a:xfrm>
          <a:prstGeom prst="rightArrow">
            <a:avLst>
              <a:gd name="adj1" fmla="val 50000"/>
              <a:gd name="adj2" fmla="val 112362"/>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p:sp>
        <p:nvSpPr>
          <p:cNvPr id="25610" name="Text Box 10"/>
          <p:cNvSpPr txBox="1">
            <a:spLocks noChangeArrowheads="1"/>
          </p:cNvSpPr>
          <p:nvPr/>
        </p:nvSpPr>
        <p:spPr bwMode="auto">
          <a:xfrm>
            <a:off x="539750" y="5373688"/>
            <a:ext cx="1749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a:t>方向由</a:t>
            </a:r>
          </a:p>
        </p:txBody>
      </p:sp>
      <mc:AlternateContent xmlns:mc="http://schemas.openxmlformats.org/markup-compatibility/2006" xmlns:a14="http://schemas.microsoft.com/office/drawing/2010/main">
        <mc:Choice Requires="a14">
          <p:sp>
            <p:nvSpPr>
              <p:cNvPr id="25611" name="Object 5"/>
              <p:cNvSpPr txBox="1"/>
              <p:nvPr/>
            </p:nvSpPr>
            <p:spPr bwMode="auto">
              <a:xfrm>
                <a:off x="5940425" y="5445125"/>
                <a:ext cx="1177925" cy="49530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9</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xmlns="">
          <p:sp>
            <p:nvSpPr>
              <p:cNvPr id="25611" name="Object 5"/>
              <p:cNvSpPr txBox="1">
                <a:spLocks noRot="1" noChangeAspect="1" noMove="1" noResize="1" noEditPoints="1" noAdjustHandles="1" noChangeArrowheads="1" noChangeShapeType="1" noTextEdit="1"/>
              </p:cNvSpPr>
              <p:nvPr/>
            </p:nvSpPr>
            <p:spPr bwMode="auto">
              <a:xfrm>
                <a:off x="5940425" y="5445125"/>
                <a:ext cx="1177925" cy="495300"/>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25613" name="AutoShape 13"/>
          <p:cNvSpPr>
            <a:spLocks noChangeArrowheads="1"/>
          </p:cNvSpPr>
          <p:nvPr/>
        </p:nvSpPr>
        <p:spPr bwMode="auto">
          <a:xfrm>
            <a:off x="5076825" y="5662613"/>
            <a:ext cx="576263" cy="144462"/>
          </a:xfrm>
          <a:prstGeom prst="rightArrow">
            <a:avLst>
              <a:gd name="adj1" fmla="val 50000"/>
              <a:gd name="adj2" fmla="val 99726"/>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p:sp>
        <p:nvSpPr>
          <p:cNvPr id="25614" name="Text Box 14"/>
          <p:cNvSpPr txBox="1">
            <a:spLocks noChangeArrowheads="1"/>
          </p:cNvSpPr>
          <p:nvPr/>
        </p:nvSpPr>
        <p:spPr bwMode="auto">
          <a:xfrm>
            <a:off x="5724525" y="6021388"/>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b="1"/>
              <a:t>近似竖直向上</a:t>
            </a:r>
          </a:p>
        </p:txBody>
      </p:sp>
      <p:pic>
        <p:nvPicPr>
          <p:cNvPr id="25615" name="Picture 15" descr="图形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688" y="1341438"/>
            <a:ext cx="2182812"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5"/>
          <a:stretch>
            <a:fillRect/>
          </a:stretch>
        </p:blipFill>
        <p:spPr>
          <a:xfrm>
            <a:off x="664456" y="708025"/>
            <a:ext cx="5553075" cy="1295400"/>
          </a:xfrm>
          <a:prstGeom prst="rect">
            <a:avLst/>
          </a:prstGeom>
        </p:spPr>
      </p:pic>
      <p:pic>
        <p:nvPicPr>
          <p:cNvPr id="4" name="图片 3"/>
          <p:cNvPicPr>
            <a:picLocks noChangeAspect="1"/>
          </p:cNvPicPr>
          <p:nvPr/>
        </p:nvPicPr>
        <p:blipFill>
          <a:blip r:embed="rId6"/>
          <a:stretch>
            <a:fillRect/>
          </a:stretch>
        </p:blipFill>
        <p:spPr>
          <a:xfrm>
            <a:off x="1630120" y="3198275"/>
            <a:ext cx="2590800" cy="781050"/>
          </a:xfrm>
          <a:prstGeom prst="rect">
            <a:avLst/>
          </a:prstGeom>
        </p:spPr>
      </p:pic>
      <p:pic>
        <p:nvPicPr>
          <p:cNvPr id="5" name="图片 4"/>
          <p:cNvPicPr>
            <a:picLocks noChangeAspect="1"/>
          </p:cNvPicPr>
          <p:nvPr/>
        </p:nvPicPr>
        <p:blipFill>
          <a:blip r:embed="rId7"/>
          <a:stretch>
            <a:fillRect/>
          </a:stretch>
        </p:blipFill>
        <p:spPr>
          <a:xfrm>
            <a:off x="1619672" y="4046160"/>
            <a:ext cx="3287681" cy="1117977"/>
          </a:xfrm>
          <a:prstGeom prst="rect">
            <a:avLst/>
          </a:prstGeom>
        </p:spPr>
      </p:pic>
      <p:pic>
        <p:nvPicPr>
          <p:cNvPr id="6" name="图片 5"/>
          <p:cNvPicPr>
            <a:picLocks noChangeAspect="1"/>
          </p:cNvPicPr>
          <p:nvPr/>
        </p:nvPicPr>
        <p:blipFill>
          <a:blip r:embed="rId8"/>
          <a:stretch>
            <a:fillRect/>
          </a:stretch>
        </p:blipFill>
        <p:spPr>
          <a:xfrm>
            <a:off x="1812868" y="5278437"/>
            <a:ext cx="2838450" cy="1323975"/>
          </a:xfrm>
          <a:prstGeom prst="rect">
            <a:avLst/>
          </a:prstGeom>
        </p:spPr>
      </p:pic>
    </p:spTree>
    <p:extLst>
      <p:ext uri="{BB962C8B-B14F-4D97-AF65-F5344CB8AC3E}">
        <p14:creationId xmlns:p14="http://schemas.microsoft.com/office/powerpoint/2010/main" val="2785206164"/>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5615"/>
                                        </p:tgtEl>
                                        <p:attrNameLst>
                                          <p:attrName>style.visibility</p:attrName>
                                        </p:attrNameLst>
                                      </p:cBhvr>
                                      <p:to>
                                        <p:strVal val="visible"/>
                                      </p:to>
                                    </p:set>
                                    <p:animEffect transition="in" filter="wipe(left)">
                                      <p:cBhvr>
                                        <p:cTn id="7" dur="500"/>
                                        <p:tgtEl>
                                          <p:spTgt spid="256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2"/>
                                        </p:tgtEl>
                                        <p:attrNameLst>
                                          <p:attrName>style.visibility</p:attrName>
                                        </p:attrNameLst>
                                      </p:cBhvr>
                                      <p:to>
                                        <p:strVal val="visible"/>
                                      </p:to>
                                    </p:set>
                                    <p:animEffect transition="in" filter="wipe(left)">
                                      <p:cBhvr>
                                        <p:cTn id="12" dur="500"/>
                                        <p:tgtEl>
                                          <p:spTgt spid="256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5608"/>
                                        </p:tgtEl>
                                        <p:attrNameLst>
                                          <p:attrName>style.visibility</p:attrName>
                                        </p:attrNameLst>
                                      </p:cBhvr>
                                      <p:to>
                                        <p:strVal val="visible"/>
                                      </p:to>
                                    </p:set>
                                    <p:animEffect transition="in" filter="wipe(left)">
                                      <p:cBhvr>
                                        <p:cTn id="30" dur="500"/>
                                        <p:tgtEl>
                                          <p:spTgt spid="2560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5610">
                                            <p:txEl>
                                              <p:pRg st="0" end="0"/>
                                            </p:txEl>
                                          </p:spTgt>
                                        </p:tgtEl>
                                        <p:attrNameLst>
                                          <p:attrName>style.visibility</p:attrName>
                                        </p:attrNameLst>
                                      </p:cBhvr>
                                      <p:to>
                                        <p:strVal val="visible"/>
                                      </p:to>
                                    </p:set>
                                    <p:animEffect transition="in" filter="wipe(left)">
                                      <p:cBhvr>
                                        <p:cTn id="39" dur="500"/>
                                        <p:tgtEl>
                                          <p:spTgt spid="25610">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5613"/>
                                        </p:tgtEl>
                                        <p:attrNameLst>
                                          <p:attrName>style.visibility</p:attrName>
                                        </p:attrNameLst>
                                      </p:cBhvr>
                                      <p:to>
                                        <p:strVal val="visible"/>
                                      </p:to>
                                    </p:set>
                                    <p:animEffect transition="in" filter="wipe(left)">
                                      <p:cBhvr>
                                        <p:cTn id="48" dur="500"/>
                                        <p:tgtEl>
                                          <p:spTgt spid="2561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5614"/>
                                        </p:tgtEl>
                                        <p:attrNameLst>
                                          <p:attrName>style.visibility</p:attrName>
                                        </p:attrNameLst>
                                      </p:cBhvr>
                                      <p:to>
                                        <p:strVal val="visible"/>
                                      </p:to>
                                    </p:set>
                                    <p:animEffect transition="in" filter="wipe(left)">
                                      <p:cBhvr>
                                        <p:cTn id="53" dur="500"/>
                                        <p:tgtEl>
                                          <p:spTgt spid="25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8" grpId="0" animBg="1"/>
      <p:bldP spid="25613" grpId="0" animBg="1"/>
      <p:bldP spid="256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21" name="Rectangle 29"/>
          <p:cNvSpPr>
            <a:spLocks noChangeArrowheads="1"/>
          </p:cNvSpPr>
          <p:nvPr/>
        </p:nvSpPr>
        <p:spPr bwMode="auto">
          <a:xfrm>
            <a:off x="468313" y="2781300"/>
            <a:ext cx="6624637"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b="1" dirty="0"/>
              <a:t>             </a:t>
            </a:r>
            <a:r>
              <a:rPr kumimoji="1" lang="zh-CN" altLang="en-US" b="1" dirty="0"/>
              <a:t>研究锤对工件的作用过程，</a:t>
            </a:r>
            <a:r>
              <a:rPr kumimoji="1" lang="zh-CN" altLang="en-US" b="1" dirty="0">
                <a:latin typeface="宋体" panose="02010600030101010101" pitchFamily="2" charset="-122"/>
              </a:rPr>
              <a:t>在竖直方向利用动量定理，取竖直向上为正。</a:t>
            </a:r>
          </a:p>
        </p:txBody>
      </p:sp>
      <p:sp>
        <p:nvSpPr>
          <p:cNvPr id="33798" name="Rectangle 6"/>
          <p:cNvSpPr>
            <a:spLocks noChangeArrowheads="1"/>
          </p:cNvSpPr>
          <p:nvPr/>
        </p:nvSpPr>
        <p:spPr bwMode="auto">
          <a:xfrm>
            <a:off x="250825" y="115888"/>
            <a:ext cx="8569325"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b="1" dirty="0">
                <a:solidFill>
                  <a:srgbClr val="0000FF"/>
                </a:solidFill>
              </a:rPr>
              <a:t>例</a:t>
            </a:r>
            <a:r>
              <a:rPr kumimoji="1" lang="en-US" altLang="zh-CN" b="1" dirty="0">
                <a:solidFill>
                  <a:srgbClr val="0000FF"/>
                </a:solidFill>
              </a:rPr>
              <a:t>2-6</a:t>
            </a:r>
            <a:r>
              <a:rPr kumimoji="1" lang="en-US" altLang="zh-CN" b="1" dirty="0"/>
              <a:t> </a:t>
            </a:r>
            <a:r>
              <a:rPr kumimoji="1" lang="zh-CN" altLang="en-US" b="1" dirty="0"/>
              <a:t>质量</a:t>
            </a:r>
            <a:r>
              <a:rPr kumimoji="1" lang="en-US" altLang="zh-CN" b="1" i="1" dirty="0"/>
              <a:t>m</a:t>
            </a:r>
            <a:r>
              <a:rPr kumimoji="1" lang="en-US" altLang="zh-CN" b="1" dirty="0"/>
              <a:t>=0.3t</a:t>
            </a:r>
            <a:r>
              <a:rPr kumimoji="1" lang="zh-CN" altLang="en-US" b="1" dirty="0"/>
              <a:t>的重锤，从高度</a:t>
            </a:r>
            <a:r>
              <a:rPr kumimoji="1" lang="en-US" altLang="zh-CN" b="1" i="1" dirty="0"/>
              <a:t>h</a:t>
            </a:r>
            <a:r>
              <a:rPr kumimoji="1" lang="en-US" altLang="zh-CN" b="1" dirty="0"/>
              <a:t>=1.5m</a:t>
            </a:r>
            <a:r>
              <a:rPr kumimoji="1" lang="zh-CN" altLang="en-US" b="1" dirty="0"/>
              <a:t>处自由落到受锻压的工件上，工件发生形变。如果作用的时间</a:t>
            </a:r>
            <a:r>
              <a:rPr kumimoji="1" lang="en-US" altLang="zh-CN" b="1" dirty="0"/>
              <a:t>(1)</a:t>
            </a:r>
            <a:r>
              <a:rPr kumimoji="1" lang="en-US" altLang="zh-CN" b="1" i="1" dirty="0">
                <a:sym typeface="Symbol" panose="05050102010706020507" pitchFamily="18" charset="2"/>
              </a:rPr>
              <a:t> </a:t>
            </a:r>
            <a:r>
              <a:rPr kumimoji="1" lang="en-US" altLang="zh-CN" b="1" dirty="0">
                <a:sym typeface="Symbol" panose="05050102010706020507" pitchFamily="18" charset="2"/>
              </a:rPr>
              <a:t>=0.1s</a:t>
            </a:r>
            <a:r>
              <a:rPr kumimoji="1" lang="zh-CN" altLang="en-US" b="1" dirty="0">
                <a:sym typeface="Symbol" panose="05050102010706020507" pitchFamily="18" charset="2"/>
              </a:rPr>
              <a:t>， </a:t>
            </a:r>
            <a:r>
              <a:rPr kumimoji="1" lang="en-US" altLang="zh-CN" b="1" dirty="0"/>
              <a:t>(2)</a:t>
            </a:r>
            <a:r>
              <a:rPr kumimoji="1" lang="en-US" altLang="zh-CN" b="1" i="1" dirty="0">
                <a:sym typeface="Symbol" panose="05050102010706020507" pitchFamily="18" charset="2"/>
              </a:rPr>
              <a:t> </a:t>
            </a:r>
            <a:r>
              <a:rPr kumimoji="1" lang="en-US" altLang="zh-CN" b="1" dirty="0">
                <a:sym typeface="Symbol" panose="05050102010706020507" pitchFamily="18" charset="2"/>
              </a:rPr>
              <a:t>=0.01s </a:t>
            </a:r>
            <a:r>
              <a:rPr kumimoji="1" lang="zh-CN" altLang="en-US" b="1" dirty="0"/>
              <a:t>。试求锤对工件的平均冲力。</a:t>
            </a:r>
          </a:p>
        </p:txBody>
      </p:sp>
      <p:sp>
        <p:nvSpPr>
          <p:cNvPr id="33818" name="Text Box 26"/>
          <p:cNvSpPr txBox="1">
            <a:spLocks noChangeArrowheads="1"/>
          </p:cNvSpPr>
          <p:nvPr/>
        </p:nvSpPr>
        <p:spPr bwMode="auto">
          <a:xfrm>
            <a:off x="900113" y="1700213"/>
            <a:ext cx="4968875"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kumimoji="1" lang="zh-CN" altLang="en-US" b="1"/>
              <a:t>以重锤为研究对象，分析受力，作受力图。</a:t>
            </a:r>
            <a:endParaRPr lang="zh-CN" altLang="en-US" b="1"/>
          </a:p>
        </p:txBody>
      </p:sp>
      <p:sp>
        <p:nvSpPr>
          <p:cNvPr id="33819" name="Rectangle 27"/>
          <p:cNvSpPr>
            <a:spLocks noChangeArrowheads="1"/>
          </p:cNvSpPr>
          <p:nvPr/>
        </p:nvSpPr>
        <p:spPr bwMode="auto">
          <a:xfrm>
            <a:off x="323850" y="1738313"/>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0000FF"/>
                </a:solidFill>
              </a:rPr>
              <a:t>解：</a:t>
            </a:r>
          </a:p>
        </p:txBody>
      </p:sp>
      <p:sp>
        <p:nvSpPr>
          <p:cNvPr id="33820" name="Rectangle 28"/>
          <p:cNvSpPr>
            <a:spLocks noChangeArrowheads="1"/>
          </p:cNvSpPr>
          <p:nvPr/>
        </p:nvSpPr>
        <p:spPr bwMode="auto">
          <a:xfrm>
            <a:off x="250825" y="2838450"/>
            <a:ext cx="1612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t>解法一：</a:t>
            </a:r>
          </a:p>
        </p:txBody>
      </p:sp>
      <mc:AlternateContent xmlns:mc="http://schemas.openxmlformats.org/markup-compatibility/2006" xmlns:a14="http://schemas.microsoft.com/office/drawing/2010/main">
        <mc:Choice Requires="a14">
          <p:sp>
            <p:nvSpPr>
              <p:cNvPr id="33822" name="Object 30"/>
              <p:cNvSpPr txBox="1"/>
              <p:nvPr/>
            </p:nvSpPr>
            <p:spPr bwMode="auto">
              <a:xfrm>
                <a:off x="395288" y="4005263"/>
                <a:ext cx="4308475" cy="6540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𝑚𝑔</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3822" name="Object 30"/>
              <p:cNvSpPr txBox="1">
                <a:spLocks noRot="1" noChangeAspect="1" noMove="1" noResize="1" noEditPoints="1" noAdjustHandles="1" noChangeArrowheads="1" noChangeShapeType="1" noTextEdit="1"/>
              </p:cNvSpPr>
              <p:nvPr/>
            </p:nvSpPr>
            <p:spPr bwMode="auto">
              <a:xfrm>
                <a:off x="395288" y="4005263"/>
                <a:ext cx="4308475" cy="654050"/>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23" name="Object 31"/>
              <p:cNvSpPr txBox="1"/>
              <p:nvPr/>
            </p:nvSpPr>
            <p:spPr bwMode="auto">
              <a:xfrm>
                <a:off x="4716463" y="3948113"/>
                <a:ext cx="1584325" cy="7048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𝑔h</m:t>
                          </m:r>
                        </m:e>
                      </m:rad>
                    </m:oMath>
                  </m:oMathPara>
                </a14:m>
                <a:endParaRPr lang="zh-CN" altLang="en-US"/>
              </a:p>
            </p:txBody>
          </p:sp>
        </mc:Choice>
        <mc:Fallback xmlns="">
          <p:sp>
            <p:nvSpPr>
              <p:cNvPr id="33823" name="Object 31"/>
              <p:cNvSpPr txBox="1">
                <a:spLocks noRot="1" noChangeAspect="1" noMove="1" noResize="1" noEditPoints="1" noAdjustHandles="1" noChangeArrowheads="1" noChangeShapeType="1" noTextEdit="1"/>
              </p:cNvSpPr>
              <p:nvPr/>
            </p:nvSpPr>
            <p:spPr bwMode="auto">
              <a:xfrm>
                <a:off x="4716463" y="3948113"/>
                <a:ext cx="1584325" cy="704850"/>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24" name="Object 32"/>
              <p:cNvSpPr txBox="1"/>
              <p:nvPr/>
            </p:nvSpPr>
            <p:spPr bwMode="auto">
              <a:xfrm>
                <a:off x="1692275" y="4652963"/>
                <a:ext cx="3457575" cy="74453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𝑚𝑔</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𝑔h</m:t>
                          </m:r>
                        </m:e>
                      </m:ra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oMath>
                  </m:oMathPara>
                </a14:m>
                <a:endParaRPr lang="zh-CN" altLang="en-US" dirty="0"/>
              </a:p>
            </p:txBody>
          </p:sp>
        </mc:Choice>
        <mc:Fallback xmlns="">
          <p:sp>
            <p:nvSpPr>
              <p:cNvPr id="33824" name="Object 32"/>
              <p:cNvSpPr txBox="1">
                <a:spLocks noRot="1" noChangeAspect="1" noMove="1" noResize="1" noEditPoints="1" noAdjustHandles="1" noChangeArrowheads="1" noChangeShapeType="1" noTextEdit="1"/>
              </p:cNvSpPr>
              <p:nvPr/>
            </p:nvSpPr>
            <p:spPr bwMode="auto">
              <a:xfrm>
                <a:off x="1692275" y="4652963"/>
                <a:ext cx="3457575" cy="744537"/>
              </a:xfrm>
              <a:prstGeom prst="rect">
                <a:avLst/>
              </a:prstGeom>
              <a:blipFill>
                <a:blip r:embed="rId4"/>
                <a:stretch>
                  <a:fillRect/>
                </a:stretch>
              </a:blipFill>
              <a:ln>
                <a:noFill/>
              </a:ln>
              <a:effectLst/>
              <a:extLst/>
            </p:spPr>
            <p:txBody>
              <a:bodyPr/>
              <a:lstStyle/>
              <a:p>
                <a:r>
                  <a:rPr lang="zh-CN" altLang="en-US">
                    <a:noFill/>
                  </a:rPr>
                  <a:t> </a:t>
                </a:r>
              </a:p>
            </p:txBody>
          </p:sp>
        </mc:Fallback>
      </mc:AlternateContent>
      <p:sp>
        <p:nvSpPr>
          <p:cNvPr id="33825" name="AutoShape 33"/>
          <p:cNvSpPr>
            <a:spLocks noChangeArrowheads="1"/>
          </p:cNvSpPr>
          <p:nvPr/>
        </p:nvSpPr>
        <p:spPr bwMode="auto">
          <a:xfrm>
            <a:off x="900113" y="4941888"/>
            <a:ext cx="576262" cy="144462"/>
          </a:xfrm>
          <a:prstGeom prst="rightArrow">
            <a:avLst>
              <a:gd name="adj1" fmla="val 50000"/>
              <a:gd name="adj2" fmla="val 9972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33826" name="Object 34"/>
              <p:cNvSpPr txBox="1"/>
              <p:nvPr/>
            </p:nvSpPr>
            <p:spPr bwMode="auto">
              <a:xfrm>
                <a:off x="468313" y="5373688"/>
                <a:ext cx="5616575" cy="64611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(1) </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=0.1</m:t>
                      </m:r>
                      <m:r>
                        <m:rPr>
                          <m:nor/>
                        </m:rPr>
                        <a:rPr lang="zh-CN" altLang="en-US" i="0">
                          <a:solidFill>
                            <a:srgbClr val="000000"/>
                          </a:solidFill>
                          <a:latin typeface="Cambria Math" panose="02040503050406030204" pitchFamily="18" charset="0"/>
                        </a:rPr>
                        <m:t>s</m:t>
                      </m:r>
                      <m:r>
                        <m:rPr>
                          <m:nor/>
                        </m:rP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=1.92×1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5</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N</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3826" name="Object 34"/>
              <p:cNvSpPr txBox="1">
                <a:spLocks noRot="1" noChangeAspect="1" noMove="1" noResize="1" noEditPoints="1" noAdjustHandles="1" noChangeArrowheads="1" noChangeShapeType="1" noTextEdit="1"/>
              </p:cNvSpPr>
              <p:nvPr/>
            </p:nvSpPr>
            <p:spPr bwMode="auto">
              <a:xfrm>
                <a:off x="468313" y="5373688"/>
                <a:ext cx="5616575" cy="646112"/>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27" name="Object 35"/>
              <p:cNvSpPr txBox="1"/>
              <p:nvPr/>
            </p:nvSpPr>
            <p:spPr bwMode="auto">
              <a:xfrm>
                <a:off x="400050" y="5949950"/>
                <a:ext cx="5826125" cy="64928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(2) </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=0.01</m:t>
                      </m:r>
                      <m:r>
                        <m:rPr>
                          <m:nor/>
                        </m:rPr>
                        <a:rPr lang="zh-CN" altLang="en-US" i="0">
                          <a:solidFill>
                            <a:srgbClr val="000000"/>
                          </a:solidFill>
                          <a:latin typeface="Cambria Math" panose="02040503050406030204" pitchFamily="18" charset="0"/>
                        </a:rPr>
                        <m:t>s</m:t>
                      </m:r>
                      <m:r>
                        <m:rPr>
                          <m:nor/>
                        </m:rP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=1.92×1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6</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N</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3827" name="Object 35"/>
              <p:cNvSpPr txBox="1">
                <a:spLocks noRot="1" noChangeAspect="1" noMove="1" noResize="1" noEditPoints="1" noAdjustHandles="1" noChangeArrowheads="1" noChangeShapeType="1" noTextEdit="1"/>
              </p:cNvSpPr>
              <p:nvPr/>
            </p:nvSpPr>
            <p:spPr bwMode="auto">
              <a:xfrm>
                <a:off x="400050" y="5949950"/>
                <a:ext cx="5826125" cy="649288"/>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29" name="Object 37"/>
              <p:cNvSpPr txBox="1"/>
              <p:nvPr/>
            </p:nvSpPr>
            <p:spPr bwMode="auto">
              <a:xfrm>
                <a:off x="6877050" y="5805488"/>
                <a:ext cx="1727200" cy="62071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&gt;&gt;</m:t>
                      </m:r>
                      <m:r>
                        <a:rPr lang="zh-CN" altLang="en-US" i="1">
                          <a:solidFill>
                            <a:srgbClr val="000000"/>
                          </a:solidFill>
                          <a:latin typeface="Cambria Math" panose="02040503050406030204" pitchFamily="18" charset="0"/>
                        </a:rPr>
                        <m:t>𝑚𝑔</m:t>
                      </m:r>
                    </m:oMath>
                  </m:oMathPara>
                </a14:m>
                <a:endParaRPr lang="zh-CN" altLang="en-US"/>
              </a:p>
            </p:txBody>
          </p:sp>
        </mc:Choice>
        <mc:Fallback xmlns="">
          <p:sp>
            <p:nvSpPr>
              <p:cNvPr id="33829" name="Object 37"/>
              <p:cNvSpPr txBox="1">
                <a:spLocks noRot="1" noChangeAspect="1" noMove="1" noResize="1" noEditPoints="1" noAdjustHandles="1" noChangeArrowheads="1" noChangeShapeType="1" noTextEdit="1"/>
              </p:cNvSpPr>
              <p:nvPr/>
            </p:nvSpPr>
            <p:spPr bwMode="auto">
              <a:xfrm>
                <a:off x="6877050" y="5805488"/>
                <a:ext cx="1727200" cy="620712"/>
              </a:xfrm>
              <a:prstGeom prst="rect">
                <a:avLst/>
              </a:prstGeom>
              <a:blipFill>
                <a:blip r:embed="rId7"/>
                <a:stretch>
                  <a:fillRect/>
                </a:stretch>
              </a:blipFill>
              <a:ln>
                <a:noFill/>
              </a:ln>
              <a:effectLst/>
              <a:extLst/>
            </p:spPr>
            <p:txBody>
              <a:bodyPr/>
              <a:lstStyle/>
              <a:p>
                <a:r>
                  <a:rPr lang="zh-CN" altLang="en-US">
                    <a:noFill/>
                  </a:rPr>
                  <a:t> </a:t>
                </a:r>
              </a:p>
            </p:txBody>
          </p:sp>
        </mc:Fallback>
      </mc:AlternateContent>
      <p:pic>
        <p:nvPicPr>
          <p:cNvPr id="33835" name="Picture 43" descr="图片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8488" y="2060575"/>
            <a:ext cx="1925637" cy="312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2953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8"/>
                                        </p:tgtEl>
                                        <p:attrNameLst>
                                          <p:attrName>style.visibility</p:attrName>
                                        </p:attrNameLst>
                                      </p:cBhvr>
                                      <p:to>
                                        <p:strVal val="visible"/>
                                      </p:to>
                                    </p:set>
                                    <p:animEffect transition="in" filter="wipe(left)">
                                      <p:cBhvr>
                                        <p:cTn id="7" dur="500"/>
                                        <p:tgtEl>
                                          <p:spTgt spid="33798"/>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338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819"/>
                                        </p:tgtEl>
                                        <p:attrNameLst>
                                          <p:attrName>style.visibility</p:attrName>
                                        </p:attrNameLst>
                                      </p:cBhvr>
                                      <p:to>
                                        <p:strVal val="visible"/>
                                      </p:to>
                                    </p:set>
                                    <p:animEffect transition="in" filter="wipe(left)">
                                      <p:cBhvr>
                                        <p:cTn id="15" dur="500"/>
                                        <p:tgtEl>
                                          <p:spTgt spid="338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3818"/>
                                        </p:tgtEl>
                                        <p:attrNameLst>
                                          <p:attrName>style.visibility</p:attrName>
                                        </p:attrNameLst>
                                      </p:cBhvr>
                                      <p:to>
                                        <p:strVal val="visible"/>
                                      </p:to>
                                    </p:set>
                                    <p:animEffect transition="in" filter="wipe(left)">
                                      <p:cBhvr>
                                        <p:cTn id="20" dur="500"/>
                                        <p:tgtEl>
                                          <p:spTgt spid="338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3820"/>
                                        </p:tgtEl>
                                        <p:attrNameLst>
                                          <p:attrName>style.visibility</p:attrName>
                                        </p:attrNameLst>
                                      </p:cBhvr>
                                      <p:to>
                                        <p:strVal val="visible"/>
                                      </p:to>
                                    </p:set>
                                    <p:animEffect transition="in" filter="wipe(left)">
                                      <p:cBhvr>
                                        <p:cTn id="25" dur="500"/>
                                        <p:tgtEl>
                                          <p:spTgt spid="338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3821"/>
                                        </p:tgtEl>
                                        <p:attrNameLst>
                                          <p:attrName>style.visibility</p:attrName>
                                        </p:attrNameLst>
                                      </p:cBhvr>
                                      <p:to>
                                        <p:strVal val="visible"/>
                                      </p:to>
                                    </p:set>
                                    <p:animEffect transition="in" filter="wipe(left)">
                                      <p:cBhvr>
                                        <p:cTn id="30" dur="500"/>
                                        <p:tgtEl>
                                          <p:spTgt spid="3382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8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8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3825"/>
                                        </p:tgtEl>
                                        <p:attrNameLst>
                                          <p:attrName>style.visibility</p:attrName>
                                        </p:attrNameLst>
                                      </p:cBhvr>
                                      <p:to>
                                        <p:strVal val="visible"/>
                                      </p:to>
                                    </p:set>
                                    <p:animEffect transition="in" filter="wipe(left)">
                                      <p:cBhvr>
                                        <p:cTn id="41" dur="500"/>
                                        <p:tgtEl>
                                          <p:spTgt spid="338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382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382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382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38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1" grpId="0" autoUpdateAnimBg="0"/>
      <p:bldP spid="33798" grpId="0" autoUpdateAnimBg="0"/>
      <p:bldP spid="33818" grpId="0" autoUpdateAnimBg="0"/>
      <p:bldP spid="33819" grpId="0" autoUpdateAnimBg="0"/>
      <p:bldP spid="33820" grpId="0" autoUpdateAnimBg="0"/>
      <p:bldP spid="33822" grpId="0"/>
      <p:bldP spid="33823" grpId="0"/>
      <p:bldP spid="33824" grpId="0"/>
      <p:bldP spid="33826" grpId="0"/>
      <p:bldP spid="33827" grpId="0"/>
      <p:bldP spid="338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6"/>
          <p:cNvSpPr>
            <a:spLocks noChangeArrowheads="1"/>
          </p:cNvSpPr>
          <p:nvPr/>
        </p:nvSpPr>
        <p:spPr bwMode="auto">
          <a:xfrm>
            <a:off x="395288" y="188913"/>
            <a:ext cx="79248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kumimoji="1" lang="zh-CN" altLang="en-US">
                <a:latin typeface="宋体" panose="02010600030101010101" pitchFamily="2" charset="-122"/>
              </a:rPr>
              <a:t>解法二：研究锤从自由下落到静止的整个过程，其动量变化为零。</a:t>
            </a:r>
          </a:p>
        </p:txBody>
      </p:sp>
      <mc:AlternateContent xmlns:mc="http://schemas.openxmlformats.org/markup-compatibility/2006" xmlns:a14="http://schemas.microsoft.com/office/drawing/2010/main">
        <mc:Choice Requires="a14">
          <p:sp>
            <p:nvSpPr>
              <p:cNvPr id="34823" name="Object 7"/>
              <p:cNvSpPr txBox="1"/>
              <p:nvPr/>
            </p:nvSpPr>
            <p:spPr bwMode="auto">
              <a:xfrm>
                <a:off x="1258888" y="4005263"/>
                <a:ext cx="4608512" cy="7143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𝑚𝑔</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h</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e>
                      </m:rad>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34823" name="Object 7"/>
              <p:cNvSpPr txBox="1">
                <a:spLocks noRot="1" noChangeAspect="1" noMove="1" noResize="1" noEditPoints="1" noAdjustHandles="1" noChangeArrowheads="1" noChangeShapeType="1" noTextEdit="1"/>
              </p:cNvSpPr>
              <p:nvPr/>
            </p:nvSpPr>
            <p:spPr bwMode="auto">
              <a:xfrm>
                <a:off x="1258888" y="4005263"/>
                <a:ext cx="4608512" cy="714375"/>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34824" name="Rectangle 8"/>
          <p:cNvSpPr>
            <a:spLocks noChangeArrowheads="1"/>
          </p:cNvSpPr>
          <p:nvPr/>
        </p:nvSpPr>
        <p:spPr bwMode="auto">
          <a:xfrm>
            <a:off x="1116013" y="1628775"/>
            <a:ext cx="2673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宋体" panose="02010600030101010101" pitchFamily="2" charset="-122"/>
              </a:rPr>
              <a:t>重力作用时间为</a:t>
            </a:r>
          </a:p>
        </p:txBody>
      </p:sp>
      <mc:AlternateContent xmlns:mc="http://schemas.openxmlformats.org/markup-compatibility/2006" xmlns:a14="http://schemas.microsoft.com/office/drawing/2010/main">
        <mc:Choice Requires="a14">
          <p:sp>
            <p:nvSpPr>
              <p:cNvPr id="34825" name="Object 9"/>
              <p:cNvSpPr txBox="1"/>
              <p:nvPr/>
            </p:nvSpPr>
            <p:spPr bwMode="auto">
              <a:xfrm>
                <a:off x="3935413" y="1641475"/>
                <a:ext cx="1968500" cy="5461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h</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e>
                      </m:rad>
                    </m:oMath>
                  </m:oMathPara>
                </a14:m>
                <a:endParaRPr lang="zh-CN" altLang="en-US" dirty="0"/>
              </a:p>
            </p:txBody>
          </p:sp>
        </mc:Choice>
        <mc:Fallback xmlns="">
          <p:sp>
            <p:nvSpPr>
              <p:cNvPr id="34825" name="Object 9"/>
              <p:cNvSpPr txBox="1">
                <a:spLocks noRot="1" noChangeAspect="1" noMove="1" noResize="1" noEditPoints="1" noAdjustHandles="1" noChangeArrowheads="1" noChangeShapeType="1" noTextEdit="1"/>
              </p:cNvSpPr>
              <p:nvPr/>
            </p:nvSpPr>
            <p:spPr bwMode="auto">
              <a:xfrm>
                <a:off x="3935413" y="1641475"/>
                <a:ext cx="1968500" cy="546100"/>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34826" name="Rectangle 10"/>
          <p:cNvSpPr>
            <a:spLocks noChangeArrowheads="1"/>
          </p:cNvSpPr>
          <p:nvPr/>
        </p:nvSpPr>
        <p:spPr bwMode="auto">
          <a:xfrm>
            <a:off x="1116013" y="2403475"/>
            <a:ext cx="4464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a:latin typeface="宋体" panose="02010600030101010101" pitchFamily="2" charset="-122"/>
              </a:rPr>
              <a:t>支持力的作用时间为</a:t>
            </a:r>
            <a:r>
              <a:rPr kumimoji="1" lang="zh-CN" altLang="en-US" i="1">
                <a:latin typeface="宋体" panose="02010600030101010101" pitchFamily="2" charset="-122"/>
                <a:sym typeface="Symbol" panose="05050102010706020507" pitchFamily="18" charset="2"/>
              </a:rPr>
              <a:t></a:t>
            </a:r>
            <a:endParaRPr kumimoji="1" lang="zh-CN" altLang="en-US" i="1">
              <a:latin typeface="宋体" panose="02010600030101010101" pitchFamily="2" charset="-122"/>
            </a:endParaRPr>
          </a:p>
        </p:txBody>
      </p:sp>
      <p:sp>
        <p:nvSpPr>
          <p:cNvPr id="34827" name="Rectangle 11"/>
          <p:cNvSpPr>
            <a:spLocks noChangeArrowheads="1"/>
          </p:cNvSpPr>
          <p:nvPr/>
        </p:nvSpPr>
        <p:spPr bwMode="auto">
          <a:xfrm>
            <a:off x="395288" y="3284538"/>
            <a:ext cx="2327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t>由动量定理：</a:t>
            </a:r>
          </a:p>
        </p:txBody>
      </p:sp>
      <mc:AlternateContent xmlns:mc="http://schemas.openxmlformats.org/markup-compatibility/2006" xmlns:a14="http://schemas.microsoft.com/office/drawing/2010/main">
        <mc:Choice Requires="a14">
          <p:sp>
            <p:nvSpPr>
              <p:cNvPr id="34828" name="Object 12"/>
              <p:cNvSpPr txBox="1"/>
              <p:nvPr/>
            </p:nvSpPr>
            <p:spPr bwMode="auto">
              <a:xfrm>
                <a:off x="2051050" y="5132388"/>
                <a:ext cx="3457575" cy="74453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𝑁</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𝑚𝑔</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𝑔h</m:t>
                          </m:r>
                        </m:e>
                      </m:ra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oMath>
                  </m:oMathPara>
                </a14:m>
                <a:endParaRPr lang="zh-CN" altLang="en-US" dirty="0"/>
              </a:p>
            </p:txBody>
          </p:sp>
        </mc:Choice>
        <mc:Fallback xmlns="">
          <p:sp>
            <p:nvSpPr>
              <p:cNvPr id="34828" name="Object 12"/>
              <p:cNvSpPr txBox="1">
                <a:spLocks noRot="1" noChangeAspect="1" noMove="1" noResize="1" noEditPoints="1" noAdjustHandles="1" noChangeArrowheads="1" noChangeShapeType="1" noTextEdit="1"/>
              </p:cNvSpPr>
              <p:nvPr/>
            </p:nvSpPr>
            <p:spPr bwMode="auto">
              <a:xfrm>
                <a:off x="2051050" y="5132388"/>
                <a:ext cx="3457575" cy="744537"/>
              </a:xfrm>
              <a:prstGeom prst="rect">
                <a:avLst/>
              </a:prstGeom>
              <a:blipFill>
                <a:blip r:embed="rId4"/>
                <a:stretch>
                  <a:fillRect/>
                </a:stretch>
              </a:blipFill>
              <a:ln>
                <a:noFill/>
              </a:ln>
              <a:effectLst/>
              <a:extLst/>
            </p:spPr>
            <p:txBody>
              <a:bodyPr/>
              <a:lstStyle/>
              <a:p>
                <a:r>
                  <a:rPr lang="zh-CN" altLang="en-US">
                    <a:noFill/>
                  </a:rPr>
                  <a:t> </a:t>
                </a:r>
              </a:p>
            </p:txBody>
          </p:sp>
        </mc:Fallback>
      </mc:AlternateContent>
      <p:sp>
        <p:nvSpPr>
          <p:cNvPr id="34829" name="AutoShape 13"/>
          <p:cNvSpPr>
            <a:spLocks noChangeArrowheads="1"/>
          </p:cNvSpPr>
          <p:nvPr/>
        </p:nvSpPr>
        <p:spPr bwMode="auto">
          <a:xfrm>
            <a:off x="1258888" y="5421313"/>
            <a:ext cx="576262" cy="144462"/>
          </a:xfrm>
          <a:prstGeom prst="rightArrow">
            <a:avLst>
              <a:gd name="adj1" fmla="val 50000"/>
              <a:gd name="adj2" fmla="val 9972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 name="Picture 43" descr="图片22">
            <a:extLst>
              <a:ext uri="{FF2B5EF4-FFF2-40B4-BE49-F238E27FC236}">
                <a16:creationId xmlns:a16="http://schemas.microsoft.com/office/drawing/2014/main" id="{D46288A3-7D7D-48D7-95A4-D2EAB87DC8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240" y="1983581"/>
            <a:ext cx="1925637" cy="312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6383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4822"/>
                                        </p:tgtEl>
                                        <p:attrNameLst>
                                          <p:attrName>style.visibility</p:attrName>
                                        </p:attrNameLst>
                                      </p:cBhvr>
                                      <p:to>
                                        <p:strVal val="visible"/>
                                      </p:to>
                                    </p:set>
                                    <p:animEffect transition="in" filter="wipe(left)">
                                      <p:cBhvr>
                                        <p:cTn id="7" dur="500"/>
                                        <p:tgtEl>
                                          <p:spTgt spid="348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4"/>
                                        </p:tgtEl>
                                        <p:attrNameLst>
                                          <p:attrName>style.visibility</p:attrName>
                                        </p:attrNameLst>
                                      </p:cBhvr>
                                      <p:to>
                                        <p:strVal val="visible"/>
                                      </p:to>
                                    </p:set>
                                    <p:animEffect transition="in" filter="wipe(left)">
                                      <p:cBhvr>
                                        <p:cTn id="12" dur="500"/>
                                        <p:tgtEl>
                                          <p:spTgt spid="348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8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826"/>
                                        </p:tgtEl>
                                        <p:attrNameLst>
                                          <p:attrName>style.visibility</p:attrName>
                                        </p:attrNameLst>
                                      </p:cBhvr>
                                      <p:to>
                                        <p:strVal val="visible"/>
                                      </p:to>
                                    </p:set>
                                    <p:animEffect transition="in" filter="wipe(left)">
                                      <p:cBhvr>
                                        <p:cTn id="21" dur="500"/>
                                        <p:tgtEl>
                                          <p:spTgt spid="348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827"/>
                                        </p:tgtEl>
                                        <p:attrNameLst>
                                          <p:attrName>style.visibility</p:attrName>
                                        </p:attrNameLst>
                                      </p:cBhvr>
                                      <p:to>
                                        <p:strVal val="visible"/>
                                      </p:to>
                                    </p:set>
                                    <p:animEffect transition="in" filter="wipe(left)">
                                      <p:cBhvr>
                                        <p:cTn id="26" dur="500"/>
                                        <p:tgtEl>
                                          <p:spTgt spid="3482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8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4829"/>
                                        </p:tgtEl>
                                        <p:attrNameLst>
                                          <p:attrName>style.visibility</p:attrName>
                                        </p:attrNameLst>
                                      </p:cBhvr>
                                      <p:to>
                                        <p:strVal val="visible"/>
                                      </p:to>
                                    </p:set>
                                    <p:animEffect transition="in" filter="wipe(left)">
                                      <p:cBhvr>
                                        <p:cTn id="35" dur="500"/>
                                        <p:tgtEl>
                                          <p:spTgt spid="3482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4828"/>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autoUpdateAnimBg="0"/>
      <p:bldP spid="34823" grpId="0"/>
      <p:bldP spid="34824" grpId="0" autoUpdateAnimBg="0"/>
      <p:bldP spid="34825" grpId="0"/>
      <p:bldP spid="34826" grpId="0" autoUpdateAnimBg="0"/>
      <p:bldP spid="34827" grpId="0"/>
      <p:bldP spid="34828"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 name="灯片编号占位符 5"/>
          <p:cNvSpPr>
            <a:spLocks noGrp="1"/>
          </p:cNvSpPr>
          <p:nvPr>
            <p:ph type="sldNum" sz="quarter" idx="12"/>
          </p:nvPr>
        </p:nvSpPr>
        <p:spPr/>
        <p:txBody>
          <a:bodyPr/>
          <a:lstStyle/>
          <a:p>
            <a:pPr>
              <a:defRPr/>
            </a:pPr>
            <a:fld id="{5AD2E02E-AB1B-45DF-8FF2-EA5AD67C7C7E}" type="slidenum">
              <a:rPr lang="en-US" altLang="zh-CN" smtClean="0"/>
              <a:pPr>
                <a:defRPr/>
              </a:pPr>
              <a:t>27</a:t>
            </a:fld>
            <a:endParaRPr lang="en-US" altLang="zh-CN" dirty="0"/>
          </a:p>
        </p:txBody>
      </p:sp>
      <p:sp>
        <p:nvSpPr>
          <p:cNvPr id="137218" name="Rectangle 2"/>
          <p:cNvSpPr>
            <a:spLocks noGrp="1" noChangeArrowheads="1"/>
          </p:cNvSpPr>
          <p:nvPr>
            <p:ph type="ctrTitle"/>
          </p:nvPr>
        </p:nvSpPr>
        <p:spPr>
          <a:xfrm>
            <a:off x="153988" y="361950"/>
            <a:ext cx="5573712" cy="628650"/>
          </a:xfrm>
        </p:spPr>
        <p:txBody>
          <a:bodyPr/>
          <a:lstStyle/>
          <a:p>
            <a:pPr algn="l"/>
            <a:r>
              <a:rPr lang="zh-CN" altLang="en-US" sz="3200" b="1" dirty="0">
                <a:solidFill>
                  <a:srgbClr val="FF0000"/>
                </a:solidFill>
                <a:ea typeface="黑体" pitchFamily="49" charset="-122"/>
              </a:rPr>
              <a:t>二</a:t>
            </a:r>
            <a:r>
              <a:rPr lang="zh-CN" altLang="en-US" sz="3200" b="1">
                <a:solidFill>
                  <a:srgbClr val="FF0000"/>
                </a:solidFill>
                <a:ea typeface="黑体" pitchFamily="49" charset="-122"/>
              </a:rPr>
              <a:t>）</a:t>
            </a:r>
            <a:r>
              <a:rPr lang="en-US" altLang="zh-CN" sz="3200" b="1">
                <a:solidFill>
                  <a:srgbClr val="FF0000"/>
                </a:solidFill>
                <a:ea typeface="黑体" pitchFamily="49" charset="-122"/>
              </a:rPr>
              <a:t> </a:t>
            </a:r>
            <a:r>
              <a:rPr lang="zh-CN" altLang="en-US" sz="3200" b="1" dirty="0">
                <a:solidFill>
                  <a:srgbClr val="FF0000"/>
                </a:solidFill>
                <a:ea typeface="黑体" pitchFamily="49" charset="-122"/>
              </a:rPr>
              <a:t>质点系的动量定理</a:t>
            </a:r>
          </a:p>
        </p:txBody>
      </p:sp>
      <p:sp>
        <p:nvSpPr>
          <p:cNvPr id="137220" name="Rectangle 4"/>
          <p:cNvSpPr>
            <a:spLocks noChangeArrowheads="1"/>
          </p:cNvSpPr>
          <p:nvPr/>
        </p:nvSpPr>
        <p:spPr bwMode="auto">
          <a:xfrm>
            <a:off x="511175" y="1000125"/>
            <a:ext cx="39449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3200" b="1">
                <a:solidFill>
                  <a:srgbClr val="993300"/>
                </a:solidFill>
              </a:rPr>
              <a:t>一、质点系</a:t>
            </a:r>
            <a:endParaRPr lang="zh-CN" altLang="en-US" sz="3200" b="1">
              <a:solidFill>
                <a:srgbClr val="993300"/>
              </a:solidFill>
              <a:latin typeface="宋体" pitchFamily="2" charset="-122"/>
            </a:endParaRPr>
          </a:p>
        </p:txBody>
      </p:sp>
      <p:grpSp>
        <p:nvGrpSpPr>
          <p:cNvPr id="2" name="Group 52"/>
          <p:cNvGrpSpPr>
            <a:grpSpLocks/>
          </p:cNvGrpSpPr>
          <p:nvPr/>
        </p:nvGrpSpPr>
        <p:grpSpPr bwMode="auto">
          <a:xfrm>
            <a:off x="1858963" y="3565525"/>
            <a:ext cx="2663825" cy="650875"/>
            <a:chOff x="408" y="2619"/>
            <a:chExt cx="1678" cy="410"/>
          </a:xfrm>
        </p:grpSpPr>
        <mc:AlternateContent xmlns:mc="http://schemas.openxmlformats.org/markup-compatibility/2006" xmlns:a14="http://schemas.microsoft.com/office/drawing/2010/main">
          <mc:Choice Requires="a14">
            <p:sp>
              <p:nvSpPr>
                <p:cNvPr id="27661" name="Object 13"/>
                <p:cNvSpPr txBox="1"/>
                <p:nvPr/>
              </p:nvSpPr>
              <p:spPr bwMode="auto">
                <a:xfrm>
                  <a:off x="1168" y="2629"/>
                  <a:ext cx="918" cy="40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𝑗𝑖</m:t>
                            </m:r>
                          </m:sub>
                        </m:sSub>
                      </m:oMath>
                    </m:oMathPara>
                  </a14:m>
                  <a:endParaRPr lang="zh-CN" altLang="en-US"/>
                </a:p>
              </p:txBody>
            </p:sp>
          </mc:Choice>
          <mc:Fallback xmlns="">
            <p:sp>
              <p:nvSpPr>
                <p:cNvPr id="27661" name="Object 13"/>
                <p:cNvSpPr txBox="1">
                  <a:spLocks noRot="1" noChangeAspect="1" noMove="1" noResize="1" noEditPoints="1" noAdjustHandles="1" noChangeArrowheads="1" noChangeShapeType="1" noTextEdit="1"/>
                </p:cNvSpPr>
                <p:nvPr/>
              </p:nvSpPr>
              <p:spPr bwMode="auto">
                <a:xfrm>
                  <a:off x="1168" y="2629"/>
                  <a:ext cx="918" cy="400"/>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27699" name="Rectangle 9"/>
            <p:cNvSpPr>
              <a:spLocks noChangeArrowheads="1"/>
            </p:cNvSpPr>
            <p:nvPr/>
          </p:nvSpPr>
          <p:spPr bwMode="auto">
            <a:xfrm>
              <a:off x="408" y="2619"/>
              <a:ext cx="98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3600">
                  <a:solidFill>
                    <a:srgbClr val="993300"/>
                  </a:solidFill>
                  <a:latin typeface="宋体" pitchFamily="2" charset="-122"/>
                  <a:ea typeface="华文新魏" pitchFamily="2" charset="-122"/>
                </a:rPr>
                <a:t>内力</a:t>
              </a:r>
              <a:r>
                <a:rPr lang="zh-CN" altLang="en-US" sz="3600">
                  <a:solidFill>
                    <a:srgbClr val="993300"/>
                  </a:solidFill>
                  <a:latin typeface="宋体" pitchFamily="2" charset="-122"/>
                </a:rPr>
                <a:t>：</a:t>
              </a:r>
            </a:p>
          </p:txBody>
        </p:sp>
      </p:grpSp>
      <p:sp>
        <p:nvSpPr>
          <p:cNvPr id="137228" name="Rectangle 12"/>
          <p:cNvSpPr>
            <a:spLocks noChangeArrowheads="1"/>
          </p:cNvSpPr>
          <p:nvPr/>
        </p:nvSpPr>
        <p:spPr bwMode="auto">
          <a:xfrm>
            <a:off x="468313" y="1670050"/>
            <a:ext cx="48656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 typeface="Monotype Sorts"/>
              <a:buNone/>
            </a:pPr>
            <a:r>
              <a:rPr lang="zh-CN" altLang="en-US" sz="2600" b="1"/>
              <a:t>由</a:t>
            </a:r>
            <a:r>
              <a:rPr lang="en-US" altLang="zh-CN" sz="2600" b="1" i="1"/>
              <a:t>N</a:t>
            </a:r>
            <a:r>
              <a:rPr lang="zh-CN" altLang="en-US" sz="2600" b="1"/>
              <a:t>个质点构成的系统</a:t>
            </a:r>
          </a:p>
        </p:txBody>
      </p:sp>
      <mc:AlternateContent xmlns:mc="http://schemas.openxmlformats.org/markup-compatibility/2006" xmlns:a14="http://schemas.microsoft.com/office/drawing/2010/main">
        <mc:Choice Requires="a14">
          <p:sp>
            <p:nvSpPr>
              <p:cNvPr id="137265" name="Object 2"/>
              <p:cNvSpPr txBox="1"/>
              <p:nvPr/>
            </p:nvSpPr>
            <p:spPr bwMode="auto">
              <a:xfrm>
                <a:off x="3924300" y="1700213"/>
                <a:ext cx="2451100" cy="51276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𝑁</m:t>
                      </m:r>
                    </m:oMath>
                  </m:oMathPara>
                </a14:m>
                <a:endParaRPr lang="zh-CN" altLang="en-US" dirty="0"/>
              </a:p>
            </p:txBody>
          </p:sp>
        </mc:Choice>
        <mc:Fallback xmlns="">
          <p:sp>
            <p:nvSpPr>
              <p:cNvPr id="137265" name="Object 2"/>
              <p:cNvSpPr txBox="1">
                <a:spLocks noRot="1" noChangeAspect="1" noMove="1" noResize="1" noEditPoints="1" noAdjustHandles="1" noChangeArrowheads="1" noChangeShapeType="1" noTextEdit="1"/>
              </p:cNvSpPr>
              <p:nvPr/>
            </p:nvSpPr>
            <p:spPr bwMode="auto">
              <a:xfrm>
                <a:off x="3924300" y="1700213"/>
                <a:ext cx="2451100" cy="512762"/>
              </a:xfrm>
              <a:prstGeom prst="rect">
                <a:avLst/>
              </a:prstGeom>
              <a:blipFill>
                <a:blip r:embed="rId3"/>
                <a:stretch>
                  <a:fillRect b="-5952"/>
                </a:stretch>
              </a:blipFill>
              <a:ln>
                <a:noFill/>
              </a:ln>
              <a:effectLst/>
              <a:extLst/>
            </p:spPr>
            <p:txBody>
              <a:bodyPr/>
              <a:lstStyle/>
              <a:p>
                <a:r>
                  <a:rPr lang="zh-CN" altLang="en-US">
                    <a:noFill/>
                  </a:rPr>
                  <a:t> </a:t>
                </a:r>
              </a:p>
            </p:txBody>
          </p:sp>
        </mc:Fallback>
      </mc:AlternateContent>
      <p:grpSp>
        <p:nvGrpSpPr>
          <p:cNvPr id="3" name="Group 53"/>
          <p:cNvGrpSpPr>
            <a:grpSpLocks/>
          </p:cNvGrpSpPr>
          <p:nvPr/>
        </p:nvGrpSpPr>
        <p:grpSpPr bwMode="auto">
          <a:xfrm>
            <a:off x="1116013" y="4854575"/>
            <a:ext cx="2447925" cy="790575"/>
            <a:chOff x="545" y="3288"/>
            <a:chExt cx="1542" cy="498"/>
          </a:xfrm>
        </p:grpSpPr>
        <p:sp>
          <p:nvSpPr>
            <p:cNvPr id="27698" name="Rectangle 10"/>
            <p:cNvSpPr>
              <a:spLocks noChangeArrowheads="1"/>
            </p:cNvSpPr>
            <p:nvPr/>
          </p:nvSpPr>
          <p:spPr bwMode="auto">
            <a:xfrm>
              <a:off x="545" y="3288"/>
              <a:ext cx="98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3600">
                  <a:solidFill>
                    <a:srgbClr val="993300"/>
                  </a:solidFill>
                  <a:latin typeface="宋体" pitchFamily="2" charset="-122"/>
                  <a:ea typeface="华文新魏" pitchFamily="2" charset="-122"/>
                </a:rPr>
                <a:t>外力</a:t>
              </a:r>
              <a:r>
                <a:rPr lang="zh-CN" altLang="en-US" sz="3600">
                  <a:solidFill>
                    <a:srgbClr val="993300"/>
                  </a:solidFill>
                  <a:latin typeface="宋体" pitchFamily="2" charset="-122"/>
                </a:rPr>
                <a:t>：</a:t>
              </a:r>
            </a:p>
          </p:txBody>
        </p:sp>
        <mc:AlternateContent xmlns:mc="http://schemas.openxmlformats.org/markup-compatibility/2006" xmlns:a14="http://schemas.microsoft.com/office/drawing/2010/main">
          <mc:Choice Requires="a14">
            <p:sp>
              <p:nvSpPr>
                <p:cNvPr id="27660" name="Object 12"/>
                <p:cNvSpPr txBox="1"/>
                <p:nvPr/>
              </p:nvSpPr>
              <p:spPr bwMode="auto">
                <a:xfrm>
                  <a:off x="1343" y="3297"/>
                  <a:ext cx="744" cy="48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 , </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𝑗</m:t>
                            </m:r>
                          </m:sub>
                        </m:sSub>
                      </m:oMath>
                    </m:oMathPara>
                  </a14:m>
                  <a:endParaRPr lang="zh-CN" altLang="en-US"/>
                </a:p>
              </p:txBody>
            </p:sp>
          </mc:Choice>
          <mc:Fallback xmlns="">
            <p:sp>
              <p:nvSpPr>
                <p:cNvPr id="27660" name="Object 12"/>
                <p:cNvSpPr txBox="1">
                  <a:spLocks noRot="1" noChangeAspect="1" noMove="1" noResize="1" noEditPoints="1" noAdjustHandles="1" noChangeArrowheads="1" noChangeShapeType="1" noTextEdit="1"/>
                </p:cNvSpPr>
                <p:nvPr/>
              </p:nvSpPr>
              <p:spPr bwMode="auto">
                <a:xfrm>
                  <a:off x="1343" y="3297"/>
                  <a:ext cx="744" cy="489"/>
                </a:xfrm>
                <a:prstGeom prst="rect">
                  <a:avLst/>
                </a:prstGeom>
                <a:blipFill>
                  <a:blip r:embed="rId4"/>
                  <a:stretch>
                    <a:fillRect/>
                  </a:stretch>
                </a:blipFill>
                <a:ln>
                  <a:noFill/>
                </a:ln>
                <a:effectLst/>
                <a:extLst/>
              </p:spPr>
              <p:txBody>
                <a:bodyPr/>
                <a:lstStyle/>
                <a:p>
                  <a:r>
                    <a:rPr lang="zh-CN" altLang="en-US">
                      <a:noFill/>
                    </a:rPr>
                    <a:t> </a:t>
                  </a:r>
                </a:p>
              </p:txBody>
            </p:sp>
          </mc:Fallback>
        </mc:AlternateContent>
      </p:grpSp>
      <p:grpSp>
        <p:nvGrpSpPr>
          <p:cNvPr id="4" name="Group 59"/>
          <p:cNvGrpSpPr>
            <a:grpSpLocks/>
          </p:cNvGrpSpPr>
          <p:nvPr/>
        </p:nvGrpSpPr>
        <p:grpSpPr bwMode="auto">
          <a:xfrm>
            <a:off x="6345238" y="368300"/>
            <a:ext cx="2638425" cy="2738438"/>
            <a:chOff x="3274" y="1365"/>
            <a:chExt cx="1662" cy="1725"/>
          </a:xfrm>
        </p:grpSpPr>
        <p:sp>
          <p:nvSpPr>
            <p:cNvPr id="27689" name="Freeform 17"/>
            <p:cNvSpPr>
              <a:spLocks/>
            </p:cNvSpPr>
            <p:nvPr/>
          </p:nvSpPr>
          <p:spPr bwMode="auto">
            <a:xfrm>
              <a:off x="3274" y="1365"/>
              <a:ext cx="1662" cy="1725"/>
            </a:xfrm>
            <a:custGeom>
              <a:avLst/>
              <a:gdLst>
                <a:gd name="T0" fmla="*/ 2 w 2070"/>
                <a:gd name="T1" fmla="*/ 3 h 2055"/>
                <a:gd name="T2" fmla="*/ 3 w 2070"/>
                <a:gd name="T3" fmla="*/ 3 h 2055"/>
                <a:gd name="T4" fmla="*/ 5 w 2070"/>
                <a:gd name="T5" fmla="*/ 3 h 2055"/>
                <a:gd name="T6" fmla="*/ 9 w 2070"/>
                <a:gd name="T7" fmla="*/ 3 h 2055"/>
                <a:gd name="T8" fmla="*/ 9 w 2070"/>
                <a:gd name="T9" fmla="*/ 3 h 2055"/>
                <a:gd name="T10" fmla="*/ 10 w 2070"/>
                <a:gd name="T11" fmla="*/ 3 h 2055"/>
                <a:gd name="T12" fmla="*/ 10 w 2070"/>
                <a:gd name="T13" fmla="*/ 3 h 2055"/>
                <a:gd name="T14" fmla="*/ 11 w 2070"/>
                <a:gd name="T15" fmla="*/ 3 h 2055"/>
                <a:gd name="T16" fmla="*/ 11 w 2070"/>
                <a:gd name="T17" fmla="*/ 5 h 2055"/>
                <a:gd name="T18" fmla="*/ 11 w 2070"/>
                <a:gd name="T19" fmla="*/ 6 h 2055"/>
                <a:gd name="T20" fmla="*/ 11 w 2070"/>
                <a:gd name="T21" fmla="*/ 6 h 2055"/>
                <a:gd name="T22" fmla="*/ 11 w 2070"/>
                <a:gd name="T23" fmla="*/ 7 h 2055"/>
                <a:gd name="T24" fmla="*/ 11 w 2070"/>
                <a:gd name="T25" fmla="*/ 8 h 2055"/>
                <a:gd name="T26" fmla="*/ 12 w 2070"/>
                <a:gd name="T27" fmla="*/ 9 h 2055"/>
                <a:gd name="T28" fmla="*/ 12 w 2070"/>
                <a:gd name="T29" fmla="*/ 10 h 2055"/>
                <a:gd name="T30" fmla="*/ 13 w 2070"/>
                <a:gd name="T31" fmla="*/ 11 h 2055"/>
                <a:gd name="T32" fmla="*/ 13 w 2070"/>
                <a:gd name="T33" fmla="*/ 14 h 2055"/>
                <a:gd name="T34" fmla="*/ 14 w 2070"/>
                <a:gd name="T35" fmla="*/ 24 h 2055"/>
                <a:gd name="T36" fmla="*/ 13 w 2070"/>
                <a:gd name="T37" fmla="*/ 29 h 2055"/>
                <a:gd name="T38" fmla="*/ 12 w 2070"/>
                <a:gd name="T39" fmla="*/ 32 h 2055"/>
                <a:gd name="T40" fmla="*/ 11 w 2070"/>
                <a:gd name="T41" fmla="*/ 33 h 2055"/>
                <a:gd name="T42" fmla="*/ 11 w 2070"/>
                <a:gd name="T43" fmla="*/ 35 h 2055"/>
                <a:gd name="T44" fmla="*/ 10 w 2070"/>
                <a:gd name="T45" fmla="*/ 36 h 2055"/>
                <a:gd name="T46" fmla="*/ 9 w 2070"/>
                <a:gd name="T47" fmla="*/ 35 h 2055"/>
                <a:gd name="T48" fmla="*/ 9 w 2070"/>
                <a:gd name="T49" fmla="*/ 35 h 2055"/>
                <a:gd name="T50" fmla="*/ 8 w 2070"/>
                <a:gd name="T51" fmla="*/ 35 h 2055"/>
                <a:gd name="T52" fmla="*/ 7 w 2070"/>
                <a:gd name="T53" fmla="*/ 33 h 2055"/>
                <a:gd name="T54" fmla="*/ 7 w 2070"/>
                <a:gd name="T55" fmla="*/ 31 h 2055"/>
                <a:gd name="T56" fmla="*/ 7 w 2070"/>
                <a:gd name="T57" fmla="*/ 29 h 2055"/>
                <a:gd name="T58" fmla="*/ 6 w 2070"/>
                <a:gd name="T59" fmla="*/ 29 h 2055"/>
                <a:gd name="T60" fmla="*/ 6 w 2070"/>
                <a:gd name="T61" fmla="*/ 29 h 2055"/>
                <a:gd name="T62" fmla="*/ 6 w 2070"/>
                <a:gd name="T63" fmla="*/ 28 h 2055"/>
                <a:gd name="T64" fmla="*/ 5 w 2070"/>
                <a:gd name="T65" fmla="*/ 27 h 2055"/>
                <a:gd name="T66" fmla="*/ 5 w 2070"/>
                <a:gd name="T67" fmla="*/ 24 h 2055"/>
                <a:gd name="T68" fmla="*/ 4 w 2070"/>
                <a:gd name="T69" fmla="*/ 24 h 2055"/>
                <a:gd name="T70" fmla="*/ 2 w 2070"/>
                <a:gd name="T71" fmla="*/ 20 h 2055"/>
                <a:gd name="T72" fmla="*/ 2 w 2070"/>
                <a:gd name="T73" fmla="*/ 20 h 2055"/>
                <a:gd name="T74" fmla="*/ 2 w 2070"/>
                <a:gd name="T75" fmla="*/ 17 h 2055"/>
                <a:gd name="T76" fmla="*/ 2 w 2070"/>
                <a:gd name="T77" fmla="*/ 17 h 2055"/>
                <a:gd name="T78" fmla="*/ 2 w 2070"/>
                <a:gd name="T79" fmla="*/ 17 h 2055"/>
                <a:gd name="T80" fmla="*/ 2 w 2070"/>
                <a:gd name="T81" fmla="*/ 16 h 2055"/>
                <a:gd name="T82" fmla="*/ 2 w 2070"/>
                <a:gd name="T83" fmla="*/ 14 h 2055"/>
                <a:gd name="T84" fmla="*/ 2 w 2070"/>
                <a:gd name="T85" fmla="*/ 14 h 2055"/>
                <a:gd name="T86" fmla="*/ 2 w 2070"/>
                <a:gd name="T87" fmla="*/ 13 h 2055"/>
                <a:gd name="T88" fmla="*/ 2 w 2070"/>
                <a:gd name="T89" fmla="*/ 11 h 2055"/>
                <a:gd name="T90" fmla="*/ 0 w 2070"/>
                <a:gd name="T91" fmla="*/ 10 h 2055"/>
                <a:gd name="T92" fmla="*/ 2 w 2070"/>
                <a:gd name="T93" fmla="*/ 5 h 2055"/>
                <a:gd name="T94" fmla="*/ 2 w 2070"/>
                <a:gd name="T95" fmla="*/ 4 h 2055"/>
                <a:gd name="T96" fmla="*/ 2 w 2070"/>
                <a:gd name="T97" fmla="*/ 4 h 2055"/>
                <a:gd name="T98" fmla="*/ 2 w 2070"/>
                <a:gd name="T99" fmla="*/ 3 h 2055"/>
                <a:gd name="T100" fmla="*/ 2 w 2070"/>
                <a:gd name="T101" fmla="*/ 3 h 2055"/>
                <a:gd name="T102" fmla="*/ 2 w 2070"/>
                <a:gd name="T103" fmla="*/ 3 h 2055"/>
                <a:gd name="T104" fmla="*/ 2 w 2070"/>
                <a:gd name="T105" fmla="*/ 3 h 2055"/>
                <a:gd name="T106" fmla="*/ 2 w 2070"/>
                <a:gd name="T107" fmla="*/ 3 h 20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70"/>
                <a:gd name="T163" fmla="*/ 0 h 2055"/>
                <a:gd name="T164" fmla="*/ 2070 w 2070"/>
                <a:gd name="T165" fmla="*/ 2055 h 205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70" h="2055">
                  <a:moveTo>
                    <a:pt x="320" y="62"/>
                  </a:moveTo>
                  <a:cubicBezTo>
                    <a:pt x="378" y="43"/>
                    <a:pt x="450" y="39"/>
                    <a:pt x="512" y="30"/>
                  </a:cubicBezTo>
                  <a:cubicBezTo>
                    <a:pt x="603" y="0"/>
                    <a:pt x="543" y="15"/>
                    <a:pt x="696" y="6"/>
                  </a:cubicBezTo>
                  <a:cubicBezTo>
                    <a:pt x="957" y="11"/>
                    <a:pt x="1163" y="13"/>
                    <a:pt x="1408" y="54"/>
                  </a:cubicBezTo>
                  <a:cubicBezTo>
                    <a:pt x="1468" y="94"/>
                    <a:pt x="1392" y="47"/>
                    <a:pt x="1464" y="78"/>
                  </a:cubicBezTo>
                  <a:cubicBezTo>
                    <a:pt x="1503" y="95"/>
                    <a:pt x="1475" y="98"/>
                    <a:pt x="1520" y="118"/>
                  </a:cubicBezTo>
                  <a:cubicBezTo>
                    <a:pt x="1545" y="130"/>
                    <a:pt x="1574" y="133"/>
                    <a:pt x="1600" y="142"/>
                  </a:cubicBezTo>
                  <a:cubicBezTo>
                    <a:pt x="1642" y="174"/>
                    <a:pt x="1686" y="173"/>
                    <a:pt x="1736" y="190"/>
                  </a:cubicBezTo>
                  <a:cubicBezTo>
                    <a:pt x="1817" y="271"/>
                    <a:pt x="1761" y="205"/>
                    <a:pt x="1800" y="270"/>
                  </a:cubicBezTo>
                  <a:cubicBezTo>
                    <a:pt x="1810" y="286"/>
                    <a:pt x="1821" y="302"/>
                    <a:pt x="1832" y="318"/>
                  </a:cubicBezTo>
                  <a:cubicBezTo>
                    <a:pt x="1837" y="326"/>
                    <a:pt x="1848" y="342"/>
                    <a:pt x="1848" y="342"/>
                  </a:cubicBezTo>
                  <a:cubicBezTo>
                    <a:pt x="1856" y="369"/>
                    <a:pt x="1867" y="395"/>
                    <a:pt x="1872" y="422"/>
                  </a:cubicBezTo>
                  <a:cubicBezTo>
                    <a:pt x="1876" y="443"/>
                    <a:pt x="1873" y="466"/>
                    <a:pt x="1880" y="486"/>
                  </a:cubicBezTo>
                  <a:cubicBezTo>
                    <a:pt x="1884" y="497"/>
                    <a:pt x="1896" y="502"/>
                    <a:pt x="1904" y="510"/>
                  </a:cubicBezTo>
                  <a:cubicBezTo>
                    <a:pt x="1907" y="521"/>
                    <a:pt x="1908" y="532"/>
                    <a:pt x="1912" y="542"/>
                  </a:cubicBezTo>
                  <a:cubicBezTo>
                    <a:pt x="1921" y="564"/>
                    <a:pt x="1944" y="606"/>
                    <a:pt x="1944" y="606"/>
                  </a:cubicBezTo>
                  <a:cubicBezTo>
                    <a:pt x="1955" y="681"/>
                    <a:pt x="1995" y="740"/>
                    <a:pt x="2008" y="814"/>
                  </a:cubicBezTo>
                  <a:cubicBezTo>
                    <a:pt x="2038" y="978"/>
                    <a:pt x="2046" y="1145"/>
                    <a:pt x="2064" y="1310"/>
                  </a:cubicBezTo>
                  <a:cubicBezTo>
                    <a:pt x="2051" y="1412"/>
                    <a:pt x="2070" y="1524"/>
                    <a:pt x="2040" y="1622"/>
                  </a:cubicBezTo>
                  <a:cubicBezTo>
                    <a:pt x="2021" y="1684"/>
                    <a:pt x="1937" y="1718"/>
                    <a:pt x="1888" y="1750"/>
                  </a:cubicBezTo>
                  <a:cubicBezTo>
                    <a:pt x="1860" y="1792"/>
                    <a:pt x="1828" y="1834"/>
                    <a:pt x="1792" y="1870"/>
                  </a:cubicBezTo>
                  <a:cubicBezTo>
                    <a:pt x="1775" y="1920"/>
                    <a:pt x="1757" y="1964"/>
                    <a:pt x="1704" y="1982"/>
                  </a:cubicBezTo>
                  <a:cubicBezTo>
                    <a:pt x="1678" y="2022"/>
                    <a:pt x="1630" y="2038"/>
                    <a:pt x="1584" y="2046"/>
                  </a:cubicBezTo>
                  <a:cubicBezTo>
                    <a:pt x="1504" y="2043"/>
                    <a:pt x="1422" y="2055"/>
                    <a:pt x="1344" y="2038"/>
                  </a:cubicBezTo>
                  <a:cubicBezTo>
                    <a:pt x="1328" y="2034"/>
                    <a:pt x="1341" y="2001"/>
                    <a:pt x="1328" y="1990"/>
                  </a:cubicBezTo>
                  <a:cubicBezTo>
                    <a:pt x="1311" y="1976"/>
                    <a:pt x="1285" y="1979"/>
                    <a:pt x="1264" y="1974"/>
                  </a:cubicBezTo>
                  <a:cubicBezTo>
                    <a:pt x="1234" y="1915"/>
                    <a:pt x="1199" y="1869"/>
                    <a:pt x="1152" y="1822"/>
                  </a:cubicBezTo>
                  <a:cubicBezTo>
                    <a:pt x="1141" y="1788"/>
                    <a:pt x="1121" y="1767"/>
                    <a:pt x="1096" y="1742"/>
                  </a:cubicBezTo>
                  <a:cubicBezTo>
                    <a:pt x="1091" y="1726"/>
                    <a:pt x="1093" y="1705"/>
                    <a:pt x="1080" y="1694"/>
                  </a:cubicBezTo>
                  <a:cubicBezTo>
                    <a:pt x="1068" y="1683"/>
                    <a:pt x="1043" y="1697"/>
                    <a:pt x="1032" y="1686"/>
                  </a:cubicBezTo>
                  <a:cubicBezTo>
                    <a:pt x="957" y="1611"/>
                    <a:pt x="1104" y="1651"/>
                    <a:pt x="976" y="1630"/>
                  </a:cubicBezTo>
                  <a:cubicBezTo>
                    <a:pt x="928" y="1582"/>
                    <a:pt x="920" y="1572"/>
                    <a:pt x="864" y="1526"/>
                  </a:cubicBezTo>
                  <a:cubicBezTo>
                    <a:pt x="841" y="1507"/>
                    <a:pt x="814" y="1505"/>
                    <a:pt x="792" y="1486"/>
                  </a:cubicBezTo>
                  <a:cubicBezTo>
                    <a:pt x="759" y="1457"/>
                    <a:pt x="736" y="1434"/>
                    <a:pt x="696" y="1414"/>
                  </a:cubicBezTo>
                  <a:cubicBezTo>
                    <a:pt x="671" y="1377"/>
                    <a:pt x="634" y="1379"/>
                    <a:pt x="600" y="1350"/>
                  </a:cubicBezTo>
                  <a:cubicBezTo>
                    <a:pt x="518" y="1280"/>
                    <a:pt x="426" y="1227"/>
                    <a:pt x="344" y="1158"/>
                  </a:cubicBezTo>
                  <a:cubicBezTo>
                    <a:pt x="328" y="1144"/>
                    <a:pt x="292" y="1096"/>
                    <a:pt x="280" y="1078"/>
                  </a:cubicBezTo>
                  <a:cubicBezTo>
                    <a:pt x="267" y="1058"/>
                    <a:pt x="265" y="1031"/>
                    <a:pt x="248" y="1014"/>
                  </a:cubicBezTo>
                  <a:cubicBezTo>
                    <a:pt x="237" y="1003"/>
                    <a:pt x="224" y="995"/>
                    <a:pt x="216" y="982"/>
                  </a:cubicBezTo>
                  <a:cubicBezTo>
                    <a:pt x="203" y="962"/>
                    <a:pt x="200" y="936"/>
                    <a:pt x="184" y="918"/>
                  </a:cubicBezTo>
                  <a:cubicBezTo>
                    <a:pt x="169" y="902"/>
                    <a:pt x="147" y="897"/>
                    <a:pt x="128" y="886"/>
                  </a:cubicBezTo>
                  <a:cubicBezTo>
                    <a:pt x="125" y="870"/>
                    <a:pt x="127" y="853"/>
                    <a:pt x="120" y="838"/>
                  </a:cubicBezTo>
                  <a:cubicBezTo>
                    <a:pt x="115" y="828"/>
                    <a:pt x="103" y="823"/>
                    <a:pt x="96" y="814"/>
                  </a:cubicBezTo>
                  <a:cubicBezTo>
                    <a:pt x="70" y="780"/>
                    <a:pt x="62" y="752"/>
                    <a:pt x="40" y="718"/>
                  </a:cubicBezTo>
                  <a:cubicBezTo>
                    <a:pt x="32" y="686"/>
                    <a:pt x="25" y="654"/>
                    <a:pt x="16" y="622"/>
                  </a:cubicBezTo>
                  <a:cubicBezTo>
                    <a:pt x="12" y="606"/>
                    <a:pt x="0" y="574"/>
                    <a:pt x="0" y="574"/>
                  </a:cubicBezTo>
                  <a:cubicBezTo>
                    <a:pt x="4" y="499"/>
                    <a:pt x="6" y="317"/>
                    <a:pt x="88" y="262"/>
                  </a:cubicBezTo>
                  <a:cubicBezTo>
                    <a:pt x="93" y="254"/>
                    <a:pt x="97" y="245"/>
                    <a:pt x="104" y="238"/>
                  </a:cubicBezTo>
                  <a:cubicBezTo>
                    <a:pt x="111" y="231"/>
                    <a:pt x="122" y="229"/>
                    <a:pt x="128" y="222"/>
                  </a:cubicBezTo>
                  <a:cubicBezTo>
                    <a:pt x="165" y="180"/>
                    <a:pt x="147" y="179"/>
                    <a:pt x="184" y="150"/>
                  </a:cubicBezTo>
                  <a:cubicBezTo>
                    <a:pt x="199" y="138"/>
                    <a:pt x="214" y="124"/>
                    <a:pt x="232" y="118"/>
                  </a:cubicBezTo>
                  <a:cubicBezTo>
                    <a:pt x="248" y="113"/>
                    <a:pt x="280" y="102"/>
                    <a:pt x="280" y="102"/>
                  </a:cubicBezTo>
                  <a:cubicBezTo>
                    <a:pt x="285" y="94"/>
                    <a:pt x="288" y="84"/>
                    <a:pt x="296" y="78"/>
                  </a:cubicBezTo>
                  <a:cubicBezTo>
                    <a:pt x="323" y="57"/>
                    <a:pt x="320" y="82"/>
                    <a:pt x="320" y="62"/>
                  </a:cubicBezTo>
                  <a:close/>
                </a:path>
              </a:pathLst>
            </a:custGeom>
            <a:noFill/>
            <a:ln w="19050" cap="flat" cmpd="sng">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690" name="Oval 21"/>
            <p:cNvSpPr>
              <a:spLocks noChangeArrowheads="1"/>
            </p:cNvSpPr>
            <p:nvPr/>
          </p:nvSpPr>
          <p:spPr bwMode="auto">
            <a:xfrm>
              <a:off x="4664" y="223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691" name="Oval 22"/>
            <p:cNvSpPr>
              <a:spLocks noChangeArrowheads="1"/>
            </p:cNvSpPr>
            <p:nvPr/>
          </p:nvSpPr>
          <p:spPr bwMode="auto">
            <a:xfrm>
              <a:off x="3558" y="2137"/>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692" name="Oval 27"/>
            <p:cNvSpPr>
              <a:spLocks noChangeArrowheads="1"/>
            </p:cNvSpPr>
            <p:nvPr/>
          </p:nvSpPr>
          <p:spPr bwMode="auto">
            <a:xfrm>
              <a:off x="4226" y="172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693" name="Oval 28"/>
            <p:cNvSpPr>
              <a:spLocks noChangeArrowheads="1"/>
            </p:cNvSpPr>
            <p:nvPr/>
          </p:nvSpPr>
          <p:spPr bwMode="auto">
            <a:xfrm>
              <a:off x="4298" y="271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694" name="Oval 29"/>
            <p:cNvSpPr>
              <a:spLocks noChangeArrowheads="1"/>
            </p:cNvSpPr>
            <p:nvPr/>
          </p:nvSpPr>
          <p:spPr bwMode="auto">
            <a:xfrm>
              <a:off x="4616" y="1791"/>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7658" name="Object 10"/>
                <p:cNvSpPr txBox="1"/>
                <p:nvPr/>
              </p:nvSpPr>
              <p:spPr bwMode="auto">
                <a:xfrm>
                  <a:off x="4156" y="1455"/>
                  <a:ext cx="282" cy="32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27658" name="Object 10"/>
                <p:cNvSpPr txBox="1">
                  <a:spLocks noRot="1" noChangeAspect="1" noMove="1" noResize="1" noEditPoints="1" noAdjustHandles="1" noChangeArrowheads="1" noChangeShapeType="1" noTextEdit="1"/>
                </p:cNvSpPr>
                <p:nvPr/>
              </p:nvSpPr>
              <p:spPr bwMode="auto">
                <a:xfrm>
                  <a:off x="4156" y="1455"/>
                  <a:ext cx="282" cy="320"/>
                </a:xfrm>
                <a:prstGeom prst="rect">
                  <a:avLst/>
                </a:prstGeom>
                <a:blipFill>
                  <a:blip r:embed="rId5"/>
                  <a:stretch>
                    <a:fillRect r="-13699"/>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59" name="Object 11"/>
                <p:cNvSpPr txBox="1"/>
                <p:nvPr/>
              </p:nvSpPr>
              <p:spPr bwMode="auto">
                <a:xfrm>
                  <a:off x="4344" y="2611"/>
                  <a:ext cx="292" cy="32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𝑗</m:t>
                            </m:r>
                          </m:sub>
                        </m:sSub>
                      </m:oMath>
                    </m:oMathPara>
                  </a14:m>
                  <a:endParaRPr lang="zh-CN" altLang="en-US"/>
                </a:p>
              </p:txBody>
            </p:sp>
          </mc:Choice>
          <mc:Fallback xmlns="">
            <p:sp>
              <p:nvSpPr>
                <p:cNvPr id="27659" name="Object 11"/>
                <p:cNvSpPr txBox="1">
                  <a:spLocks noRot="1" noChangeAspect="1" noMove="1" noResize="1" noEditPoints="1" noAdjustHandles="1" noChangeArrowheads="1" noChangeShapeType="1" noTextEdit="1"/>
                </p:cNvSpPr>
                <p:nvPr/>
              </p:nvSpPr>
              <p:spPr bwMode="auto">
                <a:xfrm>
                  <a:off x="4344" y="2611"/>
                  <a:ext cx="292" cy="327"/>
                </a:xfrm>
                <a:prstGeom prst="rect">
                  <a:avLst/>
                </a:prstGeom>
                <a:blipFill>
                  <a:blip r:embed="rId6"/>
                  <a:stretch>
                    <a:fillRect r="-13158" b="-4706"/>
                  </a:stretch>
                </a:blipFill>
                <a:ln>
                  <a:noFill/>
                </a:ln>
                <a:effectLst/>
                <a:extLst/>
              </p:spPr>
              <p:txBody>
                <a:bodyPr/>
                <a:lstStyle/>
                <a:p>
                  <a:r>
                    <a:rPr lang="zh-CN" altLang="en-US">
                      <a:noFill/>
                    </a:rPr>
                    <a:t> </a:t>
                  </a:r>
                </a:p>
              </p:txBody>
            </p:sp>
          </mc:Fallback>
        </mc:AlternateContent>
        <p:sp>
          <p:nvSpPr>
            <p:cNvPr id="27695" name="Oval 45"/>
            <p:cNvSpPr>
              <a:spLocks noChangeArrowheads="1"/>
            </p:cNvSpPr>
            <p:nvPr/>
          </p:nvSpPr>
          <p:spPr bwMode="auto">
            <a:xfrm>
              <a:off x="3610" y="155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696" name="Oval 46"/>
            <p:cNvSpPr>
              <a:spLocks noChangeArrowheads="1"/>
            </p:cNvSpPr>
            <p:nvPr/>
          </p:nvSpPr>
          <p:spPr bwMode="auto">
            <a:xfrm>
              <a:off x="3378" y="190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697" name="Oval 47"/>
            <p:cNvSpPr>
              <a:spLocks noChangeArrowheads="1"/>
            </p:cNvSpPr>
            <p:nvPr/>
          </p:nvSpPr>
          <p:spPr bwMode="auto">
            <a:xfrm>
              <a:off x="3882" y="1841"/>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grpSp>
      <p:grpSp>
        <p:nvGrpSpPr>
          <p:cNvPr id="5" name="Group 69"/>
          <p:cNvGrpSpPr>
            <a:grpSpLocks/>
          </p:cNvGrpSpPr>
          <p:nvPr/>
        </p:nvGrpSpPr>
        <p:grpSpPr bwMode="auto">
          <a:xfrm>
            <a:off x="6227763" y="939800"/>
            <a:ext cx="1847850" cy="2625725"/>
            <a:chOff x="3200" y="1725"/>
            <a:chExt cx="1164" cy="1654"/>
          </a:xfrm>
        </p:grpSpPr>
        <p:grpSp>
          <p:nvGrpSpPr>
            <p:cNvPr id="27682" name="Group 70"/>
            <p:cNvGrpSpPr>
              <a:grpSpLocks/>
            </p:cNvGrpSpPr>
            <p:nvPr/>
          </p:nvGrpSpPr>
          <p:grpSpPr bwMode="auto">
            <a:xfrm>
              <a:off x="3200" y="1725"/>
              <a:ext cx="1164" cy="1654"/>
              <a:chOff x="3200" y="1725"/>
              <a:chExt cx="1164" cy="1654"/>
            </a:xfrm>
          </p:grpSpPr>
          <p:sp>
            <p:nvSpPr>
              <p:cNvPr id="27683" name="Line 71"/>
              <p:cNvSpPr>
                <a:spLocks noChangeShapeType="1"/>
              </p:cNvSpPr>
              <p:nvPr/>
            </p:nvSpPr>
            <p:spPr bwMode="auto">
              <a:xfrm flipV="1">
                <a:off x="3442" y="1774"/>
                <a:ext cx="805" cy="1332"/>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4" name="Line 72"/>
              <p:cNvSpPr>
                <a:spLocks noChangeShapeType="1"/>
              </p:cNvSpPr>
              <p:nvPr/>
            </p:nvSpPr>
            <p:spPr bwMode="auto">
              <a:xfrm flipV="1">
                <a:off x="3452" y="2751"/>
                <a:ext cx="875" cy="344"/>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5" name="Oval 73"/>
              <p:cNvSpPr>
                <a:spLocks noChangeArrowheads="1"/>
              </p:cNvSpPr>
              <p:nvPr/>
            </p:nvSpPr>
            <p:spPr bwMode="auto">
              <a:xfrm>
                <a:off x="4226" y="172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686" name="Oval 74"/>
              <p:cNvSpPr>
                <a:spLocks noChangeArrowheads="1"/>
              </p:cNvSpPr>
              <p:nvPr/>
            </p:nvSpPr>
            <p:spPr bwMode="auto">
              <a:xfrm>
                <a:off x="4298" y="271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7656" name="Object 8"/>
                  <p:cNvSpPr txBox="1"/>
                  <p:nvPr/>
                </p:nvSpPr>
                <p:spPr bwMode="auto">
                  <a:xfrm>
                    <a:off x="3962" y="2819"/>
                    <a:ext cx="189" cy="44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𝑗</m:t>
                              </m:r>
                            </m:sub>
                          </m:sSub>
                        </m:oMath>
                      </m:oMathPara>
                    </a14:m>
                    <a:endParaRPr lang="zh-CN" altLang="en-US"/>
                  </a:p>
                </p:txBody>
              </p:sp>
            </mc:Choice>
            <mc:Fallback xmlns="">
              <p:sp>
                <p:nvSpPr>
                  <p:cNvPr id="27656" name="Object 8"/>
                  <p:cNvSpPr txBox="1">
                    <a:spLocks noRot="1" noChangeAspect="1" noMove="1" noResize="1" noEditPoints="1" noAdjustHandles="1" noChangeArrowheads="1" noChangeShapeType="1" noTextEdit="1"/>
                  </p:cNvSpPr>
                  <p:nvPr/>
                </p:nvSpPr>
                <p:spPr bwMode="auto">
                  <a:xfrm>
                    <a:off x="3962" y="2819"/>
                    <a:ext cx="189" cy="447"/>
                  </a:xfrm>
                  <a:prstGeom prst="rect">
                    <a:avLst/>
                  </a:prstGeom>
                  <a:blipFill>
                    <a:blip r:embed="rId7"/>
                    <a:stretch>
                      <a:fillRect l="-6122" t="-12069" r="-32653"/>
                    </a:stretch>
                  </a:blipFill>
                  <a:ln>
                    <a:noFill/>
                  </a:ln>
                  <a:effectLst/>
                  <a:extLst/>
                </p:spPr>
                <p:txBody>
                  <a:bodyPr/>
                  <a:lstStyle/>
                  <a:p>
                    <a:r>
                      <a:rPr lang="zh-CN" altLang="en-US">
                        <a:noFill/>
                      </a:rPr>
                      <a:t> </a:t>
                    </a:r>
                  </a:p>
                </p:txBody>
              </p:sp>
            </mc:Fallback>
          </mc:AlternateContent>
          <p:grpSp>
            <p:nvGrpSpPr>
              <p:cNvPr id="27687" name="Group 76"/>
              <p:cNvGrpSpPr>
                <a:grpSpLocks/>
              </p:cNvGrpSpPr>
              <p:nvPr/>
            </p:nvGrpSpPr>
            <p:grpSpPr bwMode="auto">
              <a:xfrm>
                <a:off x="3200" y="3079"/>
                <a:ext cx="1096" cy="300"/>
                <a:chOff x="2800" y="3568"/>
                <a:chExt cx="1096" cy="300"/>
              </a:xfrm>
            </p:grpSpPr>
            <mc:AlternateContent xmlns:mc="http://schemas.openxmlformats.org/markup-compatibility/2006" xmlns:a14="http://schemas.microsoft.com/office/drawing/2010/main">
              <mc:Choice Requires="a14">
                <p:sp>
                  <p:nvSpPr>
                    <p:cNvPr id="27657" name="Object 9"/>
                    <p:cNvSpPr txBox="1"/>
                    <p:nvPr/>
                  </p:nvSpPr>
                  <p:spPr bwMode="auto">
                    <a:xfrm>
                      <a:off x="2800" y="3588"/>
                      <a:ext cx="251" cy="28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𝑜</m:t>
                            </m:r>
                          </m:oMath>
                        </m:oMathPara>
                      </a14:m>
                      <a:endParaRPr lang="zh-CN" altLang="en-US"/>
                    </a:p>
                  </p:txBody>
                </p:sp>
              </mc:Choice>
              <mc:Fallback xmlns="">
                <p:sp>
                  <p:nvSpPr>
                    <p:cNvPr id="27657" name="Object 9"/>
                    <p:cNvSpPr txBox="1">
                      <a:spLocks noRot="1" noChangeAspect="1" noMove="1" noResize="1" noEditPoints="1" noAdjustHandles="1" noChangeArrowheads="1" noChangeShapeType="1" noTextEdit="1"/>
                    </p:cNvSpPr>
                    <p:nvPr/>
                  </p:nvSpPr>
                  <p:spPr bwMode="auto">
                    <a:xfrm>
                      <a:off x="2800" y="3588"/>
                      <a:ext cx="251" cy="280"/>
                    </a:xfrm>
                    <a:prstGeom prst="rect">
                      <a:avLst/>
                    </a:prstGeom>
                    <a:blipFill>
                      <a:blip r:embed="rId8"/>
                      <a:stretch>
                        <a:fillRect/>
                      </a:stretch>
                    </a:blipFill>
                    <a:ln>
                      <a:noFill/>
                    </a:ln>
                    <a:effectLst/>
                    <a:extLst/>
                  </p:spPr>
                  <p:txBody>
                    <a:bodyPr/>
                    <a:lstStyle/>
                    <a:p>
                      <a:r>
                        <a:rPr lang="zh-CN" altLang="en-US">
                          <a:noFill/>
                        </a:rPr>
                        <a:t> </a:t>
                      </a:r>
                    </a:p>
                  </p:txBody>
                </p:sp>
              </mc:Fallback>
            </mc:AlternateContent>
            <p:sp>
              <p:nvSpPr>
                <p:cNvPr id="27688" name="Text Box 78"/>
                <p:cNvSpPr txBox="1">
                  <a:spLocks noChangeArrowheads="1"/>
                </p:cNvSpPr>
                <p:nvPr/>
              </p:nvSpPr>
              <p:spPr bwMode="auto">
                <a:xfrm>
                  <a:off x="2952" y="3568"/>
                  <a:ext cx="9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a:t>惯性系</a:t>
                  </a:r>
                </a:p>
              </p:txBody>
            </p:sp>
          </p:grpSp>
        </p:grpSp>
        <mc:AlternateContent xmlns:mc="http://schemas.openxmlformats.org/markup-compatibility/2006" xmlns:a14="http://schemas.microsoft.com/office/drawing/2010/main">
          <mc:Choice Requires="a14">
            <p:sp>
              <p:nvSpPr>
                <p:cNvPr id="27655" name="Object 7"/>
                <p:cNvSpPr txBox="1"/>
                <p:nvPr/>
              </p:nvSpPr>
              <p:spPr bwMode="auto">
                <a:xfrm>
                  <a:off x="3756" y="1951"/>
                  <a:ext cx="184" cy="40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27655" name="Object 7"/>
                <p:cNvSpPr txBox="1">
                  <a:spLocks noRot="1" noChangeAspect="1" noMove="1" noResize="1" noEditPoints="1" noAdjustHandles="1" noChangeArrowheads="1" noChangeShapeType="1" noTextEdit="1"/>
                </p:cNvSpPr>
                <p:nvPr/>
              </p:nvSpPr>
              <p:spPr bwMode="auto">
                <a:xfrm>
                  <a:off x="3756" y="1951"/>
                  <a:ext cx="184" cy="408"/>
                </a:xfrm>
                <a:prstGeom prst="rect">
                  <a:avLst/>
                </a:prstGeom>
                <a:blipFill>
                  <a:blip r:embed="rId9"/>
                  <a:stretch>
                    <a:fillRect l="-6250" t="-13208" r="-33333"/>
                  </a:stretch>
                </a:blipFill>
                <a:ln>
                  <a:noFill/>
                </a:ln>
                <a:effectLst/>
                <a:extLst/>
              </p:spPr>
              <p:txBody>
                <a:bodyPr/>
                <a:lstStyle/>
                <a:p>
                  <a:r>
                    <a:rPr lang="zh-CN" altLang="en-US">
                      <a:noFill/>
                    </a:rPr>
                    <a:t> </a:t>
                  </a:r>
                </a:p>
              </p:txBody>
            </p:sp>
          </mc:Fallback>
        </mc:AlternateContent>
      </p:grpSp>
      <p:grpSp>
        <p:nvGrpSpPr>
          <p:cNvPr id="8" name="Group 80"/>
          <p:cNvGrpSpPr>
            <a:grpSpLocks/>
          </p:cNvGrpSpPr>
          <p:nvPr/>
        </p:nvGrpSpPr>
        <p:grpSpPr bwMode="auto">
          <a:xfrm>
            <a:off x="7910513" y="1012825"/>
            <a:ext cx="573087" cy="1568450"/>
            <a:chOff x="4260" y="1771"/>
            <a:chExt cx="361" cy="988"/>
          </a:xfrm>
        </p:grpSpPr>
        <p:sp>
          <p:nvSpPr>
            <p:cNvPr id="27679" name="Line 81"/>
            <p:cNvSpPr>
              <a:spLocks noChangeShapeType="1"/>
            </p:cNvSpPr>
            <p:nvPr/>
          </p:nvSpPr>
          <p:spPr bwMode="auto">
            <a:xfrm>
              <a:off x="4260" y="1771"/>
              <a:ext cx="72" cy="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0" name="Line 82"/>
            <p:cNvSpPr>
              <a:spLocks noChangeShapeType="1"/>
            </p:cNvSpPr>
            <p:nvPr/>
          </p:nvSpPr>
          <p:spPr bwMode="auto">
            <a:xfrm>
              <a:off x="4260" y="1775"/>
              <a:ext cx="36" cy="475"/>
            </a:xfrm>
            <a:prstGeom prst="line">
              <a:avLst/>
            </a:prstGeom>
            <a:noFill/>
            <a:ln w="38100">
              <a:solidFill>
                <a:srgbClr val="0000CC"/>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1" name="Line 83"/>
            <p:cNvSpPr>
              <a:spLocks noChangeShapeType="1"/>
            </p:cNvSpPr>
            <p:nvPr/>
          </p:nvSpPr>
          <p:spPr bwMode="auto">
            <a:xfrm>
              <a:off x="4293" y="2270"/>
              <a:ext cx="37" cy="469"/>
            </a:xfrm>
            <a:prstGeom prst="line">
              <a:avLst/>
            </a:prstGeom>
            <a:noFill/>
            <a:ln w="38100">
              <a:solidFill>
                <a:srgbClr val="0000CC"/>
              </a:solidFill>
              <a:round/>
              <a:headEnd type="triangle" w="med"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7653" name="Object 5"/>
                <p:cNvSpPr txBox="1"/>
                <p:nvPr/>
              </p:nvSpPr>
              <p:spPr bwMode="auto">
                <a:xfrm>
                  <a:off x="4296" y="1779"/>
                  <a:ext cx="276" cy="36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𝑖𝑗</m:t>
                            </m:r>
                          </m:sub>
                        </m:sSub>
                      </m:oMath>
                    </m:oMathPara>
                  </a14:m>
                  <a:endParaRPr lang="zh-CN" altLang="en-US"/>
                </a:p>
              </p:txBody>
            </p:sp>
          </mc:Choice>
          <mc:Fallback xmlns="">
            <p:sp>
              <p:nvSpPr>
                <p:cNvPr id="27653" name="Object 5"/>
                <p:cNvSpPr txBox="1">
                  <a:spLocks noRot="1" noChangeAspect="1" noMove="1" noResize="1" noEditPoints="1" noAdjustHandles="1" noChangeArrowheads="1" noChangeShapeType="1" noTextEdit="1"/>
                </p:cNvSpPr>
                <p:nvPr/>
              </p:nvSpPr>
              <p:spPr bwMode="auto">
                <a:xfrm>
                  <a:off x="4296" y="1779"/>
                  <a:ext cx="276" cy="360"/>
                </a:xfrm>
                <a:prstGeom prst="rect">
                  <a:avLst/>
                </a:prstGeom>
                <a:blipFill>
                  <a:blip r:embed="rId10"/>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54" name="Object 6"/>
                <p:cNvSpPr txBox="1"/>
                <p:nvPr/>
              </p:nvSpPr>
              <p:spPr bwMode="auto">
                <a:xfrm>
                  <a:off x="4320" y="2267"/>
                  <a:ext cx="301" cy="356"/>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𝑗𝑖</m:t>
                            </m:r>
                          </m:sub>
                        </m:sSub>
                      </m:oMath>
                    </m:oMathPara>
                  </a14:m>
                  <a:endParaRPr lang="zh-CN" altLang="en-US"/>
                </a:p>
              </p:txBody>
            </p:sp>
          </mc:Choice>
          <mc:Fallback xmlns="">
            <p:sp>
              <p:nvSpPr>
                <p:cNvPr id="27654" name="Object 6"/>
                <p:cNvSpPr txBox="1">
                  <a:spLocks noRot="1" noChangeAspect="1" noMove="1" noResize="1" noEditPoints="1" noAdjustHandles="1" noChangeArrowheads="1" noChangeShapeType="1" noTextEdit="1"/>
                </p:cNvSpPr>
                <p:nvPr/>
              </p:nvSpPr>
              <p:spPr bwMode="auto">
                <a:xfrm>
                  <a:off x="4320" y="2267"/>
                  <a:ext cx="301" cy="356"/>
                </a:xfrm>
                <a:prstGeom prst="rect">
                  <a:avLst/>
                </a:prstGeom>
                <a:blipFill>
                  <a:blip r:embed="rId11"/>
                  <a:stretch>
                    <a:fillRect/>
                  </a:stretch>
                </a:blipFill>
                <a:ln>
                  <a:noFill/>
                </a:ln>
                <a:effectLst/>
                <a:extLst/>
              </p:spPr>
              <p:txBody>
                <a:bodyPr/>
                <a:lstStyle/>
                <a:p>
                  <a:r>
                    <a:rPr lang="zh-CN" altLang="en-US">
                      <a:noFill/>
                    </a:rPr>
                    <a:t> </a:t>
                  </a:r>
                </a:p>
              </p:txBody>
            </p:sp>
          </mc:Fallback>
        </mc:AlternateContent>
      </p:grpSp>
      <p:grpSp>
        <p:nvGrpSpPr>
          <p:cNvPr id="9" name="Group 86"/>
          <p:cNvGrpSpPr>
            <a:grpSpLocks/>
          </p:cNvGrpSpPr>
          <p:nvPr/>
        </p:nvGrpSpPr>
        <p:grpSpPr bwMode="auto">
          <a:xfrm>
            <a:off x="6091238" y="188913"/>
            <a:ext cx="2944813" cy="3544887"/>
            <a:chOff x="3114" y="1252"/>
            <a:chExt cx="1855" cy="2233"/>
          </a:xfrm>
        </p:grpSpPr>
        <p:sp>
          <p:nvSpPr>
            <p:cNvPr id="27677" name="Line 87"/>
            <p:cNvSpPr>
              <a:spLocks noChangeShapeType="1"/>
            </p:cNvSpPr>
            <p:nvPr/>
          </p:nvSpPr>
          <p:spPr bwMode="auto">
            <a:xfrm>
              <a:off x="4347" y="2773"/>
              <a:ext cx="385" cy="585"/>
            </a:xfrm>
            <a:prstGeom prst="line">
              <a:avLst/>
            </a:prstGeom>
            <a:noFill/>
            <a:ln w="38100">
              <a:solidFill>
                <a:srgbClr val="9933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78" name="Line 88"/>
            <p:cNvSpPr>
              <a:spLocks noChangeShapeType="1"/>
            </p:cNvSpPr>
            <p:nvPr/>
          </p:nvSpPr>
          <p:spPr bwMode="auto">
            <a:xfrm flipH="1" flipV="1">
              <a:off x="3303" y="1288"/>
              <a:ext cx="939" cy="451"/>
            </a:xfrm>
            <a:prstGeom prst="line">
              <a:avLst/>
            </a:prstGeom>
            <a:noFill/>
            <a:ln w="38100">
              <a:solidFill>
                <a:srgbClr val="9933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7651" name="Object 3"/>
                <p:cNvSpPr txBox="1"/>
                <p:nvPr/>
              </p:nvSpPr>
              <p:spPr bwMode="auto">
                <a:xfrm>
                  <a:off x="4711" y="3141"/>
                  <a:ext cx="258" cy="344"/>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𝑗</m:t>
                            </m:r>
                          </m:sub>
                        </m:sSub>
                      </m:oMath>
                    </m:oMathPara>
                  </a14:m>
                  <a:endParaRPr lang="zh-CN" altLang="en-US"/>
                </a:p>
              </p:txBody>
            </p:sp>
          </mc:Choice>
          <mc:Fallback xmlns="">
            <p:sp>
              <p:nvSpPr>
                <p:cNvPr id="27651" name="Object 3"/>
                <p:cNvSpPr txBox="1">
                  <a:spLocks noRot="1" noChangeAspect="1" noMove="1" noResize="1" noEditPoints="1" noAdjustHandles="1" noChangeArrowheads="1" noChangeShapeType="1" noTextEdit="1"/>
                </p:cNvSpPr>
                <p:nvPr/>
              </p:nvSpPr>
              <p:spPr bwMode="auto">
                <a:xfrm>
                  <a:off x="4711" y="3141"/>
                  <a:ext cx="258" cy="344"/>
                </a:xfrm>
                <a:prstGeom prst="rect">
                  <a:avLst/>
                </a:prstGeom>
                <a:blipFill>
                  <a:blip r:embed="rId1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52" name="Object 4"/>
                <p:cNvSpPr txBox="1"/>
                <p:nvPr/>
              </p:nvSpPr>
              <p:spPr bwMode="auto">
                <a:xfrm>
                  <a:off x="3114" y="1252"/>
                  <a:ext cx="223" cy="344"/>
                </a:xfrm>
                <a:prstGeom prst="rect">
                  <a:avLst/>
                </a:prstGeom>
                <a:noFill/>
                <a:ln>
                  <a:noFill/>
                </a:ln>
                <a:effectLst/>
                <a:extLst/>
              </p:spPr>
              <p:txBody>
                <a:bodyPr>
                  <a:normAutofit fontScale="4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F</m:t>
                                    </m:r>
                                  </m:fName>
                                  <m:e/>
                                </m:func>
                              </m:e>
                            </m:acc>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27652" name="Object 4"/>
                <p:cNvSpPr txBox="1">
                  <a:spLocks noRot="1" noChangeAspect="1" noMove="1" noResize="1" noEditPoints="1" noAdjustHandles="1" noChangeArrowheads="1" noChangeShapeType="1" noTextEdit="1"/>
                </p:cNvSpPr>
                <p:nvPr/>
              </p:nvSpPr>
              <p:spPr bwMode="auto">
                <a:xfrm>
                  <a:off x="3114" y="1252"/>
                  <a:ext cx="223" cy="344"/>
                </a:xfrm>
                <a:prstGeom prst="rect">
                  <a:avLst/>
                </a:prstGeom>
                <a:blipFill>
                  <a:blip r:embed="rId13"/>
                  <a:stretch>
                    <a:fillRect r="-12069"/>
                  </a:stretch>
                </a:blipFill>
                <a:ln>
                  <a:noFill/>
                </a:ln>
                <a:effectLst/>
                <a:extLst/>
              </p:spPr>
              <p:txBody>
                <a:bodyPr/>
                <a:lstStyle/>
                <a:p>
                  <a:r>
                    <a:rPr lang="zh-CN" altLang="en-US">
                      <a:noFill/>
                    </a:rPr>
                    <a:t> </a:t>
                  </a:r>
                </a:p>
              </p:txBody>
            </p:sp>
          </mc:Fallback>
        </mc:AlternateContent>
      </p:grpSp>
      <p:sp>
        <p:nvSpPr>
          <p:cNvPr id="50" name="Text Box 5"/>
          <p:cNvSpPr txBox="1">
            <a:spLocks noChangeArrowheads="1"/>
          </p:cNvSpPr>
          <p:nvPr/>
        </p:nvSpPr>
        <p:spPr bwMode="auto">
          <a:xfrm>
            <a:off x="422275" y="2909888"/>
            <a:ext cx="5518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a:t>质点系内各个质点间的相互作用。</a:t>
            </a:r>
          </a:p>
        </p:txBody>
      </p:sp>
      <p:sp>
        <p:nvSpPr>
          <p:cNvPr id="51" name="Rectangle 6"/>
          <p:cNvSpPr>
            <a:spLocks noChangeArrowheads="1"/>
          </p:cNvSpPr>
          <p:nvPr/>
        </p:nvSpPr>
        <p:spPr bwMode="auto">
          <a:xfrm>
            <a:off x="468313" y="2349500"/>
            <a:ext cx="48244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sz="2800" b="1">
                <a:solidFill>
                  <a:srgbClr val="0000FF"/>
                </a:solidFill>
              </a:rPr>
              <a:t>1</a:t>
            </a:r>
            <a:r>
              <a:rPr lang="zh-CN" altLang="en-US" sz="2800" b="1">
                <a:solidFill>
                  <a:srgbClr val="0000FF"/>
                </a:solidFill>
              </a:rPr>
              <a:t>、内力（</a:t>
            </a:r>
            <a:r>
              <a:rPr lang="en-US" altLang="zh-CN" sz="2800" b="1">
                <a:solidFill>
                  <a:srgbClr val="0000FF"/>
                </a:solidFill>
              </a:rPr>
              <a:t>internal force</a:t>
            </a:r>
            <a:r>
              <a:rPr lang="zh-CN" altLang="en-US" sz="2800" b="1">
                <a:solidFill>
                  <a:srgbClr val="0000FF"/>
                </a:solidFill>
              </a:rPr>
              <a:t>）</a:t>
            </a:r>
          </a:p>
        </p:txBody>
      </p:sp>
      <p:sp>
        <p:nvSpPr>
          <p:cNvPr id="52" name="Rectangle 7"/>
          <p:cNvSpPr>
            <a:spLocks noChangeArrowheads="1"/>
          </p:cNvSpPr>
          <p:nvPr/>
        </p:nvSpPr>
        <p:spPr bwMode="auto">
          <a:xfrm>
            <a:off x="323850" y="4292600"/>
            <a:ext cx="4281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en-US" altLang="zh-CN" sz="2800" b="1">
                <a:solidFill>
                  <a:srgbClr val="0000FF"/>
                </a:solidFill>
              </a:rPr>
              <a:t>2</a:t>
            </a:r>
            <a:r>
              <a:rPr lang="zh-CN" altLang="en-US" sz="2800" b="1">
                <a:solidFill>
                  <a:srgbClr val="0000FF"/>
                </a:solidFill>
              </a:rPr>
              <a:t>、外力（</a:t>
            </a:r>
            <a:r>
              <a:rPr lang="en-US" altLang="zh-CN" sz="2800" b="1">
                <a:solidFill>
                  <a:srgbClr val="0000FF"/>
                </a:solidFill>
              </a:rPr>
              <a:t>external force</a:t>
            </a:r>
            <a:r>
              <a:rPr lang="zh-CN" altLang="en-US" sz="2800" b="1">
                <a:solidFill>
                  <a:srgbClr val="0000FF"/>
                </a:solidFill>
              </a:rPr>
              <a:t>）</a:t>
            </a:r>
          </a:p>
        </p:txBody>
      </p:sp>
      <p:sp>
        <p:nvSpPr>
          <p:cNvPr id="53" name="Rectangle 8"/>
          <p:cNvSpPr>
            <a:spLocks noChangeArrowheads="1"/>
          </p:cNvSpPr>
          <p:nvPr/>
        </p:nvSpPr>
        <p:spPr bwMode="auto">
          <a:xfrm>
            <a:off x="4572000" y="4292600"/>
            <a:ext cx="410368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a:t>质点系外物体对系统内质点所施加的力。</a:t>
            </a:r>
          </a:p>
        </p:txBody>
      </p:sp>
      <p:sp>
        <p:nvSpPr>
          <p:cNvPr id="57" name="Text Box 4"/>
          <p:cNvSpPr txBox="1">
            <a:spLocks noChangeArrowheads="1"/>
          </p:cNvSpPr>
          <p:nvPr/>
        </p:nvSpPr>
        <p:spPr bwMode="auto">
          <a:xfrm>
            <a:off x="468313" y="5776913"/>
            <a:ext cx="7993062"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sz="2600" b="1">
                <a:solidFill>
                  <a:srgbClr val="FF0000"/>
                </a:solidFill>
              </a:rPr>
              <a:t>系统内，内力是成对出现的。内力的总和为零，因此对整体的运动不发生影响。</a:t>
            </a:r>
          </a:p>
        </p:txBody>
      </p:sp>
    </p:spTree>
    <p:extLst>
      <p:ext uri="{BB962C8B-B14F-4D97-AF65-F5344CB8AC3E}">
        <p14:creationId xmlns:p14="http://schemas.microsoft.com/office/powerpoint/2010/main" val="1679329153"/>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372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72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ntr" presetSubtype="0" fill="hold" grpId="0" nodeType="afterEffect">
                                  <p:stCondLst>
                                    <p:cond delay="0"/>
                                  </p:stCondLst>
                                  <p:childTnLst>
                                    <p:set>
                                      <p:cBhvr>
                                        <p:cTn id="17" dur="1" fill="hold">
                                          <p:stCondLst>
                                            <p:cond delay="499"/>
                                          </p:stCondLst>
                                        </p:cTn>
                                        <p:tgtEl>
                                          <p:spTgt spid="13722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72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up)">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righ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left)">
                                      <p:cBhvr>
                                        <p:cTn id="41" dur="500"/>
                                        <p:tgtEl>
                                          <p:spTgt spid="5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left)">
                                      <p:cBhvr>
                                        <p:cTn id="46" dur="5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5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499"/>
                                          </p:stCondLst>
                                        </p:cTn>
                                        <p:tgtEl>
                                          <p:spTgt spid="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wipe(left)">
                                      <p:cBhvr>
                                        <p:cTn id="64" dur="500"/>
                                        <p:tgtEl>
                                          <p:spTgt spid="5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57"/>
                                        </p:tgtEl>
                                        <p:attrNameLst>
                                          <p:attrName>style.visibility</p:attrName>
                                        </p:attrNameLst>
                                      </p:cBhvr>
                                      <p:to>
                                        <p:strVal val="visible"/>
                                      </p:to>
                                    </p:set>
                                    <p:animEffect transition="in" filter="wipe(left)">
                                      <p:cBhvr>
                                        <p:cTn id="6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utoUpdateAnimBg="0"/>
      <p:bldP spid="137220" grpId="0" autoUpdateAnimBg="0"/>
      <p:bldP spid="137228" grpId="0" autoUpdateAnimBg="0"/>
      <p:bldP spid="137265" grpId="0"/>
      <p:bldP spid="50" grpId="0" autoUpdateAnimBg="0"/>
      <p:bldP spid="51" grpId="0" autoUpdateAnimBg="0"/>
      <p:bldP spid="52" grpId="0" autoUpdateAnimBg="0"/>
      <p:bldP spid="53" grpId="0" autoUpdateAnimBg="0"/>
      <p:bldP spid="5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74613"/>
            <a:ext cx="3429000" cy="2668587"/>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83972" name="Text Box 4"/>
          <p:cNvSpPr txBox="1">
            <a:spLocks noChangeArrowheads="1"/>
          </p:cNvSpPr>
          <p:nvPr/>
        </p:nvSpPr>
        <p:spPr bwMode="auto">
          <a:xfrm>
            <a:off x="285750" y="428625"/>
            <a:ext cx="4862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800" b="1">
                <a:solidFill>
                  <a:srgbClr val="3333FF"/>
                </a:solidFill>
              </a:rPr>
              <a:t>3</a:t>
            </a:r>
            <a:r>
              <a:rPr lang="zh-CN" altLang="en-US" sz="2800" b="1">
                <a:solidFill>
                  <a:srgbClr val="3333FF"/>
                </a:solidFill>
              </a:rPr>
              <a:t>、两个质点动量定理</a:t>
            </a:r>
            <a:endParaRPr lang="zh-CN" altLang="en-US">
              <a:ea typeface="宋体" pitchFamily="2" charset="-122"/>
            </a:endParaRPr>
          </a:p>
        </p:txBody>
      </p:sp>
      <mc:AlternateContent xmlns:mc="http://schemas.openxmlformats.org/markup-compatibility/2006" xmlns:a14="http://schemas.microsoft.com/office/drawing/2010/main">
        <mc:Choice Requires="a14">
          <p:sp>
            <p:nvSpPr>
              <p:cNvPr id="85001" name="Object 9"/>
              <p:cNvSpPr txBox="1"/>
              <p:nvPr/>
            </p:nvSpPr>
            <p:spPr bwMode="auto">
              <a:xfrm>
                <a:off x="381000" y="1285875"/>
                <a:ext cx="4038600" cy="2290763"/>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12</m:t>
                                  </m:r>
                                </m:sub>
                              </m:sSub>
                            </m:e>
                          </m:d>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10</m:t>
                          </m:r>
                        </m:sub>
                      </m:sSub>
                    </m:oMath>
                    <m:oMath xmlns:m="http://schemas.openxmlformats.org/officeDocument/2006/math">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21</m:t>
                                  </m:r>
                                </m:sub>
                              </m:sSub>
                            </m:e>
                          </m:d>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20</m:t>
                          </m:r>
                        </m:sub>
                      </m:sSub>
                    </m:oMath>
                  </m:oMathPara>
                </a14:m>
                <a:endParaRPr lang="zh-CN" altLang="en-US" dirty="0"/>
              </a:p>
            </p:txBody>
          </p:sp>
        </mc:Choice>
        <mc:Fallback xmlns="">
          <p:sp>
            <p:nvSpPr>
              <p:cNvPr id="85001" name="Object 9"/>
              <p:cNvSpPr txBox="1">
                <a:spLocks noRot="1" noChangeAspect="1" noMove="1" noResize="1" noEditPoints="1" noAdjustHandles="1" noChangeArrowheads="1" noChangeShapeType="1" noTextEdit="1"/>
              </p:cNvSpPr>
              <p:nvPr/>
            </p:nvSpPr>
            <p:spPr bwMode="auto">
              <a:xfrm>
                <a:off x="381000" y="1285875"/>
                <a:ext cx="4038600" cy="2290763"/>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002" name="Object 10"/>
              <p:cNvSpPr txBox="1"/>
              <p:nvPr/>
            </p:nvSpPr>
            <p:spPr bwMode="auto">
              <a:xfrm>
                <a:off x="4953000" y="2819400"/>
                <a:ext cx="4191000" cy="1473200"/>
              </a:xfrm>
              <a:prstGeom prst="rect">
                <a:avLst/>
              </a:prstGeom>
              <a:noFill/>
              <a:ln>
                <a:noFill/>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12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21</m:t>
                                  </m:r>
                                </m:sub>
                              </m:sSub>
                            </m:e>
                          </m:d>
                          <m:r>
                            <a:rPr lang="zh-CN" altLang="en-US" i="1">
                              <a:solidFill>
                                <a:srgbClr val="000000"/>
                              </a:solidFill>
                              <a:latin typeface="Cambria Math" panose="02040503050406030204" pitchFamily="18" charset="0"/>
                            </a:rPr>
                            <m:t>𝑑𝑡</m:t>
                          </m:r>
                        </m:e>
                      </m:nary>
                    </m:oMath>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85002" name="Object 10"/>
              <p:cNvSpPr txBox="1">
                <a:spLocks noRot="1" noChangeAspect="1" noMove="1" noResize="1" noEditPoints="1" noAdjustHandles="1" noChangeArrowheads="1" noChangeShapeType="1" noTextEdit="1"/>
              </p:cNvSpPr>
              <p:nvPr/>
            </p:nvSpPr>
            <p:spPr bwMode="auto">
              <a:xfrm>
                <a:off x="4953000" y="2819400"/>
                <a:ext cx="4191000" cy="1473200"/>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003" name="Object 11"/>
              <p:cNvSpPr txBox="1"/>
              <p:nvPr/>
            </p:nvSpPr>
            <p:spPr bwMode="auto">
              <a:xfrm>
                <a:off x="1802606" y="3271838"/>
                <a:ext cx="1828800" cy="6096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12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21</m:t>
                          </m:r>
                        </m:sub>
                      </m:sSub>
                    </m:oMath>
                  </m:oMathPara>
                </a14:m>
                <a:endParaRPr lang="zh-CN" altLang="en-US" dirty="0"/>
              </a:p>
            </p:txBody>
          </p:sp>
        </mc:Choice>
        <mc:Fallback xmlns="">
          <p:sp>
            <p:nvSpPr>
              <p:cNvPr id="85003" name="Object 11"/>
              <p:cNvSpPr txBox="1">
                <a:spLocks noRot="1" noChangeAspect="1" noMove="1" noResize="1" noEditPoints="1" noAdjustHandles="1" noChangeArrowheads="1" noChangeShapeType="1" noTextEdit="1"/>
              </p:cNvSpPr>
              <p:nvPr/>
            </p:nvSpPr>
            <p:spPr bwMode="auto">
              <a:xfrm>
                <a:off x="1802606" y="3271838"/>
                <a:ext cx="1828800" cy="609600"/>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004" name="Object 12"/>
              <p:cNvSpPr txBox="1"/>
              <p:nvPr/>
            </p:nvSpPr>
            <p:spPr bwMode="auto">
              <a:xfrm>
                <a:off x="942975" y="4357688"/>
                <a:ext cx="6646863" cy="1146175"/>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85004" name="Object 12"/>
              <p:cNvSpPr txBox="1">
                <a:spLocks noRot="1" noChangeAspect="1" noMove="1" noResize="1" noEditPoints="1" noAdjustHandles="1" noChangeArrowheads="1" noChangeShapeType="1" noTextEdit="1"/>
              </p:cNvSpPr>
              <p:nvPr/>
            </p:nvSpPr>
            <p:spPr bwMode="auto">
              <a:xfrm>
                <a:off x="942975" y="4357688"/>
                <a:ext cx="6646863" cy="1146175"/>
              </a:xfrm>
              <a:prstGeom prst="rect">
                <a:avLst/>
              </a:prstGeom>
              <a:blipFill>
                <a:blip r:embed="rId6"/>
                <a:stretch>
                  <a:fillRect/>
                </a:stretch>
              </a:blipFill>
              <a:ln>
                <a:noFill/>
              </a:ln>
              <a:effectLst/>
              <a:extLst/>
            </p:spPr>
            <p:txBody>
              <a:bodyPr/>
              <a:lstStyle/>
              <a:p>
                <a:r>
                  <a:rPr lang="zh-CN" altLang="en-US">
                    <a:noFill/>
                  </a:rPr>
                  <a:t> </a:t>
                </a:r>
              </a:p>
            </p:txBody>
          </p:sp>
        </mc:Fallback>
      </mc:AlternateContent>
      <p:sp>
        <p:nvSpPr>
          <p:cNvPr id="83977" name="Text Box 9"/>
          <p:cNvSpPr txBox="1">
            <a:spLocks noChangeArrowheads="1"/>
          </p:cNvSpPr>
          <p:nvPr/>
        </p:nvSpPr>
        <p:spPr bwMode="auto">
          <a:xfrm>
            <a:off x="533400" y="5715000"/>
            <a:ext cx="8016875" cy="822325"/>
          </a:xfrm>
          <a:prstGeom prst="rect">
            <a:avLst/>
          </a:prstGeom>
          <a:solidFill>
            <a:srgbClr val="FFFF66"/>
          </a:solidFill>
          <a:ln w="9525">
            <a:solidFill>
              <a:srgbClr val="FF00FF"/>
            </a:solidFill>
            <a:miter lim="800000"/>
            <a:headEnd/>
            <a:tailEnd/>
          </a:ln>
        </p:spPr>
        <p:txBody>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dirty="0">
                <a:ea typeface="宋体" pitchFamily="2" charset="-122"/>
              </a:rPr>
              <a:t>作用在两质点组成的系统的合外力的冲量等于系统内两质点动量之和的增量，即系统动量的增量。</a:t>
            </a:r>
          </a:p>
        </p:txBody>
      </p:sp>
    </p:spTree>
    <p:extLst>
      <p:ext uri="{BB962C8B-B14F-4D97-AF65-F5344CB8AC3E}">
        <p14:creationId xmlns:p14="http://schemas.microsoft.com/office/powerpoint/2010/main" val="2523887538"/>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3971"/>
                                        </p:tgtEl>
                                        <p:attrNameLst>
                                          <p:attrName>style.visibility</p:attrName>
                                        </p:attrNameLst>
                                      </p:cBhvr>
                                      <p:to>
                                        <p:strVal val="visible"/>
                                      </p:to>
                                    </p:set>
                                    <p:animEffect transition="in" filter="wipe(left)">
                                      <p:cBhvr>
                                        <p:cTn id="7" dur="500"/>
                                        <p:tgtEl>
                                          <p:spTgt spid="839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72"/>
                                        </p:tgtEl>
                                        <p:attrNameLst>
                                          <p:attrName>style.visibility</p:attrName>
                                        </p:attrNameLst>
                                      </p:cBhvr>
                                      <p:to>
                                        <p:strVal val="visible"/>
                                      </p:to>
                                    </p:set>
                                    <p:animEffect transition="in" filter="wipe(left)">
                                      <p:cBhvr>
                                        <p:cTn id="12" dur="500"/>
                                        <p:tgtEl>
                                          <p:spTgt spid="8397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500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500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500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500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3977"/>
                                        </p:tgtEl>
                                        <p:attrNameLst>
                                          <p:attrName>style.visibility</p:attrName>
                                        </p:attrNameLst>
                                      </p:cBhvr>
                                      <p:to>
                                        <p:strVal val="visible"/>
                                      </p:to>
                                    </p:set>
                                    <p:animEffect transition="in" filter="wipe(left)">
                                      <p:cBhvr>
                                        <p:cTn id="33" dur="500"/>
                                        <p:tgtEl>
                                          <p:spTgt spid="83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autoUpdateAnimBg="0"/>
      <p:bldP spid="85001" grpId="0"/>
      <p:bldP spid="85002" grpId="0"/>
      <p:bldP spid="85003" grpId="0"/>
      <p:bldP spid="85004" grpId="0" animBg="1"/>
      <p:bldP spid="83977"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228600" y="381000"/>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800" b="1">
                <a:solidFill>
                  <a:srgbClr val="3333FF"/>
                </a:solidFill>
              </a:rPr>
              <a:t>4</a:t>
            </a:r>
            <a:r>
              <a:rPr lang="zh-CN" altLang="en-US" sz="2800" b="1">
                <a:solidFill>
                  <a:srgbClr val="3333FF"/>
                </a:solidFill>
              </a:rPr>
              <a:t>、多个质点的情况</a:t>
            </a:r>
            <a:endParaRPr lang="zh-CN" altLang="en-US">
              <a:ea typeface="宋体" pitchFamily="2" charset="-122"/>
            </a:endParaRPr>
          </a:p>
        </p:txBody>
      </p:sp>
      <mc:AlternateContent xmlns:mc="http://schemas.openxmlformats.org/markup-compatibility/2006" xmlns:a14="http://schemas.microsoft.com/office/drawing/2010/main">
        <mc:Choice Requires="a14">
          <p:sp>
            <p:nvSpPr>
              <p:cNvPr id="122882" name="Object 2"/>
              <p:cNvSpPr txBox="1"/>
              <p:nvPr/>
            </p:nvSpPr>
            <p:spPr bwMode="auto">
              <a:xfrm>
                <a:off x="914400" y="1066800"/>
                <a:ext cx="7848600" cy="132080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d>
                            <m:dPr>
                              <m:ctrlPr>
                                <a:rPr lang="zh-CN" altLang="en-US" i="1">
                                  <a:solidFill>
                                    <a:srgbClr val="000000"/>
                                  </a:solidFill>
                                  <a:latin typeface="Cambria Math" panose="02040503050406030204" pitchFamily="18" charset="0"/>
                                </a:rPr>
                              </m:ctrlPr>
                            </m:dPr>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外</m:t>
                                      </m:r>
                                    </m:sub>
                                  </m:sSub>
                                </m:e>
                              </m:nary>
                            </m:e>
                          </m:d>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d>
                            <m:dPr>
                              <m:ctrlPr>
                                <a:rPr lang="zh-CN" altLang="en-US" i="1">
                                  <a:solidFill>
                                    <a:srgbClr val="000000"/>
                                  </a:solidFill>
                                  <a:latin typeface="Cambria Math" panose="02040503050406030204" pitchFamily="18" charset="0"/>
                                </a:rPr>
                              </m:ctrlPr>
                            </m:dPr>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内</m:t>
                                      </m:r>
                                    </m:sub>
                                  </m:sSub>
                                </m:e>
                              </m:nary>
                            </m:e>
                          </m:d>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sub>
                          </m:sSub>
                        </m:e>
                      </m:nary>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0</m:t>
                              </m:r>
                            </m:sub>
                          </m:sSub>
                        </m:e>
                      </m:nary>
                    </m:oMath>
                  </m:oMathPara>
                </a14:m>
                <a:endParaRPr lang="zh-CN" altLang="en-US" dirty="0"/>
              </a:p>
            </p:txBody>
          </p:sp>
        </mc:Choice>
        <mc:Fallback xmlns="">
          <p:sp>
            <p:nvSpPr>
              <p:cNvPr id="122882" name="Object 2"/>
              <p:cNvSpPr txBox="1">
                <a:spLocks noRot="1" noChangeAspect="1" noMove="1" noResize="1" noEditPoints="1" noAdjustHandles="1" noChangeArrowheads="1" noChangeShapeType="1" noTextEdit="1"/>
              </p:cNvSpPr>
              <p:nvPr/>
            </p:nvSpPr>
            <p:spPr bwMode="auto">
              <a:xfrm>
                <a:off x="914400" y="1066800"/>
                <a:ext cx="7848600" cy="1320800"/>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883" name="Object 3"/>
              <p:cNvSpPr txBox="1"/>
              <p:nvPr/>
            </p:nvSpPr>
            <p:spPr bwMode="auto">
              <a:xfrm>
                <a:off x="990600" y="2514600"/>
                <a:ext cx="1562100" cy="979488"/>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内</m:t>
                              </m:r>
                            </m:sub>
                          </m:sSub>
                          <m:r>
                            <a:rPr lang="zh-CN" altLang="en-US" i="1">
                              <a:solidFill>
                                <a:srgbClr val="000000"/>
                              </a:solidFill>
                              <a:latin typeface="Cambria Math" panose="02040503050406030204" pitchFamily="18" charset="0"/>
                            </a:rPr>
                            <m:t>=0</m:t>
                          </m:r>
                        </m:e>
                      </m:nary>
                    </m:oMath>
                  </m:oMathPara>
                </a14:m>
                <a:endParaRPr lang="zh-CN" altLang="en-US"/>
              </a:p>
            </p:txBody>
          </p:sp>
        </mc:Choice>
        <mc:Fallback xmlns="">
          <p:sp>
            <p:nvSpPr>
              <p:cNvPr id="122883" name="Object 3"/>
              <p:cNvSpPr txBox="1">
                <a:spLocks noRot="1" noChangeAspect="1" noMove="1" noResize="1" noEditPoints="1" noAdjustHandles="1" noChangeArrowheads="1" noChangeShapeType="1" noTextEdit="1"/>
              </p:cNvSpPr>
              <p:nvPr/>
            </p:nvSpPr>
            <p:spPr bwMode="auto">
              <a:xfrm>
                <a:off x="990600" y="2514600"/>
                <a:ext cx="1562100" cy="979488"/>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884" name="Object 4"/>
              <p:cNvSpPr txBox="1"/>
              <p:nvPr/>
            </p:nvSpPr>
            <p:spPr bwMode="auto">
              <a:xfrm>
                <a:off x="3276600" y="2438400"/>
                <a:ext cx="5105400" cy="141763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nary>
                        <m:naryPr>
                          <m:limLoc m:val="undOv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外力</m:t>
                              </m:r>
                            </m:sub>
                          </m:sSub>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sub>
                          </m:sSub>
                        </m:e>
                      </m:nary>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0</m:t>
                              </m:r>
                            </m:sub>
                          </m:sSub>
                        </m:e>
                      </m:nary>
                    </m:oMath>
                  </m:oMathPara>
                </a14:m>
                <a:endParaRPr lang="zh-CN" altLang="en-US"/>
              </a:p>
            </p:txBody>
          </p:sp>
        </mc:Choice>
        <mc:Fallback xmlns="">
          <p:sp>
            <p:nvSpPr>
              <p:cNvPr id="122884" name="Object 4"/>
              <p:cNvSpPr txBox="1">
                <a:spLocks noRot="1" noChangeAspect="1" noMove="1" noResize="1" noEditPoints="1" noAdjustHandles="1" noChangeArrowheads="1" noChangeShapeType="1" noTextEdit="1"/>
              </p:cNvSpPr>
              <p:nvPr/>
            </p:nvSpPr>
            <p:spPr bwMode="auto">
              <a:xfrm>
                <a:off x="3276600" y="2438400"/>
                <a:ext cx="5105400" cy="1417638"/>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885" name="Object 5"/>
              <p:cNvSpPr txBox="1"/>
              <p:nvPr/>
            </p:nvSpPr>
            <p:spPr bwMode="auto">
              <a:xfrm>
                <a:off x="1066800" y="3886200"/>
                <a:ext cx="1752600" cy="649288"/>
              </a:xfrm>
              <a:prstGeom prst="rect">
                <a:avLst/>
              </a:prstGeom>
              <a:gradFill rotWithShape="0">
                <a:gsLst>
                  <a:gs pos="0">
                    <a:schemeClr val="accent1"/>
                  </a:gs>
                  <a:gs pos="50000">
                    <a:srgbClr val="FFFFFF"/>
                  </a:gs>
                  <a:gs pos="100000">
                    <a:schemeClr val="accent1"/>
                  </a:gs>
                </a:gsLst>
                <a:lin ang="5400000" scaled="1"/>
              </a:gra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𝐼</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0</m:t>
                          </m:r>
                        </m:sub>
                      </m:sSub>
                    </m:oMath>
                  </m:oMathPara>
                </a14:m>
                <a:endParaRPr lang="zh-CN" altLang="en-US"/>
              </a:p>
            </p:txBody>
          </p:sp>
        </mc:Choice>
        <mc:Fallback xmlns="">
          <p:sp>
            <p:nvSpPr>
              <p:cNvPr id="122885" name="Object 5"/>
              <p:cNvSpPr txBox="1">
                <a:spLocks noRot="1" noChangeAspect="1" noMove="1" noResize="1" noEditPoints="1" noAdjustHandles="1" noChangeArrowheads="1" noChangeShapeType="1" noTextEdit="1"/>
              </p:cNvSpPr>
              <p:nvPr/>
            </p:nvSpPr>
            <p:spPr bwMode="auto">
              <a:xfrm>
                <a:off x="1066800" y="3886200"/>
                <a:ext cx="1752600" cy="649288"/>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84999" name="Text Box 7"/>
          <p:cNvSpPr txBox="1">
            <a:spLocks noChangeArrowheads="1"/>
          </p:cNvSpPr>
          <p:nvPr/>
        </p:nvSpPr>
        <p:spPr bwMode="auto">
          <a:xfrm>
            <a:off x="3635896" y="4470401"/>
            <a:ext cx="5257800" cy="1708160"/>
          </a:xfrm>
          <a:prstGeom prst="rect">
            <a:avLst/>
          </a:prstGeom>
          <a:solidFill>
            <a:srgbClr val="FFFF66"/>
          </a:solidFill>
          <a:ln w="9525">
            <a:solidFill>
              <a:srgbClr val="FF00FF"/>
            </a:solidFill>
            <a:miter lim="800000"/>
            <a:headEnd/>
            <a:tailEnd/>
          </a:ln>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3500" b="1">
                <a:ea typeface="宋体" pitchFamily="2" charset="-122"/>
              </a:rPr>
              <a:t>作用在系统的合外力的冲量等于系统动量的增量</a:t>
            </a:r>
            <a:r>
              <a:rPr lang="en-US" altLang="zh-CN" sz="3500" b="1">
                <a:ea typeface="宋体" pitchFamily="2" charset="-122"/>
              </a:rPr>
              <a:t>——</a:t>
            </a:r>
            <a:r>
              <a:rPr lang="zh-CN" altLang="en-US" sz="3500" b="1">
                <a:solidFill>
                  <a:srgbClr val="FF3300"/>
                </a:solidFill>
                <a:ea typeface="宋体" pitchFamily="2" charset="-122"/>
              </a:rPr>
              <a:t>质点系的动量定理</a:t>
            </a:r>
            <a:endParaRPr lang="zh-CN" altLang="en-US" sz="3500" b="1">
              <a:ea typeface="宋体" pitchFamily="2" charset="-122"/>
            </a:endParaRPr>
          </a:p>
        </p:txBody>
      </p:sp>
      <mc:AlternateContent xmlns:mc="http://schemas.openxmlformats.org/markup-compatibility/2006" xmlns:a14="http://schemas.microsoft.com/office/drawing/2010/main">
        <mc:Choice Requires="a14">
          <p:sp>
            <p:nvSpPr>
              <p:cNvPr id="122886" name="Object 6"/>
              <p:cNvSpPr txBox="1"/>
              <p:nvPr/>
            </p:nvSpPr>
            <p:spPr bwMode="auto">
              <a:xfrm>
                <a:off x="914400" y="4724400"/>
                <a:ext cx="2289448" cy="196373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0</m:t>
                          </m:r>
                        </m:sub>
                      </m:sSub>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0</m:t>
                          </m:r>
                        </m:sub>
                      </m:sSub>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𝑧</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𝑧</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0</m:t>
                          </m:r>
                        </m:sub>
                      </m:sSub>
                    </m:oMath>
                  </m:oMathPara>
                </a14:m>
                <a:endParaRPr lang="zh-CN" altLang="en-US" dirty="0"/>
              </a:p>
            </p:txBody>
          </p:sp>
        </mc:Choice>
        <mc:Fallback xmlns="">
          <p:sp>
            <p:nvSpPr>
              <p:cNvPr id="122886" name="Object 6"/>
              <p:cNvSpPr txBox="1">
                <a:spLocks noRot="1" noChangeAspect="1" noMove="1" noResize="1" noEditPoints="1" noAdjustHandles="1" noChangeArrowheads="1" noChangeShapeType="1" noTextEdit="1"/>
              </p:cNvSpPr>
              <p:nvPr/>
            </p:nvSpPr>
            <p:spPr bwMode="auto">
              <a:xfrm>
                <a:off x="914400" y="4724400"/>
                <a:ext cx="2289448" cy="1963738"/>
              </a:xfrm>
              <a:prstGeom prst="rect">
                <a:avLst/>
              </a:prstGeom>
              <a:blipFill>
                <a:blip r:embed="rId6"/>
                <a:stretch>
                  <a:fillRect/>
                </a:stretch>
              </a:blipFill>
              <a:ln>
                <a:noFill/>
              </a:ln>
              <a:effectLst/>
              <a:extLst/>
            </p:spPr>
            <p:txBody>
              <a:bodyPr/>
              <a:lstStyle/>
              <a:p>
                <a:r>
                  <a:rPr lang="zh-CN" altLang="en-US">
                    <a:noFill/>
                  </a:rPr>
                  <a:t> </a:t>
                </a:r>
              </a:p>
            </p:txBody>
          </p:sp>
        </mc:Fallback>
      </mc:AlternateContent>
    </p:spTree>
    <p:extLst>
      <p:ext uri="{BB962C8B-B14F-4D97-AF65-F5344CB8AC3E}">
        <p14:creationId xmlns:p14="http://schemas.microsoft.com/office/powerpoint/2010/main" val="382923859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4"/>
                                        </p:tgtEl>
                                        <p:attrNameLst>
                                          <p:attrName>style.visibility</p:attrName>
                                        </p:attrNameLst>
                                      </p:cBhvr>
                                      <p:to>
                                        <p:strVal val="visible"/>
                                      </p:to>
                                    </p:set>
                                    <p:animEffect transition="in" filter="wipe(left)">
                                      <p:cBhvr>
                                        <p:cTn id="7" dur="500"/>
                                        <p:tgtEl>
                                          <p:spTgt spid="8499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288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2288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2288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288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2288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4999"/>
                                        </p:tgtEl>
                                        <p:attrNameLst>
                                          <p:attrName>style.visibility</p:attrName>
                                        </p:attrNameLst>
                                      </p:cBhvr>
                                      <p:to>
                                        <p:strVal val="visible"/>
                                      </p:to>
                                    </p:set>
                                    <p:animEffect transition="in" filter="wipe(left)">
                                      <p:cBhvr>
                                        <p:cTn id="26" dur="500"/>
                                        <p:tgtEl>
                                          <p:spTgt spid="84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autoUpdateAnimBg="0"/>
      <p:bldP spid="122882" grpId="0"/>
      <p:bldP spid="122883" grpId="0"/>
      <p:bldP spid="122884" grpId="0"/>
      <p:bldP spid="122885" grpId="0" animBg="1"/>
      <p:bldP spid="84999" grpId="0" animBg="1" autoUpdateAnimBg="0"/>
      <p:bldP spid="12288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ChangeArrowheads="1"/>
          </p:cNvSpPr>
          <p:nvPr/>
        </p:nvSpPr>
        <p:spPr bwMode="auto">
          <a:xfrm>
            <a:off x="838200" y="3124200"/>
            <a:ext cx="769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marL="865188" indent="-865188" defTabSz="762000" eaLnBrk="0" hangingPunct="0"/>
            <a:r>
              <a:rPr lang="en-US" altLang="zh-CN" b="1">
                <a:latin typeface="楷体_GB2312" pitchFamily="49" charset="-122"/>
              </a:rPr>
              <a:t>(2) </a:t>
            </a:r>
            <a:r>
              <a:rPr lang="zh-CN" altLang="en-US" b="1">
                <a:latin typeface="楷体_GB2312" pitchFamily="49" charset="-122"/>
              </a:rPr>
              <a:t>系统内力不改变系统总动量，但可使系统内各质点的动量变化</a:t>
            </a:r>
            <a:r>
              <a:rPr lang="en-US" altLang="zh-CN" b="1">
                <a:latin typeface="楷体_GB2312" pitchFamily="49" charset="-122"/>
              </a:rPr>
              <a:t>.</a:t>
            </a:r>
          </a:p>
        </p:txBody>
      </p:sp>
      <p:grpSp>
        <p:nvGrpSpPr>
          <p:cNvPr id="2" name="Group 3"/>
          <p:cNvGrpSpPr>
            <a:grpSpLocks/>
          </p:cNvGrpSpPr>
          <p:nvPr/>
        </p:nvGrpSpPr>
        <p:grpSpPr bwMode="auto">
          <a:xfrm>
            <a:off x="0" y="1981200"/>
            <a:ext cx="8305800" cy="1189038"/>
            <a:chOff x="0" y="1248"/>
            <a:chExt cx="5232" cy="749"/>
          </a:xfrm>
        </p:grpSpPr>
        <p:sp>
          <p:nvSpPr>
            <p:cNvPr id="155652" name="Text Box 4"/>
            <p:cNvSpPr txBox="1">
              <a:spLocks noChangeArrowheads="1"/>
            </p:cNvSpPr>
            <p:nvPr/>
          </p:nvSpPr>
          <p:spPr bwMode="auto">
            <a:xfrm>
              <a:off x="0" y="1632"/>
              <a:ext cx="5232" cy="365"/>
            </a:xfrm>
            <a:prstGeom prst="rect">
              <a:avLst/>
            </a:prstGeom>
            <a:noFill/>
            <a:ln w="9525">
              <a:noFill/>
              <a:miter lim="800000"/>
              <a:headEnd/>
              <a:tailEnd/>
            </a:ln>
            <a:effectLst/>
          </p:spPr>
          <p:txBody>
            <a:bodyPr>
              <a:spAutoFit/>
            </a:bodyPr>
            <a:lstStyle/>
            <a:p>
              <a:pPr marL="1327150" indent="-1327150">
                <a:spcBef>
                  <a:spcPct val="50000"/>
                </a:spcBef>
                <a:defRPr/>
              </a:pPr>
              <a:r>
                <a:rPr lang="en-US" altLang="zh-CN" sz="3200" b="1">
                  <a:effectLst>
                    <a:outerShdw blurRad="38100" dist="38100" dir="2700000" algn="tl">
                      <a:srgbClr val="FFFFFF"/>
                    </a:outerShdw>
                  </a:effectLst>
                  <a:latin typeface="楷体_GB2312" pitchFamily="49" charset="-122"/>
                </a:rPr>
                <a:t>    </a:t>
              </a:r>
              <a:r>
                <a:rPr lang="en-US" altLang="zh-CN" b="1">
                  <a:latin typeface="楷体_GB2312" pitchFamily="49" charset="-122"/>
                </a:rPr>
                <a:t>(1) </a:t>
              </a:r>
              <a:r>
                <a:rPr lang="zh-CN" altLang="en-US" b="1">
                  <a:latin typeface="楷体_GB2312" pitchFamily="49" charset="-122"/>
                </a:rPr>
                <a:t>只有外力对系统动量的增量有贡献。</a:t>
              </a:r>
              <a:endParaRPr lang="zh-CN" altLang="en-US" sz="3200" b="1">
                <a:effectLst>
                  <a:outerShdw blurRad="38100" dist="38100" dir="2700000" algn="tl">
                    <a:srgbClr val="FFFFFF"/>
                  </a:outerShdw>
                </a:effectLst>
                <a:latin typeface="楷体_GB2312" pitchFamily="49" charset="-122"/>
              </a:endParaRPr>
            </a:p>
          </p:txBody>
        </p:sp>
        <p:sp>
          <p:nvSpPr>
            <p:cNvPr id="155653" name="Text Box 5"/>
            <p:cNvSpPr txBox="1">
              <a:spLocks noChangeArrowheads="1"/>
            </p:cNvSpPr>
            <p:nvPr/>
          </p:nvSpPr>
          <p:spPr bwMode="auto">
            <a:xfrm>
              <a:off x="144" y="1248"/>
              <a:ext cx="1440" cy="404"/>
            </a:xfrm>
            <a:prstGeom prst="rect">
              <a:avLst/>
            </a:prstGeom>
            <a:noFill/>
            <a:ln w="9525">
              <a:noFill/>
              <a:miter lim="800000"/>
              <a:headEnd/>
              <a:tailEnd/>
            </a:ln>
            <a:effectLst/>
          </p:spPr>
          <p:txBody>
            <a:bodyPr>
              <a:spAutoFit/>
            </a:bodyPr>
            <a:lstStyle/>
            <a:p>
              <a:pPr>
                <a:spcBef>
                  <a:spcPct val="50000"/>
                </a:spcBef>
                <a:defRPr/>
              </a:pPr>
              <a:r>
                <a:rPr lang="en-US" altLang="zh-CN" sz="3600" b="1" dirty="0">
                  <a:effectLst>
                    <a:outerShdw blurRad="38100" dist="38100" dir="2700000" algn="tl">
                      <a:srgbClr val="FFFFFF"/>
                    </a:outerShdw>
                  </a:effectLst>
                  <a:latin typeface="楷体_GB2312" pitchFamily="49" charset="-122"/>
                </a:rPr>
                <a:t> </a:t>
              </a:r>
              <a:r>
                <a:rPr lang="zh-CN" altLang="en-US" b="1" dirty="0">
                  <a:solidFill>
                    <a:srgbClr val="FF0000"/>
                  </a:solidFill>
                  <a:latin typeface="楷体_GB2312" pitchFamily="49" charset="-122"/>
                </a:rPr>
                <a:t>说明：</a:t>
              </a:r>
            </a:p>
          </p:txBody>
        </p:sp>
      </p:grpSp>
      <p:grpSp>
        <p:nvGrpSpPr>
          <p:cNvPr id="3" name="Group 6"/>
          <p:cNvGrpSpPr>
            <a:grpSpLocks/>
          </p:cNvGrpSpPr>
          <p:nvPr/>
        </p:nvGrpSpPr>
        <p:grpSpPr bwMode="auto">
          <a:xfrm>
            <a:off x="881063" y="3886200"/>
            <a:ext cx="7999412" cy="2663825"/>
            <a:chOff x="700" y="2448"/>
            <a:chExt cx="5039" cy="1678"/>
          </a:xfrm>
        </p:grpSpPr>
        <p:sp>
          <p:nvSpPr>
            <p:cNvPr id="155655" name="Text Box 7"/>
            <p:cNvSpPr txBox="1">
              <a:spLocks noChangeArrowheads="1"/>
            </p:cNvSpPr>
            <p:nvPr/>
          </p:nvSpPr>
          <p:spPr bwMode="auto">
            <a:xfrm>
              <a:off x="700" y="2448"/>
              <a:ext cx="2915" cy="288"/>
            </a:xfrm>
            <a:prstGeom prst="rect">
              <a:avLst/>
            </a:prstGeom>
            <a:noFill/>
            <a:ln w="12700">
              <a:noFill/>
              <a:miter lim="800000"/>
              <a:headEnd type="none" w="sm" len="sm"/>
              <a:tailEnd type="none" w="sm" len="sm"/>
            </a:ln>
            <a:effectLst/>
          </p:spPr>
          <p:txBody>
            <a:bodyPr wrap="none">
              <a:spAutoFit/>
            </a:bodyPr>
            <a:lstStyle/>
            <a:p>
              <a:pPr>
                <a:defRPr/>
              </a:pPr>
              <a:r>
                <a:rPr lang="en-US" altLang="zh-CN" b="1" dirty="0">
                  <a:latin typeface="楷体_GB2312" pitchFamily="49" charset="-122"/>
                </a:rPr>
                <a:t>⑶ </a:t>
              </a:r>
              <a:r>
                <a:rPr lang="zh-CN" altLang="en-US" b="1" dirty="0">
                  <a:latin typeface="楷体_GB2312" pitchFamily="49" charset="-122"/>
                </a:rPr>
                <a:t>动量定理与牛顿定律的关系：</a:t>
              </a:r>
              <a:endParaRPr lang="zh-CN" altLang="en-US" b="1" dirty="0">
                <a:effectLst>
                  <a:outerShdw blurRad="38100" dist="38100" dir="2700000" algn="tl">
                    <a:srgbClr val="FFFFFF"/>
                  </a:outerShdw>
                </a:effectLst>
                <a:latin typeface="楷体_GB2312" pitchFamily="49" charset="-122"/>
              </a:endParaRPr>
            </a:p>
          </p:txBody>
        </p:sp>
        <p:sp>
          <p:nvSpPr>
            <p:cNvPr id="155656" name="Text Box 8"/>
            <p:cNvSpPr txBox="1">
              <a:spLocks noChangeArrowheads="1"/>
            </p:cNvSpPr>
            <p:nvPr/>
          </p:nvSpPr>
          <p:spPr bwMode="auto">
            <a:xfrm>
              <a:off x="700" y="2688"/>
              <a:ext cx="5039" cy="1438"/>
            </a:xfrm>
            <a:prstGeom prst="rect">
              <a:avLst/>
            </a:prstGeom>
            <a:noFill/>
            <a:ln w="12700">
              <a:noFill/>
              <a:miter lim="800000"/>
              <a:headEnd type="none" w="sm" len="sm"/>
              <a:tailEnd type="none" w="sm" len="sm"/>
            </a:ln>
            <a:effectLst/>
          </p:spPr>
          <p:txBody>
            <a:bodyPr wrap="none">
              <a:spAutoFit/>
            </a:bodyPr>
            <a:lstStyle/>
            <a:p>
              <a:pPr>
                <a:defRPr/>
              </a:pPr>
              <a:r>
                <a:rPr lang="en-US" altLang="zh-CN" b="1">
                  <a:effectLst>
                    <a:outerShdw blurRad="38100" dist="38100" dir="2700000" algn="tl">
                      <a:srgbClr val="FFFFFF"/>
                    </a:outerShdw>
                  </a:effectLst>
                  <a:latin typeface="楷体_GB2312" pitchFamily="49" charset="-122"/>
                </a:rPr>
                <a:t>  </a:t>
              </a:r>
              <a:r>
                <a:rPr lang="en-US" altLang="zh-CN" b="1">
                  <a:latin typeface="楷体_GB2312" pitchFamily="49" charset="-122"/>
                </a:rPr>
                <a:t>①</a:t>
              </a:r>
              <a:r>
                <a:rPr lang="zh-CN" altLang="en-US" b="1">
                  <a:latin typeface="楷体_GB2312" pitchFamily="49" charset="-122"/>
                </a:rPr>
                <a:t>对一个质点，牛顿定律表示的是力的瞬时效应，而动</a:t>
              </a:r>
            </a:p>
            <a:p>
              <a:pPr>
                <a:defRPr/>
              </a:pPr>
              <a:r>
                <a:rPr lang="zh-CN" altLang="en-US" b="1">
                  <a:latin typeface="楷体_GB2312" pitchFamily="49" charset="-122"/>
                </a:rPr>
                <a:t>量定理表示的是力对时间的积累效果</a:t>
              </a:r>
              <a:r>
                <a:rPr lang="en-US" altLang="zh-CN" b="1">
                  <a:latin typeface="楷体_GB2312" pitchFamily="49" charset="-122"/>
                </a:rPr>
                <a:t>.</a:t>
              </a:r>
            </a:p>
            <a:p>
              <a:pPr>
                <a:defRPr/>
              </a:pPr>
              <a:r>
                <a:rPr lang="en-US" altLang="zh-CN" b="1">
                  <a:latin typeface="楷体_GB2312" pitchFamily="49" charset="-122"/>
                </a:rPr>
                <a:t>  ②</a:t>
              </a:r>
              <a:r>
                <a:rPr lang="zh-CN" altLang="en-US" b="1">
                  <a:latin typeface="楷体_GB2312" pitchFamily="49" charset="-122"/>
                </a:rPr>
                <a:t>牛顿定律只适用于质点，不能直接用于质点系</a:t>
              </a:r>
              <a:r>
                <a:rPr lang="en-US" altLang="zh-CN" b="1">
                  <a:latin typeface="楷体_GB2312" pitchFamily="49" charset="-122"/>
                </a:rPr>
                <a:t>.</a:t>
              </a:r>
              <a:r>
                <a:rPr lang="zh-CN" altLang="en-US" b="1">
                  <a:latin typeface="楷体_GB2312" pitchFamily="49" charset="-122"/>
                </a:rPr>
                <a:t>而动量</a:t>
              </a:r>
            </a:p>
            <a:p>
              <a:pPr>
                <a:defRPr/>
              </a:pPr>
              <a:r>
                <a:rPr lang="zh-CN" altLang="en-US" b="1">
                  <a:latin typeface="楷体_GB2312" pitchFamily="49" charset="-122"/>
                </a:rPr>
                <a:t>定理可适用于质点系</a:t>
              </a:r>
              <a:r>
                <a:rPr lang="en-US" altLang="zh-CN" b="1">
                  <a:latin typeface="楷体_GB2312" pitchFamily="49" charset="-122"/>
                </a:rPr>
                <a:t>.</a:t>
              </a:r>
            </a:p>
            <a:p>
              <a:pPr>
                <a:defRPr/>
              </a:pPr>
              <a:r>
                <a:rPr lang="en-US" altLang="zh-CN" b="1">
                  <a:latin typeface="楷体_GB2312" pitchFamily="49" charset="-122"/>
                </a:rPr>
                <a:t>  ③</a:t>
              </a:r>
              <a:r>
                <a:rPr lang="zh-CN" altLang="en-US" b="1">
                  <a:latin typeface="楷体_GB2312" pitchFamily="49" charset="-122"/>
                </a:rPr>
                <a:t>牛顿定律和动量定理都只适用于惯性系</a:t>
              </a:r>
              <a:r>
                <a:rPr lang="en-US" altLang="zh-CN" b="1">
                  <a:latin typeface="楷体_GB2312" pitchFamily="49" charset="-122"/>
                </a:rPr>
                <a:t>.</a:t>
              </a:r>
              <a:r>
                <a:rPr lang="zh-CN" altLang="en-US" b="1">
                  <a:latin typeface="楷体_GB2312" pitchFamily="49" charset="-122"/>
                </a:rPr>
                <a:t>要在非惯性</a:t>
              </a:r>
            </a:p>
            <a:p>
              <a:pPr>
                <a:defRPr/>
              </a:pPr>
              <a:r>
                <a:rPr lang="zh-CN" altLang="en-US" b="1">
                  <a:latin typeface="楷体_GB2312" pitchFamily="49" charset="-122"/>
                </a:rPr>
                <a:t>系中应用动量定理，必须考虑惯性力的冲量</a:t>
              </a:r>
              <a:r>
                <a:rPr lang="en-US" altLang="zh-CN" b="1">
                  <a:latin typeface="楷体_GB2312" pitchFamily="49" charset="-122"/>
                </a:rPr>
                <a:t>.</a:t>
              </a:r>
            </a:p>
          </p:txBody>
        </p:sp>
      </p:grpSp>
      <p:sp>
        <p:nvSpPr>
          <p:cNvPr id="155657" name="Text Box 9"/>
          <p:cNvSpPr txBox="1">
            <a:spLocks noChangeArrowheads="1"/>
          </p:cNvSpPr>
          <p:nvPr/>
        </p:nvSpPr>
        <p:spPr bwMode="auto">
          <a:xfrm>
            <a:off x="755650" y="188913"/>
            <a:ext cx="5410200" cy="457200"/>
          </a:xfrm>
          <a:prstGeom prst="rect">
            <a:avLst/>
          </a:prstGeom>
          <a:noFill/>
          <a:ln w="9525">
            <a:noFill/>
            <a:miter lim="800000"/>
            <a:headEnd/>
            <a:tailEnd/>
          </a:ln>
          <a:effectLst/>
        </p:spPr>
        <p:txBody>
          <a:bodyPr>
            <a:spAutoFit/>
          </a:bodyPr>
          <a:lstStyle/>
          <a:p>
            <a:pPr>
              <a:spcBef>
                <a:spcPct val="50000"/>
              </a:spcBef>
              <a:defRPr/>
            </a:pPr>
            <a:r>
              <a:rPr lang="zh-CN" altLang="en-US" b="1">
                <a:latin typeface="楷体_GB2312" pitchFamily="49" charset="-122"/>
              </a:rPr>
              <a:t>在无限小的时间间隔内：</a:t>
            </a:r>
            <a:endParaRPr lang="zh-CN" altLang="en-US" b="1">
              <a:effectLst>
                <a:outerShdw blurRad="38100" dist="38100" dir="2700000" algn="tl">
                  <a:srgbClr val="FFFFFF"/>
                </a:outerShdw>
              </a:effectLst>
              <a:latin typeface="楷体_GB2312" pitchFamily="49" charset="-122"/>
            </a:endParaRPr>
          </a:p>
        </p:txBody>
      </p:sp>
      <mc:AlternateContent xmlns:mc="http://schemas.openxmlformats.org/markup-compatibility/2006" xmlns:a14="http://schemas.microsoft.com/office/drawing/2010/main">
        <mc:Choice Requires="a14">
          <p:sp>
            <p:nvSpPr>
              <p:cNvPr id="30722" name="Object 10"/>
              <p:cNvSpPr txBox="1"/>
              <p:nvPr/>
            </p:nvSpPr>
            <p:spPr bwMode="auto">
              <a:xfrm>
                <a:off x="917575" y="1071563"/>
                <a:ext cx="2495550" cy="95567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外</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oMath>
                  </m:oMathPara>
                </a14:m>
                <a:endParaRPr lang="zh-CN" altLang="en-US"/>
              </a:p>
            </p:txBody>
          </p:sp>
        </mc:Choice>
        <mc:Fallback xmlns="">
          <p:sp>
            <p:nvSpPr>
              <p:cNvPr id="30722" name="Object 10"/>
              <p:cNvSpPr txBox="1">
                <a:spLocks noRot="1" noChangeAspect="1" noMove="1" noResize="1" noEditPoints="1" noAdjustHandles="1" noChangeArrowheads="1" noChangeShapeType="1" noTextEdit="1"/>
              </p:cNvSpPr>
              <p:nvPr/>
            </p:nvSpPr>
            <p:spPr bwMode="auto">
              <a:xfrm>
                <a:off x="917575" y="1071563"/>
                <a:ext cx="2495550" cy="955675"/>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155660" name="AutoShape 12"/>
          <p:cNvSpPr>
            <a:spLocks noChangeArrowheads="1"/>
          </p:cNvSpPr>
          <p:nvPr/>
        </p:nvSpPr>
        <p:spPr bwMode="auto">
          <a:xfrm>
            <a:off x="6732588" y="928688"/>
            <a:ext cx="1862137" cy="1593850"/>
          </a:xfrm>
          <a:prstGeom prst="wedgeRectCallout">
            <a:avLst>
              <a:gd name="adj1" fmla="val -71705"/>
              <a:gd name="adj2" fmla="val 2891"/>
            </a:avLst>
          </a:prstGeom>
          <a:solidFill>
            <a:schemeClr val="bg1"/>
          </a:solidFill>
          <a:ln w="12700">
            <a:solidFill>
              <a:srgbClr val="D01A38"/>
            </a:solidFill>
            <a:miter lim="800000"/>
            <a:headEnd type="none" w="sm" len="sm"/>
            <a:tailEnd type="none" w="sm" len="sm"/>
          </a:ln>
          <a:effectLst/>
        </p:spPr>
        <p:txBody>
          <a:bodyPr wrap="none" anchor="ctr"/>
          <a:lstStyle/>
          <a:p>
            <a:pPr algn="ctr"/>
            <a:r>
              <a:rPr lang="en-US" altLang="zh-CN" b="1">
                <a:solidFill>
                  <a:srgbClr val="000000"/>
                </a:solidFill>
                <a:effectLst>
                  <a:outerShdw blurRad="38100" dist="38100" dir="2700000" algn="tl">
                    <a:srgbClr val="C0C0C0"/>
                  </a:outerShdw>
                </a:effectLst>
                <a:latin typeface="楷体_GB2312" pitchFamily="49" charset="-122"/>
              </a:rPr>
              <a:t>.</a:t>
            </a:r>
          </a:p>
        </p:txBody>
      </p:sp>
      <p:sp>
        <p:nvSpPr>
          <p:cNvPr id="30729" name="Text Box 13"/>
          <p:cNvSpPr txBox="1">
            <a:spLocks noChangeArrowheads="1"/>
          </p:cNvSpPr>
          <p:nvPr/>
        </p:nvSpPr>
        <p:spPr bwMode="auto">
          <a:xfrm>
            <a:off x="6786563" y="868363"/>
            <a:ext cx="19335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000" b="1">
                <a:solidFill>
                  <a:srgbClr val="000000"/>
                </a:solidFill>
                <a:latin typeface="宋体" pitchFamily="2" charset="-122"/>
                <a:ea typeface="宋体" pitchFamily="2" charset="-122"/>
              </a:rPr>
              <a:t>质点系动量定</a:t>
            </a:r>
          </a:p>
          <a:p>
            <a:pPr eaLnBrk="1" hangingPunct="1">
              <a:spcBef>
                <a:spcPct val="50000"/>
              </a:spcBef>
            </a:pPr>
            <a:r>
              <a:rPr lang="zh-CN" altLang="en-US" sz="2000" b="1">
                <a:solidFill>
                  <a:srgbClr val="000000"/>
                </a:solidFill>
                <a:latin typeface="宋体" pitchFamily="2" charset="-122"/>
                <a:ea typeface="宋体" pitchFamily="2" charset="-122"/>
              </a:rPr>
              <a:t>理的微分形式</a:t>
            </a:r>
            <a:endParaRPr lang="en-US" altLang="zh-CN" sz="2000" b="1">
              <a:solidFill>
                <a:srgbClr val="000000"/>
              </a:solidFill>
              <a:latin typeface="宋体" pitchFamily="2" charset="-122"/>
              <a:ea typeface="宋体" pitchFamily="2" charset="-122"/>
            </a:endParaRPr>
          </a:p>
          <a:p>
            <a:pPr eaLnBrk="1" hangingPunct="1">
              <a:spcBef>
                <a:spcPct val="50000"/>
              </a:spcBef>
            </a:pPr>
            <a:r>
              <a:rPr lang="zh-CN" altLang="en-US" sz="2000" b="1">
                <a:solidFill>
                  <a:schemeClr val="accent2"/>
                </a:solidFill>
                <a:latin typeface="宋体" pitchFamily="2" charset="-122"/>
                <a:ea typeface="宋体" pitchFamily="2" charset="-122"/>
              </a:rPr>
              <a:t>或质点系的牛顿第二定律</a:t>
            </a:r>
          </a:p>
        </p:txBody>
      </p:sp>
      <mc:AlternateContent xmlns:mc="http://schemas.openxmlformats.org/markup-compatibility/2006" xmlns:a14="http://schemas.microsoft.com/office/drawing/2010/main">
        <mc:Choice Requires="a14">
          <p:sp>
            <p:nvSpPr>
              <p:cNvPr id="30723" name="Object 14"/>
              <p:cNvSpPr txBox="1"/>
              <p:nvPr/>
            </p:nvSpPr>
            <p:spPr bwMode="auto">
              <a:xfrm>
                <a:off x="3830638" y="790575"/>
                <a:ext cx="2562225" cy="1530350"/>
              </a:xfrm>
              <a:prstGeom prst="rect">
                <a:avLst/>
              </a:prstGeom>
              <a:noFill/>
              <a:ln w="9525">
                <a:solidFill>
                  <a:schemeClr val="tx1"/>
                </a:solidFill>
                <a:miter lim="800000"/>
                <a:headEnd/>
                <a:tailEnd/>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外</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a:p>
            </p:txBody>
          </p:sp>
        </mc:Choice>
        <mc:Fallback xmlns="">
          <p:sp>
            <p:nvSpPr>
              <p:cNvPr id="30723" name="Object 14"/>
              <p:cNvSpPr txBox="1">
                <a:spLocks noRot="1" noChangeAspect="1" noMove="1" noResize="1" noEditPoints="1" noAdjustHandles="1" noChangeArrowheads="1" noChangeShapeType="1" noTextEdit="1"/>
              </p:cNvSpPr>
              <p:nvPr/>
            </p:nvSpPr>
            <p:spPr bwMode="auto">
              <a:xfrm>
                <a:off x="3830638" y="790575"/>
                <a:ext cx="2562225" cy="1530350"/>
              </a:xfrm>
              <a:prstGeom prst="rect">
                <a:avLst/>
              </a:prstGeom>
              <a:blipFill>
                <a:blip r:embed="rId3"/>
                <a:stretch>
                  <a:fillRect/>
                </a:stretch>
              </a:blipFill>
              <a:ln w="9525">
                <a:solidFill>
                  <a:schemeClr val="tx1"/>
                </a:solidFill>
                <a:miter lim="800000"/>
                <a:headEnd/>
                <a:tailEnd/>
              </a:ln>
            </p:spPr>
            <p:txBody>
              <a:bodyPr/>
              <a:lstStyle/>
              <a:p>
                <a:r>
                  <a:rPr lang="zh-CN" altLang="en-US">
                    <a:noFill/>
                  </a:rPr>
                  <a:t> </a:t>
                </a:r>
              </a:p>
            </p:txBody>
          </p:sp>
        </mc:Fallback>
      </mc:AlternateContent>
    </p:spTree>
    <p:extLst>
      <p:ext uri="{BB962C8B-B14F-4D97-AF65-F5344CB8AC3E}">
        <p14:creationId xmlns:p14="http://schemas.microsoft.com/office/powerpoint/2010/main" val="3100700845"/>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5650"/>
                                        </p:tgtEl>
                                        <p:attrNameLst>
                                          <p:attrName>style.visibility</p:attrName>
                                        </p:attrNameLst>
                                      </p:cBhvr>
                                      <p:to>
                                        <p:strVal val="visible"/>
                                      </p:to>
                                    </p:set>
                                    <p:animEffect transition="in" filter="blinds(horizontal)">
                                      <p:cBhvr>
                                        <p:cTn id="12" dur="500"/>
                                        <p:tgtEl>
                                          <p:spTgt spid="1556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4"/>
          <p:cNvSpPr>
            <a:spLocks noChangeArrowheads="1"/>
          </p:cNvSpPr>
          <p:nvPr/>
        </p:nvSpPr>
        <p:spPr bwMode="auto">
          <a:xfrm>
            <a:off x="4699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4400">
                <a:solidFill>
                  <a:schemeClr val="tx2"/>
                </a:solidFill>
                <a:ea typeface="宋体" pitchFamily="2" charset="-122"/>
              </a:rPr>
              <a:t>动量定理与牛顿定律的关系</a:t>
            </a:r>
          </a:p>
        </p:txBody>
      </p:sp>
      <p:graphicFrame>
        <p:nvGraphicFramePr>
          <p:cNvPr id="168965" name="Group 5"/>
          <p:cNvGraphicFramePr>
            <a:graphicFrameLocks noGrp="1"/>
          </p:cNvGraphicFramePr>
          <p:nvPr>
            <p:extLst>
              <p:ext uri="{D42A27DB-BD31-4B8C-83A1-F6EECF244321}">
                <p14:modId xmlns:p14="http://schemas.microsoft.com/office/powerpoint/2010/main" val="201615928"/>
              </p:ext>
            </p:extLst>
          </p:nvPr>
        </p:nvGraphicFramePr>
        <p:xfrm>
          <a:off x="323850" y="1773238"/>
          <a:ext cx="8424863" cy="3959227"/>
        </p:xfrm>
        <a:graphic>
          <a:graphicData uri="http://schemas.openxmlformats.org/drawingml/2006/table">
            <a:tbl>
              <a:tblPr/>
              <a:tblGrid>
                <a:gridCol w="1535113">
                  <a:extLst>
                    <a:ext uri="{9D8B030D-6E8A-4147-A177-3AD203B41FA5}">
                      <a16:colId xmlns:a16="http://schemas.microsoft.com/office/drawing/2014/main" val="20000"/>
                    </a:ext>
                  </a:extLst>
                </a:gridCol>
                <a:gridCol w="3317875">
                  <a:extLst>
                    <a:ext uri="{9D8B030D-6E8A-4147-A177-3AD203B41FA5}">
                      <a16:colId xmlns:a16="http://schemas.microsoft.com/office/drawing/2014/main" val="20001"/>
                    </a:ext>
                  </a:extLst>
                </a:gridCol>
                <a:gridCol w="3571875">
                  <a:extLst>
                    <a:ext uri="{9D8B030D-6E8A-4147-A177-3AD203B41FA5}">
                      <a16:colId xmlns:a16="http://schemas.microsoft.com/office/drawing/2014/main" val="20002"/>
                    </a:ext>
                  </a:extLst>
                </a:gridCol>
              </a:tblGrid>
              <a:tr h="6477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sz="2400" b="1"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牛顿定律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动量定理</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225">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力的效果</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力的瞬时效果</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力对时间的积累效果</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8838">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关系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牛顿定律是动量定理的微分形式 </a:t>
                      </a:r>
                      <a:r>
                        <a:rPr kumimoji="1"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1" lang="en-US" altLang="zh-CN" sz="2400" b="1" i="0" u="none" strike="noStrike" cap="none" normalizeH="0" baseline="0" dirty="0">
                          <a:ln>
                            <a:noFill/>
                          </a:ln>
                          <a:solidFill>
                            <a:srgbClr val="FF0000"/>
                          </a:solidFill>
                          <a:effectLst/>
                          <a:latin typeface="Times New Roman" pitchFamily="18" charset="0"/>
                          <a:ea typeface="宋体" pitchFamily="2" charset="-122"/>
                        </a:rPr>
                        <a:t>F=</a:t>
                      </a:r>
                      <a:r>
                        <a:rPr kumimoji="1" lang="en-US" altLang="zh-CN" sz="2400" b="1" i="0" u="none" strike="noStrike" cap="none" normalizeH="0" baseline="0" dirty="0" err="1">
                          <a:ln>
                            <a:noFill/>
                          </a:ln>
                          <a:solidFill>
                            <a:srgbClr val="FF0000"/>
                          </a:solidFill>
                          <a:effectLst/>
                          <a:latin typeface="Times New Roman" pitchFamily="18" charset="0"/>
                          <a:ea typeface="宋体" pitchFamily="2" charset="-122"/>
                        </a:rPr>
                        <a:t>dp</a:t>
                      </a:r>
                      <a:r>
                        <a:rPr kumimoji="1" lang="en-US" altLang="zh-CN" sz="2400" b="1" i="0" u="none" strike="noStrike" cap="none" normalizeH="0" baseline="0" dirty="0">
                          <a:ln>
                            <a:noFill/>
                          </a:ln>
                          <a:solidFill>
                            <a:srgbClr val="FF0000"/>
                          </a:solidFill>
                          <a:effectLst/>
                          <a:latin typeface="Times New Roman" pitchFamily="18" charset="0"/>
                          <a:ea typeface="宋体" pitchFamily="2" charset="-122"/>
                        </a:rPr>
                        <a:t>/dt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动量定理是牛顿定律的积分形式</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1813">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适用对象</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质点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质点、质点系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1813">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适用范围</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惯性系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惯性系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58838">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解题分析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必须研究质点在每时刻的运动情况</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只需研究质点（系）始末两状态的变化</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31746" name="对象 1"/>
              <p:cNvSpPr txBox="1"/>
              <p:nvPr/>
            </p:nvSpPr>
            <p:spPr bwMode="auto">
              <a:xfrm>
                <a:off x="6443663" y="3306763"/>
                <a:ext cx="1944687" cy="554037"/>
              </a:xfrm>
              <a:prstGeom prst="rect">
                <a:avLst/>
              </a:prstGeom>
              <a:noFill/>
              <a:ln>
                <a:noFill/>
              </a:ln>
              <a:extLst/>
            </p:spPr>
            <p:txBody>
              <a:bodyPr>
                <a:normAutofit fontScale="47500" lnSpcReduction="20000"/>
              </a:bodyPr>
              <a:lstStyle/>
              <a:p>
                <a:pPr/>
                <a14:m>
                  <m:oMathPara xmlns:m="http://schemas.openxmlformats.org/officeDocument/2006/math">
                    <m:oMathParaPr>
                      <m:jc m:val="centerGroup"/>
                    </m:oMathParaPr>
                    <m:oMath xmlns:m="http://schemas.openxmlformats.org/officeDocument/2006/math">
                      <m:r>
                        <m:rPr>
                          <m:nor/>
                        </m:rPr>
                        <a:rPr lang="zh-CN" altLang="en-US" b="1" i="0" smtClean="0">
                          <a:solidFill>
                            <a:srgbClr val="FF0000"/>
                          </a:solidFill>
                          <a:latin typeface="Cambria Math" panose="02040503050406030204" pitchFamily="18" charset="0"/>
                        </a:rPr>
                        <m:t>  </m:t>
                      </m:r>
                      <m:sSub>
                        <m:sSubPr>
                          <m:ctrlPr>
                            <a:rPr lang="zh-CN" altLang="en-US" b="1" i="1">
                              <a:solidFill>
                                <a:srgbClr val="FF0000"/>
                              </a:solidFill>
                              <a:latin typeface="Cambria Math" panose="02040503050406030204" pitchFamily="18" charset="0"/>
                            </a:rPr>
                          </m:ctrlPr>
                        </m:sSubPr>
                        <m:e>
                          <m:acc>
                            <m:accPr>
                              <m:chr m:val="⃑"/>
                              <m:ctrlPr>
                                <a:rPr lang="zh-CN" altLang="en-US" b="1" i="1">
                                  <a:solidFill>
                                    <a:srgbClr val="FF0000"/>
                                  </a:solidFill>
                                  <a:latin typeface="Cambria Math" panose="02040503050406030204" pitchFamily="18" charset="0"/>
                                </a:rPr>
                              </m:ctrlPr>
                            </m:accPr>
                            <m:e>
                              <m:r>
                                <a:rPr lang="zh-CN" altLang="en-US" b="1" i="1">
                                  <a:solidFill>
                                    <a:srgbClr val="FF0000"/>
                                  </a:solidFill>
                                  <a:latin typeface="Cambria Math" panose="02040503050406030204" pitchFamily="18" charset="0"/>
                                </a:rPr>
                                <m:t>𝑷</m:t>
                              </m:r>
                            </m:e>
                          </m:acc>
                        </m:e>
                        <m:sub>
                          <m:r>
                            <a:rPr lang="zh-CN" altLang="en-US" b="1" i="1">
                              <a:solidFill>
                                <a:srgbClr val="FF0000"/>
                              </a:solidFill>
                              <a:latin typeface="Cambria Math" panose="02040503050406030204" pitchFamily="18" charset="0"/>
                            </a:rPr>
                            <m:t>𝟐</m:t>
                          </m:r>
                        </m:sub>
                      </m:sSub>
                      <m:r>
                        <a:rPr lang="zh-CN" altLang="en-US" b="1" i="1">
                          <a:solidFill>
                            <a:srgbClr val="FF0000"/>
                          </a:solidFill>
                          <a:latin typeface="Cambria Math" panose="02040503050406030204" pitchFamily="18" charset="0"/>
                        </a:rPr>
                        <m:t>−</m:t>
                      </m:r>
                      <m:sSub>
                        <m:sSubPr>
                          <m:ctrlPr>
                            <a:rPr lang="zh-CN" altLang="en-US" b="1" i="1">
                              <a:solidFill>
                                <a:srgbClr val="FF0000"/>
                              </a:solidFill>
                              <a:latin typeface="Cambria Math" panose="02040503050406030204" pitchFamily="18" charset="0"/>
                            </a:rPr>
                          </m:ctrlPr>
                        </m:sSubPr>
                        <m:e>
                          <m:acc>
                            <m:accPr>
                              <m:chr m:val="⃑"/>
                              <m:ctrlPr>
                                <a:rPr lang="zh-CN" altLang="en-US" b="1" i="1">
                                  <a:solidFill>
                                    <a:srgbClr val="FF0000"/>
                                  </a:solidFill>
                                  <a:latin typeface="Cambria Math" panose="02040503050406030204" pitchFamily="18" charset="0"/>
                                </a:rPr>
                              </m:ctrlPr>
                            </m:accPr>
                            <m:e>
                              <m:r>
                                <a:rPr lang="zh-CN" altLang="en-US" b="1" i="1">
                                  <a:solidFill>
                                    <a:srgbClr val="FF0000"/>
                                  </a:solidFill>
                                  <a:latin typeface="Cambria Math" panose="02040503050406030204" pitchFamily="18" charset="0"/>
                                </a:rPr>
                                <m:t>𝑷</m:t>
                              </m:r>
                            </m:e>
                          </m:acc>
                        </m:e>
                        <m:sub>
                          <m:r>
                            <a:rPr lang="zh-CN" altLang="en-US" b="1" i="1">
                              <a:solidFill>
                                <a:srgbClr val="FF0000"/>
                              </a:solidFill>
                              <a:latin typeface="Cambria Math" panose="02040503050406030204" pitchFamily="18" charset="0"/>
                            </a:rPr>
                            <m:t>𝟏</m:t>
                          </m:r>
                        </m:sub>
                      </m:sSub>
                      <m:r>
                        <a:rPr lang="zh-CN" altLang="en-US" b="1" i="1">
                          <a:solidFill>
                            <a:srgbClr val="FF0000"/>
                          </a:solidFill>
                          <a:latin typeface="Cambria Math" panose="02040503050406030204" pitchFamily="18" charset="0"/>
                        </a:rPr>
                        <m:t>=</m:t>
                      </m:r>
                      <m:acc>
                        <m:accPr>
                          <m:chr m:val="⃑"/>
                          <m:ctrlPr>
                            <a:rPr lang="zh-CN" altLang="en-US" b="1" i="1">
                              <a:solidFill>
                                <a:srgbClr val="FF0000"/>
                              </a:solidFill>
                              <a:latin typeface="Cambria Math" panose="02040503050406030204" pitchFamily="18" charset="0"/>
                            </a:rPr>
                          </m:ctrlPr>
                        </m:accPr>
                        <m:e>
                          <m:r>
                            <a:rPr lang="zh-CN" altLang="en-US" b="1" i="1">
                              <a:solidFill>
                                <a:srgbClr val="FF0000"/>
                              </a:solidFill>
                              <a:latin typeface="Cambria Math" panose="02040503050406030204" pitchFamily="18" charset="0"/>
                            </a:rPr>
                            <m:t>𝑰</m:t>
                          </m:r>
                        </m:e>
                      </m:acc>
                      <m:r>
                        <a:rPr lang="zh-CN" altLang="en-US" b="1" i="1">
                          <a:solidFill>
                            <a:srgbClr val="FF0000"/>
                          </a:solidFill>
                          <a:latin typeface="Cambria Math" panose="02040503050406030204" pitchFamily="18" charset="0"/>
                        </a:rPr>
                        <m:t>＝</m:t>
                      </m:r>
                      <m:nary>
                        <m:naryPr>
                          <m:ctrlPr>
                            <a:rPr lang="zh-CN" altLang="en-US" b="1" i="1">
                              <a:solidFill>
                                <a:srgbClr val="FF0000"/>
                              </a:solidFill>
                              <a:latin typeface="Cambria Math" panose="02040503050406030204" pitchFamily="18" charset="0"/>
                            </a:rPr>
                          </m:ctrlPr>
                        </m:naryPr>
                        <m:sub>
                          <m:sSub>
                            <m:sSubPr>
                              <m:ctrlPr>
                                <a:rPr lang="zh-CN" altLang="en-US" b="1"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𝒕</m:t>
                              </m:r>
                            </m:e>
                            <m:sub>
                              <m:r>
                                <a:rPr lang="zh-CN" altLang="en-US" b="1" i="1">
                                  <a:solidFill>
                                    <a:srgbClr val="FF0000"/>
                                  </a:solidFill>
                                  <a:latin typeface="Cambria Math" panose="02040503050406030204" pitchFamily="18" charset="0"/>
                                </a:rPr>
                                <m:t>𝟏</m:t>
                              </m:r>
                            </m:sub>
                          </m:sSub>
                        </m:sub>
                        <m:sup>
                          <m:sSub>
                            <m:sSubPr>
                              <m:ctrlPr>
                                <a:rPr lang="zh-CN" altLang="en-US" b="1" i="1">
                                  <a:solidFill>
                                    <a:srgbClr val="FF0000"/>
                                  </a:solidFill>
                                  <a:latin typeface="Cambria Math" panose="02040503050406030204" pitchFamily="18" charset="0"/>
                                </a:rPr>
                              </m:ctrlPr>
                            </m:sSubPr>
                            <m:e>
                              <m:r>
                                <a:rPr lang="zh-CN" altLang="en-US" b="1" i="1">
                                  <a:solidFill>
                                    <a:srgbClr val="FF0000"/>
                                  </a:solidFill>
                                  <a:latin typeface="Cambria Math" panose="02040503050406030204" pitchFamily="18" charset="0"/>
                                </a:rPr>
                                <m:t>𝒕</m:t>
                              </m:r>
                            </m:e>
                            <m:sub>
                              <m:r>
                                <a:rPr lang="zh-CN" altLang="en-US" b="1" i="1">
                                  <a:solidFill>
                                    <a:srgbClr val="FF0000"/>
                                  </a:solidFill>
                                  <a:latin typeface="Cambria Math" panose="02040503050406030204" pitchFamily="18" charset="0"/>
                                </a:rPr>
                                <m:t>𝟐</m:t>
                              </m:r>
                            </m:sub>
                          </m:sSub>
                        </m:sup>
                        <m:e>
                          <m:acc>
                            <m:accPr>
                              <m:chr m:val="⃑"/>
                              <m:ctrlPr>
                                <a:rPr lang="zh-CN" altLang="en-US" b="1" i="1">
                                  <a:solidFill>
                                    <a:srgbClr val="FF0000"/>
                                  </a:solidFill>
                                  <a:latin typeface="Cambria Math" panose="02040503050406030204" pitchFamily="18" charset="0"/>
                                </a:rPr>
                              </m:ctrlPr>
                            </m:accPr>
                            <m:e>
                              <m:r>
                                <a:rPr lang="zh-CN" altLang="en-US" b="1" i="1">
                                  <a:solidFill>
                                    <a:srgbClr val="FF0000"/>
                                  </a:solidFill>
                                  <a:latin typeface="Cambria Math" panose="02040503050406030204" pitchFamily="18" charset="0"/>
                                </a:rPr>
                                <m:t>𝑭</m:t>
                              </m:r>
                            </m:e>
                          </m:acc>
                          <m:r>
                            <a:rPr lang="zh-CN" altLang="en-US" b="1" i="1">
                              <a:solidFill>
                                <a:srgbClr val="FF0000"/>
                              </a:solidFill>
                              <a:latin typeface="Cambria Math" panose="02040503050406030204" pitchFamily="18" charset="0"/>
                            </a:rPr>
                            <m:t>𝒅𝒕</m:t>
                          </m:r>
                        </m:e>
                      </m:nary>
                    </m:oMath>
                  </m:oMathPara>
                </a14:m>
                <a:endParaRPr lang="zh-CN" altLang="en-US" b="1" dirty="0">
                  <a:solidFill>
                    <a:srgbClr val="FF0000"/>
                  </a:solidFill>
                </a:endParaRPr>
              </a:p>
            </p:txBody>
          </p:sp>
        </mc:Choice>
        <mc:Fallback xmlns="">
          <p:sp>
            <p:nvSpPr>
              <p:cNvPr id="31746" name="对象 1"/>
              <p:cNvSpPr txBox="1">
                <a:spLocks noRot="1" noChangeAspect="1" noMove="1" noResize="1" noEditPoints="1" noAdjustHandles="1" noChangeArrowheads="1" noChangeShapeType="1" noTextEdit="1"/>
              </p:cNvSpPr>
              <p:nvPr/>
            </p:nvSpPr>
            <p:spPr bwMode="auto">
              <a:xfrm>
                <a:off x="6443663" y="3306763"/>
                <a:ext cx="1944687" cy="554037"/>
              </a:xfrm>
              <a:prstGeom prst="rect">
                <a:avLst/>
              </a:prstGeom>
              <a:blipFill>
                <a:blip r:embed="rId2"/>
                <a:stretch>
                  <a:fillRect t="-116484" r="-12853" b="-161538"/>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1576329674"/>
      </p:ext>
    </p:extLst>
  </p:cSld>
  <p:clrMapOvr>
    <a:masterClrMapping/>
  </p:clrMapOvr>
  <p:transition>
    <p:checke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p:cNvSpPr>
            <a:spLocks noGrp="1"/>
          </p:cNvSpPr>
          <p:nvPr>
            <p:ph type="sldNum" sz="quarter" idx="12"/>
          </p:nvPr>
        </p:nvSpPr>
        <p:spPr/>
        <p:txBody>
          <a:bodyPr/>
          <a:lstStyle/>
          <a:p>
            <a:pPr>
              <a:defRPr/>
            </a:pPr>
            <a:fld id="{86C8A219-027A-49CF-A411-41FDE44A6D2B}" type="slidenum">
              <a:rPr lang="en-US" altLang="zh-CN"/>
              <a:pPr>
                <a:defRPr/>
              </a:pPr>
              <a:t>32</a:t>
            </a:fld>
            <a:endParaRPr lang="en-US" altLang="zh-CN"/>
          </a:p>
        </p:txBody>
      </p:sp>
      <p:sp>
        <p:nvSpPr>
          <p:cNvPr id="437293" name="Text Box 45"/>
          <p:cNvSpPr txBox="1">
            <a:spLocks noChangeArrowheads="1"/>
          </p:cNvSpPr>
          <p:nvPr/>
        </p:nvSpPr>
        <p:spPr bwMode="auto">
          <a:xfrm>
            <a:off x="611188" y="990600"/>
            <a:ext cx="2808287" cy="519113"/>
          </a:xfrm>
          <a:prstGeom prst="rect">
            <a:avLst/>
          </a:prstGeom>
          <a:noFill/>
          <a:ln w="12700">
            <a:noFill/>
            <a:miter lim="800000"/>
            <a:headEnd type="none" w="sm" len="sm"/>
            <a:tailEnd type="none" w="sm" len="sm"/>
          </a:ln>
          <a:effectLst/>
        </p:spPr>
        <p:txBody>
          <a:bodyPr>
            <a:spAutoFit/>
          </a:bodyPr>
          <a:lstStyle/>
          <a:p>
            <a:pPr>
              <a:spcBef>
                <a:spcPct val="20000"/>
              </a:spcBef>
              <a:defRPr/>
            </a:pPr>
            <a:r>
              <a:rPr lang="en-US" altLang="zh-CN" sz="2800" b="1" dirty="0">
                <a:solidFill>
                  <a:srgbClr val="FF0000"/>
                </a:solidFill>
                <a:latin typeface="楷体_GB2312" pitchFamily="49" charset="-122"/>
              </a:rPr>
              <a:t>(</a:t>
            </a:r>
            <a:r>
              <a:rPr lang="zh-CN" altLang="en-US" sz="2800" b="1" dirty="0">
                <a:solidFill>
                  <a:srgbClr val="FF0000"/>
                </a:solidFill>
                <a:latin typeface="楷体_GB2312" pitchFamily="49" charset="-122"/>
              </a:rPr>
              <a:t>一</a:t>
            </a:r>
            <a:r>
              <a:rPr lang="en-US" altLang="zh-CN" sz="2800" b="1" dirty="0">
                <a:solidFill>
                  <a:srgbClr val="FF0000"/>
                </a:solidFill>
                <a:latin typeface="楷体_GB2312" pitchFamily="49" charset="-122"/>
              </a:rPr>
              <a:t>)</a:t>
            </a:r>
            <a:r>
              <a:rPr lang="zh-CN" altLang="en-US" sz="2800" b="1" dirty="0">
                <a:solidFill>
                  <a:srgbClr val="FF0000"/>
                </a:solidFill>
                <a:latin typeface="楷体_GB2312" pitchFamily="49" charset="-122"/>
              </a:rPr>
              <a:t>、质　心</a:t>
            </a:r>
            <a:endParaRPr lang="zh-CN" altLang="en-US" b="1" dirty="0">
              <a:solidFill>
                <a:srgbClr val="FF0000"/>
              </a:solidFill>
              <a:effectLst>
                <a:outerShdw blurRad="38100" dist="38100" dir="2700000" algn="tl">
                  <a:srgbClr val="C0C0C0"/>
                </a:outerShdw>
              </a:effectLst>
              <a:latin typeface="楷体_GB2312" pitchFamily="49" charset="-122"/>
            </a:endParaRPr>
          </a:p>
        </p:txBody>
      </p:sp>
      <p:sp>
        <p:nvSpPr>
          <p:cNvPr id="437294" name="Text Box 46"/>
          <p:cNvSpPr txBox="1">
            <a:spLocks noChangeArrowheads="1"/>
          </p:cNvSpPr>
          <p:nvPr/>
        </p:nvSpPr>
        <p:spPr bwMode="auto">
          <a:xfrm>
            <a:off x="323850" y="1700213"/>
            <a:ext cx="4357688" cy="457200"/>
          </a:xfrm>
          <a:prstGeom prst="rect">
            <a:avLst/>
          </a:prstGeom>
          <a:noFill/>
          <a:ln w="9525">
            <a:noFill/>
            <a:miter lim="800000"/>
            <a:headEnd/>
            <a:tailEnd/>
          </a:ln>
          <a:effectLst/>
        </p:spPr>
        <p:txBody>
          <a:bodyPr>
            <a:spAutoFit/>
          </a:bodyPr>
          <a:lstStyle/>
          <a:p>
            <a:pPr>
              <a:spcBef>
                <a:spcPct val="50000"/>
              </a:spcBef>
              <a:defRPr/>
            </a:pPr>
            <a:r>
              <a:rPr lang="zh-CN" altLang="en-US" b="1" dirty="0">
                <a:solidFill>
                  <a:srgbClr val="000C0C"/>
                </a:solidFill>
                <a:latin typeface="楷体_GB2312" pitchFamily="49" charset="-122"/>
              </a:rPr>
              <a:t>质点系动量定理的微分形式：</a:t>
            </a:r>
            <a:endParaRPr lang="zh-CN" altLang="en-US" b="1" dirty="0">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37296" name="Object 2"/>
              <p:cNvSpPr txBox="1"/>
              <p:nvPr/>
            </p:nvSpPr>
            <p:spPr bwMode="auto">
              <a:xfrm>
                <a:off x="1042988" y="2205038"/>
                <a:ext cx="2514600" cy="942975"/>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𝑭</m:t>
                          </m:r>
                        </m:e>
                      </m:acc>
                      <m:r>
                        <a:rPr lang="zh-CN" altLang="en-US" b="1" i="1">
                          <a:solidFill>
                            <a:srgbClr val="000000"/>
                          </a:solidFill>
                          <a:latin typeface="Cambria Math" panose="02040503050406030204" pitchFamily="18" charset="0"/>
                        </a:rPr>
                        <m:t>=</m:t>
                      </m:r>
                      <m:f>
                        <m:fPr>
                          <m:ctrlPr>
                            <a:rPr lang="zh-CN" altLang="en-US" b="1" i="1">
                              <a:solidFill>
                                <a:srgbClr val="000000"/>
                              </a:solidFill>
                              <a:latin typeface="Cambria Math" panose="02040503050406030204" pitchFamily="18" charset="0"/>
                            </a:rPr>
                          </m:ctrlPr>
                        </m:fPr>
                        <m:num>
                          <m:r>
                            <a:rPr lang="zh-CN" altLang="en-US" b="1" i="1">
                              <a:solidFill>
                                <a:srgbClr val="000000"/>
                              </a:solidFill>
                              <a:latin typeface="Cambria Math" panose="02040503050406030204" pitchFamily="18" charset="0"/>
                            </a:rPr>
                            <m:t>𝒅</m:t>
                          </m:r>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𝑷</m:t>
                              </m:r>
                            </m:e>
                          </m:acc>
                        </m:num>
                        <m:den>
                          <m:r>
                            <a:rPr lang="zh-CN" altLang="en-US" b="1" i="1">
                              <a:solidFill>
                                <a:srgbClr val="000000"/>
                              </a:solidFill>
                              <a:latin typeface="Cambria Math" panose="02040503050406030204" pitchFamily="18" charset="0"/>
                            </a:rPr>
                            <m:t>𝒅𝒕</m:t>
                          </m:r>
                        </m:den>
                      </m:f>
                      <m:r>
                        <a:rPr lang="zh-CN" altLang="en-US" b="1" i="1">
                          <a:solidFill>
                            <a:srgbClr val="000000"/>
                          </a:solidFill>
                          <a:latin typeface="Cambria Math" panose="02040503050406030204" pitchFamily="18" charset="0"/>
                        </a:rPr>
                        <m:t>=</m:t>
                      </m:r>
                      <m:f>
                        <m:fPr>
                          <m:ctrlPr>
                            <a:rPr lang="zh-CN" altLang="en-US" b="1" i="1">
                              <a:solidFill>
                                <a:srgbClr val="000000"/>
                              </a:solidFill>
                              <a:latin typeface="Cambria Math" panose="02040503050406030204" pitchFamily="18" charset="0"/>
                            </a:rPr>
                          </m:ctrlPr>
                        </m:fPr>
                        <m:num>
                          <m:r>
                            <a:rPr lang="zh-CN" altLang="en-US" b="1" i="1">
                              <a:solidFill>
                                <a:srgbClr val="000000"/>
                              </a:solidFill>
                              <a:latin typeface="Cambria Math" panose="02040503050406030204" pitchFamily="18" charset="0"/>
                            </a:rPr>
                            <m:t>𝒅</m:t>
                          </m:r>
                        </m:num>
                        <m:den>
                          <m:r>
                            <a:rPr lang="zh-CN" altLang="en-US" b="1" i="1">
                              <a:solidFill>
                                <a:srgbClr val="000000"/>
                              </a:solidFill>
                              <a:latin typeface="Cambria Math" panose="02040503050406030204" pitchFamily="18" charset="0"/>
                            </a:rPr>
                            <m:t>𝒅𝒕</m:t>
                          </m:r>
                        </m:den>
                      </m:f>
                      <m:nary>
                        <m:naryPr>
                          <m:chr m:val="∑"/>
                          <m:supHide m:val="on"/>
                          <m:ctrlPr>
                            <a:rPr lang="zh-CN" altLang="en-US" b="1" i="1">
                              <a:solidFill>
                                <a:srgbClr val="000000"/>
                              </a:solidFill>
                              <a:latin typeface="Cambria Math" panose="02040503050406030204" pitchFamily="18" charset="0"/>
                            </a:rPr>
                          </m:ctrlPr>
                        </m:naryPr>
                        <m:sub>
                          <m:r>
                            <a:rPr lang="zh-CN" altLang="en-US" b="1" i="1">
                              <a:solidFill>
                                <a:srgbClr val="000000"/>
                              </a:solidFill>
                              <a:latin typeface="Cambria Math" panose="02040503050406030204" pitchFamily="18" charset="0"/>
                            </a:rPr>
                            <m:t>𝒊</m:t>
                          </m:r>
                        </m:sub>
                        <m:sup/>
                        <m:e>
                          <m:sSub>
                            <m:sSubPr>
                              <m:ctrlPr>
                                <a:rPr lang="zh-CN" altLang="en-US" b="1" i="1">
                                  <a:solidFill>
                                    <a:srgbClr val="000000"/>
                                  </a:solidFill>
                                  <a:latin typeface="Cambria Math" panose="02040503050406030204" pitchFamily="18" charset="0"/>
                                </a:rPr>
                              </m:ctrlPr>
                            </m:sSub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𝒑</m:t>
                                  </m:r>
                                </m:e>
                              </m:acc>
                            </m:e>
                            <m:sub>
                              <m:r>
                                <a:rPr lang="zh-CN" altLang="en-US" b="1" i="1">
                                  <a:solidFill>
                                    <a:srgbClr val="000000"/>
                                  </a:solidFill>
                                  <a:latin typeface="Cambria Math" panose="02040503050406030204" pitchFamily="18" charset="0"/>
                                </a:rPr>
                                <m:t>𝒊</m:t>
                              </m:r>
                            </m:sub>
                          </m:sSub>
                        </m:e>
                      </m:nary>
                    </m:oMath>
                  </m:oMathPara>
                </a14:m>
                <a:endParaRPr lang="zh-CN" altLang="en-US" b="1" dirty="0"/>
              </a:p>
            </p:txBody>
          </p:sp>
        </mc:Choice>
        <mc:Fallback xmlns="">
          <p:sp>
            <p:nvSpPr>
              <p:cNvPr id="437296" name="Object 2"/>
              <p:cNvSpPr txBox="1">
                <a:spLocks noRot="1" noChangeAspect="1" noMove="1" noResize="1" noEditPoints="1" noAdjustHandles="1" noChangeArrowheads="1" noChangeShapeType="1" noTextEdit="1"/>
              </p:cNvSpPr>
              <p:nvPr/>
            </p:nvSpPr>
            <p:spPr bwMode="auto">
              <a:xfrm>
                <a:off x="1042988" y="2205038"/>
                <a:ext cx="2514600" cy="942975"/>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437298" name="Text Box 50"/>
          <p:cNvSpPr txBox="1">
            <a:spLocks noChangeArrowheads="1"/>
          </p:cNvSpPr>
          <p:nvPr/>
        </p:nvSpPr>
        <p:spPr bwMode="auto">
          <a:xfrm>
            <a:off x="395288" y="3357563"/>
            <a:ext cx="36004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a:solidFill>
                  <a:srgbClr val="000C0C"/>
                </a:solidFill>
                <a:latin typeface="楷体_GB2312" pitchFamily="49" charset="-122"/>
              </a:rPr>
              <a:t>对质点系而言存在一个特殊点</a:t>
            </a:r>
            <a:r>
              <a:rPr lang="en-US" altLang="zh-CN" b="1">
                <a:solidFill>
                  <a:srgbClr val="000C0C"/>
                </a:solidFill>
                <a:latin typeface="楷体_GB2312" pitchFamily="49" charset="-122"/>
              </a:rPr>
              <a:t>c</a:t>
            </a:r>
            <a:r>
              <a:rPr lang="zh-CN" altLang="en-US" b="1">
                <a:solidFill>
                  <a:srgbClr val="000C0C"/>
                </a:solidFill>
                <a:latin typeface="楷体_GB2312" pitchFamily="49" charset="-122"/>
              </a:rPr>
              <a:t>，满足</a:t>
            </a:r>
            <a:endParaRPr lang="zh-CN" altLang="en-US" sz="2800" b="1">
              <a:solidFill>
                <a:srgbClr val="000C0C"/>
              </a:solidFill>
              <a:latin typeface="楷体_GB2312" pitchFamily="49" charset="-122"/>
            </a:endParaRPr>
          </a:p>
        </p:txBody>
      </p:sp>
      <mc:AlternateContent xmlns:mc="http://schemas.openxmlformats.org/markup-compatibility/2006" xmlns:a14="http://schemas.microsoft.com/office/drawing/2010/main">
        <mc:Choice Requires="a14">
          <p:sp>
            <p:nvSpPr>
              <p:cNvPr id="437301" name="Object 3"/>
              <p:cNvSpPr txBox="1"/>
              <p:nvPr/>
            </p:nvSpPr>
            <p:spPr bwMode="auto">
              <a:xfrm>
                <a:off x="1403350" y="4365625"/>
                <a:ext cx="1143000" cy="482600"/>
              </a:xfrm>
              <a:prstGeom prst="rect">
                <a:avLst/>
              </a:prstGeom>
              <a:noFill/>
              <a:ln w="9525">
                <a:solidFill>
                  <a:srgbClr val="FF0000"/>
                </a:solidFill>
                <a:miter lim="800000"/>
                <a:headEnd/>
                <a:tailEnd/>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𝑭</m:t>
                          </m:r>
                        </m:e>
                      </m:acc>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𝑴</m:t>
                      </m:r>
                      <m:sSub>
                        <m:sSubPr>
                          <m:ctrlPr>
                            <a:rPr lang="zh-CN" altLang="en-US" b="1" i="1">
                              <a:solidFill>
                                <a:srgbClr val="000000"/>
                              </a:solidFill>
                              <a:latin typeface="Cambria Math" panose="02040503050406030204" pitchFamily="18" charset="0"/>
                            </a:rPr>
                          </m:ctrlPr>
                        </m:sSub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𝒂</m:t>
                              </m:r>
                            </m:e>
                          </m:acc>
                        </m:e>
                        <m:sub>
                          <m:r>
                            <a:rPr lang="zh-CN" altLang="en-US" b="1" i="1">
                              <a:solidFill>
                                <a:srgbClr val="000000"/>
                              </a:solidFill>
                              <a:latin typeface="Cambria Math" panose="02040503050406030204" pitchFamily="18" charset="0"/>
                            </a:rPr>
                            <m:t>𝒄</m:t>
                          </m:r>
                        </m:sub>
                      </m:sSub>
                    </m:oMath>
                  </m:oMathPara>
                </a14:m>
                <a:endParaRPr lang="zh-CN" altLang="en-US" b="1" dirty="0"/>
              </a:p>
            </p:txBody>
          </p:sp>
        </mc:Choice>
        <mc:Fallback xmlns="">
          <p:sp>
            <p:nvSpPr>
              <p:cNvPr id="437301" name="Object 3"/>
              <p:cNvSpPr txBox="1">
                <a:spLocks noRot="1" noChangeAspect="1" noMove="1" noResize="1" noEditPoints="1" noAdjustHandles="1" noChangeArrowheads="1" noChangeShapeType="1" noTextEdit="1"/>
              </p:cNvSpPr>
              <p:nvPr/>
            </p:nvSpPr>
            <p:spPr bwMode="auto">
              <a:xfrm>
                <a:off x="1403350" y="4365625"/>
                <a:ext cx="1143000" cy="482600"/>
              </a:xfrm>
              <a:prstGeom prst="rect">
                <a:avLst/>
              </a:prstGeom>
              <a:blipFill>
                <a:blip r:embed="rId4"/>
                <a:stretch>
                  <a:fillRect/>
                </a:stretch>
              </a:blipFill>
              <a:ln w="9525">
                <a:solidFill>
                  <a:srgbClr val="FF0000"/>
                </a:solidFill>
                <a:miter lim="800000"/>
                <a:headEnd/>
                <a:tailEnd/>
              </a:ln>
              <a:effectLst/>
              <a:extLst/>
            </p:spPr>
            <p:txBody>
              <a:bodyPr/>
              <a:lstStyle/>
              <a:p>
                <a:r>
                  <a:rPr lang="zh-CN" altLang="en-US">
                    <a:noFill/>
                  </a:rPr>
                  <a:t> </a:t>
                </a:r>
              </a:p>
            </p:txBody>
          </p:sp>
        </mc:Fallback>
      </mc:AlternateContent>
      <p:grpSp>
        <p:nvGrpSpPr>
          <p:cNvPr id="2" name="Group 61"/>
          <p:cNvGrpSpPr>
            <a:grpSpLocks/>
          </p:cNvGrpSpPr>
          <p:nvPr/>
        </p:nvGrpSpPr>
        <p:grpSpPr bwMode="auto">
          <a:xfrm>
            <a:off x="250825" y="5059363"/>
            <a:ext cx="3743325" cy="1422400"/>
            <a:chOff x="158" y="2550"/>
            <a:chExt cx="2358" cy="896"/>
          </a:xfrm>
        </p:grpSpPr>
        <p:sp>
          <p:nvSpPr>
            <p:cNvPr id="437300" name="Text Box 52"/>
            <p:cNvSpPr txBox="1">
              <a:spLocks noChangeArrowheads="1"/>
            </p:cNvSpPr>
            <p:nvPr/>
          </p:nvSpPr>
          <p:spPr bwMode="auto">
            <a:xfrm>
              <a:off x="158" y="2550"/>
              <a:ext cx="2358" cy="896"/>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dirty="0">
                  <a:solidFill>
                    <a:srgbClr val="000C0C"/>
                  </a:solidFill>
                  <a:latin typeface="楷体_GB2312" pitchFamily="49" charset="-122"/>
                </a:rPr>
                <a:t>其中 </a:t>
              </a:r>
              <a:r>
                <a:rPr lang="en-US" altLang="zh-CN" b="1" i="1" dirty="0">
                  <a:solidFill>
                    <a:srgbClr val="000C0C"/>
                  </a:solidFill>
                  <a:effectLst>
                    <a:outerShdw blurRad="38100" dist="38100" dir="2700000" algn="tl">
                      <a:srgbClr val="C0C0C0"/>
                    </a:outerShdw>
                  </a:effectLst>
                  <a:ea typeface="黑体" pitchFamily="2" charset="-122"/>
                </a:rPr>
                <a:t>M</a:t>
              </a:r>
              <a:r>
                <a:rPr lang="zh-CN" altLang="en-US" b="1" dirty="0">
                  <a:solidFill>
                    <a:srgbClr val="000C0C"/>
                  </a:solidFill>
                  <a:latin typeface="楷体_GB2312" pitchFamily="49" charset="-122"/>
                </a:rPr>
                <a:t>为体系总质量；</a:t>
              </a:r>
            </a:p>
            <a:p>
              <a:pPr>
                <a:spcBef>
                  <a:spcPct val="20000"/>
                </a:spcBef>
                <a:defRPr/>
              </a:pPr>
              <a:r>
                <a:rPr lang="zh-CN" altLang="en-US" b="1" dirty="0">
                  <a:solidFill>
                    <a:srgbClr val="000C0C"/>
                  </a:solidFill>
                  <a:latin typeface="楷体_GB2312" pitchFamily="49" charset="-122"/>
                </a:rPr>
                <a:t>       是该特殊点的加速  </a:t>
              </a:r>
            </a:p>
            <a:p>
              <a:pPr>
                <a:spcBef>
                  <a:spcPct val="20000"/>
                </a:spcBef>
                <a:defRPr/>
              </a:pPr>
              <a:r>
                <a:rPr lang="zh-CN" altLang="en-US" b="1" dirty="0">
                  <a:solidFill>
                    <a:srgbClr val="000C0C"/>
                  </a:solidFill>
                  <a:latin typeface="楷体_GB2312" pitchFamily="49" charset="-122"/>
                </a:rPr>
                <a:t>    度，</a:t>
              </a:r>
              <a:r>
                <a:rPr lang="en-US" altLang="zh-CN" b="1" dirty="0">
                  <a:solidFill>
                    <a:srgbClr val="000C0C"/>
                  </a:solidFill>
                  <a:latin typeface="楷体_GB2312" pitchFamily="49" charset="-122"/>
                </a:rPr>
                <a:t>c</a:t>
              </a:r>
              <a:r>
                <a:rPr lang="zh-CN" altLang="en-US" b="1" dirty="0">
                  <a:solidFill>
                    <a:srgbClr val="000C0C"/>
                  </a:solidFill>
                  <a:latin typeface="楷体_GB2312" pitchFamily="49" charset="-122"/>
                </a:rPr>
                <a:t>称为</a:t>
              </a:r>
              <a:r>
                <a:rPr lang="zh-CN" altLang="en-US" sz="2800" b="1" u="sng" dirty="0">
                  <a:solidFill>
                    <a:srgbClr val="000C0C"/>
                  </a:solidFill>
                  <a:latin typeface="楷体_GB2312" pitchFamily="49" charset="-122"/>
                </a:rPr>
                <a:t>质心</a:t>
              </a:r>
              <a:r>
                <a:rPr lang="zh-CN" altLang="en-US" sz="2800" b="1" dirty="0">
                  <a:solidFill>
                    <a:srgbClr val="000C0C"/>
                  </a:solidFill>
                  <a:latin typeface="楷体_GB2312" pitchFamily="49" charset="-122"/>
                </a:rPr>
                <a:t>。</a:t>
              </a:r>
              <a:endParaRPr lang="zh-CN" altLang="en-US" sz="2800" b="1" u="sng" dirty="0">
                <a:solidFill>
                  <a:srgbClr val="000C0C"/>
                </a:solidFill>
                <a:latin typeface="楷体_GB2312" pitchFamily="49" charset="-122"/>
              </a:endParaRPr>
            </a:p>
          </p:txBody>
        </p:sp>
        <mc:AlternateContent xmlns:mc="http://schemas.openxmlformats.org/markup-compatibility/2006" xmlns:a14="http://schemas.microsoft.com/office/drawing/2010/main">
          <mc:Choice Requires="a14">
            <p:sp>
              <p:nvSpPr>
                <p:cNvPr id="32773" name="Object 5"/>
                <p:cNvSpPr txBox="1"/>
                <p:nvPr/>
              </p:nvSpPr>
              <p:spPr bwMode="auto">
                <a:xfrm>
                  <a:off x="340" y="2793"/>
                  <a:ext cx="260" cy="36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e>
                          <m:sub>
                            <m:r>
                              <a:rPr lang="zh-CN" altLang="en-US" i="1">
                                <a:solidFill>
                                  <a:srgbClr val="000000"/>
                                </a:solidFill>
                                <a:latin typeface="Cambria Math" panose="02040503050406030204" pitchFamily="18" charset="0"/>
                              </a:rPr>
                              <m:t>𝑐</m:t>
                            </m:r>
                          </m:sub>
                        </m:sSub>
                      </m:oMath>
                    </m:oMathPara>
                  </a14:m>
                  <a:endParaRPr lang="zh-CN" altLang="en-US"/>
                </a:p>
              </p:txBody>
            </p:sp>
          </mc:Choice>
          <mc:Fallback xmlns="">
            <p:sp>
              <p:nvSpPr>
                <p:cNvPr id="32773" name="Object 5"/>
                <p:cNvSpPr txBox="1">
                  <a:spLocks noRot="1" noChangeAspect="1" noMove="1" noResize="1" noEditPoints="1" noAdjustHandles="1" noChangeArrowheads="1" noChangeShapeType="1" noTextEdit="1"/>
                </p:cNvSpPr>
                <p:nvPr/>
              </p:nvSpPr>
              <p:spPr bwMode="auto">
                <a:xfrm>
                  <a:off x="340" y="2793"/>
                  <a:ext cx="260" cy="363"/>
                </a:xfrm>
                <a:prstGeom prst="rect">
                  <a:avLst/>
                </a:prstGeom>
                <a:blipFill>
                  <a:blip r:embed="rId5"/>
                  <a:stretch>
                    <a:fillRect l="-2985" t="-14737" r="-26866"/>
                  </a:stretch>
                </a:blipFill>
                <a:ln>
                  <a:noFill/>
                </a:ln>
                <a:effectLst/>
                <a:extLst/>
              </p:spPr>
              <p:txBody>
                <a:bodyPr/>
                <a:lstStyle/>
                <a:p>
                  <a:r>
                    <a:rPr lang="zh-CN" altLang="en-US">
                      <a:noFill/>
                    </a:rPr>
                    <a:t> </a:t>
                  </a:r>
                </a:p>
              </p:txBody>
            </p:sp>
          </mc:Fallback>
        </mc:AlternateContent>
      </p:grpSp>
      <p:grpSp>
        <p:nvGrpSpPr>
          <p:cNvPr id="3" name="Group 63"/>
          <p:cNvGrpSpPr>
            <a:grpSpLocks/>
          </p:cNvGrpSpPr>
          <p:nvPr/>
        </p:nvGrpSpPr>
        <p:grpSpPr bwMode="auto">
          <a:xfrm>
            <a:off x="4248150" y="1700213"/>
            <a:ext cx="4932363" cy="4446587"/>
            <a:chOff x="2641" y="1446"/>
            <a:chExt cx="3016" cy="2801"/>
          </a:xfrm>
        </p:grpSpPr>
        <p:graphicFrame>
          <p:nvGraphicFramePr>
            <p:cNvPr id="32772" name="Object 4"/>
            <p:cNvGraphicFramePr>
              <a:graphicFrameLocks noChangeAspect="1"/>
            </p:cNvGraphicFramePr>
            <p:nvPr/>
          </p:nvGraphicFramePr>
          <p:xfrm>
            <a:off x="2641" y="1446"/>
            <a:ext cx="3016" cy="2153"/>
          </p:xfrm>
          <a:graphic>
            <a:graphicData uri="http://schemas.openxmlformats.org/presentationml/2006/ole">
              <mc:AlternateContent xmlns:mc="http://schemas.openxmlformats.org/markup-compatibility/2006">
                <mc:Choice xmlns:v="urn:schemas-microsoft-com:vml" Requires="v">
                  <p:oleObj spid="_x0000_s69845" name="PhotoImpact" r:id="rId6" imgW="3419048" imgH="2723810" progId="PI3.Image">
                    <p:embed/>
                  </p:oleObj>
                </mc:Choice>
                <mc:Fallback>
                  <p:oleObj name="PhotoImpact" r:id="rId6" imgW="3419048" imgH="2723810" progId="PI3.Image">
                    <p:embed/>
                    <p:pic>
                      <p:nvPicPr>
                        <p:cNvPr id="3277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1" y="1446"/>
                          <a:ext cx="3016" cy="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81" name="Rectangle 62"/>
            <p:cNvSpPr>
              <a:spLocks noChangeArrowheads="1"/>
            </p:cNvSpPr>
            <p:nvPr/>
          </p:nvSpPr>
          <p:spPr bwMode="auto">
            <a:xfrm>
              <a:off x="3096" y="3724"/>
              <a:ext cx="194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spcBef>
                  <a:spcPct val="20000"/>
                </a:spcBef>
              </a:pPr>
              <a:r>
                <a:rPr lang="zh-CN" altLang="en-US" b="1">
                  <a:solidFill>
                    <a:srgbClr val="000C0C"/>
                  </a:solidFill>
                  <a:latin typeface="楷体_GB2312" pitchFamily="49" charset="-122"/>
                </a:rPr>
                <a:t>抛掷的物体、跳水的运动员、爆炸的焰火</a:t>
              </a:r>
            </a:p>
          </p:txBody>
        </p:sp>
      </p:grpSp>
      <p:sp>
        <p:nvSpPr>
          <p:cNvPr id="16" name="Rectangle 2"/>
          <p:cNvSpPr txBox="1">
            <a:spLocks noChangeArrowheads="1"/>
          </p:cNvSpPr>
          <p:nvPr/>
        </p:nvSpPr>
        <p:spPr bwMode="auto">
          <a:xfrm>
            <a:off x="142875" y="260350"/>
            <a:ext cx="8532813" cy="730250"/>
          </a:xfrm>
          <a:prstGeom prst="rect">
            <a:avLst/>
          </a:prstGeom>
          <a:noFill/>
          <a:ln w="9525">
            <a:noFill/>
            <a:miter lim="800000"/>
            <a:headEnd/>
            <a:tailEnd/>
          </a:ln>
          <a:effectLst/>
        </p:spPr>
        <p:txBody>
          <a:bodyPr/>
          <a:lstStyle/>
          <a:p>
            <a:pPr marL="342900" indent="-342900">
              <a:spcBef>
                <a:spcPct val="20000"/>
              </a:spcBef>
              <a:defRPr/>
            </a:pPr>
            <a:r>
              <a:rPr lang="zh-CN" altLang="en-US" sz="3600" b="1" dirty="0">
                <a:solidFill>
                  <a:srgbClr val="FF0000"/>
                </a:solidFill>
              </a:rPr>
              <a:t>三</a:t>
            </a:r>
            <a:r>
              <a:rPr lang="zh-CN" altLang="en-US" sz="3600" b="1">
                <a:solidFill>
                  <a:srgbClr val="FF0000"/>
                </a:solidFill>
              </a:rPr>
              <a:t>）</a:t>
            </a:r>
            <a:r>
              <a:rPr lang="zh-CN" altLang="en-US" sz="3600" b="1" dirty="0">
                <a:solidFill>
                  <a:srgbClr val="FF0000"/>
                </a:solidFill>
              </a:rPr>
              <a:t>、质心、质心运动定理</a:t>
            </a:r>
            <a:endParaRPr lang="zh-CN" altLang="en-US" sz="3600" kern="0" dirty="0">
              <a:solidFill>
                <a:srgbClr val="FF0000"/>
              </a:solidFill>
              <a:latin typeface="+mn-lt"/>
              <a:ea typeface="+mn-ea"/>
            </a:endParaRPr>
          </a:p>
        </p:txBody>
      </p:sp>
      <p:pic>
        <p:nvPicPr>
          <p:cNvPr id="32815" name="Picture 47" descr="pic1-20"/>
          <p:cNvPicPr>
            <a:picLocks noChangeAspect="1" noChangeArrowheads="1"/>
          </p:cNvPicPr>
          <p:nvPr/>
        </p:nvPicPr>
        <p:blipFill rotWithShape="1">
          <a:blip r:embed="rId8">
            <a:extLst>
              <a:ext uri="{28A0092B-C50C-407E-A947-70E740481C1C}">
                <a14:useLocalDpi xmlns:a14="http://schemas.microsoft.com/office/drawing/2010/main" val="0"/>
              </a:ext>
            </a:extLst>
          </a:blip>
          <a:srcRect r="11338"/>
          <a:stretch/>
        </p:blipFill>
        <p:spPr bwMode="auto">
          <a:xfrm>
            <a:off x="4322551" y="1772816"/>
            <a:ext cx="2394967" cy="1584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61464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8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37293"/>
                                        </p:tgtEl>
                                        <p:attrNameLst>
                                          <p:attrName>style.visibility</p:attrName>
                                        </p:attrNameLst>
                                      </p:cBhvr>
                                      <p:to>
                                        <p:strVal val="visible"/>
                                      </p:to>
                                    </p:set>
                                    <p:animEffect transition="in" filter="blinds(horizontal)">
                                      <p:cBhvr>
                                        <p:cTn id="13" dur="500"/>
                                        <p:tgtEl>
                                          <p:spTgt spid="43729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37294"/>
                                        </p:tgtEl>
                                        <p:attrNameLst>
                                          <p:attrName>style.visibility</p:attrName>
                                        </p:attrNameLst>
                                      </p:cBhvr>
                                      <p:to>
                                        <p:strVal val="visible"/>
                                      </p:to>
                                    </p:set>
                                    <p:animEffect transition="in" filter="blinds(horizontal)">
                                      <p:cBhvr>
                                        <p:cTn id="18" dur="500"/>
                                        <p:tgtEl>
                                          <p:spTgt spid="43729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72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7298"/>
                                        </p:tgtEl>
                                        <p:attrNameLst>
                                          <p:attrName>style.visibility</p:attrName>
                                        </p:attrNameLst>
                                      </p:cBhvr>
                                      <p:to>
                                        <p:strVal val="visible"/>
                                      </p:to>
                                    </p:set>
                                    <p:animEffect transition="in" filter="blinds(horizontal)">
                                      <p:cBhvr>
                                        <p:cTn id="27" dur="500"/>
                                        <p:tgtEl>
                                          <p:spTgt spid="43729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3730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93" grpId="0"/>
      <p:bldP spid="437294" grpId="0"/>
      <p:bldP spid="437296" grpId="0"/>
      <p:bldP spid="437298" grpId="0"/>
      <p:bldP spid="437301" grpId="0" animBg="1"/>
      <p:bldP spid="16"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4"/>
          <p:cNvSpPr>
            <a:spLocks noGrp="1"/>
          </p:cNvSpPr>
          <p:nvPr>
            <p:ph type="sldNum" sz="quarter" idx="12"/>
          </p:nvPr>
        </p:nvSpPr>
        <p:spPr/>
        <p:txBody>
          <a:bodyPr/>
          <a:lstStyle/>
          <a:p>
            <a:pPr>
              <a:defRPr/>
            </a:pPr>
            <a:fld id="{E2685CF5-25EC-461C-9B0D-28A8A97BF556}" type="slidenum">
              <a:rPr lang="en-US" altLang="zh-CN"/>
              <a:pPr>
                <a:defRPr/>
              </a:pPr>
              <a:t>33</a:t>
            </a:fld>
            <a:endParaRPr lang="en-US" altLang="zh-CN"/>
          </a:p>
        </p:txBody>
      </p:sp>
      <p:sp>
        <p:nvSpPr>
          <p:cNvPr id="33804" name="Text Box 12"/>
          <p:cNvSpPr txBox="1">
            <a:spLocks noChangeArrowheads="1"/>
          </p:cNvSpPr>
          <p:nvPr/>
        </p:nvSpPr>
        <p:spPr bwMode="auto">
          <a:xfrm>
            <a:off x="539750" y="620713"/>
            <a:ext cx="38988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buClr>
                <a:srgbClr val="FF0000"/>
              </a:buClr>
            </a:pPr>
            <a:r>
              <a:rPr lang="en-US" altLang="zh-CN" b="1" dirty="0">
                <a:solidFill>
                  <a:srgbClr val="FF0000"/>
                </a:solidFill>
                <a:latin typeface="楷体_GB2312" pitchFamily="49" charset="-122"/>
              </a:rPr>
              <a:t>(</a:t>
            </a:r>
            <a:r>
              <a:rPr lang="zh-CN" altLang="en-US" b="1" dirty="0">
                <a:solidFill>
                  <a:srgbClr val="FF0000"/>
                </a:solidFill>
                <a:latin typeface="楷体_GB2312" pitchFamily="49" charset="-122"/>
              </a:rPr>
              <a:t>二</a:t>
            </a:r>
            <a:r>
              <a:rPr lang="en-US" altLang="zh-CN" b="1" dirty="0">
                <a:solidFill>
                  <a:srgbClr val="FF0000"/>
                </a:solidFill>
                <a:latin typeface="楷体_GB2312" pitchFamily="49" charset="-122"/>
              </a:rPr>
              <a:t>)</a:t>
            </a:r>
            <a:r>
              <a:rPr lang="zh-CN" altLang="en-US" b="1" dirty="0">
                <a:solidFill>
                  <a:srgbClr val="FF0000"/>
                </a:solidFill>
                <a:latin typeface="楷体_GB2312" pitchFamily="49" charset="-122"/>
              </a:rPr>
              <a:t>、质心位置及其求法：</a:t>
            </a:r>
            <a:endParaRPr lang="zh-CN" altLang="en-US" sz="2800" b="1" dirty="0">
              <a:solidFill>
                <a:srgbClr val="FF0000"/>
              </a:solidFill>
              <a:latin typeface="楷体_GB2312" pitchFamily="49" charset="-122"/>
            </a:endParaRPr>
          </a:p>
        </p:txBody>
      </p:sp>
      <p:sp>
        <p:nvSpPr>
          <p:cNvPr id="491533" name="Text Box 13"/>
          <p:cNvSpPr txBox="1">
            <a:spLocks noChangeArrowheads="1"/>
          </p:cNvSpPr>
          <p:nvPr/>
        </p:nvSpPr>
        <p:spPr bwMode="auto">
          <a:xfrm>
            <a:off x="755650" y="1412875"/>
            <a:ext cx="4608513" cy="457200"/>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a:solidFill>
                  <a:srgbClr val="000C0C"/>
                </a:solidFill>
                <a:latin typeface="楷体_GB2312" pitchFamily="49" charset="-122"/>
              </a:rPr>
              <a:t>（</a:t>
            </a:r>
            <a:r>
              <a:rPr lang="en-US" altLang="zh-CN" b="1">
                <a:solidFill>
                  <a:srgbClr val="000C0C"/>
                </a:solidFill>
                <a:latin typeface="楷体_GB2312" pitchFamily="49" charset="-122"/>
              </a:rPr>
              <a:t>1</a:t>
            </a:r>
            <a:r>
              <a:rPr lang="zh-CN" altLang="en-US" b="1">
                <a:solidFill>
                  <a:srgbClr val="000C0C"/>
                </a:solidFill>
                <a:latin typeface="楷体_GB2312" pitchFamily="49" charset="-122"/>
              </a:rPr>
              <a:t>）两个质点组成的体系</a:t>
            </a:r>
            <a:endParaRPr lang="zh-CN" altLang="en-US" sz="2800" b="1">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91534" name="Object 2"/>
              <p:cNvSpPr txBox="1"/>
              <p:nvPr/>
            </p:nvSpPr>
            <p:spPr bwMode="auto">
              <a:xfrm>
                <a:off x="501650" y="2054225"/>
                <a:ext cx="5457825" cy="819150"/>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𝑝</m:t>
                              </m:r>
                            </m:e>
                          </m:acc>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m:rPr>
                              <m:sty m:val="p"/>
                            </m:rPr>
                            <a:rPr lang="zh-CN" altLang="en-US" i="0">
                              <a:solidFill>
                                <a:srgbClr val="000000"/>
                              </a:solidFill>
                              <a:latin typeface="Cambria Math" panose="02040503050406030204" pitchFamily="18" charset="0"/>
                            </a:rPr>
                            <m:t>d</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dirty="0"/>
              </a:p>
            </p:txBody>
          </p:sp>
        </mc:Choice>
        <mc:Fallback xmlns="">
          <p:sp>
            <p:nvSpPr>
              <p:cNvPr id="491534" name="Object 2"/>
              <p:cNvSpPr txBox="1">
                <a:spLocks noRot="1" noChangeAspect="1" noMove="1" noResize="1" noEditPoints="1" noAdjustHandles="1" noChangeArrowheads="1" noChangeShapeType="1" noTextEdit="1"/>
              </p:cNvSpPr>
              <p:nvPr/>
            </p:nvSpPr>
            <p:spPr bwMode="auto">
              <a:xfrm>
                <a:off x="501650" y="2054225"/>
                <a:ext cx="5457825" cy="819150"/>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491536" name="Text Box 16"/>
          <p:cNvSpPr txBox="1">
            <a:spLocks noChangeArrowheads="1"/>
          </p:cNvSpPr>
          <p:nvPr/>
        </p:nvSpPr>
        <p:spPr bwMode="auto">
          <a:xfrm>
            <a:off x="539750" y="5732463"/>
            <a:ext cx="1081088" cy="457200"/>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dirty="0">
                <a:solidFill>
                  <a:srgbClr val="000C0C"/>
                </a:solidFill>
                <a:latin typeface="楷体_GB2312" pitchFamily="49" charset="-122"/>
              </a:rPr>
              <a:t>令</a:t>
            </a:r>
            <a:endParaRPr lang="zh-CN" altLang="en-US" b="1" dirty="0">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91537" name="Object 3"/>
              <p:cNvSpPr txBox="1"/>
              <p:nvPr/>
            </p:nvSpPr>
            <p:spPr bwMode="auto">
              <a:xfrm>
                <a:off x="1111250" y="5108048"/>
                <a:ext cx="7158037" cy="1646237"/>
              </a:xfrm>
              <a:prstGeom prst="rect">
                <a:avLst/>
              </a:prstGeom>
              <a:noFill/>
              <a:ln w="9525">
                <a:solidFill>
                  <a:srgbClr val="D01A38"/>
                </a:solidFill>
                <a:miter lim="800000"/>
                <a:headEnd/>
                <a:tailEnd/>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𝑀</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491537" name="Object 3"/>
              <p:cNvSpPr txBox="1">
                <a:spLocks noRot="1" noChangeAspect="1" noMove="1" noResize="1" noEditPoints="1" noAdjustHandles="1" noChangeArrowheads="1" noChangeShapeType="1" noTextEdit="1"/>
              </p:cNvSpPr>
              <p:nvPr/>
            </p:nvSpPr>
            <p:spPr bwMode="auto">
              <a:xfrm>
                <a:off x="1111250" y="5108048"/>
                <a:ext cx="7158037" cy="1646237"/>
              </a:xfrm>
              <a:prstGeom prst="rect">
                <a:avLst/>
              </a:prstGeom>
              <a:blipFill>
                <a:blip r:embed="rId3"/>
                <a:stretch>
                  <a:fillRect/>
                </a:stretch>
              </a:blipFill>
              <a:ln w="9525">
                <a:solidFill>
                  <a:srgbClr val="D01A38"/>
                </a:solidFill>
                <a:miter lim="800000"/>
                <a:headEnd/>
                <a:tailEnd/>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1539" name="Object 4"/>
              <p:cNvSpPr txBox="1"/>
              <p:nvPr/>
            </p:nvSpPr>
            <p:spPr bwMode="auto">
              <a:xfrm>
                <a:off x="800100" y="3035300"/>
                <a:ext cx="4537075" cy="754063"/>
              </a:xfrm>
              <a:prstGeom prst="rect">
                <a:avLst/>
              </a:prstGeom>
              <a:noFill/>
              <a:ln>
                <a:noFill/>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d</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1</m:t>
                              </m:r>
                            </m:sub>
                          </m:sSub>
                        </m:num>
                        <m:den>
                          <m:r>
                            <m:rPr>
                              <m:sty m:val="p"/>
                            </m:rPr>
                            <a:rPr lang="zh-CN" altLang="en-US" i="0">
                              <a:solidFill>
                                <a:srgbClr val="000000"/>
                              </a:solidFill>
                              <a:latin typeface="Cambria Math" panose="02040503050406030204" pitchFamily="18" charset="0"/>
                            </a:rPr>
                            <m:t>d</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d</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2</m:t>
                              </m:r>
                            </m:sub>
                          </m:sSub>
                        </m:num>
                        <m:den>
                          <m:r>
                            <m:rPr>
                              <m:sty m:val="p"/>
                            </m:rPr>
                            <a:rPr lang="zh-CN" altLang="en-US" i="0">
                              <a:solidFill>
                                <a:srgbClr val="000000"/>
                              </a:solidFill>
                              <a:latin typeface="Cambria Math" panose="02040503050406030204" pitchFamily="18" charset="0"/>
                            </a:rPr>
                            <m:t>d</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d</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d</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r>
                            <m:rPr>
                              <m:sty m:val="p"/>
                            </m:rPr>
                            <a:rPr lang="zh-CN" altLang="en-US" i="0">
                              <a:solidFill>
                                <a:srgbClr val="000000"/>
                              </a:solidFill>
                              <a:latin typeface="Cambria Math" panose="02040503050406030204" pitchFamily="18" charset="0"/>
                            </a:rPr>
                            <m:t>d</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den>
                      </m:f>
                    </m:oMath>
                  </m:oMathPara>
                </a14:m>
                <a:endParaRPr lang="zh-CN" altLang="en-US" dirty="0"/>
              </a:p>
            </p:txBody>
          </p:sp>
        </mc:Choice>
        <mc:Fallback xmlns="">
          <p:sp>
            <p:nvSpPr>
              <p:cNvPr id="491539" name="Object 4"/>
              <p:cNvSpPr txBox="1">
                <a:spLocks noRot="1" noChangeAspect="1" noMove="1" noResize="1" noEditPoints="1" noAdjustHandles="1" noChangeArrowheads="1" noChangeShapeType="1" noTextEdit="1"/>
              </p:cNvSpPr>
              <p:nvPr/>
            </p:nvSpPr>
            <p:spPr bwMode="auto">
              <a:xfrm>
                <a:off x="800100" y="3035300"/>
                <a:ext cx="4537075" cy="754063"/>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1541" name="Object 6"/>
              <p:cNvSpPr txBox="1"/>
              <p:nvPr/>
            </p:nvSpPr>
            <p:spPr bwMode="auto">
              <a:xfrm>
                <a:off x="760413" y="3946525"/>
                <a:ext cx="3854450" cy="969963"/>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e>
                      </m:d>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d</m:t>
                              </m:r>
                            </m:e>
                            <m:sup>
                              <m:r>
                                <a:rPr lang="zh-CN" altLang="en-US" i="1">
                                  <a:solidFill>
                                    <a:srgbClr val="000000"/>
                                  </a:solidFill>
                                  <a:latin typeface="Cambria Math" panose="02040503050406030204" pitchFamily="18" charset="0"/>
                                </a:rPr>
                                <m:t>2</m:t>
                              </m:r>
                            </m:sup>
                          </m:sSup>
                        </m:num>
                        <m:den>
                          <m:r>
                            <m:rPr>
                              <m:sty m:val="p"/>
                            </m:rPr>
                            <a:rPr lang="zh-CN" altLang="en-US" i="0">
                              <a:solidFill>
                                <a:srgbClr val="000000"/>
                              </a:solidFill>
                              <a:latin typeface="Cambria Math" panose="02040503050406030204" pitchFamily="18" charset="0"/>
                            </a:rPr>
                            <m:t>d</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den>
                      </m:f>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e>
                      </m:d>
                    </m:oMath>
                  </m:oMathPara>
                </a14:m>
                <a:endParaRPr lang="zh-CN" altLang="en-US"/>
              </a:p>
            </p:txBody>
          </p:sp>
        </mc:Choice>
        <mc:Fallback xmlns="">
          <p:sp>
            <p:nvSpPr>
              <p:cNvPr id="491541" name="Object 6"/>
              <p:cNvSpPr txBox="1">
                <a:spLocks noRot="1" noChangeAspect="1" noMove="1" noResize="1" noEditPoints="1" noAdjustHandles="1" noChangeArrowheads="1" noChangeShapeType="1" noTextEdit="1"/>
              </p:cNvSpPr>
              <p:nvPr/>
            </p:nvSpPr>
            <p:spPr bwMode="auto">
              <a:xfrm>
                <a:off x="760413" y="3946525"/>
                <a:ext cx="3854450" cy="969963"/>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1542" name="Object 7"/>
              <p:cNvSpPr txBox="1"/>
              <p:nvPr/>
            </p:nvSpPr>
            <p:spPr bwMode="auto">
              <a:xfrm>
                <a:off x="4438574" y="3884612"/>
                <a:ext cx="4254500" cy="88265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d</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num>
                        <m:den>
                          <m:r>
                            <m:rPr>
                              <m:sty m:val="p"/>
                            </m:rPr>
                            <a:rPr lang="zh-CN" altLang="en-US" i="0">
                              <a:solidFill>
                                <a:srgbClr val="000000"/>
                              </a:solidFill>
                              <a:latin typeface="Cambria Math" panose="02040503050406030204" pitchFamily="18" charset="0"/>
                            </a:rPr>
                            <m:t>d</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𝑉</m:t>
                                  </m:r>
                                </m:e>
                              </m:acc>
                            </m:e>
                            <m:sub>
                              <m:r>
                                <a:rPr lang="zh-CN" altLang="en-US" i="1">
                                  <a:solidFill>
                                    <a:srgbClr val="000000"/>
                                  </a:solidFill>
                                  <a:latin typeface="Cambria Math" panose="02040503050406030204" pitchFamily="18" charset="0"/>
                                </a:rPr>
                                <m:t>𝑐</m:t>
                              </m:r>
                            </m:sub>
                          </m:sSub>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𝑐</m:t>
                              </m:r>
                            </m:sub>
                          </m:sSub>
                        </m:num>
                        <m:den>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oMath>
                  </m:oMathPara>
                </a14:m>
                <a:endParaRPr lang="zh-CN" altLang="en-US" dirty="0"/>
              </a:p>
            </p:txBody>
          </p:sp>
        </mc:Choice>
        <mc:Fallback xmlns="">
          <p:sp>
            <p:nvSpPr>
              <p:cNvPr id="491542" name="Object 7"/>
              <p:cNvSpPr txBox="1">
                <a:spLocks noRot="1" noChangeAspect="1" noMove="1" noResize="1" noEditPoints="1" noAdjustHandles="1" noChangeArrowheads="1" noChangeShapeType="1" noTextEdit="1"/>
              </p:cNvSpPr>
              <p:nvPr/>
            </p:nvSpPr>
            <p:spPr bwMode="auto">
              <a:xfrm>
                <a:off x="4438574" y="3884612"/>
                <a:ext cx="4254500" cy="882650"/>
              </a:xfrm>
              <a:prstGeom prst="rect">
                <a:avLst/>
              </a:prstGeom>
              <a:blipFill>
                <a:blip r:embed="rId6"/>
                <a:stretch>
                  <a:fillRect/>
                </a:stretch>
              </a:blipFill>
              <a:ln>
                <a:noFill/>
              </a:ln>
              <a:effectLst/>
              <a:extLst/>
            </p:spPr>
            <p:txBody>
              <a:bodyPr/>
              <a:lstStyle/>
              <a:p>
                <a:r>
                  <a:rPr lang="zh-CN" altLang="en-US">
                    <a:noFill/>
                  </a:rPr>
                  <a:t> </a:t>
                </a:r>
              </a:p>
            </p:txBody>
          </p:sp>
        </mc:Fallback>
      </mc:AlternateContent>
      <p:grpSp>
        <p:nvGrpSpPr>
          <p:cNvPr id="2" name="Group 49"/>
          <p:cNvGrpSpPr>
            <a:grpSpLocks/>
          </p:cNvGrpSpPr>
          <p:nvPr/>
        </p:nvGrpSpPr>
        <p:grpSpPr bwMode="auto">
          <a:xfrm>
            <a:off x="6254750" y="250825"/>
            <a:ext cx="2638425" cy="3040063"/>
            <a:chOff x="3486" y="1403"/>
            <a:chExt cx="1662" cy="1915"/>
          </a:xfrm>
        </p:grpSpPr>
        <p:sp>
          <p:nvSpPr>
            <p:cNvPr id="33811" name="Freeform 9"/>
            <p:cNvSpPr>
              <a:spLocks/>
            </p:cNvSpPr>
            <p:nvPr/>
          </p:nvSpPr>
          <p:spPr bwMode="auto">
            <a:xfrm>
              <a:off x="3486" y="1593"/>
              <a:ext cx="1662" cy="1725"/>
            </a:xfrm>
            <a:custGeom>
              <a:avLst/>
              <a:gdLst>
                <a:gd name="T0" fmla="*/ 2 w 2070"/>
                <a:gd name="T1" fmla="*/ 3 h 2055"/>
                <a:gd name="T2" fmla="*/ 3 w 2070"/>
                <a:gd name="T3" fmla="*/ 3 h 2055"/>
                <a:gd name="T4" fmla="*/ 5 w 2070"/>
                <a:gd name="T5" fmla="*/ 3 h 2055"/>
                <a:gd name="T6" fmla="*/ 9 w 2070"/>
                <a:gd name="T7" fmla="*/ 3 h 2055"/>
                <a:gd name="T8" fmla="*/ 9 w 2070"/>
                <a:gd name="T9" fmla="*/ 3 h 2055"/>
                <a:gd name="T10" fmla="*/ 10 w 2070"/>
                <a:gd name="T11" fmla="*/ 3 h 2055"/>
                <a:gd name="T12" fmla="*/ 10 w 2070"/>
                <a:gd name="T13" fmla="*/ 3 h 2055"/>
                <a:gd name="T14" fmla="*/ 11 w 2070"/>
                <a:gd name="T15" fmla="*/ 3 h 2055"/>
                <a:gd name="T16" fmla="*/ 11 w 2070"/>
                <a:gd name="T17" fmla="*/ 5 h 2055"/>
                <a:gd name="T18" fmla="*/ 11 w 2070"/>
                <a:gd name="T19" fmla="*/ 6 h 2055"/>
                <a:gd name="T20" fmla="*/ 11 w 2070"/>
                <a:gd name="T21" fmla="*/ 6 h 2055"/>
                <a:gd name="T22" fmla="*/ 11 w 2070"/>
                <a:gd name="T23" fmla="*/ 7 h 2055"/>
                <a:gd name="T24" fmla="*/ 11 w 2070"/>
                <a:gd name="T25" fmla="*/ 8 h 2055"/>
                <a:gd name="T26" fmla="*/ 12 w 2070"/>
                <a:gd name="T27" fmla="*/ 9 h 2055"/>
                <a:gd name="T28" fmla="*/ 12 w 2070"/>
                <a:gd name="T29" fmla="*/ 10 h 2055"/>
                <a:gd name="T30" fmla="*/ 13 w 2070"/>
                <a:gd name="T31" fmla="*/ 11 h 2055"/>
                <a:gd name="T32" fmla="*/ 13 w 2070"/>
                <a:gd name="T33" fmla="*/ 14 h 2055"/>
                <a:gd name="T34" fmla="*/ 14 w 2070"/>
                <a:gd name="T35" fmla="*/ 24 h 2055"/>
                <a:gd name="T36" fmla="*/ 13 w 2070"/>
                <a:gd name="T37" fmla="*/ 29 h 2055"/>
                <a:gd name="T38" fmla="*/ 12 w 2070"/>
                <a:gd name="T39" fmla="*/ 32 h 2055"/>
                <a:gd name="T40" fmla="*/ 11 w 2070"/>
                <a:gd name="T41" fmla="*/ 33 h 2055"/>
                <a:gd name="T42" fmla="*/ 11 w 2070"/>
                <a:gd name="T43" fmla="*/ 35 h 2055"/>
                <a:gd name="T44" fmla="*/ 10 w 2070"/>
                <a:gd name="T45" fmla="*/ 36 h 2055"/>
                <a:gd name="T46" fmla="*/ 9 w 2070"/>
                <a:gd name="T47" fmla="*/ 35 h 2055"/>
                <a:gd name="T48" fmla="*/ 9 w 2070"/>
                <a:gd name="T49" fmla="*/ 35 h 2055"/>
                <a:gd name="T50" fmla="*/ 8 w 2070"/>
                <a:gd name="T51" fmla="*/ 35 h 2055"/>
                <a:gd name="T52" fmla="*/ 7 w 2070"/>
                <a:gd name="T53" fmla="*/ 33 h 2055"/>
                <a:gd name="T54" fmla="*/ 7 w 2070"/>
                <a:gd name="T55" fmla="*/ 31 h 2055"/>
                <a:gd name="T56" fmla="*/ 7 w 2070"/>
                <a:gd name="T57" fmla="*/ 29 h 2055"/>
                <a:gd name="T58" fmla="*/ 6 w 2070"/>
                <a:gd name="T59" fmla="*/ 29 h 2055"/>
                <a:gd name="T60" fmla="*/ 6 w 2070"/>
                <a:gd name="T61" fmla="*/ 29 h 2055"/>
                <a:gd name="T62" fmla="*/ 6 w 2070"/>
                <a:gd name="T63" fmla="*/ 28 h 2055"/>
                <a:gd name="T64" fmla="*/ 5 w 2070"/>
                <a:gd name="T65" fmla="*/ 27 h 2055"/>
                <a:gd name="T66" fmla="*/ 5 w 2070"/>
                <a:gd name="T67" fmla="*/ 24 h 2055"/>
                <a:gd name="T68" fmla="*/ 4 w 2070"/>
                <a:gd name="T69" fmla="*/ 24 h 2055"/>
                <a:gd name="T70" fmla="*/ 2 w 2070"/>
                <a:gd name="T71" fmla="*/ 20 h 2055"/>
                <a:gd name="T72" fmla="*/ 2 w 2070"/>
                <a:gd name="T73" fmla="*/ 20 h 2055"/>
                <a:gd name="T74" fmla="*/ 2 w 2070"/>
                <a:gd name="T75" fmla="*/ 17 h 2055"/>
                <a:gd name="T76" fmla="*/ 2 w 2070"/>
                <a:gd name="T77" fmla="*/ 17 h 2055"/>
                <a:gd name="T78" fmla="*/ 2 w 2070"/>
                <a:gd name="T79" fmla="*/ 17 h 2055"/>
                <a:gd name="T80" fmla="*/ 2 w 2070"/>
                <a:gd name="T81" fmla="*/ 16 h 2055"/>
                <a:gd name="T82" fmla="*/ 2 w 2070"/>
                <a:gd name="T83" fmla="*/ 14 h 2055"/>
                <a:gd name="T84" fmla="*/ 2 w 2070"/>
                <a:gd name="T85" fmla="*/ 14 h 2055"/>
                <a:gd name="T86" fmla="*/ 2 w 2070"/>
                <a:gd name="T87" fmla="*/ 13 h 2055"/>
                <a:gd name="T88" fmla="*/ 2 w 2070"/>
                <a:gd name="T89" fmla="*/ 11 h 2055"/>
                <a:gd name="T90" fmla="*/ 0 w 2070"/>
                <a:gd name="T91" fmla="*/ 10 h 2055"/>
                <a:gd name="T92" fmla="*/ 2 w 2070"/>
                <a:gd name="T93" fmla="*/ 5 h 2055"/>
                <a:gd name="T94" fmla="*/ 2 w 2070"/>
                <a:gd name="T95" fmla="*/ 4 h 2055"/>
                <a:gd name="T96" fmla="*/ 2 w 2070"/>
                <a:gd name="T97" fmla="*/ 4 h 2055"/>
                <a:gd name="T98" fmla="*/ 2 w 2070"/>
                <a:gd name="T99" fmla="*/ 3 h 2055"/>
                <a:gd name="T100" fmla="*/ 2 w 2070"/>
                <a:gd name="T101" fmla="*/ 3 h 2055"/>
                <a:gd name="T102" fmla="*/ 2 w 2070"/>
                <a:gd name="T103" fmla="*/ 3 h 2055"/>
                <a:gd name="T104" fmla="*/ 2 w 2070"/>
                <a:gd name="T105" fmla="*/ 3 h 2055"/>
                <a:gd name="T106" fmla="*/ 2 w 2070"/>
                <a:gd name="T107" fmla="*/ 3 h 20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70"/>
                <a:gd name="T163" fmla="*/ 0 h 2055"/>
                <a:gd name="T164" fmla="*/ 2070 w 2070"/>
                <a:gd name="T165" fmla="*/ 2055 h 205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70" h="2055">
                  <a:moveTo>
                    <a:pt x="320" y="62"/>
                  </a:moveTo>
                  <a:cubicBezTo>
                    <a:pt x="378" y="43"/>
                    <a:pt x="450" y="39"/>
                    <a:pt x="512" y="30"/>
                  </a:cubicBezTo>
                  <a:cubicBezTo>
                    <a:pt x="603" y="0"/>
                    <a:pt x="543" y="15"/>
                    <a:pt x="696" y="6"/>
                  </a:cubicBezTo>
                  <a:cubicBezTo>
                    <a:pt x="957" y="11"/>
                    <a:pt x="1163" y="13"/>
                    <a:pt x="1408" y="54"/>
                  </a:cubicBezTo>
                  <a:cubicBezTo>
                    <a:pt x="1468" y="94"/>
                    <a:pt x="1392" y="47"/>
                    <a:pt x="1464" y="78"/>
                  </a:cubicBezTo>
                  <a:cubicBezTo>
                    <a:pt x="1503" y="95"/>
                    <a:pt x="1475" y="98"/>
                    <a:pt x="1520" y="118"/>
                  </a:cubicBezTo>
                  <a:cubicBezTo>
                    <a:pt x="1545" y="130"/>
                    <a:pt x="1574" y="133"/>
                    <a:pt x="1600" y="142"/>
                  </a:cubicBezTo>
                  <a:cubicBezTo>
                    <a:pt x="1642" y="174"/>
                    <a:pt x="1686" y="173"/>
                    <a:pt x="1736" y="190"/>
                  </a:cubicBezTo>
                  <a:cubicBezTo>
                    <a:pt x="1817" y="271"/>
                    <a:pt x="1761" y="205"/>
                    <a:pt x="1800" y="270"/>
                  </a:cubicBezTo>
                  <a:cubicBezTo>
                    <a:pt x="1810" y="286"/>
                    <a:pt x="1821" y="302"/>
                    <a:pt x="1832" y="318"/>
                  </a:cubicBezTo>
                  <a:cubicBezTo>
                    <a:pt x="1837" y="326"/>
                    <a:pt x="1848" y="342"/>
                    <a:pt x="1848" y="342"/>
                  </a:cubicBezTo>
                  <a:cubicBezTo>
                    <a:pt x="1856" y="369"/>
                    <a:pt x="1867" y="395"/>
                    <a:pt x="1872" y="422"/>
                  </a:cubicBezTo>
                  <a:cubicBezTo>
                    <a:pt x="1876" y="443"/>
                    <a:pt x="1873" y="466"/>
                    <a:pt x="1880" y="486"/>
                  </a:cubicBezTo>
                  <a:cubicBezTo>
                    <a:pt x="1884" y="497"/>
                    <a:pt x="1896" y="502"/>
                    <a:pt x="1904" y="510"/>
                  </a:cubicBezTo>
                  <a:cubicBezTo>
                    <a:pt x="1907" y="521"/>
                    <a:pt x="1908" y="532"/>
                    <a:pt x="1912" y="542"/>
                  </a:cubicBezTo>
                  <a:cubicBezTo>
                    <a:pt x="1921" y="564"/>
                    <a:pt x="1944" y="606"/>
                    <a:pt x="1944" y="606"/>
                  </a:cubicBezTo>
                  <a:cubicBezTo>
                    <a:pt x="1955" y="681"/>
                    <a:pt x="1995" y="740"/>
                    <a:pt x="2008" y="814"/>
                  </a:cubicBezTo>
                  <a:cubicBezTo>
                    <a:pt x="2038" y="978"/>
                    <a:pt x="2046" y="1145"/>
                    <a:pt x="2064" y="1310"/>
                  </a:cubicBezTo>
                  <a:cubicBezTo>
                    <a:pt x="2051" y="1412"/>
                    <a:pt x="2070" y="1524"/>
                    <a:pt x="2040" y="1622"/>
                  </a:cubicBezTo>
                  <a:cubicBezTo>
                    <a:pt x="2021" y="1684"/>
                    <a:pt x="1937" y="1718"/>
                    <a:pt x="1888" y="1750"/>
                  </a:cubicBezTo>
                  <a:cubicBezTo>
                    <a:pt x="1860" y="1792"/>
                    <a:pt x="1828" y="1834"/>
                    <a:pt x="1792" y="1870"/>
                  </a:cubicBezTo>
                  <a:cubicBezTo>
                    <a:pt x="1775" y="1920"/>
                    <a:pt x="1757" y="1964"/>
                    <a:pt x="1704" y="1982"/>
                  </a:cubicBezTo>
                  <a:cubicBezTo>
                    <a:pt x="1678" y="2022"/>
                    <a:pt x="1630" y="2038"/>
                    <a:pt x="1584" y="2046"/>
                  </a:cubicBezTo>
                  <a:cubicBezTo>
                    <a:pt x="1504" y="2043"/>
                    <a:pt x="1422" y="2055"/>
                    <a:pt x="1344" y="2038"/>
                  </a:cubicBezTo>
                  <a:cubicBezTo>
                    <a:pt x="1328" y="2034"/>
                    <a:pt x="1341" y="2001"/>
                    <a:pt x="1328" y="1990"/>
                  </a:cubicBezTo>
                  <a:cubicBezTo>
                    <a:pt x="1311" y="1976"/>
                    <a:pt x="1285" y="1979"/>
                    <a:pt x="1264" y="1974"/>
                  </a:cubicBezTo>
                  <a:cubicBezTo>
                    <a:pt x="1234" y="1915"/>
                    <a:pt x="1199" y="1869"/>
                    <a:pt x="1152" y="1822"/>
                  </a:cubicBezTo>
                  <a:cubicBezTo>
                    <a:pt x="1141" y="1788"/>
                    <a:pt x="1121" y="1767"/>
                    <a:pt x="1096" y="1742"/>
                  </a:cubicBezTo>
                  <a:cubicBezTo>
                    <a:pt x="1091" y="1726"/>
                    <a:pt x="1093" y="1705"/>
                    <a:pt x="1080" y="1694"/>
                  </a:cubicBezTo>
                  <a:cubicBezTo>
                    <a:pt x="1068" y="1683"/>
                    <a:pt x="1043" y="1697"/>
                    <a:pt x="1032" y="1686"/>
                  </a:cubicBezTo>
                  <a:cubicBezTo>
                    <a:pt x="957" y="1611"/>
                    <a:pt x="1104" y="1651"/>
                    <a:pt x="976" y="1630"/>
                  </a:cubicBezTo>
                  <a:cubicBezTo>
                    <a:pt x="928" y="1582"/>
                    <a:pt x="920" y="1572"/>
                    <a:pt x="864" y="1526"/>
                  </a:cubicBezTo>
                  <a:cubicBezTo>
                    <a:pt x="841" y="1507"/>
                    <a:pt x="814" y="1505"/>
                    <a:pt x="792" y="1486"/>
                  </a:cubicBezTo>
                  <a:cubicBezTo>
                    <a:pt x="759" y="1457"/>
                    <a:pt x="736" y="1434"/>
                    <a:pt x="696" y="1414"/>
                  </a:cubicBezTo>
                  <a:cubicBezTo>
                    <a:pt x="671" y="1377"/>
                    <a:pt x="634" y="1379"/>
                    <a:pt x="600" y="1350"/>
                  </a:cubicBezTo>
                  <a:cubicBezTo>
                    <a:pt x="518" y="1280"/>
                    <a:pt x="426" y="1227"/>
                    <a:pt x="344" y="1158"/>
                  </a:cubicBezTo>
                  <a:cubicBezTo>
                    <a:pt x="328" y="1144"/>
                    <a:pt x="292" y="1096"/>
                    <a:pt x="280" y="1078"/>
                  </a:cubicBezTo>
                  <a:cubicBezTo>
                    <a:pt x="267" y="1058"/>
                    <a:pt x="265" y="1031"/>
                    <a:pt x="248" y="1014"/>
                  </a:cubicBezTo>
                  <a:cubicBezTo>
                    <a:pt x="237" y="1003"/>
                    <a:pt x="224" y="995"/>
                    <a:pt x="216" y="982"/>
                  </a:cubicBezTo>
                  <a:cubicBezTo>
                    <a:pt x="203" y="962"/>
                    <a:pt x="200" y="936"/>
                    <a:pt x="184" y="918"/>
                  </a:cubicBezTo>
                  <a:cubicBezTo>
                    <a:pt x="169" y="902"/>
                    <a:pt x="147" y="897"/>
                    <a:pt x="128" y="886"/>
                  </a:cubicBezTo>
                  <a:cubicBezTo>
                    <a:pt x="125" y="870"/>
                    <a:pt x="127" y="853"/>
                    <a:pt x="120" y="838"/>
                  </a:cubicBezTo>
                  <a:cubicBezTo>
                    <a:pt x="115" y="828"/>
                    <a:pt x="103" y="823"/>
                    <a:pt x="96" y="814"/>
                  </a:cubicBezTo>
                  <a:cubicBezTo>
                    <a:pt x="70" y="780"/>
                    <a:pt x="62" y="752"/>
                    <a:pt x="40" y="718"/>
                  </a:cubicBezTo>
                  <a:cubicBezTo>
                    <a:pt x="32" y="686"/>
                    <a:pt x="25" y="654"/>
                    <a:pt x="16" y="622"/>
                  </a:cubicBezTo>
                  <a:cubicBezTo>
                    <a:pt x="12" y="606"/>
                    <a:pt x="0" y="574"/>
                    <a:pt x="0" y="574"/>
                  </a:cubicBezTo>
                  <a:cubicBezTo>
                    <a:pt x="4" y="499"/>
                    <a:pt x="6" y="317"/>
                    <a:pt x="88" y="262"/>
                  </a:cubicBezTo>
                  <a:cubicBezTo>
                    <a:pt x="93" y="254"/>
                    <a:pt x="97" y="245"/>
                    <a:pt x="104" y="238"/>
                  </a:cubicBezTo>
                  <a:cubicBezTo>
                    <a:pt x="111" y="231"/>
                    <a:pt x="122" y="229"/>
                    <a:pt x="128" y="222"/>
                  </a:cubicBezTo>
                  <a:cubicBezTo>
                    <a:pt x="165" y="180"/>
                    <a:pt x="147" y="179"/>
                    <a:pt x="184" y="150"/>
                  </a:cubicBezTo>
                  <a:cubicBezTo>
                    <a:pt x="199" y="138"/>
                    <a:pt x="214" y="124"/>
                    <a:pt x="232" y="118"/>
                  </a:cubicBezTo>
                  <a:cubicBezTo>
                    <a:pt x="248" y="113"/>
                    <a:pt x="280" y="102"/>
                    <a:pt x="280" y="102"/>
                  </a:cubicBezTo>
                  <a:cubicBezTo>
                    <a:pt x="285" y="94"/>
                    <a:pt x="288" y="84"/>
                    <a:pt x="296" y="78"/>
                  </a:cubicBezTo>
                  <a:cubicBezTo>
                    <a:pt x="323" y="57"/>
                    <a:pt x="320" y="82"/>
                    <a:pt x="320" y="62"/>
                  </a:cubicBezTo>
                  <a:close/>
                </a:path>
              </a:pathLst>
            </a:custGeom>
            <a:noFill/>
            <a:ln w="28575" cap="flat" cmpd="sng">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12" name="Oval 13"/>
            <p:cNvSpPr>
              <a:spLocks noChangeArrowheads="1"/>
            </p:cNvSpPr>
            <p:nvPr/>
          </p:nvSpPr>
          <p:spPr bwMode="auto">
            <a:xfrm>
              <a:off x="4174" y="262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3813" name="Oval 14"/>
            <p:cNvSpPr>
              <a:spLocks noChangeArrowheads="1"/>
            </p:cNvSpPr>
            <p:nvPr/>
          </p:nvSpPr>
          <p:spPr bwMode="auto">
            <a:xfrm>
              <a:off x="4722" y="2644"/>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3814" name="Oval 19"/>
            <p:cNvSpPr>
              <a:spLocks noChangeArrowheads="1"/>
            </p:cNvSpPr>
            <p:nvPr/>
          </p:nvSpPr>
          <p:spPr bwMode="auto">
            <a:xfrm>
              <a:off x="4438" y="195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3815" name="Oval 20"/>
            <p:cNvSpPr>
              <a:spLocks noChangeArrowheads="1"/>
            </p:cNvSpPr>
            <p:nvPr/>
          </p:nvSpPr>
          <p:spPr bwMode="auto">
            <a:xfrm>
              <a:off x="4510" y="294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3816" name="Oval 21"/>
            <p:cNvSpPr>
              <a:spLocks noChangeArrowheads="1"/>
            </p:cNvSpPr>
            <p:nvPr/>
          </p:nvSpPr>
          <p:spPr bwMode="auto">
            <a:xfrm>
              <a:off x="4828" y="201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33802" name="Object 8"/>
                <p:cNvSpPr txBox="1"/>
                <p:nvPr/>
              </p:nvSpPr>
              <p:spPr bwMode="auto">
                <a:xfrm>
                  <a:off x="4368" y="1683"/>
                  <a:ext cx="282" cy="32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33802" name="Object 8"/>
                <p:cNvSpPr txBox="1">
                  <a:spLocks noRot="1" noChangeAspect="1" noMove="1" noResize="1" noEditPoints="1" noAdjustHandles="1" noChangeArrowheads="1" noChangeShapeType="1" noTextEdit="1"/>
                </p:cNvSpPr>
                <p:nvPr/>
              </p:nvSpPr>
              <p:spPr bwMode="auto">
                <a:xfrm>
                  <a:off x="4368" y="1683"/>
                  <a:ext cx="282" cy="320"/>
                </a:xfrm>
                <a:prstGeom prst="rect">
                  <a:avLst/>
                </a:prstGeom>
                <a:blipFill>
                  <a:blip r:embed="rId7"/>
                  <a:stretch>
                    <a:fillRect r="-13699"/>
                  </a:stretch>
                </a:blipFill>
                <a:ln>
                  <a:noFill/>
                </a:ln>
                <a:effectLst/>
                <a:extLst/>
              </p:spPr>
              <p:txBody>
                <a:bodyPr/>
                <a:lstStyle/>
                <a:p>
                  <a:r>
                    <a:rPr lang="zh-CN" altLang="en-US">
                      <a:noFill/>
                    </a:rPr>
                    <a:t> </a:t>
                  </a:r>
                </a:p>
              </p:txBody>
            </p:sp>
          </mc:Fallback>
        </mc:AlternateContent>
        <p:sp>
          <p:nvSpPr>
            <p:cNvPr id="33817" name="Oval 37"/>
            <p:cNvSpPr>
              <a:spLocks noChangeArrowheads="1"/>
            </p:cNvSpPr>
            <p:nvPr/>
          </p:nvSpPr>
          <p:spPr bwMode="auto">
            <a:xfrm>
              <a:off x="4858" y="2917"/>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3818" name="Oval 38"/>
            <p:cNvSpPr>
              <a:spLocks noChangeArrowheads="1"/>
            </p:cNvSpPr>
            <p:nvPr/>
          </p:nvSpPr>
          <p:spPr bwMode="auto">
            <a:xfrm>
              <a:off x="4094" y="206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3819" name="Oval 43"/>
            <p:cNvSpPr>
              <a:spLocks noChangeArrowheads="1"/>
            </p:cNvSpPr>
            <p:nvPr/>
          </p:nvSpPr>
          <p:spPr bwMode="auto">
            <a:xfrm>
              <a:off x="4483" y="2522"/>
              <a:ext cx="47" cy="47"/>
            </a:xfrm>
            <a:prstGeom prst="ellipse">
              <a:avLst/>
            </a:prstGeom>
            <a:solidFill>
              <a:srgbClr val="FF0000"/>
            </a:solidFill>
            <a:ln w="9525">
              <a:solidFill>
                <a:srgbClr val="FF0000"/>
              </a:solidFill>
              <a:round/>
              <a:headEnd/>
              <a:tailEnd/>
            </a:ln>
          </p:spPr>
          <p:txBody>
            <a:bodyPr wrap="none" anchor="ctr"/>
            <a:lstStyle/>
            <a:p>
              <a:pPr>
                <a:spcBef>
                  <a:spcPct val="20000"/>
                </a:spcBef>
              </a:pPr>
              <a:endParaRPr lang="en-US" altLang="zh-CN"/>
            </a:p>
          </p:txBody>
        </p:sp>
        <p:sp>
          <p:nvSpPr>
            <p:cNvPr id="33820" name="Text Box 44"/>
            <p:cNvSpPr txBox="1">
              <a:spLocks noChangeArrowheads="1"/>
            </p:cNvSpPr>
            <p:nvPr/>
          </p:nvSpPr>
          <p:spPr bwMode="auto">
            <a:xfrm>
              <a:off x="4296" y="2190"/>
              <a:ext cx="81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a:solidFill>
                    <a:srgbClr val="FF0000"/>
                  </a:solidFill>
                </a:rPr>
                <a:t> </a:t>
              </a:r>
              <a:r>
                <a:rPr lang="en-US" altLang="zh-CN" i="1">
                  <a:solidFill>
                    <a:srgbClr val="FF0000"/>
                  </a:solidFill>
                </a:rPr>
                <a:t>c</a:t>
              </a:r>
              <a:r>
                <a:rPr lang="zh-CN" altLang="en-US" sz="2800">
                  <a:solidFill>
                    <a:srgbClr val="FF0000"/>
                  </a:solidFill>
                </a:rPr>
                <a:t>质心</a:t>
              </a:r>
            </a:p>
          </p:txBody>
        </p:sp>
        <p:sp>
          <p:nvSpPr>
            <p:cNvPr id="33821" name="Text Box 46"/>
            <p:cNvSpPr txBox="1">
              <a:spLocks noChangeArrowheads="1"/>
            </p:cNvSpPr>
            <p:nvPr/>
          </p:nvSpPr>
          <p:spPr bwMode="auto">
            <a:xfrm>
              <a:off x="3752" y="1403"/>
              <a:ext cx="857" cy="3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a:t>质点系</a:t>
              </a:r>
            </a:p>
          </p:txBody>
        </p:sp>
      </p:grpSp>
      <p:grpSp>
        <p:nvGrpSpPr>
          <p:cNvPr id="3" name="Group 50"/>
          <p:cNvGrpSpPr>
            <a:grpSpLocks/>
          </p:cNvGrpSpPr>
          <p:nvPr/>
        </p:nvGrpSpPr>
        <p:grpSpPr bwMode="auto">
          <a:xfrm>
            <a:off x="6516688" y="1154113"/>
            <a:ext cx="1362075" cy="2314575"/>
            <a:chOff x="3562" y="1972"/>
            <a:chExt cx="947" cy="1611"/>
          </a:xfrm>
        </p:grpSpPr>
        <p:sp>
          <p:nvSpPr>
            <p:cNvPr id="33809" name="Line 51"/>
            <p:cNvSpPr>
              <a:spLocks noChangeShapeType="1"/>
            </p:cNvSpPr>
            <p:nvPr/>
          </p:nvSpPr>
          <p:spPr bwMode="auto">
            <a:xfrm flipV="1">
              <a:off x="3660" y="1972"/>
              <a:ext cx="821" cy="1356"/>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10" name="Line 52"/>
            <p:cNvSpPr>
              <a:spLocks noChangeShapeType="1"/>
            </p:cNvSpPr>
            <p:nvPr/>
          </p:nvSpPr>
          <p:spPr bwMode="auto">
            <a:xfrm flipV="1">
              <a:off x="3658" y="2545"/>
              <a:ext cx="851" cy="778"/>
            </a:xfrm>
            <a:prstGeom prst="line">
              <a:avLst/>
            </a:prstGeom>
            <a:noFill/>
            <a:ln w="3810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33799" name="Object 9"/>
                <p:cNvSpPr txBox="1"/>
                <p:nvPr/>
              </p:nvSpPr>
              <p:spPr bwMode="auto">
                <a:xfrm>
                  <a:off x="3968" y="2179"/>
                  <a:ext cx="184" cy="408"/>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33799" name="Object 9"/>
                <p:cNvSpPr txBox="1">
                  <a:spLocks noRot="1" noChangeAspect="1" noMove="1" noResize="1" noEditPoints="1" noAdjustHandles="1" noChangeArrowheads="1" noChangeShapeType="1" noTextEdit="1"/>
                </p:cNvSpPr>
                <p:nvPr/>
              </p:nvSpPr>
              <p:spPr bwMode="auto">
                <a:xfrm>
                  <a:off x="3968" y="2179"/>
                  <a:ext cx="184" cy="408"/>
                </a:xfrm>
                <a:prstGeom prst="rect">
                  <a:avLst/>
                </a:prstGeom>
                <a:blipFill>
                  <a:blip r:embed="rId8"/>
                  <a:stretch>
                    <a:fillRect l="-2326" t="-10417" r="-30233"/>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00" name="Object 10"/>
                <p:cNvSpPr txBox="1"/>
                <p:nvPr/>
              </p:nvSpPr>
              <p:spPr bwMode="auto">
                <a:xfrm>
                  <a:off x="3988" y="2937"/>
                  <a:ext cx="189" cy="426"/>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oMath>
                    </m:oMathPara>
                  </a14:m>
                  <a:endParaRPr lang="zh-CN" altLang="en-US"/>
                </a:p>
              </p:txBody>
            </p:sp>
          </mc:Choice>
          <mc:Fallback xmlns="">
            <p:sp>
              <p:nvSpPr>
                <p:cNvPr id="33800" name="Object 10"/>
                <p:cNvSpPr txBox="1">
                  <a:spLocks noRot="1" noChangeAspect="1" noMove="1" noResize="1" noEditPoints="1" noAdjustHandles="1" noChangeArrowheads="1" noChangeShapeType="1" noTextEdit="1"/>
                </p:cNvSpPr>
                <p:nvPr/>
              </p:nvSpPr>
              <p:spPr bwMode="auto">
                <a:xfrm>
                  <a:off x="3988" y="2937"/>
                  <a:ext cx="189" cy="426"/>
                </a:xfrm>
                <a:prstGeom prst="rect">
                  <a:avLst/>
                </a:prstGeom>
                <a:blipFill>
                  <a:blip r:embed="rId9"/>
                  <a:stretch>
                    <a:fillRect l="-2273" t="-11000" r="-25000"/>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01" name="Object 11"/>
                <p:cNvSpPr txBox="1"/>
                <p:nvPr/>
              </p:nvSpPr>
              <p:spPr bwMode="auto">
                <a:xfrm>
                  <a:off x="3562" y="3303"/>
                  <a:ext cx="251" cy="280"/>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𝑜</m:t>
                        </m:r>
                      </m:oMath>
                    </m:oMathPara>
                  </a14:m>
                  <a:endParaRPr lang="zh-CN" altLang="en-US"/>
                </a:p>
              </p:txBody>
            </p:sp>
          </mc:Choice>
          <mc:Fallback xmlns="">
            <p:sp>
              <p:nvSpPr>
                <p:cNvPr id="33801" name="Object 11"/>
                <p:cNvSpPr txBox="1">
                  <a:spLocks noRot="1" noChangeAspect="1" noMove="1" noResize="1" noEditPoints="1" noAdjustHandles="1" noChangeArrowheads="1" noChangeShapeType="1" noTextEdit="1"/>
                </p:cNvSpPr>
                <p:nvPr/>
              </p:nvSpPr>
              <p:spPr bwMode="auto">
                <a:xfrm>
                  <a:off x="3562" y="3303"/>
                  <a:ext cx="251" cy="280"/>
                </a:xfrm>
                <a:prstGeom prst="rect">
                  <a:avLst/>
                </a:prstGeom>
                <a:blipFill>
                  <a:blip r:embed="rId10"/>
                  <a:stretch>
                    <a:fillRect/>
                  </a:stretch>
                </a:blipFill>
                <a:ln>
                  <a:noFill/>
                </a:ln>
                <a:effectLst/>
                <a:extLst/>
              </p:spPr>
              <p:txBody>
                <a:bodyPr/>
                <a:lstStyle/>
                <a:p>
                  <a:r>
                    <a:rPr lang="zh-CN" altLang="en-US">
                      <a:noFill/>
                    </a:rPr>
                    <a:t> </a:t>
                  </a:r>
                </a:p>
              </p:txBody>
            </p:sp>
          </mc:Fallback>
        </mc:AlternateContent>
      </p:grpSp>
    </p:spTree>
    <p:extLst>
      <p:ext uri="{BB962C8B-B14F-4D97-AF65-F5344CB8AC3E}">
        <p14:creationId xmlns:p14="http://schemas.microsoft.com/office/powerpoint/2010/main" val="241833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33"/>
                                        </p:tgtEl>
                                        <p:attrNameLst>
                                          <p:attrName>style.visibility</p:attrName>
                                        </p:attrNameLst>
                                      </p:cBhvr>
                                      <p:to>
                                        <p:strVal val="visible"/>
                                      </p:to>
                                    </p:set>
                                    <p:animEffect transition="in" filter="blinds(horizontal)">
                                      <p:cBhvr>
                                        <p:cTn id="7" dur="500"/>
                                        <p:tgtEl>
                                          <p:spTgt spid="4915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9153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4915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15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15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91536"/>
                                        </p:tgtEl>
                                        <p:attrNameLst>
                                          <p:attrName>style.visibility</p:attrName>
                                        </p:attrNameLst>
                                      </p:cBhvr>
                                      <p:to>
                                        <p:strVal val="visible"/>
                                      </p:to>
                                    </p:set>
                                    <p:animEffect transition="in" filter="blinds(horizontal)">
                                      <p:cBhvr>
                                        <p:cTn id="31" dur="500"/>
                                        <p:tgtEl>
                                          <p:spTgt spid="49153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915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33" grpId="0" autoUpdateAnimBg="0"/>
      <p:bldP spid="491534" grpId="0"/>
      <p:bldP spid="491536" grpId="0" autoUpdateAnimBg="0"/>
      <p:bldP spid="491537" grpId="0" animBg="1"/>
      <p:bldP spid="491539" grpId="0"/>
      <p:bldP spid="491541" grpId="0"/>
      <p:bldP spid="49154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303" name="Text Box 31"/>
          <p:cNvSpPr txBox="1">
            <a:spLocks noChangeArrowheads="1"/>
          </p:cNvSpPr>
          <p:nvPr/>
        </p:nvSpPr>
        <p:spPr bwMode="auto">
          <a:xfrm>
            <a:off x="395288" y="5349875"/>
            <a:ext cx="8748712" cy="830263"/>
          </a:xfrm>
          <a:prstGeom prst="rect">
            <a:avLst/>
          </a:prstGeom>
          <a:noFill/>
          <a:ln w="12700">
            <a:noFill/>
            <a:miter lim="800000"/>
            <a:headEnd type="none" w="sm" len="sm"/>
            <a:tailEnd type="none" w="sm" len="sm"/>
          </a:ln>
          <a:effectLst/>
        </p:spPr>
        <p:txBody>
          <a:bodyPr>
            <a:spAutoFit/>
          </a:bodyPr>
          <a:lstStyle/>
          <a:p>
            <a:pPr>
              <a:spcBef>
                <a:spcPct val="20000"/>
              </a:spcBef>
              <a:defRPr/>
            </a:pPr>
            <a:r>
              <a:rPr lang="en-US" altLang="zh-CN" b="1" dirty="0">
                <a:solidFill>
                  <a:srgbClr val="000C0C"/>
                </a:solidFill>
                <a:effectLst>
                  <a:outerShdw blurRad="38100" dist="38100" dir="2700000" algn="tl">
                    <a:srgbClr val="C0C0C0"/>
                  </a:outerShdw>
                </a:effectLst>
                <a:latin typeface="楷体_GB2312" pitchFamily="49" charset="-122"/>
              </a:rPr>
              <a:t>  </a:t>
            </a:r>
            <a:r>
              <a:rPr lang="zh-CN" altLang="en-US" b="1" dirty="0">
                <a:solidFill>
                  <a:srgbClr val="000C0C"/>
                </a:solidFill>
                <a:latin typeface="楷体_GB2312" pitchFamily="49" charset="-122"/>
              </a:rPr>
              <a:t>可见质心位矢是质点位矢的加权平均值，这个</a:t>
            </a:r>
            <a:r>
              <a:rPr lang="zh-CN" altLang="en-US" b="1" dirty="0">
                <a:solidFill>
                  <a:srgbClr val="000C0C"/>
                </a:solidFill>
                <a:latin typeface="Times New Roman"/>
              </a:rPr>
              <a:t>“</a:t>
            </a:r>
            <a:r>
              <a:rPr lang="zh-CN" altLang="en-US" b="1" dirty="0">
                <a:solidFill>
                  <a:srgbClr val="000C0C"/>
                </a:solidFill>
                <a:latin typeface="楷体_GB2312" pitchFamily="49" charset="-122"/>
              </a:rPr>
              <a:t>权</a:t>
            </a:r>
            <a:r>
              <a:rPr lang="zh-CN" altLang="en-US" b="1" dirty="0">
                <a:solidFill>
                  <a:srgbClr val="000C0C"/>
                </a:solidFill>
                <a:latin typeface="Times New Roman"/>
              </a:rPr>
              <a:t>”</a:t>
            </a:r>
            <a:r>
              <a:rPr lang="zh-CN" altLang="en-US" b="1" dirty="0">
                <a:solidFill>
                  <a:srgbClr val="000C0C"/>
                </a:solidFill>
                <a:latin typeface="楷体_GB2312" pitchFamily="49" charset="-122"/>
              </a:rPr>
              <a:t>与质点的质量分布有关</a:t>
            </a:r>
            <a:r>
              <a:rPr lang="en-US" altLang="zh-CN" b="1" dirty="0">
                <a:solidFill>
                  <a:srgbClr val="000C0C"/>
                </a:solidFill>
                <a:latin typeface="楷体_GB2312" pitchFamily="49" charset="-122"/>
              </a:rPr>
              <a:t>.</a:t>
            </a:r>
          </a:p>
        </p:txBody>
      </p:sp>
      <p:sp>
        <p:nvSpPr>
          <p:cNvPr id="438308" name="Text Box 36"/>
          <p:cNvSpPr txBox="1">
            <a:spLocks noChangeArrowheads="1"/>
          </p:cNvSpPr>
          <p:nvPr/>
        </p:nvSpPr>
        <p:spPr bwMode="auto">
          <a:xfrm>
            <a:off x="647700" y="325438"/>
            <a:ext cx="3455988" cy="457200"/>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dirty="0">
                <a:solidFill>
                  <a:srgbClr val="000C0C"/>
                </a:solidFill>
                <a:latin typeface="楷体_GB2312" pitchFamily="49" charset="-122"/>
              </a:rPr>
              <a:t>（</a:t>
            </a:r>
            <a:r>
              <a:rPr lang="en-US" altLang="zh-CN" b="1" dirty="0">
                <a:solidFill>
                  <a:srgbClr val="000C0C"/>
                </a:solidFill>
                <a:latin typeface="楷体_GB2312" pitchFamily="49" charset="-122"/>
              </a:rPr>
              <a:t>2</a:t>
            </a:r>
            <a:r>
              <a:rPr lang="zh-CN" altLang="en-US" b="1" dirty="0">
                <a:solidFill>
                  <a:srgbClr val="000C0C"/>
                </a:solidFill>
                <a:latin typeface="楷体_GB2312" pitchFamily="49" charset="-122"/>
              </a:rPr>
              <a:t>）</a:t>
            </a:r>
            <a:r>
              <a:rPr lang="en-US" altLang="zh-CN" b="1" i="1" dirty="0">
                <a:solidFill>
                  <a:srgbClr val="000C0C"/>
                </a:solidFill>
              </a:rPr>
              <a:t>n</a:t>
            </a:r>
            <a:r>
              <a:rPr lang="zh-CN" altLang="en-US" b="1" dirty="0">
                <a:solidFill>
                  <a:srgbClr val="000C0C"/>
                </a:solidFill>
                <a:latin typeface="楷体_GB2312" pitchFamily="49" charset="-122"/>
              </a:rPr>
              <a:t>个质点系统</a:t>
            </a:r>
            <a:endParaRPr lang="zh-CN" altLang="en-US" sz="2800" b="1" dirty="0">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38309" name="Object 2"/>
              <p:cNvSpPr txBox="1"/>
              <p:nvPr/>
            </p:nvSpPr>
            <p:spPr bwMode="auto">
              <a:xfrm>
                <a:off x="6556736" y="1492332"/>
                <a:ext cx="1828800" cy="15843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oMath>
                  </m:oMathPara>
                </a14:m>
                <a:endParaRPr lang="zh-CN" altLang="en-US" dirty="0"/>
              </a:p>
            </p:txBody>
          </p:sp>
        </mc:Choice>
        <mc:Fallback xmlns="">
          <p:sp>
            <p:nvSpPr>
              <p:cNvPr id="438309" name="Object 2"/>
              <p:cNvSpPr txBox="1">
                <a:spLocks noRot="1" noChangeAspect="1" noMove="1" noResize="1" noEditPoints="1" noAdjustHandles="1" noChangeArrowheads="1" noChangeShapeType="1" noTextEdit="1"/>
              </p:cNvSpPr>
              <p:nvPr/>
            </p:nvSpPr>
            <p:spPr bwMode="auto">
              <a:xfrm>
                <a:off x="6556736" y="1492332"/>
                <a:ext cx="1828800" cy="1584325"/>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438311" name="Text Box 39"/>
          <p:cNvSpPr txBox="1">
            <a:spLocks noChangeArrowheads="1"/>
          </p:cNvSpPr>
          <p:nvPr/>
        </p:nvSpPr>
        <p:spPr bwMode="auto">
          <a:xfrm>
            <a:off x="900113" y="2971800"/>
            <a:ext cx="2303462" cy="457200"/>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a:solidFill>
                  <a:srgbClr val="000C0C"/>
                </a:solidFill>
                <a:latin typeface="楷体_GB2312" pitchFamily="49" charset="-122"/>
              </a:rPr>
              <a:t>分量形式</a:t>
            </a:r>
            <a:endParaRPr lang="zh-CN" altLang="en-US" b="1">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38312" name="Object 3"/>
              <p:cNvSpPr txBox="1"/>
              <p:nvPr/>
            </p:nvSpPr>
            <p:spPr bwMode="auto">
              <a:xfrm>
                <a:off x="1585913" y="3962400"/>
                <a:ext cx="6248400" cy="1260475"/>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m>
                        <m:mPr>
                          <m:plcHide m:val="on"/>
                          <m:mcs>
                            <m:mc>
                              <m:mcPr>
                                <m:count m:val="3"/>
                                <m:mcJc m:val="center"/>
                              </m:mcPr>
                            </m:mc>
                          </m:mcs>
                          <m:ctrlPr>
                            <a:rPr lang="zh-CN" altLang="en-US" i="1">
                              <a:solidFill>
                                <a:srgbClr val="000000"/>
                              </a:solidFill>
                              <a:latin typeface="Cambria Math" panose="02040503050406030204" pitchFamily="18" charset="0"/>
                            </a:rPr>
                          </m:ctrlPr>
                        </m:mPr>
                        <m:mr>
                          <m:e/>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𝑖</m:t>
                                        </m:r>
                                      </m:sub>
                                    </m:sSub>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e>
                        </m:mr>
                      </m:m>
                      <m:m>
                        <m:mPr>
                          <m:plcHide m:val="on"/>
                          <m:mcs>
                            <m:mc>
                              <m:mcPr>
                                <m:count m:val="3"/>
                                <m:mcJc m:val="center"/>
                              </m:mcPr>
                            </m:mc>
                          </m:mcs>
                          <m:ctrlPr>
                            <a:rPr lang="zh-CN" altLang="en-US" i="1">
                              <a:solidFill>
                                <a:srgbClr val="000000"/>
                              </a:solidFill>
                              <a:latin typeface="Cambria Math" panose="02040503050406030204" pitchFamily="18" charset="0"/>
                            </a:rPr>
                          </m:ctrlPr>
                        </m:mPr>
                        <m:mr>
                          <m:e/>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𝑧</m:t>
                                </m:r>
                              </m:e>
                              <m:sub>
                                <m:r>
                                  <a:rPr lang="zh-CN" altLang="en-US" i="1">
                                    <a:solidFill>
                                      <a:srgbClr val="000000"/>
                                    </a:solidFill>
                                    <a:latin typeface="Cambria Math" panose="02040503050406030204" pitchFamily="18" charset="0"/>
                                  </a:rPr>
                                  <m:t>𝑐</m:t>
                                </m:r>
                              </m:sub>
                            </m:sSub>
                          </m:e>
                        </m:mr>
                      </m:m>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𝑧</m:t>
                                  </m:r>
                                </m:e>
                                <m:sub>
                                  <m:r>
                                    <a:rPr lang="zh-CN" altLang="en-US" i="1">
                                      <a:solidFill>
                                        <a:srgbClr val="000000"/>
                                      </a:solidFill>
                                      <a:latin typeface="Cambria Math" panose="02040503050406030204" pitchFamily="18" charset="0"/>
                                    </a:rPr>
                                    <m:t>𝑖</m:t>
                                  </m:r>
                                </m:sub>
                              </m:sSub>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oMath>
                  </m:oMathPara>
                </a14:m>
                <a:endParaRPr lang="zh-CN" altLang="en-US"/>
              </a:p>
            </p:txBody>
          </p:sp>
        </mc:Choice>
        <mc:Fallback xmlns="">
          <p:sp>
            <p:nvSpPr>
              <p:cNvPr id="438312" name="Object 3"/>
              <p:cNvSpPr txBox="1">
                <a:spLocks noRot="1" noChangeAspect="1" noMove="1" noResize="1" noEditPoints="1" noAdjustHandles="1" noChangeArrowheads="1" noChangeShapeType="1" noTextEdit="1"/>
              </p:cNvSpPr>
              <p:nvPr/>
            </p:nvSpPr>
            <p:spPr bwMode="auto">
              <a:xfrm>
                <a:off x="1585913" y="3962400"/>
                <a:ext cx="6248400" cy="1260475"/>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对象 1"/>
              <p:cNvSpPr txBox="1"/>
              <p:nvPr/>
            </p:nvSpPr>
            <p:spPr bwMode="auto">
              <a:xfrm>
                <a:off x="1909771" y="1407583"/>
                <a:ext cx="3455988" cy="1648273"/>
              </a:xfrm>
              <a:prstGeom prst="rect">
                <a:avLst/>
              </a:prstGeom>
              <a:noFill/>
              <a:ln w="9525">
                <a:solidFill>
                  <a:schemeClr val="accent1"/>
                </a:solid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r>
                        <m:rPr>
                          <m:nor/>
                        </m:rPr>
                        <a:rPr lang="zh-CN" altLang="en-US" i="0">
                          <a:solidFill>
                            <a:srgbClr val="000000"/>
                          </a:solidFill>
                          <a:latin typeface="Cambria Math" panose="02040503050406030204" pitchFamily="18" charset="0"/>
                        </a:rPr>
                        <m:t> =</m:t>
                      </m:r>
                      <m:f>
                        <m:fPr>
                          <m:ctrlPr>
                            <a:rPr lang="zh-CN" altLang="en-US" i="1">
                              <a:solidFill>
                                <a:srgbClr val="000000"/>
                              </a:solidFill>
                              <a:latin typeface="Cambria Math" panose="02040503050406030204" pitchFamily="18" charset="0"/>
                            </a:rPr>
                          </m:ctrlPr>
                        </m:fPr>
                        <m:num>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r>
                            <a:rPr lang="zh-CN" altLang="en-US" i="1">
                              <a:solidFill>
                                <a:srgbClr val="000000"/>
                              </a:solidFill>
                              <a:latin typeface="Cambria Math" panose="02040503050406030204" pitchFamily="18" charset="0"/>
                            </a:rPr>
                            <m:t>𝑀</m:t>
                          </m:r>
                        </m:den>
                      </m:f>
                      <m:r>
                        <a:rPr lang="zh-CN" altLang="en-US" i="0">
                          <a:solidFill>
                            <a:srgbClr val="000000"/>
                          </a:solidFill>
                          <a:latin typeface="Cambria Math" panose="02040503050406030204" pitchFamily="18" charset="0"/>
                        </a:rPr>
                        <m:t> </m:t>
                      </m:r>
                    </m:oMath>
                  </m:oMathPara>
                </a14:m>
                <a:endParaRPr lang="zh-CN" altLang="en-US" dirty="0"/>
              </a:p>
            </p:txBody>
          </p:sp>
        </mc:Choice>
        <mc:Fallback xmlns="">
          <p:sp>
            <p:nvSpPr>
              <p:cNvPr id="2" name="对象 1"/>
              <p:cNvSpPr txBox="1">
                <a:spLocks noRot="1" noChangeAspect="1" noMove="1" noResize="1" noEditPoints="1" noAdjustHandles="1" noChangeArrowheads="1" noChangeShapeType="1" noTextEdit="1"/>
              </p:cNvSpPr>
              <p:nvPr/>
            </p:nvSpPr>
            <p:spPr bwMode="auto">
              <a:xfrm>
                <a:off x="1909771" y="1407583"/>
                <a:ext cx="3455988" cy="1648273"/>
              </a:xfrm>
              <a:prstGeom prst="rect">
                <a:avLst/>
              </a:prstGeom>
              <a:blipFill>
                <a:blip r:embed="rId4"/>
                <a:stretch>
                  <a:fillRect/>
                </a:stretch>
              </a:blipFill>
              <a:ln w="9525">
                <a:solidFill>
                  <a:schemeClr val="accent1"/>
                </a:solidFill>
                <a:miter lim="800000"/>
                <a:headEnd/>
                <a:tailEnd/>
              </a:ln>
              <a:effectLst/>
            </p:spPr>
            <p:txBody>
              <a:bodyPr/>
              <a:lstStyle/>
              <a:p>
                <a:r>
                  <a:rPr lang="zh-CN" altLang="en-US">
                    <a:noFill/>
                  </a:rPr>
                  <a:t> </a:t>
                </a:r>
              </a:p>
            </p:txBody>
          </p:sp>
        </mc:Fallback>
      </mc:AlternateContent>
      <p:sp>
        <p:nvSpPr>
          <p:cNvPr id="3" name="矩形 2"/>
          <p:cNvSpPr/>
          <p:nvPr/>
        </p:nvSpPr>
        <p:spPr>
          <a:xfrm>
            <a:off x="166391" y="1655415"/>
            <a:ext cx="1885453" cy="461665"/>
          </a:xfrm>
          <a:prstGeom prst="rect">
            <a:avLst/>
          </a:prstGeom>
        </p:spPr>
        <p:txBody>
          <a:bodyPr wrap="none">
            <a:spAutoFit/>
          </a:bodyPr>
          <a:lstStyle/>
          <a:p>
            <a:pPr>
              <a:spcBef>
                <a:spcPct val="20000"/>
              </a:spcBef>
              <a:defRPr/>
            </a:pPr>
            <a:r>
              <a:rPr lang="en-US" altLang="zh-CN" b="1" i="1" dirty="0">
                <a:solidFill>
                  <a:srgbClr val="000C0C"/>
                </a:solidFill>
              </a:rPr>
              <a:t>2</a:t>
            </a:r>
            <a:r>
              <a:rPr lang="zh-CN" altLang="en-US" b="1" dirty="0">
                <a:solidFill>
                  <a:srgbClr val="000C0C"/>
                </a:solidFill>
                <a:latin typeface="楷体_GB2312" pitchFamily="49" charset="-122"/>
              </a:rPr>
              <a:t>个质点系统</a:t>
            </a:r>
            <a:endParaRPr lang="zh-CN" altLang="en-US" sz="2800" b="1" dirty="0">
              <a:solidFill>
                <a:srgbClr val="000C0C"/>
              </a:solidFill>
              <a:effectLst>
                <a:outerShdw blurRad="38100" dist="38100" dir="2700000" algn="tl">
                  <a:srgbClr val="C0C0C0"/>
                </a:outerShdw>
              </a:effectLst>
              <a:latin typeface="楷体_GB2312" pitchFamily="49" charset="-122"/>
            </a:endParaRPr>
          </a:p>
        </p:txBody>
      </p:sp>
      <p:sp>
        <p:nvSpPr>
          <p:cNvPr id="4" name="右箭头 3"/>
          <p:cNvSpPr/>
          <p:nvPr/>
        </p:nvSpPr>
        <p:spPr bwMode="auto">
          <a:xfrm>
            <a:off x="5580112" y="1886247"/>
            <a:ext cx="720080" cy="462633"/>
          </a:xfrm>
          <a:prstGeom prst="rightArrow">
            <a:avLst/>
          </a:prstGeom>
          <a:noFill/>
          <a:ln w="9525" cap="flat" cmpd="sng" algn="ctr">
            <a:solidFill>
              <a:srgbClr val="FF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400" b="0" i="0" u="none" strike="noStrike" cap="none" normalizeH="0" baseline="0">
              <a:ln>
                <a:solidFill>
                  <a:srgbClr val="FF0000"/>
                </a:solidFill>
              </a:ln>
              <a:solidFill>
                <a:srgbClr val="C00000"/>
              </a:solidFill>
              <a:effectLst/>
              <a:latin typeface="Times New Roman" pitchFamily="18" charset="0"/>
              <a:ea typeface="楷体_GB2312" pitchFamily="49" charset="-122"/>
            </a:endParaRPr>
          </a:p>
        </p:txBody>
      </p:sp>
      <mc:AlternateContent xmlns:mc="http://schemas.openxmlformats.org/markup-compatibility/2006" xmlns:a14="http://schemas.microsoft.com/office/drawing/2010/main">
        <mc:Choice Requires="a14">
          <p:sp>
            <p:nvSpPr>
              <p:cNvPr id="5" name="对象 4"/>
              <p:cNvSpPr txBox="1"/>
              <p:nvPr/>
            </p:nvSpPr>
            <p:spPr bwMode="auto">
              <a:xfrm>
                <a:off x="7884616" y="5839126"/>
                <a:ext cx="864096" cy="999381"/>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oMath>
                  </m:oMathPara>
                </a14:m>
                <a:endParaRPr lang="zh-CN" altLang="en-US" dirty="0"/>
              </a:p>
            </p:txBody>
          </p:sp>
        </mc:Choice>
        <mc:Fallback xmlns="">
          <p:sp>
            <p:nvSpPr>
              <p:cNvPr id="5" name="对象 4"/>
              <p:cNvSpPr txBox="1">
                <a:spLocks noRot="1" noChangeAspect="1" noMove="1" noResize="1" noEditPoints="1" noAdjustHandles="1" noChangeArrowheads="1" noChangeShapeType="1" noTextEdit="1"/>
              </p:cNvSpPr>
              <p:nvPr/>
            </p:nvSpPr>
            <p:spPr bwMode="auto">
              <a:xfrm>
                <a:off x="7884616" y="5839126"/>
                <a:ext cx="864096" cy="999381"/>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8" name="圆角右箭头 7"/>
          <p:cNvSpPr/>
          <p:nvPr/>
        </p:nvSpPr>
        <p:spPr bwMode="auto">
          <a:xfrm flipV="1">
            <a:off x="7308304" y="5805264"/>
            <a:ext cx="360040" cy="607814"/>
          </a:xfrm>
          <a:prstGeom prst="bentArrow">
            <a:avLst>
              <a:gd name="adj1" fmla="val 25000"/>
              <a:gd name="adj2" fmla="val 25000"/>
              <a:gd name="adj3" fmla="val 25000"/>
              <a:gd name="adj4" fmla="val 47278"/>
            </a:avLst>
          </a:prstGeom>
          <a:noFill/>
          <a:ln w="9525" cap="flat" cmpd="sng" algn="ctr">
            <a:solidFill>
              <a:srgbClr val="FF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3879550726"/>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83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38311"/>
                                        </p:tgtEl>
                                        <p:attrNameLst>
                                          <p:attrName>style.visibility</p:attrName>
                                        </p:attrNameLst>
                                      </p:cBhvr>
                                      <p:to>
                                        <p:strVal val="visible"/>
                                      </p:to>
                                    </p:set>
                                    <p:animEffect transition="in" filter="blinds(horizontal)">
                                      <p:cBhvr>
                                        <p:cTn id="21" dur="500"/>
                                        <p:tgtEl>
                                          <p:spTgt spid="4383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383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38303"/>
                                        </p:tgtEl>
                                        <p:attrNameLst>
                                          <p:attrName>style.visibility</p:attrName>
                                        </p:attrNameLst>
                                      </p:cBhvr>
                                      <p:to>
                                        <p:strVal val="visible"/>
                                      </p:to>
                                    </p:set>
                                    <p:animEffect transition="in" filter="blinds(horizontal)">
                                      <p:cBhvr>
                                        <p:cTn id="30" dur="500"/>
                                        <p:tgtEl>
                                          <p:spTgt spid="438303"/>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303" grpId="0"/>
      <p:bldP spid="438309" grpId="0"/>
      <p:bldP spid="438311" grpId="0"/>
      <p:bldP spid="438312" grpId="0"/>
      <p:bldP spid="2" grpId="0" animBg="1"/>
      <p:bldP spid="3" grpId="0"/>
      <p:bldP spid="4" grpId="0" animBg="1"/>
      <p:bldP spid="5" grpId="0"/>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5526" name="Object 2"/>
              <p:cNvSpPr txBox="1"/>
              <p:nvPr/>
            </p:nvSpPr>
            <p:spPr bwMode="auto">
              <a:xfrm>
                <a:off x="609600" y="3756025"/>
                <a:ext cx="1828800" cy="457200"/>
              </a:xfrm>
              <a:prstGeom prst="rect">
                <a:avLst/>
              </a:prstGeom>
              <a:solidFill>
                <a:srgbClr val="FFCCCC"/>
              </a:soli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𝑑𝑚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𝜆</m:t>
                      </m:r>
                      <m:r>
                        <a:rPr lang="zh-CN" altLang="en-US" i="1">
                          <a:solidFill>
                            <a:srgbClr val="000000"/>
                          </a:solidFill>
                          <a:latin typeface="Cambria Math" panose="02040503050406030204" pitchFamily="18" charset="0"/>
                        </a:rPr>
                        <m:t>𝑑𝑙</m:t>
                      </m:r>
                    </m:oMath>
                  </m:oMathPara>
                </a14:m>
                <a:endParaRPr lang="zh-CN" altLang="en-US" dirty="0"/>
              </a:p>
            </p:txBody>
          </p:sp>
        </mc:Choice>
        <mc:Fallback xmlns="">
          <p:sp>
            <p:nvSpPr>
              <p:cNvPr id="235526" name="Object 2"/>
              <p:cNvSpPr txBox="1">
                <a:spLocks noRot="1" noChangeAspect="1" noMove="1" noResize="1" noEditPoints="1" noAdjustHandles="1" noChangeArrowheads="1" noChangeShapeType="1" noTextEdit="1"/>
              </p:cNvSpPr>
              <p:nvPr/>
            </p:nvSpPr>
            <p:spPr bwMode="auto">
              <a:xfrm>
                <a:off x="609600" y="3756025"/>
                <a:ext cx="1828800" cy="457200"/>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5527" name="Object 3"/>
              <p:cNvSpPr txBox="1"/>
              <p:nvPr/>
            </p:nvSpPr>
            <p:spPr bwMode="auto">
              <a:xfrm>
                <a:off x="3656013" y="3756025"/>
                <a:ext cx="1752600" cy="457200"/>
              </a:xfrm>
              <a:prstGeom prst="rect">
                <a:avLst/>
              </a:prstGeom>
              <a:solidFill>
                <a:srgbClr val="FFCC99"/>
              </a:soli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𝑑𝑚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𝑑𝑠</m:t>
                      </m:r>
                    </m:oMath>
                  </m:oMathPara>
                </a14:m>
                <a:endParaRPr lang="zh-CN" altLang="en-US" dirty="0"/>
              </a:p>
            </p:txBody>
          </p:sp>
        </mc:Choice>
        <mc:Fallback xmlns="">
          <p:sp>
            <p:nvSpPr>
              <p:cNvPr id="235527" name="Object 3"/>
              <p:cNvSpPr txBox="1">
                <a:spLocks noRot="1" noChangeAspect="1" noMove="1" noResize="1" noEditPoints="1" noAdjustHandles="1" noChangeArrowheads="1" noChangeShapeType="1" noTextEdit="1"/>
              </p:cNvSpPr>
              <p:nvPr/>
            </p:nvSpPr>
            <p:spPr bwMode="auto">
              <a:xfrm>
                <a:off x="3656013" y="3756025"/>
                <a:ext cx="1752600" cy="457200"/>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5528" name="Object 4"/>
              <p:cNvSpPr txBox="1"/>
              <p:nvPr/>
            </p:nvSpPr>
            <p:spPr bwMode="auto">
              <a:xfrm>
                <a:off x="6477000" y="3702050"/>
                <a:ext cx="1828800" cy="511175"/>
              </a:xfrm>
              <a:prstGeom prst="rect">
                <a:avLst/>
              </a:prstGeom>
              <a:solidFill>
                <a:srgbClr val="FFCCFF"/>
              </a:solid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𝑑𝑚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𝑑𝑉</m:t>
                      </m:r>
                    </m:oMath>
                  </m:oMathPara>
                </a14:m>
                <a:endParaRPr lang="zh-CN" altLang="en-US" dirty="0"/>
              </a:p>
            </p:txBody>
          </p:sp>
        </mc:Choice>
        <mc:Fallback xmlns="">
          <p:sp>
            <p:nvSpPr>
              <p:cNvPr id="235528" name="Object 4"/>
              <p:cNvSpPr txBox="1">
                <a:spLocks noRot="1" noChangeAspect="1" noMove="1" noResize="1" noEditPoints="1" noAdjustHandles="1" noChangeArrowheads="1" noChangeShapeType="1" noTextEdit="1"/>
              </p:cNvSpPr>
              <p:nvPr/>
            </p:nvSpPr>
            <p:spPr bwMode="auto">
              <a:xfrm>
                <a:off x="6477000" y="3702050"/>
                <a:ext cx="1828800" cy="511175"/>
              </a:xfrm>
              <a:prstGeom prst="rect">
                <a:avLst/>
              </a:prstGeom>
              <a:blipFill>
                <a:blip r:embed="rId4"/>
                <a:stretch>
                  <a:fillRect b="-7143"/>
                </a:stretch>
              </a:blipFill>
              <a:ln>
                <a:noFill/>
              </a:ln>
              <a:effectLst/>
              <a:extLst/>
            </p:spPr>
            <p:txBody>
              <a:bodyPr/>
              <a:lstStyle/>
              <a:p>
                <a:r>
                  <a:rPr lang="zh-CN" altLang="en-US">
                    <a:noFill/>
                  </a:rPr>
                  <a:t> </a:t>
                </a:r>
              </a:p>
            </p:txBody>
          </p:sp>
        </mc:Fallback>
      </mc:AlternateContent>
      <p:sp>
        <p:nvSpPr>
          <p:cNvPr id="235529" name="Text Box 9"/>
          <p:cNvSpPr txBox="1">
            <a:spLocks noChangeArrowheads="1"/>
          </p:cNvSpPr>
          <p:nvPr/>
        </p:nvSpPr>
        <p:spPr bwMode="auto">
          <a:xfrm>
            <a:off x="457200" y="3016250"/>
            <a:ext cx="259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a:t>质量为线分布</a:t>
            </a:r>
          </a:p>
        </p:txBody>
      </p:sp>
      <p:sp>
        <p:nvSpPr>
          <p:cNvPr id="235530" name="Text Box 10"/>
          <p:cNvSpPr txBox="1">
            <a:spLocks noChangeArrowheads="1"/>
          </p:cNvSpPr>
          <p:nvPr/>
        </p:nvSpPr>
        <p:spPr bwMode="auto">
          <a:xfrm>
            <a:off x="3427413" y="3016250"/>
            <a:ext cx="2668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a:t>质量为面分布</a:t>
            </a:r>
          </a:p>
        </p:txBody>
      </p:sp>
      <p:sp>
        <p:nvSpPr>
          <p:cNvPr id="235531" name="Text Box 11"/>
          <p:cNvSpPr txBox="1">
            <a:spLocks noChangeArrowheads="1"/>
          </p:cNvSpPr>
          <p:nvPr/>
        </p:nvSpPr>
        <p:spPr bwMode="auto">
          <a:xfrm>
            <a:off x="6248400" y="301625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a:t>质量为体分布</a:t>
            </a:r>
          </a:p>
        </p:txBody>
      </p:sp>
      <p:grpSp>
        <p:nvGrpSpPr>
          <p:cNvPr id="2" name="Group 12"/>
          <p:cNvGrpSpPr>
            <a:grpSpLocks/>
          </p:cNvGrpSpPr>
          <p:nvPr/>
        </p:nvGrpSpPr>
        <p:grpSpPr bwMode="auto">
          <a:xfrm>
            <a:off x="533400" y="5302250"/>
            <a:ext cx="1981200" cy="1295400"/>
            <a:chOff x="240" y="3264"/>
            <a:chExt cx="1248" cy="816"/>
          </a:xfrm>
        </p:grpSpPr>
        <p:grpSp>
          <p:nvGrpSpPr>
            <p:cNvPr id="35870" name="Group 13"/>
            <p:cNvGrpSpPr>
              <a:grpSpLocks/>
            </p:cNvGrpSpPr>
            <p:nvPr/>
          </p:nvGrpSpPr>
          <p:grpSpPr bwMode="auto">
            <a:xfrm>
              <a:off x="240" y="3264"/>
              <a:ext cx="1248" cy="336"/>
              <a:chOff x="240" y="3264"/>
              <a:chExt cx="1248" cy="336"/>
            </a:xfrm>
          </p:grpSpPr>
          <p:sp>
            <p:nvSpPr>
              <p:cNvPr id="35872" name="Rectangle 14"/>
              <p:cNvSpPr>
                <a:spLocks noChangeArrowheads="1"/>
              </p:cNvSpPr>
              <p:nvPr/>
            </p:nvSpPr>
            <p:spPr bwMode="auto">
              <a:xfrm>
                <a:off x="240" y="3264"/>
                <a:ext cx="1248" cy="48"/>
              </a:xfrm>
              <a:prstGeom prst="rect">
                <a:avLst/>
              </a:prstGeom>
              <a:gradFill rotWithShape="0">
                <a:gsLst>
                  <a:gs pos="0">
                    <a:srgbClr val="764718"/>
                  </a:gs>
                  <a:gs pos="100000">
                    <a:srgbClr val="FF9933"/>
                  </a:gs>
                </a:gsLst>
                <a:lin ang="5400000" scaled="1"/>
              </a:gradFill>
              <a:ln w="9525">
                <a:solidFill>
                  <a:schemeClr val="tx1"/>
                </a:solidFill>
                <a:miter lim="800000"/>
                <a:headEnd/>
                <a:tailEnd/>
              </a:ln>
            </p:spPr>
            <p:txBody>
              <a:bodyPr wrap="none" anchor="ctr"/>
              <a:lstStyle/>
              <a:p>
                <a:pPr>
                  <a:spcBef>
                    <a:spcPct val="20000"/>
                  </a:spcBef>
                </a:pPr>
                <a:endParaRPr lang="en-US" altLang="zh-CN"/>
              </a:p>
            </p:txBody>
          </p:sp>
          <p:grpSp>
            <p:nvGrpSpPr>
              <p:cNvPr id="35873" name="Group 15"/>
              <p:cNvGrpSpPr>
                <a:grpSpLocks/>
              </p:cNvGrpSpPr>
              <p:nvPr/>
            </p:nvGrpSpPr>
            <p:grpSpPr bwMode="auto">
              <a:xfrm>
                <a:off x="240" y="3552"/>
                <a:ext cx="1152" cy="48"/>
                <a:chOff x="240" y="3504"/>
                <a:chExt cx="1152" cy="48"/>
              </a:xfrm>
            </p:grpSpPr>
            <p:sp>
              <p:nvSpPr>
                <p:cNvPr id="35874" name="Oval 16"/>
                <p:cNvSpPr>
                  <a:spLocks noChangeArrowheads="1"/>
                </p:cNvSpPr>
                <p:nvPr/>
              </p:nvSpPr>
              <p:spPr bwMode="auto">
                <a:xfrm>
                  <a:off x="240" y="3504"/>
                  <a:ext cx="192" cy="48"/>
                </a:xfrm>
                <a:prstGeom prst="ellipse">
                  <a:avLst/>
                </a:prstGeom>
                <a:solidFill>
                  <a:srgbClr val="663300"/>
                </a:solidFill>
                <a:ln w="9525">
                  <a:solidFill>
                    <a:schemeClr val="tx1"/>
                  </a:solidFill>
                  <a:round/>
                  <a:headEnd/>
                  <a:tailEnd/>
                </a:ln>
              </p:spPr>
              <p:txBody>
                <a:bodyPr wrap="none" anchor="ctr"/>
                <a:lstStyle/>
                <a:p>
                  <a:pPr>
                    <a:spcBef>
                      <a:spcPct val="20000"/>
                    </a:spcBef>
                  </a:pPr>
                  <a:endParaRPr lang="en-US" altLang="zh-CN"/>
                </a:p>
              </p:txBody>
            </p:sp>
            <p:sp>
              <p:nvSpPr>
                <p:cNvPr id="35875" name="Oval 17"/>
                <p:cNvSpPr>
                  <a:spLocks noChangeArrowheads="1"/>
                </p:cNvSpPr>
                <p:nvPr/>
              </p:nvSpPr>
              <p:spPr bwMode="auto">
                <a:xfrm>
                  <a:off x="432" y="3504"/>
                  <a:ext cx="192" cy="48"/>
                </a:xfrm>
                <a:prstGeom prst="ellipse">
                  <a:avLst/>
                </a:prstGeom>
                <a:solidFill>
                  <a:srgbClr val="663300"/>
                </a:solidFill>
                <a:ln w="9525">
                  <a:solidFill>
                    <a:schemeClr val="tx1"/>
                  </a:solidFill>
                  <a:round/>
                  <a:headEnd/>
                  <a:tailEnd/>
                </a:ln>
              </p:spPr>
              <p:txBody>
                <a:bodyPr wrap="none" anchor="ctr"/>
                <a:lstStyle/>
                <a:p>
                  <a:pPr>
                    <a:spcBef>
                      <a:spcPct val="20000"/>
                    </a:spcBef>
                  </a:pPr>
                  <a:endParaRPr lang="en-US" altLang="zh-CN"/>
                </a:p>
              </p:txBody>
            </p:sp>
            <p:sp>
              <p:nvSpPr>
                <p:cNvPr id="35876" name="Oval 18"/>
                <p:cNvSpPr>
                  <a:spLocks noChangeArrowheads="1"/>
                </p:cNvSpPr>
                <p:nvPr/>
              </p:nvSpPr>
              <p:spPr bwMode="auto">
                <a:xfrm>
                  <a:off x="624" y="3504"/>
                  <a:ext cx="192" cy="48"/>
                </a:xfrm>
                <a:prstGeom prst="ellipse">
                  <a:avLst/>
                </a:prstGeom>
                <a:solidFill>
                  <a:srgbClr val="663300"/>
                </a:solidFill>
                <a:ln w="9525">
                  <a:solidFill>
                    <a:schemeClr val="tx1"/>
                  </a:solidFill>
                  <a:round/>
                  <a:headEnd/>
                  <a:tailEnd/>
                </a:ln>
              </p:spPr>
              <p:txBody>
                <a:bodyPr wrap="none" anchor="ctr"/>
                <a:lstStyle/>
                <a:p>
                  <a:pPr>
                    <a:spcBef>
                      <a:spcPct val="20000"/>
                    </a:spcBef>
                  </a:pPr>
                  <a:endParaRPr lang="en-US" altLang="zh-CN"/>
                </a:p>
              </p:txBody>
            </p:sp>
            <p:sp>
              <p:nvSpPr>
                <p:cNvPr id="35877" name="Oval 19"/>
                <p:cNvSpPr>
                  <a:spLocks noChangeArrowheads="1"/>
                </p:cNvSpPr>
                <p:nvPr/>
              </p:nvSpPr>
              <p:spPr bwMode="auto">
                <a:xfrm>
                  <a:off x="816" y="3504"/>
                  <a:ext cx="192" cy="48"/>
                </a:xfrm>
                <a:prstGeom prst="ellipse">
                  <a:avLst/>
                </a:prstGeom>
                <a:solidFill>
                  <a:srgbClr val="663300"/>
                </a:solidFill>
                <a:ln w="9525">
                  <a:solidFill>
                    <a:schemeClr val="tx1"/>
                  </a:solidFill>
                  <a:round/>
                  <a:headEnd/>
                  <a:tailEnd/>
                </a:ln>
              </p:spPr>
              <p:txBody>
                <a:bodyPr wrap="none" anchor="ctr"/>
                <a:lstStyle/>
                <a:p>
                  <a:pPr>
                    <a:spcBef>
                      <a:spcPct val="20000"/>
                    </a:spcBef>
                  </a:pPr>
                  <a:endParaRPr lang="en-US" altLang="zh-CN"/>
                </a:p>
              </p:txBody>
            </p:sp>
            <p:sp>
              <p:nvSpPr>
                <p:cNvPr id="35878" name="Oval 20"/>
                <p:cNvSpPr>
                  <a:spLocks noChangeArrowheads="1"/>
                </p:cNvSpPr>
                <p:nvPr/>
              </p:nvSpPr>
              <p:spPr bwMode="auto">
                <a:xfrm>
                  <a:off x="1008" y="3504"/>
                  <a:ext cx="192" cy="48"/>
                </a:xfrm>
                <a:prstGeom prst="ellipse">
                  <a:avLst/>
                </a:prstGeom>
                <a:solidFill>
                  <a:srgbClr val="663300"/>
                </a:solidFill>
                <a:ln w="9525">
                  <a:solidFill>
                    <a:schemeClr val="tx1"/>
                  </a:solidFill>
                  <a:round/>
                  <a:headEnd/>
                  <a:tailEnd/>
                </a:ln>
              </p:spPr>
              <p:txBody>
                <a:bodyPr wrap="none" anchor="ctr"/>
                <a:lstStyle/>
                <a:p>
                  <a:pPr>
                    <a:spcBef>
                      <a:spcPct val="20000"/>
                    </a:spcBef>
                  </a:pPr>
                  <a:endParaRPr lang="en-US" altLang="zh-CN"/>
                </a:p>
              </p:txBody>
            </p:sp>
            <p:sp>
              <p:nvSpPr>
                <p:cNvPr id="35879" name="Oval 21"/>
                <p:cNvSpPr>
                  <a:spLocks noChangeArrowheads="1"/>
                </p:cNvSpPr>
                <p:nvPr/>
              </p:nvSpPr>
              <p:spPr bwMode="auto">
                <a:xfrm>
                  <a:off x="1200" y="3504"/>
                  <a:ext cx="192" cy="48"/>
                </a:xfrm>
                <a:prstGeom prst="ellipse">
                  <a:avLst/>
                </a:prstGeom>
                <a:solidFill>
                  <a:srgbClr val="663300"/>
                </a:solidFill>
                <a:ln w="9525">
                  <a:solidFill>
                    <a:schemeClr val="tx1"/>
                  </a:solidFill>
                  <a:round/>
                  <a:headEnd/>
                  <a:tailEnd/>
                </a:ln>
              </p:spPr>
              <p:txBody>
                <a:bodyPr wrap="none" anchor="ctr"/>
                <a:lstStyle/>
                <a:p>
                  <a:pPr>
                    <a:spcBef>
                      <a:spcPct val="20000"/>
                    </a:spcBef>
                  </a:pPr>
                  <a:endParaRPr lang="en-US" altLang="zh-CN"/>
                </a:p>
              </p:txBody>
            </p:sp>
          </p:grpSp>
        </p:grpSp>
        <p:sp>
          <p:nvSpPr>
            <p:cNvPr id="35871" name="Text Box 22"/>
            <p:cNvSpPr txBox="1">
              <a:spLocks noChangeArrowheads="1"/>
            </p:cNvSpPr>
            <p:nvPr/>
          </p:nvSpPr>
          <p:spPr bwMode="auto">
            <a:xfrm>
              <a:off x="432" y="3792"/>
              <a:ext cx="9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a:t>线分布</a:t>
              </a:r>
              <a:endParaRPr lang="zh-CN" altLang="en-US" sz="3200"/>
            </a:p>
          </p:txBody>
        </p:sp>
      </p:grpSp>
      <p:grpSp>
        <p:nvGrpSpPr>
          <p:cNvPr id="5" name="Group 23"/>
          <p:cNvGrpSpPr>
            <a:grpSpLocks/>
          </p:cNvGrpSpPr>
          <p:nvPr/>
        </p:nvGrpSpPr>
        <p:grpSpPr bwMode="auto">
          <a:xfrm>
            <a:off x="6324600" y="5149850"/>
            <a:ext cx="2438400" cy="1447800"/>
            <a:chOff x="3840" y="3168"/>
            <a:chExt cx="1536" cy="912"/>
          </a:xfrm>
        </p:grpSpPr>
        <p:grpSp>
          <p:nvGrpSpPr>
            <p:cNvPr id="35866" name="Group 24"/>
            <p:cNvGrpSpPr>
              <a:grpSpLocks/>
            </p:cNvGrpSpPr>
            <p:nvPr/>
          </p:nvGrpSpPr>
          <p:grpSpPr bwMode="auto">
            <a:xfrm>
              <a:off x="3840" y="3168"/>
              <a:ext cx="1536" cy="528"/>
              <a:chOff x="3360" y="3168"/>
              <a:chExt cx="1536" cy="528"/>
            </a:xfrm>
          </p:grpSpPr>
          <p:sp>
            <p:nvSpPr>
              <p:cNvPr id="35868" name="AutoShape 25"/>
              <p:cNvSpPr>
                <a:spLocks noChangeArrowheads="1"/>
              </p:cNvSpPr>
              <p:nvPr/>
            </p:nvSpPr>
            <p:spPr bwMode="auto">
              <a:xfrm>
                <a:off x="3360" y="3168"/>
                <a:ext cx="480" cy="528"/>
              </a:xfrm>
              <a:prstGeom prst="can">
                <a:avLst>
                  <a:gd name="adj" fmla="val 36667"/>
                </a:avLst>
              </a:prstGeom>
              <a:gradFill rotWithShape="0">
                <a:gsLst>
                  <a:gs pos="0">
                    <a:srgbClr val="FF9900"/>
                  </a:gs>
                  <a:gs pos="50000">
                    <a:srgbClr val="764700"/>
                  </a:gs>
                  <a:gs pos="100000">
                    <a:srgbClr val="FF9900"/>
                  </a:gs>
                </a:gsLst>
                <a:lin ang="0" scaled="1"/>
              </a:gradFill>
              <a:ln w="9525">
                <a:solidFill>
                  <a:schemeClr val="tx1"/>
                </a:solidFill>
                <a:round/>
                <a:headEnd/>
                <a:tailEnd/>
              </a:ln>
            </p:spPr>
            <p:txBody>
              <a:bodyPr wrap="none" anchor="ctr"/>
              <a:lstStyle/>
              <a:p>
                <a:pPr>
                  <a:spcBef>
                    <a:spcPct val="20000"/>
                  </a:spcBef>
                </a:pPr>
                <a:endParaRPr lang="en-US" altLang="zh-CN"/>
              </a:p>
            </p:txBody>
          </p:sp>
          <p:sp>
            <p:nvSpPr>
              <p:cNvPr id="35869" name="AutoShape 26"/>
              <p:cNvSpPr>
                <a:spLocks noChangeArrowheads="1"/>
              </p:cNvSpPr>
              <p:nvPr/>
            </p:nvSpPr>
            <p:spPr bwMode="auto">
              <a:xfrm>
                <a:off x="4032" y="3168"/>
                <a:ext cx="864" cy="480"/>
              </a:xfrm>
              <a:prstGeom prst="cube">
                <a:avLst>
                  <a:gd name="adj" fmla="val 25000"/>
                </a:avLst>
              </a:prstGeom>
              <a:gradFill rotWithShape="0">
                <a:gsLst>
                  <a:gs pos="0">
                    <a:srgbClr val="760076"/>
                  </a:gs>
                  <a:gs pos="50000">
                    <a:srgbClr val="FF00FF"/>
                  </a:gs>
                  <a:gs pos="100000">
                    <a:srgbClr val="760076"/>
                  </a:gs>
                </a:gsLst>
                <a:lin ang="5400000" scaled="1"/>
              </a:gradFill>
              <a:ln w="9525">
                <a:solidFill>
                  <a:schemeClr val="tx1"/>
                </a:solidFill>
                <a:miter lim="800000"/>
                <a:headEnd/>
                <a:tailEnd/>
              </a:ln>
            </p:spPr>
            <p:txBody>
              <a:bodyPr wrap="none" anchor="ctr"/>
              <a:lstStyle/>
              <a:p>
                <a:pPr>
                  <a:spcBef>
                    <a:spcPct val="20000"/>
                  </a:spcBef>
                </a:pPr>
                <a:endParaRPr lang="en-US" altLang="zh-CN"/>
              </a:p>
            </p:txBody>
          </p:sp>
        </p:grpSp>
        <p:sp>
          <p:nvSpPr>
            <p:cNvPr id="35867" name="Text Box 27"/>
            <p:cNvSpPr txBox="1">
              <a:spLocks noChangeArrowheads="1"/>
            </p:cNvSpPr>
            <p:nvPr/>
          </p:nvSpPr>
          <p:spPr bwMode="auto">
            <a:xfrm>
              <a:off x="4080" y="3792"/>
              <a:ext cx="9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a:t>体分布</a:t>
              </a:r>
            </a:p>
          </p:txBody>
        </p:sp>
      </p:grpSp>
      <p:grpSp>
        <p:nvGrpSpPr>
          <p:cNvPr id="7" name="Group 28"/>
          <p:cNvGrpSpPr>
            <a:grpSpLocks/>
          </p:cNvGrpSpPr>
          <p:nvPr/>
        </p:nvGrpSpPr>
        <p:grpSpPr bwMode="auto">
          <a:xfrm>
            <a:off x="3046413" y="5378450"/>
            <a:ext cx="2819400" cy="1143000"/>
            <a:chOff x="1680" y="3360"/>
            <a:chExt cx="1776" cy="720"/>
          </a:xfrm>
        </p:grpSpPr>
        <p:sp>
          <p:nvSpPr>
            <p:cNvPr id="35860" name="Text Box 29"/>
            <p:cNvSpPr txBox="1">
              <a:spLocks noChangeArrowheads="1"/>
            </p:cNvSpPr>
            <p:nvPr/>
          </p:nvSpPr>
          <p:spPr bwMode="auto">
            <a:xfrm>
              <a:off x="2016" y="3792"/>
              <a:ext cx="11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a:t>面分布</a:t>
              </a:r>
              <a:endParaRPr lang="zh-CN" altLang="en-US" sz="3200"/>
            </a:p>
          </p:txBody>
        </p:sp>
        <p:grpSp>
          <p:nvGrpSpPr>
            <p:cNvPr id="35861" name="Group 30"/>
            <p:cNvGrpSpPr>
              <a:grpSpLocks/>
            </p:cNvGrpSpPr>
            <p:nvPr/>
          </p:nvGrpSpPr>
          <p:grpSpPr bwMode="auto">
            <a:xfrm>
              <a:off x="1680" y="3360"/>
              <a:ext cx="1776" cy="362"/>
              <a:chOff x="1680" y="3360"/>
              <a:chExt cx="1776" cy="362"/>
            </a:xfrm>
          </p:grpSpPr>
          <p:sp>
            <p:nvSpPr>
              <p:cNvPr id="35862" name="AutoShape 31"/>
              <p:cNvSpPr>
                <a:spLocks noChangeArrowheads="1"/>
              </p:cNvSpPr>
              <p:nvPr/>
            </p:nvSpPr>
            <p:spPr bwMode="auto">
              <a:xfrm>
                <a:off x="1680" y="3408"/>
                <a:ext cx="960" cy="288"/>
              </a:xfrm>
              <a:prstGeom prst="cube">
                <a:avLst>
                  <a:gd name="adj" fmla="val 92708"/>
                </a:avLst>
              </a:prstGeom>
              <a:solidFill>
                <a:schemeClr val="accent1"/>
              </a:solidFill>
              <a:ln w="9525">
                <a:solidFill>
                  <a:schemeClr val="bg2"/>
                </a:solidFill>
                <a:miter lim="800000"/>
                <a:headEnd/>
                <a:tailEnd/>
              </a:ln>
            </p:spPr>
            <p:txBody>
              <a:bodyPr wrap="none" anchor="ctr"/>
              <a:lstStyle/>
              <a:p>
                <a:pPr>
                  <a:spcBef>
                    <a:spcPct val="20000"/>
                  </a:spcBef>
                </a:pPr>
                <a:endParaRPr lang="en-US" altLang="zh-CN"/>
              </a:p>
            </p:txBody>
          </p:sp>
          <p:grpSp>
            <p:nvGrpSpPr>
              <p:cNvPr id="35863" name="Group 32"/>
              <p:cNvGrpSpPr>
                <a:grpSpLocks/>
              </p:cNvGrpSpPr>
              <p:nvPr/>
            </p:nvGrpSpPr>
            <p:grpSpPr bwMode="auto">
              <a:xfrm>
                <a:off x="2688" y="3360"/>
                <a:ext cx="768" cy="362"/>
                <a:chOff x="2736" y="3360"/>
                <a:chExt cx="768" cy="362"/>
              </a:xfrm>
            </p:grpSpPr>
            <p:sp>
              <p:nvSpPr>
                <p:cNvPr id="35864" name="Oval 33"/>
                <p:cNvSpPr>
                  <a:spLocks noChangeArrowheads="1"/>
                </p:cNvSpPr>
                <p:nvPr/>
              </p:nvSpPr>
              <p:spPr bwMode="auto">
                <a:xfrm>
                  <a:off x="2736" y="3386"/>
                  <a:ext cx="768" cy="336"/>
                </a:xfrm>
                <a:prstGeom prst="ellipse">
                  <a:avLst/>
                </a:prstGeom>
                <a:solidFill>
                  <a:srgbClr val="FF9900"/>
                </a:solidFill>
                <a:ln w="9525">
                  <a:solidFill>
                    <a:schemeClr val="bg2"/>
                  </a:solidFill>
                  <a:round/>
                  <a:headEnd/>
                  <a:tailEnd/>
                </a:ln>
              </p:spPr>
              <p:txBody>
                <a:bodyPr wrap="none" anchor="ctr"/>
                <a:lstStyle/>
                <a:p>
                  <a:pPr>
                    <a:spcBef>
                      <a:spcPct val="20000"/>
                    </a:spcBef>
                  </a:pPr>
                  <a:endParaRPr lang="en-US" altLang="zh-CN"/>
                </a:p>
              </p:txBody>
            </p:sp>
            <p:sp>
              <p:nvSpPr>
                <p:cNvPr id="35865" name="Oval 34"/>
                <p:cNvSpPr>
                  <a:spLocks noChangeArrowheads="1"/>
                </p:cNvSpPr>
                <p:nvPr/>
              </p:nvSpPr>
              <p:spPr bwMode="auto">
                <a:xfrm>
                  <a:off x="2736" y="3360"/>
                  <a:ext cx="768" cy="336"/>
                </a:xfrm>
                <a:prstGeom prst="ellipse">
                  <a:avLst/>
                </a:prstGeom>
                <a:solidFill>
                  <a:srgbClr val="FF9900"/>
                </a:solidFill>
                <a:ln w="9525">
                  <a:solidFill>
                    <a:schemeClr val="bg2"/>
                  </a:solidFill>
                  <a:round/>
                  <a:headEnd/>
                  <a:tailEnd/>
                </a:ln>
              </p:spPr>
              <p:txBody>
                <a:bodyPr wrap="none" anchor="ctr"/>
                <a:lstStyle/>
                <a:p>
                  <a:pPr>
                    <a:spcBef>
                      <a:spcPct val="20000"/>
                    </a:spcBef>
                  </a:pPr>
                  <a:endParaRPr lang="en-US" altLang="zh-CN"/>
                </a:p>
              </p:txBody>
            </p:sp>
          </p:grpSp>
        </p:grpSp>
      </p:grpSp>
      <p:sp>
        <p:nvSpPr>
          <p:cNvPr id="235555" name="Rectangle 35"/>
          <p:cNvSpPr>
            <a:spLocks noChangeArrowheads="1"/>
          </p:cNvSpPr>
          <p:nvPr/>
        </p:nvSpPr>
        <p:spPr bwMode="auto">
          <a:xfrm>
            <a:off x="311150" y="4464050"/>
            <a:ext cx="249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spcBef>
                <a:spcPct val="50000"/>
              </a:spcBef>
            </a:pPr>
            <a:r>
              <a:rPr lang="en-US" altLang="zh-CN" i="1" dirty="0">
                <a:sym typeface="Symbol" pitchFamily="18" charset="2"/>
              </a:rPr>
              <a:t></a:t>
            </a:r>
            <a:r>
              <a:rPr lang="zh-CN" altLang="en-US" dirty="0">
                <a:sym typeface="Symbol" pitchFamily="18" charset="2"/>
              </a:rPr>
              <a:t>为质量的线密度</a:t>
            </a:r>
          </a:p>
        </p:txBody>
      </p:sp>
      <p:sp>
        <p:nvSpPr>
          <p:cNvPr id="235556" name="Text Box 36"/>
          <p:cNvSpPr txBox="1">
            <a:spLocks noChangeArrowheads="1"/>
          </p:cNvSpPr>
          <p:nvPr/>
        </p:nvSpPr>
        <p:spPr bwMode="auto">
          <a:xfrm>
            <a:off x="6259513" y="4464050"/>
            <a:ext cx="296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i="1" dirty="0">
                <a:sym typeface="Symbol" pitchFamily="18" charset="2"/>
              </a:rPr>
              <a:t></a:t>
            </a:r>
            <a:r>
              <a:rPr lang="zh-CN" altLang="en-US" dirty="0">
                <a:sym typeface="Symbol" pitchFamily="18" charset="2"/>
              </a:rPr>
              <a:t>为质量的体密度</a:t>
            </a:r>
          </a:p>
        </p:txBody>
      </p:sp>
      <p:sp>
        <p:nvSpPr>
          <p:cNvPr id="235557" name="Rectangle 37"/>
          <p:cNvSpPr>
            <a:spLocks noChangeArrowheads="1"/>
          </p:cNvSpPr>
          <p:nvPr/>
        </p:nvSpPr>
        <p:spPr bwMode="auto">
          <a:xfrm>
            <a:off x="3355975" y="4464050"/>
            <a:ext cx="2513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i="1">
                <a:sym typeface="Symbol" pitchFamily="18" charset="2"/>
              </a:rPr>
              <a:t></a:t>
            </a:r>
            <a:r>
              <a:rPr lang="zh-CN" altLang="en-US">
                <a:sym typeface="Symbol" pitchFamily="18" charset="2"/>
              </a:rPr>
              <a:t>为质量的面密度</a:t>
            </a:r>
            <a:endParaRPr lang="zh-CN" altLang="en-US" i="1">
              <a:sym typeface="Symbol" pitchFamily="18" charset="2"/>
            </a:endParaRPr>
          </a:p>
        </p:txBody>
      </p:sp>
      <p:sp>
        <p:nvSpPr>
          <p:cNvPr id="235558" name="Line 38"/>
          <p:cNvSpPr>
            <a:spLocks noChangeShapeType="1"/>
          </p:cNvSpPr>
          <p:nvPr/>
        </p:nvSpPr>
        <p:spPr bwMode="auto">
          <a:xfrm>
            <a:off x="2971800" y="3321050"/>
            <a:ext cx="0" cy="2743200"/>
          </a:xfrm>
          <a:prstGeom prst="line">
            <a:avLst/>
          </a:prstGeom>
          <a:noFill/>
          <a:ln w="3810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9" name="Line 39"/>
          <p:cNvSpPr>
            <a:spLocks noChangeShapeType="1"/>
          </p:cNvSpPr>
          <p:nvPr/>
        </p:nvSpPr>
        <p:spPr bwMode="auto">
          <a:xfrm>
            <a:off x="6019800" y="3321050"/>
            <a:ext cx="0" cy="2743200"/>
          </a:xfrm>
          <a:prstGeom prst="line">
            <a:avLst/>
          </a:prstGeom>
          <a:noFill/>
          <a:ln w="3810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Text Box 21"/>
          <p:cNvSpPr txBox="1">
            <a:spLocks noChangeArrowheads="1"/>
          </p:cNvSpPr>
          <p:nvPr/>
        </p:nvSpPr>
        <p:spPr bwMode="auto">
          <a:xfrm>
            <a:off x="0" y="188913"/>
            <a:ext cx="7912100" cy="488950"/>
          </a:xfrm>
          <a:prstGeom prst="rect">
            <a:avLst/>
          </a:prstGeom>
          <a:noFill/>
          <a:ln w="12700">
            <a:noFill/>
            <a:miter lim="800000"/>
            <a:headEnd type="none" w="sm" len="sm"/>
            <a:tailEnd type="none" w="sm" len="sm"/>
          </a:ln>
          <a:effectLst/>
        </p:spPr>
        <p:txBody>
          <a:bodyPr wrap="none">
            <a:spAutoFit/>
          </a:bodyPr>
          <a:lstStyle/>
          <a:p>
            <a:pPr>
              <a:spcBef>
                <a:spcPct val="20000"/>
              </a:spcBef>
              <a:buClr>
                <a:srgbClr val="FF0000"/>
              </a:buClr>
              <a:buFont typeface="Wingdings" pitchFamily="2" charset="2"/>
              <a:buChar char="Ø"/>
              <a:defRPr/>
            </a:pPr>
            <a:r>
              <a:rPr lang="en-US" altLang="zh-CN" sz="2600" b="1" dirty="0">
                <a:solidFill>
                  <a:srgbClr val="000C0C"/>
                </a:solidFill>
                <a:latin typeface="楷体_GB2312" pitchFamily="49" charset="-122"/>
              </a:rPr>
              <a:t> </a:t>
            </a:r>
            <a:r>
              <a:rPr lang="zh-CN" altLang="en-US" sz="2600" b="1" dirty="0">
                <a:solidFill>
                  <a:srgbClr val="000C0C"/>
                </a:solidFill>
                <a:latin typeface="楷体_GB2312" pitchFamily="49" charset="-122"/>
              </a:rPr>
              <a:t>对质量连续分布的物体，其质心位矢由上式推广得</a:t>
            </a:r>
            <a:endParaRPr lang="zh-CN" altLang="en-US" sz="2600" b="1" dirty="0">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35845" name="Object 17"/>
              <p:cNvSpPr txBox="1"/>
              <p:nvPr/>
            </p:nvSpPr>
            <p:spPr bwMode="auto">
              <a:xfrm>
                <a:off x="3989570" y="775493"/>
                <a:ext cx="2406650" cy="1008063"/>
              </a:xfrm>
              <a:prstGeom prst="rect">
                <a:avLst/>
              </a:prstGeom>
              <a:noFill/>
              <a:ln w="9525">
                <a:solidFill>
                  <a:srgbClr val="D01A38"/>
                </a:solidFill>
                <a:miter lim="800000"/>
                <a:headEnd/>
                <a:tailEnd/>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r>
                                <a:rPr lang="zh-CN" altLang="en-US" i="1">
                                  <a:solidFill>
                                    <a:srgbClr val="000000"/>
                                  </a:solidFill>
                                  <a:latin typeface="Cambria Math" panose="02040503050406030204" pitchFamily="18" charset="0"/>
                                </a:rPr>
                                <m:t>𝑑𝑚</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𝑑𝑚</m:t>
                              </m:r>
                            </m:e>
                          </m:nary>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𝜌</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r>
                                <a:rPr lang="zh-CN" altLang="en-US" i="1">
                                  <a:solidFill>
                                    <a:srgbClr val="000000"/>
                                  </a:solidFill>
                                  <a:latin typeface="Cambria Math" panose="02040503050406030204" pitchFamily="18" charset="0"/>
                                </a:rPr>
                                <m:t>𝑑𝑉</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𝑑𝑉</m:t>
                              </m:r>
                            </m:e>
                          </m:nary>
                        </m:den>
                      </m:f>
                    </m:oMath>
                  </m:oMathPara>
                </a14:m>
                <a:endParaRPr lang="zh-CN" altLang="en-US"/>
              </a:p>
            </p:txBody>
          </p:sp>
        </mc:Choice>
        <mc:Fallback xmlns="">
          <p:sp>
            <p:nvSpPr>
              <p:cNvPr id="35845" name="Object 17"/>
              <p:cNvSpPr txBox="1">
                <a:spLocks noRot="1" noChangeAspect="1" noMove="1" noResize="1" noEditPoints="1" noAdjustHandles="1" noChangeArrowheads="1" noChangeShapeType="1" noTextEdit="1"/>
              </p:cNvSpPr>
              <p:nvPr/>
            </p:nvSpPr>
            <p:spPr bwMode="auto">
              <a:xfrm>
                <a:off x="3989570" y="775493"/>
                <a:ext cx="2406650" cy="1008063"/>
              </a:xfrm>
              <a:prstGeom prst="rect">
                <a:avLst/>
              </a:prstGeom>
              <a:blipFill>
                <a:blip r:embed="rId5"/>
                <a:stretch>
                  <a:fillRect/>
                </a:stretch>
              </a:blipFill>
              <a:ln w="9525">
                <a:solidFill>
                  <a:srgbClr val="D01A38"/>
                </a:solidFill>
                <a:miter lim="800000"/>
                <a:headEnd/>
                <a:tailEnd/>
              </a:ln>
              <a:effectLst/>
              <a:extLst/>
            </p:spPr>
            <p:txBody>
              <a:bodyPr/>
              <a:lstStyle/>
              <a:p>
                <a:r>
                  <a:rPr lang="zh-CN" altLang="en-US">
                    <a:noFill/>
                  </a:rPr>
                  <a:t> </a:t>
                </a:r>
              </a:p>
            </p:txBody>
          </p:sp>
        </mc:Fallback>
      </mc:AlternateContent>
      <p:sp>
        <p:nvSpPr>
          <p:cNvPr id="44" name="Text Box 23"/>
          <p:cNvSpPr txBox="1">
            <a:spLocks noChangeArrowheads="1"/>
          </p:cNvSpPr>
          <p:nvPr/>
        </p:nvSpPr>
        <p:spPr bwMode="auto">
          <a:xfrm>
            <a:off x="684213" y="2205038"/>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a:solidFill>
                  <a:srgbClr val="000C0C"/>
                </a:solidFill>
                <a:latin typeface="楷体_GB2312" pitchFamily="49" charset="-122"/>
              </a:rPr>
              <a:t>分量形式为</a:t>
            </a:r>
          </a:p>
        </p:txBody>
      </p:sp>
      <mc:AlternateContent xmlns:mc="http://schemas.openxmlformats.org/markup-compatibility/2006" xmlns:a14="http://schemas.microsoft.com/office/drawing/2010/main">
        <mc:Choice Requires="a14">
          <p:sp>
            <p:nvSpPr>
              <p:cNvPr id="45" name="Object 19"/>
              <p:cNvSpPr txBox="1"/>
              <p:nvPr/>
            </p:nvSpPr>
            <p:spPr bwMode="auto">
              <a:xfrm>
                <a:off x="2843213" y="1844675"/>
                <a:ext cx="5648325" cy="1049338"/>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𝑥𝑑𝑚</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𝑑𝑚</m:t>
                              </m:r>
                            </m:e>
                          </m:nary>
                        </m:den>
                      </m:f>
                      <m:m>
                        <m:mPr>
                          <m:plcHide m:val="on"/>
                          <m:mcs>
                            <m:mc>
                              <m:mcPr>
                                <m:count m:val="3"/>
                                <m:mcJc m:val="center"/>
                              </m:mcPr>
                            </m:mc>
                          </m:mcs>
                          <m:ctrlPr>
                            <a:rPr lang="zh-CN" altLang="en-US" i="1">
                              <a:solidFill>
                                <a:srgbClr val="000000"/>
                              </a:solidFill>
                              <a:latin typeface="Cambria Math" panose="02040503050406030204" pitchFamily="18" charset="0"/>
                            </a:rPr>
                          </m:ctrlPr>
                        </m:mPr>
                        <m:mr>
                          <m:e/>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𝑦𝑑𝑚</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𝑑𝑚</m:t>
                                    </m:r>
                                  </m:e>
                                </m:nary>
                              </m:den>
                            </m:f>
                          </m:e>
                        </m:mr>
                      </m:m>
                      <m:m>
                        <m:mPr>
                          <m:plcHide m:val="on"/>
                          <m:mcs>
                            <m:mc>
                              <m:mcPr>
                                <m:count m:val="3"/>
                                <m:mcJc m:val="center"/>
                              </m:mcPr>
                            </m:mc>
                          </m:mcs>
                          <m:ctrlPr>
                            <a:rPr lang="zh-CN" altLang="en-US" i="1">
                              <a:solidFill>
                                <a:srgbClr val="000000"/>
                              </a:solidFill>
                              <a:latin typeface="Cambria Math" panose="02040503050406030204" pitchFamily="18" charset="0"/>
                            </a:rPr>
                          </m:ctrlPr>
                        </m:mPr>
                        <m:mr>
                          <m:e/>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𝑧</m:t>
                                </m:r>
                              </m:e>
                              <m:sub>
                                <m:r>
                                  <a:rPr lang="zh-CN" altLang="en-US" i="1">
                                    <a:solidFill>
                                      <a:srgbClr val="000000"/>
                                    </a:solidFill>
                                    <a:latin typeface="Cambria Math" panose="02040503050406030204" pitchFamily="18" charset="0"/>
                                  </a:rPr>
                                  <m:t>𝑐</m:t>
                                </m:r>
                              </m:sub>
                            </m:sSub>
                          </m:e>
                        </m:mr>
                      </m:m>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𝑧𝑑𝑚</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𝑑𝑚</m:t>
                              </m:r>
                            </m:e>
                          </m:nary>
                        </m:den>
                      </m:f>
                    </m:oMath>
                  </m:oMathPara>
                </a14:m>
                <a:endParaRPr lang="zh-CN" altLang="en-US" dirty="0"/>
              </a:p>
            </p:txBody>
          </p:sp>
        </mc:Choice>
        <mc:Fallback xmlns="">
          <p:sp>
            <p:nvSpPr>
              <p:cNvPr id="45" name="Object 19"/>
              <p:cNvSpPr txBox="1">
                <a:spLocks noRot="1" noChangeAspect="1" noMove="1" noResize="1" noEditPoints="1" noAdjustHandles="1" noChangeArrowheads="1" noChangeShapeType="1" noTextEdit="1"/>
              </p:cNvSpPr>
              <p:nvPr/>
            </p:nvSpPr>
            <p:spPr bwMode="auto">
              <a:xfrm>
                <a:off x="2843213" y="1844675"/>
                <a:ext cx="5648325" cy="1049338"/>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Object 2">
                <a:extLst>
                  <a:ext uri="{FF2B5EF4-FFF2-40B4-BE49-F238E27FC236}">
                    <a16:creationId xmlns:a16="http://schemas.microsoft.com/office/drawing/2014/main" id="{40AD8C90-DE1E-4D58-B02E-02809075224C}"/>
                  </a:ext>
                </a:extLst>
              </p:cNvPr>
              <p:cNvSpPr txBox="1"/>
              <p:nvPr/>
            </p:nvSpPr>
            <p:spPr bwMode="auto">
              <a:xfrm>
                <a:off x="1042776" y="825513"/>
                <a:ext cx="2003637" cy="128481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oMath>
                  </m:oMathPara>
                </a14:m>
                <a:endParaRPr lang="zh-CN" altLang="en-US" dirty="0"/>
              </a:p>
            </p:txBody>
          </p:sp>
        </mc:Choice>
        <mc:Fallback xmlns="">
          <p:sp>
            <p:nvSpPr>
              <p:cNvPr id="40" name="Object 2">
                <a:extLst>
                  <a:ext uri="{FF2B5EF4-FFF2-40B4-BE49-F238E27FC236}">
                    <a16:creationId xmlns:a16="http://schemas.microsoft.com/office/drawing/2014/main" id="{40AD8C90-DE1E-4D58-B02E-02809075224C}"/>
                  </a:ext>
                </a:extLst>
              </p:cNvPr>
              <p:cNvSpPr txBox="1">
                <a:spLocks noRot="1" noChangeAspect="1" noMove="1" noResize="1" noEditPoints="1" noAdjustHandles="1" noChangeArrowheads="1" noChangeShapeType="1" noTextEdit="1"/>
              </p:cNvSpPr>
              <p:nvPr/>
            </p:nvSpPr>
            <p:spPr bwMode="auto">
              <a:xfrm>
                <a:off x="1042776" y="825513"/>
                <a:ext cx="2003637" cy="1284810"/>
              </a:xfrm>
              <a:prstGeom prst="rect">
                <a:avLst/>
              </a:prstGeom>
              <a:blipFill>
                <a:blip r:embed="rId7"/>
                <a:stretch>
                  <a:fillRect/>
                </a:stretch>
              </a:blipFill>
              <a:ln>
                <a:noFill/>
              </a:ln>
              <a:effectLst/>
              <a:extLst/>
            </p:spPr>
            <p:txBody>
              <a:bodyPr/>
              <a:lstStyle/>
              <a:p>
                <a:r>
                  <a:rPr lang="zh-CN" altLang="en-US">
                    <a:noFill/>
                  </a:rPr>
                  <a:t> </a:t>
                </a:r>
              </a:p>
            </p:txBody>
          </p:sp>
        </mc:Fallback>
      </mc:AlternateContent>
    </p:spTree>
    <p:extLst>
      <p:ext uri="{BB962C8B-B14F-4D97-AF65-F5344CB8AC3E}">
        <p14:creationId xmlns:p14="http://schemas.microsoft.com/office/powerpoint/2010/main" val="1252275602"/>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8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blinds(horizontal)">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5529">
                                            <p:txEl>
                                              <p:pRg st="0" end="0"/>
                                            </p:txEl>
                                          </p:spTgt>
                                        </p:tgtEl>
                                        <p:attrNameLst>
                                          <p:attrName>style.visibility</p:attrName>
                                        </p:attrNameLst>
                                      </p:cBhvr>
                                      <p:to>
                                        <p:strVal val="visible"/>
                                      </p:to>
                                    </p:set>
                                    <p:animEffect transition="in" filter="wipe(left)">
                                      <p:cBhvr>
                                        <p:cTn id="22" dur="500"/>
                                        <p:tgtEl>
                                          <p:spTgt spid="23552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55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5555">
                                            <p:txEl>
                                              <p:pRg st="0" end="0"/>
                                            </p:txEl>
                                          </p:spTgt>
                                        </p:tgtEl>
                                        <p:attrNameLst>
                                          <p:attrName>style.visibility</p:attrName>
                                        </p:attrNameLst>
                                      </p:cBhvr>
                                      <p:to>
                                        <p:strVal val="visible"/>
                                      </p:to>
                                    </p:set>
                                    <p:animEffect transition="in" filter="wipe(left)">
                                      <p:cBhvr>
                                        <p:cTn id="31" dur="500"/>
                                        <p:tgtEl>
                                          <p:spTgt spid="23555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7" presetClass="entr" presetSubtype="1" fill="hold" grpId="0" nodeType="clickEffect">
                                  <p:stCondLst>
                                    <p:cond delay="0"/>
                                  </p:stCondLst>
                                  <p:childTnLst>
                                    <p:set>
                                      <p:cBhvr>
                                        <p:cTn id="40" dur="1" fill="hold">
                                          <p:stCondLst>
                                            <p:cond delay="0"/>
                                          </p:stCondLst>
                                        </p:cTn>
                                        <p:tgtEl>
                                          <p:spTgt spid="235558"/>
                                        </p:tgtEl>
                                        <p:attrNameLst>
                                          <p:attrName>style.visibility</p:attrName>
                                        </p:attrNameLst>
                                      </p:cBhvr>
                                      <p:to>
                                        <p:strVal val="visible"/>
                                      </p:to>
                                    </p:set>
                                    <p:anim calcmode="lin" valueType="num">
                                      <p:cBhvr>
                                        <p:cTn id="41" dur="500" fill="hold"/>
                                        <p:tgtEl>
                                          <p:spTgt spid="235558"/>
                                        </p:tgtEl>
                                        <p:attrNameLst>
                                          <p:attrName>ppt_x</p:attrName>
                                        </p:attrNameLst>
                                      </p:cBhvr>
                                      <p:tavLst>
                                        <p:tav tm="0">
                                          <p:val>
                                            <p:strVal val="#ppt_x"/>
                                          </p:val>
                                        </p:tav>
                                        <p:tav tm="100000">
                                          <p:val>
                                            <p:strVal val="#ppt_x"/>
                                          </p:val>
                                        </p:tav>
                                      </p:tavLst>
                                    </p:anim>
                                    <p:anim calcmode="lin" valueType="num">
                                      <p:cBhvr>
                                        <p:cTn id="42" dur="500" fill="hold"/>
                                        <p:tgtEl>
                                          <p:spTgt spid="235558"/>
                                        </p:tgtEl>
                                        <p:attrNameLst>
                                          <p:attrName>ppt_y</p:attrName>
                                        </p:attrNameLst>
                                      </p:cBhvr>
                                      <p:tavLst>
                                        <p:tav tm="0">
                                          <p:val>
                                            <p:strVal val="#ppt_y-#ppt_h/2"/>
                                          </p:val>
                                        </p:tav>
                                        <p:tav tm="100000">
                                          <p:val>
                                            <p:strVal val="#ppt_y"/>
                                          </p:val>
                                        </p:tav>
                                      </p:tavLst>
                                    </p:anim>
                                    <p:anim calcmode="lin" valueType="num">
                                      <p:cBhvr>
                                        <p:cTn id="43" dur="500" fill="hold"/>
                                        <p:tgtEl>
                                          <p:spTgt spid="235558"/>
                                        </p:tgtEl>
                                        <p:attrNameLst>
                                          <p:attrName>ppt_w</p:attrName>
                                        </p:attrNameLst>
                                      </p:cBhvr>
                                      <p:tavLst>
                                        <p:tav tm="0">
                                          <p:val>
                                            <p:strVal val="#ppt_w"/>
                                          </p:val>
                                        </p:tav>
                                        <p:tav tm="100000">
                                          <p:val>
                                            <p:strVal val="#ppt_w"/>
                                          </p:val>
                                        </p:tav>
                                      </p:tavLst>
                                    </p:anim>
                                    <p:anim calcmode="lin" valueType="num">
                                      <p:cBhvr>
                                        <p:cTn id="44" dur="500" fill="hold"/>
                                        <p:tgtEl>
                                          <p:spTgt spid="235558"/>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35530">
                                            <p:txEl>
                                              <p:pRg st="0" end="0"/>
                                            </p:txEl>
                                          </p:spTgt>
                                        </p:tgtEl>
                                        <p:attrNameLst>
                                          <p:attrName>style.visibility</p:attrName>
                                        </p:attrNameLst>
                                      </p:cBhvr>
                                      <p:to>
                                        <p:strVal val="visible"/>
                                      </p:to>
                                    </p:set>
                                    <p:animEffect transition="in" filter="wipe(left)">
                                      <p:cBhvr>
                                        <p:cTn id="49" dur="500"/>
                                        <p:tgtEl>
                                          <p:spTgt spid="235530">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355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35557">
                                            <p:txEl>
                                              <p:pRg st="0" end="0"/>
                                            </p:txEl>
                                          </p:spTgt>
                                        </p:tgtEl>
                                        <p:attrNameLst>
                                          <p:attrName>style.visibility</p:attrName>
                                        </p:attrNameLst>
                                      </p:cBhvr>
                                      <p:to>
                                        <p:strVal val="visible"/>
                                      </p:to>
                                    </p:set>
                                    <p:animEffect transition="in" filter="wipe(left)">
                                      <p:cBhvr>
                                        <p:cTn id="58" dur="500"/>
                                        <p:tgtEl>
                                          <p:spTgt spid="235557">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500"/>
                                        <p:tgtEl>
                                          <p:spTgt spid="7"/>
                                        </p:tgtEl>
                                      </p:cBhvr>
                                    </p:animEffect>
                                  </p:childTnLst>
                                </p:cTn>
                              </p:par>
                            </p:childTnLst>
                          </p:cTn>
                        </p:par>
                      </p:childTnLst>
                    </p:cTn>
                  </p:par>
                  <p:par>
                    <p:cTn id="64" fill="hold">
                      <p:stCondLst>
                        <p:cond delay="indefinite"/>
                      </p:stCondLst>
                      <p:childTnLst>
                        <p:par>
                          <p:cTn id="65" fill="hold">
                            <p:stCondLst>
                              <p:cond delay="0"/>
                            </p:stCondLst>
                            <p:childTnLst>
                              <p:par>
                                <p:cTn id="66" presetID="17" presetClass="entr" presetSubtype="1" fill="hold" grpId="0" nodeType="clickEffect">
                                  <p:stCondLst>
                                    <p:cond delay="0"/>
                                  </p:stCondLst>
                                  <p:childTnLst>
                                    <p:set>
                                      <p:cBhvr>
                                        <p:cTn id="67" dur="1" fill="hold">
                                          <p:stCondLst>
                                            <p:cond delay="0"/>
                                          </p:stCondLst>
                                        </p:cTn>
                                        <p:tgtEl>
                                          <p:spTgt spid="235559"/>
                                        </p:tgtEl>
                                        <p:attrNameLst>
                                          <p:attrName>style.visibility</p:attrName>
                                        </p:attrNameLst>
                                      </p:cBhvr>
                                      <p:to>
                                        <p:strVal val="visible"/>
                                      </p:to>
                                    </p:set>
                                    <p:anim calcmode="lin" valueType="num">
                                      <p:cBhvr>
                                        <p:cTn id="68" dur="500" fill="hold"/>
                                        <p:tgtEl>
                                          <p:spTgt spid="235559"/>
                                        </p:tgtEl>
                                        <p:attrNameLst>
                                          <p:attrName>ppt_x</p:attrName>
                                        </p:attrNameLst>
                                      </p:cBhvr>
                                      <p:tavLst>
                                        <p:tav tm="0">
                                          <p:val>
                                            <p:strVal val="#ppt_x"/>
                                          </p:val>
                                        </p:tav>
                                        <p:tav tm="100000">
                                          <p:val>
                                            <p:strVal val="#ppt_x"/>
                                          </p:val>
                                        </p:tav>
                                      </p:tavLst>
                                    </p:anim>
                                    <p:anim calcmode="lin" valueType="num">
                                      <p:cBhvr>
                                        <p:cTn id="69" dur="500" fill="hold"/>
                                        <p:tgtEl>
                                          <p:spTgt spid="235559"/>
                                        </p:tgtEl>
                                        <p:attrNameLst>
                                          <p:attrName>ppt_y</p:attrName>
                                        </p:attrNameLst>
                                      </p:cBhvr>
                                      <p:tavLst>
                                        <p:tav tm="0">
                                          <p:val>
                                            <p:strVal val="#ppt_y-#ppt_h/2"/>
                                          </p:val>
                                        </p:tav>
                                        <p:tav tm="100000">
                                          <p:val>
                                            <p:strVal val="#ppt_y"/>
                                          </p:val>
                                        </p:tav>
                                      </p:tavLst>
                                    </p:anim>
                                    <p:anim calcmode="lin" valueType="num">
                                      <p:cBhvr>
                                        <p:cTn id="70" dur="500" fill="hold"/>
                                        <p:tgtEl>
                                          <p:spTgt spid="235559"/>
                                        </p:tgtEl>
                                        <p:attrNameLst>
                                          <p:attrName>ppt_w</p:attrName>
                                        </p:attrNameLst>
                                      </p:cBhvr>
                                      <p:tavLst>
                                        <p:tav tm="0">
                                          <p:val>
                                            <p:strVal val="#ppt_w"/>
                                          </p:val>
                                        </p:tav>
                                        <p:tav tm="100000">
                                          <p:val>
                                            <p:strVal val="#ppt_w"/>
                                          </p:val>
                                        </p:tav>
                                      </p:tavLst>
                                    </p:anim>
                                    <p:anim calcmode="lin" valueType="num">
                                      <p:cBhvr>
                                        <p:cTn id="71" dur="500" fill="hold"/>
                                        <p:tgtEl>
                                          <p:spTgt spid="235559"/>
                                        </p:tgtEl>
                                        <p:attrNameLst>
                                          <p:attrName>ppt_h</p:attrName>
                                        </p:attrNameLst>
                                      </p:cBhvr>
                                      <p:tavLst>
                                        <p:tav tm="0">
                                          <p:val>
                                            <p:flt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35531">
                                            <p:txEl>
                                              <p:pRg st="0" end="0"/>
                                            </p:txEl>
                                          </p:spTgt>
                                        </p:tgtEl>
                                        <p:attrNameLst>
                                          <p:attrName>style.visibility</p:attrName>
                                        </p:attrNameLst>
                                      </p:cBhvr>
                                      <p:to>
                                        <p:strVal val="visible"/>
                                      </p:to>
                                    </p:set>
                                    <p:animEffect transition="in" filter="wipe(left)">
                                      <p:cBhvr>
                                        <p:cTn id="76" dur="500"/>
                                        <p:tgtEl>
                                          <p:spTgt spid="235531">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3552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35556">
                                            <p:txEl>
                                              <p:pRg st="0" end="0"/>
                                            </p:txEl>
                                          </p:spTgt>
                                        </p:tgtEl>
                                        <p:attrNameLst>
                                          <p:attrName>style.visibility</p:attrName>
                                        </p:attrNameLst>
                                      </p:cBhvr>
                                      <p:to>
                                        <p:strVal val="visible"/>
                                      </p:to>
                                    </p:set>
                                    <p:animEffect transition="in" filter="wipe(left)">
                                      <p:cBhvr>
                                        <p:cTn id="85" dur="500"/>
                                        <p:tgtEl>
                                          <p:spTgt spid="235556">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5"/>
                                        </p:tgtEl>
                                        <p:attrNameLst>
                                          <p:attrName>style.visibility</p:attrName>
                                        </p:attrNameLst>
                                      </p:cBhvr>
                                      <p:to>
                                        <p:strVal val="visible"/>
                                      </p:to>
                                    </p:set>
                                    <p:animEffect transition="in" filter="wipe(left)">
                                      <p:cBhvr>
                                        <p:cTn id="9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6" grpId="0" animBg="1"/>
      <p:bldP spid="235527" grpId="0" animBg="1"/>
      <p:bldP spid="235528" grpId="0" animBg="1"/>
      <p:bldP spid="235529" grpId="0" build="p" autoUpdateAnimBg="0"/>
      <p:bldP spid="235530" grpId="0" build="p" autoUpdateAnimBg="0"/>
      <p:bldP spid="235531" grpId="0" build="p" autoUpdateAnimBg="0"/>
      <p:bldP spid="235555" grpId="0" build="p" autoUpdateAnimBg="0"/>
      <p:bldP spid="235556" grpId="0" build="p" autoUpdateAnimBg="0"/>
      <p:bldP spid="235557" grpId="0" build="p" autoUpdateAnimBg="0"/>
      <p:bldP spid="235558" grpId="0" animBg="1"/>
      <p:bldP spid="235559" grpId="0" animBg="1"/>
      <p:bldP spid="35845" grpId="0" animBg="1"/>
      <p:bldP spid="44" grpId="0" autoUpdateAnimBg="0"/>
      <p:bldP spid="45" grpId="0"/>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a:xfrm>
            <a:off x="6553200" y="2355850"/>
            <a:ext cx="1905000" cy="457200"/>
          </a:xfrm>
        </p:spPr>
        <p:txBody>
          <a:bodyPr/>
          <a:lstStyle/>
          <a:p>
            <a:pPr>
              <a:defRPr/>
            </a:pPr>
            <a:fld id="{6878CDD8-090B-4037-B19A-D5AB2FB4EDD8}" type="slidenum">
              <a:rPr lang="en-US" altLang="zh-CN"/>
              <a:pPr>
                <a:defRPr/>
              </a:pPr>
              <a:t>36</a:t>
            </a:fld>
            <a:endParaRPr lang="en-US" altLang="zh-CN"/>
          </a:p>
        </p:txBody>
      </p:sp>
      <p:sp>
        <p:nvSpPr>
          <p:cNvPr id="461849" name="Text Box 25"/>
          <p:cNvSpPr txBox="1">
            <a:spLocks noChangeArrowheads="1"/>
          </p:cNvSpPr>
          <p:nvPr/>
        </p:nvSpPr>
        <p:spPr bwMode="auto">
          <a:xfrm>
            <a:off x="485775" y="260350"/>
            <a:ext cx="82327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a:solidFill>
                  <a:srgbClr val="000C0C"/>
                </a:solidFill>
                <a:latin typeface="楷体_GB2312" pitchFamily="49" charset="-122"/>
              </a:rPr>
              <a:t>（</a:t>
            </a:r>
            <a:r>
              <a:rPr lang="en-US" altLang="zh-CN" b="1">
                <a:solidFill>
                  <a:srgbClr val="000C0C"/>
                </a:solidFill>
                <a:latin typeface="楷体_GB2312" pitchFamily="49" charset="-122"/>
              </a:rPr>
              <a:t>3</a:t>
            </a:r>
            <a:r>
              <a:rPr lang="zh-CN" altLang="en-US" b="1">
                <a:solidFill>
                  <a:srgbClr val="000C0C"/>
                </a:solidFill>
                <a:latin typeface="楷体_GB2312" pitchFamily="49" charset="-122"/>
              </a:rPr>
              <a:t>）若一个物体由</a:t>
            </a:r>
            <a:r>
              <a:rPr lang="en-US" altLang="zh-CN" b="1">
                <a:solidFill>
                  <a:srgbClr val="000C0C"/>
                </a:solidFill>
                <a:latin typeface="楷体_GB2312" pitchFamily="49" charset="-122"/>
              </a:rPr>
              <a:t>A</a:t>
            </a:r>
            <a:r>
              <a:rPr lang="zh-CN" altLang="en-US" b="1">
                <a:solidFill>
                  <a:srgbClr val="000C0C"/>
                </a:solidFill>
                <a:latin typeface="楷体_GB2312" pitchFamily="49" charset="-122"/>
              </a:rPr>
              <a:t>、</a:t>
            </a:r>
            <a:r>
              <a:rPr lang="en-US" altLang="zh-CN" b="1">
                <a:solidFill>
                  <a:srgbClr val="000C0C"/>
                </a:solidFill>
                <a:latin typeface="楷体_GB2312" pitchFamily="49" charset="-122"/>
              </a:rPr>
              <a:t>B</a:t>
            </a:r>
            <a:r>
              <a:rPr lang="zh-CN" altLang="en-US" b="1">
                <a:solidFill>
                  <a:srgbClr val="000C0C"/>
                </a:solidFill>
                <a:latin typeface="楷体_GB2312" pitchFamily="49" charset="-122"/>
              </a:rPr>
              <a:t>两部分组成，依质心</a:t>
            </a:r>
            <a:r>
              <a:rPr lang="en-US" altLang="zh-CN" b="1">
                <a:solidFill>
                  <a:srgbClr val="000C0C"/>
                </a:solidFill>
                <a:latin typeface="楷体_GB2312" pitchFamily="49" charset="-122"/>
              </a:rPr>
              <a:t>xyz</a:t>
            </a:r>
            <a:r>
              <a:rPr lang="zh-CN" altLang="en-US" b="1">
                <a:solidFill>
                  <a:srgbClr val="000C0C"/>
                </a:solidFill>
                <a:latin typeface="楷体_GB2312" pitchFamily="49" charset="-122"/>
              </a:rPr>
              <a:t>方向表达式</a:t>
            </a:r>
          </a:p>
          <a:p>
            <a:pPr eaLnBrk="1" hangingPunct="1">
              <a:spcBef>
                <a:spcPct val="20000"/>
              </a:spcBef>
            </a:pPr>
            <a:r>
              <a:rPr lang="zh-CN" altLang="en-US" b="1">
                <a:solidFill>
                  <a:srgbClr val="000C0C"/>
                </a:solidFill>
                <a:latin typeface="楷体_GB2312" pitchFamily="49" charset="-122"/>
              </a:rPr>
              <a:t>分别改写为</a:t>
            </a:r>
          </a:p>
        </p:txBody>
      </p:sp>
      <mc:AlternateContent xmlns:mc="http://schemas.openxmlformats.org/markup-compatibility/2006" xmlns:a14="http://schemas.microsoft.com/office/drawing/2010/main">
        <mc:Choice Requires="a14">
          <p:sp>
            <p:nvSpPr>
              <p:cNvPr id="461850" name="Object 4"/>
              <p:cNvSpPr txBox="1"/>
              <p:nvPr/>
            </p:nvSpPr>
            <p:spPr bwMode="auto">
              <a:xfrm>
                <a:off x="207963" y="1233488"/>
                <a:ext cx="4968875" cy="10477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nary>
                        </m:num>
                        <m:den>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𝐴</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𝐵</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nary>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𝐴</m:t>
                              </m:r>
                            </m:sub>
                            <m:sup/>
                            <m:e>
                              <m:r>
                                <a:rPr lang="zh-CN" altLang="en-US" i="1">
                                  <a:solidFill>
                                    <a:srgbClr val="000000"/>
                                  </a:solidFill>
                                  <a:latin typeface="Cambria Math" panose="02040503050406030204" pitchFamily="18" charset="0"/>
                                </a:rPr>
                                <m:t>𝑚</m:t>
                              </m:r>
                              <m:sPre>
                                <m:sPrePr>
                                  <m:ctrlPr>
                                    <a:rPr lang="zh-CN" altLang="en-US" i="1">
                                      <a:solidFill>
                                        <a:srgbClr val="000000"/>
                                      </a:solidFill>
                                      <a:latin typeface="Cambria Math" panose="02040503050406030204" pitchFamily="18" charset="0"/>
                                    </a:rPr>
                                  </m:ctrlPr>
                                </m:sPrePr>
                                <m:sub>
                                  <m:r>
                                    <a:rPr lang="zh-CN" altLang="en-US" i="1">
                                      <a:solidFill>
                                        <a:srgbClr val="000000"/>
                                      </a:solidFill>
                                      <a:latin typeface="Cambria Math" panose="02040503050406030204" pitchFamily="18" charset="0"/>
                                    </a:rPr>
                                    <m:t>𝑖</m:t>
                                  </m:r>
                                </m:sub>
                                <m:sup/>
                                <m:e>
                                  <m:r>
                                    <a:rPr lang="zh-CN" altLang="en-US" i="1">
                                      <a:solidFill>
                                        <a:srgbClr val="000000"/>
                                      </a:solidFill>
                                      <a:latin typeface="Cambria Math" panose="02040503050406030204" pitchFamily="18" charset="0"/>
                                    </a:rPr>
                                    <m:t>+</m:t>
                                  </m:r>
                                </m:e>
                              </m:sPre>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𝐵</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e>
                          </m:nary>
                        </m:den>
                      </m:f>
                    </m:oMath>
                  </m:oMathPara>
                </a14:m>
                <a:endParaRPr lang="zh-CN" altLang="en-US" dirty="0"/>
              </a:p>
            </p:txBody>
          </p:sp>
        </mc:Choice>
        <mc:Fallback xmlns="">
          <p:sp>
            <p:nvSpPr>
              <p:cNvPr id="461850" name="Object 4"/>
              <p:cNvSpPr txBox="1">
                <a:spLocks noRot="1" noChangeAspect="1" noMove="1" noResize="1" noEditPoints="1" noAdjustHandles="1" noChangeArrowheads="1" noChangeShapeType="1" noTextEdit="1"/>
              </p:cNvSpPr>
              <p:nvPr/>
            </p:nvSpPr>
            <p:spPr bwMode="auto">
              <a:xfrm>
                <a:off x="207963" y="1233488"/>
                <a:ext cx="4968875" cy="1047750"/>
              </a:xfrm>
              <a:prstGeom prst="rect">
                <a:avLst/>
              </a:prstGeom>
              <a:blipFill>
                <a:blip r:embed="rId2"/>
                <a:stretch>
                  <a:fillRect/>
                </a:stretch>
              </a:blipFill>
              <a:ln>
                <a:noFill/>
              </a:ln>
              <a:effectLst/>
              <a:extLst/>
            </p:spPr>
            <p:txBody>
              <a:bodyPr/>
              <a:lstStyle/>
              <a:p>
                <a:r>
                  <a:rPr lang="zh-CN" altLang="en-US">
                    <a:noFill/>
                  </a:rPr>
                  <a:t> </a:t>
                </a:r>
              </a:p>
            </p:txBody>
          </p:sp>
        </mc:Fallback>
      </mc:AlternateContent>
      <p:grpSp>
        <p:nvGrpSpPr>
          <p:cNvPr id="2" name="Group 49"/>
          <p:cNvGrpSpPr>
            <a:grpSpLocks/>
          </p:cNvGrpSpPr>
          <p:nvPr/>
        </p:nvGrpSpPr>
        <p:grpSpPr bwMode="auto">
          <a:xfrm>
            <a:off x="7570788" y="850900"/>
            <a:ext cx="1287462" cy="1844675"/>
            <a:chOff x="3486" y="1593"/>
            <a:chExt cx="1662" cy="1725"/>
          </a:xfrm>
        </p:grpSpPr>
        <p:sp>
          <p:nvSpPr>
            <p:cNvPr id="36894" name="Freeform 9"/>
            <p:cNvSpPr>
              <a:spLocks/>
            </p:cNvSpPr>
            <p:nvPr/>
          </p:nvSpPr>
          <p:spPr bwMode="auto">
            <a:xfrm>
              <a:off x="3486" y="1593"/>
              <a:ext cx="1662" cy="1725"/>
            </a:xfrm>
            <a:custGeom>
              <a:avLst/>
              <a:gdLst>
                <a:gd name="T0" fmla="*/ 2 w 2070"/>
                <a:gd name="T1" fmla="*/ 3 h 2055"/>
                <a:gd name="T2" fmla="*/ 3 w 2070"/>
                <a:gd name="T3" fmla="*/ 3 h 2055"/>
                <a:gd name="T4" fmla="*/ 5 w 2070"/>
                <a:gd name="T5" fmla="*/ 3 h 2055"/>
                <a:gd name="T6" fmla="*/ 9 w 2070"/>
                <a:gd name="T7" fmla="*/ 3 h 2055"/>
                <a:gd name="T8" fmla="*/ 9 w 2070"/>
                <a:gd name="T9" fmla="*/ 3 h 2055"/>
                <a:gd name="T10" fmla="*/ 10 w 2070"/>
                <a:gd name="T11" fmla="*/ 3 h 2055"/>
                <a:gd name="T12" fmla="*/ 10 w 2070"/>
                <a:gd name="T13" fmla="*/ 3 h 2055"/>
                <a:gd name="T14" fmla="*/ 11 w 2070"/>
                <a:gd name="T15" fmla="*/ 3 h 2055"/>
                <a:gd name="T16" fmla="*/ 11 w 2070"/>
                <a:gd name="T17" fmla="*/ 5 h 2055"/>
                <a:gd name="T18" fmla="*/ 11 w 2070"/>
                <a:gd name="T19" fmla="*/ 6 h 2055"/>
                <a:gd name="T20" fmla="*/ 11 w 2070"/>
                <a:gd name="T21" fmla="*/ 6 h 2055"/>
                <a:gd name="T22" fmla="*/ 11 w 2070"/>
                <a:gd name="T23" fmla="*/ 7 h 2055"/>
                <a:gd name="T24" fmla="*/ 11 w 2070"/>
                <a:gd name="T25" fmla="*/ 8 h 2055"/>
                <a:gd name="T26" fmla="*/ 12 w 2070"/>
                <a:gd name="T27" fmla="*/ 9 h 2055"/>
                <a:gd name="T28" fmla="*/ 12 w 2070"/>
                <a:gd name="T29" fmla="*/ 10 h 2055"/>
                <a:gd name="T30" fmla="*/ 13 w 2070"/>
                <a:gd name="T31" fmla="*/ 11 h 2055"/>
                <a:gd name="T32" fmla="*/ 13 w 2070"/>
                <a:gd name="T33" fmla="*/ 14 h 2055"/>
                <a:gd name="T34" fmla="*/ 14 w 2070"/>
                <a:gd name="T35" fmla="*/ 24 h 2055"/>
                <a:gd name="T36" fmla="*/ 13 w 2070"/>
                <a:gd name="T37" fmla="*/ 29 h 2055"/>
                <a:gd name="T38" fmla="*/ 12 w 2070"/>
                <a:gd name="T39" fmla="*/ 32 h 2055"/>
                <a:gd name="T40" fmla="*/ 11 w 2070"/>
                <a:gd name="T41" fmla="*/ 33 h 2055"/>
                <a:gd name="T42" fmla="*/ 11 w 2070"/>
                <a:gd name="T43" fmla="*/ 35 h 2055"/>
                <a:gd name="T44" fmla="*/ 10 w 2070"/>
                <a:gd name="T45" fmla="*/ 36 h 2055"/>
                <a:gd name="T46" fmla="*/ 9 w 2070"/>
                <a:gd name="T47" fmla="*/ 35 h 2055"/>
                <a:gd name="T48" fmla="*/ 9 w 2070"/>
                <a:gd name="T49" fmla="*/ 35 h 2055"/>
                <a:gd name="T50" fmla="*/ 8 w 2070"/>
                <a:gd name="T51" fmla="*/ 35 h 2055"/>
                <a:gd name="T52" fmla="*/ 7 w 2070"/>
                <a:gd name="T53" fmla="*/ 33 h 2055"/>
                <a:gd name="T54" fmla="*/ 7 w 2070"/>
                <a:gd name="T55" fmla="*/ 31 h 2055"/>
                <a:gd name="T56" fmla="*/ 7 w 2070"/>
                <a:gd name="T57" fmla="*/ 29 h 2055"/>
                <a:gd name="T58" fmla="*/ 6 w 2070"/>
                <a:gd name="T59" fmla="*/ 29 h 2055"/>
                <a:gd name="T60" fmla="*/ 6 w 2070"/>
                <a:gd name="T61" fmla="*/ 29 h 2055"/>
                <a:gd name="T62" fmla="*/ 6 w 2070"/>
                <a:gd name="T63" fmla="*/ 28 h 2055"/>
                <a:gd name="T64" fmla="*/ 5 w 2070"/>
                <a:gd name="T65" fmla="*/ 27 h 2055"/>
                <a:gd name="T66" fmla="*/ 5 w 2070"/>
                <a:gd name="T67" fmla="*/ 24 h 2055"/>
                <a:gd name="T68" fmla="*/ 4 w 2070"/>
                <a:gd name="T69" fmla="*/ 24 h 2055"/>
                <a:gd name="T70" fmla="*/ 2 w 2070"/>
                <a:gd name="T71" fmla="*/ 20 h 2055"/>
                <a:gd name="T72" fmla="*/ 2 w 2070"/>
                <a:gd name="T73" fmla="*/ 20 h 2055"/>
                <a:gd name="T74" fmla="*/ 2 w 2070"/>
                <a:gd name="T75" fmla="*/ 17 h 2055"/>
                <a:gd name="T76" fmla="*/ 2 w 2070"/>
                <a:gd name="T77" fmla="*/ 17 h 2055"/>
                <a:gd name="T78" fmla="*/ 2 w 2070"/>
                <a:gd name="T79" fmla="*/ 17 h 2055"/>
                <a:gd name="T80" fmla="*/ 2 w 2070"/>
                <a:gd name="T81" fmla="*/ 16 h 2055"/>
                <a:gd name="T82" fmla="*/ 2 w 2070"/>
                <a:gd name="T83" fmla="*/ 14 h 2055"/>
                <a:gd name="T84" fmla="*/ 2 w 2070"/>
                <a:gd name="T85" fmla="*/ 14 h 2055"/>
                <a:gd name="T86" fmla="*/ 2 w 2070"/>
                <a:gd name="T87" fmla="*/ 13 h 2055"/>
                <a:gd name="T88" fmla="*/ 2 w 2070"/>
                <a:gd name="T89" fmla="*/ 11 h 2055"/>
                <a:gd name="T90" fmla="*/ 0 w 2070"/>
                <a:gd name="T91" fmla="*/ 10 h 2055"/>
                <a:gd name="T92" fmla="*/ 2 w 2070"/>
                <a:gd name="T93" fmla="*/ 5 h 2055"/>
                <a:gd name="T94" fmla="*/ 2 w 2070"/>
                <a:gd name="T95" fmla="*/ 4 h 2055"/>
                <a:gd name="T96" fmla="*/ 2 w 2070"/>
                <a:gd name="T97" fmla="*/ 4 h 2055"/>
                <a:gd name="T98" fmla="*/ 2 w 2070"/>
                <a:gd name="T99" fmla="*/ 3 h 2055"/>
                <a:gd name="T100" fmla="*/ 2 w 2070"/>
                <a:gd name="T101" fmla="*/ 3 h 2055"/>
                <a:gd name="T102" fmla="*/ 2 w 2070"/>
                <a:gd name="T103" fmla="*/ 3 h 2055"/>
                <a:gd name="T104" fmla="*/ 2 w 2070"/>
                <a:gd name="T105" fmla="*/ 3 h 2055"/>
                <a:gd name="T106" fmla="*/ 2 w 2070"/>
                <a:gd name="T107" fmla="*/ 3 h 20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70"/>
                <a:gd name="T163" fmla="*/ 0 h 2055"/>
                <a:gd name="T164" fmla="*/ 2070 w 2070"/>
                <a:gd name="T165" fmla="*/ 2055 h 205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70" h="2055">
                  <a:moveTo>
                    <a:pt x="320" y="62"/>
                  </a:moveTo>
                  <a:cubicBezTo>
                    <a:pt x="378" y="43"/>
                    <a:pt x="450" y="39"/>
                    <a:pt x="512" y="30"/>
                  </a:cubicBezTo>
                  <a:cubicBezTo>
                    <a:pt x="603" y="0"/>
                    <a:pt x="543" y="15"/>
                    <a:pt x="696" y="6"/>
                  </a:cubicBezTo>
                  <a:cubicBezTo>
                    <a:pt x="957" y="11"/>
                    <a:pt x="1163" y="13"/>
                    <a:pt x="1408" y="54"/>
                  </a:cubicBezTo>
                  <a:cubicBezTo>
                    <a:pt x="1468" y="94"/>
                    <a:pt x="1392" y="47"/>
                    <a:pt x="1464" y="78"/>
                  </a:cubicBezTo>
                  <a:cubicBezTo>
                    <a:pt x="1503" y="95"/>
                    <a:pt x="1475" y="98"/>
                    <a:pt x="1520" y="118"/>
                  </a:cubicBezTo>
                  <a:cubicBezTo>
                    <a:pt x="1545" y="130"/>
                    <a:pt x="1574" y="133"/>
                    <a:pt x="1600" y="142"/>
                  </a:cubicBezTo>
                  <a:cubicBezTo>
                    <a:pt x="1642" y="174"/>
                    <a:pt x="1686" y="173"/>
                    <a:pt x="1736" y="190"/>
                  </a:cubicBezTo>
                  <a:cubicBezTo>
                    <a:pt x="1817" y="271"/>
                    <a:pt x="1761" y="205"/>
                    <a:pt x="1800" y="270"/>
                  </a:cubicBezTo>
                  <a:cubicBezTo>
                    <a:pt x="1810" y="286"/>
                    <a:pt x="1821" y="302"/>
                    <a:pt x="1832" y="318"/>
                  </a:cubicBezTo>
                  <a:cubicBezTo>
                    <a:pt x="1837" y="326"/>
                    <a:pt x="1848" y="342"/>
                    <a:pt x="1848" y="342"/>
                  </a:cubicBezTo>
                  <a:cubicBezTo>
                    <a:pt x="1856" y="369"/>
                    <a:pt x="1867" y="395"/>
                    <a:pt x="1872" y="422"/>
                  </a:cubicBezTo>
                  <a:cubicBezTo>
                    <a:pt x="1876" y="443"/>
                    <a:pt x="1873" y="466"/>
                    <a:pt x="1880" y="486"/>
                  </a:cubicBezTo>
                  <a:cubicBezTo>
                    <a:pt x="1884" y="497"/>
                    <a:pt x="1896" y="502"/>
                    <a:pt x="1904" y="510"/>
                  </a:cubicBezTo>
                  <a:cubicBezTo>
                    <a:pt x="1907" y="521"/>
                    <a:pt x="1908" y="532"/>
                    <a:pt x="1912" y="542"/>
                  </a:cubicBezTo>
                  <a:cubicBezTo>
                    <a:pt x="1921" y="564"/>
                    <a:pt x="1944" y="606"/>
                    <a:pt x="1944" y="606"/>
                  </a:cubicBezTo>
                  <a:cubicBezTo>
                    <a:pt x="1955" y="681"/>
                    <a:pt x="1995" y="740"/>
                    <a:pt x="2008" y="814"/>
                  </a:cubicBezTo>
                  <a:cubicBezTo>
                    <a:pt x="2038" y="978"/>
                    <a:pt x="2046" y="1145"/>
                    <a:pt x="2064" y="1310"/>
                  </a:cubicBezTo>
                  <a:cubicBezTo>
                    <a:pt x="2051" y="1412"/>
                    <a:pt x="2070" y="1524"/>
                    <a:pt x="2040" y="1622"/>
                  </a:cubicBezTo>
                  <a:cubicBezTo>
                    <a:pt x="2021" y="1684"/>
                    <a:pt x="1937" y="1718"/>
                    <a:pt x="1888" y="1750"/>
                  </a:cubicBezTo>
                  <a:cubicBezTo>
                    <a:pt x="1860" y="1792"/>
                    <a:pt x="1828" y="1834"/>
                    <a:pt x="1792" y="1870"/>
                  </a:cubicBezTo>
                  <a:cubicBezTo>
                    <a:pt x="1775" y="1920"/>
                    <a:pt x="1757" y="1964"/>
                    <a:pt x="1704" y="1982"/>
                  </a:cubicBezTo>
                  <a:cubicBezTo>
                    <a:pt x="1678" y="2022"/>
                    <a:pt x="1630" y="2038"/>
                    <a:pt x="1584" y="2046"/>
                  </a:cubicBezTo>
                  <a:cubicBezTo>
                    <a:pt x="1504" y="2043"/>
                    <a:pt x="1422" y="2055"/>
                    <a:pt x="1344" y="2038"/>
                  </a:cubicBezTo>
                  <a:cubicBezTo>
                    <a:pt x="1328" y="2034"/>
                    <a:pt x="1341" y="2001"/>
                    <a:pt x="1328" y="1990"/>
                  </a:cubicBezTo>
                  <a:cubicBezTo>
                    <a:pt x="1311" y="1976"/>
                    <a:pt x="1285" y="1979"/>
                    <a:pt x="1264" y="1974"/>
                  </a:cubicBezTo>
                  <a:cubicBezTo>
                    <a:pt x="1234" y="1915"/>
                    <a:pt x="1199" y="1869"/>
                    <a:pt x="1152" y="1822"/>
                  </a:cubicBezTo>
                  <a:cubicBezTo>
                    <a:pt x="1141" y="1788"/>
                    <a:pt x="1121" y="1767"/>
                    <a:pt x="1096" y="1742"/>
                  </a:cubicBezTo>
                  <a:cubicBezTo>
                    <a:pt x="1091" y="1726"/>
                    <a:pt x="1093" y="1705"/>
                    <a:pt x="1080" y="1694"/>
                  </a:cubicBezTo>
                  <a:cubicBezTo>
                    <a:pt x="1068" y="1683"/>
                    <a:pt x="1043" y="1697"/>
                    <a:pt x="1032" y="1686"/>
                  </a:cubicBezTo>
                  <a:cubicBezTo>
                    <a:pt x="957" y="1611"/>
                    <a:pt x="1104" y="1651"/>
                    <a:pt x="976" y="1630"/>
                  </a:cubicBezTo>
                  <a:cubicBezTo>
                    <a:pt x="928" y="1582"/>
                    <a:pt x="920" y="1572"/>
                    <a:pt x="864" y="1526"/>
                  </a:cubicBezTo>
                  <a:cubicBezTo>
                    <a:pt x="841" y="1507"/>
                    <a:pt x="814" y="1505"/>
                    <a:pt x="792" y="1486"/>
                  </a:cubicBezTo>
                  <a:cubicBezTo>
                    <a:pt x="759" y="1457"/>
                    <a:pt x="736" y="1434"/>
                    <a:pt x="696" y="1414"/>
                  </a:cubicBezTo>
                  <a:cubicBezTo>
                    <a:pt x="671" y="1377"/>
                    <a:pt x="634" y="1379"/>
                    <a:pt x="600" y="1350"/>
                  </a:cubicBezTo>
                  <a:cubicBezTo>
                    <a:pt x="518" y="1280"/>
                    <a:pt x="426" y="1227"/>
                    <a:pt x="344" y="1158"/>
                  </a:cubicBezTo>
                  <a:cubicBezTo>
                    <a:pt x="328" y="1144"/>
                    <a:pt x="292" y="1096"/>
                    <a:pt x="280" y="1078"/>
                  </a:cubicBezTo>
                  <a:cubicBezTo>
                    <a:pt x="267" y="1058"/>
                    <a:pt x="265" y="1031"/>
                    <a:pt x="248" y="1014"/>
                  </a:cubicBezTo>
                  <a:cubicBezTo>
                    <a:pt x="237" y="1003"/>
                    <a:pt x="224" y="995"/>
                    <a:pt x="216" y="982"/>
                  </a:cubicBezTo>
                  <a:cubicBezTo>
                    <a:pt x="203" y="962"/>
                    <a:pt x="200" y="936"/>
                    <a:pt x="184" y="918"/>
                  </a:cubicBezTo>
                  <a:cubicBezTo>
                    <a:pt x="169" y="902"/>
                    <a:pt x="147" y="897"/>
                    <a:pt x="128" y="886"/>
                  </a:cubicBezTo>
                  <a:cubicBezTo>
                    <a:pt x="125" y="870"/>
                    <a:pt x="127" y="853"/>
                    <a:pt x="120" y="838"/>
                  </a:cubicBezTo>
                  <a:cubicBezTo>
                    <a:pt x="115" y="828"/>
                    <a:pt x="103" y="823"/>
                    <a:pt x="96" y="814"/>
                  </a:cubicBezTo>
                  <a:cubicBezTo>
                    <a:pt x="70" y="780"/>
                    <a:pt x="62" y="752"/>
                    <a:pt x="40" y="718"/>
                  </a:cubicBezTo>
                  <a:cubicBezTo>
                    <a:pt x="32" y="686"/>
                    <a:pt x="25" y="654"/>
                    <a:pt x="16" y="622"/>
                  </a:cubicBezTo>
                  <a:cubicBezTo>
                    <a:pt x="12" y="606"/>
                    <a:pt x="0" y="574"/>
                    <a:pt x="0" y="574"/>
                  </a:cubicBezTo>
                  <a:cubicBezTo>
                    <a:pt x="4" y="499"/>
                    <a:pt x="6" y="317"/>
                    <a:pt x="88" y="262"/>
                  </a:cubicBezTo>
                  <a:cubicBezTo>
                    <a:pt x="93" y="254"/>
                    <a:pt x="97" y="245"/>
                    <a:pt x="104" y="238"/>
                  </a:cubicBezTo>
                  <a:cubicBezTo>
                    <a:pt x="111" y="231"/>
                    <a:pt x="122" y="229"/>
                    <a:pt x="128" y="222"/>
                  </a:cubicBezTo>
                  <a:cubicBezTo>
                    <a:pt x="165" y="180"/>
                    <a:pt x="147" y="179"/>
                    <a:pt x="184" y="150"/>
                  </a:cubicBezTo>
                  <a:cubicBezTo>
                    <a:pt x="199" y="138"/>
                    <a:pt x="214" y="124"/>
                    <a:pt x="232" y="118"/>
                  </a:cubicBezTo>
                  <a:cubicBezTo>
                    <a:pt x="248" y="113"/>
                    <a:pt x="280" y="102"/>
                    <a:pt x="280" y="102"/>
                  </a:cubicBezTo>
                  <a:cubicBezTo>
                    <a:pt x="285" y="94"/>
                    <a:pt x="288" y="84"/>
                    <a:pt x="296" y="78"/>
                  </a:cubicBezTo>
                  <a:cubicBezTo>
                    <a:pt x="323" y="57"/>
                    <a:pt x="320" y="82"/>
                    <a:pt x="320" y="62"/>
                  </a:cubicBezTo>
                  <a:close/>
                </a:path>
              </a:pathLst>
            </a:custGeom>
            <a:noFill/>
            <a:ln w="28575" cap="flat" cmpd="sng">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895" name="Oval 13"/>
            <p:cNvSpPr>
              <a:spLocks noChangeArrowheads="1"/>
            </p:cNvSpPr>
            <p:nvPr/>
          </p:nvSpPr>
          <p:spPr bwMode="auto">
            <a:xfrm>
              <a:off x="4174" y="262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6" name="Oval 14"/>
            <p:cNvSpPr>
              <a:spLocks noChangeArrowheads="1"/>
            </p:cNvSpPr>
            <p:nvPr/>
          </p:nvSpPr>
          <p:spPr bwMode="auto">
            <a:xfrm>
              <a:off x="4722" y="2644"/>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7" name="Oval 19"/>
            <p:cNvSpPr>
              <a:spLocks noChangeArrowheads="1"/>
            </p:cNvSpPr>
            <p:nvPr/>
          </p:nvSpPr>
          <p:spPr bwMode="auto">
            <a:xfrm>
              <a:off x="4438" y="195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8" name="Oval 20"/>
            <p:cNvSpPr>
              <a:spLocks noChangeArrowheads="1"/>
            </p:cNvSpPr>
            <p:nvPr/>
          </p:nvSpPr>
          <p:spPr bwMode="auto">
            <a:xfrm>
              <a:off x="4510" y="294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9" name="Oval 21"/>
            <p:cNvSpPr>
              <a:spLocks noChangeArrowheads="1"/>
            </p:cNvSpPr>
            <p:nvPr/>
          </p:nvSpPr>
          <p:spPr bwMode="auto">
            <a:xfrm>
              <a:off x="4828" y="201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36875" name="Object 35"/>
                <p:cNvSpPr txBox="1"/>
                <p:nvPr/>
              </p:nvSpPr>
              <p:spPr bwMode="auto">
                <a:xfrm>
                  <a:off x="3794" y="1719"/>
                  <a:ext cx="420" cy="1021"/>
                </a:xfrm>
                <a:prstGeom prst="rect">
                  <a:avLst/>
                </a:prstGeom>
                <a:noFill/>
                <a:ln>
                  <a:noFill/>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𝐵</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36875" name="Object 35"/>
                <p:cNvSpPr txBox="1">
                  <a:spLocks noRot="1" noChangeAspect="1" noMove="1" noResize="1" noEditPoints="1" noAdjustHandles="1" noChangeArrowheads="1" noChangeShapeType="1" noTextEdit="1"/>
                </p:cNvSpPr>
                <p:nvPr/>
              </p:nvSpPr>
              <p:spPr bwMode="auto">
                <a:xfrm>
                  <a:off x="3794" y="1719"/>
                  <a:ext cx="420" cy="1021"/>
                </a:xfrm>
                <a:prstGeom prst="rect">
                  <a:avLst/>
                </a:prstGeom>
                <a:blipFill>
                  <a:blip r:embed="rId3"/>
                  <a:stretch>
                    <a:fillRect r="-18868"/>
                  </a:stretch>
                </a:blipFill>
                <a:ln>
                  <a:noFill/>
                </a:ln>
                <a:effectLst/>
                <a:extLst/>
              </p:spPr>
              <p:txBody>
                <a:bodyPr/>
                <a:lstStyle/>
                <a:p>
                  <a:r>
                    <a:rPr lang="zh-CN" altLang="en-US">
                      <a:noFill/>
                    </a:rPr>
                    <a:t> </a:t>
                  </a:r>
                </a:p>
              </p:txBody>
            </p:sp>
          </mc:Fallback>
        </mc:AlternateContent>
        <p:sp>
          <p:nvSpPr>
            <p:cNvPr id="36900" name="Oval 37"/>
            <p:cNvSpPr>
              <a:spLocks noChangeArrowheads="1"/>
            </p:cNvSpPr>
            <p:nvPr/>
          </p:nvSpPr>
          <p:spPr bwMode="auto">
            <a:xfrm>
              <a:off x="4858" y="2917"/>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901" name="Oval 38"/>
            <p:cNvSpPr>
              <a:spLocks noChangeArrowheads="1"/>
            </p:cNvSpPr>
            <p:nvPr/>
          </p:nvSpPr>
          <p:spPr bwMode="auto">
            <a:xfrm>
              <a:off x="4094" y="206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902" name="Oval 43"/>
            <p:cNvSpPr>
              <a:spLocks noChangeArrowheads="1"/>
            </p:cNvSpPr>
            <p:nvPr/>
          </p:nvSpPr>
          <p:spPr bwMode="auto">
            <a:xfrm>
              <a:off x="4483" y="2522"/>
              <a:ext cx="47" cy="47"/>
            </a:xfrm>
            <a:prstGeom prst="ellipse">
              <a:avLst/>
            </a:prstGeom>
            <a:solidFill>
              <a:srgbClr val="FF0000"/>
            </a:solidFill>
            <a:ln w="9525">
              <a:solidFill>
                <a:srgbClr val="FF0000"/>
              </a:solidFill>
              <a:round/>
              <a:headEnd/>
              <a:tailEnd/>
            </a:ln>
          </p:spPr>
          <p:txBody>
            <a:bodyPr wrap="none" anchor="ctr"/>
            <a:lstStyle/>
            <a:p>
              <a:pPr>
                <a:spcBef>
                  <a:spcPct val="20000"/>
                </a:spcBef>
              </a:pPr>
              <a:endParaRPr lang="en-US" altLang="zh-CN"/>
            </a:p>
          </p:txBody>
        </p:sp>
      </p:grpSp>
      <p:grpSp>
        <p:nvGrpSpPr>
          <p:cNvPr id="3" name="Group 49"/>
          <p:cNvGrpSpPr>
            <a:grpSpLocks/>
          </p:cNvGrpSpPr>
          <p:nvPr/>
        </p:nvGrpSpPr>
        <p:grpSpPr bwMode="auto">
          <a:xfrm flipH="1">
            <a:off x="5621338" y="868363"/>
            <a:ext cx="1725612" cy="1438275"/>
            <a:chOff x="3486" y="1593"/>
            <a:chExt cx="1662" cy="1725"/>
          </a:xfrm>
        </p:grpSpPr>
        <p:sp>
          <p:nvSpPr>
            <p:cNvPr id="36885" name="Freeform 9"/>
            <p:cNvSpPr>
              <a:spLocks/>
            </p:cNvSpPr>
            <p:nvPr/>
          </p:nvSpPr>
          <p:spPr bwMode="auto">
            <a:xfrm>
              <a:off x="3486" y="1593"/>
              <a:ext cx="1662" cy="1725"/>
            </a:xfrm>
            <a:custGeom>
              <a:avLst/>
              <a:gdLst>
                <a:gd name="T0" fmla="*/ 2 w 2070"/>
                <a:gd name="T1" fmla="*/ 3 h 2055"/>
                <a:gd name="T2" fmla="*/ 3 w 2070"/>
                <a:gd name="T3" fmla="*/ 3 h 2055"/>
                <a:gd name="T4" fmla="*/ 5 w 2070"/>
                <a:gd name="T5" fmla="*/ 3 h 2055"/>
                <a:gd name="T6" fmla="*/ 9 w 2070"/>
                <a:gd name="T7" fmla="*/ 3 h 2055"/>
                <a:gd name="T8" fmla="*/ 9 w 2070"/>
                <a:gd name="T9" fmla="*/ 3 h 2055"/>
                <a:gd name="T10" fmla="*/ 10 w 2070"/>
                <a:gd name="T11" fmla="*/ 3 h 2055"/>
                <a:gd name="T12" fmla="*/ 10 w 2070"/>
                <a:gd name="T13" fmla="*/ 3 h 2055"/>
                <a:gd name="T14" fmla="*/ 11 w 2070"/>
                <a:gd name="T15" fmla="*/ 3 h 2055"/>
                <a:gd name="T16" fmla="*/ 11 w 2070"/>
                <a:gd name="T17" fmla="*/ 5 h 2055"/>
                <a:gd name="T18" fmla="*/ 11 w 2070"/>
                <a:gd name="T19" fmla="*/ 6 h 2055"/>
                <a:gd name="T20" fmla="*/ 11 w 2070"/>
                <a:gd name="T21" fmla="*/ 6 h 2055"/>
                <a:gd name="T22" fmla="*/ 11 w 2070"/>
                <a:gd name="T23" fmla="*/ 7 h 2055"/>
                <a:gd name="T24" fmla="*/ 11 w 2070"/>
                <a:gd name="T25" fmla="*/ 8 h 2055"/>
                <a:gd name="T26" fmla="*/ 12 w 2070"/>
                <a:gd name="T27" fmla="*/ 9 h 2055"/>
                <a:gd name="T28" fmla="*/ 12 w 2070"/>
                <a:gd name="T29" fmla="*/ 10 h 2055"/>
                <a:gd name="T30" fmla="*/ 13 w 2070"/>
                <a:gd name="T31" fmla="*/ 11 h 2055"/>
                <a:gd name="T32" fmla="*/ 13 w 2070"/>
                <a:gd name="T33" fmla="*/ 14 h 2055"/>
                <a:gd name="T34" fmla="*/ 14 w 2070"/>
                <a:gd name="T35" fmla="*/ 24 h 2055"/>
                <a:gd name="T36" fmla="*/ 13 w 2070"/>
                <a:gd name="T37" fmla="*/ 29 h 2055"/>
                <a:gd name="T38" fmla="*/ 12 w 2070"/>
                <a:gd name="T39" fmla="*/ 32 h 2055"/>
                <a:gd name="T40" fmla="*/ 11 w 2070"/>
                <a:gd name="T41" fmla="*/ 33 h 2055"/>
                <a:gd name="T42" fmla="*/ 11 w 2070"/>
                <a:gd name="T43" fmla="*/ 35 h 2055"/>
                <a:gd name="T44" fmla="*/ 10 w 2070"/>
                <a:gd name="T45" fmla="*/ 36 h 2055"/>
                <a:gd name="T46" fmla="*/ 9 w 2070"/>
                <a:gd name="T47" fmla="*/ 35 h 2055"/>
                <a:gd name="T48" fmla="*/ 9 w 2070"/>
                <a:gd name="T49" fmla="*/ 35 h 2055"/>
                <a:gd name="T50" fmla="*/ 8 w 2070"/>
                <a:gd name="T51" fmla="*/ 35 h 2055"/>
                <a:gd name="T52" fmla="*/ 7 w 2070"/>
                <a:gd name="T53" fmla="*/ 33 h 2055"/>
                <a:gd name="T54" fmla="*/ 7 w 2070"/>
                <a:gd name="T55" fmla="*/ 31 h 2055"/>
                <a:gd name="T56" fmla="*/ 7 w 2070"/>
                <a:gd name="T57" fmla="*/ 29 h 2055"/>
                <a:gd name="T58" fmla="*/ 6 w 2070"/>
                <a:gd name="T59" fmla="*/ 29 h 2055"/>
                <a:gd name="T60" fmla="*/ 6 w 2070"/>
                <a:gd name="T61" fmla="*/ 29 h 2055"/>
                <a:gd name="T62" fmla="*/ 6 w 2070"/>
                <a:gd name="T63" fmla="*/ 28 h 2055"/>
                <a:gd name="T64" fmla="*/ 5 w 2070"/>
                <a:gd name="T65" fmla="*/ 27 h 2055"/>
                <a:gd name="T66" fmla="*/ 5 w 2070"/>
                <a:gd name="T67" fmla="*/ 24 h 2055"/>
                <a:gd name="T68" fmla="*/ 4 w 2070"/>
                <a:gd name="T69" fmla="*/ 24 h 2055"/>
                <a:gd name="T70" fmla="*/ 2 w 2070"/>
                <a:gd name="T71" fmla="*/ 20 h 2055"/>
                <a:gd name="T72" fmla="*/ 2 w 2070"/>
                <a:gd name="T73" fmla="*/ 20 h 2055"/>
                <a:gd name="T74" fmla="*/ 2 w 2070"/>
                <a:gd name="T75" fmla="*/ 17 h 2055"/>
                <a:gd name="T76" fmla="*/ 2 w 2070"/>
                <a:gd name="T77" fmla="*/ 17 h 2055"/>
                <a:gd name="T78" fmla="*/ 2 w 2070"/>
                <a:gd name="T79" fmla="*/ 17 h 2055"/>
                <a:gd name="T80" fmla="*/ 2 w 2070"/>
                <a:gd name="T81" fmla="*/ 16 h 2055"/>
                <a:gd name="T82" fmla="*/ 2 w 2070"/>
                <a:gd name="T83" fmla="*/ 14 h 2055"/>
                <a:gd name="T84" fmla="*/ 2 w 2070"/>
                <a:gd name="T85" fmla="*/ 14 h 2055"/>
                <a:gd name="T86" fmla="*/ 2 w 2070"/>
                <a:gd name="T87" fmla="*/ 13 h 2055"/>
                <a:gd name="T88" fmla="*/ 2 w 2070"/>
                <a:gd name="T89" fmla="*/ 11 h 2055"/>
                <a:gd name="T90" fmla="*/ 0 w 2070"/>
                <a:gd name="T91" fmla="*/ 10 h 2055"/>
                <a:gd name="T92" fmla="*/ 2 w 2070"/>
                <a:gd name="T93" fmla="*/ 5 h 2055"/>
                <a:gd name="T94" fmla="*/ 2 w 2070"/>
                <a:gd name="T95" fmla="*/ 4 h 2055"/>
                <a:gd name="T96" fmla="*/ 2 w 2070"/>
                <a:gd name="T97" fmla="*/ 4 h 2055"/>
                <a:gd name="T98" fmla="*/ 2 w 2070"/>
                <a:gd name="T99" fmla="*/ 3 h 2055"/>
                <a:gd name="T100" fmla="*/ 2 w 2070"/>
                <a:gd name="T101" fmla="*/ 3 h 2055"/>
                <a:gd name="T102" fmla="*/ 2 w 2070"/>
                <a:gd name="T103" fmla="*/ 3 h 2055"/>
                <a:gd name="T104" fmla="*/ 2 w 2070"/>
                <a:gd name="T105" fmla="*/ 3 h 2055"/>
                <a:gd name="T106" fmla="*/ 2 w 2070"/>
                <a:gd name="T107" fmla="*/ 3 h 20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70"/>
                <a:gd name="T163" fmla="*/ 0 h 2055"/>
                <a:gd name="T164" fmla="*/ 2070 w 2070"/>
                <a:gd name="T165" fmla="*/ 2055 h 205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70" h="2055">
                  <a:moveTo>
                    <a:pt x="320" y="62"/>
                  </a:moveTo>
                  <a:cubicBezTo>
                    <a:pt x="378" y="43"/>
                    <a:pt x="450" y="39"/>
                    <a:pt x="512" y="30"/>
                  </a:cubicBezTo>
                  <a:cubicBezTo>
                    <a:pt x="603" y="0"/>
                    <a:pt x="543" y="15"/>
                    <a:pt x="696" y="6"/>
                  </a:cubicBezTo>
                  <a:cubicBezTo>
                    <a:pt x="957" y="11"/>
                    <a:pt x="1163" y="13"/>
                    <a:pt x="1408" y="54"/>
                  </a:cubicBezTo>
                  <a:cubicBezTo>
                    <a:pt x="1468" y="94"/>
                    <a:pt x="1392" y="47"/>
                    <a:pt x="1464" y="78"/>
                  </a:cubicBezTo>
                  <a:cubicBezTo>
                    <a:pt x="1503" y="95"/>
                    <a:pt x="1475" y="98"/>
                    <a:pt x="1520" y="118"/>
                  </a:cubicBezTo>
                  <a:cubicBezTo>
                    <a:pt x="1545" y="130"/>
                    <a:pt x="1574" y="133"/>
                    <a:pt x="1600" y="142"/>
                  </a:cubicBezTo>
                  <a:cubicBezTo>
                    <a:pt x="1642" y="174"/>
                    <a:pt x="1686" y="173"/>
                    <a:pt x="1736" y="190"/>
                  </a:cubicBezTo>
                  <a:cubicBezTo>
                    <a:pt x="1817" y="271"/>
                    <a:pt x="1761" y="205"/>
                    <a:pt x="1800" y="270"/>
                  </a:cubicBezTo>
                  <a:cubicBezTo>
                    <a:pt x="1810" y="286"/>
                    <a:pt x="1821" y="302"/>
                    <a:pt x="1832" y="318"/>
                  </a:cubicBezTo>
                  <a:cubicBezTo>
                    <a:pt x="1837" y="326"/>
                    <a:pt x="1848" y="342"/>
                    <a:pt x="1848" y="342"/>
                  </a:cubicBezTo>
                  <a:cubicBezTo>
                    <a:pt x="1856" y="369"/>
                    <a:pt x="1867" y="395"/>
                    <a:pt x="1872" y="422"/>
                  </a:cubicBezTo>
                  <a:cubicBezTo>
                    <a:pt x="1876" y="443"/>
                    <a:pt x="1873" y="466"/>
                    <a:pt x="1880" y="486"/>
                  </a:cubicBezTo>
                  <a:cubicBezTo>
                    <a:pt x="1884" y="497"/>
                    <a:pt x="1896" y="502"/>
                    <a:pt x="1904" y="510"/>
                  </a:cubicBezTo>
                  <a:cubicBezTo>
                    <a:pt x="1907" y="521"/>
                    <a:pt x="1908" y="532"/>
                    <a:pt x="1912" y="542"/>
                  </a:cubicBezTo>
                  <a:cubicBezTo>
                    <a:pt x="1921" y="564"/>
                    <a:pt x="1944" y="606"/>
                    <a:pt x="1944" y="606"/>
                  </a:cubicBezTo>
                  <a:cubicBezTo>
                    <a:pt x="1955" y="681"/>
                    <a:pt x="1995" y="740"/>
                    <a:pt x="2008" y="814"/>
                  </a:cubicBezTo>
                  <a:cubicBezTo>
                    <a:pt x="2038" y="978"/>
                    <a:pt x="2046" y="1145"/>
                    <a:pt x="2064" y="1310"/>
                  </a:cubicBezTo>
                  <a:cubicBezTo>
                    <a:pt x="2051" y="1412"/>
                    <a:pt x="2070" y="1524"/>
                    <a:pt x="2040" y="1622"/>
                  </a:cubicBezTo>
                  <a:cubicBezTo>
                    <a:pt x="2021" y="1684"/>
                    <a:pt x="1937" y="1718"/>
                    <a:pt x="1888" y="1750"/>
                  </a:cubicBezTo>
                  <a:cubicBezTo>
                    <a:pt x="1860" y="1792"/>
                    <a:pt x="1828" y="1834"/>
                    <a:pt x="1792" y="1870"/>
                  </a:cubicBezTo>
                  <a:cubicBezTo>
                    <a:pt x="1775" y="1920"/>
                    <a:pt x="1757" y="1964"/>
                    <a:pt x="1704" y="1982"/>
                  </a:cubicBezTo>
                  <a:cubicBezTo>
                    <a:pt x="1678" y="2022"/>
                    <a:pt x="1630" y="2038"/>
                    <a:pt x="1584" y="2046"/>
                  </a:cubicBezTo>
                  <a:cubicBezTo>
                    <a:pt x="1504" y="2043"/>
                    <a:pt x="1422" y="2055"/>
                    <a:pt x="1344" y="2038"/>
                  </a:cubicBezTo>
                  <a:cubicBezTo>
                    <a:pt x="1328" y="2034"/>
                    <a:pt x="1341" y="2001"/>
                    <a:pt x="1328" y="1990"/>
                  </a:cubicBezTo>
                  <a:cubicBezTo>
                    <a:pt x="1311" y="1976"/>
                    <a:pt x="1285" y="1979"/>
                    <a:pt x="1264" y="1974"/>
                  </a:cubicBezTo>
                  <a:cubicBezTo>
                    <a:pt x="1234" y="1915"/>
                    <a:pt x="1199" y="1869"/>
                    <a:pt x="1152" y="1822"/>
                  </a:cubicBezTo>
                  <a:cubicBezTo>
                    <a:pt x="1141" y="1788"/>
                    <a:pt x="1121" y="1767"/>
                    <a:pt x="1096" y="1742"/>
                  </a:cubicBezTo>
                  <a:cubicBezTo>
                    <a:pt x="1091" y="1726"/>
                    <a:pt x="1093" y="1705"/>
                    <a:pt x="1080" y="1694"/>
                  </a:cubicBezTo>
                  <a:cubicBezTo>
                    <a:pt x="1068" y="1683"/>
                    <a:pt x="1043" y="1697"/>
                    <a:pt x="1032" y="1686"/>
                  </a:cubicBezTo>
                  <a:cubicBezTo>
                    <a:pt x="957" y="1611"/>
                    <a:pt x="1104" y="1651"/>
                    <a:pt x="976" y="1630"/>
                  </a:cubicBezTo>
                  <a:cubicBezTo>
                    <a:pt x="928" y="1582"/>
                    <a:pt x="920" y="1572"/>
                    <a:pt x="864" y="1526"/>
                  </a:cubicBezTo>
                  <a:cubicBezTo>
                    <a:pt x="841" y="1507"/>
                    <a:pt x="814" y="1505"/>
                    <a:pt x="792" y="1486"/>
                  </a:cubicBezTo>
                  <a:cubicBezTo>
                    <a:pt x="759" y="1457"/>
                    <a:pt x="736" y="1434"/>
                    <a:pt x="696" y="1414"/>
                  </a:cubicBezTo>
                  <a:cubicBezTo>
                    <a:pt x="671" y="1377"/>
                    <a:pt x="634" y="1379"/>
                    <a:pt x="600" y="1350"/>
                  </a:cubicBezTo>
                  <a:cubicBezTo>
                    <a:pt x="518" y="1280"/>
                    <a:pt x="426" y="1227"/>
                    <a:pt x="344" y="1158"/>
                  </a:cubicBezTo>
                  <a:cubicBezTo>
                    <a:pt x="328" y="1144"/>
                    <a:pt x="292" y="1096"/>
                    <a:pt x="280" y="1078"/>
                  </a:cubicBezTo>
                  <a:cubicBezTo>
                    <a:pt x="267" y="1058"/>
                    <a:pt x="265" y="1031"/>
                    <a:pt x="248" y="1014"/>
                  </a:cubicBezTo>
                  <a:cubicBezTo>
                    <a:pt x="237" y="1003"/>
                    <a:pt x="224" y="995"/>
                    <a:pt x="216" y="982"/>
                  </a:cubicBezTo>
                  <a:cubicBezTo>
                    <a:pt x="203" y="962"/>
                    <a:pt x="200" y="936"/>
                    <a:pt x="184" y="918"/>
                  </a:cubicBezTo>
                  <a:cubicBezTo>
                    <a:pt x="169" y="902"/>
                    <a:pt x="147" y="897"/>
                    <a:pt x="128" y="886"/>
                  </a:cubicBezTo>
                  <a:cubicBezTo>
                    <a:pt x="125" y="870"/>
                    <a:pt x="127" y="853"/>
                    <a:pt x="120" y="838"/>
                  </a:cubicBezTo>
                  <a:cubicBezTo>
                    <a:pt x="115" y="828"/>
                    <a:pt x="103" y="823"/>
                    <a:pt x="96" y="814"/>
                  </a:cubicBezTo>
                  <a:cubicBezTo>
                    <a:pt x="70" y="780"/>
                    <a:pt x="62" y="752"/>
                    <a:pt x="40" y="718"/>
                  </a:cubicBezTo>
                  <a:cubicBezTo>
                    <a:pt x="32" y="686"/>
                    <a:pt x="25" y="654"/>
                    <a:pt x="16" y="622"/>
                  </a:cubicBezTo>
                  <a:cubicBezTo>
                    <a:pt x="12" y="606"/>
                    <a:pt x="0" y="574"/>
                    <a:pt x="0" y="574"/>
                  </a:cubicBezTo>
                  <a:cubicBezTo>
                    <a:pt x="4" y="499"/>
                    <a:pt x="6" y="317"/>
                    <a:pt x="88" y="262"/>
                  </a:cubicBezTo>
                  <a:cubicBezTo>
                    <a:pt x="93" y="254"/>
                    <a:pt x="97" y="245"/>
                    <a:pt x="104" y="238"/>
                  </a:cubicBezTo>
                  <a:cubicBezTo>
                    <a:pt x="111" y="231"/>
                    <a:pt x="122" y="229"/>
                    <a:pt x="128" y="222"/>
                  </a:cubicBezTo>
                  <a:cubicBezTo>
                    <a:pt x="165" y="180"/>
                    <a:pt x="147" y="179"/>
                    <a:pt x="184" y="150"/>
                  </a:cubicBezTo>
                  <a:cubicBezTo>
                    <a:pt x="199" y="138"/>
                    <a:pt x="214" y="124"/>
                    <a:pt x="232" y="118"/>
                  </a:cubicBezTo>
                  <a:cubicBezTo>
                    <a:pt x="248" y="113"/>
                    <a:pt x="280" y="102"/>
                    <a:pt x="280" y="102"/>
                  </a:cubicBezTo>
                  <a:cubicBezTo>
                    <a:pt x="285" y="94"/>
                    <a:pt x="288" y="84"/>
                    <a:pt x="296" y="78"/>
                  </a:cubicBezTo>
                  <a:cubicBezTo>
                    <a:pt x="323" y="57"/>
                    <a:pt x="320" y="82"/>
                    <a:pt x="320" y="62"/>
                  </a:cubicBezTo>
                  <a:close/>
                </a:path>
              </a:pathLst>
            </a:custGeom>
            <a:noFill/>
            <a:ln w="28575" cap="flat" cmpd="sng">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886" name="Oval 13"/>
            <p:cNvSpPr>
              <a:spLocks noChangeArrowheads="1"/>
            </p:cNvSpPr>
            <p:nvPr/>
          </p:nvSpPr>
          <p:spPr bwMode="auto">
            <a:xfrm>
              <a:off x="4174" y="262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87" name="Oval 14"/>
            <p:cNvSpPr>
              <a:spLocks noChangeArrowheads="1"/>
            </p:cNvSpPr>
            <p:nvPr/>
          </p:nvSpPr>
          <p:spPr bwMode="auto">
            <a:xfrm>
              <a:off x="4722" y="2644"/>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88" name="Oval 19"/>
            <p:cNvSpPr>
              <a:spLocks noChangeArrowheads="1"/>
            </p:cNvSpPr>
            <p:nvPr/>
          </p:nvSpPr>
          <p:spPr bwMode="auto">
            <a:xfrm>
              <a:off x="4438" y="195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89" name="Oval 20"/>
            <p:cNvSpPr>
              <a:spLocks noChangeArrowheads="1"/>
            </p:cNvSpPr>
            <p:nvPr/>
          </p:nvSpPr>
          <p:spPr bwMode="auto">
            <a:xfrm>
              <a:off x="4510" y="294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0" name="Oval 21"/>
            <p:cNvSpPr>
              <a:spLocks noChangeArrowheads="1"/>
            </p:cNvSpPr>
            <p:nvPr/>
          </p:nvSpPr>
          <p:spPr bwMode="auto">
            <a:xfrm>
              <a:off x="4828" y="201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1" name="Oval 37"/>
            <p:cNvSpPr>
              <a:spLocks noChangeArrowheads="1"/>
            </p:cNvSpPr>
            <p:nvPr/>
          </p:nvSpPr>
          <p:spPr bwMode="auto">
            <a:xfrm>
              <a:off x="4858" y="2917"/>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2" name="Oval 38"/>
            <p:cNvSpPr>
              <a:spLocks noChangeArrowheads="1"/>
            </p:cNvSpPr>
            <p:nvPr/>
          </p:nvSpPr>
          <p:spPr bwMode="auto">
            <a:xfrm>
              <a:off x="4094" y="206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36893" name="Oval 43"/>
            <p:cNvSpPr>
              <a:spLocks noChangeArrowheads="1"/>
            </p:cNvSpPr>
            <p:nvPr/>
          </p:nvSpPr>
          <p:spPr bwMode="auto">
            <a:xfrm>
              <a:off x="4483" y="2522"/>
              <a:ext cx="47" cy="47"/>
            </a:xfrm>
            <a:prstGeom prst="ellipse">
              <a:avLst/>
            </a:prstGeom>
            <a:solidFill>
              <a:srgbClr val="FF0000"/>
            </a:solidFill>
            <a:ln w="9525">
              <a:solidFill>
                <a:srgbClr val="FF0000"/>
              </a:solidFill>
              <a:round/>
              <a:headEnd/>
              <a:tailEnd/>
            </a:ln>
          </p:spPr>
          <p:txBody>
            <a:bodyPr wrap="none" anchor="ctr"/>
            <a:lstStyle/>
            <a:p>
              <a:pPr>
                <a:spcBef>
                  <a:spcPct val="20000"/>
                </a:spcBef>
              </a:pPr>
              <a:endParaRPr lang="en-US" altLang="zh-CN"/>
            </a:p>
          </p:txBody>
        </p:sp>
      </p:grpSp>
      <p:sp>
        <p:nvSpPr>
          <p:cNvPr id="35" name="Line 51"/>
          <p:cNvSpPr>
            <a:spLocks noChangeShapeType="1"/>
          </p:cNvSpPr>
          <p:nvPr/>
        </p:nvSpPr>
        <p:spPr bwMode="auto">
          <a:xfrm flipH="1" flipV="1">
            <a:off x="6307138" y="1781174"/>
            <a:ext cx="4653" cy="1133476"/>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52"/>
          <p:cNvSpPr>
            <a:spLocks noChangeShapeType="1"/>
          </p:cNvSpPr>
          <p:nvPr/>
        </p:nvSpPr>
        <p:spPr bwMode="auto">
          <a:xfrm flipV="1">
            <a:off x="6324491" y="1799699"/>
            <a:ext cx="1030397" cy="1088532"/>
          </a:xfrm>
          <a:prstGeom prst="line">
            <a:avLst/>
          </a:prstGeom>
          <a:noFill/>
          <a:ln w="3810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38" name="Object 8"/>
              <p:cNvSpPr txBox="1"/>
              <p:nvPr/>
            </p:nvSpPr>
            <p:spPr bwMode="auto">
              <a:xfrm>
                <a:off x="6581775" y="1865313"/>
                <a:ext cx="346075" cy="681037"/>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𝑅</m:t>
                              </m:r>
                            </m:e>
                          </m:acc>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38" name="Object 8"/>
              <p:cNvSpPr txBox="1">
                <a:spLocks noRot="1" noChangeAspect="1" noMove="1" noResize="1" noEditPoints="1" noAdjustHandles="1" noChangeArrowheads="1" noChangeShapeType="1" noTextEdit="1"/>
              </p:cNvSpPr>
              <p:nvPr/>
            </p:nvSpPr>
            <p:spPr bwMode="auto">
              <a:xfrm>
                <a:off x="6581775" y="1865313"/>
                <a:ext cx="346075" cy="681037"/>
              </a:xfrm>
              <a:prstGeom prst="rect">
                <a:avLst/>
              </a:prstGeom>
              <a:blipFill>
                <a:blip r:embed="rId4"/>
                <a:stretch>
                  <a:fillRect r="-16071"/>
                </a:stretch>
              </a:blipFill>
              <a:ln>
                <a:noFill/>
              </a:ln>
              <a:effectLst/>
              <a:extLst/>
            </p:spPr>
            <p:txBody>
              <a:bodyPr/>
              <a:lstStyle/>
              <a:p>
                <a:r>
                  <a:rPr lang="zh-CN" altLang="en-US">
                    <a:noFill/>
                  </a:rPr>
                  <a:t> </a:t>
                </a:r>
              </a:p>
            </p:txBody>
          </p:sp>
        </mc:Fallback>
      </mc:AlternateContent>
      <p:sp>
        <p:nvSpPr>
          <p:cNvPr id="39" name="Line 51"/>
          <p:cNvSpPr>
            <a:spLocks noChangeShapeType="1"/>
          </p:cNvSpPr>
          <p:nvPr/>
        </p:nvSpPr>
        <p:spPr bwMode="auto">
          <a:xfrm flipV="1">
            <a:off x="6295816" y="1889124"/>
            <a:ext cx="1973472" cy="1025526"/>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矩形 39"/>
          <p:cNvSpPr>
            <a:spLocks noChangeArrowheads="1"/>
          </p:cNvSpPr>
          <p:nvPr/>
        </p:nvSpPr>
        <p:spPr bwMode="auto">
          <a:xfrm>
            <a:off x="7137400" y="1368425"/>
            <a:ext cx="596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en-US" dirty="0">
                <a:solidFill>
                  <a:schemeClr val="bg1"/>
                </a:solidFill>
              </a:rPr>
              <a:t>。</a:t>
            </a:r>
          </a:p>
        </p:txBody>
      </p:sp>
      <mc:AlternateContent xmlns:mc="http://schemas.openxmlformats.org/markup-compatibility/2006" xmlns:a14="http://schemas.microsoft.com/office/drawing/2010/main">
        <mc:Choice Requires="a14">
          <p:sp>
            <p:nvSpPr>
              <p:cNvPr id="236553" name="Object 9"/>
              <p:cNvSpPr txBox="1"/>
              <p:nvPr/>
            </p:nvSpPr>
            <p:spPr bwMode="auto">
              <a:xfrm>
                <a:off x="7558088" y="2165350"/>
                <a:ext cx="395287" cy="681038"/>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𝑅</m:t>
                              </m:r>
                            </m:e>
                          </m:acc>
                        </m:e>
                        <m:sub>
                          <m:r>
                            <a:rPr lang="zh-CN" altLang="en-US" i="1">
                              <a:solidFill>
                                <a:srgbClr val="000000"/>
                              </a:solidFill>
                              <a:latin typeface="Cambria Math" panose="02040503050406030204" pitchFamily="18" charset="0"/>
                            </a:rPr>
                            <m:t>𝐵</m:t>
                          </m:r>
                        </m:sub>
                      </m:sSub>
                    </m:oMath>
                  </m:oMathPara>
                </a14:m>
                <a:endParaRPr lang="zh-CN" altLang="en-US"/>
              </a:p>
            </p:txBody>
          </p:sp>
        </mc:Choice>
        <mc:Fallback xmlns="">
          <p:sp>
            <p:nvSpPr>
              <p:cNvPr id="236553" name="Object 9"/>
              <p:cNvSpPr txBox="1">
                <a:spLocks noRot="1" noChangeAspect="1" noMove="1" noResize="1" noEditPoints="1" noAdjustHandles="1" noChangeArrowheads="1" noChangeShapeType="1" noTextEdit="1"/>
              </p:cNvSpPr>
              <p:nvPr/>
            </p:nvSpPr>
            <p:spPr bwMode="auto">
              <a:xfrm>
                <a:off x="7558088" y="2165350"/>
                <a:ext cx="395287" cy="681038"/>
              </a:xfrm>
              <a:prstGeom prst="rect">
                <a:avLst/>
              </a:prstGeom>
              <a:blipFill>
                <a:blip r:embed="rId5"/>
                <a:stretch>
                  <a:fillRect r="-10769"/>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6554" name="Object 10"/>
              <p:cNvSpPr txBox="1"/>
              <p:nvPr/>
            </p:nvSpPr>
            <p:spPr bwMode="auto">
              <a:xfrm>
                <a:off x="5858559" y="1690678"/>
                <a:ext cx="395288" cy="681038"/>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𝑅</m:t>
                              </m:r>
                            </m:e>
                          </m:acc>
                        </m:e>
                        <m:sub>
                          <m:r>
                            <a:rPr lang="zh-CN" altLang="en-US" i="1">
                              <a:solidFill>
                                <a:srgbClr val="000000"/>
                              </a:solidFill>
                              <a:latin typeface="Cambria Math" panose="02040503050406030204" pitchFamily="18" charset="0"/>
                            </a:rPr>
                            <m:t>𝐴</m:t>
                          </m:r>
                        </m:sub>
                      </m:sSub>
                    </m:oMath>
                  </m:oMathPara>
                </a14:m>
                <a:endParaRPr lang="zh-CN" altLang="en-US" dirty="0"/>
              </a:p>
            </p:txBody>
          </p:sp>
        </mc:Choice>
        <mc:Fallback xmlns="">
          <p:sp>
            <p:nvSpPr>
              <p:cNvPr id="236554" name="Object 10"/>
              <p:cNvSpPr txBox="1">
                <a:spLocks noRot="1" noChangeAspect="1" noMove="1" noResize="1" noEditPoints="1" noAdjustHandles="1" noChangeArrowheads="1" noChangeShapeType="1" noTextEdit="1"/>
              </p:cNvSpPr>
              <p:nvPr/>
            </p:nvSpPr>
            <p:spPr bwMode="auto">
              <a:xfrm>
                <a:off x="5858559" y="1690678"/>
                <a:ext cx="395288" cy="681038"/>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Object 38"/>
              <p:cNvSpPr txBox="1"/>
              <p:nvPr/>
            </p:nvSpPr>
            <p:spPr bwMode="auto">
              <a:xfrm>
                <a:off x="6429375" y="774700"/>
                <a:ext cx="325438" cy="1092200"/>
              </a:xfrm>
              <a:prstGeom prst="rect">
                <a:avLst/>
              </a:prstGeom>
              <a:noFill/>
              <a:ln>
                <a:noFill/>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41" name="Object 38"/>
              <p:cNvSpPr txBox="1">
                <a:spLocks noRot="1" noChangeAspect="1" noMove="1" noResize="1" noEditPoints="1" noAdjustHandles="1" noChangeArrowheads="1" noChangeShapeType="1" noTextEdit="1"/>
              </p:cNvSpPr>
              <p:nvPr/>
            </p:nvSpPr>
            <p:spPr bwMode="auto">
              <a:xfrm>
                <a:off x="6429375" y="774700"/>
                <a:ext cx="325438" cy="1092200"/>
              </a:xfrm>
              <a:prstGeom prst="rect">
                <a:avLst/>
              </a:prstGeom>
              <a:blipFill>
                <a:blip r:embed="rId7"/>
                <a:stretch>
                  <a:fillRect r="-16981"/>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6" name="Object 2"/>
              <p:cNvSpPr txBox="1"/>
              <p:nvPr/>
            </p:nvSpPr>
            <p:spPr bwMode="auto">
              <a:xfrm>
                <a:off x="646113" y="3117850"/>
                <a:ext cx="4792662" cy="14636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𝐴</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nary>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den>
                              </m:f>
                            </m:e>
                          </m:d>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𝐵</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nary>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den>
                              </m:f>
                            </m:e>
                          </m:d>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den>
                      </m:f>
                    </m:oMath>
                  </m:oMathPara>
                </a14:m>
                <a:endParaRPr lang="zh-CN" altLang="en-US" dirty="0"/>
              </a:p>
            </p:txBody>
          </p:sp>
        </mc:Choice>
        <mc:Fallback xmlns="">
          <p:sp>
            <p:nvSpPr>
              <p:cNvPr id="22566" name="Object 2"/>
              <p:cNvSpPr txBox="1">
                <a:spLocks noRot="1" noChangeAspect="1" noMove="1" noResize="1" noEditPoints="1" noAdjustHandles="1" noChangeArrowheads="1" noChangeShapeType="1" noTextEdit="1"/>
              </p:cNvSpPr>
              <p:nvPr/>
            </p:nvSpPr>
            <p:spPr bwMode="auto">
              <a:xfrm>
                <a:off x="646113" y="3117850"/>
                <a:ext cx="4792662" cy="1463675"/>
              </a:xfrm>
              <a:prstGeom prst="rect">
                <a:avLst/>
              </a:prstGeom>
              <a:blipFill>
                <a:blip r:embed="rId8"/>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9353" name="Object 5"/>
              <p:cNvSpPr txBox="1"/>
              <p:nvPr/>
            </p:nvSpPr>
            <p:spPr bwMode="auto">
              <a:xfrm>
                <a:off x="5638800" y="3479800"/>
                <a:ext cx="2976563" cy="884238"/>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𝐴</m:t>
                                      </m:r>
                                    </m:sub>
                                  </m:sSub>
                                </m:e>
                              </m:d>
                            </m:e>
                            <m:sub>
                              <m:r>
                                <a:rPr lang="zh-CN" altLang="en-US" i="1">
                                  <a:solidFill>
                                    <a:srgbClr val="000000"/>
                                  </a:solidFill>
                                  <a:latin typeface="Cambria Math" panose="02040503050406030204" pitchFamily="18" charset="0"/>
                                </a:rPr>
                                <m:t>𝑐</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𝐵</m:t>
                                      </m:r>
                                    </m:sub>
                                  </m:sSub>
                                </m:e>
                              </m:d>
                            </m:e>
                            <m:sub>
                              <m:r>
                                <a:rPr lang="zh-CN" altLang="en-US" i="1">
                                  <a:solidFill>
                                    <a:srgbClr val="000000"/>
                                  </a:solidFill>
                                  <a:latin typeface="Cambria Math" panose="02040503050406030204" pitchFamily="18" charset="0"/>
                                </a:rPr>
                                <m:t>𝑐</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den>
                      </m:f>
                    </m:oMath>
                  </m:oMathPara>
                </a14:m>
                <a:endParaRPr lang="zh-CN" altLang="en-US"/>
              </a:p>
            </p:txBody>
          </p:sp>
        </mc:Choice>
        <mc:Fallback xmlns="">
          <p:sp>
            <p:nvSpPr>
              <p:cNvPr id="439353" name="Object 5"/>
              <p:cNvSpPr txBox="1">
                <a:spLocks noRot="1" noChangeAspect="1" noMove="1" noResize="1" noEditPoints="1" noAdjustHandles="1" noChangeArrowheads="1" noChangeShapeType="1" noTextEdit="1"/>
              </p:cNvSpPr>
              <p:nvPr/>
            </p:nvSpPr>
            <p:spPr bwMode="auto">
              <a:xfrm>
                <a:off x="5638800" y="3479800"/>
                <a:ext cx="2976563" cy="884238"/>
              </a:xfrm>
              <a:prstGeom prst="rect">
                <a:avLst/>
              </a:prstGeom>
              <a:blipFill>
                <a:blip r:embed="rId9"/>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Object 3"/>
              <p:cNvSpPr txBox="1"/>
              <p:nvPr/>
            </p:nvSpPr>
            <p:spPr bwMode="auto">
              <a:xfrm>
                <a:off x="5005388" y="5640388"/>
                <a:ext cx="3429000" cy="884237"/>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𝐴</m:t>
                                      </m:r>
                                    </m:sub>
                                  </m:sSub>
                                </m:e>
                              </m:d>
                            </m:e>
                            <m:sub>
                              <m:r>
                                <a:rPr lang="zh-CN" altLang="en-US" i="1">
                                  <a:solidFill>
                                    <a:srgbClr val="000000"/>
                                  </a:solidFill>
                                  <a:latin typeface="Cambria Math" panose="02040503050406030204" pitchFamily="18" charset="0"/>
                                </a:rPr>
                                <m:t>𝑐</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𝑍</m:t>
                                      </m:r>
                                    </m:e>
                                    <m:sub>
                                      <m:r>
                                        <a:rPr lang="zh-CN" altLang="en-US" i="1">
                                          <a:solidFill>
                                            <a:srgbClr val="000000"/>
                                          </a:solidFill>
                                          <a:latin typeface="Cambria Math" panose="02040503050406030204" pitchFamily="18" charset="0"/>
                                        </a:rPr>
                                        <m:t>𝐵</m:t>
                                      </m:r>
                                    </m:sub>
                                  </m:sSub>
                                </m:e>
                              </m:d>
                            </m:e>
                            <m:sub>
                              <m:r>
                                <a:rPr lang="zh-CN" altLang="en-US" i="1">
                                  <a:solidFill>
                                    <a:srgbClr val="000000"/>
                                  </a:solidFill>
                                  <a:latin typeface="Cambria Math" panose="02040503050406030204" pitchFamily="18" charset="0"/>
                                </a:rPr>
                                <m:t>𝑐</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den>
                      </m:f>
                    </m:oMath>
                  </m:oMathPara>
                </a14:m>
                <a:endParaRPr lang="zh-CN" altLang="en-US"/>
              </a:p>
            </p:txBody>
          </p:sp>
        </mc:Choice>
        <mc:Fallback xmlns="">
          <p:sp>
            <p:nvSpPr>
              <p:cNvPr id="42" name="Object 3"/>
              <p:cNvSpPr txBox="1">
                <a:spLocks noRot="1" noChangeAspect="1" noMove="1" noResize="1" noEditPoints="1" noAdjustHandles="1" noChangeArrowheads="1" noChangeShapeType="1" noTextEdit="1"/>
              </p:cNvSpPr>
              <p:nvPr/>
            </p:nvSpPr>
            <p:spPr bwMode="auto">
              <a:xfrm>
                <a:off x="5005388" y="5640388"/>
                <a:ext cx="3429000" cy="884237"/>
              </a:xfrm>
              <a:prstGeom prst="rect">
                <a:avLst/>
              </a:prstGeom>
              <a:blipFill>
                <a:blip r:embed="rId10"/>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Object 18"/>
              <p:cNvSpPr txBox="1"/>
              <p:nvPr/>
            </p:nvSpPr>
            <p:spPr bwMode="auto">
              <a:xfrm>
                <a:off x="1260475" y="5640388"/>
                <a:ext cx="3252788" cy="884237"/>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𝐴</m:t>
                                      </m:r>
                                    </m:sub>
                                  </m:sSub>
                                </m:e>
                              </m:d>
                            </m:e>
                            <m:sub>
                              <m:r>
                                <a:rPr lang="zh-CN" altLang="en-US" i="1">
                                  <a:solidFill>
                                    <a:srgbClr val="000000"/>
                                  </a:solidFill>
                                  <a:latin typeface="Cambria Math" panose="02040503050406030204" pitchFamily="18" charset="0"/>
                                </a:rPr>
                                <m:t>𝑐</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𝐵</m:t>
                                      </m:r>
                                    </m:sub>
                                  </m:sSub>
                                </m:e>
                              </m:d>
                            </m:e>
                            <m:sub>
                              <m:r>
                                <a:rPr lang="zh-CN" altLang="en-US" i="1">
                                  <a:solidFill>
                                    <a:srgbClr val="000000"/>
                                  </a:solidFill>
                                  <a:latin typeface="Cambria Math" panose="02040503050406030204" pitchFamily="18" charset="0"/>
                                </a:rPr>
                                <m:t>𝑐</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𝐴</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𝐵</m:t>
                              </m:r>
                            </m:sub>
                          </m:sSub>
                        </m:den>
                      </m:f>
                    </m:oMath>
                  </m:oMathPara>
                </a14:m>
                <a:endParaRPr lang="zh-CN" altLang="en-US" dirty="0"/>
              </a:p>
            </p:txBody>
          </p:sp>
        </mc:Choice>
        <mc:Fallback xmlns="">
          <p:sp>
            <p:nvSpPr>
              <p:cNvPr id="43" name="Object 18"/>
              <p:cNvSpPr txBox="1">
                <a:spLocks noRot="1" noChangeAspect="1" noMove="1" noResize="1" noEditPoints="1" noAdjustHandles="1" noChangeArrowheads="1" noChangeShapeType="1" noTextEdit="1"/>
              </p:cNvSpPr>
              <p:nvPr/>
            </p:nvSpPr>
            <p:spPr bwMode="auto">
              <a:xfrm>
                <a:off x="1260475" y="5640388"/>
                <a:ext cx="3252788" cy="884237"/>
              </a:xfrm>
              <a:prstGeom prst="rect">
                <a:avLst/>
              </a:prstGeom>
              <a:blipFill>
                <a:blip r:embed="rId11"/>
                <a:stretch>
                  <a:fillRect/>
                </a:stretch>
              </a:blipFill>
              <a:ln>
                <a:noFill/>
              </a:ln>
              <a:effectLst/>
              <a:extLst/>
            </p:spPr>
            <p:txBody>
              <a:bodyPr/>
              <a:lstStyle/>
              <a:p>
                <a:r>
                  <a:rPr lang="zh-CN" altLang="en-US">
                    <a:noFill/>
                  </a:rPr>
                  <a:t> </a:t>
                </a:r>
              </a:p>
            </p:txBody>
          </p:sp>
        </mc:Fallback>
      </mc:AlternateContent>
      <p:sp>
        <p:nvSpPr>
          <p:cNvPr id="44" name="Text Box 55"/>
          <p:cNvSpPr txBox="1">
            <a:spLocks noChangeArrowheads="1"/>
          </p:cNvSpPr>
          <p:nvPr/>
        </p:nvSpPr>
        <p:spPr bwMode="auto">
          <a:xfrm>
            <a:off x="468313" y="4775200"/>
            <a:ext cx="496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a:solidFill>
                  <a:srgbClr val="000C0C"/>
                </a:solidFill>
                <a:latin typeface="楷体_GB2312" pitchFamily="49" charset="-122"/>
              </a:rPr>
              <a:t>同样 </a:t>
            </a:r>
            <a:r>
              <a:rPr lang="en-US" altLang="zh-CN" b="1">
                <a:solidFill>
                  <a:srgbClr val="000C0C"/>
                </a:solidFill>
                <a:latin typeface="楷体_GB2312" pitchFamily="49" charset="-122"/>
              </a:rPr>
              <a:t>Y</a:t>
            </a:r>
            <a:r>
              <a:rPr lang="zh-CN" altLang="en-US" b="1">
                <a:solidFill>
                  <a:srgbClr val="000C0C"/>
                </a:solidFill>
                <a:latin typeface="楷体_GB2312" pitchFamily="49" charset="-122"/>
              </a:rPr>
              <a:t>、</a:t>
            </a:r>
            <a:r>
              <a:rPr lang="en-US" altLang="zh-CN" b="1">
                <a:solidFill>
                  <a:srgbClr val="000C0C"/>
                </a:solidFill>
                <a:latin typeface="楷体_GB2312" pitchFamily="49" charset="-122"/>
              </a:rPr>
              <a:t>Z</a:t>
            </a:r>
            <a:r>
              <a:rPr lang="zh-CN" altLang="en-US" b="1">
                <a:solidFill>
                  <a:srgbClr val="000C0C"/>
                </a:solidFill>
                <a:latin typeface="楷体_GB2312" pitchFamily="49" charset="-122"/>
              </a:rPr>
              <a:t>方向质心位置分别为</a:t>
            </a:r>
          </a:p>
        </p:txBody>
      </p:sp>
    </p:spTree>
    <p:extLst>
      <p:ext uri="{BB962C8B-B14F-4D97-AF65-F5344CB8AC3E}">
        <p14:creationId xmlns:p14="http://schemas.microsoft.com/office/powerpoint/2010/main" val="299574512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8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6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93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blinds(horizontal)">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50" grpId="0"/>
      <p:bldP spid="22566" grpId="0"/>
      <p:bldP spid="439353" grpId="0"/>
      <p:bldP spid="42" grpId="0"/>
      <p:bldP spid="43" grpId="0"/>
      <p:bldP spid="4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05E067FB-9FC4-4347-B4EE-B79888452812}" type="slidenum">
              <a:rPr lang="en-US" altLang="zh-CN"/>
              <a:pPr>
                <a:defRPr/>
              </a:pPr>
              <a:t>37</a:t>
            </a:fld>
            <a:endParaRPr lang="en-US" altLang="zh-CN"/>
          </a:p>
        </p:txBody>
      </p:sp>
      <p:sp>
        <p:nvSpPr>
          <p:cNvPr id="439352" name="Text Box 56"/>
          <p:cNvSpPr txBox="1">
            <a:spLocks noChangeArrowheads="1"/>
          </p:cNvSpPr>
          <p:nvPr/>
        </p:nvSpPr>
        <p:spPr bwMode="auto">
          <a:xfrm>
            <a:off x="179512" y="116632"/>
            <a:ext cx="8893175" cy="6743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200" b="1" dirty="0">
                <a:latin typeface="楷体_GB2312" pitchFamily="49" charset="-122"/>
              </a:rPr>
              <a:t>    </a:t>
            </a:r>
            <a:r>
              <a:rPr lang="zh-CN" altLang="en-US" sz="2200" b="1" dirty="0">
                <a:latin typeface="楷体_GB2312" pitchFamily="49" charset="-122"/>
              </a:rPr>
              <a:t>质心的性质只有在体系的运动与外力的关系中才体现出来。因此，质心并不是一个几何学或运动学的概念，而是一个动力学概念。</a:t>
            </a:r>
            <a:endParaRPr lang="en-US" altLang="zh-CN" sz="2200" b="1" dirty="0">
              <a:latin typeface="楷体_GB2312" pitchFamily="49" charset="-122"/>
            </a:endParaRPr>
          </a:p>
          <a:p>
            <a:pPr eaLnBrk="1" hangingPunct="1">
              <a:spcBef>
                <a:spcPct val="20000"/>
              </a:spcBef>
            </a:pPr>
            <a:r>
              <a:rPr lang="zh-CN" altLang="en-US" sz="2200" b="1" dirty="0"/>
              <a:t>        均匀直棒、均匀圆环、均匀圆盘、均匀球体等，质心就在它们的几何对称中心上。</a:t>
            </a:r>
            <a:endParaRPr lang="en-US" altLang="zh-CN" sz="2200" b="1" dirty="0"/>
          </a:p>
          <a:p>
            <a:pPr>
              <a:lnSpc>
                <a:spcPct val="150000"/>
              </a:lnSpc>
              <a:spcBef>
                <a:spcPct val="20000"/>
              </a:spcBef>
              <a:buFontTx/>
              <a:buChar char="•"/>
            </a:pPr>
            <a:r>
              <a:rPr lang="en-US" altLang="zh-CN" sz="2200" b="1" dirty="0">
                <a:solidFill>
                  <a:srgbClr val="FF0000"/>
                </a:solidFill>
                <a:ea typeface="宋体" pitchFamily="2" charset="-122"/>
              </a:rPr>
              <a:t>(</a:t>
            </a:r>
            <a:r>
              <a:rPr lang="zh-CN" altLang="en-US" sz="2200" b="1" dirty="0">
                <a:solidFill>
                  <a:srgbClr val="FF0000"/>
                </a:solidFill>
                <a:ea typeface="宋体" pitchFamily="2" charset="-122"/>
              </a:rPr>
              <a:t>三</a:t>
            </a:r>
            <a:r>
              <a:rPr lang="en-US" altLang="zh-CN" sz="2200" b="1" dirty="0">
                <a:solidFill>
                  <a:srgbClr val="FF0000"/>
                </a:solidFill>
                <a:ea typeface="宋体" pitchFamily="2" charset="-122"/>
              </a:rPr>
              <a:t>)</a:t>
            </a:r>
            <a:r>
              <a:rPr lang="zh-CN" altLang="en-US" sz="2200" b="1" dirty="0">
                <a:solidFill>
                  <a:srgbClr val="FF0000"/>
                </a:solidFill>
                <a:ea typeface="宋体" pitchFamily="2" charset="-122"/>
              </a:rPr>
              <a:t>、质心和重心的区别</a:t>
            </a:r>
            <a:r>
              <a:rPr lang="en-US" altLang="zh-CN" sz="2200" b="1" dirty="0">
                <a:solidFill>
                  <a:srgbClr val="FF0000"/>
                </a:solidFill>
                <a:ea typeface="宋体" pitchFamily="2" charset="-122"/>
              </a:rPr>
              <a:t>:</a:t>
            </a:r>
            <a:br>
              <a:rPr lang="en-US" altLang="zh-CN" sz="2200" b="1" dirty="0">
                <a:ea typeface="宋体" pitchFamily="2" charset="-122"/>
              </a:rPr>
            </a:br>
            <a:r>
              <a:rPr lang="zh-CN" altLang="en-US" sz="2200" b="1" dirty="0">
                <a:ea typeface="宋体" pitchFamily="2" charset="-122"/>
              </a:rPr>
              <a:t>　　质心的位置只与其质量和质量分布有关，而与作用在物体上的外力无关。重心是作用在物体上各部分重力的合力的作用点。当物体远离地球，以致地球的引力可以忽略时，就谈不上重心，但质心还是存在的。 </a:t>
            </a:r>
          </a:p>
          <a:p>
            <a:pPr>
              <a:lnSpc>
                <a:spcPct val="150000"/>
              </a:lnSpc>
              <a:spcBef>
                <a:spcPct val="20000"/>
              </a:spcBef>
              <a:buFontTx/>
              <a:buChar char="•"/>
            </a:pPr>
            <a:r>
              <a:rPr lang="zh-CN" altLang="en-US" sz="2200" b="1" dirty="0">
                <a:solidFill>
                  <a:srgbClr val="FF0000"/>
                </a:solidFill>
                <a:ea typeface="宋体" pitchFamily="2" charset="-122"/>
              </a:rPr>
              <a:t>质心和重心重合的条件</a:t>
            </a:r>
            <a:r>
              <a:rPr lang="zh-CN" altLang="en-US" sz="2200" b="1" dirty="0">
                <a:solidFill>
                  <a:srgbClr val="FF0000"/>
                </a:solidFill>
                <a:ea typeface="宋体" pitchFamily="2" charset="-122"/>
                <a:sym typeface="Wingdings" pitchFamily="2" charset="2"/>
              </a:rPr>
              <a:t>（即不太大</a:t>
            </a:r>
            <a:r>
              <a:rPr lang="en-US" altLang="zh-CN" sz="2200" b="1" dirty="0">
                <a:solidFill>
                  <a:schemeClr val="accent6"/>
                </a:solidFill>
                <a:ea typeface="宋体" pitchFamily="2" charset="-122"/>
                <a:sym typeface="Wingdings" pitchFamily="2" charset="2"/>
              </a:rPr>
              <a:t>(</a:t>
            </a:r>
            <a:r>
              <a:rPr lang="zh-CN" altLang="en-US" sz="2200" b="1" dirty="0">
                <a:solidFill>
                  <a:schemeClr val="accent6"/>
                </a:solidFill>
                <a:ea typeface="宋体" pitchFamily="2" charset="-122"/>
                <a:sym typeface="Wingdings" pitchFamily="2" charset="2"/>
              </a:rPr>
              <a:t>与地球相比</a:t>
            </a:r>
            <a:r>
              <a:rPr lang="en-US" altLang="zh-CN" sz="2200" b="1" dirty="0">
                <a:solidFill>
                  <a:schemeClr val="accent6"/>
                </a:solidFill>
                <a:ea typeface="宋体" pitchFamily="2" charset="-122"/>
                <a:sym typeface="Wingdings" pitchFamily="2" charset="2"/>
              </a:rPr>
              <a:t>)</a:t>
            </a:r>
            <a:r>
              <a:rPr lang="zh-CN" altLang="en-US" sz="2200" b="1" dirty="0">
                <a:solidFill>
                  <a:srgbClr val="FF0000"/>
                </a:solidFill>
                <a:ea typeface="宋体" pitchFamily="2" charset="-122"/>
                <a:sym typeface="Wingdings" pitchFamily="2" charset="2"/>
              </a:rPr>
              <a:t>的物体）</a:t>
            </a:r>
            <a:br>
              <a:rPr lang="en-US" altLang="zh-CN" sz="2200" b="1" dirty="0">
                <a:ea typeface="宋体" pitchFamily="2" charset="-122"/>
              </a:rPr>
            </a:br>
            <a:r>
              <a:rPr lang="zh-CN" altLang="en-US" sz="2200" b="1" dirty="0">
                <a:ea typeface="宋体" pitchFamily="2" charset="-122"/>
              </a:rPr>
              <a:t>　① 作用在物体上各部分的重力都是平行的；</a:t>
            </a:r>
            <a:br>
              <a:rPr lang="zh-CN" altLang="en-US" sz="2200" b="1" dirty="0">
                <a:ea typeface="宋体" pitchFamily="2" charset="-122"/>
              </a:rPr>
            </a:br>
            <a:r>
              <a:rPr lang="zh-CN" altLang="en-US" sz="2200" b="1" dirty="0">
                <a:ea typeface="宋体" pitchFamily="2" charset="-122"/>
              </a:rPr>
              <a:t>　② 重力加速度可以视为常数，即在地球表面附近的局部范围内，且物体与地球相比非常小。</a:t>
            </a:r>
            <a:endParaRPr lang="en-US" altLang="zh-CN" sz="2200" b="1" dirty="0">
              <a:ea typeface="宋体" pitchFamily="2" charset="-122"/>
            </a:endParaRPr>
          </a:p>
          <a:p>
            <a:pPr>
              <a:lnSpc>
                <a:spcPct val="150000"/>
              </a:lnSpc>
              <a:spcBef>
                <a:spcPct val="20000"/>
              </a:spcBef>
              <a:buFontTx/>
              <a:buChar char="•"/>
            </a:pPr>
            <a:r>
              <a:rPr lang="zh-CN" altLang="en-US" sz="2000" b="1" dirty="0">
                <a:solidFill>
                  <a:srgbClr val="FF0000"/>
                </a:solidFill>
                <a:ea typeface="宋体" pitchFamily="2" charset="-122"/>
              </a:rPr>
              <a:t>质心的计算方法举例</a:t>
            </a:r>
            <a:endParaRPr lang="zh-CN" altLang="en-US" sz="2000" b="1" dirty="0">
              <a:ea typeface="宋体" pitchFamily="2" charset="-122"/>
            </a:endParaRPr>
          </a:p>
        </p:txBody>
      </p:sp>
    </p:spTree>
    <p:extLst>
      <p:ext uri="{BB962C8B-B14F-4D97-AF65-F5344CB8AC3E}">
        <p14:creationId xmlns:p14="http://schemas.microsoft.com/office/powerpoint/2010/main" val="948685524"/>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9352"/>
                                        </p:tgtEl>
                                        <p:attrNameLst>
                                          <p:attrName>style.visibility</p:attrName>
                                        </p:attrNameLst>
                                      </p:cBhvr>
                                      <p:to>
                                        <p:strVal val="visible"/>
                                      </p:to>
                                    </p:set>
                                    <p:animEffect transition="in" filter="blinds(horizontal)">
                                      <p:cBhvr>
                                        <p:cTn id="7" dur="500"/>
                                        <p:tgtEl>
                                          <p:spTgt spid="439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5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1628800"/>
            <a:ext cx="7128792" cy="2554545"/>
          </a:xfrm>
          <a:prstGeom prst="rect">
            <a:avLst/>
          </a:prstGeom>
        </p:spPr>
        <p:txBody>
          <a:bodyPr wrap="square">
            <a:spAutoFit/>
          </a:bodyPr>
          <a:lstStyle/>
          <a:p>
            <a:pPr marL="457200" indent="-457200" algn="ctr" eaLnBrk="0" hangingPunct="0"/>
            <a:r>
              <a:rPr lang="en-US" altLang="zh-CN" sz="4000" b="1">
                <a:ea typeface="宋体" pitchFamily="2" charset="-122"/>
              </a:rPr>
              <a:t>9</a:t>
            </a:r>
            <a:r>
              <a:rPr lang="zh-CN" altLang="en-US" sz="4000" b="1">
                <a:ea typeface="宋体" pitchFamily="2" charset="-122"/>
              </a:rPr>
              <a:t>月</a:t>
            </a:r>
            <a:r>
              <a:rPr lang="en-US" altLang="zh-CN" sz="4000" b="1">
                <a:ea typeface="宋体" pitchFamily="2" charset="-122"/>
              </a:rPr>
              <a:t>24</a:t>
            </a:r>
            <a:r>
              <a:rPr lang="zh-CN" altLang="en-US" sz="4000" b="1">
                <a:ea typeface="宋体" pitchFamily="2" charset="-122"/>
              </a:rPr>
              <a:t>号作业：</a:t>
            </a:r>
            <a:endParaRPr lang="en-US" altLang="zh-CN" sz="4000" b="1">
              <a:ea typeface="宋体" pitchFamily="2" charset="-122"/>
            </a:endParaRPr>
          </a:p>
          <a:p>
            <a:pPr marL="457200" indent="-457200" algn="ctr" eaLnBrk="0" hangingPunct="0"/>
            <a:endParaRPr lang="en-US" altLang="zh-CN" sz="4000" b="1" dirty="0">
              <a:ea typeface="宋体" pitchFamily="2" charset="-122"/>
            </a:endParaRPr>
          </a:p>
          <a:p>
            <a:pPr marL="457200" indent="-457200" algn="ctr" eaLnBrk="0" hangingPunct="0"/>
            <a:r>
              <a:rPr lang="en-US" altLang="zh-CN" sz="4000" dirty="0">
                <a:ea typeface="宋体" pitchFamily="2" charset="-122"/>
              </a:rPr>
              <a:t>2-2</a:t>
            </a:r>
            <a:r>
              <a:rPr lang="zh-CN" altLang="en-US" sz="4000" dirty="0">
                <a:ea typeface="宋体" pitchFamily="2" charset="-122"/>
              </a:rPr>
              <a:t>；  </a:t>
            </a:r>
            <a:r>
              <a:rPr lang="en-US" altLang="zh-CN" sz="4000" dirty="0">
                <a:ea typeface="宋体" pitchFamily="2" charset="-122"/>
              </a:rPr>
              <a:t>2-4</a:t>
            </a:r>
            <a:r>
              <a:rPr lang="zh-CN" altLang="en-US" sz="4000" dirty="0">
                <a:ea typeface="宋体" pitchFamily="2" charset="-122"/>
              </a:rPr>
              <a:t>；  </a:t>
            </a:r>
            <a:r>
              <a:rPr lang="en-US" altLang="zh-CN" sz="4000" dirty="0">
                <a:ea typeface="宋体" pitchFamily="2" charset="-122"/>
              </a:rPr>
              <a:t>2-5;  </a:t>
            </a:r>
          </a:p>
          <a:p>
            <a:pPr marL="457200" indent="-457200" algn="ctr" eaLnBrk="0" hangingPunct="0"/>
            <a:r>
              <a:rPr lang="en-US" altLang="zh-CN" sz="4000" dirty="0">
                <a:ea typeface="宋体" pitchFamily="2" charset="-122"/>
              </a:rPr>
              <a:t>2-8;   </a:t>
            </a:r>
            <a:r>
              <a:rPr lang="en-US" altLang="zh-CN" sz="4000" dirty="0"/>
              <a:t>2-13</a:t>
            </a:r>
            <a:r>
              <a:rPr lang="zh-CN" altLang="en-US" sz="4000" dirty="0"/>
              <a:t>； </a:t>
            </a:r>
            <a:r>
              <a:rPr lang="en-US" altLang="zh-CN" sz="4000" dirty="0"/>
              <a:t>2-14</a:t>
            </a:r>
            <a:endParaRPr lang="zh-CN" altLang="en-US" sz="4000" dirty="0"/>
          </a:p>
        </p:txBody>
      </p:sp>
    </p:spTree>
    <p:extLst>
      <p:ext uri="{BB962C8B-B14F-4D97-AF65-F5344CB8AC3E}">
        <p14:creationId xmlns:p14="http://schemas.microsoft.com/office/powerpoint/2010/main" val="2599994551"/>
      </p:ext>
    </p:extLst>
  </p:cSld>
  <p:clrMapOvr>
    <a:masterClrMapping/>
  </p:clrMapOvr>
  <p:transition>
    <p:checke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7" name="Rectangle 3"/>
          <p:cNvSpPr>
            <a:spLocks noChangeArrowheads="1"/>
          </p:cNvSpPr>
          <p:nvPr/>
        </p:nvSpPr>
        <p:spPr bwMode="auto">
          <a:xfrm>
            <a:off x="2843213" y="-171450"/>
            <a:ext cx="33845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0" hangingPunct="0">
              <a:spcBef>
                <a:spcPct val="20000"/>
              </a:spcBef>
            </a:pPr>
            <a:r>
              <a:rPr lang="zh-CN" altLang="en-US" sz="3200" b="1">
                <a:solidFill>
                  <a:srgbClr val="FF0000"/>
                </a:solidFill>
              </a:rPr>
              <a:t>上节内容回顾</a:t>
            </a:r>
          </a:p>
        </p:txBody>
      </p:sp>
      <p:sp>
        <p:nvSpPr>
          <p:cNvPr id="24" name="Rectangle 3"/>
          <p:cNvSpPr txBox="1">
            <a:spLocks noChangeArrowheads="1"/>
          </p:cNvSpPr>
          <p:nvPr/>
        </p:nvSpPr>
        <p:spPr>
          <a:xfrm>
            <a:off x="152400" y="547688"/>
            <a:ext cx="8991600" cy="5410200"/>
          </a:xfrm>
          <a:prstGeom prst="rect">
            <a:avLst/>
          </a:prstGeom>
        </p:spPr>
        <p:txBody>
          <a:bodyPr/>
          <a:lstStyle/>
          <a:p>
            <a:pPr marL="342900" indent="-342900">
              <a:spcBef>
                <a:spcPct val="20000"/>
              </a:spcBef>
              <a:buFont typeface="Wingdings" pitchFamily="2" charset="2"/>
              <a:buNone/>
              <a:defRPr/>
            </a:pPr>
            <a:r>
              <a:rPr lang="zh-CN" altLang="en-US" sz="2800" b="1" kern="0" dirty="0">
                <a:latin typeface="楷体_GB2312" pitchFamily="49" charset="-122"/>
              </a:rPr>
              <a:t>动量定理</a:t>
            </a:r>
          </a:p>
          <a:p>
            <a:pPr marL="342900" indent="-342900">
              <a:spcBef>
                <a:spcPct val="20000"/>
              </a:spcBef>
              <a:defRPr/>
            </a:pPr>
            <a:r>
              <a:rPr lang="zh-CN" altLang="en-US" sz="2800" b="1" kern="0" dirty="0">
                <a:latin typeface="楷体_GB2312" pitchFamily="49" charset="-122"/>
              </a:rPr>
              <a:t> </a:t>
            </a:r>
            <a:r>
              <a:rPr lang="en-US" altLang="zh-CN" sz="2800" b="1" kern="0" dirty="0">
                <a:solidFill>
                  <a:schemeClr val="accent2"/>
                </a:solidFill>
                <a:latin typeface="楷体_GB2312" pitchFamily="49" charset="-122"/>
              </a:rPr>
              <a:t>1</a:t>
            </a:r>
            <a:r>
              <a:rPr lang="zh-CN" altLang="en-US" sz="2800" b="1" kern="0" dirty="0">
                <a:solidFill>
                  <a:schemeClr val="accent2"/>
                </a:solidFill>
                <a:latin typeface="楷体_GB2312" pitchFamily="49" charset="-122"/>
              </a:rPr>
              <a:t>、</a:t>
            </a:r>
            <a:r>
              <a:rPr lang="zh-CN" altLang="en-US" sz="2800" b="1" kern="0" dirty="0">
                <a:solidFill>
                  <a:srgbClr val="FF0000"/>
                </a:solidFill>
                <a:latin typeface="楷体_GB2312" pitchFamily="49" charset="-122"/>
              </a:rPr>
              <a:t>质点</a:t>
            </a:r>
            <a:r>
              <a:rPr lang="zh-CN" altLang="en-US" sz="2800" b="1" kern="0" dirty="0">
                <a:solidFill>
                  <a:schemeClr val="accent2"/>
                </a:solidFill>
                <a:latin typeface="楷体_GB2312" pitchFamily="49" charset="-122"/>
              </a:rPr>
              <a:t>的动量定理</a:t>
            </a:r>
            <a:r>
              <a:rPr lang="zh-CN" altLang="en-US" sz="2800" b="1" kern="0" dirty="0">
                <a:latin typeface="楷体_GB2312" pitchFamily="49" charset="-122"/>
              </a:rPr>
              <a:t>： 积分形式</a:t>
            </a:r>
          </a:p>
          <a:p>
            <a:pPr marL="342900" indent="-342900">
              <a:spcBef>
                <a:spcPct val="20000"/>
              </a:spcBef>
              <a:buFont typeface="Wingdings" pitchFamily="2" charset="2"/>
              <a:buNone/>
              <a:defRPr/>
            </a:pPr>
            <a:r>
              <a:rPr lang="zh-CN" altLang="en-US" sz="2800" b="1" kern="0" dirty="0">
                <a:latin typeface="楷体_GB2312" pitchFamily="49" charset="-122"/>
              </a:rPr>
              <a:t> 微分形式</a:t>
            </a:r>
          </a:p>
          <a:p>
            <a:pPr marL="342900" indent="-342900">
              <a:spcBef>
                <a:spcPct val="20000"/>
              </a:spcBef>
              <a:buFont typeface="Wingdings" pitchFamily="2" charset="2"/>
              <a:buNone/>
              <a:defRPr/>
            </a:pPr>
            <a:r>
              <a:rPr lang="zh-CN" altLang="en-US" b="1" kern="0" dirty="0">
                <a:latin typeface="楷体_GB2312" pitchFamily="49" charset="-122"/>
              </a:rPr>
              <a:t> 式中：</a:t>
            </a:r>
            <a:r>
              <a:rPr lang="en-US" altLang="zh-CN" b="1" kern="0" dirty="0">
                <a:latin typeface="+mn-lt"/>
              </a:rPr>
              <a:t>p</a:t>
            </a:r>
            <a:r>
              <a:rPr lang="zh-CN" altLang="en-US" b="1" kern="0" dirty="0">
                <a:latin typeface="+mn-lt"/>
              </a:rPr>
              <a:t>＝</a:t>
            </a:r>
            <a:r>
              <a:rPr lang="en-US" altLang="zh-CN" b="1" i="1" kern="0" dirty="0" err="1">
                <a:latin typeface="+mn-lt"/>
              </a:rPr>
              <a:t>m</a:t>
            </a:r>
            <a:r>
              <a:rPr lang="en-US" altLang="zh-CN" b="1" kern="0" dirty="0" err="1">
                <a:latin typeface="+mn-lt"/>
              </a:rPr>
              <a:t>v</a:t>
            </a:r>
            <a:r>
              <a:rPr lang="zh-CN" altLang="en-US" b="1" kern="0" dirty="0">
                <a:latin typeface="楷体_GB2312" pitchFamily="49" charset="-122"/>
              </a:rPr>
              <a:t>为质点的动量，</a:t>
            </a:r>
            <a:r>
              <a:rPr lang="en-US" altLang="zh-CN" b="1" kern="0" dirty="0">
                <a:latin typeface="楷体_GB2312" pitchFamily="49" charset="-122"/>
              </a:rPr>
              <a:t>I</a:t>
            </a:r>
            <a:r>
              <a:rPr lang="zh-CN" altLang="en-US" b="1" kern="0" dirty="0">
                <a:latin typeface="楷体_GB2312" pitchFamily="49" charset="-122"/>
              </a:rPr>
              <a:t>为合外力</a:t>
            </a:r>
            <a:r>
              <a:rPr lang="en-US" altLang="zh-CN" b="1" kern="0" dirty="0">
                <a:latin typeface="楷体_GB2312" pitchFamily="49" charset="-122"/>
              </a:rPr>
              <a:t>F</a:t>
            </a:r>
            <a:r>
              <a:rPr lang="zh-CN" altLang="en-US" b="1" kern="0" dirty="0">
                <a:latin typeface="楷体_GB2312" pitchFamily="49" charset="-122"/>
              </a:rPr>
              <a:t>的冲量。</a:t>
            </a:r>
          </a:p>
          <a:p>
            <a:pPr marL="342900" indent="-342900">
              <a:lnSpc>
                <a:spcPct val="150000"/>
              </a:lnSpc>
              <a:spcBef>
                <a:spcPct val="20000"/>
              </a:spcBef>
              <a:buFont typeface="Wingdings" pitchFamily="2" charset="2"/>
              <a:buNone/>
              <a:defRPr/>
            </a:pPr>
            <a:r>
              <a:rPr lang="zh-CN" altLang="en-US" sz="2800" b="1" kern="0" dirty="0">
                <a:solidFill>
                  <a:schemeClr val="accent2"/>
                </a:solidFill>
                <a:latin typeface="楷体_GB2312" pitchFamily="49" charset="-122"/>
              </a:rPr>
              <a:t> </a:t>
            </a:r>
            <a:r>
              <a:rPr lang="en-US" altLang="zh-CN" sz="2800" b="1" kern="0" dirty="0">
                <a:solidFill>
                  <a:schemeClr val="accent2"/>
                </a:solidFill>
                <a:latin typeface="楷体_GB2312" pitchFamily="49" charset="-122"/>
              </a:rPr>
              <a:t>2</a:t>
            </a:r>
            <a:r>
              <a:rPr lang="zh-CN" altLang="en-US" sz="2800" b="1" kern="0" dirty="0">
                <a:solidFill>
                  <a:schemeClr val="accent2"/>
                </a:solidFill>
                <a:latin typeface="楷体_GB2312" pitchFamily="49" charset="-122"/>
              </a:rPr>
              <a:t>、</a:t>
            </a:r>
            <a:r>
              <a:rPr lang="zh-CN" altLang="en-US" sz="2800" b="1" kern="0" dirty="0">
                <a:solidFill>
                  <a:srgbClr val="FF0000"/>
                </a:solidFill>
                <a:latin typeface="楷体_GB2312" pitchFamily="49" charset="-122"/>
              </a:rPr>
              <a:t>质点系</a:t>
            </a:r>
            <a:r>
              <a:rPr lang="zh-CN" altLang="en-US" sz="2800" b="1" kern="0" dirty="0">
                <a:solidFill>
                  <a:schemeClr val="accent2"/>
                </a:solidFill>
                <a:latin typeface="楷体_GB2312" pitchFamily="49" charset="-122"/>
              </a:rPr>
              <a:t>的动量定理</a:t>
            </a:r>
            <a:r>
              <a:rPr lang="zh-CN" altLang="en-US" sz="2800" b="1" kern="0" dirty="0">
                <a:latin typeface="楷体_GB2312" pitchFamily="49" charset="-122"/>
              </a:rPr>
              <a:t>：</a:t>
            </a:r>
          </a:p>
        </p:txBody>
      </p:sp>
      <mc:AlternateContent xmlns:mc="http://schemas.openxmlformats.org/markup-compatibility/2006" xmlns:a14="http://schemas.microsoft.com/office/drawing/2010/main">
        <mc:Choice Requires="a14">
          <p:sp>
            <p:nvSpPr>
              <p:cNvPr id="37890" name="Object 4"/>
              <p:cNvSpPr txBox="1"/>
              <p:nvPr/>
            </p:nvSpPr>
            <p:spPr bwMode="auto">
              <a:xfrm>
                <a:off x="5940152" y="759617"/>
                <a:ext cx="2895600" cy="771525"/>
              </a:xfrm>
              <a:prstGeom prst="rect">
                <a:avLst/>
              </a:prstGeom>
              <a:noFill/>
              <a:ln w="9525">
                <a:solidFill>
                  <a:schemeClr val="tx1"/>
                </a:solidFill>
                <a:miter lim="800000"/>
                <a:headEnd/>
                <a:tailEnd/>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𝐼</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𝐅</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𝐯</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𝐯</m:t>
                          </m:r>
                        </m:e>
                        <m:sub>
                          <m:r>
                            <a:rPr lang="zh-CN" altLang="en-US" i="1">
                              <a:solidFill>
                                <a:srgbClr val="000000"/>
                              </a:solidFill>
                              <a:latin typeface="Cambria Math" panose="02040503050406030204" pitchFamily="18" charset="0"/>
                            </a:rPr>
                            <m:t>𝟎</m:t>
                          </m:r>
                        </m:sub>
                      </m:sSub>
                    </m:oMath>
                  </m:oMathPara>
                </a14:m>
                <a:endParaRPr lang="zh-CN" altLang="en-US"/>
              </a:p>
            </p:txBody>
          </p:sp>
        </mc:Choice>
        <mc:Fallback xmlns="">
          <p:sp>
            <p:nvSpPr>
              <p:cNvPr id="37890" name="Object 4"/>
              <p:cNvSpPr txBox="1">
                <a:spLocks noRot="1" noChangeAspect="1" noMove="1" noResize="1" noEditPoints="1" noAdjustHandles="1" noChangeArrowheads="1" noChangeShapeType="1" noTextEdit="1"/>
              </p:cNvSpPr>
              <p:nvPr/>
            </p:nvSpPr>
            <p:spPr bwMode="auto">
              <a:xfrm>
                <a:off x="5940152" y="759617"/>
                <a:ext cx="2895600" cy="771525"/>
              </a:xfrm>
              <a:prstGeom prst="rect">
                <a:avLst/>
              </a:prstGeom>
              <a:blipFill>
                <a:blip r:embed="rId2"/>
                <a:stretch>
                  <a:fillRect/>
                </a:stretch>
              </a:blipFill>
              <a:ln w="9525">
                <a:solidFill>
                  <a:schemeClr val="tx1"/>
                </a:solidFill>
                <a:miter lim="800000"/>
                <a:headEnd/>
                <a:tailEnd/>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1" name="Object 5"/>
              <p:cNvSpPr txBox="1"/>
              <p:nvPr/>
            </p:nvSpPr>
            <p:spPr bwMode="auto">
              <a:xfrm>
                <a:off x="4698563" y="1627980"/>
                <a:ext cx="1449388" cy="493713"/>
              </a:xfrm>
              <a:prstGeom prst="rect">
                <a:avLst/>
              </a:prstGeom>
              <a:noFill/>
              <a:ln w="9525">
                <a:solidFill>
                  <a:schemeClr val="tx1"/>
                </a:solidFill>
                <a:miter lim="800000"/>
                <a:headEnd/>
                <a:tailEnd/>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𝐅</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𝐩</m:t>
                      </m:r>
                    </m:oMath>
                  </m:oMathPara>
                </a14:m>
                <a:endParaRPr lang="zh-CN" altLang="en-US"/>
              </a:p>
            </p:txBody>
          </p:sp>
        </mc:Choice>
        <mc:Fallback xmlns="">
          <p:sp>
            <p:nvSpPr>
              <p:cNvPr id="37891" name="Object 5"/>
              <p:cNvSpPr txBox="1">
                <a:spLocks noRot="1" noChangeAspect="1" noMove="1" noResize="1" noEditPoints="1" noAdjustHandles="1" noChangeArrowheads="1" noChangeShapeType="1" noTextEdit="1"/>
              </p:cNvSpPr>
              <p:nvPr/>
            </p:nvSpPr>
            <p:spPr bwMode="auto">
              <a:xfrm>
                <a:off x="4698563" y="1627980"/>
                <a:ext cx="1449388" cy="493713"/>
              </a:xfrm>
              <a:prstGeom prst="rect">
                <a:avLst/>
              </a:prstGeom>
              <a:blipFill>
                <a:blip r:embed="rId3"/>
                <a:stretch>
                  <a:fillRect r="-2083" b="-9639"/>
                </a:stretch>
              </a:blipFill>
              <a:ln w="9525">
                <a:solidFill>
                  <a:schemeClr val="tx1"/>
                </a:solidFill>
                <a:miter lim="800000"/>
                <a:headEnd/>
                <a:tailEnd/>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2" name="Object 6"/>
              <p:cNvSpPr txBox="1"/>
              <p:nvPr/>
            </p:nvSpPr>
            <p:spPr bwMode="auto">
              <a:xfrm>
                <a:off x="4140200" y="2563813"/>
                <a:ext cx="3124200" cy="779462"/>
              </a:xfrm>
              <a:prstGeom prst="rect">
                <a:avLst/>
              </a:prstGeom>
              <a:noFill/>
              <a:ln w="9525">
                <a:solidFill>
                  <a:schemeClr val="tx1"/>
                </a:solidFill>
                <a:miter lim="800000"/>
                <a:headEnd/>
                <a:tailEnd/>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𝐼</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𝐅</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𝐩</m:t>
                              </m:r>
                            </m:e>
                            <m:sub>
                              <m:r>
                                <a:rPr lang="zh-CN" altLang="en-US" i="1">
                                  <a:solidFill>
                                    <a:srgbClr val="000000"/>
                                  </a:solidFill>
                                  <a:latin typeface="Cambria Math" panose="02040503050406030204" pitchFamily="18" charset="0"/>
                                </a:rPr>
                                <m:t>𝑖</m:t>
                              </m:r>
                            </m:sub>
                          </m:sSub>
                        </m:e>
                      </m:nary>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𝐩</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𝟎</m:t>
                              </m:r>
                            </m:sub>
                          </m:sSub>
                        </m:e>
                      </m:nary>
                    </m:oMath>
                  </m:oMathPara>
                </a14:m>
                <a:endParaRPr lang="zh-CN" altLang="en-US"/>
              </a:p>
            </p:txBody>
          </p:sp>
        </mc:Choice>
        <mc:Fallback xmlns="">
          <p:sp>
            <p:nvSpPr>
              <p:cNvPr id="37892" name="Object 6"/>
              <p:cNvSpPr txBox="1">
                <a:spLocks noRot="1" noChangeAspect="1" noMove="1" noResize="1" noEditPoints="1" noAdjustHandles="1" noChangeArrowheads="1" noChangeShapeType="1" noTextEdit="1"/>
              </p:cNvSpPr>
              <p:nvPr/>
            </p:nvSpPr>
            <p:spPr bwMode="auto">
              <a:xfrm>
                <a:off x="4140200" y="2563813"/>
                <a:ext cx="3124200" cy="779462"/>
              </a:xfrm>
              <a:prstGeom prst="rect">
                <a:avLst/>
              </a:prstGeom>
              <a:blipFill>
                <a:blip r:embed="rId4"/>
                <a:stretch>
                  <a:fillRect/>
                </a:stretch>
              </a:blipFill>
              <a:ln w="9525">
                <a:solidFill>
                  <a:schemeClr val="tx1"/>
                </a:solidFill>
                <a:miter lim="800000"/>
                <a:headEnd/>
                <a:tailEnd/>
              </a:ln>
              <a:effectLst/>
              <a:extLst/>
            </p:spPr>
            <p:txBody>
              <a:bodyPr/>
              <a:lstStyle/>
              <a:p>
                <a:r>
                  <a:rPr lang="zh-CN" altLang="en-US">
                    <a:noFill/>
                  </a:rPr>
                  <a:t> </a:t>
                </a:r>
              </a:p>
            </p:txBody>
          </p:sp>
        </mc:Fallback>
      </mc:AlternateContent>
      <p:sp>
        <p:nvSpPr>
          <p:cNvPr id="32" name="Text Box 45"/>
          <p:cNvSpPr txBox="1">
            <a:spLocks noChangeArrowheads="1"/>
          </p:cNvSpPr>
          <p:nvPr/>
        </p:nvSpPr>
        <p:spPr bwMode="auto">
          <a:xfrm>
            <a:off x="285750" y="3346356"/>
            <a:ext cx="2808288" cy="519112"/>
          </a:xfrm>
          <a:prstGeom prst="rect">
            <a:avLst/>
          </a:prstGeom>
          <a:noFill/>
          <a:ln w="12700">
            <a:noFill/>
            <a:miter lim="800000"/>
            <a:headEnd type="none" w="sm" len="sm"/>
            <a:tailEnd type="none" w="sm" len="sm"/>
          </a:ln>
          <a:effectLst/>
        </p:spPr>
        <p:txBody>
          <a:bodyPr>
            <a:spAutoFit/>
          </a:bodyPr>
          <a:lstStyle/>
          <a:p>
            <a:pPr>
              <a:spcBef>
                <a:spcPct val="20000"/>
              </a:spcBef>
              <a:defRPr/>
            </a:pPr>
            <a:r>
              <a:rPr lang="en-US" altLang="zh-CN" sz="2800" b="1" dirty="0">
                <a:solidFill>
                  <a:schemeClr val="accent2"/>
                </a:solidFill>
                <a:latin typeface="楷体_GB2312" pitchFamily="49" charset="-122"/>
              </a:rPr>
              <a:t>3</a:t>
            </a:r>
            <a:r>
              <a:rPr lang="zh-CN" altLang="en-US" sz="2800" b="1" dirty="0">
                <a:solidFill>
                  <a:schemeClr val="accent2"/>
                </a:solidFill>
                <a:latin typeface="楷体_GB2312" pitchFamily="49" charset="-122"/>
              </a:rPr>
              <a:t>、质心</a:t>
            </a:r>
            <a:endParaRPr lang="zh-CN" altLang="en-US" b="1" dirty="0">
              <a:solidFill>
                <a:schemeClr val="accent2"/>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37893" name="Object 2"/>
              <p:cNvSpPr txBox="1"/>
              <p:nvPr/>
            </p:nvSpPr>
            <p:spPr bwMode="auto">
              <a:xfrm>
                <a:off x="1735538" y="3124900"/>
                <a:ext cx="3379788" cy="942975"/>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𝑝</m:t>
                                  </m:r>
                                </m:e>
                              </m:acc>
                            </m:e>
                            <m:sub>
                              <m:r>
                                <a:rPr lang="zh-CN" altLang="en-US" i="1">
                                  <a:solidFill>
                                    <a:srgbClr val="000000"/>
                                  </a:solidFill>
                                  <a:latin typeface="Cambria Math" panose="02040503050406030204" pitchFamily="18" charset="0"/>
                                </a:rPr>
                                <m:t>𝑖</m:t>
                              </m:r>
                            </m:sub>
                          </m:sSub>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37893" name="Object 2"/>
              <p:cNvSpPr txBox="1">
                <a:spLocks noRot="1" noChangeAspect="1" noMove="1" noResize="1" noEditPoints="1" noAdjustHandles="1" noChangeArrowheads="1" noChangeShapeType="1" noTextEdit="1"/>
              </p:cNvSpPr>
              <p:nvPr/>
            </p:nvSpPr>
            <p:spPr bwMode="auto">
              <a:xfrm>
                <a:off x="1735538" y="3124900"/>
                <a:ext cx="3379788" cy="942975"/>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4" name="Object 9"/>
              <p:cNvSpPr txBox="1"/>
              <p:nvPr/>
            </p:nvSpPr>
            <p:spPr bwMode="auto">
              <a:xfrm>
                <a:off x="3361138" y="3756330"/>
                <a:ext cx="2345641" cy="95780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oMath>
                  </m:oMathPara>
                </a14:m>
                <a:endParaRPr lang="zh-CN" altLang="en-US" dirty="0"/>
              </a:p>
            </p:txBody>
          </p:sp>
        </mc:Choice>
        <mc:Fallback xmlns="">
          <p:sp>
            <p:nvSpPr>
              <p:cNvPr id="37894" name="Object 9"/>
              <p:cNvSpPr txBox="1">
                <a:spLocks noRot="1" noChangeAspect="1" noMove="1" noResize="1" noEditPoints="1" noAdjustHandles="1" noChangeArrowheads="1" noChangeShapeType="1" noTextEdit="1"/>
              </p:cNvSpPr>
              <p:nvPr/>
            </p:nvSpPr>
            <p:spPr bwMode="auto">
              <a:xfrm>
                <a:off x="3361138" y="3756330"/>
                <a:ext cx="2345641" cy="957809"/>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5" name="Object 10"/>
              <p:cNvSpPr txBox="1"/>
              <p:nvPr/>
            </p:nvSpPr>
            <p:spPr bwMode="auto">
              <a:xfrm>
                <a:off x="3232678" y="4714139"/>
                <a:ext cx="2406650" cy="1008062"/>
              </a:xfrm>
              <a:prstGeom prst="rect">
                <a:avLst/>
              </a:prstGeom>
              <a:noFill/>
              <a:ln w="9525">
                <a:solidFill>
                  <a:srgbClr val="D01A38"/>
                </a:solidFill>
                <a:miter lim="800000"/>
                <a:headEnd/>
                <a:tailEnd/>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r>
                                <a:rPr lang="zh-CN" altLang="en-US" i="1">
                                  <a:solidFill>
                                    <a:srgbClr val="000000"/>
                                  </a:solidFill>
                                  <a:latin typeface="Cambria Math" panose="02040503050406030204" pitchFamily="18" charset="0"/>
                                </a:rPr>
                                <m:t>𝑑𝑚</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𝑑𝑚</m:t>
                              </m:r>
                            </m:e>
                          </m:nary>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𝜌</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r>
                                <a:rPr lang="zh-CN" altLang="en-US" i="1">
                                  <a:solidFill>
                                    <a:srgbClr val="000000"/>
                                  </a:solidFill>
                                  <a:latin typeface="Cambria Math" panose="02040503050406030204" pitchFamily="18" charset="0"/>
                                </a:rPr>
                                <m:t>𝑑𝑉</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𝑑𝑉</m:t>
                              </m:r>
                            </m:e>
                          </m:nary>
                        </m:den>
                      </m:f>
                    </m:oMath>
                  </m:oMathPara>
                </a14:m>
                <a:endParaRPr lang="zh-CN" altLang="en-US"/>
              </a:p>
            </p:txBody>
          </p:sp>
        </mc:Choice>
        <mc:Fallback xmlns="">
          <p:sp>
            <p:nvSpPr>
              <p:cNvPr id="37895" name="Object 10"/>
              <p:cNvSpPr txBox="1">
                <a:spLocks noRot="1" noChangeAspect="1" noMove="1" noResize="1" noEditPoints="1" noAdjustHandles="1" noChangeArrowheads="1" noChangeShapeType="1" noTextEdit="1"/>
              </p:cNvSpPr>
              <p:nvPr/>
            </p:nvSpPr>
            <p:spPr bwMode="auto">
              <a:xfrm>
                <a:off x="3232678" y="4714139"/>
                <a:ext cx="2406650" cy="1008062"/>
              </a:xfrm>
              <a:prstGeom prst="rect">
                <a:avLst/>
              </a:prstGeom>
              <a:blipFill>
                <a:blip r:embed="rId7"/>
                <a:stretch>
                  <a:fillRect/>
                </a:stretch>
              </a:blipFill>
              <a:ln w="9525">
                <a:solidFill>
                  <a:srgbClr val="D01A38"/>
                </a:solidFill>
                <a:miter lim="800000"/>
                <a:headEnd/>
                <a:tailEnd/>
              </a:ln>
              <a:effectLst/>
              <a:extLst/>
            </p:spPr>
            <p:txBody>
              <a:bodyPr/>
              <a:lstStyle/>
              <a:p>
                <a:r>
                  <a:rPr lang="zh-CN" altLang="en-US">
                    <a:noFill/>
                  </a:rPr>
                  <a:t> </a:t>
                </a:r>
              </a:p>
            </p:txBody>
          </p:sp>
        </mc:Fallback>
      </mc:AlternateContent>
      <p:sp>
        <p:nvSpPr>
          <p:cNvPr id="37900" name="矩形 34"/>
          <p:cNvSpPr>
            <a:spLocks noChangeArrowheads="1"/>
          </p:cNvSpPr>
          <p:nvPr/>
        </p:nvSpPr>
        <p:spPr bwMode="auto">
          <a:xfrm>
            <a:off x="337977" y="4048918"/>
            <a:ext cx="2968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b="1" dirty="0">
                <a:solidFill>
                  <a:schemeClr val="accent2"/>
                </a:solidFill>
                <a:latin typeface="楷体_GB2312" pitchFamily="49" charset="-122"/>
              </a:rPr>
              <a:t>质心位置</a:t>
            </a:r>
            <a:r>
              <a:rPr lang="zh-CN" altLang="en-US" b="1" dirty="0">
                <a:solidFill>
                  <a:srgbClr val="000C0C"/>
                </a:solidFill>
                <a:latin typeface="楷体_GB2312" pitchFamily="49" charset="-122"/>
              </a:rPr>
              <a:t>：离散分布</a:t>
            </a:r>
            <a:endParaRPr lang="en-US" dirty="0"/>
          </a:p>
        </p:txBody>
      </p:sp>
      <p:sp>
        <p:nvSpPr>
          <p:cNvPr id="37901" name="矩形 35"/>
          <p:cNvSpPr>
            <a:spLocks noChangeArrowheads="1"/>
          </p:cNvSpPr>
          <p:nvPr/>
        </p:nvSpPr>
        <p:spPr bwMode="auto">
          <a:xfrm>
            <a:off x="1680565" y="4604562"/>
            <a:ext cx="16462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b="1" dirty="0">
                <a:solidFill>
                  <a:srgbClr val="000C0C"/>
                </a:solidFill>
                <a:latin typeface="楷体_GB2312" pitchFamily="49" charset="-122"/>
              </a:rPr>
              <a:t>连续分布</a:t>
            </a:r>
            <a:endParaRPr lang="en-US" dirty="0"/>
          </a:p>
        </p:txBody>
      </p:sp>
      <mc:AlternateContent xmlns:mc="http://schemas.openxmlformats.org/markup-compatibility/2006" xmlns:a14="http://schemas.microsoft.com/office/drawing/2010/main">
        <mc:Choice Requires="a14">
          <p:sp>
            <p:nvSpPr>
              <p:cNvPr id="15" name="Object 27"/>
              <p:cNvSpPr txBox="1"/>
              <p:nvPr/>
            </p:nvSpPr>
            <p:spPr bwMode="auto">
              <a:xfrm>
                <a:off x="2226389" y="1544089"/>
                <a:ext cx="2012578" cy="511541"/>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𝑑𝑡</m:t>
                      </m:r>
                    </m:oMath>
                  </m:oMathPara>
                </a14:m>
                <a:endParaRPr lang="zh-CN" altLang="en-US"/>
              </a:p>
            </p:txBody>
          </p:sp>
        </mc:Choice>
        <mc:Fallback xmlns="">
          <p:sp>
            <p:nvSpPr>
              <p:cNvPr id="15" name="Object 27"/>
              <p:cNvSpPr txBox="1">
                <a:spLocks noRot="1" noChangeAspect="1" noMove="1" noResize="1" noEditPoints="1" noAdjustHandles="1" noChangeArrowheads="1" noChangeShapeType="1" noTextEdit="1"/>
              </p:cNvSpPr>
              <p:nvPr/>
            </p:nvSpPr>
            <p:spPr bwMode="auto">
              <a:xfrm>
                <a:off x="2226389" y="1544089"/>
                <a:ext cx="2012578" cy="511541"/>
              </a:xfrm>
              <a:prstGeom prst="rect">
                <a:avLst/>
              </a:prstGeom>
              <a:blipFill>
                <a:blip r:embed="rId9"/>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Object 2">
                <a:extLst>
                  <a:ext uri="{FF2B5EF4-FFF2-40B4-BE49-F238E27FC236}">
                    <a16:creationId xmlns:a16="http://schemas.microsoft.com/office/drawing/2014/main" id="{54433787-EB72-4C57-BF33-F1F20D53D230}"/>
                  </a:ext>
                </a:extLst>
              </p:cNvPr>
              <p:cNvSpPr txBox="1"/>
              <p:nvPr/>
            </p:nvSpPr>
            <p:spPr bwMode="auto">
              <a:xfrm>
                <a:off x="375516" y="6217454"/>
                <a:ext cx="2221455" cy="457200"/>
              </a:xfrm>
              <a:prstGeom prst="rect">
                <a:avLst/>
              </a:prstGeom>
              <a:solidFill>
                <a:srgbClr val="FFCCCC"/>
              </a:solidFill>
              <a:ln>
                <a:noFill/>
              </a:ln>
              <a:effectLst/>
              <a:extLst/>
            </p:spPr>
            <p:txBody>
              <a:bodyPr>
                <a:noAutofit/>
              </a:bodyPr>
              <a:lstStyle/>
              <a:p>
                <a:pPr/>
                <a14:m>
                  <m:oMathPara xmlns:m="http://schemas.openxmlformats.org/officeDocument/2006/math">
                    <m:oMathParaPr>
                      <m:jc m:val="centerGroup"/>
                    </m:oMathParaPr>
                    <m:oMath xmlns:m="http://schemas.openxmlformats.org/officeDocument/2006/math">
                      <m:r>
                        <a:rPr lang="zh-CN" altLang="en-US" sz="3200" i="1">
                          <a:solidFill>
                            <a:srgbClr val="000000"/>
                          </a:solidFill>
                          <a:latin typeface="Cambria Math" panose="02040503050406030204" pitchFamily="18" charset="0"/>
                        </a:rPr>
                        <m:t>𝑑𝑚</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𝜆</m:t>
                      </m:r>
                      <m:r>
                        <a:rPr lang="zh-CN" altLang="en-US" sz="3200" i="1">
                          <a:solidFill>
                            <a:srgbClr val="000000"/>
                          </a:solidFill>
                          <a:latin typeface="Cambria Math" panose="02040503050406030204" pitchFamily="18" charset="0"/>
                        </a:rPr>
                        <m:t>𝑑𝑙</m:t>
                      </m:r>
                    </m:oMath>
                  </m:oMathPara>
                </a14:m>
                <a:endParaRPr lang="zh-CN" altLang="en-US" sz="3200" dirty="0"/>
              </a:p>
            </p:txBody>
          </p:sp>
        </mc:Choice>
        <mc:Fallback xmlns="">
          <p:sp>
            <p:nvSpPr>
              <p:cNvPr id="16" name="Object 2">
                <a:extLst>
                  <a:ext uri="{FF2B5EF4-FFF2-40B4-BE49-F238E27FC236}">
                    <a16:creationId xmlns:a16="http://schemas.microsoft.com/office/drawing/2014/main" id="{54433787-EB72-4C57-BF33-F1F20D53D230}"/>
                  </a:ext>
                </a:extLst>
              </p:cNvPr>
              <p:cNvSpPr txBox="1">
                <a:spLocks noRot="1" noChangeAspect="1" noMove="1" noResize="1" noEditPoints="1" noAdjustHandles="1" noChangeArrowheads="1" noChangeShapeType="1" noTextEdit="1"/>
              </p:cNvSpPr>
              <p:nvPr/>
            </p:nvSpPr>
            <p:spPr bwMode="auto">
              <a:xfrm>
                <a:off x="375516" y="6217454"/>
                <a:ext cx="2221455" cy="457200"/>
              </a:xfrm>
              <a:prstGeom prst="rect">
                <a:avLst/>
              </a:prstGeom>
              <a:blipFill>
                <a:blip r:embed="rId10"/>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Object 3">
                <a:extLst>
                  <a:ext uri="{FF2B5EF4-FFF2-40B4-BE49-F238E27FC236}">
                    <a16:creationId xmlns:a16="http://schemas.microsoft.com/office/drawing/2014/main" id="{E065A198-8E7C-4258-BB31-0E91726E3966}"/>
                  </a:ext>
                </a:extLst>
              </p:cNvPr>
              <p:cNvSpPr txBox="1"/>
              <p:nvPr/>
            </p:nvSpPr>
            <p:spPr bwMode="auto">
              <a:xfrm>
                <a:off x="3064659" y="6279602"/>
                <a:ext cx="2221455" cy="457200"/>
              </a:xfrm>
              <a:prstGeom prst="rect">
                <a:avLst/>
              </a:prstGeom>
              <a:solidFill>
                <a:srgbClr val="FFCC99"/>
              </a:solidFill>
              <a:ln>
                <a:noFill/>
              </a:ln>
              <a:effectLst/>
              <a:extLst/>
            </p:spPr>
            <p:txBody>
              <a:bodyPr>
                <a:noAutofit/>
              </a:bodyPr>
              <a:lstStyle/>
              <a:p>
                <a:pPr/>
                <a14:m>
                  <m:oMathPara xmlns:m="http://schemas.openxmlformats.org/officeDocument/2006/math">
                    <m:oMathParaPr>
                      <m:jc m:val="centerGroup"/>
                    </m:oMathParaPr>
                    <m:oMath xmlns:m="http://schemas.openxmlformats.org/officeDocument/2006/math">
                      <m:r>
                        <a:rPr lang="zh-CN" altLang="en-US" sz="3000" i="1">
                          <a:solidFill>
                            <a:srgbClr val="000000"/>
                          </a:solidFill>
                          <a:latin typeface="Cambria Math" panose="02040503050406030204" pitchFamily="18" charset="0"/>
                        </a:rPr>
                        <m:t>𝑑𝑚</m:t>
                      </m:r>
                      <m:r>
                        <a:rPr lang="zh-CN" altLang="en-US" sz="3000" i="1">
                          <a:solidFill>
                            <a:srgbClr val="000000"/>
                          </a:solidFill>
                          <a:latin typeface="Cambria Math" panose="02040503050406030204" pitchFamily="18" charset="0"/>
                        </a:rPr>
                        <m:t>=</m:t>
                      </m:r>
                      <m:r>
                        <a:rPr lang="zh-CN" altLang="en-US" sz="3000" i="1">
                          <a:solidFill>
                            <a:srgbClr val="000000"/>
                          </a:solidFill>
                          <a:latin typeface="Cambria Math" panose="02040503050406030204" pitchFamily="18" charset="0"/>
                        </a:rPr>
                        <m:t>𝜎</m:t>
                      </m:r>
                      <m:r>
                        <a:rPr lang="zh-CN" altLang="en-US" sz="3000" i="1">
                          <a:solidFill>
                            <a:srgbClr val="000000"/>
                          </a:solidFill>
                          <a:latin typeface="Cambria Math" panose="02040503050406030204" pitchFamily="18" charset="0"/>
                        </a:rPr>
                        <m:t>𝑑𝑠</m:t>
                      </m:r>
                    </m:oMath>
                  </m:oMathPara>
                </a14:m>
                <a:endParaRPr lang="zh-CN" altLang="en-US" sz="3000" dirty="0"/>
              </a:p>
            </p:txBody>
          </p:sp>
        </mc:Choice>
        <mc:Fallback xmlns="">
          <p:sp>
            <p:nvSpPr>
              <p:cNvPr id="17" name="Object 3">
                <a:extLst>
                  <a:ext uri="{FF2B5EF4-FFF2-40B4-BE49-F238E27FC236}">
                    <a16:creationId xmlns:a16="http://schemas.microsoft.com/office/drawing/2014/main" id="{E065A198-8E7C-4258-BB31-0E91726E3966}"/>
                  </a:ext>
                </a:extLst>
              </p:cNvPr>
              <p:cNvSpPr txBox="1">
                <a:spLocks noRot="1" noChangeAspect="1" noMove="1" noResize="1" noEditPoints="1" noAdjustHandles="1" noChangeArrowheads="1" noChangeShapeType="1" noTextEdit="1"/>
              </p:cNvSpPr>
              <p:nvPr/>
            </p:nvSpPr>
            <p:spPr bwMode="auto">
              <a:xfrm>
                <a:off x="3064659" y="6279602"/>
                <a:ext cx="2221455" cy="457200"/>
              </a:xfrm>
              <a:prstGeom prst="rect">
                <a:avLst/>
              </a:prstGeom>
              <a:blipFill>
                <a:blip r:embed="rId11"/>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Object 4">
                <a:extLst>
                  <a:ext uri="{FF2B5EF4-FFF2-40B4-BE49-F238E27FC236}">
                    <a16:creationId xmlns:a16="http://schemas.microsoft.com/office/drawing/2014/main" id="{F30A28E4-9EA5-4422-89D3-A91593CD9D07}"/>
                  </a:ext>
                </a:extLst>
              </p:cNvPr>
              <p:cNvSpPr txBox="1"/>
              <p:nvPr/>
            </p:nvSpPr>
            <p:spPr bwMode="auto">
              <a:xfrm>
                <a:off x="6138114" y="6249370"/>
                <a:ext cx="2538198" cy="487432"/>
              </a:xfrm>
              <a:prstGeom prst="rect">
                <a:avLst/>
              </a:prstGeom>
              <a:solidFill>
                <a:srgbClr val="FFCCFF"/>
              </a:solidFill>
              <a:ln>
                <a:noFill/>
              </a:ln>
              <a:effectLst/>
              <a:extLst/>
            </p:spPr>
            <p:txBody>
              <a:bodyPr>
                <a:noAutofit/>
              </a:bodyPr>
              <a:lstStyle/>
              <a:p>
                <a:pPr/>
                <a14:m>
                  <m:oMathPara xmlns:m="http://schemas.openxmlformats.org/officeDocument/2006/math">
                    <m:oMathParaPr>
                      <m:jc m:val="centerGroup"/>
                    </m:oMathParaPr>
                    <m:oMath xmlns:m="http://schemas.openxmlformats.org/officeDocument/2006/math">
                      <m:r>
                        <a:rPr lang="zh-CN" altLang="en-US" sz="3000" i="1">
                          <a:solidFill>
                            <a:srgbClr val="000000"/>
                          </a:solidFill>
                          <a:latin typeface="Cambria Math" panose="02040503050406030204" pitchFamily="18" charset="0"/>
                        </a:rPr>
                        <m:t>𝑑𝑚</m:t>
                      </m:r>
                      <m:r>
                        <a:rPr lang="zh-CN" altLang="en-US" sz="3000" i="1">
                          <a:solidFill>
                            <a:srgbClr val="000000"/>
                          </a:solidFill>
                          <a:latin typeface="Cambria Math" panose="02040503050406030204" pitchFamily="18" charset="0"/>
                        </a:rPr>
                        <m:t>=</m:t>
                      </m:r>
                      <m:r>
                        <a:rPr lang="zh-CN" altLang="en-US" sz="3000" i="1">
                          <a:solidFill>
                            <a:srgbClr val="000000"/>
                          </a:solidFill>
                          <a:latin typeface="Cambria Math" panose="02040503050406030204" pitchFamily="18" charset="0"/>
                        </a:rPr>
                        <m:t>𝜌</m:t>
                      </m:r>
                      <m:r>
                        <a:rPr lang="zh-CN" altLang="en-US" sz="3000" i="1">
                          <a:solidFill>
                            <a:srgbClr val="000000"/>
                          </a:solidFill>
                          <a:latin typeface="Cambria Math" panose="02040503050406030204" pitchFamily="18" charset="0"/>
                        </a:rPr>
                        <m:t>𝑑𝑉</m:t>
                      </m:r>
                    </m:oMath>
                  </m:oMathPara>
                </a14:m>
                <a:endParaRPr lang="zh-CN" altLang="en-US" sz="3000" dirty="0"/>
              </a:p>
            </p:txBody>
          </p:sp>
        </mc:Choice>
        <mc:Fallback xmlns="">
          <p:sp>
            <p:nvSpPr>
              <p:cNvPr id="18" name="Object 4">
                <a:extLst>
                  <a:ext uri="{FF2B5EF4-FFF2-40B4-BE49-F238E27FC236}">
                    <a16:creationId xmlns:a16="http://schemas.microsoft.com/office/drawing/2014/main" id="{F30A28E4-9EA5-4422-89D3-A91593CD9D07}"/>
                  </a:ext>
                </a:extLst>
              </p:cNvPr>
              <p:cNvSpPr txBox="1">
                <a:spLocks noRot="1" noChangeAspect="1" noMove="1" noResize="1" noEditPoints="1" noAdjustHandles="1" noChangeArrowheads="1" noChangeShapeType="1" noTextEdit="1"/>
              </p:cNvSpPr>
              <p:nvPr/>
            </p:nvSpPr>
            <p:spPr bwMode="auto">
              <a:xfrm>
                <a:off x="6138114" y="6249370"/>
                <a:ext cx="2538198" cy="487432"/>
              </a:xfrm>
              <a:prstGeom prst="rect">
                <a:avLst/>
              </a:prstGeom>
              <a:blipFill>
                <a:blip r:embed="rId12"/>
                <a:stretch>
                  <a:fillRect b="-1250"/>
                </a:stretch>
              </a:blipFill>
              <a:ln>
                <a:noFill/>
              </a:ln>
              <a:effectLst/>
              <a:extLst/>
            </p:spPr>
            <p:txBody>
              <a:bodyPr/>
              <a:lstStyle/>
              <a:p>
                <a:r>
                  <a:rPr lang="zh-CN" altLang="en-US">
                    <a:noFill/>
                  </a:rPr>
                  <a:t> </a:t>
                </a:r>
              </a:p>
            </p:txBody>
          </p:sp>
        </mc:Fallback>
      </mc:AlternateContent>
      <p:sp>
        <p:nvSpPr>
          <p:cNvPr id="19" name="Text Box 9">
            <a:extLst>
              <a:ext uri="{FF2B5EF4-FFF2-40B4-BE49-F238E27FC236}">
                <a16:creationId xmlns:a16="http://schemas.microsoft.com/office/drawing/2014/main" id="{4F52B4BA-4156-446D-9C0D-99DA71159972}"/>
              </a:ext>
            </a:extLst>
          </p:cNvPr>
          <p:cNvSpPr txBox="1">
            <a:spLocks noChangeArrowheads="1"/>
          </p:cNvSpPr>
          <p:nvPr/>
        </p:nvSpPr>
        <p:spPr bwMode="auto">
          <a:xfrm>
            <a:off x="337977" y="5725839"/>
            <a:ext cx="22214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dirty="0"/>
              <a:t>质量为线分布</a:t>
            </a:r>
          </a:p>
        </p:txBody>
      </p:sp>
      <p:sp>
        <p:nvSpPr>
          <p:cNvPr id="20" name="Text Box 10">
            <a:extLst>
              <a:ext uri="{FF2B5EF4-FFF2-40B4-BE49-F238E27FC236}">
                <a16:creationId xmlns:a16="http://schemas.microsoft.com/office/drawing/2014/main" id="{4DD6BD4D-ADEB-4371-A28D-5222F23C8640}"/>
              </a:ext>
            </a:extLst>
          </p:cNvPr>
          <p:cNvSpPr txBox="1">
            <a:spLocks noChangeArrowheads="1"/>
          </p:cNvSpPr>
          <p:nvPr/>
        </p:nvSpPr>
        <p:spPr bwMode="auto">
          <a:xfrm>
            <a:off x="3229462" y="5825003"/>
            <a:ext cx="2226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dirty="0"/>
              <a:t>质量为面分布</a:t>
            </a:r>
          </a:p>
        </p:txBody>
      </p:sp>
      <p:sp>
        <p:nvSpPr>
          <p:cNvPr id="21" name="Text Box 11">
            <a:extLst>
              <a:ext uri="{FF2B5EF4-FFF2-40B4-BE49-F238E27FC236}">
                <a16:creationId xmlns:a16="http://schemas.microsoft.com/office/drawing/2014/main" id="{BEF70256-FAB0-4E0B-B898-76595DAE1EF6}"/>
              </a:ext>
            </a:extLst>
          </p:cNvPr>
          <p:cNvSpPr txBox="1">
            <a:spLocks noChangeArrowheads="1"/>
          </p:cNvSpPr>
          <p:nvPr/>
        </p:nvSpPr>
        <p:spPr bwMode="auto">
          <a:xfrm>
            <a:off x="6226631" y="5825003"/>
            <a:ext cx="23226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dirty="0"/>
              <a:t>质量为体分布</a:t>
            </a:r>
          </a:p>
        </p:txBody>
      </p:sp>
    </p:spTree>
    <p:extLst>
      <p:ext uri="{BB962C8B-B14F-4D97-AF65-F5344CB8AC3E}">
        <p14:creationId xmlns:p14="http://schemas.microsoft.com/office/powerpoint/2010/main" val="2690494779"/>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p:bldP spid="37895" grpId="0" animBg="1"/>
      <p:bldP spid="16" grpId="0" animBg="1"/>
      <p:bldP spid="17" grpId="0" animBg="1"/>
      <p:bldP spid="18" grpId="0" animBg="1"/>
      <p:bldP spid="19" grpId="0"/>
      <p:bldP spid="20" grpId="0"/>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568825" y="1557338"/>
            <a:ext cx="3819525" cy="1871662"/>
            <a:chOff x="1703" y="2008"/>
            <a:chExt cx="2137" cy="1179"/>
          </a:xfrm>
        </p:grpSpPr>
        <p:grpSp>
          <p:nvGrpSpPr>
            <p:cNvPr id="38936" name="Group 3"/>
            <p:cNvGrpSpPr>
              <a:grpSpLocks/>
            </p:cNvGrpSpPr>
            <p:nvPr/>
          </p:nvGrpSpPr>
          <p:grpSpPr bwMode="auto">
            <a:xfrm>
              <a:off x="1703" y="2008"/>
              <a:ext cx="2016" cy="1179"/>
              <a:chOff x="2429" y="2632"/>
              <a:chExt cx="1920" cy="982"/>
            </a:xfrm>
          </p:grpSpPr>
          <p:sp>
            <p:nvSpPr>
              <p:cNvPr id="38941" name="Arc 4"/>
              <p:cNvSpPr>
                <a:spLocks/>
              </p:cNvSpPr>
              <p:nvPr/>
            </p:nvSpPr>
            <p:spPr bwMode="auto">
              <a:xfrm>
                <a:off x="3428" y="2632"/>
                <a:ext cx="921" cy="98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009900"/>
              </a:solidFill>
              <a:ln w="38100" cap="sq">
                <a:solidFill>
                  <a:srgbClr val="009900"/>
                </a:solidFill>
                <a:round/>
                <a:headEnd type="none" w="sm" len="sm"/>
                <a:tailEnd type="none" w="sm" len="sm"/>
              </a:ln>
            </p:spPr>
            <p:txBody>
              <a:bodyPr wrap="none" anchor="ctr"/>
              <a:lstStyle/>
              <a:p>
                <a:endParaRPr lang="zh-CN" altLang="en-US"/>
              </a:p>
            </p:txBody>
          </p:sp>
          <p:sp>
            <p:nvSpPr>
              <p:cNvPr id="38942" name="Arc 5"/>
              <p:cNvSpPr>
                <a:spLocks/>
              </p:cNvSpPr>
              <p:nvPr/>
            </p:nvSpPr>
            <p:spPr bwMode="auto">
              <a:xfrm flipH="1">
                <a:off x="2429" y="2640"/>
                <a:ext cx="960" cy="9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009900"/>
              </a:solidFill>
              <a:ln w="38100" cap="sq">
                <a:solidFill>
                  <a:srgbClr val="009900"/>
                </a:solidFill>
                <a:round/>
                <a:headEnd type="none" w="sm" len="sm"/>
                <a:tailEnd type="none" w="sm" len="sm"/>
              </a:ln>
            </p:spPr>
            <p:txBody>
              <a:bodyPr wrap="none" anchor="ctr"/>
              <a:lstStyle/>
              <a:p>
                <a:endParaRPr lang="zh-CN" altLang="en-US"/>
              </a:p>
            </p:txBody>
          </p:sp>
        </p:grpSp>
        <p:sp>
          <p:nvSpPr>
            <p:cNvPr id="38937" name="Line 6"/>
            <p:cNvSpPr>
              <a:spLocks noChangeShapeType="1"/>
            </p:cNvSpPr>
            <p:nvPr/>
          </p:nvSpPr>
          <p:spPr bwMode="auto">
            <a:xfrm>
              <a:off x="1824" y="3168"/>
              <a:ext cx="2016" cy="0"/>
            </a:xfrm>
            <a:prstGeom prst="line">
              <a:avLst/>
            </a:prstGeom>
            <a:noFill/>
            <a:ln w="28575">
              <a:solidFill>
                <a:srgbClr val="009900"/>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8938" name="Group 7"/>
            <p:cNvGrpSpPr>
              <a:grpSpLocks/>
            </p:cNvGrpSpPr>
            <p:nvPr/>
          </p:nvGrpSpPr>
          <p:grpSpPr bwMode="auto">
            <a:xfrm>
              <a:off x="1800" y="2098"/>
              <a:ext cx="1839" cy="1088"/>
              <a:chOff x="2418" y="2627"/>
              <a:chExt cx="1936" cy="989"/>
            </a:xfrm>
          </p:grpSpPr>
          <p:sp>
            <p:nvSpPr>
              <p:cNvPr id="38939" name="Arc 8"/>
              <p:cNvSpPr>
                <a:spLocks/>
              </p:cNvSpPr>
              <p:nvPr/>
            </p:nvSpPr>
            <p:spPr bwMode="auto">
              <a:xfrm>
                <a:off x="3394" y="2627"/>
                <a:ext cx="960" cy="98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CCCC"/>
              </a:solidFill>
              <a:ln w="38100" cap="sq">
                <a:solidFill>
                  <a:srgbClr val="FFCCCC"/>
                </a:solidFill>
                <a:round/>
                <a:headEnd type="none" w="sm" len="sm"/>
                <a:tailEnd type="none" w="sm" len="sm"/>
              </a:ln>
            </p:spPr>
            <p:txBody>
              <a:bodyPr wrap="none" anchor="ctr"/>
              <a:lstStyle/>
              <a:p>
                <a:endParaRPr lang="zh-CN" altLang="en-US"/>
              </a:p>
            </p:txBody>
          </p:sp>
          <p:sp>
            <p:nvSpPr>
              <p:cNvPr id="38940" name="Arc 9"/>
              <p:cNvSpPr>
                <a:spLocks/>
              </p:cNvSpPr>
              <p:nvPr/>
            </p:nvSpPr>
            <p:spPr bwMode="auto">
              <a:xfrm flipH="1">
                <a:off x="2418" y="2640"/>
                <a:ext cx="960" cy="9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CCCC"/>
              </a:solidFill>
              <a:ln w="38100" cap="sq">
                <a:solidFill>
                  <a:srgbClr val="FFCCCC"/>
                </a:solidFill>
                <a:round/>
                <a:headEnd type="none" w="sm" len="sm"/>
                <a:tailEnd type="none" w="sm" len="sm"/>
              </a:ln>
            </p:spPr>
            <p:txBody>
              <a:bodyPr wrap="none" anchor="ctr"/>
              <a:lstStyle/>
              <a:p>
                <a:endParaRPr lang="zh-CN" altLang="en-US"/>
              </a:p>
            </p:txBody>
          </p:sp>
        </p:grpSp>
      </p:grpSp>
      <p:grpSp>
        <p:nvGrpSpPr>
          <p:cNvPr id="5" name="Group 15"/>
          <p:cNvGrpSpPr>
            <a:grpSpLocks/>
          </p:cNvGrpSpPr>
          <p:nvPr/>
        </p:nvGrpSpPr>
        <p:grpSpPr bwMode="auto">
          <a:xfrm>
            <a:off x="5927725" y="685800"/>
            <a:ext cx="3216275" cy="3444875"/>
            <a:chOff x="2678" y="1678"/>
            <a:chExt cx="2026" cy="2170"/>
          </a:xfrm>
        </p:grpSpPr>
        <p:sp>
          <p:nvSpPr>
            <p:cNvPr id="38931" name="Line 10"/>
            <p:cNvSpPr>
              <a:spLocks noChangeShapeType="1"/>
            </p:cNvSpPr>
            <p:nvPr/>
          </p:nvSpPr>
          <p:spPr bwMode="auto">
            <a:xfrm>
              <a:off x="2976" y="3408"/>
              <a:ext cx="1728" cy="0"/>
            </a:xfrm>
            <a:prstGeom prst="line">
              <a:avLst/>
            </a:prstGeom>
            <a:noFill/>
            <a:ln w="3810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2" name="Line 11"/>
            <p:cNvSpPr>
              <a:spLocks noChangeShapeType="1"/>
            </p:cNvSpPr>
            <p:nvPr/>
          </p:nvSpPr>
          <p:spPr bwMode="auto">
            <a:xfrm flipV="1">
              <a:off x="2976" y="1872"/>
              <a:ext cx="0" cy="1536"/>
            </a:xfrm>
            <a:prstGeom prst="line">
              <a:avLst/>
            </a:prstGeom>
            <a:noFill/>
            <a:ln w="38100" cap="sq">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3" name="Text Box 12"/>
            <p:cNvSpPr txBox="1">
              <a:spLocks noChangeArrowheads="1"/>
            </p:cNvSpPr>
            <p:nvPr/>
          </p:nvSpPr>
          <p:spPr bwMode="auto">
            <a:xfrm>
              <a:off x="4406" y="3358"/>
              <a:ext cx="2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en-US" sz="4000"/>
                <a:t>x</a:t>
              </a:r>
              <a:endParaRPr lang="en-US" altLang="zh-CN"/>
            </a:p>
          </p:txBody>
        </p:sp>
        <p:sp>
          <p:nvSpPr>
            <p:cNvPr id="38934" name="Text Box 13"/>
            <p:cNvSpPr txBox="1">
              <a:spLocks noChangeArrowheads="1"/>
            </p:cNvSpPr>
            <p:nvPr/>
          </p:nvSpPr>
          <p:spPr bwMode="auto">
            <a:xfrm>
              <a:off x="2678" y="1678"/>
              <a:ext cx="2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4000"/>
                <a:t>y</a:t>
              </a:r>
              <a:endParaRPr lang="en-US" altLang="zh-CN"/>
            </a:p>
          </p:txBody>
        </p:sp>
        <p:sp>
          <p:nvSpPr>
            <p:cNvPr id="38935" name="Text Box 14"/>
            <p:cNvSpPr txBox="1">
              <a:spLocks noChangeArrowheads="1"/>
            </p:cNvSpPr>
            <p:nvPr/>
          </p:nvSpPr>
          <p:spPr bwMode="auto">
            <a:xfrm>
              <a:off x="2678" y="3406"/>
              <a:ext cx="2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4000"/>
                <a:t>o</a:t>
              </a:r>
              <a:endParaRPr lang="en-US" altLang="zh-CN"/>
            </a:p>
          </p:txBody>
        </p:sp>
      </p:grpSp>
      <p:sp>
        <p:nvSpPr>
          <p:cNvPr id="63504" name="Rectangle 16"/>
          <p:cNvSpPr>
            <a:spLocks noChangeArrowheads="1"/>
          </p:cNvSpPr>
          <p:nvPr/>
        </p:nvSpPr>
        <p:spPr bwMode="auto">
          <a:xfrm rot="2503468">
            <a:off x="7058025" y="1760538"/>
            <a:ext cx="304800" cy="228600"/>
          </a:xfrm>
          <a:prstGeom prst="rect">
            <a:avLst/>
          </a:prstGeom>
          <a:solidFill>
            <a:srgbClr val="FFFF00"/>
          </a:solidFill>
          <a:ln w="12700" cap="sq">
            <a:solidFill>
              <a:srgbClr val="FFFF00"/>
            </a:solidFill>
            <a:miter lim="800000"/>
            <a:headEnd type="none" w="sm" len="sm"/>
            <a:tailEnd type="none" w="sm" len="sm"/>
          </a:ln>
        </p:spPr>
        <p:txBody>
          <a:bodyPr wrap="none" anchor="ctr"/>
          <a:lstStyle/>
          <a:p>
            <a:pPr>
              <a:spcBef>
                <a:spcPct val="20000"/>
              </a:spcBef>
            </a:pPr>
            <a:endParaRPr lang="en-US" altLang="zh-CN"/>
          </a:p>
        </p:txBody>
      </p:sp>
      <p:sp>
        <p:nvSpPr>
          <p:cNvPr id="63505" name="Line 17"/>
          <p:cNvSpPr>
            <a:spLocks noChangeShapeType="1"/>
          </p:cNvSpPr>
          <p:nvPr/>
        </p:nvSpPr>
        <p:spPr bwMode="auto">
          <a:xfrm flipV="1">
            <a:off x="6400800" y="1916113"/>
            <a:ext cx="979488" cy="1512887"/>
          </a:xfrm>
          <a:prstGeom prst="line">
            <a:avLst/>
          </a:prstGeom>
          <a:noFill/>
          <a:ln w="28575">
            <a:solidFill>
              <a:srgbClr val="FF0000"/>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6" name="Line 18"/>
          <p:cNvSpPr>
            <a:spLocks noChangeShapeType="1"/>
          </p:cNvSpPr>
          <p:nvPr/>
        </p:nvSpPr>
        <p:spPr bwMode="auto">
          <a:xfrm flipV="1">
            <a:off x="6400800" y="1905000"/>
            <a:ext cx="609600" cy="1524000"/>
          </a:xfrm>
          <a:prstGeom prst="line">
            <a:avLst/>
          </a:prstGeom>
          <a:noFill/>
          <a:ln w="38100">
            <a:solidFill>
              <a:srgbClr val="FF0000"/>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7" name="Text Box 19"/>
          <p:cNvSpPr txBox="1">
            <a:spLocks noChangeArrowheads="1"/>
          </p:cNvSpPr>
          <p:nvPr/>
        </p:nvSpPr>
        <p:spPr bwMode="auto">
          <a:xfrm>
            <a:off x="6553200" y="2819400"/>
            <a:ext cx="449263" cy="701675"/>
          </a:xfrm>
          <a:prstGeom prst="rect">
            <a:avLst/>
          </a:prstGeom>
          <a:noFill/>
          <a:ln>
            <a:noFill/>
          </a:ln>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defRPr/>
            </a:pPr>
            <a:r>
              <a:rPr lang="zh-CN" altLang="en-US" sz="4000" i="1" dirty="0">
                <a:latin typeface="+mj-lt"/>
                <a:sym typeface="Symbol" pitchFamily="18" charset="2"/>
              </a:rPr>
              <a:t></a:t>
            </a:r>
            <a:endParaRPr lang="zh-CN" altLang="en-US" sz="4000" i="1" dirty="0">
              <a:latin typeface="+mj-lt"/>
            </a:endParaRPr>
          </a:p>
        </p:txBody>
      </p:sp>
      <p:sp>
        <p:nvSpPr>
          <p:cNvPr id="63508" name="Text Box 20"/>
          <p:cNvSpPr txBox="1">
            <a:spLocks noChangeArrowheads="1"/>
          </p:cNvSpPr>
          <p:nvPr/>
        </p:nvSpPr>
        <p:spPr bwMode="auto">
          <a:xfrm>
            <a:off x="7146925" y="1139825"/>
            <a:ext cx="5794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4000"/>
              <a:t>dl</a:t>
            </a:r>
            <a:endParaRPr lang="en-US" altLang="zh-CN"/>
          </a:p>
        </p:txBody>
      </p:sp>
      <p:graphicFrame>
        <p:nvGraphicFramePr>
          <p:cNvPr id="63509" name="Object 2"/>
          <p:cNvGraphicFramePr>
            <a:graphicFrameLocks noChangeAspect="1"/>
          </p:cNvGraphicFramePr>
          <p:nvPr>
            <p:extLst>
              <p:ext uri="{D42A27DB-BD31-4B8C-83A1-F6EECF244321}">
                <p14:modId xmlns:p14="http://schemas.microsoft.com/office/powerpoint/2010/main" val="2214176872"/>
              </p:ext>
            </p:extLst>
          </p:nvPr>
        </p:nvGraphicFramePr>
        <p:xfrm>
          <a:off x="426349" y="2225816"/>
          <a:ext cx="3879850" cy="1379537"/>
        </p:xfrm>
        <a:graphic>
          <a:graphicData uri="http://schemas.openxmlformats.org/presentationml/2006/ole">
            <mc:AlternateContent xmlns:mc="http://schemas.openxmlformats.org/markup-compatibility/2006">
              <mc:Choice xmlns:v="urn:schemas-microsoft-com:vml" Requires="v">
                <p:oleObj spid="_x0000_s59845" name="Equation" r:id="rId4" imgW="1247792" imgH="390457" progId="Equation.DSMT4">
                  <p:embed/>
                </p:oleObj>
              </mc:Choice>
              <mc:Fallback>
                <p:oleObj name="Equation" r:id="rId4" imgW="1247792" imgH="390457" progId="Equation.DSMT4">
                  <p:embed/>
                  <p:pic>
                    <p:nvPicPr>
                      <p:cNvPr id="63509"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349" y="2225816"/>
                        <a:ext cx="3879850" cy="13795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9" name="Object 4"/>
          <p:cNvGraphicFramePr>
            <a:graphicFrameLocks noChangeAspect="1"/>
          </p:cNvGraphicFramePr>
          <p:nvPr>
            <p:extLst>
              <p:ext uri="{D42A27DB-BD31-4B8C-83A1-F6EECF244321}">
                <p14:modId xmlns:p14="http://schemas.microsoft.com/office/powerpoint/2010/main" val="2629099455"/>
              </p:ext>
            </p:extLst>
          </p:nvPr>
        </p:nvGraphicFramePr>
        <p:xfrm>
          <a:off x="357516" y="3746501"/>
          <a:ext cx="4943475" cy="758825"/>
        </p:xfrm>
        <a:graphic>
          <a:graphicData uri="http://schemas.openxmlformats.org/presentationml/2006/ole">
            <mc:AlternateContent xmlns:mc="http://schemas.openxmlformats.org/markup-compatibility/2006">
              <mc:Choice xmlns:v="urn:schemas-microsoft-com:vml" Requires="v">
                <p:oleObj spid="_x0000_s59846" name="Equation" r:id="rId6" imgW="1228641" imgH="123757" progId="Equation.DSMT4">
                  <p:embed/>
                </p:oleObj>
              </mc:Choice>
              <mc:Fallback>
                <p:oleObj name="Equation" r:id="rId6" imgW="1228641" imgH="123757" progId="Equation.DSMT4">
                  <p:embed/>
                  <p:pic>
                    <p:nvPicPr>
                      <p:cNvPr id="63519"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516" y="3746501"/>
                        <a:ext cx="4943475" cy="758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20" name="Object 5"/>
          <p:cNvGraphicFramePr>
            <a:graphicFrameLocks noChangeAspect="1"/>
          </p:cNvGraphicFramePr>
          <p:nvPr>
            <p:extLst>
              <p:ext uri="{D42A27DB-BD31-4B8C-83A1-F6EECF244321}">
                <p14:modId xmlns:p14="http://schemas.microsoft.com/office/powerpoint/2010/main" val="2098687921"/>
              </p:ext>
            </p:extLst>
          </p:nvPr>
        </p:nvGraphicFramePr>
        <p:xfrm>
          <a:off x="129632" y="4449768"/>
          <a:ext cx="4424363" cy="1444625"/>
        </p:xfrm>
        <a:graphic>
          <a:graphicData uri="http://schemas.openxmlformats.org/presentationml/2006/ole">
            <mc:AlternateContent xmlns:mc="http://schemas.openxmlformats.org/markup-compatibility/2006">
              <mc:Choice xmlns:v="urn:schemas-microsoft-com:vml" Requires="v">
                <p:oleObj spid="_x0000_s59847" name="Equation" r:id="rId8" imgW="1400192" imgH="409643" progId="Equation.DSMT4">
                  <p:embed/>
                </p:oleObj>
              </mc:Choice>
              <mc:Fallback>
                <p:oleObj name="Equation" r:id="rId8" imgW="1400192" imgH="409643" progId="Equation.DSMT4">
                  <p:embed/>
                  <p:pic>
                    <p:nvPicPr>
                      <p:cNvPr id="6352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632" y="4449768"/>
                        <a:ext cx="4424363" cy="14446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21" name="Object 6"/>
          <p:cNvGraphicFramePr>
            <a:graphicFrameLocks noChangeAspect="1"/>
          </p:cNvGraphicFramePr>
          <p:nvPr/>
        </p:nvGraphicFramePr>
        <p:xfrm>
          <a:off x="4545013" y="4519613"/>
          <a:ext cx="2763837" cy="1249362"/>
        </p:xfrm>
        <a:graphic>
          <a:graphicData uri="http://schemas.openxmlformats.org/presentationml/2006/ole">
            <mc:AlternateContent xmlns:mc="http://schemas.openxmlformats.org/markup-compatibility/2006">
              <mc:Choice xmlns:v="urn:schemas-microsoft-com:vml" Requires="v">
                <p:oleObj spid="_x0000_s59848" name="Equation" r:id="rId10" imgW="847776" imgH="342900" progId="Equation.DSMT4">
                  <p:embed/>
                </p:oleObj>
              </mc:Choice>
              <mc:Fallback>
                <p:oleObj name="Equation" r:id="rId10" imgW="847776" imgH="342900" progId="Equation.DSMT4">
                  <p:embed/>
                  <p:pic>
                    <p:nvPicPr>
                      <p:cNvPr id="63521"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45013" y="4519613"/>
                        <a:ext cx="2763837" cy="124936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23" name="Oval 35"/>
          <p:cNvSpPr>
            <a:spLocks noChangeArrowheads="1"/>
          </p:cNvSpPr>
          <p:nvPr/>
        </p:nvSpPr>
        <p:spPr bwMode="auto">
          <a:xfrm>
            <a:off x="6324600" y="2286000"/>
            <a:ext cx="152400" cy="152400"/>
          </a:xfrm>
          <a:prstGeom prst="ellipse">
            <a:avLst/>
          </a:prstGeom>
          <a:solidFill>
            <a:schemeClr val="bg2"/>
          </a:solidFill>
          <a:ln w="12700" cap="sq">
            <a:solidFill>
              <a:schemeClr val="tx1"/>
            </a:solidFill>
            <a:round/>
            <a:headEnd type="none" w="sm" len="sm"/>
            <a:tailEnd type="none" w="sm" len="sm"/>
          </a:ln>
        </p:spPr>
        <p:txBody>
          <a:bodyPr wrap="none" anchor="ctr"/>
          <a:lstStyle/>
          <a:p>
            <a:pPr>
              <a:spcBef>
                <a:spcPct val="20000"/>
              </a:spcBef>
            </a:pPr>
            <a:endParaRPr lang="en-US" altLang="zh-CN"/>
          </a:p>
        </p:txBody>
      </p:sp>
      <p:sp>
        <p:nvSpPr>
          <p:cNvPr id="63524" name="Text Box 36"/>
          <p:cNvSpPr txBox="1">
            <a:spLocks noChangeArrowheads="1"/>
          </p:cNvSpPr>
          <p:nvPr/>
        </p:nvSpPr>
        <p:spPr bwMode="auto">
          <a:xfrm>
            <a:off x="323528" y="6038418"/>
            <a:ext cx="7842211"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3500" b="1" dirty="0"/>
              <a:t>不在铁丝上</a:t>
            </a:r>
            <a:r>
              <a:rPr lang="zh-CN" altLang="en-US" sz="3500" b="1" dirty="0">
                <a:solidFill>
                  <a:schemeClr val="accent6"/>
                </a:solidFill>
              </a:rPr>
              <a:t>（质心不一定在物体内部）</a:t>
            </a:r>
          </a:p>
        </p:txBody>
      </p:sp>
      <p:sp>
        <p:nvSpPr>
          <p:cNvPr id="29" name="Rectangle 2"/>
          <p:cNvSpPr txBox="1">
            <a:spLocks noChangeArrowheads="1"/>
          </p:cNvSpPr>
          <p:nvPr/>
        </p:nvSpPr>
        <p:spPr>
          <a:xfrm>
            <a:off x="282575" y="238125"/>
            <a:ext cx="8431213" cy="1254125"/>
          </a:xfrm>
          <a:prstGeom prst="rect">
            <a:avLst/>
          </a:prstGeom>
        </p:spPr>
        <p:txBody>
          <a:bodyPr/>
          <a:lstStyle/>
          <a:p>
            <a:pPr>
              <a:spcBef>
                <a:spcPct val="20000"/>
              </a:spcBef>
              <a:defRPr/>
            </a:pPr>
            <a:r>
              <a:rPr lang="zh-CN" altLang="en-US" sz="3000" b="1" kern="0" dirty="0">
                <a:latin typeface="+mj-lt"/>
                <a:ea typeface="+mj-ea"/>
                <a:cs typeface="+mj-cs"/>
              </a:rPr>
              <a:t>例题：</a:t>
            </a:r>
            <a:r>
              <a:rPr lang="en-US" altLang="zh-CN" sz="3000" b="1" kern="0" dirty="0">
                <a:latin typeface="+mj-lt"/>
                <a:ea typeface="+mj-ea"/>
                <a:cs typeface="+mj-cs"/>
              </a:rPr>
              <a:t>1</a:t>
            </a:r>
            <a:r>
              <a:rPr lang="zh-CN" altLang="en-US" sz="3000" b="1" kern="0" dirty="0">
                <a:latin typeface="+mj-lt"/>
                <a:ea typeface="+mj-ea"/>
                <a:cs typeface="+mj-cs"/>
              </a:rPr>
              <a:t>、一段均匀铁丝弯成半圆形，其半径为</a:t>
            </a:r>
            <a:r>
              <a:rPr lang="en-US" altLang="zh-CN" sz="3000" b="1" kern="0" dirty="0">
                <a:latin typeface="+mj-lt"/>
                <a:ea typeface="+mj-ea"/>
                <a:cs typeface="+mj-cs"/>
              </a:rPr>
              <a:t>R，</a:t>
            </a:r>
            <a:r>
              <a:rPr lang="zh-CN" altLang="en-US" sz="3000" b="1" kern="0" dirty="0">
                <a:latin typeface="+mj-lt"/>
                <a:ea typeface="+mj-ea"/>
                <a:cs typeface="+mj-cs"/>
              </a:rPr>
              <a:t>求此半圆形铁丝的</a:t>
            </a:r>
            <a:r>
              <a:rPr lang="zh-CN" altLang="en-US" sz="3000" b="1" kern="0">
                <a:latin typeface="+mj-lt"/>
                <a:ea typeface="+mj-ea"/>
                <a:cs typeface="+mj-cs"/>
              </a:rPr>
              <a:t>质心。</a:t>
            </a:r>
            <a:endParaRPr lang="zh-CN" altLang="en-US" sz="3000" b="1" kern="0" dirty="0">
              <a:latin typeface="+mj-lt"/>
              <a:ea typeface="+mj-ea"/>
              <a:cs typeface="+mj-cs"/>
            </a:endParaRPr>
          </a:p>
        </p:txBody>
      </p:sp>
      <p:sp>
        <p:nvSpPr>
          <p:cNvPr id="28" name="Line 17"/>
          <p:cNvSpPr>
            <a:spLocks noChangeShapeType="1"/>
          </p:cNvSpPr>
          <p:nvPr/>
        </p:nvSpPr>
        <p:spPr bwMode="auto">
          <a:xfrm flipV="1">
            <a:off x="7380288" y="1989138"/>
            <a:ext cx="7937" cy="1439862"/>
          </a:xfrm>
          <a:prstGeom prst="line">
            <a:avLst/>
          </a:prstGeom>
          <a:noFill/>
          <a:ln w="28575">
            <a:solidFill>
              <a:srgbClr val="FF0000"/>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Text Box 19"/>
          <p:cNvSpPr txBox="1">
            <a:spLocks noChangeArrowheads="1"/>
          </p:cNvSpPr>
          <p:nvPr/>
        </p:nvSpPr>
        <p:spPr bwMode="auto">
          <a:xfrm>
            <a:off x="8299450" y="2133600"/>
            <a:ext cx="708025" cy="706438"/>
          </a:xfrm>
          <a:prstGeom prst="rect">
            <a:avLst/>
          </a:prstGeom>
          <a:noFill/>
          <a:ln>
            <a:noFill/>
          </a:ln>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defRPr/>
            </a:pPr>
            <a:r>
              <a:rPr lang="en-US" altLang="zh-CN" sz="4000" dirty="0">
                <a:latin typeface="+mj-lt"/>
                <a:sym typeface="Symbol" pitchFamily="18" charset="2"/>
              </a:rPr>
              <a:t>d</a:t>
            </a:r>
            <a:r>
              <a:rPr lang="zh-CN" altLang="en-US" sz="4000" i="1" dirty="0">
                <a:latin typeface="+mj-lt"/>
                <a:sym typeface="Symbol" pitchFamily="18" charset="2"/>
              </a:rPr>
              <a:t></a:t>
            </a:r>
            <a:endParaRPr lang="zh-CN" altLang="en-US" sz="4000" i="1" dirty="0">
              <a:latin typeface="+mj-lt"/>
            </a:endParaRPr>
          </a:p>
        </p:txBody>
      </p:sp>
      <p:cxnSp>
        <p:nvCxnSpPr>
          <p:cNvPr id="7" name="肘形连接符 6"/>
          <p:cNvCxnSpPr>
            <a:cxnSpLocks noChangeShapeType="1"/>
            <a:stCxn id="30" idx="1"/>
          </p:cNvCxnSpPr>
          <p:nvPr/>
        </p:nvCxnSpPr>
        <p:spPr bwMode="auto">
          <a:xfrm rot="10800000" flipV="1">
            <a:off x="6777038" y="2486025"/>
            <a:ext cx="1522412" cy="185738"/>
          </a:xfrm>
          <a:prstGeom prst="bentConnector3">
            <a:avLst>
              <a:gd name="adj1" fmla="val 50000"/>
            </a:avLst>
          </a:prstGeom>
          <a:noFill/>
          <a:ln w="9525" algn="ctr">
            <a:solidFill>
              <a:srgbClr val="FF00FF"/>
            </a:solidFill>
            <a:round/>
            <a:headEnd/>
            <a:tailEnd type="arrow" w="med" len="med"/>
          </a:ln>
          <a:extLst>
            <a:ext uri="{909E8E84-426E-40DD-AFC4-6F175D3DCCD1}">
              <a14:hiddenFill xmlns:a14="http://schemas.microsoft.com/office/drawing/2010/main">
                <a:noFill/>
              </a14:hiddenFill>
            </a:ext>
          </a:extLst>
        </p:spPr>
      </p:cxnSp>
      <p:graphicFrame>
        <p:nvGraphicFramePr>
          <p:cNvPr id="31" name="Object 2">
            <a:extLst>
              <a:ext uri="{FF2B5EF4-FFF2-40B4-BE49-F238E27FC236}">
                <a16:creationId xmlns:a16="http://schemas.microsoft.com/office/drawing/2014/main" id="{E4532603-60E4-48C8-8BF7-52C655E8A3DF}"/>
              </a:ext>
            </a:extLst>
          </p:cNvPr>
          <p:cNvGraphicFramePr>
            <a:graphicFrameLocks noChangeAspect="1"/>
          </p:cNvGraphicFramePr>
          <p:nvPr>
            <p:extLst>
              <p:ext uri="{D42A27DB-BD31-4B8C-83A1-F6EECF244321}">
                <p14:modId xmlns:p14="http://schemas.microsoft.com/office/powerpoint/2010/main" val="949604405"/>
              </p:ext>
            </p:extLst>
          </p:nvPr>
        </p:nvGraphicFramePr>
        <p:xfrm>
          <a:off x="491171" y="1703920"/>
          <a:ext cx="1303337" cy="806450"/>
        </p:xfrm>
        <a:graphic>
          <a:graphicData uri="http://schemas.openxmlformats.org/presentationml/2006/ole">
            <mc:AlternateContent xmlns:mc="http://schemas.openxmlformats.org/markup-compatibility/2006">
              <mc:Choice xmlns:v="urn:schemas-microsoft-com:vml" Requires="v">
                <p:oleObj spid="_x0000_s59849" name="Equation" r:id="rId12" imgW="419040" imgH="228600" progId="Equation.DSMT4">
                  <p:embed/>
                </p:oleObj>
              </mc:Choice>
              <mc:Fallback>
                <p:oleObj name="Equation" r:id="rId12" imgW="419040" imgH="228600" progId="Equation.DSMT4">
                  <p:embed/>
                  <p:pic>
                    <p:nvPicPr>
                      <p:cNvPr id="63509" name="Object 2"/>
                      <p:cNvPicPr>
                        <a:picLocks noChangeAspect="1" noChangeArrowheads="1"/>
                      </p:cNvPicPr>
                      <p:nvPr/>
                    </p:nvPicPr>
                    <p:blipFill>
                      <a:blip r:embed="rId13"/>
                      <a:srcRect/>
                      <a:stretch>
                        <a:fillRect/>
                      </a:stretch>
                    </p:blipFill>
                    <p:spPr bwMode="auto">
                      <a:xfrm>
                        <a:off x="491171" y="1703920"/>
                        <a:ext cx="1303337" cy="8064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a:extLst>
              <a:ext uri="{FF2B5EF4-FFF2-40B4-BE49-F238E27FC236}">
                <a16:creationId xmlns:a16="http://schemas.microsoft.com/office/drawing/2014/main" id="{622DFD66-6AEE-4C48-857E-BB1D73940C1C}"/>
              </a:ext>
            </a:extLst>
          </p:cNvPr>
          <p:cNvSpPr/>
          <p:nvPr/>
        </p:nvSpPr>
        <p:spPr>
          <a:xfrm>
            <a:off x="323528" y="1174610"/>
            <a:ext cx="4572000" cy="461665"/>
          </a:xfrm>
          <a:prstGeom prst="rect">
            <a:avLst/>
          </a:prstGeom>
        </p:spPr>
        <p:txBody>
          <a:bodyPr>
            <a:spAutoFit/>
          </a:bodyPr>
          <a:lstStyle/>
          <a:p>
            <a:pPr>
              <a:spcBef>
                <a:spcPct val="20000"/>
              </a:spcBef>
              <a:defRPr/>
            </a:pPr>
            <a:r>
              <a:rPr lang="zh-CN" altLang="en-US" b="1" kern="0"/>
              <a:t>由对称性可知：</a:t>
            </a:r>
            <a:endParaRPr lang="zh-CN" altLang="en-US" b="1" kern="0" dirty="0"/>
          </a:p>
        </p:txBody>
      </p:sp>
    </p:spTree>
    <p:extLst>
      <p:ext uri="{BB962C8B-B14F-4D97-AF65-F5344CB8AC3E}">
        <p14:creationId xmlns:p14="http://schemas.microsoft.com/office/powerpoint/2010/main" val="1464016801"/>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5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50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50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350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0-#ppt_w/2"/>
                                          </p:val>
                                        </p:tav>
                                        <p:tav tm="100000">
                                          <p:val>
                                            <p:strVal val="#ppt_x"/>
                                          </p:val>
                                        </p:tav>
                                      </p:tavLst>
                                    </p:anim>
                                    <p:anim calcmode="lin" valueType="num">
                                      <p:cBhvr additive="base">
                                        <p:cTn id="30" dur="500" fill="hold"/>
                                        <p:tgtEl>
                                          <p:spTgt spid="31"/>
                                        </p:tgtEl>
                                        <p:attrNameLst>
                                          <p:attrName>ppt_y</p:attrName>
                                        </p:attrNameLst>
                                      </p:cBhvr>
                                      <p:tavLst>
                                        <p:tav tm="0">
                                          <p:val>
                                            <p:strVal val="#ppt_y"/>
                                          </p:val>
                                        </p:tav>
                                        <p:tav tm="100000">
                                          <p:val>
                                            <p:strVal val="#ppt_y"/>
                                          </p:val>
                                        </p:tav>
                                      </p:tavLst>
                                    </p:anim>
                                  </p:childTnLst>
                                </p:cTn>
                              </p:par>
                              <p:par>
                                <p:cTn id="31" presetID="1" presetClass="entr" presetSubtype="0" fill="hold" grpId="0" nodeType="withEffect">
                                  <p:stCondLst>
                                    <p:cond delay="0"/>
                                  </p:stCondLst>
                                  <p:childTnLst>
                                    <p:set>
                                      <p:cBhvr>
                                        <p:cTn id="32" dur="1" fill="hold">
                                          <p:stCondLst>
                                            <p:cond delay="0"/>
                                          </p:stCondLst>
                                        </p:cTn>
                                        <p:tgtEl>
                                          <p:spTgt spid="6350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63509"/>
                                        </p:tgtEl>
                                        <p:attrNameLst>
                                          <p:attrName>style.visibility</p:attrName>
                                        </p:attrNameLst>
                                      </p:cBhvr>
                                      <p:to>
                                        <p:strVal val="visible"/>
                                      </p:to>
                                    </p:set>
                                    <p:anim calcmode="lin" valueType="num">
                                      <p:cBhvr additive="base">
                                        <p:cTn id="39" dur="500" fill="hold"/>
                                        <p:tgtEl>
                                          <p:spTgt spid="63509"/>
                                        </p:tgtEl>
                                        <p:attrNameLst>
                                          <p:attrName>ppt_x</p:attrName>
                                        </p:attrNameLst>
                                      </p:cBhvr>
                                      <p:tavLst>
                                        <p:tav tm="0">
                                          <p:val>
                                            <p:strVal val="0-#ppt_w/2"/>
                                          </p:val>
                                        </p:tav>
                                        <p:tav tm="100000">
                                          <p:val>
                                            <p:strVal val="#ppt_x"/>
                                          </p:val>
                                        </p:tav>
                                      </p:tavLst>
                                    </p:anim>
                                    <p:anim calcmode="lin" valueType="num">
                                      <p:cBhvr additive="base">
                                        <p:cTn id="40" dur="500" fill="hold"/>
                                        <p:tgtEl>
                                          <p:spTgt spid="63509"/>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63519"/>
                                        </p:tgtEl>
                                        <p:attrNameLst>
                                          <p:attrName>style.visibility</p:attrName>
                                        </p:attrNameLst>
                                      </p:cBhvr>
                                      <p:to>
                                        <p:strVal val="visible"/>
                                      </p:to>
                                    </p:set>
                                    <p:anim calcmode="lin" valueType="num">
                                      <p:cBhvr additive="base">
                                        <p:cTn id="45" dur="500" fill="hold"/>
                                        <p:tgtEl>
                                          <p:spTgt spid="63519"/>
                                        </p:tgtEl>
                                        <p:attrNameLst>
                                          <p:attrName>ppt_x</p:attrName>
                                        </p:attrNameLst>
                                      </p:cBhvr>
                                      <p:tavLst>
                                        <p:tav tm="0">
                                          <p:val>
                                            <p:strVal val="0-#ppt_w/2"/>
                                          </p:val>
                                        </p:tav>
                                        <p:tav tm="100000">
                                          <p:val>
                                            <p:strVal val="#ppt_x"/>
                                          </p:val>
                                        </p:tav>
                                      </p:tavLst>
                                    </p:anim>
                                    <p:anim calcmode="lin" valueType="num">
                                      <p:cBhvr additive="base">
                                        <p:cTn id="46" dur="500" fill="hold"/>
                                        <p:tgtEl>
                                          <p:spTgt spid="63519"/>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63520"/>
                                        </p:tgtEl>
                                        <p:attrNameLst>
                                          <p:attrName>style.visibility</p:attrName>
                                        </p:attrNameLst>
                                      </p:cBhvr>
                                      <p:to>
                                        <p:strVal val="visible"/>
                                      </p:to>
                                    </p:set>
                                    <p:animEffect transition="in" filter="randombar(horizontal)">
                                      <p:cBhvr>
                                        <p:cTn id="51" dur="500"/>
                                        <p:tgtEl>
                                          <p:spTgt spid="63520"/>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nodeType="clickEffect">
                                  <p:stCondLst>
                                    <p:cond delay="0"/>
                                  </p:stCondLst>
                                  <p:childTnLst>
                                    <p:set>
                                      <p:cBhvr>
                                        <p:cTn id="55" dur="1" fill="hold">
                                          <p:stCondLst>
                                            <p:cond delay="0"/>
                                          </p:stCondLst>
                                        </p:cTn>
                                        <p:tgtEl>
                                          <p:spTgt spid="63521"/>
                                        </p:tgtEl>
                                        <p:attrNameLst>
                                          <p:attrName>style.visibility</p:attrName>
                                        </p:attrNameLst>
                                      </p:cBhvr>
                                      <p:to>
                                        <p:strVal val="visible"/>
                                      </p:to>
                                    </p:set>
                                    <p:animEffect transition="in" filter="randombar(horizontal)">
                                      <p:cBhvr>
                                        <p:cTn id="56" dur="500"/>
                                        <p:tgtEl>
                                          <p:spTgt spid="63521"/>
                                        </p:tgtEl>
                                      </p:cBhvr>
                                    </p:animEffec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63523"/>
                                        </p:tgtEl>
                                        <p:attrNameLst>
                                          <p:attrName>style.visibility</p:attrName>
                                        </p:attrNameLst>
                                      </p:cBhvr>
                                      <p:to>
                                        <p:strVal val="visible"/>
                                      </p:to>
                                    </p:set>
                                    <p:animEffect transition="in" filter="randombar(horizontal)">
                                      <p:cBhvr>
                                        <p:cTn id="61" dur="500"/>
                                        <p:tgtEl>
                                          <p:spTgt spid="6352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63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4" grpId="0" animBg="1"/>
      <p:bldP spid="63505" grpId="0" animBg="1"/>
      <p:bldP spid="63506" grpId="0" animBg="1"/>
      <p:bldP spid="63507" grpId="0"/>
      <p:bldP spid="63508" grpId="0"/>
      <p:bldP spid="63523" grpId="0" animBg="1"/>
      <p:bldP spid="63524" grpId="0"/>
      <p:bldP spid="28" grpId="0" animBg="1"/>
      <p:bldP spid="3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灯片编号占位符 5"/>
          <p:cNvSpPr>
            <a:spLocks noGrp="1"/>
          </p:cNvSpPr>
          <p:nvPr>
            <p:ph type="sldNum" sz="quarter" idx="12"/>
          </p:nvPr>
        </p:nvSpPr>
        <p:spPr/>
        <p:txBody>
          <a:bodyPr/>
          <a:lstStyle/>
          <a:p>
            <a:pPr>
              <a:defRPr/>
            </a:pPr>
            <a:fld id="{A4839D44-684E-422A-A221-FF953DBCC462}" type="slidenum">
              <a:rPr lang="en-US" altLang="zh-CN" smtClean="0"/>
              <a:pPr>
                <a:defRPr/>
              </a:pPr>
              <a:t>41</a:t>
            </a:fld>
            <a:endParaRPr lang="en-US" altLang="zh-CN"/>
          </a:p>
        </p:txBody>
      </p:sp>
      <p:sp>
        <p:nvSpPr>
          <p:cNvPr id="39946" name="Text Box 16"/>
          <p:cNvSpPr txBox="1">
            <a:spLocks noChangeArrowheads="1"/>
          </p:cNvSpPr>
          <p:nvPr/>
        </p:nvSpPr>
        <p:spPr bwMode="auto">
          <a:xfrm>
            <a:off x="308887" y="189707"/>
            <a:ext cx="7489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a:solidFill>
                  <a:srgbClr val="000C0C"/>
                </a:solidFill>
                <a:latin typeface="楷体_GB2312" pitchFamily="49" charset="-122"/>
              </a:rPr>
              <a:t>例题</a:t>
            </a:r>
            <a:r>
              <a:rPr lang="en-US" altLang="zh-CN" sz="2800" b="1">
                <a:solidFill>
                  <a:srgbClr val="000C0C"/>
                </a:solidFill>
                <a:latin typeface="楷体_GB2312" pitchFamily="49" charset="-122"/>
              </a:rPr>
              <a:t>2.</a:t>
            </a:r>
            <a:r>
              <a:rPr lang="zh-CN" altLang="en-US" sz="2800" b="1">
                <a:solidFill>
                  <a:srgbClr val="000C0C"/>
                </a:solidFill>
                <a:latin typeface="楷体_GB2312" pitchFamily="49" charset="-122"/>
              </a:rPr>
              <a:t> 求半径为</a:t>
            </a:r>
            <a:r>
              <a:rPr lang="en-US" altLang="zh-CN" sz="2800" b="1">
                <a:solidFill>
                  <a:srgbClr val="000C0C"/>
                </a:solidFill>
                <a:latin typeface="楷体_GB2312" pitchFamily="49" charset="-122"/>
              </a:rPr>
              <a:t>a</a:t>
            </a:r>
            <a:r>
              <a:rPr lang="zh-CN" altLang="en-US" sz="2800" b="1">
                <a:solidFill>
                  <a:srgbClr val="000C0C"/>
                </a:solidFill>
                <a:latin typeface="楷体_GB2312" pitchFamily="49" charset="-122"/>
              </a:rPr>
              <a:t>的均质半圆球的质心</a:t>
            </a:r>
          </a:p>
        </p:txBody>
      </p:sp>
      <p:sp>
        <p:nvSpPr>
          <p:cNvPr id="440337" name="Text Box 17"/>
          <p:cNvSpPr txBox="1">
            <a:spLocks noChangeArrowheads="1"/>
          </p:cNvSpPr>
          <p:nvPr/>
        </p:nvSpPr>
        <p:spPr bwMode="auto">
          <a:xfrm>
            <a:off x="365305" y="958057"/>
            <a:ext cx="82232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dirty="0">
                <a:solidFill>
                  <a:srgbClr val="000C0C"/>
                </a:solidFill>
                <a:latin typeface="楷体_GB2312" pitchFamily="49" charset="-122"/>
              </a:rPr>
              <a:t>解：如图，以球心</a:t>
            </a:r>
            <a:r>
              <a:rPr lang="en-US" altLang="zh-CN" b="1" dirty="0">
                <a:solidFill>
                  <a:srgbClr val="000C0C"/>
                </a:solidFill>
                <a:latin typeface="楷体_GB2312" pitchFamily="49" charset="-122"/>
              </a:rPr>
              <a:t>O</a:t>
            </a:r>
            <a:r>
              <a:rPr lang="zh-CN" altLang="en-US" b="1" dirty="0">
                <a:solidFill>
                  <a:srgbClr val="000C0C"/>
                </a:solidFill>
                <a:latin typeface="楷体_GB2312" pitchFamily="49" charset="-122"/>
              </a:rPr>
              <a:t>为原点建立坐标系</a:t>
            </a:r>
            <a:r>
              <a:rPr lang="en-US" altLang="zh-CN" b="1" dirty="0">
                <a:solidFill>
                  <a:srgbClr val="000C0C"/>
                </a:solidFill>
                <a:latin typeface="楷体_GB2312" pitchFamily="49" charset="-122"/>
              </a:rPr>
              <a:t>.</a:t>
            </a:r>
            <a:r>
              <a:rPr lang="zh-CN" altLang="en-US" b="1" dirty="0">
                <a:solidFill>
                  <a:srgbClr val="000C0C"/>
                </a:solidFill>
                <a:latin typeface="楷体_GB2312" pitchFamily="49" charset="-122"/>
              </a:rPr>
              <a:t>将半球体划分为若干半径为</a:t>
            </a:r>
            <a:r>
              <a:rPr lang="en-US" altLang="zh-CN" b="1" i="1" dirty="0">
                <a:solidFill>
                  <a:srgbClr val="000C0C"/>
                </a:solidFill>
                <a:latin typeface="楷体_GB2312" pitchFamily="49" charset="-122"/>
              </a:rPr>
              <a:t>r </a:t>
            </a:r>
            <a:r>
              <a:rPr lang="zh-CN" altLang="en-US" b="1" dirty="0">
                <a:solidFill>
                  <a:srgbClr val="000C0C"/>
                </a:solidFill>
                <a:latin typeface="楷体_GB2312" pitchFamily="49" charset="-122"/>
              </a:rPr>
              <a:t>厚为</a:t>
            </a:r>
            <a:r>
              <a:rPr lang="en-US" altLang="zh-CN" b="1" dirty="0" err="1">
                <a:solidFill>
                  <a:srgbClr val="000C0C"/>
                </a:solidFill>
                <a:latin typeface="楷体_GB2312" pitchFamily="49" charset="-122"/>
              </a:rPr>
              <a:t>d</a:t>
            </a:r>
            <a:r>
              <a:rPr lang="en-US" altLang="zh-CN" b="1" i="1" dirty="0" err="1">
                <a:solidFill>
                  <a:srgbClr val="000C0C"/>
                </a:solidFill>
                <a:latin typeface="楷体_GB2312" pitchFamily="49" charset="-122"/>
              </a:rPr>
              <a:t>z</a:t>
            </a:r>
            <a:r>
              <a:rPr lang="en-US" altLang="zh-CN" b="1" i="1" dirty="0">
                <a:solidFill>
                  <a:srgbClr val="000C0C"/>
                </a:solidFill>
                <a:latin typeface="楷体_GB2312" pitchFamily="49" charset="-122"/>
              </a:rPr>
              <a:t> </a:t>
            </a:r>
            <a:r>
              <a:rPr lang="zh-CN" altLang="en-US" b="1" dirty="0">
                <a:solidFill>
                  <a:srgbClr val="000C0C"/>
                </a:solidFill>
                <a:latin typeface="楷体_GB2312" pitchFamily="49" charset="-122"/>
              </a:rPr>
              <a:t>的平板状薄圆，体积元为</a:t>
            </a:r>
            <a:r>
              <a:rPr lang="en-US" altLang="zh-CN" b="1" dirty="0" err="1">
                <a:solidFill>
                  <a:srgbClr val="000C0C"/>
                </a:solidFill>
                <a:latin typeface="楷体_GB2312" pitchFamily="49" charset="-122"/>
              </a:rPr>
              <a:t>d</a:t>
            </a:r>
            <a:r>
              <a:rPr lang="en-US" altLang="zh-CN" b="1" i="1" dirty="0" err="1">
                <a:solidFill>
                  <a:srgbClr val="000C0C"/>
                </a:solidFill>
                <a:latin typeface="楷体_GB2312" pitchFamily="49" charset="-122"/>
              </a:rPr>
              <a:t>V</a:t>
            </a:r>
            <a:endParaRPr lang="en-US" altLang="zh-CN" b="1" i="1" dirty="0">
              <a:solidFill>
                <a:srgbClr val="000C0C"/>
              </a:solidFill>
              <a:latin typeface="楷体_GB2312" pitchFamily="49" charset="-122"/>
            </a:endParaRPr>
          </a:p>
        </p:txBody>
      </p:sp>
      <mc:AlternateContent xmlns:mc="http://schemas.openxmlformats.org/markup-compatibility/2006" xmlns:a14="http://schemas.microsoft.com/office/drawing/2010/main">
        <mc:Choice Requires="a14">
          <p:sp>
            <p:nvSpPr>
              <p:cNvPr id="440338" name="Object 2"/>
              <p:cNvSpPr txBox="1"/>
              <p:nvPr/>
            </p:nvSpPr>
            <p:spPr bwMode="auto">
              <a:xfrm>
                <a:off x="1871384" y="1842280"/>
                <a:ext cx="1685925" cy="447675"/>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𝑑𝑉</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𝑑𝑧</m:t>
                      </m:r>
                    </m:oMath>
                  </m:oMathPara>
                </a14:m>
                <a:endParaRPr lang="zh-CN" altLang="en-US" dirty="0"/>
              </a:p>
            </p:txBody>
          </p:sp>
        </mc:Choice>
        <mc:Fallback xmlns="">
          <p:sp>
            <p:nvSpPr>
              <p:cNvPr id="440338" name="Object 2"/>
              <p:cNvSpPr txBox="1">
                <a:spLocks noRot="1" noChangeAspect="1" noMove="1" noResize="1" noEditPoints="1" noAdjustHandles="1" noChangeArrowheads="1" noChangeShapeType="1" noTextEdit="1"/>
              </p:cNvSpPr>
              <p:nvPr/>
            </p:nvSpPr>
            <p:spPr bwMode="auto">
              <a:xfrm>
                <a:off x="1871384" y="1842280"/>
                <a:ext cx="1685925" cy="447675"/>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440340" name="Text Box 20"/>
          <p:cNvSpPr txBox="1">
            <a:spLocks noChangeArrowheads="1"/>
          </p:cNvSpPr>
          <p:nvPr/>
        </p:nvSpPr>
        <p:spPr bwMode="auto">
          <a:xfrm>
            <a:off x="790576" y="2379663"/>
            <a:ext cx="525462" cy="461665"/>
          </a:xfrm>
          <a:prstGeom prst="rect">
            <a:avLst/>
          </a:prstGeom>
          <a:noFill/>
          <a:ln w="12700">
            <a:noFill/>
            <a:miter lim="800000"/>
            <a:headEnd type="none" w="sm" len="sm"/>
            <a:tailEnd type="none" w="sm" len="sm"/>
          </a:ln>
          <a:effectLst/>
        </p:spPr>
        <p:txBody>
          <a:bodyPr wrap="square">
            <a:spAutoFit/>
          </a:bodyPr>
          <a:lstStyle/>
          <a:p>
            <a:pPr>
              <a:spcBef>
                <a:spcPct val="20000"/>
              </a:spcBef>
              <a:defRPr/>
            </a:pPr>
            <a:r>
              <a:rPr lang="zh-CN" altLang="en-US">
                <a:solidFill>
                  <a:srgbClr val="000C0C"/>
                </a:solidFill>
                <a:latin typeface="楷体_GB2312" pitchFamily="49" charset="-122"/>
              </a:rPr>
              <a:t>而</a:t>
            </a:r>
            <a:endParaRPr lang="zh-CN" altLang="en-US">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40341" name="Object 3"/>
              <p:cNvSpPr txBox="1"/>
              <p:nvPr/>
            </p:nvSpPr>
            <p:spPr bwMode="auto">
              <a:xfrm>
                <a:off x="1331913" y="2364381"/>
                <a:ext cx="3963987" cy="43180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𝜃</m:t>
                          </m:r>
                        </m:e>
                      </m:func>
                      <m:m>
                        <m:mPr>
                          <m:plcHide m:val="on"/>
                          <m:mcs>
                            <m:mc>
                              <m:mcPr>
                                <m:count m:val="2"/>
                                <m:mcJc m:val="center"/>
                              </m:mcPr>
                            </m:mc>
                          </m:mcs>
                          <m:ctrlPr>
                            <a:rPr lang="zh-CN" altLang="en-US" i="1">
                              <a:solidFill>
                                <a:srgbClr val="000000"/>
                              </a:solidFill>
                              <a:latin typeface="Cambria Math" panose="02040503050406030204" pitchFamily="18" charset="0"/>
                            </a:rPr>
                          </m:ctrlPr>
                        </m:mPr>
                        <m:mr>
                          <m:e/>
                          <m:e/>
                        </m:mr>
                      </m:m>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r>
                        <a:rPr lang="zh-CN" altLang="en-US" i="1">
                          <a:solidFill>
                            <a:srgbClr val="000000"/>
                          </a:solidFill>
                          <a:latin typeface="Cambria Math" panose="02040503050406030204" pitchFamily="18" charset="0"/>
                        </a:rPr>
                        <m:t>,</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oMath>
                  </m:oMathPara>
                </a14:m>
                <a:endParaRPr lang="zh-CN" altLang="en-US" dirty="0"/>
              </a:p>
            </p:txBody>
          </p:sp>
        </mc:Choice>
        <mc:Fallback xmlns="">
          <p:sp>
            <p:nvSpPr>
              <p:cNvPr id="440341" name="Object 3"/>
              <p:cNvSpPr txBox="1">
                <a:spLocks noRot="1" noChangeAspect="1" noMove="1" noResize="1" noEditPoints="1" noAdjustHandles="1" noChangeArrowheads="1" noChangeShapeType="1" noTextEdit="1"/>
              </p:cNvSpPr>
              <p:nvPr/>
            </p:nvSpPr>
            <p:spPr bwMode="auto">
              <a:xfrm>
                <a:off x="1331913" y="2364381"/>
                <a:ext cx="3963987" cy="431800"/>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440343" name="Text Box 23"/>
          <p:cNvSpPr txBox="1">
            <a:spLocks noChangeArrowheads="1"/>
          </p:cNvSpPr>
          <p:nvPr/>
        </p:nvSpPr>
        <p:spPr bwMode="auto">
          <a:xfrm>
            <a:off x="684213" y="4149725"/>
            <a:ext cx="2295821" cy="461665"/>
          </a:xfrm>
          <a:prstGeom prst="rect">
            <a:avLst/>
          </a:prstGeom>
          <a:noFill/>
          <a:ln w="12700">
            <a:noFill/>
            <a:miter lim="800000"/>
            <a:headEnd type="none" w="sm" len="sm"/>
            <a:tailEnd type="none" w="sm" len="sm"/>
          </a:ln>
          <a:effectLst/>
        </p:spPr>
        <p:txBody>
          <a:bodyPr wrap="none">
            <a:spAutoFit/>
          </a:bodyPr>
          <a:lstStyle/>
          <a:p>
            <a:pPr>
              <a:spcBef>
                <a:spcPct val="20000"/>
              </a:spcBef>
              <a:defRPr/>
            </a:pPr>
            <a:r>
              <a:rPr lang="zh-CN" altLang="en-US" dirty="0">
                <a:solidFill>
                  <a:srgbClr val="000C0C"/>
                </a:solidFill>
                <a:latin typeface="楷体_GB2312" pitchFamily="49" charset="-122"/>
              </a:rPr>
              <a:t>设             ，则</a:t>
            </a:r>
            <a:endParaRPr lang="zh-CN" altLang="en-US" dirty="0">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40344" name="Object 4"/>
              <p:cNvSpPr txBox="1"/>
              <p:nvPr/>
            </p:nvSpPr>
            <p:spPr bwMode="auto">
              <a:xfrm>
                <a:off x="1092085" y="4190985"/>
                <a:ext cx="1239084" cy="457200"/>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𝑢</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oMath>
                  </m:oMathPara>
                </a14:m>
                <a:endParaRPr lang="zh-CN" altLang="en-US" dirty="0"/>
              </a:p>
            </p:txBody>
          </p:sp>
        </mc:Choice>
        <mc:Fallback xmlns="">
          <p:sp>
            <p:nvSpPr>
              <p:cNvPr id="440344" name="Object 4"/>
              <p:cNvSpPr txBox="1">
                <a:spLocks noRot="1" noChangeAspect="1" noMove="1" noResize="1" noEditPoints="1" noAdjustHandles="1" noChangeArrowheads="1" noChangeShapeType="1" noTextEdit="1"/>
              </p:cNvSpPr>
              <p:nvPr/>
            </p:nvSpPr>
            <p:spPr bwMode="auto">
              <a:xfrm>
                <a:off x="1092085" y="4190985"/>
                <a:ext cx="1239084" cy="457200"/>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345" name="Object 5"/>
              <p:cNvSpPr txBox="1"/>
              <p:nvPr/>
            </p:nvSpPr>
            <p:spPr bwMode="auto">
              <a:xfrm>
                <a:off x="-100146" y="4729472"/>
                <a:ext cx="6745288" cy="2232025"/>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𝑧</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𝑣</m:t>
                              </m:r>
                            </m:sub>
                            <m:sup/>
                            <m:e>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𝑑𝑉</m:t>
                              </m:r>
                            </m:e>
                          </m:nary>
                        </m:num>
                        <m:den>
                          <m:nary>
                            <m:naryPr>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𝑣</m:t>
                              </m:r>
                            </m:sub>
                            <m:sup/>
                            <m:e>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𝑑𝑉</m:t>
                              </m:r>
                            </m:e>
                          </m:nary>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𝑧𝑑𝑉</m:t>
                              </m:r>
                            </m:e>
                          </m:nary>
                        </m:num>
                        <m:den>
                          <m:r>
                            <a:rPr lang="zh-CN" altLang="en-US" i="1">
                              <a:solidFill>
                                <a:srgbClr val="000000"/>
                              </a:solidFill>
                              <a:latin typeface="Cambria Math" panose="02040503050406030204" pitchFamily="18" charset="0"/>
                            </a:rPr>
                            <m:t>𝑉</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4</m:t>
                                  </m:r>
                                </m:sup>
                              </m:sSup>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1</m:t>
                                  </m:r>
                                </m:sup>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𝑢</m:t>
                                          </m:r>
                                        </m:e>
                                        <m:sup>
                                          <m:r>
                                            <a:rPr lang="zh-CN" altLang="en-US" i="1">
                                              <a:solidFill>
                                                <a:srgbClr val="000000"/>
                                              </a:solidFill>
                                              <a:latin typeface="Cambria Math" panose="02040503050406030204" pitchFamily="18" charset="0"/>
                                            </a:rPr>
                                            <m:t>2</m:t>
                                          </m:r>
                                        </m:sup>
                                      </m:sSup>
                                    </m:e>
                                  </m:d>
                                  <m:r>
                                    <a:rPr lang="zh-CN" altLang="en-US" i="1">
                                      <a:solidFill>
                                        <a:srgbClr val="000000"/>
                                      </a:solidFill>
                                      <a:latin typeface="Cambria Math" panose="02040503050406030204" pitchFamily="18" charset="0"/>
                                    </a:rPr>
                                    <m:t>𝑢𝑑𝑢</m:t>
                                  </m:r>
                                </m:e>
                              </m:nary>
                            </m:e>
                          </m:d>
                        </m:num>
                        <m:den>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3</m:t>
                                  </m:r>
                                </m:den>
                              </m:f>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3</m:t>
                                  </m:r>
                                </m:sup>
                              </m:sSup>
                            </m:e>
                          </m:d>
                        </m:den>
                      </m:f>
                    </m:oMath>
                    <m:oMath xmlns:m="http://schemas.openxmlformats.org/officeDocument/2006/math">
                      <m:m>
                        <m:mPr>
                          <m:plcHide m:val="on"/>
                          <m:mcs>
                            <m:mc>
                              <m:mcPr>
                                <m:count m:val="2"/>
                                <m:mcJc m:val="center"/>
                              </m:mcPr>
                            </m:mc>
                          </m:mcs>
                          <m:ctrlPr>
                            <a:rPr lang="zh-CN" altLang="en-US" i="1">
                              <a:solidFill>
                                <a:srgbClr val="000000"/>
                              </a:solidFill>
                              <a:latin typeface="Cambria Math" panose="02040503050406030204" pitchFamily="18" charset="0"/>
                            </a:rPr>
                          </m:ctrlPr>
                        </m:mPr>
                        <m:mr>
                          <m:e/>
                          <m:e>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m:t>
                                </m:r>
                              </m:num>
                              <m:den>
                                <m:r>
                                  <a:rPr lang="zh-CN" altLang="en-US" i="1">
                                    <a:solidFill>
                                      <a:srgbClr val="000000"/>
                                    </a:solidFill>
                                    <a:latin typeface="Cambria Math" panose="02040503050406030204" pitchFamily="18" charset="0"/>
                                  </a:rPr>
                                  <m:t>2</m:t>
                                </m:r>
                              </m:den>
                            </m:f>
                          </m:e>
                        </m:mr>
                      </m:m>
                      <m:r>
                        <a:rPr lang="zh-CN" altLang="en-US" i="1">
                          <a:solidFill>
                            <a:srgbClr val="000000"/>
                          </a:solidFill>
                          <a:latin typeface="Cambria Math" panose="02040503050406030204" pitchFamily="18" charset="0"/>
                        </a:rPr>
                        <m:t>𝑎</m:t>
                      </m:r>
                      <m:d>
                        <m:dPr>
                          <m:begChr m:val="["/>
                          <m:endChr m:val="]"/>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d>
                                <m:dPr>
                                  <m:begChr m:val=""/>
                                  <m:endChr m:val="|"/>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𝑢</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den>
                                  </m:f>
                                </m:e>
                              </m:d>
                            </m:e>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d>
                                <m:dPr>
                                  <m:begChr m:val=""/>
                                  <m:endChr m:val="|"/>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𝑢</m:t>
                                          </m:r>
                                        </m:e>
                                        <m:sup>
                                          <m:r>
                                            <a:rPr lang="zh-CN" altLang="en-US" i="1">
                                              <a:solidFill>
                                                <a:srgbClr val="000000"/>
                                              </a:solidFill>
                                              <a:latin typeface="Cambria Math" panose="02040503050406030204" pitchFamily="18" charset="0"/>
                                            </a:rPr>
                                            <m:t>4</m:t>
                                          </m:r>
                                        </m:sup>
                                      </m:sSup>
                                    </m:num>
                                    <m:den>
                                      <m:r>
                                        <a:rPr lang="zh-CN" altLang="en-US" i="1">
                                          <a:solidFill>
                                            <a:srgbClr val="000000"/>
                                          </a:solidFill>
                                          <a:latin typeface="Cambria Math" panose="02040503050406030204" pitchFamily="18" charset="0"/>
                                        </a:rPr>
                                        <m:t>4</m:t>
                                      </m:r>
                                    </m:den>
                                  </m:f>
                                </m:e>
                              </m:d>
                            </m:e>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1</m:t>
                              </m:r>
                            </m:sup>
                          </m:sSubSup>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𝑎</m:t>
                          </m:r>
                        </m:num>
                        <m:den>
                          <m:r>
                            <a:rPr lang="zh-CN" altLang="en-US" i="1">
                              <a:solidFill>
                                <a:srgbClr val="000000"/>
                              </a:solidFill>
                              <a:latin typeface="Cambria Math" panose="02040503050406030204" pitchFamily="18" charset="0"/>
                            </a:rPr>
                            <m:t>8</m:t>
                          </m:r>
                        </m:den>
                      </m:f>
                    </m:oMath>
                  </m:oMathPara>
                </a14:m>
                <a:endParaRPr lang="zh-CN" altLang="en-US" dirty="0"/>
              </a:p>
            </p:txBody>
          </p:sp>
        </mc:Choice>
        <mc:Fallback xmlns="">
          <p:sp>
            <p:nvSpPr>
              <p:cNvPr id="440345" name="Object 5"/>
              <p:cNvSpPr txBox="1">
                <a:spLocks noRot="1" noChangeAspect="1" noMove="1" noResize="1" noEditPoints="1" noAdjustHandles="1" noChangeArrowheads="1" noChangeShapeType="1" noTextEdit="1"/>
              </p:cNvSpPr>
              <p:nvPr/>
            </p:nvSpPr>
            <p:spPr bwMode="auto">
              <a:xfrm>
                <a:off x="-100146" y="4729472"/>
                <a:ext cx="6745288" cy="2232025"/>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39950" name="Rectangle 27"/>
          <p:cNvSpPr>
            <a:spLocks noChangeArrowheads="1"/>
          </p:cNvSpPr>
          <p:nvPr/>
        </p:nvSpPr>
        <p:spPr bwMode="auto">
          <a:xfrm>
            <a:off x="8524875" y="3541713"/>
            <a:ext cx="6191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39951" name="Text Box 28"/>
          <p:cNvSpPr txBox="1">
            <a:spLocks noChangeArrowheads="1"/>
          </p:cNvSpPr>
          <p:nvPr/>
        </p:nvSpPr>
        <p:spPr bwMode="auto">
          <a:xfrm>
            <a:off x="8807450" y="35734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a:solidFill>
                  <a:srgbClr val="000C0C"/>
                </a:solidFill>
                <a:latin typeface="楷体_GB2312" pitchFamily="49" charset="-122"/>
              </a:rPr>
              <a:t>x</a:t>
            </a:r>
          </a:p>
        </p:txBody>
      </p:sp>
      <p:sp>
        <p:nvSpPr>
          <p:cNvPr id="39952" name="Freeform 29"/>
          <p:cNvSpPr>
            <a:spLocks/>
          </p:cNvSpPr>
          <p:nvPr/>
        </p:nvSpPr>
        <p:spPr bwMode="auto">
          <a:xfrm>
            <a:off x="5630863" y="2732088"/>
            <a:ext cx="2586037" cy="1293812"/>
          </a:xfrm>
          <a:custGeom>
            <a:avLst/>
            <a:gdLst>
              <a:gd name="T0" fmla="*/ 2147483647 w 3259"/>
              <a:gd name="T1" fmla="*/ 2147483647 h 1629"/>
              <a:gd name="T2" fmla="*/ 2147483647 w 3259"/>
              <a:gd name="T3" fmla="*/ 2147483647 h 1629"/>
              <a:gd name="T4" fmla="*/ 2147483647 w 3259"/>
              <a:gd name="T5" fmla="*/ 2147483647 h 1629"/>
              <a:gd name="T6" fmla="*/ 2147483647 w 3259"/>
              <a:gd name="T7" fmla="*/ 2147483647 h 1629"/>
              <a:gd name="T8" fmla="*/ 2147483647 w 3259"/>
              <a:gd name="T9" fmla="*/ 2147483647 h 1629"/>
              <a:gd name="T10" fmla="*/ 2147483647 w 3259"/>
              <a:gd name="T11" fmla="*/ 2147483647 h 1629"/>
              <a:gd name="T12" fmla="*/ 2147483647 w 3259"/>
              <a:gd name="T13" fmla="*/ 2147483647 h 1629"/>
              <a:gd name="T14" fmla="*/ 2147483647 w 3259"/>
              <a:gd name="T15" fmla="*/ 2147483647 h 1629"/>
              <a:gd name="T16" fmla="*/ 2147483647 w 3259"/>
              <a:gd name="T17" fmla="*/ 2147483647 h 1629"/>
              <a:gd name="T18" fmla="*/ 2147483647 w 3259"/>
              <a:gd name="T19" fmla="*/ 2147483647 h 1629"/>
              <a:gd name="T20" fmla="*/ 2147483647 w 3259"/>
              <a:gd name="T21" fmla="*/ 2147483647 h 1629"/>
              <a:gd name="T22" fmla="*/ 2147483647 w 3259"/>
              <a:gd name="T23" fmla="*/ 2147483647 h 1629"/>
              <a:gd name="T24" fmla="*/ 2147483647 w 3259"/>
              <a:gd name="T25" fmla="*/ 2147483647 h 1629"/>
              <a:gd name="T26" fmla="*/ 2147483647 w 3259"/>
              <a:gd name="T27" fmla="*/ 2147483647 h 1629"/>
              <a:gd name="T28" fmla="*/ 2147483647 w 3259"/>
              <a:gd name="T29" fmla="*/ 2147483647 h 1629"/>
              <a:gd name="T30" fmla="*/ 2147483647 w 3259"/>
              <a:gd name="T31" fmla="*/ 2147483647 h 1629"/>
              <a:gd name="T32" fmla="*/ 2147483647 w 3259"/>
              <a:gd name="T33" fmla="*/ 2147483647 h 1629"/>
              <a:gd name="T34" fmla="*/ 2147483647 w 3259"/>
              <a:gd name="T35" fmla="*/ 2147483647 h 1629"/>
              <a:gd name="T36" fmla="*/ 2147483647 w 3259"/>
              <a:gd name="T37" fmla="*/ 0 h 1629"/>
              <a:gd name="T38" fmla="*/ 2147483647 w 3259"/>
              <a:gd name="T39" fmla="*/ 2147483647 h 1629"/>
              <a:gd name="T40" fmla="*/ 2147483647 w 3259"/>
              <a:gd name="T41" fmla="*/ 2147483647 h 1629"/>
              <a:gd name="T42" fmla="*/ 2147483647 w 3259"/>
              <a:gd name="T43" fmla="*/ 2147483647 h 1629"/>
              <a:gd name="T44" fmla="*/ 2147483647 w 3259"/>
              <a:gd name="T45" fmla="*/ 2147483647 h 1629"/>
              <a:gd name="T46" fmla="*/ 2147483647 w 3259"/>
              <a:gd name="T47" fmla="*/ 2147483647 h 1629"/>
              <a:gd name="T48" fmla="*/ 2147483647 w 3259"/>
              <a:gd name="T49" fmla="*/ 2147483647 h 1629"/>
              <a:gd name="T50" fmla="*/ 2147483647 w 3259"/>
              <a:gd name="T51" fmla="*/ 2147483647 h 1629"/>
              <a:gd name="T52" fmla="*/ 2147483647 w 3259"/>
              <a:gd name="T53" fmla="*/ 2147483647 h 1629"/>
              <a:gd name="T54" fmla="*/ 2147483647 w 3259"/>
              <a:gd name="T55" fmla="*/ 2147483647 h 1629"/>
              <a:gd name="T56" fmla="*/ 2147483647 w 3259"/>
              <a:gd name="T57" fmla="*/ 2147483647 h 1629"/>
              <a:gd name="T58" fmla="*/ 2147483647 w 3259"/>
              <a:gd name="T59" fmla="*/ 2147483647 h 1629"/>
              <a:gd name="T60" fmla="*/ 2147483647 w 3259"/>
              <a:gd name="T61" fmla="*/ 2147483647 h 1629"/>
              <a:gd name="T62" fmla="*/ 2147483647 w 3259"/>
              <a:gd name="T63" fmla="*/ 2147483647 h 1629"/>
              <a:gd name="T64" fmla="*/ 2147483647 w 3259"/>
              <a:gd name="T65" fmla="*/ 2147483647 h 1629"/>
              <a:gd name="T66" fmla="*/ 2147483647 w 3259"/>
              <a:gd name="T67" fmla="*/ 2147483647 h 1629"/>
              <a:gd name="T68" fmla="*/ 0 w 3259"/>
              <a:gd name="T69" fmla="*/ 2147483647 h 162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259"/>
              <a:gd name="T106" fmla="*/ 0 h 1629"/>
              <a:gd name="T107" fmla="*/ 3259 w 3259"/>
              <a:gd name="T108" fmla="*/ 1629 h 162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259" h="1629">
                <a:moveTo>
                  <a:pt x="1628" y="1629"/>
                </a:moveTo>
                <a:lnTo>
                  <a:pt x="1628" y="1628"/>
                </a:lnTo>
                <a:lnTo>
                  <a:pt x="1630" y="1628"/>
                </a:lnTo>
                <a:lnTo>
                  <a:pt x="1631" y="1628"/>
                </a:lnTo>
                <a:lnTo>
                  <a:pt x="1631" y="1629"/>
                </a:lnTo>
                <a:lnTo>
                  <a:pt x="3259" y="1629"/>
                </a:lnTo>
                <a:lnTo>
                  <a:pt x="3258" y="1545"/>
                </a:lnTo>
                <a:lnTo>
                  <a:pt x="3251" y="1462"/>
                </a:lnTo>
                <a:lnTo>
                  <a:pt x="3240" y="1381"/>
                </a:lnTo>
                <a:lnTo>
                  <a:pt x="3227" y="1300"/>
                </a:lnTo>
                <a:lnTo>
                  <a:pt x="3208" y="1222"/>
                </a:lnTo>
                <a:lnTo>
                  <a:pt x="3186" y="1145"/>
                </a:lnTo>
                <a:lnTo>
                  <a:pt x="3160" y="1068"/>
                </a:lnTo>
                <a:lnTo>
                  <a:pt x="3131" y="995"/>
                </a:lnTo>
                <a:lnTo>
                  <a:pt x="3098" y="922"/>
                </a:lnTo>
                <a:lnTo>
                  <a:pt x="3063" y="853"/>
                </a:lnTo>
                <a:lnTo>
                  <a:pt x="3023" y="784"/>
                </a:lnTo>
                <a:lnTo>
                  <a:pt x="2982" y="719"/>
                </a:lnTo>
                <a:lnTo>
                  <a:pt x="2936" y="654"/>
                </a:lnTo>
                <a:lnTo>
                  <a:pt x="2887" y="593"/>
                </a:lnTo>
                <a:lnTo>
                  <a:pt x="2836" y="534"/>
                </a:lnTo>
                <a:lnTo>
                  <a:pt x="2783" y="477"/>
                </a:lnTo>
                <a:lnTo>
                  <a:pt x="2725" y="423"/>
                </a:lnTo>
                <a:lnTo>
                  <a:pt x="2666" y="372"/>
                </a:lnTo>
                <a:lnTo>
                  <a:pt x="2606" y="323"/>
                </a:lnTo>
                <a:lnTo>
                  <a:pt x="2541" y="279"/>
                </a:lnTo>
                <a:lnTo>
                  <a:pt x="2476" y="236"/>
                </a:lnTo>
                <a:lnTo>
                  <a:pt x="2406" y="196"/>
                </a:lnTo>
                <a:lnTo>
                  <a:pt x="2337" y="161"/>
                </a:lnTo>
                <a:lnTo>
                  <a:pt x="2265" y="128"/>
                </a:lnTo>
                <a:lnTo>
                  <a:pt x="2191" y="99"/>
                </a:lnTo>
                <a:lnTo>
                  <a:pt x="2114" y="74"/>
                </a:lnTo>
                <a:lnTo>
                  <a:pt x="2037" y="52"/>
                </a:lnTo>
                <a:lnTo>
                  <a:pt x="1959" y="32"/>
                </a:lnTo>
                <a:lnTo>
                  <a:pt x="1878" y="19"/>
                </a:lnTo>
                <a:lnTo>
                  <a:pt x="1797" y="9"/>
                </a:lnTo>
                <a:lnTo>
                  <a:pt x="1714" y="1"/>
                </a:lnTo>
                <a:lnTo>
                  <a:pt x="1630" y="0"/>
                </a:lnTo>
                <a:lnTo>
                  <a:pt x="1546" y="1"/>
                </a:lnTo>
                <a:lnTo>
                  <a:pt x="1463" y="9"/>
                </a:lnTo>
                <a:lnTo>
                  <a:pt x="1382" y="19"/>
                </a:lnTo>
                <a:lnTo>
                  <a:pt x="1301" y="32"/>
                </a:lnTo>
                <a:lnTo>
                  <a:pt x="1223" y="52"/>
                </a:lnTo>
                <a:lnTo>
                  <a:pt x="1146" y="74"/>
                </a:lnTo>
                <a:lnTo>
                  <a:pt x="1069" y="99"/>
                </a:lnTo>
                <a:lnTo>
                  <a:pt x="995" y="128"/>
                </a:lnTo>
                <a:lnTo>
                  <a:pt x="923" y="161"/>
                </a:lnTo>
                <a:lnTo>
                  <a:pt x="854" y="196"/>
                </a:lnTo>
                <a:lnTo>
                  <a:pt x="784" y="236"/>
                </a:lnTo>
                <a:lnTo>
                  <a:pt x="719" y="279"/>
                </a:lnTo>
                <a:lnTo>
                  <a:pt x="654" y="323"/>
                </a:lnTo>
                <a:lnTo>
                  <a:pt x="594" y="372"/>
                </a:lnTo>
                <a:lnTo>
                  <a:pt x="535" y="423"/>
                </a:lnTo>
                <a:lnTo>
                  <a:pt x="477" y="477"/>
                </a:lnTo>
                <a:lnTo>
                  <a:pt x="424" y="534"/>
                </a:lnTo>
                <a:lnTo>
                  <a:pt x="372" y="593"/>
                </a:lnTo>
                <a:lnTo>
                  <a:pt x="324" y="654"/>
                </a:lnTo>
                <a:lnTo>
                  <a:pt x="279" y="719"/>
                </a:lnTo>
                <a:lnTo>
                  <a:pt x="237" y="784"/>
                </a:lnTo>
                <a:lnTo>
                  <a:pt x="197" y="853"/>
                </a:lnTo>
                <a:lnTo>
                  <a:pt x="161" y="922"/>
                </a:lnTo>
                <a:lnTo>
                  <a:pt x="129" y="995"/>
                </a:lnTo>
                <a:lnTo>
                  <a:pt x="99" y="1068"/>
                </a:lnTo>
                <a:lnTo>
                  <a:pt x="74" y="1145"/>
                </a:lnTo>
                <a:lnTo>
                  <a:pt x="52" y="1222"/>
                </a:lnTo>
                <a:lnTo>
                  <a:pt x="33" y="1300"/>
                </a:lnTo>
                <a:lnTo>
                  <a:pt x="20" y="1381"/>
                </a:lnTo>
                <a:lnTo>
                  <a:pt x="9" y="1462"/>
                </a:lnTo>
                <a:lnTo>
                  <a:pt x="2" y="1545"/>
                </a:lnTo>
                <a:lnTo>
                  <a:pt x="0" y="1629"/>
                </a:lnTo>
                <a:lnTo>
                  <a:pt x="1628" y="1629"/>
                </a:lnTo>
                <a:close/>
              </a:path>
            </a:pathLst>
          </a:custGeom>
          <a:solidFill>
            <a:srgbClr val="08F213"/>
          </a:solidFill>
          <a:ln w="28575" cmpd="sng">
            <a:solidFill>
              <a:srgbClr val="000C0C"/>
            </a:solidFill>
            <a:prstDash val="solid"/>
            <a:round/>
            <a:headEnd/>
            <a:tailEnd/>
          </a:ln>
        </p:spPr>
        <p:txBody>
          <a:bodyPr/>
          <a:lstStyle/>
          <a:p>
            <a:endParaRPr lang="zh-CN" altLang="en-US"/>
          </a:p>
        </p:txBody>
      </p:sp>
      <p:grpSp>
        <p:nvGrpSpPr>
          <p:cNvPr id="39953" name="Group 30"/>
          <p:cNvGrpSpPr>
            <a:grpSpLocks/>
          </p:cNvGrpSpPr>
          <p:nvPr/>
        </p:nvGrpSpPr>
        <p:grpSpPr bwMode="auto">
          <a:xfrm>
            <a:off x="6926263" y="2274888"/>
            <a:ext cx="2217737" cy="1797050"/>
            <a:chOff x="4451" y="1097"/>
            <a:chExt cx="1397" cy="1132"/>
          </a:xfrm>
        </p:grpSpPr>
        <p:grpSp>
          <p:nvGrpSpPr>
            <p:cNvPr id="39977" name="Group 31"/>
            <p:cNvGrpSpPr>
              <a:grpSpLocks/>
            </p:cNvGrpSpPr>
            <p:nvPr/>
          </p:nvGrpSpPr>
          <p:grpSpPr bwMode="auto">
            <a:xfrm>
              <a:off x="4484" y="2161"/>
              <a:ext cx="1364" cy="68"/>
              <a:chOff x="4484" y="2161"/>
              <a:chExt cx="1364" cy="68"/>
            </a:xfrm>
          </p:grpSpPr>
          <p:sp>
            <p:nvSpPr>
              <p:cNvPr id="39981" name="Line 32"/>
              <p:cNvSpPr>
                <a:spLocks noChangeShapeType="1"/>
              </p:cNvSpPr>
              <p:nvPr/>
            </p:nvSpPr>
            <p:spPr bwMode="auto">
              <a:xfrm>
                <a:off x="4484" y="2195"/>
                <a:ext cx="1299" cy="1"/>
              </a:xfrm>
              <a:prstGeom prst="line">
                <a:avLst/>
              </a:prstGeom>
              <a:noFill/>
              <a:ln w="28575">
                <a:solidFill>
                  <a:srgbClr val="000C0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82" name="Freeform 33"/>
              <p:cNvSpPr>
                <a:spLocks/>
              </p:cNvSpPr>
              <p:nvPr/>
            </p:nvSpPr>
            <p:spPr bwMode="auto">
              <a:xfrm>
                <a:off x="5782" y="2161"/>
                <a:ext cx="66" cy="68"/>
              </a:xfrm>
              <a:custGeom>
                <a:avLst/>
                <a:gdLst>
                  <a:gd name="T0" fmla="*/ 0 w 133"/>
                  <a:gd name="T1" fmla="*/ 1 h 134"/>
                  <a:gd name="T2" fmla="*/ 0 w 133"/>
                  <a:gd name="T3" fmla="*/ 1 h 134"/>
                  <a:gd name="T4" fmla="*/ 0 w 133"/>
                  <a:gd name="T5" fmla="*/ 0 h 134"/>
                  <a:gd name="T6" fmla="*/ 0 w 133"/>
                  <a:gd name="T7" fmla="*/ 1 h 134"/>
                  <a:gd name="T8" fmla="*/ 0 60000 65536"/>
                  <a:gd name="T9" fmla="*/ 0 60000 65536"/>
                  <a:gd name="T10" fmla="*/ 0 60000 65536"/>
                  <a:gd name="T11" fmla="*/ 0 60000 65536"/>
                  <a:gd name="T12" fmla="*/ 0 w 133"/>
                  <a:gd name="T13" fmla="*/ 0 h 134"/>
                  <a:gd name="T14" fmla="*/ 133 w 133"/>
                  <a:gd name="T15" fmla="*/ 134 h 134"/>
                </a:gdLst>
                <a:ahLst/>
                <a:cxnLst>
                  <a:cxn ang="T8">
                    <a:pos x="T0" y="T1"/>
                  </a:cxn>
                  <a:cxn ang="T9">
                    <a:pos x="T2" y="T3"/>
                  </a:cxn>
                  <a:cxn ang="T10">
                    <a:pos x="T4" y="T5"/>
                  </a:cxn>
                  <a:cxn ang="T11">
                    <a:pos x="T6" y="T7"/>
                  </a:cxn>
                </a:cxnLst>
                <a:rect l="T12" t="T13" r="T14" b="T15"/>
                <a:pathLst>
                  <a:path w="133" h="134">
                    <a:moveTo>
                      <a:pt x="0" y="134"/>
                    </a:moveTo>
                    <a:lnTo>
                      <a:pt x="133" y="66"/>
                    </a:lnTo>
                    <a:lnTo>
                      <a:pt x="0" y="0"/>
                    </a:lnTo>
                    <a:lnTo>
                      <a:pt x="0" y="134"/>
                    </a:lnTo>
                    <a:close/>
                  </a:path>
                </a:pathLst>
              </a:custGeom>
              <a:solidFill>
                <a:srgbClr val="000000"/>
              </a:solidFill>
              <a:ln w="28575" cmpd="sng">
                <a:solidFill>
                  <a:srgbClr val="000C0C"/>
                </a:solidFill>
                <a:round/>
                <a:headEnd/>
                <a:tailEnd/>
              </a:ln>
            </p:spPr>
            <p:txBody>
              <a:bodyPr/>
              <a:lstStyle/>
              <a:p>
                <a:endParaRPr lang="zh-CN" altLang="en-US"/>
              </a:p>
            </p:txBody>
          </p:sp>
        </p:grpSp>
        <p:grpSp>
          <p:nvGrpSpPr>
            <p:cNvPr id="39978" name="Group 34"/>
            <p:cNvGrpSpPr>
              <a:grpSpLocks/>
            </p:cNvGrpSpPr>
            <p:nvPr/>
          </p:nvGrpSpPr>
          <p:grpSpPr bwMode="auto">
            <a:xfrm>
              <a:off x="4451" y="1097"/>
              <a:ext cx="67" cy="1098"/>
              <a:chOff x="4451" y="1097"/>
              <a:chExt cx="67" cy="1098"/>
            </a:xfrm>
          </p:grpSpPr>
          <p:sp>
            <p:nvSpPr>
              <p:cNvPr id="39979" name="Line 35"/>
              <p:cNvSpPr>
                <a:spLocks noChangeShapeType="1"/>
              </p:cNvSpPr>
              <p:nvPr/>
            </p:nvSpPr>
            <p:spPr bwMode="auto">
              <a:xfrm flipV="1">
                <a:off x="4484" y="1161"/>
                <a:ext cx="1" cy="1034"/>
              </a:xfrm>
              <a:prstGeom prst="line">
                <a:avLst/>
              </a:prstGeom>
              <a:noFill/>
              <a:ln w="28575">
                <a:solidFill>
                  <a:srgbClr val="000C0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80" name="Freeform 36"/>
              <p:cNvSpPr>
                <a:spLocks/>
              </p:cNvSpPr>
              <p:nvPr/>
            </p:nvSpPr>
            <p:spPr bwMode="auto">
              <a:xfrm>
                <a:off x="4451" y="1097"/>
                <a:ext cx="67" cy="66"/>
              </a:xfrm>
              <a:custGeom>
                <a:avLst/>
                <a:gdLst>
                  <a:gd name="T0" fmla="*/ 1 w 134"/>
                  <a:gd name="T1" fmla="*/ 0 h 133"/>
                  <a:gd name="T2" fmla="*/ 1 w 134"/>
                  <a:gd name="T3" fmla="*/ 0 h 133"/>
                  <a:gd name="T4" fmla="*/ 0 w 134"/>
                  <a:gd name="T5" fmla="*/ 0 h 133"/>
                  <a:gd name="T6" fmla="*/ 1 w 134"/>
                  <a:gd name="T7" fmla="*/ 0 h 133"/>
                  <a:gd name="T8" fmla="*/ 0 60000 65536"/>
                  <a:gd name="T9" fmla="*/ 0 60000 65536"/>
                  <a:gd name="T10" fmla="*/ 0 60000 65536"/>
                  <a:gd name="T11" fmla="*/ 0 60000 65536"/>
                  <a:gd name="T12" fmla="*/ 0 w 134"/>
                  <a:gd name="T13" fmla="*/ 0 h 133"/>
                  <a:gd name="T14" fmla="*/ 134 w 134"/>
                  <a:gd name="T15" fmla="*/ 133 h 133"/>
                </a:gdLst>
                <a:ahLst/>
                <a:cxnLst>
                  <a:cxn ang="T8">
                    <a:pos x="T0" y="T1"/>
                  </a:cxn>
                  <a:cxn ang="T9">
                    <a:pos x="T2" y="T3"/>
                  </a:cxn>
                  <a:cxn ang="T10">
                    <a:pos x="T4" y="T5"/>
                  </a:cxn>
                  <a:cxn ang="T11">
                    <a:pos x="T6" y="T7"/>
                  </a:cxn>
                </a:cxnLst>
                <a:rect l="T12" t="T13" r="T14" b="T15"/>
                <a:pathLst>
                  <a:path w="134" h="133">
                    <a:moveTo>
                      <a:pt x="134" y="133"/>
                    </a:moveTo>
                    <a:lnTo>
                      <a:pt x="66" y="0"/>
                    </a:lnTo>
                    <a:lnTo>
                      <a:pt x="0" y="133"/>
                    </a:lnTo>
                    <a:lnTo>
                      <a:pt x="134" y="133"/>
                    </a:lnTo>
                    <a:close/>
                  </a:path>
                </a:pathLst>
              </a:custGeom>
              <a:solidFill>
                <a:srgbClr val="000000"/>
              </a:solidFill>
              <a:ln w="28575" cmpd="sng">
                <a:solidFill>
                  <a:srgbClr val="000C0C"/>
                </a:solidFill>
                <a:round/>
                <a:headEnd/>
                <a:tailEnd/>
              </a:ln>
            </p:spPr>
            <p:txBody>
              <a:bodyPr/>
              <a:lstStyle/>
              <a:p>
                <a:endParaRPr lang="zh-CN" altLang="en-US"/>
              </a:p>
            </p:txBody>
          </p:sp>
        </p:grpSp>
      </p:grpSp>
      <p:sp>
        <p:nvSpPr>
          <p:cNvPr id="39954" name="Line 38"/>
          <p:cNvSpPr>
            <a:spLocks noChangeShapeType="1"/>
          </p:cNvSpPr>
          <p:nvPr/>
        </p:nvSpPr>
        <p:spPr bwMode="auto">
          <a:xfrm flipV="1">
            <a:off x="8153400" y="3038475"/>
            <a:ext cx="554038" cy="9525"/>
          </a:xfrm>
          <a:prstGeom prst="line">
            <a:avLst/>
          </a:prstGeom>
          <a:noFill/>
          <a:ln w="15875">
            <a:solidFill>
              <a:srgbClr val="000C0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955" name="Group 39"/>
          <p:cNvGrpSpPr>
            <a:grpSpLocks/>
          </p:cNvGrpSpPr>
          <p:nvPr/>
        </p:nvGrpSpPr>
        <p:grpSpPr bwMode="auto">
          <a:xfrm>
            <a:off x="8362950" y="3668713"/>
            <a:ext cx="90488" cy="349250"/>
            <a:chOff x="5369" y="1982"/>
            <a:chExt cx="57" cy="220"/>
          </a:xfrm>
        </p:grpSpPr>
        <p:sp>
          <p:nvSpPr>
            <p:cNvPr id="39975" name="Line 40"/>
            <p:cNvSpPr>
              <a:spLocks noChangeShapeType="1"/>
            </p:cNvSpPr>
            <p:nvPr/>
          </p:nvSpPr>
          <p:spPr bwMode="auto">
            <a:xfrm>
              <a:off x="5398" y="1982"/>
              <a:ext cx="1" cy="135"/>
            </a:xfrm>
            <a:prstGeom prst="line">
              <a:avLst/>
            </a:prstGeom>
            <a:noFill/>
            <a:ln w="19050">
              <a:solidFill>
                <a:srgbClr val="000C0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76" name="Freeform 41"/>
            <p:cNvSpPr>
              <a:spLocks/>
            </p:cNvSpPr>
            <p:nvPr/>
          </p:nvSpPr>
          <p:spPr bwMode="auto">
            <a:xfrm>
              <a:off x="5369" y="2116"/>
              <a:ext cx="57" cy="86"/>
            </a:xfrm>
            <a:custGeom>
              <a:avLst/>
              <a:gdLst>
                <a:gd name="T0" fmla="*/ 0 w 114"/>
                <a:gd name="T1" fmla="*/ 0 h 173"/>
                <a:gd name="T2" fmla="*/ 1 w 114"/>
                <a:gd name="T3" fmla="*/ 0 h 173"/>
                <a:gd name="T4" fmla="*/ 1 w 114"/>
                <a:gd name="T5" fmla="*/ 0 h 173"/>
                <a:gd name="T6" fmla="*/ 0 w 114"/>
                <a:gd name="T7" fmla="*/ 0 h 173"/>
                <a:gd name="T8" fmla="*/ 0 60000 65536"/>
                <a:gd name="T9" fmla="*/ 0 60000 65536"/>
                <a:gd name="T10" fmla="*/ 0 60000 65536"/>
                <a:gd name="T11" fmla="*/ 0 60000 65536"/>
                <a:gd name="T12" fmla="*/ 0 w 114"/>
                <a:gd name="T13" fmla="*/ 0 h 173"/>
                <a:gd name="T14" fmla="*/ 114 w 114"/>
                <a:gd name="T15" fmla="*/ 173 h 173"/>
              </a:gdLst>
              <a:ahLst/>
              <a:cxnLst>
                <a:cxn ang="T8">
                  <a:pos x="T0" y="T1"/>
                </a:cxn>
                <a:cxn ang="T9">
                  <a:pos x="T2" y="T3"/>
                </a:cxn>
                <a:cxn ang="T10">
                  <a:pos x="T4" y="T5"/>
                </a:cxn>
                <a:cxn ang="T11">
                  <a:pos x="T6" y="T7"/>
                </a:cxn>
              </a:cxnLst>
              <a:rect l="T12" t="T13" r="T14" b="T15"/>
              <a:pathLst>
                <a:path w="114" h="173">
                  <a:moveTo>
                    <a:pt x="0" y="0"/>
                  </a:moveTo>
                  <a:lnTo>
                    <a:pt x="58" y="173"/>
                  </a:lnTo>
                  <a:lnTo>
                    <a:pt x="114" y="0"/>
                  </a:lnTo>
                  <a:lnTo>
                    <a:pt x="0" y="0"/>
                  </a:lnTo>
                  <a:close/>
                </a:path>
              </a:pathLst>
            </a:custGeom>
            <a:solidFill>
              <a:srgbClr val="000000"/>
            </a:solidFill>
            <a:ln w="19050">
              <a:solidFill>
                <a:srgbClr val="000C0C"/>
              </a:solidFill>
              <a:round/>
              <a:headEnd/>
              <a:tailEnd/>
            </a:ln>
          </p:spPr>
          <p:txBody>
            <a:bodyPr/>
            <a:lstStyle/>
            <a:p>
              <a:endParaRPr lang="zh-CN" altLang="en-US"/>
            </a:p>
          </p:txBody>
        </p:sp>
      </p:grpSp>
      <p:grpSp>
        <p:nvGrpSpPr>
          <p:cNvPr id="39956" name="Group 42"/>
          <p:cNvGrpSpPr>
            <a:grpSpLocks/>
          </p:cNvGrpSpPr>
          <p:nvPr/>
        </p:nvGrpSpPr>
        <p:grpSpPr bwMode="auto">
          <a:xfrm>
            <a:off x="8364538" y="3063875"/>
            <a:ext cx="90487" cy="379413"/>
            <a:chOff x="5370" y="1601"/>
            <a:chExt cx="57" cy="239"/>
          </a:xfrm>
        </p:grpSpPr>
        <p:sp>
          <p:nvSpPr>
            <p:cNvPr id="39973" name="Line 43"/>
            <p:cNvSpPr>
              <a:spLocks noChangeShapeType="1"/>
            </p:cNvSpPr>
            <p:nvPr/>
          </p:nvSpPr>
          <p:spPr bwMode="auto">
            <a:xfrm flipV="1">
              <a:off x="5398" y="1686"/>
              <a:ext cx="1" cy="154"/>
            </a:xfrm>
            <a:prstGeom prst="line">
              <a:avLst/>
            </a:prstGeom>
            <a:noFill/>
            <a:ln w="22225">
              <a:solidFill>
                <a:srgbClr val="000C0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74" name="Freeform 44"/>
            <p:cNvSpPr>
              <a:spLocks/>
            </p:cNvSpPr>
            <p:nvPr/>
          </p:nvSpPr>
          <p:spPr bwMode="auto">
            <a:xfrm>
              <a:off x="5370" y="1601"/>
              <a:ext cx="57" cy="87"/>
            </a:xfrm>
            <a:custGeom>
              <a:avLst/>
              <a:gdLst>
                <a:gd name="T0" fmla="*/ 1 w 114"/>
                <a:gd name="T1" fmla="*/ 1 h 172"/>
                <a:gd name="T2" fmla="*/ 1 w 114"/>
                <a:gd name="T3" fmla="*/ 0 h 172"/>
                <a:gd name="T4" fmla="*/ 0 w 114"/>
                <a:gd name="T5" fmla="*/ 1 h 172"/>
                <a:gd name="T6" fmla="*/ 1 w 114"/>
                <a:gd name="T7" fmla="*/ 1 h 172"/>
                <a:gd name="T8" fmla="*/ 0 60000 65536"/>
                <a:gd name="T9" fmla="*/ 0 60000 65536"/>
                <a:gd name="T10" fmla="*/ 0 60000 65536"/>
                <a:gd name="T11" fmla="*/ 0 60000 65536"/>
                <a:gd name="T12" fmla="*/ 0 w 114"/>
                <a:gd name="T13" fmla="*/ 0 h 172"/>
                <a:gd name="T14" fmla="*/ 114 w 114"/>
                <a:gd name="T15" fmla="*/ 172 h 172"/>
              </a:gdLst>
              <a:ahLst/>
              <a:cxnLst>
                <a:cxn ang="T8">
                  <a:pos x="T0" y="T1"/>
                </a:cxn>
                <a:cxn ang="T9">
                  <a:pos x="T2" y="T3"/>
                </a:cxn>
                <a:cxn ang="T10">
                  <a:pos x="T4" y="T5"/>
                </a:cxn>
                <a:cxn ang="T11">
                  <a:pos x="T6" y="T7"/>
                </a:cxn>
              </a:cxnLst>
              <a:rect l="T12" t="T13" r="T14" b="T15"/>
              <a:pathLst>
                <a:path w="114" h="172">
                  <a:moveTo>
                    <a:pt x="114" y="172"/>
                  </a:moveTo>
                  <a:lnTo>
                    <a:pt x="57" y="0"/>
                  </a:lnTo>
                  <a:lnTo>
                    <a:pt x="0" y="172"/>
                  </a:lnTo>
                  <a:lnTo>
                    <a:pt x="114" y="172"/>
                  </a:lnTo>
                  <a:close/>
                </a:path>
              </a:pathLst>
            </a:custGeom>
            <a:solidFill>
              <a:srgbClr val="000000"/>
            </a:solidFill>
            <a:ln w="22225">
              <a:solidFill>
                <a:srgbClr val="000C0C"/>
              </a:solidFill>
              <a:round/>
              <a:headEnd/>
              <a:tailEnd/>
            </a:ln>
          </p:spPr>
          <p:txBody>
            <a:bodyPr/>
            <a:lstStyle/>
            <a:p>
              <a:endParaRPr lang="zh-CN" altLang="en-US"/>
            </a:p>
          </p:txBody>
        </p:sp>
      </p:grpSp>
      <p:sp>
        <p:nvSpPr>
          <p:cNvPr id="39957" name="Line 45"/>
          <p:cNvSpPr>
            <a:spLocks noChangeShapeType="1"/>
          </p:cNvSpPr>
          <p:nvPr/>
        </p:nvSpPr>
        <p:spPr bwMode="auto">
          <a:xfrm flipH="1" flipV="1">
            <a:off x="6070600" y="3070225"/>
            <a:ext cx="887413" cy="9366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67" name="Line 47"/>
          <p:cNvSpPr>
            <a:spLocks noChangeShapeType="1"/>
          </p:cNvSpPr>
          <p:nvPr/>
        </p:nvSpPr>
        <p:spPr bwMode="auto">
          <a:xfrm>
            <a:off x="6072188" y="3078163"/>
            <a:ext cx="900112" cy="1587"/>
          </a:xfrm>
          <a:prstGeom prst="line">
            <a:avLst/>
          </a:prstGeom>
          <a:ln w="28575">
            <a:solidFill>
              <a:srgbClr val="FF0000"/>
            </a:solidFill>
            <a:headEnd/>
            <a:tailEnd/>
          </a:ln>
        </p:spPr>
        <p:style>
          <a:lnRef idx="1">
            <a:schemeClr val="accent2"/>
          </a:lnRef>
          <a:fillRef idx="0">
            <a:schemeClr val="accent2"/>
          </a:fillRef>
          <a:effectRef idx="0">
            <a:schemeClr val="accent2"/>
          </a:effectRef>
          <a:fontRef idx="minor">
            <a:schemeClr val="tx1"/>
          </a:fontRef>
        </p:style>
        <p:txBody>
          <a:bodyPr/>
          <a:lstStyle/>
          <a:p>
            <a:pPr>
              <a:spcBef>
                <a:spcPct val="20000"/>
              </a:spcBef>
              <a:defRPr/>
            </a:pPr>
            <a:endParaRPr lang="en-US"/>
          </a:p>
        </p:txBody>
      </p:sp>
      <p:sp>
        <p:nvSpPr>
          <p:cNvPr id="39959" name="Rectangle 49"/>
          <p:cNvSpPr>
            <a:spLocks noChangeArrowheads="1"/>
          </p:cNvSpPr>
          <p:nvPr/>
        </p:nvSpPr>
        <p:spPr bwMode="auto">
          <a:xfrm>
            <a:off x="6129338" y="3487738"/>
            <a:ext cx="61912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440370" name="Rectangle 50"/>
          <p:cNvSpPr>
            <a:spLocks noChangeArrowheads="1"/>
          </p:cNvSpPr>
          <p:nvPr/>
        </p:nvSpPr>
        <p:spPr bwMode="auto">
          <a:xfrm>
            <a:off x="6375400" y="3533775"/>
            <a:ext cx="212725" cy="228600"/>
          </a:xfrm>
          <a:prstGeom prst="rect">
            <a:avLst/>
          </a:prstGeom>
          <a:noFill/>
          <a:ln w="9525">
            <a:noFill/>
            <a:miter lim="800000"/>
            <a:headEnd/>
            <a:tailEnd/>
          </a:ln>
        </p:spPr>
        <p:txBody>
          <a:bodyPr lIns="0" tIns="0" rIns="0" bIns="0">
            <a:spAutoFit/>
          </a:bodyPr>
          <a:lstStyle/>
          <a:p>
            <a:pPr>
              <a:spcBef>
                <a:spcPct val="20000"/>
              </a:spcBef>
              <a:defRPr/>
            </a:pPr>
            <a:r>
              <a:rPr lang="en-US" altLang="zh-CN" sz="1500" i="1">
                <a:solidFill>
                  <a:srgbClr val="000C0C"/>
                </a:solidFill>
              </a:rPr>
              <a:t>a</a:t>
            </a:r>
            <a:endParaRPr lang="en-US" altLang="zh-CN">
              <a:solidFill>
                <a:srgbClr val="000C0C"/>
              </a:solidFill>
              <a:effectLst>
                <a:outerShdw blurRad="38100" dist="38100" dir="2700000" algn="tl">
                  <a:srgbClr val="C0C0C0"/>
                </a:outerShdw>
              </a:effectLst>
              <a:latin typeface="楷体_GB2312" pitchFamily="49" charset="-122"/>
            </a:endParaRPr>
          </a:p>
        </p:txBody>
      </p:sp>
      <p:sp>
        <p:nvSpPr>
          <p:cNvPr id="39961" name="Rectangle 51"/>
          <p:cNvSpPr>
            <a:spLocks noChangeArrowheads="1"/>
          </p:cNvSpPr>
          <p:nvPr/>
        </p:nvSpPr>
        <p:spPr bwMode="auto">
          <a:xfrm>
            <a:off x="6648450" y="3978275"/>
            <a:ext cx="620713"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39962" name="Rectangle 52"/>
          <p:cNvSpPr>
            <a:spLocks noChangeArrowheads="1"/>
          </p:cNvSpPr>
          <p:nvPr/>
        </p:nvSpPr>
        <p:spPr bwMode="auto">
          <a:xfrm>
            <a:off x="8054975" y="3402013"/>
            <a:ext cx="84455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39963" name="Rectangle 57"/>
          <p:cNvSpPr>
            <a:spLocks noChangeArrowheads="1"/>
          </p:cNvSpPr>
          <p:nvPr/>
        </p:nvSpPr>
        <p:spPr bwMode="auto">
          <a:xfrm>
            <a:off x="6022975" y="3078163"/>
            <a:ext cx="42863" cy="571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39964" name="Rectangle 58"/>
          <p:cNvSpPr>
            <a:spLocks noChangeArrowheads="1"/>
          </p:cNvSpPr>
          <p:nvPr/>
        </p:nvSpPr>
        <p:spPr bwMode="auto">
          <a:xfrm>
            <a:off x="5664200" y="2487613"/>
            <a:ext cx="84455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39965" name="Rectangle 60"/>
          <p:cNvSpPr>
            <a:spLocks noChangeArrowheads="1"/>
          </p:cNvSpPr>
          <p:nvPr/>
        </p:nvSpPr>
        <p:spPr bwMode="auto">
          <a:xfrm>
            <a:off x="6677025" y="3514725"/>
            <a:ext cx="844550"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440381" name="Rectangle 61"/>
          <p:cNvSpPr>
            <a:spLocks noChangeArrowheads="1"/>
          </p:cNvSpPr>
          <p:nvPr/>
        </p:nvSpPr>
        <p:spPr bwMode="auto">
          <a:xfrm>
            <a:off x="6732588" y="3500438"/>
            <a:ext cx="100012" cy="228600"/>
          </a:xfrm>
          <a:prstGeom prst="rect">
            <a:avLst/>
          </a:prstGeom>
          <a:noFill/>
          <a:ln w="9525">
            <a:noFill/>
            <a:miter lim="800000"/>
            <a:headEnd/>
            <a:tailEnd/>
          </a:ln>
        </p:spPr>
        <p:txBody>
          <a:bodyPr wrap="none" lIns="0" tIns="0" rIns="0" bIns="0">
            <a:spAutoFit/>
          </a:bodyPr>
          <a:lstStyle/>
          <a:p>
            <a:pPr>
              <a:spcBef>
                <a:spcPct val="20000"/>
              </a:spcBef>
              <a:defRPr/>
            </a:pPr>
            <a:r>
              <a:rPr lang="en-US" altLang="zh-CN" sz="1500">
                <a:solidFill>
                  <a:srgbClr val="000C0C"/>
                </a:solidFill>
                <a:latin typeface="Symbol" pitchFamily="18" charset="2"/>
              </a:rPr>
              <a:t>q</a:t>
            </a:r>
            <a:endParaRPr lang="en-US" altLang="zh-CN">
              <a:solidFill>
                <a:srgbClr val="000C0C"/>
              </a:solidFill>
              <a:effectLst>
                <a:outerShdw blurRad="38100" dist="38100" dir="2700000" algn="tl">
                  <a:srgbClr val="C0C0C0"/>
                </a:outerShdw>
              </a:effectLst>
              <a:latin typeface="楷体_GB2312" pitchFamily="49" charset="-122"/>
            </a:endParaRPr>
          </a:p>
        </p:txBody>
      </p:sp>
      <p:sp>
        <p:nvSpPr>
          <p:cNvPr id="39967" name="Rectangle 62"/>
          <p:cNvSpPr>
            <a:spLocks noChangeArrowheads="1"/>
          </p:cNvSpPr>
          <p:nvPr/>
        </p:nvSpPr>
        <p:spPr bwMode="auto">
          <a:xfrm>
            <a:off x="7183438" y="3487738"/>
            <a:ext cx="84455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altLang="zh-CN"/>
          </a:p>
        </p:txBody>
      </p:sp>
      <p:sp>
        <p:nvSpPr>
          <p:cNvPr id="440383" name="Text Box 63"/>
          <p:cNvSpPr txBox="1">
            <a:spLocks noChangeArrowheads="1"/>
          </p:cNvSpPr>
          <p:nvPr/>
        </p:nvSpPr>
        <p:spPr bwMode="auto">
          <a:xfrm>
            <a:off x="7748588" y="2447925"/>
            <a:ext cx="184150" cy="457200"/>
          </a:xfrm>
          <a:prstGeom prst="rect">
            <a:avLst/>
          </a:prstGeom>
          <a:noFill/>
          <a:ln w="9525">
            <a:noFill/>
            <a:miter lim="800000"/>
            <a:headEnd/>
            <a:tailEnd/>
          </a:ln>
          <a:effectLst/>
        </p:spPr>
        <p:txBody>
          <a:bodyPr wrap="none">
            <a:spAutoFit/>
          </a:bodyPr>
          <a:lstStyle/>
          <a:p>
            <a:pPr>
              <a:spcBef>
                <a:spcPct val="20000"/>
              </a:spcBef>
              <a:defRPr/>
            </a:pPr>
            <a:endParaRPr lang="en-US">
              <a:solidFill>
                <a:srgbClr val="000C0C"/>
              </a:solidFill>
              <a:effectLst>
                <a:outerShdw blurRad="38100" dist="38100" dir="2700000" algn="tl">
                  <a:srgbClr val="C0C0C0"/>
                </a:outerShdw>
              </a:effectLst>
              <a:latin typeface="楷体_GB2312" pitchFamily="49" charset="-122"/>
            </a:endParaRPr>
          </a:p>
        </p:txBody>
      </p:sp>
      <p:sp>
        <p:nvSpPr>
          <p:cNvPr id="440384" name="Text Box 64"/>
          <p:cNvSpPr txBox="1">
            <a:spLocks noChangeArrowheads="1"/>
          </p:cNvSpPr>
          <p:nvPr/>
        </p:nvSpPr>
        <p:spPr bwMode="auto">
          <a:xfrm>
            <a:off x="7019925" y="1989138"/>
            <a:ext cx="363538" cy="519112"/>
          </a:xfrm>
          <a:prstGeom prst="rect">
            <a:avLst/>
          </a:prstGeom>
          <a:noFill/>
          <a:ln w="9525">
            <a:noFill/>
            <a:miter lim="800000"/>
            <a:headEnd/>
            <a:tailEnd/>
          </a:ln>
          <a:effectLst/>
        </p:spPr>
        <p:txBody>
          <a:bodyPr wrap="none">
            <a:spAutoFit/>
          </a:bodyPr>
          <a:lstStyle/>
          <a:p>
            <a:pPr>
              <a:spcBef>
                <a:spcPct val="20000"/>
              </a:spcBef>
              <a:defRPr/>
            </a:pPr>
            <a:r>
              <a:rPr lang="en-US" altLang="zh-CN" sz="2800">
                <a:solidFill>
                  <a:srgbClr val="000C0C"/>
                </a:solidFill>
                <a:latin typeface="楷体_GB2312" pitchFamily="49" charset="-122"/>
              </a:rPr>
              <a:t>z</a:t>
            </a:r>
            <a:endParaRPr lang="en-US" altLang="zh-CN">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39942" name="Object 6"/>
              <p:cNvSpPr txBox="1"/>
              <p:nvPr/>
            </p:nvSpPr>
            <p:spPr bwMode="auto">
              <a:xfrm>
                <a:off x="5338763" y="2274888"/>
                <a:ext cx="1346200" cy="352425"/>
              </a:xfrm>
              <a:prstGeom prst="rect">
                <a:avLst/>
              </a:prstGeom>
              <a:noFill/>
              <a:ln>
                <a:noFill/>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𝜃</m:t>
                          </m:r>
                        </m:e>
                      </m:func>
                    </m:oMath>
                  </m:oMathPara>
                </a14:m>
                <a:endParaRPr lang="zh-CN" altLang="en-US"/>
              </a:p>
            </p:txBody>
          </p:sp>
        </mc:Choice>
        <mc:Fallback xmlns="">
          <p:sp>
            <p:nvSpPr>
              <p:cNvPr id="39942" name="Object 6"/>
              <p:cNvSpPr txBox="1">
                <a:spLocks noRot="1" noChangeAspect="1" noMove="1" noResize="1" noEditPoints="1" noAdjustHandles="1" noChangeArrowheads="1" noChangeShapeType="1" noTextEdit="1"/>
              </p:cNvSpPr>
              <p:nvPr/>
            </p:nvSpPr>
            <p:spPr bwMode="auto">
              <a:xfrm>
                <a:off x="5338763" y="2274888"/>
                <a:ext cx="1346200" cy="352425"/>
              </a:xfrm>
              <a:prstGeom prst="rect">
                <a:avLst/>
              </a:prstGeom>
              <a:blipFill>
                <a:blip r:embed="rId6"/>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943" name="Object 7"/>
              <p:cNvSpPr txBox="1"/>
              <p:nvPr/>
            </p:nvSpPr>
            <p:spPr bwMode="auto">
              <a:xfrm>
                <a:off x="7778750" y="3352800"/>
                <a:ext cx="1333500" cy="344488"/>
              </a:xfrm>
              <a:prstGeom prst="rect">
                <a:avLst/>
              </a:prstGeom>
              <a:noFill/>
              <a:ln>
                <a:noFill/>
              </a:ln>
              <a:effectLst/>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oMath>
                  </m:oMathPara>
                </a14:m>
                <a:endParaRPr lang="zh-CN" altLang="en-US"/>
              </a:p>
            </p:txBody>
          </p:sp>
        </mc:Choice>
        <mc:Fallback xmlns="">
          <p:sp>
            <p:nvSpPr>
              <p:cNvPr id="39943" name="Object 7"/>
              <p:cNvSpPr txBox="1">
                <a:spLocks noRot="1" noChangeAspect="1" noMove="1" noResize="1" noEditPoints="1" noAdjustHandles="1" noChangeArrowheads="1" noChangeShapeType="1" noTextEdit="1"/>
              </p:cNvSpPr>
              <p:nvPr/>
            </p:nvSpPr>
            <p:spPr bwMode="auto">
              <a:xfrm>
                <a:off x="7778750" y="3352800"/>
                <a:ext cx="1333500" cy="344488"/>
              </a:xfrm>
              <a:prstGeom prst="rect">
                <a:avLst/>
              </a:prstGeom>
              <a:blipFill>
                <a:blip r:embed="rId7"/>
                <a:stretch>
                  <a:fillRect/>
                </a:stretch>
              </a:blipFill>
              <a:ln>
                <a:noFill/>
              </a:ln>
              <a:effectLst/>
              <a:extLst/>
            </p:spPr>
            <p:txBody>
              <a:bodyPr/>
              <a:lstStyle/>
              <a:p>
                <a:r>
                  <a:rPr lang="zh-CN" altLang="en-US">
                    <a:noFill/>
                  </a:rPr>
                  <a:t> </a:t>
                </a:r>
              </a:p>
            </p:txBody>
          </p:sp>
        </mc:Fallback>
      </mc:AlternateContent>
      <p:sp>
        <p:nvSpPr>
          <p:cNvPr id="39970" name="Text Box 67"/>
          <p:cNvSpPr txBox="1">
            <a:spLocks noChangeArrowheads="1"/>
          </p:cNvSpPr>
          <p:nvPr/>
        </p:nvSpPr>
        <p:spPr bwMode="auto">
          <a:xfrm>
            <a:off x="6757988" y="3971925"/>
            <a:ext cx="33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a:solidFill>
                  <a:srgbClr val="000C0C"/>
                </a:solidFill>
                <a:latin typeface="楷体_GB2312" pitchFamily="49" charset="-122"/>
              </a:rPr>
              <a:t>0</a:t>
            </a:r>
          </a:p>
        </p:txBody>
      </p:sp>
      <p:sp>
        <p:nvSpPr>
          <p:cNvPr id="39971" name="Oval 68"/>
          <p:cNvSpPr>
            <a:spLocks noChangeArrowheads="1"/>
          </p:cNvSpPr>
          <p:nvPr/>
        </p:nvSpPr>
        <p:spPr bwMode="auto">
          <a:xfrm>
            <a:off x="6088063" y="2928938"/>
            <a:ext cx="1751012" cy="304800"/>
          </a:xfrm>
          <a:prstGeom prst="ellipse">
            <a:avLst/>
          </a:prstGeom>
          <a:noFill/>
          <a:ln w="53975">
            <a:solidFill>
              <a:srgbClr val="00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440389" name="Object 8"/>
              <p:cNvSpPr txBox="1"/>
              <p:nvPr/>
            </p:nvSpPr>
            <p:spPr bwMode="auto">
              <a:xfrm>
                <a:off x="1310" y="3209642"/>
                <a:ext cx="5426075" cy="90328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𝑑𝑉</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𝑎</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𝜃</m:t>
                                  </m:r>
                                </m:e>
                              </m:func>
                            </m:e>
                          </m:d>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𝑎</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e>
                      </m:d>
                    </m:oMath>
                    <m:oMath xmlns:m="http://schemas.openxmlformats.org/officeDocument/2006/math">
                      <m:m>
                        <m:mPr>
                          <m:plcHide m:val="on"/>
                          <m:mcs>
                            <m:mc>
                              <m:mcPr>
                                <m:count m:val="2"/>
                                <m:mcJc m:val="center"/>
                              </m:mcPr>
                            </m:mc>
                          </m:mcs>
                          <m:ctrlPr>
                            <a:rPr lang="zh-CN" altLang="en-US" i="1">
                              <a:solidFill>
                                <a:srgbClr val="000000"/>
                              </a:solidFill>
                              <a:latin typeface="Cambria Math" panose="02040503050406030204" pitchFamily="18" charset="0"/>
                            </a:rPr>
                          </m:ctrlPr>
                        </m:mPr>
                        <m:mr>
                          <m:e/>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𝑎</m:t>
                                </m:r>
                              </m:e>
                              <m:sup>
                                <m:r>
                                  <a:rPr lang="zh-CN" altLang="en-US" i="1">
                                    <a:solidFill>
                                      <a:srgbClr val="000000"/>
                                    </a:solidFill>
                                    <a:latin typeface="Cambria Math" panose="02040503050406030204" pitchFamily="18" charset="0"/>
                                  </a:rPr>
                                  <m:t>3</m:t>
                                </m:r>
                              </m:sup>
                            </m:sSup>
                          </m:e>
                        </m:mr>
                      </m:m>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func>
                            <m:funcPr>
                              <m:ctrlPr>
                                <a:rPr lang="zh-CN" altLang="en-US" i="1">
                                  <a:solidFill>
                                    <a:srgbClr val="000000"/>
                                  </a:solidFill>
                                  <a:latin typeface="Cambria Math" panose="02040503050406030204" pitchFamily="18" charset="0"/>
                                </a:rPr>
                              </m:ctrlPr>
                            </m:funcPr>
                            <m:fName>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cos</m:t>
                                  </m:r>
                                </m:e>
                                <m:sup>
                                  <m:r>
                                    <a:rPr lang="zh-CN" altLang="en-US" i="1">
                                      <a:solidFill>
                                        <a:srgbClr val="000000"/>
                                      </a:solidFill>
                                      <a:latin typeface="Cambria Math" panose="02040503050406030204" pitchFamily="18" charset="0"/>
                                    </a:rPr>
                                    <m:t>2</m:t>
                                  </m:r>
                                </m:sup>
                              </m:sSup>
                            </m:fName>
                            <m:e>
                              <m:r>
                                <a:rPr lang="zh-CN" altLang="en-US" i="1">
                                  <a:solidFill>
                                    <a:srgbClr val="000000"/>
                                  </a:solidFill>
                                  <a:latin typeface="Cambria Math" panose="02040503050406030204" pitchFamily="18" charset="0"/>
                                </a:rPr>
                                <m:t>𝜃</m:t>
                              </m:r>
                            </m:e>
                          </m:func>
                        </m:e>
                      </m:d>
                      <m:r>
                        <a:rPr lang="zh-CN" altLang="en-US" i="1">
                          <a:solidFill>
                            <a:srgbClr val="000000"/>
                          </a:solidFill>
                          <a:latin typeface="Cambria Math" panose="02040503050406030204" pitchFamily="18" charset="0"/>
                        </a:rPr>
                        <m:t>𝑑</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oMath>
                  </m:oMathPara>
                </a14:m>
                <a:endParaRPr lang="zh-CN" altLang="en-US"/>
              </a:p>
            </p:txBody>
          </p:sp>
        </mc:Choice>
        <mc:Fallback xmlns="">
          <p:sp>
            <p:nvSpPr>
              <p:cNvPr id="440389" name="Object 8"/>
              <p:cNvSpPr txBox="1">
                <a:spLocks noRot="1" noChangeAspect="1" noMove="1" noResize="1" noEditPoints="1" noAdjustHandles="1" noChangeArrowheads="1" noChangeShapeType="1" noTextEdit="1"/>
              </p:cNvSpPr>
              <p:nvPr/>
            </p:nvSpPr>
            <p:spPr bwMode="auto">
              <a:xfrm>
                <a:off x="1310" y="3209642"/>
                <a:ext cx="5426075" cy="903288"/>
              </a:xfrm>
              <a:prstGeom prst="rect">
                <a:avLst/>
              </a:prstGeom>
              <a:blipFill>
                <a:blip r:embed="rId8"/>
                <a:stretch>
                  <a:fillRect/>
                </a:stretch>
              </a:blipFill>
              <a:ln>
                <a:noFill/>
              </a:ln>
              <a:effectLst/>
              <a:extLst/>
            </p:spPr>
            <p:txBody>
              <a:bodyPr/>
              <a:lstStyle/>
              <a:p>
                <a:r>
                  <a:rPr lang="zh-CN" altLang="en-US">
                    <a:noFill/>
                  </a:rPr>
                  <a:t> </a:t>
                </a:r>
              </a:p>
            </p:txBody>
          </p:sp>
        </mc:Fallback>
      </mc:AlternateContent>
      <p:sp>
        <p:nvSpPr>
          <p:cNvPr id="39972" name="Line 70"/>
          <p:cNvSpPr>
            <a:spLocks noChangeShapeType="1"/>
          </p:cNvSpPr>
          <p:nvPr/>
        </p:nvSpPr>
        <p:spPr bwMode="auto">
          <a:xfrm>
            <a:off x="6172200" y="2590800"/>
            <a:ext cx="381000" cy="457200"/>
          </a:xfrm>
          <a:prstGeom prst="line">
            <a:avLst/>
          </a:prstGeom>
          <a:noFill/>
          <a:ln w="9525">
            <a:solidFill>
              <a:srgbClr val="000C0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 name="AutoShape 115" descr="formula"/>
          <p:cNvSpPr>
            <a:spLocks noChangeAspect="1" noChangeArrowheads="1"/>
          </p:cNvSpPr>
          <p:nvPr/>
        </p:nvSpPr>
        <p:spPr bwMode="auto">
          <a:xfrm>
            <a:off x="317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397CE61-5673-40CC-9502-90E5A03578E7}"/>
                  </a:ext>
                </a:extLst>
              </p:cNvPr>
              <p:cNvSpPr/>
              <p:nvPr/>
            </p:nvSpPr>
            <p:spPr>
              <a:xfrm>
                <a:off x="6331625" y="5063110"/>
                <a:ext cx="2031325" cy="830997"/>
              </a:xfrm>
              <a:prstGeom prst="rect">
                <a:avLst/>
              </a:prstGeom>
            </p:spPr>
            <p:txBody>
              <a:bodyPr wrap="none">
                <a:spAutoFit/>
              </a:bodyPr>
              <a:lstStyle/>
              <a:p>
                <a:r>
                  <a:rPr lang="zh-CN" altLang="en-US">
                    <a:solidFill>
                      <a:srgbClr val="000000"/>
                    </a:solidFill>
                    <a:latin typeface="Cambria Math" panose="02040503050406030204" pitchFamily="18" charset="0"/>
                  </a:rPr>
                  <a:t>由对称性可知</a:t>
                </a:r>
                <a:endParaRPr lang="en-US" altLang="zh-CN">
                  <a:solidFill>
                    <a:srgbClr val="0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𝑐</m:t>
                          </m:r>
                        </m:sub>
                      </m:sSub>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𝑐</m:t>
                          </m:r>
                        </m:sub>
                      </m:sSub>
                      <m:r>
                        <a:rPr lang="en-US" altLang="zh-CN" b="0" i="1" smtClean="0">
                          <a:solidFill>
                            <a:srgbClr val="000000"/>
                          </a:solidFill>
                          <a:latin typeface="Cambria Math" panose="02040503050406030204" pitchFamily="18" charset="0"/>
                        </a:rPr>
                        <m:t>=0</m:t>
                      </m:r>
                    </m:oMath>
                  </m:oMathPara>
                </a14:m>
                <a:endParaRPr lang="zh-CN" altLang="en-US"/>
              </a:p>
            </p:txBody>
          </p:sp>
        </mc:Choice>
        <mc:Fallback xmlns="">
          <p:sp>
            <p:nvSpPr>
              <p:cNvPr id="2" name="矩形 1">
                <a:extLst>
                  <a:ext uri="{FF2B5EF4-FFF2-40B4-BE49-F238E27FC236}">
                    <a16:creationId xmlns:a16="http://schemas.microsoft.com/office/drawing/2014/main" id="{7397CE61-5673-40CC-9502-90E5A03578E7}"/>
                  </a:ext>
                </a:extLst>
              </p:cNvPr>
              <p:cNvSpPr>
                <a:spLocks noRot="1" noChangeAspect="1" noMove="1" noResize="1" noEditPoints="1" noAdjustHandles="1" noChangeArrowheads="1" noChangeShapeType="1" noTextEdit="1"/>
              </p:cNvSpPr>
              <p:nvPr/>
            </p:nvSpPr>
            <p:spPr>
              <a:xfrm>
                <a:off x="6331625" y="5063110"/>
                <a:ext cx="2031325" cy="830997"/>
              </a:xfrm>
              <a:prstGeom prst="rect">
                <a:avLst/>
              </a:prstGeom>
              <a:blipFill>
                <a:blip r:embed="rId9"/>
                <a:stretch>
                  <a:fillRect l="-4805" t="-5882" r="-3604" b="-58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5056739"/>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03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03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038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03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03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03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37" grpId="0"/>
      <p:bldP spid="440338" grpId="0"/>
      <p:bldP spid="440340" grpId="0"/>
      <p:bldP spid="440341" grpId="0"/>
      <p:bldP spid="440343" grpId="0"/>
      <p:bldP spid="440344" grpId="0"/>
      <p:bldP spid="440345" grpId="0"/>
      <p:bldP spid="440389" grpId="0"/>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1" name="Text Box 45"/>
          <p:cNvSpPr txBox="1">
            <a:spLocks noChangeArrowheads="1"/>
          </p:cNvSpPr>
          <p:nvPr/>
        </p:nvSpPr>
        <p:spPr bwMode="auto">
          <a:xfrm>
            <a:off x="-6351" y="206456"/>
            <a:ext cx="9150351"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dirty="0">
                <a:solidFill>
                  <a:srgbClr val="000C0C"/>
                </a:solidFill>
                <a:latin typeface="楷体_GB2312" pitchFamily="49" charset="-122"/>
              </a:rPr>
              <a:t>例题</a:t>
            </a:r>
            <a:r>
              <a:rPr lang="en-US" altLang="zh-CN" sz="2800" b="1" dirty="0">
                <a:solidFill>
                  <a:srgbClr val="000C0C"/>
                </a:solidFill>
                <a:latin typeface="楷体_GB2312" pitchFamily="49" charset="-122"/>
              </a:rPr>
              <a:t>.3</a:t>
            </a:r>
            <a:r>
              <a:rPr lang="zh-CN" altLang="en-US" sz="2800" b="1" dirty="0">
                <a:solidFill>
                  <a:srgbClr val="000C0C"/>
                </a:solidFill>
                <a:latin typeface="楷体_GB2312" pitchFamily="49" charset="-122"/>
              </a:rPr>
              <a:t> 如图，在半径为</a:t>
            </a:r>
            <a:r>
              <a:rPr lang="en-US" altLang="zh-CN" sz="2800" b="1" dirty="0">
                <a:solidFill>
                  <a:srgbClr val="000C0C"/>
                </a:solidFill>
                <a:latin typeface="楷体_GB2312" pitchFamily="49" charset="-122"/>
              </a:rPr>
              <a:t>R</a:t>
            </a:r>
            <a:r>
              <a:rPr lang="zh-CN" altLang="en-US" sz="2800" b="1" dirty="0">
                <a:solidFill>
                  <a:srgbClr val="000C0C"/>
                </a:solidFill>
                <a:latin typeface="楷体_GB2312" pitchFamily="49" charset="-122"/>
              </a:rPr>
              <a:t>的均质等厚大圆板的一侧挖掉</a:t>
            </a:r>
          </a:p>
          <a:p>
            <a:pPr eaLnBrk="1" hangingPunct="1">
              <a:spcBef>
                <a:spcPct val="20000"/>
              </a:spcBef>
            </a:pPr>
            <a:r>
              <a:rPr lang="zh-CN" altLang="en-US" sz="2800" b="1" dirty="0">
                <a:solidFill>
                  <a:srgbClr val="000C0C"/>
                </a:solidFill>
                <a:latin typeface="楷体_GB2312" pitchFamily="49" charset="-122"/>
              </a:rPr>
              <a:t>半径为</a:t>
            </a:r>
            <a:r>
              <a:rPr lang="en-US" altLang="zh-CN" sz="2800" b="1" dirty="0">
                <a:solidFill>
                  <a:srgbClr val="000C0C"/>
                </a:solidFill>
                <a:latin typeface="楷体_GB2312" pitchFamily="49" charset="-122"/>
              </a:rPr>
              <a:t>R/2</a:t>
            </a:r>
            <a:r>
              <a:rPr lang="zh-CN" altLang="en-US" sz="2800" b="1" dirty="0">
                <a:solidFill>
                  <a:srgbClr val="000C0C"/>
                </a:solidFill>
                <a:latin typeface="楷体_GB2312" pitchFamily="49" charset="-122"/>
              </a:rPr>
              <a:t>的小圆板，大小圆板相切，求余下部分的质心</a:t>
            </a:r>
          </a:p>
        </p:txBody>
      </p:sp>
      <p:sp>
        <p:nvSpPr>
          <p:cNvPr id="441390" name="Text Box 46"/>
          <p:cNvSpPr txBox="1">
            <a:spLocks noChangeArrowheads="1"/>
          </p:cNvSpPr>
          <p:nvPr/>
        </p:nvSpPr>
        <p:spPr bwMode="auto">
          <a:xfrm>
            <a:off x="250825" y="1412875"/>
            <a:ext cx="5905500" cy="904875"/>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dirty="0">
                <a:solidFill>
                  <a:srgbClr val="000C0C"/>
                </a:solidFill>
                <a:latin typeface="楷体_GB2312" pitchFamily="49" charset="-122"/>
              </a:rPr>
              <a:t>解：选择如图坐标系，考虑对称性，余</a:t>
            </a:r>
          </a:p>
          <a:p>
            <a:pPr>
              <a:spcBef>
                <a:spcPct val="20000"/>
              </a:spcBef>
              <a:defRPr/>
            </a:pPr>
            <a:r>
              <a:rPr lang="zh-CN" altLang="en-US" b="1" dirty="0">
                <a:solidFill>
                  <a:srgbClr val="000C0C"/>
                </a:solidFill>
                <a:latin typeface="楷体_GB2312" pitchFamily="49" charset="-122"/>
              </a:rPr>
              <a:t>下部分质心的</a:t>
            </a:r>
            <a:r>
              <a:rPr lang="en-US" altLang="zh-CN" b="1" dirty="0">
                <a:solidFill>
                  <a:srgbClr val="000C0C"/>
                </a:solidFill>
                <a:latin typeface="楷体_GB2312" pitchFamily="49" charset="-122"/>
              </a:rPr>
              <a:t>y</a:t>
            </a:r>
            <a:r>
              <a:rPr lang="zh-CN" altLang="en-US" b="1" dirty="0">
                <a:solidFill>
                  <a:srgbClr val="000C0C"/>
                </a:solidFill>
                <a:latin typeface="楷体_GB2312" pitchFamily="49" charset="-122"/>
              </a:rPr>
              <a:t>坐标为零，仅需求</a:t>
            </a:r>
            <a:r>
              <a:rPr lang="en-US" altLang="zh-CN" b="1" i="1" dirty="0">
                <a:solidFill>
                  <a:srgbClr val="000C0C"/>
                </a:solidFill>
                <a:latin typeface="+mj-lt"/>
              </a:rPr>
              <a:t>x</a:t>
            </a:r>
            <a:r>
              <a:rPr lang="zh-CN" altLang="en-US" b="1" dirty="0">
                <a:solidFill>
                  <a:srgbClr val="000C0C"/>
                </a:solidFill>
                <a:latin typeface="楷体_GB2312" pitchFamily="49" charset="-122"/>
              </a:rPr>
              <a:t>坐标</a:t>
            </a:r>
            <a:endParaRPr lang="zh-CN" altLang="en-US" b="1" dirty="0">
              <a:solidFill>
                <a:srgbClr val="000C0C"/>
              </a:solidFill>
              <a:effectLst>
                <a:outerShdw blurRad="38100" dist="38100" dir="2700000" algn="tl">
                  <a:srgbClr val="C0C0C0"/>
                </a:outerShdw>
              </a:effectLst>
              <a:latin typeface="楷体_GB2312" pitchFamily="49" charset="-122"/>
            </a:endParaRPr>
          </a:p>
        </p:txBody>
      </p:sp>
      <p:sp>
        <p:nvSpPr>
          <p:cNvPr id="441392" name="Text Box 48"/>
          <p:cNvSpPr txBox="1">
            <a:spLocks noChangeArrowheads="1"/>
          </p:cNvSpPr>
          <p:nvPr/>
        </p:nvSpPr>
        <p:spPr bwMode="auto">
          <a:xfrm>
            <a:off x="1219200" y="2209800"/>
            <a:ext cx="3892412" cy="1015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20000"/>
              </a:spcBef>
            </a:pPr>
            <a:r>
              <a:rPr lang="zh-CN" altLang="en-US" b="1" dirty="0">
                <a:solidFill>
                  <a:srgbClr val="000C0C"/>
                </a:solidFill>
                <a:latin typeface="楷体_GB2312" pitchFamily="49" charset="-122"/>
              </a:rPr>
              <a:t>大圆板质量为                 ，</a:t>
            </a:r>
          </a:p>
          <a:p>
            <a:pPr eaLnBrk="1" hangingPunct="1">
              <a:lnSpc>
                <a:spcPct val="120000"/>
              </a:lnSpc>
              <a:spcBef>
                <a:spcPct val="20000"/>
              </a:spcBef>
            </a:pPr>
            <a:r>
              <a:rPr lang="zh-CN" altLang="en-US" b="1" dirty="0">
                <a:solidFill>
                  <a:srgbClr val="000C0C"/>
                </a:solidFill>
                <a:latin typeface="楷体_GB2312" pitchFamily="49" charset="-122"/>
              </a:rPr>
              <a:t>   质心坐标为</a:t>
            </a:r>
          </a:p>
        </p:txBody>
      </p:sp>
      <mc:AlternateContent xmlns:mc="http://schemas.openxmlformats.org/markup-compatibility/2006" xmlns:a14="http://schemas.microsoft.com/office/drawing/2010/main">
        <mc:Choice Requires="a14">
          <p:sp>
            <p:nvSpPr>
              <p:cNvPr id="441393" name="Object 2"/>
              <p:cNvSpPr txBox="1"/>
              <p:nvPr/>
            </p:nvSpPr>
            <p:spPr bwMode="auto">
              <a:xfrm>
                <a:off x="3098800" y="2201725"/>
                <a:ext cx="1600200" cy="47148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𝜎𝜋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441393" name="Object 2"/>
              <p:cNvSpPr txBox="1">
                <a:spLocks noRot="1" noChangeAspect="1" noMove="1" noResize="1" noEditPoints="1" noAdjustHandles="1" noChangeArrowheads="1" noChangeShapeType="1" noTextEdit="1"/>
              </p:cNvSpPr>
              <p:nvPr/>
            </p:nvSpPr>
            <p:spPr bwMode="auto">
              <a:xfrm>
                <a:off x="3098800" y="2201725"/>
                <a:ext cx="1600200" cy="471488"/>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1394" name="Object 3"/>
              <p:cNvSpPr txBox="1"/>
              <p:nvPr/>
            </p:nvSpPr>
            <p:spPr bwMode="auto">
              <a:xfrm>
                <a:off x="3352800" y="2743200"/>
                <a:ext cx="2190612" cy="487363"/>
              </a:xfrm>
              <a:prstGeom prst="rect">
                <a:avLst/>
              </a:prstGeom>
              <a:noFill/>
              <a:ln>
                <a:noFill/>
              </a:ln>
              <a:effectLst/>
              <a:extLst/>
            </p:spPr>
            <p:txBody>
              <a:bodyPr>
                <a:normAutofit/>
              </a:bodyPr>
              <a:lstStyle/>
              <a:p>
                <a14:m>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=0</m:t>
                    </m:r>
                    <m:r>
                      <a:rPr lang="zh-CN" altLang="en-US" i="0" smtClean="0">
                        <a:solidFill>
                          <a:srgbClr val="000000"/>
                        </a:solidFill>
                        <a:latin typeface="Cambria Math" panose="02040503050406030204" pitchFamily="18" charset="0"/>
                      </a:rPr>
                      <m:t>，</m:t>
                    </m:r>
                  </m:oMath>
                </a14:m>
                <a:r>
                  <a:rPr lang="zh-CN" altLang="en-US" dirty="0">
                    <a:latin typeface="+mj-lt"/>
                  </a:rPr>
                  <a:t> </a:t>
                </a:r>
                <a:r>
                  <a:rPr lang="en-US" altLang="zh-CN" i="1">
                    <a:latin typeface="+mj-lt"/>
                  </a:rPr>
                  <a:t>y</a:t>
                </a:r>
                <a:r>
                  <a:rPr lang="en-US" altLang="zh-CN" baseline="-25000">
                    <a:latin typeface="+mj-lt"/>
                  </a:rPr>
                  <a:t>c</a:t>
                </a:r>
                <a:r>
                  <a:rPr lang="en-US" altLang="zh-CN"/>
                  <a:t>=0</a:t>
                </a:r>
                <a:endParaRPr lang="zh-CN" altLang="en-US" dirty="0"/>
              </a:p>
            </p:txBody>
          </p:sp>
        </mc:Choice>
        <mc:Fallback xmlns="">
          <p:sp>
            <p:nvSpPr>
              <p:cNvPr id="441394" name="Object 3"/>
              <p:cNvSpPr txBox="1">
                <a:spLocks noRot="1" noChangeAspect="1" noMove="1" noResize="1" noEditPoints="1" noAdjustHandles="1" noChangeArrowheads="1" noChangeShapeType="1" noTextEdit="1"/>
              </p:cNvSpPr>
              <p:nvPr/>
            </p:nvSpPr>
            <p:spPr bwMode="auto">
              <a:xfrm>
                <a:off x="3352800" y="2743200"/>
                <a:ext cx="2190612" cy="487363"/>
              </a:xfrm>
              <a:prstGeom prst="rect">
                <a:avLst/>
              </a:prstGeom>
              <a:blipFill>
                <a:blip r:embed="rId3"/>
                <a:stretch>
                  <a:fillRect t="-10000" b="-22500"/>
                </a:stretch>
              </a:blipFill>
              <a:ln>
                <a:noFill/>
              </a:ln>
              <a:effectLst/>
              <a:extLst/>
            </p:spPr>
            <p:txBody>
              <a:bodyPr/>
              <a:lstStyle/>
              <a:p>
                <a:r>
                  <a:rPr lang="zh-CN" altLang="en-US">
                    <a:noFill/>
                  </a:rPr>
                  <a:t> </a:t>
                </a:r>
              </a:p>
            </p:txBody>
          </p:sp>
        </mc:Fallback>
      </mc:AlternateContent>
      <p:sp>
        <p:nvSpPr>
          <p:cNvPr id="441396" name="Text Box 52"/>
          <p:cNvSpPr txBox="1">
            <a:spLocks noChangeArrowheads="1"/>
          </p:cNvSpPr>
          <p:nvPr/>
        </p:nvSpPr>
        <p:spPr bwMode="auto">
          <a:xfrm>
            <a:off x="1371600" y="3200400"/>
            <a:ext cx="4257897" cy="1015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20000"/>
              </a:spcBef>
            </a:pPr>
            <a:r>
              <a:rPr lang="zh-CN" altLang="en-US" b="1" dirty="0">
                <a:solidFill>
                  <a:srgbClr val="000C0C"/>
                </a:solidFill>
                <a:latin typeface="楷体_GB2312" pitchFamily="49" charset="-122"/>
              </a:rPr>
              <a:t>小圆板质量为                     ，</a:t>
            </a:r>
          </a:p>
          <a:p>
            <a:pPr eaLnBrk="1" hangingPunct="1">
              <a:lnSpc>
                <a:spcPct val="120000"/>
              </a:lnSpc>
              <a:spcBef>
                <a:spcPct val="20000"/>
              </a:spcBef>
            </a:pPr>
            <a:r>
              <a:rPr lang="zh-CN" altLang="en-US" b="1" dirty="0">
                <a:solidFill>
                  <a:srgbClr val="000C0C"/>
                </a:solidFill>
                <a:latin typeface="楷体_GB2312" pitchFamily="49" charset="-122"/>
              </a:rPr>
              <a:t>  质心坐标为</a:t>
            </a:r>
          </a:p>
        </p:txBody>
      </p:sp>
      <mc:AlternateContent xmlns:mc="http://schemas.openxmlformats.org/markup-compatibility/2006" xmlns:a14="http://schemas.microsoft.com/office/drawing/2010/main">
        <mc:Choice Requires="a14">
          <p:sp>
            <p:nvSpPr>
              <p:cNvPr id="441397" name="Object 4"/>
              <p:cNvSpPr txBox="1"/>
              <p:nvPr/>
            </p:nvSpPr>
            <p:spPr bwMode="auto">
              <a:xfrm>
                <a:off x="3352800" y="3048000"/>
                <a:ext cx="1828800" cy="884238"/>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𝜎𝜋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441397" name="Object 4"/>
              <p:cNvSpPr txBox="1">
                <a:spLocks noRot="1" noChangeAspect="1" noMove="1" noResize="1" noEditPoints="1" noAdjustHandles="1" noChangeArrowheads="1" noChangeShapeType="1" noTextEdit="1"/>
              </p:cNvSpPr>
              <p:nvPr/>
            </p:nvSpPr>
            <p:spPr bwMode="auto">
              <a:xfrm>
                <a:off x="3352800" y="3048000"/>
                <a:ext cx="1828800" cy="884238"/>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1398" name="Object 5"/>
              <p:cNvSpPr txBox="1"/>
              <p:nvPr/>
            </p:nvSpPr>
            <p:spPr bwMode="auto">
              <a:xfrm>
                <a:off x="3428999" y="3810000"/>
                <a:ext cx="2438399" cy="568325"/>
              </a:xfrm>
              <a:prstGeom prst="rect">
                <a:avLst/>
              </a:prstGeom>
              <a:noFill/>
              <a:ln>
                <a:noFill/>
              </a:ln>
              <a:effectLst/>
              <a:extLst/>
            </p:spPr>
            <p:txBody>
              <a:bodyPr>
                <a:normAutofit/>
              </a:bodyPr>
              <a:lstStyle/>
              <a:p>
                <a14:m>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type m:val="skw"/>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num>
                      <m:den>
                        <m:r>
                          <a:rPr lang="zh-CN" altLang="en-US" i="1">
                            <a:solidFill>
                              <a:srgbClr val="000000"/>
                            </a:solidFill>
                            <a:latin typeface="Cambria Math" panose="02040503050406030204" pitchFamily="18" charset="0"/>
                          </a:rPr>
                          <m:t>2</m:t>
                        </m:r>
                      </m:den>
                    </m:f>
                  </m:oMath>
                </a14:m>
                <a:r>
                  <a:rPr lang="en-US" altLang="zh-CN" i="1"/>
                  <a:t> ,y</a:t>
                </a:r>
                <a:r>
                  <a:rPr lang="en-US" altLang="zh-CN" baseline="-25000"/>
                  <a:t>1c</a:t>
                </a:r>
                <a:r>
                  <a:rPr lang="en-US" altLang="zh-CN"/>
                  <a:t>=0</a:t>
                </a:r>
                <a:endParaRPr lang="zh-CN" altLang="en-US" dirty="0"/>
              </a:p>
            </p:txBody>
          </p:sp>
        </mc:Choice>
        <mc:Fallback xmlns="">
          <p:sp>
            <p:nvSpPr>
              <p:cNvPr id="441398" name="Object 5"/>
              <p:cNvSpPr txBox="1">
                <a:spLocks noRot="1" noChangeAspect="1" noMove="1" noResize="1" noEditPoints="1" noAdjustHandles="1" noChangeArrowheads="1" noChangeShapeType="1" noTextEdit="1"/>
              </p:cNvSpPr>
              <p:nvPr/>
            </p:nvSpPr>
            <p:spPr bwMode="auto">
              <a:xfrm>
                <a:off x="3428999" y="3810000"/>
                <a:ext cx="2438399" cy="568325"/>
              </a:xfrm>
              <a:prstGeom prst="rect">
                <a:avLst/>
              </a:prstGeom>
              <a:blipFill>
                <a:blip r:embed="rId5"/>
                <a:stretch>
                  <a:fillRect t="-101075" b="-138710"/>
                </a:stretch>
              </a:blipFill>
              <a:ln>
                <a:noFill/>
              </a:ln>
              <a:effectLst/>
              <a:extLst/>
            </p:spPr>
            <p:txBody>
              <a:bodyPr/>
              <a:lstStyle/>
              <a:p>
                <a:r>
                  <a:rPr lang="zh-CN" altLang="en-US">
                    <a:noFill/>
                  </a:rPr>
                  <a:t> </a:t>
                </a:r>
              </a:p>
            </p:txBody>
          </p:sp>
        </mc:Fallback>
      </mc:AlternateContent>
      <p:grpSp>
        <p:nvGrpSpPr>
          <p:cNvPr id="3" name="组合 2"/>
          <p:cNvGrpSpPr/>
          <p:nvPr/>
        </p:nvGrpSpPr>
        <p:grpSpPr>
          <a:xfrm>
            <a:off x="914400" y="4343400"/>
            <a:ext cx="7689850" cy="831850"/>
            <a:chOff x="914400" y="4343400"/>
            <a:chExt cx="7689850" cy="831850"/>
          </a:xfrm>
        </p:grpSpPr>
        <mc:AlternateContent xmlns:mc="http://schemas.openxmlformats.org/markup-compatibility/2006" xmlns:a14="http://schemas.microsoft.com/office/drawing/2010/main">
          <mc:Choice Requires="a14">
            <p:sp>
              <p:nvSpPr>
                <p:cNvPr id="441401" name="Object 6"/>
                <p:cNvSpPr txBox="1"/>
                <p:nvPr/>
              </p:nvSpPr>
              <p:spPr bwMode="auto">
                <a:xfrm>
                  <a:off x="2819400" y="4343400"/>
                  <a:ext cx="1752600" cy="831850"/>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𝜎𝜋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oMath>
                    </m:oMathPara>
                  </a14:m>
                  <a:endParaRPr lang="zh-CN" altLang="en-US"/>
                </a:p>
              </p:txBody>
            </p:sp>
          </mc:Choice>
          <mc:Fallback xmlns="">
            <p:sp>
              <p:nvSpPr>
                <p:cNvPr id="441401" name="Object 6"/>
                <p:cNvSpPr txBox="1">
                  <a:spLocks noRot="1" noChangeAspect="1" noMove="1" noResize="1" noEditPoints="1" noAdjustHandles="1" noChangeArrowheads="1" noChangeShapeType="1" noTextEdit="1"/>
                </p:cNvSpPr>
                <p:nvPr/>
              </p:nvSpPr>
              <p:spPr bwMode="auto">
                <a:xfrm>
                  <a:off x="2819400" y="4343400"/>
                  <a:ext cx="1752600" cy="831850"/>
                </a:xfrm>
                <a:prstGeom prst="rect">
                  <a:avLst/>
                </a:prstGeom>
                <a:blipFill>
                  <a:blip r:embed="rId6"/>
                  <a:stretch>
                    <a:fillRect/>
                  </a:stretch>
                </a:blipFill>
                <a:ln>
                  <a:noFill/>
                </a:ln>
                <a:effectLst/>
                <a:extLst/>
              </p:spPr>
              <p:txBody>
                <a:bodyPr/>
                <a:lstStyle/>
                <a:p>
                  <a:r>
                    <a:rPr lang="zh-CN" altLang="en-US">
                      <a:noFill/>
                    </a:rPr>
                    <a:t> </a:t>
                  </a:r>
                </a:p>
              </p:txBody>
            </p:sp>
          </mc:Fallback>
        </mc:AlternateContent>
        <p:grpSp>
          <p:nvGrpSpPr>
            <p:cNvPr id="2" name="组合 1"/>
            <p:cNvGrpSpPr/>
            <p:nvPr/>
          </p:nvGrpSpPr>
          <p:grpSpPr>
            <a:xfrm>
              <a:off x="914400" y="4470400"/>
              <a:ext cx="7689850" cy="533400"/>
              <a:chOff x="914400" y="4470400"/>
              <a:chExt cx="7689850" cy="533400"/>
            </a:xfrm>
          </p:grpSpPr>
          <p:sp>
            <p:nvSpPr>
              <p:cNvPr id="441400" name="Text Box 56"/>
              <p:cNvSpPr txBox="1">
                <a:spLocks noChangeArrowheads="1"/>
              </p:cNvSpPr>
              <p:nvPr/>
            </p:nvSpPr>
            <p:spPr bwMode="auto">
              <a:xfrm>
                <a:off x="914400" y="4495800"/>
                <a:ext cx="7689850" cy="457200"/>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dirty="0">
                    <a:solidFill>
                      <a:srgbClr val="000C0C"/>
                    </a:solidFill>
                    <a:latin typeface="楷体_GB2312" pitchFamily="49" charset="-122"/>
                  </a:rPr>
                  <a:t>余下的质量为                  ，质心坐标用       表示，则</a:t>
                </a:r>
                <a:endParaRPr lang="zh-CN" altLang="en-US" b="1" dirty="0">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0967" name="Object 7"/>
                  <p:cNvSpPr txBox="1"/>
                  <p:nvPr/>
                </p:nvSpPr>
                <p:spPr bwMode="auto">
                  <a:xfrm>
                    <a:off x="6338888" y="4470400"/>
                    <a:ext cx="533400" cy="5334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𝑐</m:t>
                              </m:r>
                            </m:sub>
                          </m:sSub>
                        </m:oMath>
                      </m:oMathPara>
                    </a14:m>
                    <a:endParaRPr lang="zh-CN" altLang="en-US"/>
                  </a:p>
                </p:txBody>
              </p:sp>
            </mc:Choice>
            <mc:Fallback xmlns="">
              <p:sp>
                <p:nvSpPr>
                  <p:cNvPr id="40967" name="Object 7"/>
                  <p:cNvSpPr txBox="1">
                    <a:spLocks noRot="1" noChangeAspect="1" noMove="1" noResize="1" noEditPoints="1" noAdjustHandles="1" noChangeArrowheads="1" noChangeShapeType="1" noTextEdit="1"/>
                  </p:cNvSpPr>
                  <p:nvPr/>
                </p:nvSpPr>
                <p:spPr bwMode="auto">
                  <a:xfrm>
                    <a:off x="6338888" y="4470400"/>
                    <a:ext cx="533400" cy="533400"/>
                  </a:xfrm>
                  <a:prstGeom prst="rect">
                    <a:avLst/>
                  </a:prstGeom>
                  <a:blipFill>
                    <a:blip r:embed="rId7"/>
                    <a:stretch>
                      <a:fillRect r="-8046"/>
                    </a:stretch>
                  </a:blipFill>
                  <a:ln>
                    <a:noFill/>
                  </a:ln>
                  <a:effectLst/>
                  <a:extLst/>
                </p:spPr>
                <p:txBody>
                  <a:bodyPr/>
                  <a:lstStyle/>
                  <a:p>
                    <a:r>
                      <a:rPr lang="zh-CN" altLang="en-US">
                        <a:noFill/>
                      </a:rPr>
                      <a:t> </a:t>
                    </a:r>
                  </a:p>
                </p:txBody>
              </p:sp>
            </mc:Fallback>
          </mc:AlternateContent>
        </p:grpSp>
      </p:grpSp>
      <mc:AlternateContent xmlns:mc="http://schemas.openxmlformats.org/markup-compatibility/2006" xmlns:a14="http://schemas.microsoft.com/office/drawing/2010/main">
        <mc:Choice Requires="a14">
          <p:sp>
            <p:nvSpPr>
              <p:cNvPr id="441403" name="Object 8"/>
              <p:cNvSpPr txBox="1"/>
              <p:nvPr/>
            </p:nvSpPr>
            <p:spPr bwMode="auto">
              <a:xfrm>
                <a:off x="1258888" y="5157788"/>
                <a:ext cx="4267200" cy="130651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0=</m:t>
                      </m:r>
                      <m:f>
                        <m:fPr>
                          <m:ctrlPr>
                            <a:rPr lang="zh-CN" altLang="en-US" i="1">
                              <a:solidFill>
                                <a:srgbClr val="000000"/>
                              </a:solidFill>
                              <a:latin typeface="Cambria Math" panose="02040503050406030204" pitchFamily="18" charset="0"/>
                            </a:rPr>
                          </m:ctrlPr>
                        </m:fPr>
                        <m:num>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𝜎𝜋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3</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𝜎𝜋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𝑐</m:t>
                              </m:r>
                            </m:sub>
                          </m:sSub>
                        </m:num>
                        <m:den>
                          <m:r>
                            <a:rPr lang="zh-CN" altLang="en-US" i="1">
                              <a:solidFill>
                                <a:srgbClr val="000000"/>
                              </a:solidFill>
                              <a:latin typeface="Cambria Math" panose="02040503050406030204" pitchFamily="18" charset="0"/>
                            </a:rPr>
                            <m:t>𝜎𝜋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2</m:t>
                              </m:r>
                            </m:sup>
                          </m:sSup>
                        </m:den>
                      </m:f>
                    </m:oMath>
                  </m:oMathPara>
                </a14:m>
                <a:endParaRPr lang="zh-CN" altLang="en-US" dirty="0"/>
              </a:p>
            </p:txBody>
          </p:sp>
        </mc:Choice>
        <mc:Fallback xmlns="">
          <p:sp>
            <p:nvSpPr>
              <p:cNvPr id="441403" name="Object 8"/>
              <p:cNvSpPr txBox="1">
                <a:spLocks noRot="1" noChangeAspect="1" noMove="1" noResize="1" noEditPoints="1" noAdjustHandles="1" noChangeArrowheads="1" noChangeShapeType="1" noTextEdit="1"/>
              </p:cNvSpPr>
              <p:nvPr/>
            </p:nvSpPr>
            <p:spPr bwMode="auto">
              <a:xfrm>
                <a:off x="1258888" y="5157788"/>
                <a:ext cx="4267200" cy="1306512"/>
              </a:xfrm>
              <a:prstGeom prst="rect">
                <a:avLst/>
              </a:prstGeom>
              <a:blipFill>
                <a:blip r:embed="rId8"/>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1405" name="Object 9"/>
              <p:cNvSpPr txBox="1"/>
              <p:nvPr/>
            </p:nvSpPr>
            <p:spPr bwMode="auto">
              <a:xfrm>
                <a:off x="7084649" y="5360751"/>
                <a:ext cx="1801688" cy="1039812"/>
              </a:xfrm>
              <a:prstGeom prst="rect">
                <a:avLst/>
              </a:prstGeom>
              <a:noFill/>
              <a:ln>
                <a:noFill/>
              </a:ln>
              <a:effectLst/>
              <a:extLst/>
            </p:spPr>
            <p:txBody>
              <a:bodyPr>
                <a:normAutofit fontScale="925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num>
                        <m:den>
                          <m:r>
                            <a:rPr lang="zh-CN" altLang="en-US" i="1">
                              <a:solidFill>
                                <a:srgbClr val="000000"/>
                              </a:solidFill>
                              <a:latin typeface="Cambria Math" panose="02040503050406030204" pitchFamily="18" charset="0"/>
                            </a:rPr>
                            <m:t>6</m:t>
                          </m:r>
                        </m:den>
                      </m:f>
                    </m:oMath>
                  </m:oMathPara>
                </a14:m>
                <a:endParaRPr lang="en-US" altLang="zh-CN">
                  <a:solidFill>
                    <a:srgbClr val="000000"/>
                  </a:solidFill>
                </a:endParaRPr>
              </a:p>
              <a:p>
                <a:r>
                  <a:rPr lang="en-US" altLang="zh-CN" i="1"/>
                  <a:t>    y</a:t>
                </a:r>
                <a:r>
                  <a:rPr lang="en-US" altLang="zh-CN" baseline="-25000"/>
                  <a:t>2c</a:t>
                </a:r>
                <a:r>
                  <a:rPr lang="en-US" altLang="zh-CN"/>
                  <a:t>=0</a:t>
                </a:r>
                <a:endParaRPr lang="zh-CN" altLang="en-US"/>
              </a:p>
            </p:txBody>
          </p:sp>
        </mc:Choice>
        <mc:Fallback xmlns="">
          <p:sp>
            <p:nvSpPr>
              <p:cNvPr id="441405" name="Object 9"/>
              <p:cNvSpPr txBox="1">
                <a:spLocks noRot="1" noChangeAspect="1" noMove="1" noResize="1" noEditPoints="1" noAdjustHandles="1" noChangeArrowheads="1" noChangeShapeType="1" noTextEdit="1"/>
              </p:cNvSpPr>
              <p:nvPr/>
            </p:nvSpPr>
            <p:spPr bwMode="auto">
              <a:xfrm>
                <a:off x="7084649" y="5360751"/>
                <a:ext cx="1801688" cy="1039812"/>
              </a:xfrm>
              <a:prstGeom prst="rect">
                <a:avLst/>
              </a:prstGeom>
              <a:blipFill>
                <a:blip r:embed="rId9"/>
                <a:stretch>
                  <a:fillRect b="-10526"/>
                </a:stretch>
              </a:blipFill>
              <a:ln>
                <a:noFill/>
              </a:ln>
              <a:effectLst/>
              <a:extLst/>
            </p:spPr>
            <p:txBody>
              <a:bodyPr/>
              <a:lstStyle/>
              <a:p>
                <a:r>
                  <a:rPr lang="zh-CN" altLang="en-US">
                    <a:noFill/>
                  </a:rPr>
                  <a:t> </a:t>
                </a:r>
              </a:p>
            </p:txBody>
          </p:sp>
        </mc:Fallback>
      </mc:AlternateContent>
      <p:sp>
        <p:nvSpPr>
          <p:cNvPr id="441406" name="AutoShape 62"/>
          <p:cNvSpPr>
            <a:spLocks noChangeArrowheads="1"/>
          </p:cNvSpPr>
          <p:nvPr/>
        </p:nvSpPr>
        <p:spPr bwMode="auto">
          <a:xfrm>
            <a:off x="5943600" y="5791200"/>
            <a:ext cx="838200" cy="381000"/>
          </a:xfrm>
          <a:prstGeom prst="rightArrow">
            <a:avLst>
              <a:gd name="adj1" fmla="val 50000"/>
              <a:gd name="adj2" fmla="val 55000"/>
            </a:avLst>
          </a:prstGeom>
          <a:solidFill>
            <a:srgbClr val="00FF00"/>
          </a:solidFill>
          <a:ln w="12700">
            <a:solidFill>
              <a:srgbClr val="00FF00"/>
            </a:solidFill>
            <a:miter lim="800000"/>
            <a:headEnd type="none" w="sm" len="sm"/>
            <a:tailEnd type="none" w="sm" len="sm"/>
          </a:ln>
        </p:spPr>
        <p:txBody>
          <a:bodyPr wrap="none" anchor="ctr"/>
          <a:lstStyle/>
          <a:p>
            <a:pPr>
              <a:spcBef>
                <a:spcPct val="20000"/>
              </a:spcBef>
            </a:pPr>
            <a:endParaRPr lang="en-US" altLang="zh-CN"/>
          </a:p>
        </p:txBody>
      </p:sp>
      <p:sp>
        <p:nvSpPr>
          <p:cNvPr id="40977" name="Oval 63"/>
          <p:cNvSpPr>
            <a:spLocks noChangeArrowheads="1"/>
          </p:cNvSpPr>
          <p:nvPr/>
        </p:nvSpPr>
        <p:spPr bwMode="auto">
          <a:xfrm>
            <a:off x="5994400" y="2057400"/>
            <a:ext cx="2235200" cy="2133600"/>
          </a:xfrm>
          <a:prstGeom prst="ellipse">
            <a:avLst/>
          </a:prstGeom>
          <a:solidFill>
            <a:srgbClr val="CCFFFF"/>
          </a:solidFill>
          <a:ln w="28575">
            <a:solidFill>
              <a:srgbClr val="000C0C"/>
            </a:solidFill>
            <a:round/>
            <a:headEnd/>
            <a:tailEnd/>
          </a:ln>
        </p:spPr>
        <p:txBody>
          <a:bodyPr wrap="none" anchor="ctr"/>
          <a:lstStyle/>
          <a:p>
            <a:pPr algn="ctr">
              <a:spcBef>
                <a:spcPct val="20000"/>
              </a:spcBef>
            </a:pPr>
            <a:endParaRPr lang="en-US" altLang="zh-CN" b="1">
              <a:solidFill>
                <a:srgbClr val="000C0C"/>
              </a:solidFill>
              <a:latin typeface="楷体_GB2312" pitchFamily="49" charset="-122"/>
            </a:endParaRPr>
          </a:p>
        </p:txBody>
      </p:sp>
      <p:sp>
        <p:nvSpPr>
          <p:cNvPr id="40978" name="Oval 64"/>
          <p:cNvSpPr>
            <a:spLocks noChangeArrowheads="1"/>
          </p:cNvSpPr>
          <p:nvPr/>
        </p:nvSpPr>
        <p:spPr bwMode="auto">
          <a:xfrm>
            <a:off x="7177608" y="2564904"/>
            <a:ext cx="1066800" cy="990600"/>
          </a:xfrm>
          <a:prstGeom prst="ellipse">
            <a:avLst/>
          </a:prstGeom>
          <a:solidFill>
            <a:schemeClr val="bg1"/>
          </a:solidFill>
          <a:ln w="28575">
            <a:solidFill>
              <a:srgbClr val="000C0C"/>
            </a:solidFill>
            <a:round/>
            <a:headEnd/>
            <a:tailEnd/>
          </a:ln>
        </p:spPr>
        <p:txBody>
          <a:bodyPr wrap="none" anchor="ctr"/>
          <a:lstStyle/>
          <a:p>
            <a:pPr>
              <a:spcBef>
                <a:spcPct val="20000"/>
              </a:spcBef>
            </a:pPr>
            <a:endParaRPr lang="en-US" altLang="zh-CN" b="1"/>
          </a:p>
        </p:txBody>
      </p:sp>
      <p:sp>
        <p:nvSpPr>
          <p:cNvPr id="40979" name="Line 66"/>
          <p:cNvSpPr>
            <a:spLocks noChangeShapeType="1"/>
          </p:cNvSpPr>
          <p:nvPr/>
        </p:nvSpPr>
        <p:spPr bwMode="auto">
          <a:xfrm>
            <a:off x="5562600" y="3103563"/>
            <a:ext cx="3276600" cy="0"/>
          </a:xfrm>
          <a:prstGeom prst="line">
            <a:avLst/>
          </a:prstGeom>
          <a:noFill/>
          <a:ln w="25400">
            <a:solidFill>
              <a:srgbClr val="000C0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0" name="Line 67"/>
          <p:cNvSpPr>
            <a:spLocks noChangeShapeType="1"/>
          </p:cNvSpPr>
          <p:nvPr/>
        </p:nvSpPr>
        <p:spPr bwMode="auto">
          <a:xfrm flipV="1">
            <a:off x="7162800" y="1731963"/>
            <a:ext cx="0" cy="2743200"/>
          </a:xfrm>
          <a:prstGeom prst="line">
            <a:avLst/>
          </a:prstGeom>
          <a:noFill/>
          <a:ln w="25400">
            <a:solidFill>
              <a:srgbClr val="000C0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1" name="Text Box 68"/>
          <p:cNvSpPr txBox="1">
            <a:spLocks noChangeArrowheads="1"/>
          </p:cNvSpPr>
          <p:nvPr/>
        </p:nvSpPr>
        <p:spPr bwMode="auto">
          <a:xfrm>
            <a:off x="6759575" y="2633663"/>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b="1">
                <a:solidFill>
                  <a:srgbClr val="000C0C"/>
                </a:solidFill>
                <a:latin typeface="楷体_GB2312" pitchFamily="49" charset="-122"/>
              </a:rPr>
              <a:t>0</a:t>
            </a:r>
          </a:p>
        </p:txBody>
      </p:sp>
      <p:sp>
        <p:nvSpPr>
          <p:cNvPr id="40982" name="Text Box 69"/>
          <p:cNvSpPr txBox="1">
            <a:spLocks noChangeArrowheads="1"/>
          </p:cNvSpPr>
          <p:nvPr/>
        </p:nvSpPr>
        <p:spPr bwMode="auto">
          <a:xfrm>
            <a:off x="8518525" y="30480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b="1">
                <a:solidFill>
                  <a:srgbClr val="000C0C"/>
                </a:solidFill>
                <a:latin typeface="楷体_GB2312" pitchFamily="49" charset="-122"/>
              </a:rPr>
              <a:t>x</a:t>
            </a:r>
          </a:p>
        </p:txBody>
      </p:sp>
      <p:sp>
        <p:nvSpPr>
          <p:cNvPr id="40983" name="Text Box 70"/>
          <p:cNvSpPr txBox="1">
            <a:spLocks noChangeArrowheads="1"/>
          </p:cNvSpPr>
          <p:nvPr/>
        </p:nvSpPr>
        <p:spPr bwMode="auto">
          <a:xfrm>
            <a:off x="7299325" y="15240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b="1">
                <a:solidFill>
                  <a:srgbClr val="000C0C"/>
                </a:solidFill>
                <a:latin typeface="楷体_GB2312" pitchFamily="49" charset="-122"/>
              </a:rPr>
              <a:t>y</a:t>
            </a:r>
          </a:p>
        </p:txBody>
      </p:sp>
      <p:sp>
        <p:nvSpPr>
          <p:cNvPr id="24" name="Oval 64"/>
          <p:cNvSpPr>
            <a:spLocks noChangeArrowheads="1"/>
          </p:cNvSpPr>
          <p:nvPr/>
        </p:nvSpPr>
        <p:spPr bwMode="auto">
          <a:xfrm>
            <a:off x="7164288" y="2514600"/>
            <a:ext cx="1066800" cy="1058416"/>
          </a:xfrm>
          <a:prstGeom prst="ellipse">
            <a:avLst/>
          </a:prstGeom>
          <a:solidFill>
            <a:schemeClr val="bg1"/>
          </a:solidFill>
          <a:ln w="28575">
            <a:solidFill>
              <a:srgbClr val="000C0C"/>
            </a:solidFill>
            <a:round/>
            <a:headEnd/>
            <a:tailEnd/>
          </a:ln>
        </p:spPr>
        <p:txBody>
          <a:bodyPr wrap="none" anchor="ctr"/>
          <a:lstStyle/>
          <a:p>
            <a:pPr>
              <a:spcBef>
                <a:spcPct val="20000"/>
              </a:spcBef>
            </a:pPr>
            <a:endParaRPr lang="en-US" altLang="zh-CN" b="1">
              <a:ln>
                <a:solidFill>
                  <a:schemeClr val="bg1"/>
                </a:solidFill>
              </a:ln>
              <a:solidFill>
                <a:schemeClr val="bg1"/>
              </a:solidFill>
            </a:endParaRPr>
          </a:p>
        </p:txBody>
      </p:sp>
    </p:spTree>
    <p:extLst>
      <p:ext uri="{BB962C8B-B14F-4D97-AF65-F5344CB8AC3E}">
        <p14:creationId xmlns:p14="http://schemas.microsoft.com/office/powerpoint/2010/main" val="3912081924"/>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1390"/>
                                        </p:tgtEl>
                                        <p:attrNameLst>
                                          <p:attrName>style.visibility</p:attrName>
                                        </p:attrNameLst>
                                      </p:cBhvr>
                                      <p:to>
                                        <p:strVal val="visible"/>
                                      </p:to>
                                    </p:set>
                                    <p:animEffect transition="in" filter="blinds(horizontal)">
                                      <p:cBhvr>
                                        <p:cTn id="7" dur="500"/>
                                        <p:tgtEl>
                                          <p:spTgt spid="4413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24"/>
                                        </p:tgtEl>
                                      </p:cBhvr>
                                    </p:animEffect>
                                    <p:set>
                                      <p:cBhvr>
                                        <p:cTn id="12" dur="1" fill="hold">
                                          <p:stCondLst>
                                            <p:cond delay="499"/>
                                          </p:stCondLst>
                                        </p:cTn>
                                        <p:tgtEl>
                                          <p:spTgt spid="24"/>
                                        </p:tgtEl>
                                        <p:attrNameLst>
                                          <p:attrName>style.visibility</p:attrName>
                                        </p:attrNameLst>
                                      </p:cBhvr>
                                      <p:to>
                                        <p:strVal val="hidden"/>
                                      </p:to>
                                    </p:set>
                                  </p:childTnLst>
                                </p:cTn>
                              </p:par>
                              <p:par>
                                <p:cTn id="13" presetID="3" presetClass="entr" presetSubtype="10" fill="hold" grpId="0" nodeType="withEffect">
                                  <p:stCondLst>
                                    <p:cond delay="0"/>
                                  </p:stCondLst>
                                  <p:childTnLst>
                                    <p:set>
                                      <p:cBhvr>
                                        <p:cTn id="14" dur="1" fill="hold">
                                          <p:stCondLst>
                                            <p:cond delay="0"/>
                                          </p:stCondLst>
                                        </p:cTn>
                                        <p:tgtEl>
                                          <p:spTgt spid="441392"/>
                                        </p:tgtEl>
                                        <p:attrNameLst>
                                          <p:attrName>style.visibility</p:attrName>
                                        </p:attrNameLst>
                                      </p:cBhvr>
                                      <p:to>
                                        <p:strVal val="visible"/>
                                      </p:to>
                                    </p:set>
                                    <p:animEffect transition="in" filter="blinds(horizontal)">
                                      <p:cBhvr>
                                        <p:cTn id="15" dur="500"/>
                                        <p:tgtEl>
                                          <p:spTgt spid="44139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4139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4139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0978"/>
                                        </p:tgtEl>
                                        <p:attrNameLst>
                                          <p:attrName>style.visibility</p:attrName>
                                        </p:attrNameLst>
                                      </p:cBhvr>
                                      <p:to>
                                        <p:strVal val="visible"/>
                                      </p:to>
                                    </p:set>
                                  </p:childTnLst>
                                </p:cTn>
                              </p:par>
                              <p:par>
                                <p:cTn id="28" presetID="3" presetClass="entr" presetSubtype="10" fill="hold" grpId="0" nodeType="withEffect">
                                  <p:stCondLst>
                                    <p:cond delay="0"/>
                                  </p:stCondLst>
                                  <p:childTnLst>
                                    <p:set>
                                      <p:cBhvr>
                                        <p:cTn id="29" dur="1" fill="hold">
                                          <p:stCondLst>
                                            <p:cond delay="0"/>
                                          </p:stCondLst>
                                        </p:cTn>
                                        <p:tgtEl>
                                          <p:spTgt spid="441396"/>
                                        </p:tgtEl>
                                        <p:attrNameLst>
                                          <p:attrName>style.visibility</p:attrName>
                                        </p:attrNameLst>
                                      </p:cBhvr>
                                      <p:to>
                                        <p:strVal val="visible"/>
                                      </p:to>
                                    </p:set>
                                    <p:animEffect transition="in" filter="blinds(horizontal)">
                                      <p:cBhvr>
                                        <p:cTn id="30" dur="500"/>
                                        <p:tgtEl>
                                          <p:spTgt spid="44139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139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139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4140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441406"/>
                                        </p:tgtEl>
                                        <p:attrNameLst>
                                          <p:attrName>style.visibility</p:attrName>
                                        </p:attrNameLst>
                                      </p:cBhvr>
                                      <p:to>
                                        <p:strVal val="visible"/>
                                      </p:to>
                                    </p:set>
                                    <p:animEffect transition="in" filter="blinds(horizontal)">
                                      <p:cBhvr>
                                        <p:cTn id="51" dur="500"/>
                                        <p:tgtEl>
                                          <p:spTgt spid="44140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41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90" grpId="0" autoUpdateAnimBg="0"/>
      <p:bldP spid="441392" grpId="0"/>
      <p:bldP spid="441393" grpId="0"/>
      <p:bldP spid="441394" grpId="0"/>
      <p:bldP spid="441396" grpId="0"/>
      <p:bldP spid="441397" grpId="0"/>
      <p:bldP spid="441398" grpId="0"/>
      <p:bldP spid="441403" grpId="0"/>
      <p:bldP spid="441405" grpId="0"/>
      <p:bldP spid="441406" grpId="0" animBg="1"/>
      <p:bldP spid="40978" grpId="0" animBg="1"/>
      <p:bldP spid="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6"/>
          <p:cNvSpPr>
            <a:spLocks noGrp="1"/>
          </p:cNvSpPr>
          <p:nvPr>
            <p:ph type="sldNum" sz="quarter" idx="12"/>
          </p:nvPr>
        </p:nvSpPr>
        <p:spPr/>
        <p:txBody>
          <a:bodyPr/>
          <a:lstStyle/>
          <a:p>
            <a:pPr>
              <a:defRPr/>
            </a:pPr>
            <a:fld id="{95AEE21A-D7E5-4C38-8D7B-111E7CB193DE}" type="slidenum">
              <a:rPr lang="en-US" altLang="zh-CN" b="1"/>
              <a:pPr>
                <a:defRPr/>
              </a:pPr>
              <a:t>43</a:t>
            </a:fld>
            <a:endParaRPr lang="en-US" altLang="zh-CN" b="1"/>
          </a:p>
        </p:txBody>
      </p:sp>
      <p:sp>
        <p:nvSpPr>
          <p:cNvPr id="43014" name="Text Box 52"/>
          <p:cNvSpPr txBox="1">
            <a:spLocks noChangeArrowheads="1"/>
          </p:cNvSpPr>
          <p:nvPr/>
        </p:nvSpPr>
        <p:spPr bwMode="auto">
          <a:xfrm>
            <a:off x="250825" y="149225"/>
            <a:ext cx="6626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dirty="0">
                <a:solidFill>
                  <a:srgbClr val="FF0000"/>
                </a:solidFill>
                <a:latin typeface="楷体_GB2312" pitchFamily="49" charset="-122"/>
              </a:rPr>
              <a:t>四</a:t>
            </a:r>
            <a:r>
              <a:rPr lang="zh-CN" altLang="en-US" sz="2800" b="1">
                <a:solidFill>
                  <a:srgbClr val="FF0000"/>
                </a:solidFill>
                <a:latin typeface="楷体_GB2312" pitchFamily="49" charset="-122"/>
              </a:rPr>
              <a:t>）</a:t>
            </a:r>
            <a:r>
              <a:rPr lang="zh-CN" altLang="en-US" sz="2800" b="1" dirty="0">
                <a:solidFill>
                  <a:srgbClr val="FF0000"/>
                </a:solidFill>
                <a:latin typeface="楷体_GB2312" pitchFamily="49" charset="-122"/>
              </a:rPr>
              <a:t>、体系动量定理与质心运动定理</a:t>
            </a:r>
          </a:p>
        </p:txBody>
      </p:sp>
      <p:sp>
        <p:nvSpPr>
          <p:cNvPr id="442422" name="Text Box 54"/>
          <p:cNvSpPr txBox="1">
            <a:spLocks noChangeArrowheads="1"/>
          </p:cNvSpPr>
          <p:nvPr/>
        </p:nvSpPr>
        <p:spPr bwMode="auto">
          <a:xfrm>
            <a:off x="611188" y="884238"/>
            <a:ext cx="6337300" cy="457200"/>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dirty="0">
                <a:solidFill>
                  <a:srgbClr val="000C0C"/>
                </a:solidFill>
                <a:latin typeface="楷体_GB2312" pitchFamily="49" charset="-122"/>
              </a:rPr>
              <a:t>引入质心概念，质点系动量则可表示为</a:t>
            </a:r>
            <a:endParaRPr lang="zh-CN" altLang="en-US" b="1" dirty="0">
              <a:solidFill>
                <a:srgbClr val="000C0C"/>
              </a:solidFill>
              <a:effectLst>
                <a:outerShdw blurRad="38100" dist="38100" dir="2700000" algn="tl">
                  <a:srgbClr val="C0C0C0"/>
                </a:outerShdw>
              </a:effectLst>
              <a:latin typeface="楷体_GB2312" pitchFamily="49" charset="-122"/>
            </a:endParaRPr>
          </a:p>
        </p:txBody>
      </p:sp>
      <p:sp>
        <p:nvSpPr>
          <p:cNvPr id="442425" name="Text Box 57"/>
          <p:cNvSpPr txBox="1">
            <a:spLocks noChangeArrowheads="1"/>
          </p:cNvSpPr>
          <p:nvPr/>
        </p:nvSpPr>
        <p:spPr bwMode="auto">
          <a:xfrm>
            <a:off x="611188" y="2755900"/>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a:solidFill>
                  <a:srgbClr val="FF0000"/>
                </a:solidFill>
                <a:latin typeface="楷体_GB2312" pitchFamily="49" charset="-122"/>
              </a:rPr>
              <a:t>体系动量定理</a:t>
            </a:r>
            <a:r>
              <a:rPr lang="zh-CN" altLang="en-US" b="1">
                <a:solidFill>
                  <a:srgbClr val="000C0C"/>
                </a:solidFill>
                <a:latin typeface="楷体_GB2312" pitchFamily="49" charset="-122"/>
              </a:rPr>
              <a:t>可写成</a:t>
            </a:r>
          </a:p>
        </p:txBody>
      </p:sp>
      <mc:AlternateContent xmlns:mc="http://schemas.openxmlformats.org/markup-compatibility/2006" xmlns:a14="http://schemas.microsoft.com/office/drawing/2010/main">
        <mc:Choice Requires="a14">
          <p:sp>
            <p:nvSpPr>
              <p:cNvPr id="442426" name="Object 2"/>
              <p:cNvSpPr txBox="1"/>
              <p:nvPr/>
            </p:nvSpPr>
            <p:spPr bwMode="auto">
              <a:xfrm>
                <a:off x="2642155" y="3265733"/>
                <a:ext cx="3856038" cy="736600"/>
              </a:xfrm>
              <a:prstGeom prst="rect">
                <a:avLst/>
              </a:prstGeom>
              <a:noFill/>
              <a:ln w="9525">
                <a:solidFill>
                  <a:srgbClr val="D01A38"/>
                </a:solidFill>
                <a:miter lim="800000"/>
                <a:headEnd/>
                <a:tailEnd/>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sub>
                        <m:sup>
                          <m:r>
                            <a:rPr lang="zh-CN" altLang="en-US" i="1">
                              <a:solidFill>
                                <a:srgbClr val="000000"/>
                              </a:solidFill>
                              <a:latin typeface="Cambria Math" panose="02040503050406030204" pitchFamily="18" charset="0"/>
                            </a:rPr>
                            <m:t>𝑡</m:t>
                          </m:r>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0</m:t>
                          </m:r>
                        </m:sub>
                      </m:sSub>
                    </m:oMath>
                  </m:oMathPara>
                </a14:m>
                <a:endParaRPr lang="zh-CN" altLang="en-US" dirty="0"/>
              </a:p>
            </p:txBody>
          </p:sp>
        </mc:Choice>
        <mc:Fallback xmlns="">
          <p:sp>
            <p:nvSpPr>
              <p:cNvPr id="442426" name="Object 2"/>
              <p:cNvSpPr txBox="1">
                <a:spLocks noRot="1" noChangeAspect="1" noMove="1" noResize="1" noEditPoints="1" noAdjustHandles="1" noChangeArrowheads="1" noChangeShapeType="1" noTextEdit="1"/>
              </p:cNvSpPr>
              <p:nvPr/>
            </p:nvSpPr>
            <p:spPr bwMode="auto">
              <a:xfrm>
                <a:off x="2642155" y="3265733"/>
                <a:ext cx="3856038" cy="736600"/>
              </a:xfrm>
              <a:prstGeom prst="rect">
                <a:avLst/>
              </a:prstGeom>
              <a:blipFill>
                <a:blip r:embed="rId2"/>
                <a:stretch>
                  <a:fillRect/>
                </a:stretch>
              </a:blipFill>
              <a:ln w="9525">
                <a:solidFill>
                  <a:srgbClr val="D01A38"/>
                </a:solidFill>
                <a:miter lim="800000"/>
                <a:headEnd/>
                <a:tailEnd/>
              </a:ln>
              <a:effectLst/>
              <a:extLst/>
            </p:spPr>
            <p:txBody>
              <a:bodyPr/>
              <a:lstStyle/>
              <a:p>
                <a:r>
                  <a:rPr lang="zh-CN" altLang="en-US">
                    <a:noFill/>
                  </a:rPr>
                  <a:t> </a:t>
                </a:r>
              </a:p>
            </p:txBody>
          </p:sp>
        </mc:Fallback>
      </mc:AlternateContent>
      <p:sp>
        <p:nvSpPr>
          <p:cNvPr id="442427" name="Text Box 59"/>
          <p:cNvSpPr txBox="1">
            <a:spLocks noChangeArrowheads="1"/>
          </p:cNvSpPr>
          <p:nvPr/>
        </p:nvSpPr>
        <p:spPr bwMode="auto">
          <a:xfrm>
            <a:off x="506413" y="4700588"/>
            <a:ext cx="7343775" cy="457200"/>
          </a:xfrm>
          <a:prstGeom prst="rect">
            <a:avLst/>
          </a:prstGeom>
          <a:noFill/>
          <a:ln w="12700">
            <a:noFill/>
            <a:miter lim="800000"/>
            <a:headEnd type="none" w="sm" len="sm"/>
            <a:tailEnd type="none" w="sm" len="sm"/>
          </a:ln>
          <a:effectLst/>
        </p:spPr>
        <p:txBody>
          <a:bodyPr>
            <a:spAutoFit/>
          </a:bodyPr>
          <a:lstStyle/>
          <a:p>
            <a:pPr>
              <a:spcBef>
                <a:spcPct val="20000"/>
              </a:spcBef>
              <a:defRPr/>
            </a:pPr>
            <a:r>
              <a:rPr lang="zh-CN" altLang="en-US" b="1" dirty="0">
                <a:solidFill>
                  <a:srgbClr val="000C0C"/>
                </a:solidFill>
                <a:latin typeface="楷体_GB2312" pitchFamily="49" charset="-122"/>
              </a:rPr>
              <a:t>上述结论亦称为</a:t>
            </a:r>
            <a:r>
              <a:rPr lang="zh-CN" altLang="en-US" b="1" dirty="0">
                <a:solidFill>
                  <a:srgbClr val="FF0000"/>
                </a:solidFill>
                <a:latin typeface="楷体_GB2312" pitchFamily="49" charset="-122"/>
              </a:rPr>
              <a:t>质心运动定理</a:t>
            </a:r>
            <a:r>
              <a:rPr lang="en-US" altLang="zh-CN" b="1" dirty="0">
                <a:solidFill>
                  <a:srgbClr val="FF0000"/>
                </a:solidFill>
                <a:latin typeface="楷体_GB2312" pitchFamily="49" charset="-122"/>
              </a:rPr>
              <a:t>.</a:t>
            </a:r>
            <a:endParaRPr lang="zh-CN" altLang="en-US" b="1" dirty="0">
              <a:solidFill>
                <a:srgbClr val="000C0C"/>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42433" name="Object 3"/>
              <p:cNvSpPr txBox="1">
                <a:spLocks noGrp="1"/>
              </p:cNvSpPr>
              <p:nvPr>
                <p:ph sz="half" idx="1"/>
              </p:nvPr>
            </p:nvSpPr>
            <p:spPr bwMode="auto">
              <a:xfrm>
                <a:off x="589259" y="1557338"/>
                <a:ext cx="4205287" cy="1082675"/>
              </a:xfrm>
              <a:prstGeom prst="rect">
                <a:avLst/>
              </a:prstGeom>
              <a:noFill/>
              <a:ln>
                <a:noFill/>
              </a:ln>
              <a:effectLst/>
              <a:extLst/>
            </p:spPr>
            <p:txBody>
              <a:bodyPr>
                <a:normAutofit fontScale="70000" lnSpcReduction="20000"/>
              </a:bodyPr>
              <a:lstStyle/>
              <a:p>
                <a:pPr>
                  <a:buNone/>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𝑀</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r>
                            <a:rPr lang="zh-CN" altLang="en-US" i="1">
                              <a:solidFill>
                                <a:srgbClr val="000000"/>
                              </a:solidFill>
                              <a:latin typeface="Cambria Math" panose="02040503050406030204" pitchFamily="18" charset="0"/>
                            </a:rPr>
                            <m:t>𝑀</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442433" name="Object 3"/>
              <p:cNvSpPr txBox="1">
                <a:spLocks noGrp="1" noRot="1" noChangeAspect="1" noMove="1" noResize="1" noEditPoints="1" noAdjustHandles="1" noChangeArrowheads="1" noChangeShapeType="1" noTextEdit="1"/>
              </p:cNvSpPr>
              <p:nvPr>
                <p:ph sz="half" idx="1"/>
              </p:nvPr>
            </p:nvSpPr>
            <p:spPr bwMode="auto">
              <a:xfrm>
                <a:off x="589259" y="1557338"/>
                <a:ext cx="4205287" cy="1082675"/>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2451" name="Object 4"/>
              <p:cNvSpPr txBox="1">
                <a:spLocks noGrp="1"/>
              </p:cNvSpPr>
              <p:nvPr>
                <p:ph sz="half" idx="2"/>
              </p:nvPr>
            </p:nvSpPr>
            <p:spPr bwMode="auto">
              <a:xfrm>
                <a:off x="2670125" y="3962453"/>
                <a:ext cx="3316287" cy="763587"/>
              </a:xfrm>
              <a:prstGeom prst="rect">
                <a:avLst/>
              </a:prstGeom>
              <a:noFill/>
              <a:ln>
                <a:noFill/>
              </a:ln>
              <a:effectLst/>
              <a:extLst/>
            </p:spPr>
            <p:txBody>
              <a:bodyPr>
                <a:normAutofit fontScale="70000" lnSpcReduction="20000"/>
              </a:bodyPr>
              <a:lstStyle/>
              <a:p>
                <a:pPr>
                  <a:buNone/>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𝐶</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442451" name="Object 4"/>
              <p:cNvSpPr txBox="1">
                <a:spLocks noGrp="1" noRot="1" noChangeAspect="1" noMove="1" noResize="1" noEditPoints="1" noAdjustHandles="1" noChangeArrowheads="1" noChangeShapeType="1" noTextEdit="1"/>
              </p:cNvSpPr>
              <p:nvPr>
                <p:ph sz="half" idx="2"/>
              </p:nvPr>
            </p:nvSpPr>
            <p:spPr bwMode="auto">
              <a:xfrm>
                <a:off x="2670125" y="3962453"/>
                <a:ext cx="3316287" cy="763587"/>
              </a:xfrm>
              <a:prstGeom prst="rect">
                <a:avLst/>
              </a:prstGeom>
              <a:blipFill>
                <a:blip r:embed="rId4"/>
                <a:stretch>
                  <a:fillRect/>
                </a:stretch>
              </a:blipFill>
              <a:ln>
                <a:noFill/>
              </a:ln>
              <a:effectLst/>
              <a:extLst/>
            </p:spPr>
            <p:txBody>
              <a:bodyPr/>
              <a:lstStyle/>
              <a:p>
                <a:r>
                  <a:rPr lang="zh-CN" altLang="en-US">
                    <a:noFill/>
                  </a:rPr>
                  <a:t> </a:t>
                </a:r>
              </a:p>
            </p:txBody>
          </p:sp>
        </mc:Fallback>
      </mc:AlternateContent>
      <p:sp>
        <p:nvSpPr>
          <p:cNvPr id="11" name="Rectangle 15"/>
          <p:cNvSpPr>
            <a:spLocks noChangeArrowheads="1"/>
          </p:cNvSpPr>
          <p:nvPr/>
        </p:nvSpPr>
        <p:spPr bwMode="auto">
          <a:xfrm>
            <a:off x="249238" y="5303530"/>
            <a:ext cx="8787258" cy="1477328"/>
          </a:xfrm>
          <a:prstGeom prst="rect">
            <a:avLst/>
          </a:prstGeom>
          <a:noFill/>
          <a:ln w="38100">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just">
              <a:lnSpc>
                <a:spcPct val="125000"/>
              </a:lnSpc>
              <a:spcBef>
                <a:spcPct val="20000"/>
              </a:spcBef>
            </a:pPr>
            <a:r>
              <a:rPr lang="en-US" altLang="zh-CN" b="1" dirty="0">
                <a:solidFill>
                  <a:srgbClr val="993300"/>
                </a:solidFill>
                <a:latin typeface="方正粗宋简体" pitchFamily="65" charset="-122"/>
                <a:ea typeface="方正粗宋简体" pitchFamily="65" charset="-122"/>
              </a:rPr>
              <a:t>  </a:t>
            </a:r>
            <a:r>
              <a:rPr lang="en-US" altLang="zh-CN" b="1" dirty="0">
                <a:latin typeface="方正粗宋简体" pitchFamily="65" charset="-122"/>
                <a:ea typeface="方正粗宋简体" pitchFamily="65" charset="-122"/>
              </a:rPr>
              <a:t> </a:t>
            </a:r>
            <a:r>
              <a:rPr lang="zh-CN" altLang="en-US" b="1" dirty="0">
                <a:latin typeface="方正粗宋简体" pitchFamily="65" charset="-122"/>
                <a:ea typeface="方正粗宋简体" pitchFamily="65" charset="-122"/>
              </a:rPr>
              <a:t>作用在系统上的合外力等于系统的总质量乘以质心的加速度</a:t>
            </a:r>
            <a:r>
              <a:rPr lang="en-US" altLang="zh-CN" dirty="0">
                <a:solidFill>
                  <a:srgbClr val="CC0000"/>
                </a:solidFill>
                <a:latin typeface="方正粗宋简体" pitchFamily="65" charset="-122"/>
                <a:ea typeface="方正粗宋简体" pitchFamily="65" charset="-122"/>
              </a:rPr>
              <a:t>——</a:t>
            </a:r>
            <a:r>
              <a:rPr lang="zh-CN" altLang="en-US" b="1" dirty="0">
                <a:solidFill>
                  <a:srgbClr val="CC0000"/>
                </a:solidFill>
                <a:latin typeface="方正粗宋简体" pitchFamily="65" charset="-122"/>
                <a:ea typeface="方正粗宋简体" pitchFamily="65" charset="-122"/>
              </a:rPr>
              <a:t>质心</a:t>
            </a:r>
            <a:r>
              <a:rPr lang="zh-CN" altLang="en-US" b="1">
                <a:solidFill>
                  <a:srgbClr val="CC0000"/>
                </a:solidFill>
                <a:latin typeface="方正粗宋简体" pitchFamily="65" charset="-122"/>
                <a:ea typeface="方正粗宋简体" pitchFamily="65" charset="-122"/>
              </a:rPr>
              <a:t>运动定理。</a:t>
            </a:r>
            <a:r>
              <a:rPr lang="zh-CN" altLang="en-US" b="1" dirty="0">
                <a:solidFill>
                  <a:srgbClr val="993300"/>
                </a:solidFill>
                <a:latin typeface="方正粗宋简体" pitchFamily="65" charset="-122"/>
                <a:ea typeface="方正粗宋简体" pitchFamily="65" charset="-122"/>
              </a:rPr>
              <a:t>质心运动定理描述了物体质心的运动。体系的内力不影响质心的运动。</a:t>
            </a:r>
          </a:p>
        </p:txBody>
      </p:sp>
      <p:sp>
        <p:nvSpPr>
          <p:cNvPr id="13" name="椭圆 12"/>
          <p:cNvSpPr>
            <a:spLocks noChangeArrowheads="1"/>
          </p:cNvSpPr>
          <p:nvPr/>
        </p:nvSpPr>
        <p:spPr bwMode="auto">
          <a:xfrm>
            <a:off x="2930327" y="1236663"/>
            <a:ext cx="849511" cy="1303337"/>
          </a:xfrm>
          <a:prstGeom prst="ellipse">
            <a:avLst/>
          </a:prstGeom>
          <a:solidFill>
            <a:schemeClr val="accent1">
              <a:alpha val="41176"/>
            </a:schemeClr>
          </a:solidFill>
          <a:ln w="9525" algn="ctr">
            <a:solidFill>
              <a:schemeClr val="tx1"/>
            </a:solidFill>
            <a:round/>
            <a:headEnd/>
            <a:tailEnd/>
          </a:ln>
        </p:spPr>
        <p:txBody>
          <a:bodyPr/>
          <a:lstStyle/>
          <a:p>
            <a:pPr>
              <a:spcBef>
                <a:spcPct val="20000"/>
              </a:spcBef>
            </a:pPr>
            <a:endParaRPr lang="en-US" altLang="zh-CN" b="1"/>
          </a:p>
        </p:txBody>
      </p:sp>
      <p:sp>
        <p:nvSpPr>
          <p:cNvPr id="3" name="矩形 2"/>
          <p:cNvSpPr/>
          <p:nvPr/>
        </p:nvSpPr>
        <p:spPr>
          <a:xfrm>
            <a:off x="971600" y="4076700"/>
            <a:ext cx="1422400" cy="461963"/>
          </a:xfrm>
          <a:prstGeom prst="rect">
            <a:avLst/>
          </a:prstGeom>
        </p:spPr>
        <p:txBody>
          <a:bodyPr wrap="none">
            <a:spAutoFit/>
          </a:bodyPr>
          <a:lstStyle/>
          <a:p>
            <a:pPr>
              <a:spcBef>
                <a:spcPct val="20000"/>
              </a:spcBef>
              <a:defRPr/>
            </a:pPr>
            <a:r>
              <a:rPr lang="zh-CN" altLang="en-US" b="1" dirty="0">
                <a:solidFill>
                  <a:srgbClr val="000C0C"/>
                </a:solidFill>
                <a:latin typeface="楷体_GB2312" pitchFamily="49" charset="-122"/>
              </a:rPr>
              <a:t>微分形式</a:t>
            </a:r>
            <a:endParaRPr lang="zh-CN" altLang="en-US" b="1" dirty="0">
              <a:solidFill>
                <a:srgbClr val="000C0C"/>
              </a:solidFill>
              <a:effectLst>
                <a:outerShdw blurRad="38100" dist="38100" dir="2700000" algn="tl">
                  <a:srgbClr val="C0C0C0"/>
                </a:outerShdw>
              </a:effectLst>
              <a:latin typeface="楷体_GB2312" pitchFamily="49" charset="-122"/>
            </a:endParaRPr>
          </a:p>
        </p:txBody>
      </p:sp>
      <p:sp>
        <p:nvSpPr>
          <p:cNvPr id="14" name="矩形 13"/>
          <p:cNvSpPr/>
          <p:nvPr/>
        </p:nvSpPr>
        <p:spPr>
          <a:xfrm>
            <a:off x="971550" y="3429000"/>
            <a:ext cx="1422400" cy="461963"/>
          </a:xfrm>
          <a:prstGeom prst="rect">
            <a:avLst/>
          </a:prstGeom>
        </p:spPr>
        <p:txBody>
          <a:bodyPr wrap="none">
            <a:spAutoFit/>
          </a:bodyPr>
          <a:lstStyle/>
          <a:p>
            <a:pPr>
              <a:spcBef>
                <a:spcPct val="20000"/>
              </a:spcBef>
              <a:defRPr/>
            </a:pPr>
            <a:r>
              <a:rPr lang="zh-CN" altLang="en-US" b="1" dirty="0">
                <a:solidFill>
                  <a:srgbClr val="000C0C"/>
                </a:solidFill>
                <a:latin typeface="楷体_GB2312" pitchFamily="49" charset="-122"/>
              </a:rPr>
              <a:t>积分形式</a:t>
            </a:r>
            <a:endParaRPr lang="zh-CN" altLang="en-US" b="1" dirty="0">
              <a:solidFill>
                <a:srgbClr val="000C0C"/>
              </a:solidFill>
              <a:effectLst>
                <a:outerShdw blurRad="38100" dist="38100" dir="2700000" algn="tl">
                  <a:srgbClr val="C0C0C0"/>
                </a:outerShdw>
              </a:effectLst>
              <a:latin typeface="楷体_GB2312" pitchFamily="49" charset="-122"/>
            </a:endParaRPr>
          </a:p>
        </p:txBody>
      </p:sp>
      <p:sp>
        <p:nvSpPr>
          <p:cNvPr id="17" name="矩形 16">
            <a:extLst>
              <a:ext uri="{FF2B5EF4-FFF2-40B4-BE49-F238E27FC236}">
                <a16:creationId xmlns:a16="http://schemas.microsoft.com/office/drawing/2014/main" id="{3258174A-74E8-4D3F-99F2-BF03EAE301BD}"/>
              </a:ext>
            </a:extLst>
          </p:cNvPr>
          <p:cNvSpPr/>
          <p:nvPr/>
        </p:nvSpPr>
        <p:spPr>
          <a:xfrm>
            <a:off x="4774644" y="1779885"/>
            <a:ext cx="1723549" cy="461665"/>
          </a:xfrm>
          <a:prstGeom prst="rect">
            <a:avLst/>
          </a:prstGeom>
        </p:spPr>
        <p:txBody>
          <a:bodyPr wrap="none">
            <a:spAutoFit/>
          </a:bodyPr>
          <a:lstStyle/>
          <a:p>
            <a:r>
              <a:rPr lang="zh-CN" altLang="en-US" b="1" dirty="0">
                <a:solidFill>
                  <a:srgbClr val="000C0C"/>
                </a:solidFill>
                <a:latin typeface="楷体_GB2312" pitchFamily="49" charset="-122"/>
              </a:rPr>
              <a:t>质心的速度</a:t>
            </a:r>
            <a:endParaRPr lang="zh-CN" altLang="en-US" dirty="0"/>
          </a:p>
        </p:txBody>
      </p:sp>
      <p:grpSp>
        <p:nvGrpSpPr>
          <p:cNvPr id="18" name="Group 49">
            <a:extLst>
              <a:ext uri="{FF2B5EF4-FFF2-40B4-BE49-F238E27FC236}">
                <a16:creationId xmlns:a16="http://schemas.microsoft.com/office/drawing/2014/main" id="{1D8BF8D8-44C4-471C-BC5C-F12864DBD306}"/>
              </a:ext>
            </a:extLst>
          </p:cNvPr>
          <p:cNvGrpSpPr>
            <a:grpSpLocks/>
          </p:cNvGrpSpPr>
          <p:nvPr/>
        </p:nvGrpSpPr>
        <p:grpSpPr bwMode="auto">
          <a:xfrm>
            <a:off x="6490741" y="2459037"/>
            <a:ext cx="2638425" cy="2738438"/>
            <a:chOff x="3486" y="1593"/>
            <a:chExt cx="1662" cy="1725"/>
          </a:xfrm>
        </p:grpSpPr>
        <p:sp>
          <p:nvSpPr>
            <p:cNvPr id="19" name="Freeform 9">
              <a:extLst>
                <a:ext uri="{FF2B5EF4-FFF2-40B4-BE49-F238E27FC236}">
                  <a16:creationId xmlns:a16="http://schemas.microsoft.com/office/drawing/2014/main" id="{70A63314-5599-4F05-9759-DBBCFEE6D147}"/>
                </a:ext>
              </a:extLst>
            </p:cNvPr>
            <p:cNvSpPr>
              <a:spLocks/>
            </p:cNvSpPr>
            <p:nvPr/>
          </p:nvSpPr>
          <p:spPr bwMode="auto">
            <a:xfrm>
              <a:off x="3486" y="1593"/>
              <a:ext cx="1662" cy="1725"/>
            </a:xfrm>
            <a:custGeom>
              <a:avLst/>
              <a:gdLst>
                <a:gd name="T0" fmla="*/ 2 w 2070"/>
                <a:gd name="T1" fmla="*/ 3 h 2055"/>
                <a:gd name="T2" fmla="*/ 3 w 2070"/>
                <a:gd name="T3" fmla="*/ 3 h 2055"/>
                <a:gd name="T4" fmla="*/ 5 w 2070"/>
                <a:gd name="T5" fmla="*/ 3 h 2055"/>
                <a:gd name="T6" fmla="*/ 9 w 2070"/>
                <a:gd name="T7" fmla="*/ 3 h 2055"/>
                <a:gd name="T8" fmla="*/ 9 w 2070"/>
                <a:gd name="T9" fmla="*/ 3 h 2055"/>
                <a:gd name="T10" fmla="*/ 10 w 2070"/>
                <a:gd name="T11" fmla="*/ 3 h 2055"/>
                <a:gd name="T12" fmla="*/ 10 w 2070"/>
                <a:gd name="T13" fmla="*/ 3 h 2055"/>
                <a:gd name="T14" fmla="*/ 11 w 2070"/>
                <a:gd name="T15" fmla="*/ 3 h 2055"/>
                <a:gd name="T16" fmla="*/ 11 w 2070"/>
                <a:gd name="T17" fmla="*/ 5 h 2055"/>
                <a:gd name="T18" fmla="*/ 11 w 2070"/>
                <a:gd name="T19" fmla="*/ 6 h 2055"/>
                <a:gd name="T20" fmla="*/ 11 w 2070"/>
                <a:gd name="T21" fmla="*/ 6 h 2055"/>
                <a:gd name="T22" fmla="*/ 11 w 2070"/>
                <a:gd name="T23" fmla="*/ 7 h 2055"/>
                <a:gd name="T24" fmla="*/ 11 w 2070"/>
                <a:gd name="T25" fmla="*/ 8 h 2055"/>
                <a:gd name="T26" fmla="*/ 12 w 2070"/>
                <a:gd name="T27" fmla="*/ 9 h 2055"/>
                <a:gd name="T28" fmla="*/ 12 w 2070"/>
                <a:gd name="T29" fmla="*/ 10 h 2055"/>
                <a:gd name="T30" fmla="*/ 13 w 2070"/>
                <a:gd name="T31" fmla="*/ 11 h 2055"/>
                <a:gd name="T32" fmla="*/ 13 w 2070"/>
                <a:gd name="T33" fmla="*/ 14 h 2055"/>
                <a:gd name="T34" fmla="*/ 14 w 2070"/>
                <a:gd name="T35" fmla="*/ 24 h 2055"/>
                <a:gd name="T36" fmla="*/ 13 w 2070"/>
                <a:gd name="T37" fmla="*/ 29 h 2055"/>
                <a:gd name="T38" fmla="*/ 12 w 2070"/>
                <a:gd name="T39" fmla="*/ 32 h 2055"/>
                <a:gd name="T40" fmla="*/ 11 w 2070"/>
                <a:gd name="T41" fmla="*/ 33 h 2055"/>
                <a:gd name="T42" fmla="*/ 11 w 2070"/>
                <a:gd name="T43" fmla="*/ 35 h 2055"/>
                <a:gd name="T44" fmla="*/ 10 w 2070"/>
                <a:gd name="T45" fmla="*/ 36 h 2055"/>
                <a:gd name="T46" fmla="*/ 9 w 2070"/>
                <a:gd name="T47" fmla="*/ 35 h 2055"/>
                <a:gd name="T48" fmla="*/ 9 w 2070"/>
                <a:gd name="T49" fmla="*/ 35 h 2055"/>
                <a:gd name="T50" fmla="*/ 8 w 2070"/>
                <a:gd name="T51" fmla="*/ 35 h 2055"/>
                <a:gd name="T52" fmla="*/ 7 w 2070"/>
                <a:gd name="T53" fmla="*/ 33 h 2055"/>
                <a:gd name="T54" fmla="*/ 7 w 2070"/>
                <a:gd name="T55" fmla="*/ 31 h 2055"/>
                <a:gd name="T56" fmla="*/ 7 w 2070"/>
                <a:gd name="T57" fmla="*/ 29 h 2055"/>
                <a:gd name="T58" fmla="*/ 6 w 2070"/>
                <a:gd name="T59" fmla="*/ 29 h 2055"/>
                <a:gd name="T60" fmla="*/ 6 w 2070"/>
                <a:gd name="T61" fmla="*/ 29 h 2055"/>
                <a:gd name="T62" fmla="*/ 6 w 2070"/>
                <a:gd name="T63" fmla="*/ 28 h 2055"/>
                <a:gd name="T64" fmla="*/ 5 w 2070"/>
                <a:gd name="T65" fmla="*/ 27 h 2055"/>
                <a:gd name="T66" fmla="*/ 5 w 2070"/>
                <a:gd name="T67" fmla="*/ 24 h 2055"/>
                <a:gd name="T68" fmla="*/ 4 w 2070"/>
                <a:gd name="T69" fmla="*/ 24 h 2055"/>
                <a:gd name="T70" fmla="*/ 2 w 2070"/>
                <a:gd name="T71" fmla="*/ 20 h 2055"/>
                <a:gd name="T72" fmla="*/ 2 w 2070"/>
                <a:gd name="T73" fmla="*/ 20 h 2055"/>
                <a:gd name="T74" fmla="*/ 2 w 2070"/>
                <a:gd name="T75" fmla="*/ 17 h 2055"/>
                <a:gd name="T76" fmla="*/ 2 w 2070"/>
                <a:gd name="T77" fmla="*/ 17 h 2055"/>
                <a:gd name="T78" fmla="*/ 2 w 2070"/>
                <a:gd name="T79" fmla="*/ 17 h 2055"/>
                <a:gd name="T80" fmla="*/ 2 w 2070"/>
                <a:gd name="T81" fmla="*/ 16 h 2055"/>
                <a:gd name="T82" fmla="*/ 2 w 2070"/>
                <a:gd name="T83" fmla="*/ 14 h 2055"/>
                <a:gd name="T84" fmla="*/ 2 w 2070"/>
                <a:gd name="T85" fmla="*/ 14 h 2055"/>
                <a:gd name="T86" fmla="*/ 2 w 2070"/>
                <a:gd name="T87" fmla="*/ 13 h 2055"/>
                <a:gd name="T88" fmla="*/ 2 w 2070"/>
                <a:gd name="T89" fmla="*/ 11 h 2055"/>
                <a:gd name="T90" fmla="*/ 0 w 2070"/>
                <a:gd name="T91" fmla="*/ 10 h 2055"/>
                <a:gd name="T92" fmla="*/ 2 w 2070"/>
                <a:gd name="T93" fmla="*/ 5 h 2055"/>
                <a:gd name="T94" fmla="*/ 2 w 2070"/>
                <a:gd name="T95" fmla="*/ 4 h 2055"/>
                <a:gd name="T96" fmla="*/ 2 w 2070"/>
                <a:gd name="T97" fmla="*/ 4 h 2055"/>
                <a:gd name="T98" fmla="*/ 2 w 2070"/>
                <a:gd name="T99" fmla="*/ 3 h 2055"/>
                <a:gd name="T100" fmla="*/ 2 w 2070"/>
                <a:gd name="T101" fmla="*/ 3 h 2055"/>
                <a:gd name="T102" fmla="*/ 2 w 2070"/>
                <a:gd name="T103" fmla="*/ 3 h 2055"/>
                <a:gd name="T104" fmla="*/ 2 w 2070"/>
                <a:gd name="T105" fmla="*/ 3 h 2055"/>
                <a:gd name="T106" fmla="*/ 2 w 2070"/>
                <a:gd name="T107" fmla="*/ 3 h 20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70"/>
                <a:gd name="T163" fmla="*/ 0 h 2055"/>
                <a:gd name="T164" fmla="*/ 2070 w 2070"/>
                <a:gd name="T165" fmla="*/ 2055 h 205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70" h="2055">
                  <a:moveTo>
                    <a:pt x="320" y="62"/>
                  </a:moveTo>
                  <a:cubicBezTo>
                    <a:pt x="378" y="43"/>
                    <a:pt x="450" y="39"/>
                    <a:pt x="512" y="30"/>
                  </a:cubicBezTo>
                  <a:cubicBezTo>
                    <a:pt x="603" y="0"/>
                    <a:pt x="543" y="15"/>
                    <a:pt x="696" y="6"/>
                  </a:cubicBezTo>
                  <a:cubicBezTo>
                    <a:pt x="957" y="11"/>
                    <a:pt x="1163" y="13"/>
                    <a:pt x="1408" y="54"/>
                  </a:cubicBezTo>
                  <a:cubicBezTo>
                    <a:pt x="1468" y="94"/>
                    <a:pt x="1392" y="47"/>
                    <a:pt x="1464" y="78"/>
                  </a:cubicBezTo>
                  <a:cubicBezTo>
                    <a:pt x="1503" y="95"/>
                    <a:pt x="1475" y="98"/>
                    <a:pt x="1520" y="118"/>
                  </a:cubicBezTo>
                  <a:cubicBezTo>
                    <a:pt x="1545" y="130"/>
                    <a:pt x="1574" y="133"/>
                    <a:pt x="1600" y="142"/>
                  </a:cubicBezTo>
                  <a:cubicBezTo>
                    <a:pt x="1642" y="174"/>
                    <a:pt x="1686" y="173"/>
                    <a:pt x="1736" y="190"/>
                  </a:cubicBezTo>
                  <a:cubicBezTo>
                    <a:pt x="1817" y="271"/>
                    <a:pt x="1761" y="205"/>
                    <a:pt x="1800" y="270"/>
                  </a:cubicBezTo>
                  <a:cubicBezTo>
                    <a:pt x="1810" y="286"/>
                    <a:pt x="1821" y="302"/>
                    <a:pt x="1832" y="318"/>
                  </a:cubicBezTo>
                  <a:cubicBezTo>
                    <a:pt x="1837" y="326"/>
                    <a:pt x="1848" y="342"/>
                    <a:pt x="1848" y="342"/>
                  </a:cubicBezTo>
                  <a:cubicBezTo>
                    <a:pt x="1856" y="369"/>
                    <a:pt x="1867" y="395"/>
                    <a:pt x="1872" y="422"/>
                  </a:cubicBezTo>
                  <a:cubicBezTo>
                    <a:pt x="1876" y="443"/>
                    <a:pt x="1873" y="466"/>
                    <a:pt x="1880" y="486"/>
                  </a:cubicBezTo>
                  <a:cubicBezTo>
                    <a:pt x="1884" y="497"/>
                    <a:pt x="1896" y="502"/>
                    <a:pt x="1904" y="510"/>
                  </a:cubicBezTo>
                  <a:cubicBezTo>
                    <a:pt x="1907" y="521"/>
                    <a:pt x="1908" y="532"/>
                    <a:pt x="1912" y="542"/>
                  </a:cubicBezTo>
                  <a:cubicBezTo>
                    <a:pt x="1921" y="564"/>
                    <a:pt x="1944" y="606"/>
                    <a:pt x="1944" y="606"/>
                  </a:cubicBezTo>
                  <a:cubicBezTo>
                    <a:pt x="1955" y="681"/>
                    <a:pt x="1995" y="740"/>
                    <a:pt x="2008" y="814"/>
                  </a:cubicBezTo>
                  <a:cubicBezTo>
                    <a:pt x="2038" y="978"/>
                    <a:pt x="2046" y="1145"/>
                    <a:pt x="2064" y="1310"/>
                  </a:cubicBezTo>
                  <a:cubicBezTo>
                    <a:pt x="2051" y="1412"/>
                    <a:pt x="2070" y="1524"/>
                    <a:pt x="2040" y="1622"/>
                  </a:cubicBezTo>
                  <a:cubicBezTo>
                    <a:pt x="2021" y="1684"/>
                    <a:pt x="1937" y="1718"/>
                    <a:pt x="1888" y="1750"/>
                  </a:cubicBezTo>
                  <a:cubicBezTo>
                    <a:pt x="1860" y="1792"/>
                    <a:pt x="1828" y="1834"/>
                    <a:pt x="1792" y="1870"/>
                  </a:cubicBezTo>
                  <a:cubicBezTo>
                    <a:pt x="1775" y="1920"/>
                    <a:pt x="1757" y="1964"/>
                    <a:pt x="1704" y="1982"/>
                  </a:cubicBezTo>
                  <a:cubicBezTo>
                    <a:pt x="1678" y="2022"/>
                    <a:pt x="1630" y="2038"/>
                    <a:pt x="1584" y="2046"/>
                  </a:cubicBezTo>
                  <a:cubicBezTo>
                    <a:pt x="1504" y="2043"/>
                    <a:pt x="1422" y="2055"/>
                    <a:pt x="1344" y="2038"/>
                  </a:cubicBezTo>
                  <a:cubicBezTo>
                    <a:pt x="1328" y="2034"/>
                    <a:pt x="1341" y="2001"/>
                    <a:pt x="1328" y="1990"/>
                  </a:cubicBezTo>
                  <a:cubicBezTo>
                    <a:pt x="1311" y="1976"/>
                    <a:pt x="1285" y="1979"/>
                    <a:pt x="1264" y="1974"/>
                  </a:cubicBezTo>
                  <a:cubicBezTo>
                    <a:pt x="1234" y="1915"/>
                    <a:pt x="1199" y="1869"/>
                    <a:pt x="1152" y="1822"/>
                  </a:cubicBezTo>
                  <a:cubicBezTo>
                    <a:pt x="1141" y="1788"/>
                    <a:pt x="1121" y="1767"/>
                    <a:pt x="1096" y="1742"/>
                  </a:cubicBezTo>
                  <a:cubicBezTo>
                    <a:pt x="1091" y="1726"/>
                    <a:pt x="1093" y="1705"/>
                    <a:pt x="1080" y="1694"/>
                  </a:cubicBezTo>
                  <a:cubicBezTo>
                    <a:pt x="1068" y="1683"/>
                    <a:pt x="1043" y="1697"/>
                    <a:pt x="1032" y="1686"/>
                  </a:cubicBezTo>
                  <a:cubicBezTo>
                    <a:pt x="957" y="1611"/>
                    <a:pt x="1104" y="1651"/>
                    <a:pt x="976" y="1630"/>
                  </a:cubicBezTo>
                  <a:cubicBezTo>
                    <a:pt x="928" y="1582"/>
                    <a:pt x="920" y="1572"/>
                    <a:pt x="864" y="1526"/>
                  </a:cubicBezTo>
                  <a:cubicBezTo>
                    <a:pt x="841" y="1507"/>
                    <a:pt x="814" y="1505"/>
                    <a:pt x="792" y="1486"/>
                  </a:cubicBezTo>
                  <a:cubicBezTo>
                    <a:pt x="759" y="1457"/>
                    <a:pt x="736" y="1434"/>
                    <a:pt x="696" y="1414"/>
                  </a:cubicBezTo>
                  <a:cubicBezTo>
                    <a:pt x="671" y="1377"/>
                    <a:pt x="634" y="1379"/>
                    <a:pt x="600" y="1350"/>
                  </a:cubicBezTo>
                  <a:cubicBezTo>
                    <a:pt x="518" y="1280"/>
                    <a:pt x="426" y="1227"/>
                    <a:pt x="344" y="1158"/>
                  </a:cubicBezTo>
                  <a:cubicBezTo>
                    <a:pt x="328" y="1144"/>
                    <a:pt x="292" y="1096"/>
                    <a:pt x="280" y="1078"/>
                  </a:cubicBezTo>
                  <a:cubicBezTo>
                    <a:pt x="267" y="1058"/>
                    <a:pt x="265" y="1031"/>
                    <a:pt x="248" y="1014"/>
                  </a:cubicBezTo>
                  <a:cubicBezTo>
                    <a:pt x="237" y="1003"/>
                    <a:pt x="224" y="995"/>
                    <a:pt x="216" y="982"/>
                  </a:cubicBezTo>
                  <a:cubicBezTo>
                    <a:pt x="203" y="962"/>
                    <a:pt x="200" y="936"/>
                    <a:pt x="184" y="918"/>
                  </a:cubicBezTo>
                  <a:cubicBezTo>
                    <a:pt x="169" y="902"/>
                    <a:pt x="147" y="897"/>
                    <a:pt x="128" y="886"/>
                  </a:cubicBezTo>
                  <a:cubicBezTo>
                    <a:pt x="125" y="870"/>
                    <a:pt x="127" y="853"/>
                    <a:pt x="120" y="838"/>
                  </a:cubicBezTo>
                  <a:cubicBezTo>
                    <a:pt x="115" y="828"/>
                    <a:pt x="103" y="823"/>
                    <a:pt x="96" y="814"/>
                  </a:cubicBezTo>
                  <a:cubicBezTo>
                    <a:pt x="70" y="780"/>
                    <a:pt x="62" y="752"/>
                    <a:pt x="40" y="718"/>
                  </a:cubicBezTo>
                  <a:cubicBezTo>
                    <a:pt x="32" y="686"/>
                    <a:pt x="25" y="654"/>
                    <a:pt x="16" y="622"/>
                  </a:cubicBezTo>
                  <a:cubicBezTo>
                    <a:pt x="12" y="606"/>
                    <a:pt x="0" y="574"/>
                    <a:pt x="0" y="574"/>
                  </a:cubicBezTo>
                  <a:cubicBezTo>
                    <a:pt x="4" y="499"/>
                    <a:pt x="6" y="317"/>
                    <a:pt x="88" y="262"/>
                  </a:cubicBezTo>
                  <a:cubicBezTo>
                    <a:pt x="93" y="254"/>
                    <a:pt x="97" y="245"/>
                    <a:pt x="104" y="238"/>
                  </a:cubicBezTo>
                  <a:cubicBezTo>
                    <a:pt x="111" y="231"/>
                    <a:pt x="122" y="229"/>
                    <a:pt x="128" y="222"/>
                  </a:cubicBezTo>
                  <a:cubicBezTo>
                    <a:pt x="165" y="180"/>
                    <a:pt x="147" y="179"/>
                    <a:pt x="184" y="150"/>
                  </a:cubicBezTo>
                  <a:cubicBezTo>
                    <a:pt x="199" y="138"/>
                    <a:pt x="214" y="124"/>
                    <a:pt x="232" y="118"/>
                  </a:cubicBezTo>
                  <a:cubicBezTo>
                    <a:pt x="248" y="113"/>
                    <a:pt x="280" y="102"/>
                    <a:pt x="280" y="102"/>
                  </a:cubicBezTo>
                  <a:cubicBezTo>
                    <a:pt x="285" y="94"/>
                    <a:pt x="288" y="84"/>
                    <a:pt x="296" y="78"/>
                  </a:cubicBezTo>
                  <a:cubicBezTo>
                    <a:pt x="323" y="57"/>
                    <a:pt x="320" y="82"/>
                    <a:pt x="320" y="62"/>
                  </a:cubicBezTo>
                  <a:close/>
                </a:path>
              </a:pathLst>
            </a:custGeom>
            <a:noFill/>
            <a:ln w="28575" cap="flat" cmpd="sng">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 name="Oval 13">
              <a:extLst>
                <a:ext uri="{FF2B5EF4-FFF2-40B4-BE49-F238E27FC236}">
                  <a16:creationId xmlns:a16="http://schemas.microsoft.com/office/drawing/2014/main" id="{01E70068-C172-4415-A3F5-963800546A2C}"/>
                </a:ext>
              </a:extLst>
            </p:cNvPr>
            <p:cNvSpPr>
              <a:spLocks noChangeArrowheads="1"/>
            </p:cNvSpPr>
            <p:nvPr/>
          </p:nvSpPr>
          <p:spPr bwMode="auto">
            <a:xfrm>
              <a:off x="4174" y="2625"/>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1" name="Oval 14">
              <a:extLst>
                <a:ext uri="{FF2B5EF4-FFF2-40B4-BE49-F238E27FC236}">
                  <a16:creationId xmlns:a16="http://schemas.microsoft.com/office/drawing/2014/main" id="{0DB1FFBD-4902-4083-BF75-20108590C07D}"/>
                </a:ext>
              </a:extLst>
            </p:cNvPr>
            <p:cNvSpPr>
              <a:spLocks noChangeArrowheads="1"/>
            </p:cNvSpPr>
            <p:nvPr/>
          </p:nvSpPr>
          <p:spPr bwMode="auto">
            <a:xfrm>
              <a:off x="4722" y="2644"/>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2" name="Oval 19">
              <a:extLst>
                <a:ext uri="{FF2B5EF4-FFF2-40B4-BE49-F238E27FC236}">
                  <a16:creationId xmlns:a16="http://schemas.microsoft.com/office/drawing/2014/main" id="{D3120B3C-11C2-4C70-94E1-B6EC7835B460}"/>
                </a:ext>
              </a:extLst>
            </p:cNvPr>
            <p:cNvSpPr>
              <a:spLocks noChangeArrowheads="1"/>
            </p:cNvSpPr>
            <p:nvPr/>
          </p:nvSpPr>
          <p:spPr bwMode="auto">
            <a:xfrm>
              <a:off x="4438" y="195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3" name="Oval 20">
              <a:extLst>
                <a:ext uri="{FF2B5EF4-FFF2-40B4-BE49-F238E27FC236}">
                  <a16:creationId xmlns:a16="http://schemas.microsoft.com/office/drawing/2014/main" id="{E984E8E2-66FA-4B60-9F7E-A2C8030EDC64}"/>
                </a:ext>
              </a:extLst>
            </p:cNvPr>
            <p:cNvSpPr>
              <a:spLocks noChangeArrowheads="1"/>
            </p:cNvSpPr>
            <p:nvPr/>
          </p:nvSpPr>
          <p:spPr bwMode="auto">
            <a:xfrm>
              <a:off x="4510" y="2943"/>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4" name="Oval 21">
              <a:extLst>
                <a:ext uri="{FF2B5EF4-FFF2-40B4-BE49-F238E27FC236}">
                  <a16:creationId xmlns:a16="http://schemas.microsoft.com/office/drawing/2014/main" id="{12A7C179-5734-4729-B514-5E1DE2CDBE10}"/>
                </a:ext>
              </a:extLst>
            </p:cNvPr>
            <p:cNvSpPr>
              <a:spLocks noChangeArrowheads="1"/>
            </p:cNvSpPr>
            <p:nvPr/>
          </p:nvSpPr>
          <p:spPr bwMode="auto">
            <a:xfrm>
              <a:off x="4828" y="201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5" name="Object 8">
                  <a:extLst>
                    <a:ext uri="{FF2B5EF4-FFF2-40B4-BE49-F238E27FC236}">
                      <a16:creationId xmlns:a16="http://schemas.microsoft.com/office/drawing/2014/main" id="{EFFEAB3A-FCCA-454B-8919-23076E417603}"/>
                    </a:ext>
                  </a:extLst>
                </p:cNvPr>
                <p:cNvSpPr txBox="1"/>
                <p:nvPr/>
              </p:nvSpPr>
              <p:spPr bwMode="auto">
                <a:xfrm>
                  <a:off x="4368" y="1683"/>
                  <a:ext cx="282" cy="32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33802" name="Object 8"/>
                <p:cNvSpPr txBox="1">
                  <a:spLocks noRot="1" noChangeAspect="1" noMove="1" noResize="1" noEditPoints="1" noAdjustHandles="1" noChangeArrowheads="1" noChangeShapeType="1" noTextEdit="1"/>
                </p:cNvSpPr>
                <p:nvPr/>
              </p:nvSpPr>
              <p:spPr bwMode="auto">
                <a:xfrm>
                  <a:off x="4368" y="1683"/>
                  <a:ext cx="282" cy="320"/>
                </a:xfrm>
                <a:prstGeom prst="rect">
                  <a:avLst/>
                </a:prstGeom>
                <a:blipFill>
                  <a:blip r:embed="rId7"/>
                  <a:stretch>
                    <a:fillRect r="-13699"/>
                  </a:stretch>
                </a:blipFill>
                <a:ln>
                  <a:noFill/>
                </a:ln>
                <a:effectLst/>
                <a:extLst/>
              </p:spPr>
              <p:txBody>
                <a:bodyPr/>
                <a:lstStyle/>
                <a:p>
                  <a:r>
                    <a:rPr lang="zh-CN" altLang="en-US">
                      <a:noFill/>
                    </a:rPr>
                    <a:t> </a:t>
                  </a:r>
                </a:p>
              </p:txBody>
            </p:sp>
          </mc:Fallback>
        </mc:AlternateContent>
        <p:sp>
          <p:nvSpPr>
            <p:cNvPr id="26" name="Oval 37">
              <a:extLst>
                <a:ext uri="{FF2B5EF4-FFF2-40B4-BE49-F238E27FC236}">
                  <a16:creationId xmlns:a16="http://schemas.microsoft.com/office/drawing/2014/main" id="{FFE8CD3A-E9A0-4984-8AAE-A8BA772A067B}"/>
                </a:ext>
              </a:extLst>
            </p:cNvPr>
            <p:cNvSpPr>
              <a:spLocks noChangeArrowheads="1"/>
            </p:cNvSpPr>
            <p:nvPr/>
          </p:nvSpPr>
          <p:spPr bwMode="auto">
            <a:xfrm>
              <a:off x="4858" y="2917"/>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7" name="Oval 38">
              <a:extLst>
                <a:ext uri="{FF2B5EF4-FFF2-40B4-BE49-F238E27FC236}">
                  <a16:creationId xmlns:a16="http://schemas.microsoft.com/office/drawing/2014/main" id="{E58B1A1B-B06B-465F-A318-FDEA32DB03E9}"/>
                </a:ext>
              </a:extLst>
            </p:cNvPr>
            <p:cNvSpPr>
              <a:spLocks noChangeArrowheads="1"/>
            </p:cNvSpPr>
            <p:nvPr/>
          </p:nvSpPr>
          <p:spPr bwMode="auto">
            <a:xfrm>
              <a:off x="4094" y="2069"/>
              <a:ext cx="66" cy="66"/>
            </a:xfrm>
            <a:prstGeom prst="ellipse">
              <a:avLst/>
            </a:prstGeom>
            <a:solidFill>
              <a:schemeClr val="folHlink"/>
            </a:solidFill>
            <a:ln w="9525">
              <a:solidFill>
                <a:schemeClr val="folHlink"/>
              </a:solidFill>
              <a:round/>
              <a:headEnd/>
              <a:tailEnd/>
            </a:ln>
          </p:spPr>
          <p:txBody>
            <a:bodyPr wrap="none" anchor="ctr"/>
            <a:lstStyle/>
            <a:p>
              <a:pPr>
                <a:spcBef>
                  <a:spcPct val="20000"/>
                </a:spcBef>
              </a:pPr>
              <a:endParaRPr lang="en-US" altLang="zh-CN"/>
            </a:p>
          </p:txBody>
        </p:sp>
        <p:sp>
          <p:nvSpPr>
            <p:cNvPr id="28" name="Oval 43">
              <a:extLst>
                <a:ext uri="{FF2B5EF4-FFF2-40B4-BE49-F238E27FC236}">
                  <a16:creationId xmlns:a16="http://schemas.microsoft.com/office/drawing/2014/main" id="{D972AE05-4720-4FF0-9DC5-783F20764685}"/>
                </a:ext>
              </a:extLst>
            </p:cNvPr>
            <p:cNvSpPr>
              <a:spLocks noChangeArrowheads="1"/>
            </p:cNvSpPr>
            <p:nvPr/>
          </p:nvSpPr>
          <p:spPr bwMode="auto">
            <a:xfrm>
              <a:off x="4483" y="2522"/>
              <a:ext cx="47" cy="47"/>
            </a:xfrm>
            <a:prstGeom prst="ellipse">
              <a:avLst/>
            </a:prstGeom>
            <a:solidFill>
              <a:srgbClr val="FF0000"/>
            </a:solidFill>
            <a:ln w="9525">
              <a:solidFill>
                <a:srgbClr val="FF0000"/>
              </a:solidFill>
              <a:round/>
              <a:headEnd/>
              <a:tailEnd/>
            </a:ln>
          </p:spPr>
          <p:txBody>
            <a:bodyPr wrap="none" anchor="ctr"/>
            <a:lstStyle/>
            <a:p>
              <a:pPr>
                <a:spcBef>
                  <a:spcPct val="20000"/>
                </a:spcBef>
              </a:pPr>
              <a:endParaRPr lang="en-US" altLang="zh-CN"/>
            </a:p>
          </p:txBody>
        </p:sp>
        <p:sp>
          <p:nvSpPr>
            <p:cNvPr id="29" name="Text Box 44">
              <a:extLst>
                <a:ext uri="{FF2B5EF4-FFF2-40B4-BE49-F238E27FC236}">
                  <a16:creationId xmlns:a16="http://schemas.microsoft.com/office/drawing/2014/main" id="{178A560A-1EEC-4D54-BFFC-811D91098F90}"/>
                </a:ext>
              </a:extLst>
            </p:cNvPr>
            <p:cNvSpPr txBox="1">
              <a:spLocks noChangeArrowheads="1"/>
            </p:cNvSpPr>
            <p:nvPr/>
          </p:nvSpPr>
          <p:spPr bwMode="auto">
            <a:xfrm>
              <a:off x="4296" y="2190"/>
              <a:ext cx="81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en-US" altLang="zh-CN">
                  <a:solidFill>
                    <a:srgbClr val="FF0000"/>
                  </a:solidFill>
                </a:rPr>
                <a:t> </a:t>
              </a:r>
              <a:r>
                <a:rPr lang="en-US" altLang="zh-CN" i="1">
                  <a:solidFill>
                    <a:srgbClr val="FF0000"/>
                  </a:solidFill>
                </a:rPr>
                <a:t>c</a:t>
              </a:r>
              <a:r>
                <a:rPr lang="zh-CN" altLang="en-US" sz="2800">
                  <a:solidFill>
                    <a:srgbClr val="FF0000"/>
                  </a:solidFill>
                </a:rPr>
                <a:t>质心</a:t>
              </a:r>
            </a:p>
          </p:txBody>
        </p:sp>
        <p:sp>
          <p:nvSpPr>
            <p:cNvPr id="30" name="Text Box 46">
              <a:extLst>
                <a:ext uri="{FF2B5EF4-FFF2-40B4-BE49-F238E27FC236}">
                  <a16:creationId xmlns:a16="http://schemas.microsoft.com/office/drawing/2014/main" id="{82A2D04A-3F9A-4CF7-8F2C-6D0DAF2B0130}"/>
                </a:ext>
              </a:extLst>
            </p:cNvPr>
            <p:cNvSpPr txBox="1">
              <a:spLocks noChangeArrowheads="1"/>
            </p:cNvSpPr>
            <p:nvPr/>
          </p:nvSpPr>
          <p:spPr bwMode="auto">
            <a:xfrm>
              <a:off x="3546" y="1951"/>
              <a:ext cx="857" cy="3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dirty="0"/>
                <a:t>质点系</a:t>
              </a:r>
            </a:p>
          </p:txBody>
        </p:sp>
      </p:grpSp>
      <mc:AlternateContent xmlns:mc="http://schemas.openxmlformats.org/markup-compatibility/2006" xmlns:a14="http://schemas.microsoft.com/office/drawing/2010/main">
        <mc:Choice Requires="a14">
          <p:sp>
            <p:nvSpPr>
              <p:cNvPr id="31" name="Object 3">
                <a:extLst>
                  <a:ext uri="{FF2B5EF4-FFF2-40B4-BE49-F238E27FC236}">
                    <a16:creationId xmlns:a16="http://schemas.microsoft.com/office/drawing/2014/main" id="{DDCDF6ED-042E-4619-90AA-1F92927B6353}"/>
                  </a:ext>
                </a:extLst>
              </p:cNvPr>
              <p:cNvSpPr txBox="1">
                <a:spLocks/>
              </p:cNvSpPr>
              <p:nvPr/>
            </p:nvSpPr>
            <p:spPr bwMode="auto">
              <a:xfrm>
                <a:off x="6418836" y="1477963"/>
                <a:ext cx="2638425" cy="108267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pPr>
                  <a:buFontTx/>
                  <a:buNone/>
                </a:pPr>
                <a14:m>
                  <m:oMathPara xmlns:m="http://schemas.openxmlformats.org/officeDocument/2006/math">
                    <m:oMathParaPr>
                      <m:jc m:val="centerGroup"/>
                    </m:oMathParaPr>
                    <m:oMath xmlns:m="http://schemas.openxmlformats.org/officeDocument/2006/math">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𝑣</m:t>
                              </m:r>
                            </m:e>
                          </m:acc>
                        </m:e>
                        <m:sub>
                          <m:r>
                            <a:rPr lang="zh-CN" altLang="en-US" i="1" kern="0">
                              <a:solidFill>
                                <a:srgbClr val="000000"/>
                              </a:solidFill>
                              <a:latin typeface="Cambria Math" panose="02040503050406030204" pitchFamily="18" charset="0"/>
                            </a:rPr>
                            <m:t>𝑐</m:t>
                          </m:r>
                        </m:sub>
                      </m:sSub>
                      <m:r>
                        <a:rPr lang="en-US" altLang="zh-CN" b="0" i="1" kern="0" smtClean="0">
                          <a:solidFill>
                            <a:srgbClr val="000000"/>
                          </a:solidFill>
                          <a:latin typeface="Cambria Math" panose="02040503050406030204" pitchFamily="18" charset="0"/>
                        </a:rPr>
                        <m:t>=</m:t>
                      </m:r>
                      <m:f>
                        <m:fPr>
                          <m:ctrlPr>
                            <a:rPr lang="zh-CN" altLang="en-US" i="1" kern="0">
                              <a:solidFill>
                                <a:srgbClr val="000000"/>
                              </a:solidFill>
                              <a:latin typeface="Cambria Math" panose="02040503050406030204" pitchFamily="18" charset="0"/>
                            </a:rPr>
                          </m:ctrlPr>
                        </m:fPr>
                        <m:num>
                          <m:r>
                            <m:rPr>
                              <m:sty m:val="p"/>
                            </m:rPr>
                            <a:rPr lang="zh-CN" altLang="en-US" i="0" kern="0">
                              <a:solidFill>
                                <a:srgbClr val="000000"/>
                              </a:solidFill>
                              <a:latin typeface="Cambria Math" panose="02040503050406030204" pitchFamily="18" charset="0"/>
                            </a:rPr>
                            <m:t>d</m:t>
                          </m:r>
                        </m:num>
                        <m:den>
                          <m:r>
                            <m:rPr>
                              <m:sty m:val="p"/>
                            </m:rPr>
                            <a:rPr lang="zh-CN" altLang="en-US" i="0" kern="0">
                              <a:solidFill>
                                <a:srgbClr val="000000"/>
                              </a:solidFill>
                              <a:latin typeface="Cambria Math" panose="02040503050406030204" pitchFamily="18" charset="0"/>
                            </a:rPr>
                            <m:t>d</m:t>
                          </m:r>
                          <m:r>
                            <a:rPr lang="zh-CN" altLang="en-US" i="1" kern="0">
                              <a:solidFill>
                                <a:srgbClr val="000000"/>
                              </a:solidFill>
                              <a:latin typeface="Cambria Math" panose="02040503050406030204" pitchFamily="18" charset="0"/>
                            </a:rPr>
                            <m:t>𝑡</m:t>
                          </m:r>
                        </m:den>
                      </m:f>
                      <m:f>
                        <m:fPr>
                          <m:ctrlPr>
                            <a:rPr lang="zh-CN" altLang="en-US" i="1" kern="0">
                              <a:solidFill>
                                <a:srgbClr val="000000"/>
                              </a:solidFill>
                              <a:latin typeface="Cambria Math" panose="02040503050406030204" pitchFamily="18" charset="0"/>
                            </a:rPr>
                          </m:ctrlPr>
                        </m:fPr>
                        <m:num>
                          <m:nary>
                            <m:naryPr>
                              <m:chr m:val="∑"/>
                              <m:supHide m:val="on"/>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𝑖</m:t>
                              </m:r>
                            </m:sub>
                            <m:sup/>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𝑚</m:t>
                                  </m:r>
                                </m:e>
                                <m:sub>
                                  <m:r>
                                    <a:rPr lang="zh-CN" altLang="en-US" i="1" kern="0">
                                      <a:solidFill>
                                        <a:srgbClr val="000000"/>
                                      </a:solidFill>
                                      <a:latin typeface="Cambria Math" panose="02040503050406030204" pitchFamily="18" charset="0"/>
                                    </a:rPr>
                                    <m:t>𝑖</m:t>
                                  </m:r>
                                </m:sub>
                              </m:sSub>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𝑟</m:t>
                                      </m:r>
                                    </m:e>
                                  </m:acc>
                                </m:e>
                                <m:sub>
                                  <m:r>
                                    <a:rPr lang="zh-CN" altLang="en-US" i="1" kern="0">
                                      <a:solidFill>
                                        <a:srgbClr val="000000"/>
                                      </a:solidFill>
                                      <a:latin typeface="Cambria Math" panose="02040503050406030204" pitchFamily="18" charset="0"/>
                                    </a:rPr>
                                    <m:t>𝑖</m:t>
                                  </m:r>
                                </m:sub>
                              </m:sSub>
                            </m:e>
                          </m:nary>
                        </m:num>
                        <m:den>
                          <m:r>
                            <a:rPr lang="zh-CN" altLang="en-US" i="1" kern="0">
                              <a:solidFill>
                                <a:srgbClr val="000000"/>
                              </a:solidFill>
                              <a:latin typeface="Cambria Math" panose="02040503050406030204" pitchFamily="18" charset="0"/>
                            </a:rPr>
                            <m:t>𝑀</m:t>
                          </m:r>
                        </m:den>
                      </m:f>
                    </m:oMath>
                  </m:oMathPara>
                </a14:m>
                <a:endParaRPr lang="zh-CN" altLang="en-US" kern="0" dirty="0"/>
              </a:p>
            </p:txBody>
          </p:sp>
        </mc:Choice>
        <mc:Fallback xmlns="">
          <p:sp>
            <p:nvSpPr>
              <p:cNvPr id="31" name="Object 3">
                <a:extLst>
                  <a:ext uri="{FF2B5EF4-FFF2-40B4-BE49-F238E27FC236}">
                    <a16:creationId xmlns:a16="http://schemas.microsoft.com/office/drawing/2014/main" id="{DDCDF6ED-042E-4619-90AA-1F92927B6353}"/>
                  </a:ext>
                </a:extLst>
              </p:cNvPr>
              <p:cNvSpPr txBox="1">
                <a:spLocks noRot="1" noChangeAspect="1" noMove="1" noResize="1" noEditPoints="1" noAdjustHandles="1" noChangeArrowheads="1" noChangeShapeType="1" noTextEdit="1"/>
              </p:cNvSpPr>
              <p:nvPr/>
            </p:nvSpPr>
            <p:spPr bwMode="auto">
              <a:xfrm>
                <a:off x="6418836" y="1477963"/>
                <a:ext cx="2638425" cy="1082675"/>
              </a:xfrm>
              <a:prstGeom prst="rect">
                <a:avLst/>
              </a:prstGeom>
              <a:blipFill>
                <a:blip r:embed="rId8"/>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300529906"/>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2422"/>
                                        </p:tgtEl>
                                        <p:attrNameLst>
                                          <p:attrName>style.visibility</p:attrName>
                                        </p:attrNameLst>
                                      </p:cBhvr>
                                      <p:to>
                                        <p:strVal val="visible"/>
                                      </p:to>
                                    </p:set>
                                    <p:animEffect transition="in" filter="blinds(horizontal)">
                                      <p:cBhvr>
                                        <p:cTn id="7" dur="500"/>
                                        <p:tgtEl>
                                          <p:spTgt spid="44242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42433">
                                            <p:txEl>
                                              <p:pRg st="0" end="0"/>
                                            </p:txEl>
                                          </p:spTgt>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42425"/>
                                        </p:tgtEl>
                                        <p:attrNameLst>
                                          <p:attrName>style.visibility</p:attrName>
                                        </p:attrNameLst>
                                      </p:cBhvr>
                                      <p:to>
                                        <p:strVal val="visible"/>
                                      </p:to>
                                    </p:set>
                                    <p:animEffect transition="in" filter="blinds(horizontal)">
                                      <p:cBhvr>
                                        <p:cTn id="20" dur="500"/>
                                        <p:tgtEl>
                                          <p:spTgt spid="442425"/>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24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2451">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42427"/>
                                        </p:tgtEl>
                                        <p:attrNameLst>
                                          <p:attrName>style.visibility</p:attrName>
                                        </p:attrNameLst>
                                      </p:cBhvr>
                                      <p:to>
                                        <p:strVal val="visible"/>
                                      </p:to>
                                    </p:set>
                                    <p:animEffect transition="in" filter="blinds(horizontal)">
                                      <p:cBhvr>
                                        <p:cTn id="43" dur="500"/>
                                        <p:tgtEl>
                                          <p:spTgt spid="442427"/>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422" grpId="0"/>
      <p:bldP spid="442425" grpId="0"/>
      <p:bldP spid="442426" grpId="0" animBg="1"/>
      <p:bldP spid="442427" grpId="0"/>
      <p:bldP spid="442433" grpId="0" build="p"/>
      <p:bldP spid="442451" grpId="0" build="p"/>
      <p:bldP spid="11" grpId="0" animBg="1" autoUpdateAnimBg="0"/>
      <p:bldP spid="13" grpId="0" animBg="1"/>
      <p:bldP spid="3" grpId="0"/>
      <p:bldP spid="14" grpId="0"/>
      <p:bldP spid="17" grpId="0"/>
      <p:bldP spid="3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F348D807-9A84-46B8-9532-A0E5F47A5CB8}" type="slidenum">
              <a:rPr lang="en-US" altLang="zh-CN"/>
              <a:pPr>
                <a:defRPr/>
              </a:pPr>
              <a:t>44</a:t>
            </a:fld>
            <a:endParaRPr lang="en-US" altLang="zh-CN" dirty="0"/>
          </a:p>
        </p:txBody>
      </p:sp>
      <p:sp>
        <p:nvSpPr>
          <p:cNvPr id="443417" name="Text Box 25"/>
          <p:cNvSpPr txBox="1">
            <a:spLocks noChangeArrowheads="1"/>
          </p:cNvSpPr>
          <p:nvPr/>
        </p:nvSpPr>
        <p:spPr bwMode="auto">
          <a:xfrm>
            <a:off x="35496" y="4801215"/>
            <a:ext cx="897408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300" b="1" dirty="0">
                <a:solidFill>
                  <a:srgbClr val="000C0C"/>
                </a:solidFill>
                <a:latin typeface="楷体_GB2312" pitchFamily="49" charset="-122"/>
              </a:rPr>
              <a:t>(4)</a:t>
            </a:r>
            <a:r>
              <a:rPr lang="zh-CN" altLang="en-US" sz="2300" b="1" dirty="0">
                <a:solidFill>
                  <a:srgbClr val="000C0C"/>
                </a:solidFill>
                <a:latin typeface="楷体_GB2312" pitchFamily="49" charset="-122"/>
              </a:rPr>
              <a:t>不论体系如何复杂，体系</a:t>
            </a:r>
            <a:r>
              <a:rPr lang="zh-CN" altLang="en-US" sz="2300" b="1" dirty="0">
                <a:solidFill>
                  <a:srgbClr val="FF0000"/>
                </a:solidFill>
                <a:latin typeface="楷体_GB2312" pitchFamily="49" charset="-122"/>
              </a:rPr>
              <a:t>质心</a:t>
            </a:r>
            <a:r>
              <a:rPr lang="zh-CN" altLang="en-US" sz="2300" b="1" dirty="0">
                <a:solidFill>
                  <a:srgbClr val="000C0C"/>
                </a:solidFill>
                <a:latin typeface="楷体_GB2312" pitchFamily="49" charset="-122"/>
              </a:rPr>
              <a:t>的行为与一个</a:t>
            </a:r>
            <a:r>
              <a:rPr lang="zh-CN" altLang="en-US" sz="2300" b="1" dirty="0">
                <a:solidFill>
                  <a:srgbClr val="FF0000"/>
                </a:solidFill>
                <a:latin typeface="楷体_GB2312" pitchFamily="49" charset="-122"/>
              </a:rPr>
              <a:t>质点</a:t>
            </a:r>
            <a:r>
              <a:rPr lang="zh-CN" altLang="en-US" sz="2300" b="1" dirty="0">
                <a:solidFill>
                  <a:srgbClr val="000C0C"/>
                </a:solidFill>
                <a:latin typeface="楷体_GB2312" pitchFamily="49" charset="-122"/>
              </a:rPr>
              <a:t>相同。从这个意义上说，牛顿定律所描绘的不是体系中任一质点的运动，而是质心的运动。而质心的存在，正是任意物体在一定条件下可以看成质点的物理基础；</a:t>
            </a:r>
          </a:p>
        </p:txBody>
      </p:sp>
      <p:sp>
        <p:nvSpPr>
          <p:cNvPr id="46085" name="Text Box 26"/>
          <p:cNvSpPr txBox="1">
            <a:spLocks noChangeArrowheads="1"/>
          </p:cNvSpPr>
          <p:nvPr/>
        </p:nvSpPr>
        <p:spPr bwMode="auto">
          <a:xfrm>
            <a:off x="323850" y="247650"/>
            <a:ext cx="28151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b="1" dirty="0">
                <a:solidFill>
                  <a:srgbClr val="000C0C"/>
                </a:solidFill>
                <a:latin typeface="楷体_GB2312" pitchFamily="49" charset="-122"/>
              </a:rPr>
              <a:t>质心运动定理表明</a:t>
            </a:r>
            <a:r>
              <a:rPr lang="en-US" altLang="zh-CN" b="1" dirty="0">
                <a:solidFill>
                  <a:srgbClr val="000C0C"/>
                </a:solidFill>
                <a:latin typeface="楷体_GB2312" pitchFamily="49" charset="-122"/>
              </a:rPr>
              <a:t>:</a:t>
            </a:r>
          </a:p>
        </p:txBody>
      </p:sp>
      <p:sp>
        <p:nvSpPr>
          <p:cNvPr id="443419" name="Text Box 27"/>
          <p:cNvSpPr txBox="1">
            <a:spLocks noChangeArrowheads="1"/>
          </p:cNvSpPr>
          <p:nvPr/>
        </p:nvSpPr>
        <p:spPr bwMode="auto">
          <a:xfrm>
            <a:off x="35496" y="3924925"/>
            <a:ext cx="8856984"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300" b="1" dirty="0">
                <a:solidFill>
                  <a:srgbClr val="000C0C"/>
                </a:solidFill>
                <a:latin typeface="楷体_GB2312" pitchFamily="49" charset="-122"/>
              </a:rPr>
              <a:t>(3)</a:t>
            </a:r>
            <a:r>
              <a:rPr lang="zh-CN" altLang="en-US" sz="2300" b="1" dirty="0">
                <a:solidFill>
                  <a:srgbClr val="000C0C"/>
                </a:solidFill>
                <a:latin typeface="楷体_GB2312" pitchFamily="49" charset="-122"/>
              </a:rPr>
              <a:t>质心运动定理表明牛顿定律具有一种</a:t>
            </a:r>
            <a:r>
              <a:rPr lang="zh-CN" altLang="en-US" sz="2300" b="1" dirty="0">
                <a:solidFill>
                  <a:srgbClr val="FF0000"/>
                </a:solidFill>
                <a:latin typeface="楷体_GB2312" pitchFamily="49" charset="-122"/>
              </a:rPr>
              <a:t>独特的性质</a:t>
            </a:r>
            <a:r>
              <a:rPr lang="zh-CN" altLang="en-US" sz="2300" b="1" dirty="0">
                <a:solidFill>
                  <a:srgbClr val="000C0C"/>
                </a:solidFill>
                <a:latin typeface="楷体_GB2312" pitchFamily="49" charset="-122"/>
              </a:rPr>
              <a:t>，即如果它在</a:t>
            </a:r>
            <a:r>
              <a:rPr lang="zh-CN" altLang="en-US" sz="2300" b="1" dirty="0">
                <a:solidFill>
                  <a:srgbClr val="FF0000"/>
                </a:solidFill>
                <a:latin typeface="楷体_GB2312" pitchFamily="49" charset="-122"/>
              </a:rPr>
              <a:t>某一小尺度范围内是正确</a:t>
            </a:r>
            <a:r>
              <a:rPr lang="zh-CN" altLang="en-US" sz="2300" b="1" dirty="0">
                <a:solidFill>
                  <a:srgbClr val="000C0C"/>
                </a:solidFill>
                <a:latin typeface="楷体_GB2312" pitchFamily="49" charset="-122"/>
              </a:rPr>
              <a:t>的，那么在</a:t>
            </a:r>
            <a:r>
              <a:rPr lang="zh-CN" altLang="en-US" sz="2300" b="1" dirty="0">
                <a:solidFill>
                  <a:srgbClr val="FF0000"/>
                </a:solidFill>
                <a:latin typeface="楷体_GB2312" pitchFamily="49" charset="-122"/>
              </a:rPr>
              <a:t>大尺度范围内也将是正确</a:t>
            </a:r>
            <a:r>
              <a:rPr lang="zh-CN" altLang="en-US" sz="2300" b="1" dirty="0">
                <a:solidFill>
                  <a:srgbClr val="000C0C"/>
                </a:solidFill>
                <a:latin typeface="楷体_GB2312" pitchFamily="49" charset="-122"/>
              </a:rPr>
              <a:t>的；</a:t>
            </a:r>
          </a:p>
        </p:txBody>
      </p:sp>
      <p:sp>
        <p:nvSpPr>
          <p:cNvPr id="443420" name="Text Box 28"/>
          <p:cNvSpPr txBox="1">
            <a:spLocks noChangeArrowheads="1"/>
          </p:cNvSpPr>
          <p:nvPr/>
        </p:nvSpPr>
        <p:spPr bwMode="auto">
          <a:xfrm>
            <a:off x="179513" y="981075"/>
            <a:ext cx="8964488"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en-US" altLang="zh-CN" sz="2300" b="1" dirty="0">
                <a:solidFill>
                  <a:srgbClr val="000C0C"/>
                </a:solidFill>
                <a:latin typeface="楷体_GB2312" pitchFamily="49" charset="-122"/>
              </a:rPr>
              <a:t>(1)</a:t>
            </a:r>
            <a:r>
              <a:rPr lang="zh-CN" altLang="en-US" sz="2300" b="1" dirty="0">
                <a:solidFill>
                  <a:srgbClr val="000C0C"/>
                </a:solidFill>
                <a:latin typeface="楷体_GB2312" pitchFamily="49" charset="-122"/>
              </a:rPr>
              <a:t>质心运动定理实际上是矢量方程，可以写成三个分量方程，运动的独立性同样成立；</a:t>
            </a:r>
          </a:p>
        </p:txBody>
      </p:sp>
      <p:sp>
        <p:nvSpPr>
          <p:cNvPr id="443421" name="Text Box 29"/>
          <p:cNvSpPr txBox="1">
            <a:spLocks noChangeArrowheads="1"/>
          </p:cNvSpPr>
          <p:nvPr/>
        </p:nvSpPr>
        <p:spPr bwMode="auto">
          <a:xfrm>
            <a:off x="-252536" y="6367100"/>
            <a:ext cx="737063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300" b="1" dirty="0">
                <a:solidFill>
                  <a:srgbClr val="000C0C"/>
                </a:solidFill>
                <a:latin typeface="楷体_GB2312" pitchFamily="49" charset="-122"/>
              </a:rPr>
              <a:t>　</a:t>
            </a:r>
            <a:r>
              <a:rPr lang="en-US" altLang="zh-CN" sz="2300" b="1" dirty="0">
                <a:solidFill>
                  <a:srgbClr val="000C0C"/>
                </a:solidFill>
                <a:latin typeface="楷体_GB2312" pitchFamily="49" charset="-122"/>
              </a:rPr>
              <a:t>(5)</a:t>
            </a:r>
            <a:r>
              <a:rPr lang="zh-CN" altLang="en-US" sz="2300" b="1" dirty="0">
                <a:solidFill>
                  <a:srgbClr val="000C0C"/>
                </a:solidFill>
                <a:latin typeface="楷体_GB2312" pitchFamily="49" charset="-122"/>
              </a:rPr>
              <a:t>质心运动定理和牛顿三定律的适用范围相同。</a:t>
            </a:r>
          </a:p>
        </p:txBody>
      </p:sp>
      <p:graphicFrame>
        <p:nvGraphicFramePr>
          <p:cNvPr id="66568" name="Object 8"/>
          <p:cNvGraphicFramePr>
            <a:graphicFrameLocks noChangeAspect="1"/>
          </p:cNvGraphicFramePr>
          <p:nvPr>
            <p:extLst/>
          </p:nvPr>
        </p:nvGraphicFramePr>
        <p:xfrm>
          <a:off x="900113" y="1916832"/>
          <a:ext cx="6858000" cy="715963"/>
        </p:xfrm>
        <a:graphic>
          <a:graphicData uri="http://schemas.openxmlformats.org/presentationml/2006/ole">
            <mc:AlternateContent xmlns:mc="http://schemas.openxmlformats.org/markup-compatibility/2006">
              <mc:Choice xmlns:v="urn:schemas-microsoft-com:vml" Requires="v">
                <p:oleObj spid="_x0000_s63696" name="Equation" r:id="rId3" imgW="2352624" imgH="181043" progId="Equation.DSMT4">
                  <p:embed/>
                </p:oleObj>
              </mc:Choice>
              <mc:Fallback>
                <p:oleObj name="Equation" r:id="rId3" imgW="2352624" imgH="181043" progId="Equation.DSMT4">
                  <p:embed/>
                  <p:pic>
                    <p:nvPicPr>
                      <p:cNvPr id="6656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916832"/>
                        <a:ext cx="6858000" cy="715963"/>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nvPr>
        </p:nvGraphicFramePr>
        <p:xfrm>
          <a:off x="4716016" y="127645"/>
          <a:ext cx="1998663" cy="823912"/>
        </p:xfrm>
        <a:graphic>
          <a:graphicData uri="http://schemas.openxmlformats.org/presentationml/2006/ole">
            <mc:AlternateContent xmlns:mc="http://schemas.openxmlformats.org/markup-compatibility/2006">
              <mc:Choice xmlns:v="urn:schemas-microsoft-com:vml" Requires="v">
                <p:oleObj spid="_x0000_s63697" name="Equation" r:id="rId5" imgW="504943" imgH="161857" progId="Equation.DSMT4">
                  <p:embed/>
                </p:oleObj>
              </mc:Choice>
              <mc:Fallback>
                <p:oleObj name="Equation" r:id="rId5" imgW="504943" imgH="161857" progId="Equation.DSMT4">
                  <p:embed/>
                  <p:pic>
                    <p:nvPicPr>
                      <p:cNvPr id="2"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016" y="127645"/>
                        <a:ext cx="1998663" cy="823912"/>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4"/>
          <p:cNvSpPr>
            <a:spLocks noChangeArrowheads="1"/>
          </p:cNvSpPr>
          <p:nvPr/>
        </p:nvSpPr>
        <p:spPr bwMode="auto">
          <a:xfrm>
            <a:off x="179512" y="2753052"/>
            <a:ext cx="885698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pPr>
              <a:spcBef>
                <a:spcPct val="20000"/>
              </a:spcBef>
            </a:pPr>
            <a:r>
              <a:rPr lang="en-US" altLang="zh-CN" sz="2200" b="1" dirty="0"/>
              <a:t>(2)</a:t>
            </a:r>
            <a:r>
              <a:rPr lang="zh-CN" altLang="en-US" sz="2200" b="1" dirty="0"/>
              <a:t> 若外力的矢量和等于零且外力的作用线通过质心，则物体的质心静止或作匀速直线运动；若外力作用线不通过质心，则物体既作平动又作转动。</a:t>
            </a:r>
          </a:p>
        </p:txBody>
      </p:sp>
    </p:spTree>
    <p:extLst>
      <p:ext uri="{BB962C8B-B14F-4D97-AF65-F5344CB8AC3E}">
        <p14:creationId xmlns:p14="http://schemas.microsoft.com/office/powerpoint/2010/main" val="3904827244"/>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3420"/>
                                        </p:tgtEl>
                                        <p:attrNameLst>
                                          <p:attrName>style.visibility</p:attrName>
                                        </p:attrNameLst>
                                      </p:cBhvr>
                                      <p:to>
                                        <p:strVal val="visible"/>
                                      </p:to>
                                    </p:set>
                                    <p:animEffect transition="in" filter="blinds(horizontal)">
                                      <p:cBhvr>
                                        <p:cTn id="12" dur="500"/>
                                        <p:tgtEl>
                                          <p:spTgt spid="44342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66568"/>
                                        </p:tgtEl>
                                        <p:attrNameLst>
                                          <p:attrName>style.visibility</p:attrName>
                                        </p:attrNameLst>
                                      </p:cBhvr>
                                      <p:to>
                                        <p:strVal val="visible"/>
                                      </p:to>
                                    </p:set>
                                    <p:animEffect transition="in" filter="box(out)">
                                      <p:cBhvr>
                                        <p:cTn id="17" dur="500"/>
                                        <p:tgtEl>
                                          <p:spTgt spid="665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wipe(up)">
                                      <p:cBhvr>
                                        <p:cTn id="22" dur="75"/>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43419"/>
                                        </p:tgtEl>
                                        <p:attrNameLst>
                                          <p:attrName>style.visibility</p:attrName>
                                        </p:attrNameLst>
                                      </p:cBhvr>
                                      <p:to>
                                        <p:strVal val="visible"/>
                                      </p:to>
                                    </p:set>
                                    <p:animEffect transition="in" filter="blinds(horizontal)">
                                      <p:cBhvr>
                                        <p:cTn id="27" dur="500"/>
                                        <p:tgtEl>
                                          <p:spTgt spid="4434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43417"/>
                                        </p:tgtEl>
                                        <p:attrNameLst>
                                          <p:attrName>style.visibility</p:attrName>
                                        </p:attrNameLst>
                                      </p:cBhvr>
                                      <p:to>
                                        <p:strVal val="visible"/>
                                      </p:to>
                                    </p:set>
                                    <p:animEffect transition="in" filter="blinds(horizontal)">
                                      <p:cBhvr>
                                        <p:cTn id="32" dur="500"/>
                                        <p:tgtEl>
                                          <p:spTgt spid="4434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43421"/>
                                        </p:tgtEl>
                                        <p:attrNameLst>
                                          <p:attrName>style.visibility</p:attrName>
                                        </p:attrNameLst>
                                      </p:cBhvr>
                                      <p:to>
                                        <p:strVal val="visible"/>
                                      </p:to>
                                    </p:set>
                                    <p:animEffect transition="in" filter="blinds(horizontal)">
                                      <p:cBhvr>
                                        <p:cTn id="37" dur="500"/>
                                        <p:tgtEl>
                                          <p:spTgt spid="443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417" grpId="0" autoUpdateAnimBg="0"/>
      <p:bldP spid="443419" grpId="0" autoUpdateAnimBg="0"/>
      <p:bldP spid="443420" grpId="0" autoUpdateAnimBg="0"/>
      <p:bldP spid="443421" grpId="0" autoUpdateAnimBg="0"/>
      <p:bldP spid="11"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626" name="Object 2"/>
              <p:cNvSpPr txBox="1"/>
              <p:nvPr/>
            </p:nvSpPr>
            <p:spPr bwMode="auto">
              <a:xfrm>
                <a:off x="1641475" y="2505075"/>
                <a:ext cx="3046413" cy="12414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𝐶</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sub>
                              </m:sSub>
                            </m:e>
                          </m:nary>
                        </m:num>
                        <m:den>
                          <m:r>
                            <a:rPr lang="zh-CN" altLang="en-US" i="1">
                              <a:solidFill>
                                <a:srgbClr val="000000"/>
                              </a:solidFill>
                              <a:latin typeface="Cambria Math" panose="02040503050406030204" pitchFamily="18" charset="0"/>
                            </a:rPr>
                            <m:t>𝑀</m:t>
                          </m:r>
                        </m:den>
                      </m:f>
                    </m:oMath>
                  </m:oMathPara>
                </a14:m>
                <a:endParaRPr lang="zh-CN" altLang="en-US"/>
              </a:p>
            </p:txBody>
          </p:sp>
        </mc:Choice>
        <mc:Fallback xmlns="">
          <p:sp>
            <p:nvSpPr>
              <p:cNvPr id="26626" name="Object 2"/>
              <p:cNvSpPr txBox="1">
                <a:spLocks noRot="1" noChangeAspect="1" noMove="1" noResize="1" noEditPoints="1" noAdjustHandles="1" noChangeArrowheads="1" noChangeShapeType="1" noTextEdit="1"/>
              </p:cNvSpPr>
              <p:nvPr/>
            </p:nvSpPr>
            <p:spPr bwMode="auto">
              <a:xfrm>
                <a:off x="1641475" y="2505075"/>
                <a:ext cx="3046413" cy="1241425"/>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26627" name="Rectangle 3"/>
          <p:cNvSpPr>
            <a:spLocks noChangeArrowheads="1"/>
          </p:cNvSpPr>
          <p:nvPr/>
        </p:nvSpPr>
        <p:spPr bwMode="auto">
          <a:xfrm>
            <a:off x="4058443" y="2651899"/>
            <a:ext cx="19446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sz="3200" b="1" dirty="0">
                <a:latin typeface="宋体" pitchFamily="2" charset="-122"/>
              </a:rPr>
              <a:t>= </a:t>
            </a:r>
            <a:r>
              <a:rPr lang="zh-CN" altLang="en-US" sz="3200" b="1" dirty="0">
                <a:latin typeface="宋体" pitchFamily="2" charset="-122"/>
              </a:rPr>
              <a:t>常矢量</a:t>
            </a:r>
          </a:p>
        </p:txBody>
      </p:sp>
      <mc:AlternateContent xmlns:mc="http://schemas.openxmlformats.org/markup-compatibility/2006" xmlns:a14="http://schemas.microsoft.com/office/drawing/2010/main">
        <mc:Choice Requires="a14">
          <p:sp>
            <p:nvSpPr>
              <p:cNvPr id="26628" name="Object 3"/>
              <p:cNvSpPr txBox="1"/>
              <p:nvPr/>
            </p:nvSpPr>
            <p:spPr bwMode="auto">
              <a:xfrm>
                <a:off x="1763713" y="3787366"/>
                <a:ext cx="2517039" cy="106521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sub>
                          </m:sSub>
                        </m:e>
                      </m:nary>
                    </m:oMath>
                  </m:oMathPara>
                </a14:m>
                <a:endParaRPr lang="zh-CN" altLang="en-US"/>
              </a:p>
            </p:txBody>
          </p:sp>
        </mc:Choice>
        <mc:Fallback xmlns="">
          <p:sp>
            <p:nvSpPr>
              <p:cNvPr id="26628" name="Object 3"/>
              <p:cNvSpPr txBox="1">
                <a:spLocks noRot="1" noChangeAspect="1" noMove="1" noResize="1" noEditPoints="1" noAdjustHandles="1" noChangeArrowheads="1" noChangeShapeType="1" noTextEdit="1"/>
              </p:cNvSpPr>
              <p:nvPr/>
            </p:nvSpPr>
            <p:spPr bwMode="auto">
              <a:xfrm>
                <a:off x="1763713" y="3787366"/>
                <a:ext cx="2517039" cy="1065213"/>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629" name="Object 4"/>
              <p:cNvSpPr txBox="1"/>
              <p:nvPr/>
            </p:nvSpPr>
            <p:spPr bwMode="auto">
              <a:xfrm>
                <a:off x="3778498" y="4018456"/>
                <a:ext cx="1406525" cy="6191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𝐶</m:t>
                          </m:r>
                        </m:sub>
                      </m:sSub>
                    </m:oMath>
                  </m:oMathPara>
                </a14:m>
                <a:endParaRPr lang="zh-CN" altLang="en-US" dirty="0"/>
              </a:p>
            </p:txBody>
          </p:sp>
        </mc:Choice>
        <mc:Fallback xmlns="">
          <p:sp>
            <p:nvSpPr>
              <p:cNvPr id="26629" name="Object 4"/>
              <p:cNvSpPr txBox="1">
                <a:spLocks noRot="1" noChangeAspect="1" noMove="1" noResize="1" noEditPoints="1" noAdjustHandles="1" noChangeArrowheads="1" noChangeShapeType="1" noTextEdit="1"/>
              </p:cNvSpPr>
              <p:nvPr/>
            </p:nvSpPr>
            <p:spPr bwMode="auto">
              <a:xfrm>
                <a:off x="3778498" y="4018456"/>
                <a:ext cx="1406525" cy="619125"/>
              </a:xfrm>
              <a:prstGeom prst="rect">
                <a:avLst/>
              </a:prstGeom>
              <a:blipFill>
                <a:blip r:embed="rId4"/>
                <a:stretch>
                  <a:fillRect t="-13725" r="-6061"/>
                </a:stretch>
              </a:blipFill>
              <a:ln>
                <a:noFill/>
              </a:ln>
              <a:effectLst/>
              <a:extLst/>
            </p:spPr>
            <p:txBody>
              <a:bodyPr/>
              <a:lstStyle/>
              <a:p>
                <a:r>
                  <a:rPr lang="zh-CN" altLang="en-US">
                    <a:noFill/>
                  </a:rPr>
                  <a:t> </a:t>
                </a:r>
              </a:p>
            </p:txBody>
          </p:sp>
        </mc:Fallback>
      </mc:AlternateContent>
      <p:sp>
        <p:nvSpPr>
          <p:cNvPr id="26630" name="Rectangle 6"/>
          <p:cNvSpPr>
            <a:spLocks noChangeArrowheads="1"/>
          </p:cNvSpPr>
          <p:nvPr/>
        </p:nvSpPr>
        <p:spPr bwMode="auto">
          <a:xfrm>
            <a:off x="4932040" y="3982244"/>
            <a:ext cx="2303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sz="3200" b="1">
                <a:latin typeface="宋体" pitchFamily="2" charset="-122"/>
              </a:rPr>
              <a:t>=</a:t>
            </a:r>
            <a:r>
              <a:rPr lang="zh-CN" altLang="en-US" sz="3200" b="1">
                <a:latin typeface="宋体" pitchFamily="2" charset="-122"/>
              </a:rPr>
              <a:t>常矢量</a:t>
            </a:r>
          </a:p>
        </p:txBody>
      </p:sp>
      <p:sp>
        <p:nvSpPr>
          <p:cNvPr id="26631" name="Rectangle 7"/>
          <p:cNvSpPr>
            <a:spLocks noChangeArrowheads="1"/>
          </p:cNvSpPr>
          <p:nvPr/>
        </p:nvSpPr>
        <p:spPr bwMode="auto">
          <a:xfrm>
            <a:off x="395288" y="836613"/>
            <a:ext cx="64087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pPr>
            <a:r>
              <a:rPr lang="zh-CN" altLang="en-US" sz="2800" b="1"/>
              <a:t>根据质心运动定律：</a:t>
            </a:r>
            <a:endParaRPr lang="zh-CN" altLang="en-US" sz="2800" b="1">
              <a:latin typeface="宋体" pitchFamily="2" charset="-122"/>
            </a:endParaRPr>
          </a:p>
        </p:txBody>
      </p:sp>
      <p:sp>
        <p:nvSpPr>
          <p:cNvPr id="26632" name="Rectangle 8"/>
          <p:cNvSpPr>
            <a:spLocks noChangeArrowheads="1"/>
          </p:cNvSpPr>
          <p:nvPr/>
        </p:nvSpPr>
        <p:spPr bwMode="auto">
          <a:xfrm>
            <a:off x="971550" y="1628775"/>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2800" b="1">
                <a:latin typeface="宋体" pitchFamily="2" charset="-122"/>
              </a:rPr>
              <a:t>若</a:t>
            </a:r>
          </a:p>
        </p:txBody>
      </p:sp>
      <mc:AlternateContent xmlns:mc="http://schemas.openxmlformats.org/markup-compatibility/2006" xmlns:a14="http://schemas.microsoft.com/office/drawing/2010/main">
        <mc:Choice Requires="a14">
          <p:sp>
            <p:nvSpPr>
              <p:cNvPr id="26633" name="Object 5"/>
              <p:cNvSpPr txBox="1"/>
              <p:nvPr/>
            </p:nvSpPr>
            <p:spPr bwMode="auto">
              <a:xfrm>
                <a:off x="1609725" y="1438776"/>
                <a:ext cx="1928812" cy="881471"/>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m:t>
                              </m:r>
                            </m:sub>
                          </m:sSub>
                        </m:e>
                      </m:nary>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26633" name="Object 5"/>
              <p:cNvSpPr txBox="1">
                <a:spLocks noRot="1" noChangeAspect="1" noMove="1" noResize="1" noEditPoints="1" noAdjustHandles="1" noChangeArrowheads="1" noChangeShapeType="1" noTextEdit="1"/>
              </p:cNvSpPr>
              <p:nvPr/>
            </p:nvSpPr>
            <p:spPr bwMode="auto">
              <a:xfrm>
                <a:off x="1609725" y="1438776"/>
                <a:ext cx="1928812" cy="881471"/>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26634" name="Rectangle 10"/>
          <p:cNvSpPr>
            <a:spLocks noChangeArrowheads="1"/>
          </p:cNvSpPr>
          <p:nvPr/>
        </p:nvSpPr>
        <p:spPr bwMode="auto">
          <a:xfrm>
            <a:off x="107950" y="115888"/>
            <a:ext cx="85677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dirty="0">
                <a:solidFill>
                  <a:srgbClr val="FF0000"/>
                </a:solidFill>
              </a:rPr>
              <a:t>五</a:t>
            </a:r>
            <a:r>
              <a:rPr lang="zh-CN" altLang="en-US" sz="2800" b="1">
                <a:solidFill>
                  <a:srgbClr val="FF0000"/>
                </a:solidFill>
              </a:rPr>
              <a:t>）、动量守恒定律</a:t>
            </a:r>
            <a:endParaRPr lang="zh-CN" altLang="en-US" sz="2800" b="1" dirty="0">
              <a:solidFill>
                <a:srgbClr val="FF0000"/>
              </a:solidFill>
            </a:endParaRPr>
          </a:p>
        </p:txBody>
      </p:sp>
      <p:sp>
        <p:nvSpPr>
          <p:cNvPr id="26635" name="Rectangle 11"/>
          <p:cNvSpPr>
            <a:spLocks noChangeArrowheads="1"/>
          </p:cNvSpPr>
          <p:nvPr/>
        </p:nvSpPr>
        <p:spPr bwMode="auto">
          <a:xfrm>
            <a:off x="971550" y="278130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2800" b="1"/>
              <a:t>即</a:t>
            </a:r>
          </a:p>
        </p:txBody>
      </p:sp>
      <p:sp>
        <p:nvSpPr>
          <p:cNvPr id="26636" name="Text Box 12"/>
          <p:cNvSpPr txBox="1">
            <a:spLocks noChangeArrowheads="1"/>
          </p:cNvSpPr>
          <p:nvPr/>
        </p:nvSpPr>
        <p:spPr bwMode="auto">
          <a:xfrm>
            <a:off x="468313" y="4797425"/>
            <a:ext cx="8281987"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gn="just" eaLnBrk="1" hangingPunct="1">
              <a:lnSpc>
                <a:spcPct val="120000"/>
              </a:lnSpc>
              <a:spcBef>
                <a:spcPct val="20000"/>
              </a:spcBef>
            </a:pPr>
            <a:r>
              <a:rPr lang="en-US" altLang="zh-CN" sz="2800" b="1"/>
              <a:t>        </a:t>
            </a:r>
            <a:r>
              <a:rPr lang="zh-CN" altLang="en-US" sz="2800" b="1"/>
              <a:t>如果系统所受的外力之和为零，则系统的总动量保持不变，这个结论叫做</a:t>
            </a:r>
            <a:r>
              <a:rPr lang="zh-CN" altLang="en-US" sz="2800" b="1">
                <a:solidFill>
                  <a:srgbClr val="0000FF"/>
                </a:solidFill>
              </a:rPr>
              <a:t>动量守恒定律（</a:t>
            </a:r>
            <a:r>
              <a:rPr lang="en-US" altLang="zh-CN" sz="2800" b="1">
                <a:solidFill>
                  <a:srgbClr val="0000FF"/>
                </a:solidFill>
              </a:rPr>
              <a:t>law of conservation of momentum</a:t>
            </a:r>
            <a:r>
              <a:rPr lang="zh-CN" altLang="en-US" sz="2800" b="1">
                <a:solidFill>
                  <a:srgbClr val="0000FF"/>
                </a:solidFill>
              </a:rPr>
              <a:t>）</a:t>
            </a:r>
            <a:r>
              <a:rPr lang="zh-CN" altLang="en-US" sz="2800" b="1"/>
              <a:t>。</a:t>
            </a:r>
          </a:p>
        </p:txBody>
      </p:sp>
      <p:sp>
        <p:nvSpPr>
          <p:cNvPr id="26638" name="Text Box 14"/>
          <p:cNvSpPr txBox="1">
            <a:spLocks noChangeArrowheads="1"/>
          </p:cNvSpPr>
          <p:nvPr/>
        </p:nvSpPr>
        <p:spPr bwMode="auto">
          <a:xfrm>
            <a:off x="3635375" y="1628775"/>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dirty="0"/>
              <a:t>则</a:t>
            </a:r>
          </a:p>
        </p:txBody>
      </p:sp>
      <mc:AlternateContent xmlns:mc="http://schemas.openxmlformats.org/markup-compatibility/2006" xmlns:a14="http://schemas.microsoft.com/office/drawing/2010/main">
        <mc:Choice Requires="a14">
          <p:sp>
            <p:nvSpPr>
              <p:cNvPr id="26639" name="Object 7"/>
              <p:cNvSpPr txBox="1"/>
              <p:nvPr/>
            </p:nvSpPr>
            <p:spPr bwMode="auto">
              <a:xfrm>
                <a:off x="4389438" y="1555750"/>
                <a:ext cx="1300162" cy="68738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e>
                        <m:sub>
                          <m:r>
                            <a:rPr lang="zh-CN" altLang="en-US" i="1">
                              <a:solidFill>
                                <a:srgbClr val="000000"/>
                              </a:solidFill>
                              <a:latin typeface="Cambria Math" panose="02040503050406030204" pitchFamily="18" charset="0"/>
                            </a:rPr>
                            <m:t>𝐶</m:t>
                          </m:r>
                        </m:sub>
                      </m:sSub>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26639" name="Object 7"/>
              <p:cNvSpPr txBox="1">
                <a:spLocks noRot="1" noChangeAspect="1" noMove="1" noResize="1" noEditPoints="1" noAdjustHandles="1" noChangeArrowheads="1" noChangeShapeType="1" noTextEdit="1"/>
              </p:cNvSpPr>
              <p:nvPr/>
            </p:nvSpPr>
            <p:spPr bwMode="auto">
              <a:xfrm>
                <a:off x="4389438" y="1555750"/>
                <a:ext cx="1300162" cy="687388"/>
              </a:xfrm>
              <a:prstGeom prst="rect">
                <a:avLst/>
              </a:prstGeom>
              <a:blipFill>
                <a:blip r:embed="rId6"/>
                <a:stretch>
                  <a:fillRect t="-12389"/>
                </a:stretch>
              </a:blipFill>
              <a:ln>
                <a:noFill/>
              </a:ln>
              <a:effectLst/>
              <a:extLst/>
            </p:spPr>
            <p:txBody>
              <a:bodyPr/>
              <a:lstStyle/>
              <a:p>
                <a:r>
                  <a:rPr lang="zh-CN" altLang="en-US">
                    <a:noFill/>
                  </a:rPr>
                  <a:t> </a:t>
                </a:r>
              </a:p>
            </p:txBody>
          </p:sp>
        </mc:Fallback>
      </mc:AlternateContent>
      <p:sp>
        <p:nvSpPr>
          <p:cNvPr id="26640" name="AutoShape 16"/>
          <p:cNvSpPr>
            <a:spLocks noChangeArrowheads="1"/>
          </p:cNvSpPr>
          <p:nvPr/>
        </p:nvSpPr>
        <p:spPr bwMode="auto">
          <a:xfrm>
            <a:off x="1116013" y="4149725"/>
            <a:ext cx="576262" cy="144463"/>
          </a:xfrm>
          <a:prstGeom prst="rightArrow">
            <a:avLst>
              <a:gd name="adj1" fmla="val 50000"/>
              <a:gd name="adj2" fmla="val 99725"/>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 name="对象 1"/>
              <p:cNvSpPr txBox="1"/>
              <p:nvPr/>
            </p:nvSpPr>
            <p:spPr bwMode="auto">
              <a:xfrm>
                <a:off x="3905250" y="720725"/>
                <a:ext cx="4195763" cy="763588"/>
              </a:xfrm>
              <a:prstGeom prst="rect">
                <a:avLst/>
              </a:prstGeom>
              <a:noFill/>
              <a:ln>
                <a:noFill/>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e>
                      </m:nary>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𝐶</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2" name="对象 1"/>
              <p:cNvSpPr txBox="1">
                <a:spLocks noRot="1" noChangeAspect="1" noMove="1" noResize="1" noEditPoints="1" noAdjustHandles="1" noChangeArrowheads="1" noChangeShapeType="1" noTextEdit="1"/>
              </p:cNvSpPr>
              <p:nvPr/>
            </p:nvSpPr>
            <p:spPr bwMode="auto">
              <a:xfrm>
                <a:off x="3905250" y="720725"/>
                <a:ext cx="4195763" cy="763588"/>
              </a:xfrm>
              <a:prstGeom prst="rect">
                <a:avLst/>
              </a:prstGeom>
              <a:blipFill>
                <a:blip r:embed="rId7"/>
                <a:stretch>
                  <a:fillRect/>
                </a:stretch>
              </a:blipFill>
              <a:ln>
                <a:noFill/>
              </a:ln>
              <a:effectLst/>
              <a:extLst/>
            </p:spPr>
            <p:txBody>
              <a:bodyPr/>
              <a:lstStyle/>
              <a:p>
                <a:r>
                  <a:rPr lang="zh-CN" altLang="en-US">
                    <a:noFill/>
                  </a:rPr>
                  <a:t> </a:t>
                </a:r>
              </a:p>
            </p:txBody>
          </p:sp>
        </mc:Fallback>
      </mc:AlternateContent>
    </p:spTree>
    <p:extLst>
      <p:ext uri="{BB962C8B-B14F-4D97-AF65-F5344CB8AC3E}">
        <p14:creationId xmlns:p14="http://schemas.microsoft.com/office/powerpoint/2010/main" val="343424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323850" y="2133600"/>
            <a:ext cx="8382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nSpc>
                <a:spcPct val="120000"/>
              </a:lnSpc>
              <a:spcBef>
                <a:spcPct val="50000"/>
              </a:spcBef>
            </a:pPr>
            <a:r>
              <a:rPr lang="en-US" altLang="zh-CN" sz="2800" b="1"/>
              <a:t>(2)</a:t>
            </a:r>
            <a:r>
              <a:rPr lang="zh-CN" altLang="en-US" sz="2800" b="1">
                <a:latin typeface="幼圆" pitchFamily="49" charset="-122"/>
              </a:rPr>
              <a:t>当外力作用远小于内力作用时，可近似认为系统的总动量守恒。（如：碰撞、打击过程等）</a:t>
            </a:r>
          </a:p>
        </p:txBody>
      </p:sp>
      <p:sp>
        <p:nvSpPr>
          <p:cNvPr id="27651" name="Text Box 3"/>
          <p:cNvSpPr txBox="1">
            <a:spLocks noChangeArrowheads="1"/>
          </p:cNvSpPr>
          <p:nvPr/>
        </p:nvSpPr>
        <p:spPr bwMode="auto">
          <a:xfrm>
            <a:off x="323850" y="908050"/>
            <a:ext cx="8382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nSpc>
                <a:spcPct val="120000"/>
              </a:lnSpc>
              <a:spcBef>
                <a:spcPct val="50000"/>
              </a:spcBef>
            </a:pPr>
            <a:r>
              <a:rPr lang="en-US" altLang="zh-CN" sz="2800" b="1"/>
              <a:t>(1)</a:t>
            </a:r>
            <a:r>
              <a:rPr lang="zh-CN" altLang="en-US" sz="2800" b="1">
                <a:latin typeface="幼圆" pitchFamily="49" charset="-122"/>
              </a:rPr>
              <a:t>动量守恒是指系统动量总和不变，但系统内各个质点的动量可以变化</a:t>
            </a:r>
            <a:r>
              <a:rPr lang="en-US" altLang="zh-CN" sz="2800" b="1">
                <a:latin typeface="幼圆" pitchFamily="49" charset="-122"/>
              </a:rPr>
              <a:t>, </a:t>
            </a:r>
            <a:r>
              <a:rPr lang="zh-CN" altLang="en-US" sz="2800" b="1">
                <a:latin typeface="幼圆" pitchFamily="49" charset="-122"/>
              </a:rPr>
              <a:t>通过内力进行传递和交换。</a:t>
            </a:r>
          </a:p>
        </p:txBody>
      </p:sp>
      <p:sp>
        <p:nvSpPr>
          <p:cNvPr id="27652" name="AutoShape 4"/>
          <p:cNvSpPr>
            <a:spLocks noChangeArrowheads="1"/>
          </p:cNvSpPr>
          <p:nvPr/>
        </p:nvSpPr>
        <p:spPr bwMode="auto">
          <a:xfrm>
            <a:off x="468313" y="260350"/>
            <a:ext cx="1152525" cy="720725"/>
          </a:xfrm>
          <a:prstGeom prst="horizontalScroll">
            <a:avLst>
              <a:gd name="adj" fmla="val 12500"/>
            </a:avLst>
          </a:prstGeom>
          <a:solidFill>
            <a:schemeClr val="accent1"/>
          </a:solidFill>
          <a:ln w="9525">
            <a:solidFill>
              <a:schemeClr val="tx1"/>
            </a:solidFill>
            <a:round/>
            <a:headEnd/>
            <a:tailEnd/>
          </a:ln>
        </p:spPr>
        <p:txBody>
          <a:bodyPr wrap="none" anchor="ctr"/>
          <a:lstStyle/>
          <a:p>
            <a:pPr algn="ctr">
              <a:spcBef>
                <a:spcPct val="20000"/>
              </a:spcBef>
            </a:pPr>
            <a:r>
              <a:rPr lang="zh-CN" altLang="en-US" sz="2800" b="1">
                <a:solidFill>
                  <a:srgbClr val="FF0000"/>
                </a:solidFill>
              </a:rPr>
              <a:t>说明</a:t>
            </a:r>
          </a:p>
        </p:txBody>
      </p:sp>
      <p:sp>
        <p:nvSpPr>
          <p:cNvPr id="27653" name="Text Box 5"/>
          <p:cNvSpPr txBox="1">
            <a:spLocks noChangeArrowheads="1"/>
          </p:cNvSpPr>
          <p:nvPr/>
        </p:nvSpPr>
        <p:spPr bwMode="auto">
          <a:xfrm>
            <a:off x="323850" y="3429000"/>
            <a:ext cx="228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en-US" altLang="zh-CN" sz="2800" b="1"/>
              <a:t>(3)</a:t>
            </a:r>
            <a:r>
              <a:rPr lang="en-US" altLang="zh-CN" sz="2800" b="1">
                <a:solidFill>
                  <a:srgbClr val="FF3300"/>
                </a:solidFill>
              </a:rPr>
              <a:t>  </a:t>
            </a:r>
            <a:r>
              <a:rPr lang="zh-CN" altLang="en-US" sz="2800" b="1"/>
              <a:t>分量式</a:t>
            </a:r>
          </a:p>
        </p:txBody>
      </p:sp>
      <mc:AlternateContent xmlns:mc="http://schemas.openxmlformats.org/markup-compatibility/2006" xmlns:a14="http://schemas.microsoft.com/office/drawing/2010/main">
        <mc:Choice Requires="a14">
          <p:sp>
            <p:nvSpPr>
              <p:cNvPr id="27654" name="Object 2"/>
              <p:cNvSpPr txBox="1"/>
              <p:nvPr/>
            </p:nvSpPr>
            <p:spPr bwMode="auto">
              <a:xfrm>
                <a:off x="726032" y="3278325"/>
                <a:ext cx="8381999" cy="2689431"/>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𝑥</m:t>
                          </m:r>
                        </m:sub>
                      </m:sSub>
                      <m:r>
                        <a:rPr lang="zh-CN" altLang="en-US" i="1">
                          <a:solidFill>
                            <a:srgbClr val="000000"/>
                          </a:solidFill>
                          <a:latin typeface="Cambria Math" panose="02040503050406030204" pitchFamily="18" charset="0"/>
                        </a:rPr>
                        <m:t>=</m:t>
                      </m:r>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𝑖𝑥</m:t>
                              </m:r>
                            </m:sub>
                          </m:sSub>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常量</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当</m:t>
                      </m:r>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𝑖𝑥</m:t>
                              </m:r>
                            </m:sub>
                          </m:sSub>
                        </m:e>
                      </m:nary>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时</m:t>
                      </m:r>
                      <m:r>
                        <a:rPr lang="zh-CN" altLang="en-US" i="1">
                          <a:solidFill>
                            <a:srgbClr val="000000"/>
                          </a:solidFill>
                          <a:latin typeface="Cambria Math" panose="02040503050406030204" pitchFamily="18" charset="0"/>
                        </a:rPr>
                        <m:t>)</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𝑦</m:t>
                          </m:r>
                        </m:sub>
                      </m:sSub>
                      <m:r>
                        <a:rPr lang="zh-CN" altLang="en-US" i="1">
                          <a:solidFill>
                            <a:srgbClr val="000000"/>
                          </a:solidFill>
                          <a:latin typeface="Cambria Math" panose="02040503050406030204" pitchFamily="18" charset="0"/>
                        </a:rPr>
                        <m:t>=</m:t>
                      </m:r>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𝑖𝑦</m:t>
                              </m:r>
                            </m:sub>
                          </m:sSub>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常量</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当</m:t>
                      </m:r>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𝑖𝑦</m:t>
                              </m:r>
                            </m:sub>
                          </m:sSub>
                        </m:e>
                      </m:nary>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时</m:t>
                      </m:r>
                      <m:r>
                        <a:rPr lang="zh-CN" altLang="en-US" i="1">
                          <a:solidFill>
                            <a:srgbClr val="000000"/>
                          </a:solidFill>
                          <a:latin typeface="Cambria Math" panose="02040503050406030204" pitchFamily="18" charset="0"/>
                        </a:rPr>
                        <m:t>)</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𝑧</m:t>
                          </m:r>
                        </m:sub>
                      </m:sSub>
                      <m:r>
                        <a:rPr lang="zh-CN" altLang="en-US" i="1">
                          <a:solidFill>
                            <a:srgbClr val="000000"/>
                          </a:solidFill>
                          <a:latin typeface="Cambria Math" panose="02040503050406030204" pitchFamily="18" charset="0"/>
                        </a:rPr>
                        <m:t>=</m:t>
                      </m:r>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𝑖𝑧</m:t>
                              </m:r>
                            </m:sub>
                          </m:sSub>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常量</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当</m:t>
                      </m:r>
                      <m:nary>
                        <m:naryPr>
                          <m:chr m:val="∑"/>
                          <m:subHide m:val="on"/>
                          <m:supHide m:val="on"/>
                          <m:ctrlPr>
                            <a:rPr lang="zh-CN" altLang="en-US" i="1">
                              <a:solidFill>
                                <a:srgbClr val="000000"/>
                              </a:solidFill>
                              <a:latin typeface="Cambria Math" panose="02040503050406030204" pitchFamily="18" charset="0"/>
                            </a:rPr>
                          </m:ctrlPr>
                        </m:naryPr>
                        <m:sub/>
                        <m:sup/>
                        <m:e>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𝑖𝑧</m:t>
                              </m:r>
                            </m:sub>
                          </m:sSub>
                        </m:e>
                      </m:nary>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时</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7654" name="Object 2"/>
              <p:cNvSpPr txBox="1">
                <a:spLocks noRot="1" noChangeAspect="1" noMove="1" noResize="1" noEditPoints="1" noAdjustHandles="1" noChangeArrowheads="1" noChangeShapeType="1" noTextEdit="1"/>
              </p:cNvSpPr>
              <p:nvPr/>
            </p:nvSpPr>
            <p:spPr bwMode="auto">
              <a:xfrm>
                <a:off x="726032" y="3278325"/>
                <a:ext cx="8381999" cy="2689431"/>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27655" name="Text Box 7"/>
          <p:cNvSpPr txBox="1">
            <a:spLocks noChangeArrowheads="1"/>
          </p:cNvSpPr>
          <p:nvPr/>
        </p:nvSpPr>
        <p:spPr bwMode="auto">
          <a:xfrm>
            <a:off x="322263" y="5934075"/>
            <a:ext cx="8374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50000"/>
              </a:spcBef>
            </a:pPr>
            <a:r>
              <a:rPr lang="en-US" altLang="zh-CN" sz="2800" b="1"/>
              <a:t>(4)</a:t>
            </a:r>
            <a:r>
              <a:rPr lang="en-US" altLang="zh-CN" sz="2800" b="1">
                <a:latin typeface="宋体" pitchFamily="2" charset="-122"/>
              </a:rPr>
              <a:t> </a:t>
            </a:r>
            <a:r>
              <a:rPr lang="zh-CN" altLang="en-US" sz="2800" b="1">
                <a:latin typeface="宋体" pitchFamily="2" charset="-122"/>
              </a:rPr>
              <a:t>定律不仅适合宏观物体，同样也适合微观领域。</a:t>
            </a:r>
          </a:p>
        </p:txBody>
      </p:sp>
    </p:spTree>
    <p:extLst>
      <p:ext uri="{BB962C8B-B14F-4D97-AF65-F5344CB8AC3E}">
        <p14:creationId xmlns:p14="http://schemas.microsoft.com/office/powerpoint/2010/main" val="325606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wipe(left)">
                                      <p:cBhvr>
                                        <p:cTn id="7" dur="500"/>
                                        <p:tgtEl>
                                          <p:spTgt spid="27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gtEl>
                                        <p:attrNameLst>
                                          <p:attrName>style.visibility</p:attrName>
                                        </p:attrNameLst>
                                      </p:cBhvr>
                                      <p:to>
                                        <p:strVal val="visible"/>
                                      </p:to>
                                    </p:set>
                                    <p:animEffect transition="in" filter="wipe(left)">
                                      <p:cBhvr>
                                        <p:cTn id="12" dur="500"/>
                                        <p:tgtEl>
                                          <p:spTgt spid="276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0"/>
                                        </p:tgtEl>
                                        <p:attrNameLst>
                                          <p:attrName>style.visibility</p:attrName>
                                        </p:attrNameLst>
                                      </p:cBhvr>
                                      <p:to>
                                        <p:strVal val="visible"/>
                                      </p:to>
                                    </p:set>
                                    <p:animEffect transition="in" filter="wipe(left)">
                                      <p:cBhvr>
                                        <p:cTn id="17" dur="500"/>
                                        <p:tgtEl>
                                          <p:spTgt spid="276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653"/>
                                        </p:tgtEl>
                                        <p:attrNameLst>
                                          <p:attrName>style.visibility</p:attrName>
                                        </p:attrNameLst>
                                      </p:cBhvr>
                                      <p:to>
                                        <p:strVal val="visible"/>
                                      </p:to>
                                    </p:set>
                                    <p:animEffect transition="in" filter="wipe(left)">
                                      <p:cBhvr>
                                        <p:cTn id="22" dur="500"/>
                                        <p:tgtEl>
                                          <p:spTgt spid="276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6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655"/>
                                        </p:tgtEl>
                                        <p:attrNameLst>
                                          <p:attrName>style.visibility</p:attrName>
                                        </p:attrNameLst>
                                      </p:cBhvr>
                                      <p:to>
                                        <p:strVal val="visible"/>
                                      </p:to>
                                    </p:set>
                                    <p:animEffect transition="in" filter="wipe(left)">
                                      <p:cBhvr>
                                        <p:cTn id="31"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utoUpdateAnimBg="0"/>
      <p:bldP spid="27652" grpId="0" animBg="1"/>
      <p:bldP spid="27653" grpId="0" autoUpdateAnimBg="0"/>
      <p:bldP spid="27654" grpId="0"/>
      <p:bldP spid="27655"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7" name="Rectangle 3"/>
          <p:cNvSpPr>
            <a:spLocks noChangeArrowheads="1"/>
          </p:cNvSpPr>
          <p:nvPr/>
        </p:nvSpPr>
        <p:spPr bwMode="auto">
          <a:xfrm>
            <a:off x="2843213" y="-171450"/>
            <a:ext cx="33845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0" hangingPunct="0">
              <a:spcBef>
                <a:spcPct val="20000"/>
              </a:spcBef>
            </a:pPr>
            <a:r>
              <a:rPr lang="zh-CN" altLang="en-US" sz="3200" b="1">
                <a:solidFill>
                  <a:srgbClr val="FF0000"/>
                </a:solidFill>
              </a:rPr>
              <a:t>上节内容回顾</a:t>
            </a:r>
          </a:p>
        </p:txBody>
      </p:sp>
      <p:sp>
        <p:nvSpPr>
          <p:cNvPr id="32" name="Text Box 45"/>
          <p:cNvSpPr txBox="1">
            <a:spLocks noChangeArrowheads="1"/>
          </p:cNvSpPr>
          <p:nvPr/>
        </p:nvSpPr>
        <p:spPr bwMode="auto">
          <a:xfrm>
            <a:off x="285750" y="914152"/>
            <a:ext cx="2808288" cy="519112"/>
          </a:xfrm>
          <a:prstGeom prst="rect">
            <a:avLst/>
          </a:prstGeom>
          <a:noFill/>
          <a:ln w="12700">
            <a:noFill/>
            <a:miter lim="800000"/>
            <a:headEnd type="none" w="sm" len="sm"/>
            <a:tailEnd type="none" w="sm" len="sm"/>
          </a:ln>
          <a:effectLst/>
        </p:spPr>
        <p:txBody>
          <a:bodyPr>
            <a:spAutoFit/>
          </a:bodyPr>
          <a:lstStyle/>
          <a:p>
            <a:pPr>
              <a:spcBef>
                <a:spcPct val="20000"/>
              </a:spcBef>
              <a:defRPr/>
            </a:pPr>
            <a:r>
              <a:rPr lang="en-US" altLang="zh-CN" sz="2800" b="1" dirty="0">
                <a:solidFill>
                  <a:schemeClr val="accent2"/>
                </a:solidFill>
                <a:latin typeface="楷体_GB2312" pitchFamily="49" charset="-122"/>
              </a:rPr>
              <a:t>1</a:t>
            </a:r>
            <a:r>
              <a:rPr lang="zh-CN" altLang="en-US" sz="2800" b="1">
                <a:solidFill>
                  <a:schemeClr val="accent2"/>
                </a:solidFill>
                <a:latin typeface="楷体_GB2312" pitchFamily="49" charset="-122"/>
              </a:rPr>
              <a:t>、</a:t>
            </a:r>
            <a:r>
              <a:rPr lang="zh-CN" altLang="en-US" sz="2800" b="1" dirty="0">
                <a:solidFill>
                  <a:schemeClr val="accent2"/>
                </a:solidFill>
                <a:latin typeface="楷体_GB2312" pitchFamily="49" charset="-122"/>
              </a:rPr>
              <a:t>质心</a:t>
            </a:r>
            <a:endParaRPr lang="zh-CN" altLang="en-US" b="1" dirty="0">
              <a:solidFill>
                <a:schemeClr val="accent2"/>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37893" name="Object 2"/>
              <p:cNvSpPr txBox="1"/>
              <p:nvPr/>
            </p:nvSpPr>
            <p:spPr bwMode="auto">
              <a:xfrm>
                <a:off x="204382" y="1693819"/>
                <a:ext cx="3379788" cy="942975"/>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num>
                        <m:den>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num>
                        <m:den>
                          <m:r>
                            <a:rPr lang="zh-CN" altLang="en-US" i="1">
                              <a:solidFill>
                                <a:srgbClr val="000000"/>
                              </a:solidFill>
                              <a:latin typeface="Cambria Math" panose="02040503050406030204" pitchFamily="18" charset="0"/>
                            </a:rPr>
                            <m:t>𝑑𝑡</m:t>
                          </m:r>
                        </m:den>
                      </m:f>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𝑝</m:t>
                                  </m:r>
                                </m:e>
                              </m:acc>
                            </m:e>
                            <m:sub>
                              <m:r>
                                <a:rPr lang="zh-CN" altLang="en-US" i="1">
                                  <a:solidFill>
                                    <a:srgbClr val="000000"/>
                                  </a:solidFill>
                                  <a:latin typeface="Cambria Math" panose="02040503050406030204" pitchFamily="18" charset="0"/>
                                </a:rPr>
                                <m:t>𝑖</m:t>
                              </m:r>
                            </m:sub>
                          </m:sSub>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𝑎</m:t>
                              </m:r>
                            </m:e>
                          </m:acc>
                        </m:e>
                        <m:sub>
                          <m:r>
                            <a:rPr lang="zh-CN" altLang="en-US" i="1">
                              <a:solidFill>
                                <a:srgbClr val="000000"/>
                              </a:solidFill>
                              <a:latin typeface="Cambria Math" panose="02040503050406030204" pitchFamily="18" charset="0"/>
                            </a:rPr>
                            <m:t>𝑐</m:t>
                          </m:r>
                        </m:sub>
                      </m:sSub>
                    </m:oMath>
                  </m:oMathPara>
                </a14:m>
                <a:endParaRPr lang="zh-CN" altLang="en-US" dirty="0"/>
              </a:p>
            </p:txBody>
          </p:sp>
        </mc:Choice>
        <mc:Fallback xmlns="">
          <p:sp>
            <p:nvSpPr>
              <p:cNvPr id="37893" name="Object 2"/>
              <p:cNvSpPr txBox="1">
                <a:spLocks noRot="1" noChangeAspect="1" noMove="1" noResize="1" noEditPoints="1" noAdjustHandles="1" noChangeArrowheads="1" noChangeShapeType="1" noTextEdit="1"/>
              </p:cNvSpPr>
              <p:nvPr/>
            </p:nvSpPr>
            <p:spPr bwMode="auto">
              <a:xfrm>
                <a:off x="204382" y="1693819"/>
                <a:ext cx="3379788" cy="942975"/>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4" name="Object 9"/>
              <p:cNvSpPr txBox="1"/>
              <p:nvPr/>
            </p:nvSpPr>
            <p:spPr bwMode="auto">
              <a:xfrm>
                <a:off x="5436096" y="694803"/>
                <a:ext cx="2345641" cy="95780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𝑖</m:t>
                                  </m:r>
                                </m:sub>
                              </m:sSub>
                            </m:e>
                          </m:nary>
                        </m:num>
                        <m:den>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e>
                          </m:nary>
                        </m:den>
                      </m:f>
                    </m:oMath>
                  </m:oMathPara>
                </a14:m>
                <a:endParaRPr lang="zh-CN" altLang="en-US" dirty="0"/>
              </a:p>
            </p:txBody>
          </p:sp>
        </mc:Choice>
        <mc:Fallback xmlns="">
          <p:sp>
            <p:nvSpPr>
              <p:cNvPr id="37894" name="Object 9"/>
              <p:cNvSpPr txBox="1">
                <a:spLocks noRot="1" noChangeAspect="1" noMove="1" noResize="1" noEditPoints="1" noAdjustHandles="1" noChangeArrowheads="1" noChangeShapeType="1" noTextEdit="1"/>
              </p:cNvSpPr>
              <p:nvPr/>
            </p:nvSpPr>
            <p:spPr bwMode="auto">
              <a:xfrm>
                <a:off x="5436096" y="694803"/>
                <a:ext cx="2345641" cy="957809"/>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5" name="Object 10"/>
              <p:cNvSpPr txBox="1"/>
              <p:nvPr/>
            </p:nvSpPr>
            <p:spPr bwMode="auto">
              <a:xfrm>
                <a:off x="5437525" y="1821952"/>
                <a:ext cx="2406650" cy="1008062"/>
              </a:xfrm>
              <a:prstGeom prst="rect">
                <a:avLst/>
              </a:prstGeom>
              <a:noFill/>
              <a:ln w="9525">
                <a:solidFill>
                  <a:srgbClr val="D01A38"/>
                </a:solidFill>
                <a:miter lim="800000"/>
                <a:headEnd/>
                <a:tailEnd/>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r>
                                <a:rPr lang="zh-CN" altLang="en-US" i="1">
                                  <a:solidFill>
                                    <a:srgbClr val="000000"/>
                                  </a:solidFill>
                                  <a:latin typeface="Cambria Math" panose="02040503050406030204" pitchFamily="18" charset="0"/>
                                </a:rPr>
                                <m:t>𝑑𝑚</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𝑑𝑚</m:t>
                              </m:r>
                            </m:e>
                          </m:nary>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𝜌</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𝑟</m:t>
                                  </m:r>
                                </m:e>
                              </m:acc>
                              <m:r>
                                <a:rPr lang="zh-CN" altLang="en-US" i="1">
                                  <a:solidFill>
                                    <a:srgbClr val="000000"/>
                                  </a:solidFill>
                                  <a:latin typeface="Cambria Math" panose="02040503050406030204" pitchFamily="18" charset="0"/>
                                </a:rPr>
                                <m:t>𝑑𝑉</m:t>
                              </m:r>
                            </m:e>
                          </m:nary>
                        </m:num>
                        <m:den>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𝑑𝑉</m:t>
                              </m:r>
                            </m:e>
                          </m:nary>
                        </m:den>
                      </m:f>
                    </m:oMath>
                  </m:oMathPara>
                </a14:m>
                <a:endParaRPr lang="zh-CN" altLang="en-US"/>
              </a:p>
            </p:txBody>
          </p:sp>
        </mc:Choice>
        <mc:Fallback xmlns="">
          <p:sp>
            <p:nvSpPr>
              <p:cNvPr id="37895" name="Object 10"/>
              <p:cNvSpPr txBox="1">
                <a:spLocks noRot="1" noChangeAspect="1" noMove="1" noResize="1" noEditPoints="1" noAdjustHandles="1" noChangeArrowheads="1" noChangeShapeType="1" noTextEdit="1"/>
              </p:cNvSpPr>
              <p:nvPr/>
            </p:nvSpPr>
            <p:spPr bwMode="auto">
              <a:xfrm>
                <a:off x="5437525" y="1821952"/>
                <a:ext cx="2406650" cy="1008062"/>
              </a:xfrm>
              <a:prstGeom prst="rect">
                <a:avLst/>
              </a:prstGeom>
              <a:blipFill>
                <a:blip r:embed="rId5"/>
                <a:stretch>
                  <a:fillRect/>
                </a:stretch>
              </a:blipFill>
              <a:ln w="9525">
                <a:solidFill>
                  <a:srgbClr val="D01A38"/>
                </a:solidFill>
                <a:miter lim="800000"/>
                <a:headEnd/>
                <a:tailEnd/>
              </a:ln>
              <a:effectLst/>
              <a:extLst/>
            </p:spPr>
            <p:txBody>
              <a:bodyPr/>
              <a:lstStyle/>
              <a:p>
                <a:r>
                  <a:rPr lang="zh-CN" altLang="en-US">
                    <a:noFill/>
                  </a:rPr>
                  <a:t> </a:t>
                </a:r>
              </a:p>
            </p:txBody>
          </p:sp>
        </mc:Fallback>
      </mc:AlternateContent>
      <p:sp>
        <p:nvSpPr>
          <p:cNvPr id="37900" name="矩形 34"/>
          <p:cNvSpPr>
            <a:spLocks noChangeArrowheads="1"/>
          </p:cNvSpPr>
          <p:nvPr/>
        </p:nvSpPr>
        <p:spPr bwMode="auto">
          <a:xfrm>
            <a:off x="2123728" y="868568"/>
            <a:ext cx="2968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b="1" dirty="0">
                <a:solidFill>
                  <a:schemeClr val="accent2"/>
                </a:solidFill>
                <a:latin typeface="楷体_GB2312" pitchFamily="49" charset="-122"/>
              </a:rPr>
              <a:t>质心位置</a:t>
            </a:r>
            <a:r>
              <a:rPr lang="zh-CN" altLang="en-US" b="1" dirty="0">
                <a:solidFill>
                  <a:srgbClr val="000C0C"/>
                </a:solidFill>
                <a:latin typeface="楷体_GB2312" pitchFamily="49" charset="-122"/>
              </a:rPr>
              <a:t>：离散分布</a:t>
            </a:r>
            <a:endParaRPr lang="en-US" dirty="0"/>
          </a:p>
        </p:txBody>
      </p:sp>
      <p:sp>
        <p:nvSpPr>
          <p:cNvPr id="37901" name="矩形 35"/>
          <p:cNvSpPr>
            <a:spLocks noChangeArrowheads="1"/>
          </p:cNvSpPr>
          <p:nvPr/>
        </p:nvSpPr>
        <p:spPr bwMode="auto">
          <a:xfrm>
            <a:off x="3594268" y="1715251"/>
            <a:ext cx="16462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b="1" dirty="0">
                <a:solidFill>
                  <a:srgbClr val="000C0C"/>
                </a:solidFill>
                <a:latin typeface="楷体_GB2312" pitchFamily="49" charset="-122"/>
              </a:rPr>
              <a:t>连续分布</a:t>
            </a:r>
            <a:endParaRPr lang="en-US" dirty="0"/>
          </a:p>
        </p:txBody>
      </p:sp>
      <p:sp>
        <p:nvSpPr>
          <p:cNvPr id="25" name="矩形 24">
            <a:extLst>
              <a:ext uri="{FF2B5EF4-FFF2-40B4-BE49-F238E27FC236}">
                <a16:creationId xmlns:a16="http://schemas.microsoft.com/office/drawing/2014/main" id="{7ACFD04C-0EA4-4600-87EF-83C9D0D4308F}"/>
              </a:ext>
            </a:extLst>
          </p:cNvPr>
          <p:cNvSpPr/>
          <p:nvPr/>
        </p:nvSpPr>
        <p:spPr>
          <a:xfrm>
            <a:off x="3368804" y="3058085"/>
            <a:ext cx="1723549" cy="461665"/>
          </a:xfrm>
          <a:prstGeom prst="rect">
            <a:avLst/>
          </a:prstGeom>
        </p:spPr>
        <p:txBody>
          <a:bodyPr wrap="none">
            <a:spAutoFit/>
          </a:bodyPr>
          <a:lstStyle/>
          <a:p>
            <a:r>
              <a:rPr lang="zh-CN" altLang="en-US" b="1" dirty="0">
                <a:solidFill>
                  <a:srgbClr val="000C0C"/>
                </a:solidFill>
                <a:latin typeface="楷体_GB2312" pitchFamily="49" charset="-122"/>
              </a:rPr>
              <a:t>质心的速度</a:t>
            </a:r>
            <a:endParaRPr lang="zh-CN" altLang="en-US" dirty="0"/>
          </a:p>
        </p:txBody>
      </p:sp>
      <mc:AlternateContent xmlns:mc="http://schemas.openxmlformats.org/markup-compatibility/2006" xmlns:a14="http://schemas.microsoft.com/office/drawing/2010/main">
        <mc:Choice Requires="a14">
          <p:sp>
            <p:nvSpPr>
              <p:cNvPr id="26" name="Object 3">
                <a:extLst>
                  <a:ext uri="{FF2B5EF4-FFF2-40B4-BE49-F238E27FC236}">
                    <a16:creationId xmlns:a16="http://schemas.microsoft.com/office/drawing/2014/main" id="{FCEC7BC1-D8DC-4257-81D8-872D6B7605F8}"/>
                  </a:ext>
                </a:extLst>
              </p:cNvPr>
              <p:cNvSpPr txBox="1">
                <a:spLocks/>
              </p:cNvSpPr>
              <p:nvPr/>
            </p:nvSpPr>
            <p:spPr bwMode="auto">
              <a:xfrm>
                <a:off x="5265978" y="2945312"/>
                <a:ext cx="2638425" cy="108267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1800">
                    <a:solidFill>
                      <a:schemeClr val="tx1"/>
                    </a:solidFill>
                    <a:latin typeface="+mn-lt"/>
                    <a:ea typeface="+mn-ea"/>
                  </a:defRPr>
                </a:lvl4pPr>
                <a:lvl5pPr marL="2057400" indent="-228600" algn="l" rtl="0" eaLnBrk="0" fontAlgn="base" hangingPunct="0">
                  <a:spcBef>
                    <a:spcPct val="20000"/>
                  </a:spcBef>
                  <a:spcAft>
                    <a:spcPct val="0"/>
                  </a:spcAft>
                  <a:buChar char="»"/>
                  <a:defRPr kumimoji="1" sz="1800">
                    <a:solidFill>
                      <a:schemeClr val="tx1"/>
                    </a:solidFill>
                    <a:latin typeface="+mn-lt"/>
                    <a:ea typeface="+mn-ea"/>
                  </a:defRPr>
                </a:lvl5pPr>
                <a:lvl6pPr marL="2514600" indent="-228600" algn="l" rtl="0" fontAlgn="base">
                  <a:spcBef>
                    <a:spcPct val="20000"/>
                  </a:spcBef>
                  <a:spcAft>
                    <a:spcPct val="0"/>
                  </a:spcAft>
                  <a:buChar char="»"/>
                  <a:defRPr kumimoji="1" sz="1800">
                    <a:solidFill>
                      <a:schemeClr val="tx1"/>
                    </a:solidFill>
                    <a:latin typeface="+mn-lt"/>
                    <a:ea typeface="+mn-ea"/>
                  </a:defRPr>
                </a:lvl6pPr>
                <a:lvl7pPr marL="2971800" indent="-228600" algn="l" rtl="0" fontAlgn="base">
                  <a:spcBef>
                    <a:spcPct val="20000"/>
                  </a:spcBef>
                  <a:spcAft>
                    <a:spcPct val="0"/>
                  </a:spcAft>
                  <a:buChar char="»"/>
                  <a:defRPr kumimoji="1" sz="1800">
                    <a:solidFill>
                      <a:schemeClr val="tx1"/>
                    </a:solidFill>
                    <a:latin typeface="+mn-lt"/>
                    <a:ea typeface="+mn-ea"/>
                  </a:defRPr>
                </a:lvl7pPr>
                <a:lvl8pPr marL="3429000" indent="-228600" algn="l" rtl="0" fontAlgn="base">
                  <a:spcBef>
                    <a:spcPct val="20000"/>
                  </a:spcBef>
                  <a:spcAft>
                    <a:spcPct val="0"/>
                  </a:spcAft>
                  <a:buChar char="»"/>
                  <a:defRPr kumimoji="1" sz="1800">
                    <a:solidFill>
                      <a:schemeClr val="tx1"/>
                    </a:solidFill>
                    <a:latin typeface="+mn-lt"/>
                    <a:ea typeface="+mn-ea"/>
                  </a:defRPr>
                </a:lvl8pPr>
                <a:lvl9pPr marL="3886200" indent="-228600" algn="l" rtl="0" fontAlgn="base">
                  <a:spcBef>
                    <a:spcPct val="20000"/>
                  </a:spcBef>
                  <a:spcAft>
                    <a:spcPct val="0"/>
                  </a:spcAft>
                  <a:buChar char="»"/>
                  <a:defRPr kumimoji="1" sz="1800">
                    <a:solidFill>
                      <a:schemeClr val="tx1"/>
                    </a:solidFill>
                    <a:latin typeface="+mn-lt"/>
                    <a:ea typeface="+mn-ea"/>
                  </a:defRPr>
                </a:lvl9pPr>
              </a:lstStyle>
              <a:p>
                <a:pPr>
                  <a:buFontTx/>
                  <a:buNone/>
                </a:pPr>
                <a14:m>
                  <m:oMathPara xmlns:m="http://schemas.openxmlformats.org/officeDocument/2006/math">
                    <m:oMathParaPr>
                      <m:jc m:val="centerGroup"/>
                    </m:oMathParaPr>
                    <m:oMath xmlns:m="http://schemas.openxmlformats.org/officeDocument/2006/math">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𝑣</m:t>
                              </m:r>
                            </m:e>
                          </m:acc>
                        </m:e>
                        <m:sub>
                          <m:r>
                            <a:rPr lang="zh-CN" altLang="en-US" i="1" kern="0">
                              <a:solidFill>
                                <a:srgbClr val="000000"/>
                              </a:solidFill>
                              <a:latin typeface="Cambria Math" panose="02040503050406030204" pitchFamily="18" charset="0"/>
                            </a:rPr>
                            <m:t>𝑐</m:t>
                          </m:r>
                        </m:sub>
                      </m:sSub>
                      <m:r>
                        <a:rPr lang="en-US" altLang="zh-CN" b="0" i="1" kern="0" smtClean="0">
                          <a:solidFill>
                            <a:srgbClr val="000000"/>
                          </a:solidFill>
                          <a:latin typeface="Cambria Math" panose="02040503050406030204" pitchFamily="18" charset="0"/>
                        </a:rPr>
                        <m:t>=</m:t>
                      </m:r>
                      <m:f>
                        <m:fPr>
                          <m:ctrlPr>
                            <a:rPr lang="zh-CN" altLang="en-US" i="1" kern="0">
                              <a:solidFill>
                                <a:srgbClr val="000000"/>
                              </a:solidFill>
                              <a:latin typeface="Cambria Math" panose="02040503050406030204" pitchFamily="18" charset="0"/>
                            </a:rPr>
                          </m:ctrlPr>
                        </m:fPr>
                        <m:num>
                          <m:r>
                            <m:rPr>
                              <m:sty m:val="p"/>
                            </m:rPr>
                            <a:rPr lang="zh-CN" altLang="en-US" i="0" kern="0">
                              <a:solidFill>
                                <a:srgbClr val="000000"/>
                              </a:solidFill>
                              <a:latin typeface="Cambria Math" panose="02040503050406030204" pitchFamily="18" charset="0"/>
                            </a:rPr>
                            <m:t>d</m:t>
                          </m:r>
                        </m:num>
                        <m:den>
                          <m:r>
                            <m:rPr>
                              <m:sty m:val="p"/>
                            </m:rPr>
                            <a:rPr lang="zh-CN" altLang="en-US" i="0" kern="0">
                              <a:solidFill>
                                <a:srgbClr val="000000"/>
                              </a:solidFill>
                              <a:latin typeface="Cambria Math" panose="02040503050406030204" pitchFamily="18" charset="0"/>
                            </a:rPr>
                            <m:t>d</m:t>
                          </m:r>
                          <m:r>
                            <a:rPr lang="zh-CN" altLang="en-US" i="1" kern="0">
                              <a:solidFill>
                                <a:srgbClr val="000000"/>
                              </a:solidFill>
                              <a:latin typeface="Cambria Math" panose="02040503050406030204" pitchFamily="18" charset="0"/>
                            </a:rPr>
                            <m:t>𝑡</m:t>
                          </m:r>
                        </m:den>
                      </m:f>
                      <m:f>
                        <m:fPr>
                          <m:ctrlPr>
                            <a:rPr lang="zh-CN" altLang="en-US" i="1" kern="0">
                              <a:solidFill>
                                <a:srgbClr val="000000"/>
                              </a:solidFill>
                              <a:latin typeface="Cambria Math" panose="02040503050406030204" pitchFamily="18" charset="0"/>
                            </a:rPr>
                          </m:ctrlPr>
                        </m:fPr>
                        <m:num>
                          <m:nary>
                            <m:naryPr>
                              <m:chr m:val="∑"/>
                              <m:supHide m:val="on"/>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𝑖</m:t>
                              </m:r>
                            </m:sub>
                            <m:sup/>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𝑚</m:t>
                                  </m:r>
                                </m:e>
                                <m:sub>
                                  <m:r>
                                    <a:rPr lang="zh-CN" altLang="en-US" i="1" kern="0">
                                      <a:solidFill>
                                        <a:srgbClr val="000000"/>
                                      </a:solidFill>
                                      <a:latin typeface="Cambria Math" panose="02040503050406030204" pitchFamily="18" charset="0"/>
                                    </a:rPr>
                                    <m:t>𝑖</m:t>
                                  </m:r>
                                </m:sub>
                              </m:sSub>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𝑟</m:t>
                                      </m:r>
                                    </m:e>
                                  </m:acc>
                                </m:e>
                                <m:sub>
                                  <m:r>
                                    <a:rPr lang="zh-CN" altLang="en-US" i="1" kern="0">
                                      <a:solidFill>
                                        <a:srgbClr val="000000"/>
                                      </a:solidFill>
                                      <a:latin typeface="Cambria Math" panose="02040503050406030204" pitchFamily="18" charset="0"/>
                                    </a:rPr>
                                    <m:t>𝑖</m:t>
                                  </m:r>
                                </m:sub>
                              </m:sSub>
                            </m:e>
                          </m:nary>
                        </m:num>
                        <m:den>
                          <m:r>
                            <a:rPr lang="zh-CN" altLang="en-US" i="1" kern="0">
                              <a:solidFill>
                                <a:srgbClr val="000000"/>
                              </a:solidFill>
                              <a:latin typeface="Cambria Math" panose="02040503050406030204" pitchFamily="18" charset="0"/>
                            </a:rPr>
                            <m:t>𝑀</m:t>
                          </m:r>
                        </m:den>
                      </m:f>
                    </m:oMath>
                  </m:oMathPara>
                </a14:m>
                <a:endParaRPr lang="zh-CN" altLang="en-US" kern="0" dirty="0"/>
              </a:p>
            </p:txBody>
          </p:sp>
        </mc:Choice>
        <mc:Fallback xmlns="">
          <p:sp>
            <p:nvSpPr>
              <p:cNvPr id="26" name="Object 3">
                <a:extLst>
                  <a:ext uri="{FF2B5EF4-FFF2-40B4-BE49-F238E27FC236}">
                    <a16:creationId xmlns:a16="http://schemas.microsoft.com/office/drawing/2014/main" id="{FCEC7BC1-D8DC-4257-81D8-872D6B7605F8}"/>
                  </a:ext>
                </a:extLst>
              </p:cNvPr>
              <p:cNvSpPr txBox="1">
                <a:spLocks noRot="1" noChangeAspect="1" noMove="1" noResize="1" noEditPoints="1" noAdjustHandles="1" noChangeArrowheads="1" noChangeShapeType="1" noTextEdit="1"/>
              </p:cNvSpPr>
              <p:nvPr/>
            </p:nvSpPr>
            <p:spPr bwMode="auto">
              <a:xfrm>
                <a:off x="5265978" y="2945312"/>
                <a:ext cx="2638425" cy="1082675"/>
              </a:xfrm>
              <a:prstGeom prst="rect">
                <a:avLst/>
              </a:prstGeom>
              <a:blipFill>
                <a:blip r:embed="rId6"/>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2">
                <a:extLst>
                  <a:ext uri="{FF2B5EF4-FFF2-40B4-BE49-F238E27FC236}">
                    <a16:creationId xmlns:a16="http://schemas.microsoft.com/office/drawing/2014/main" id="{A4B5FE67-01FD-4CAF-9F7D-74AB6EBB9612}"/>
                  </a:ext>
                </a:extLst>
              </p:cNvPr>
              <p:cNvSpPr txBox="1"/>
              <p:nvPr/>
            </p:nvSpPr>
            <p:spPr bwMode="auto">
              <a:xfrm>
                <a:off x="4948985" y="4464670"/>
                <a:ext cx="3856038" cy="736600"/>
              </a:xfrm>
              <a:prstGeom prst="rect">
                <a:avLst/>
              </a:prstGeom>
              <a:noFill/>
              <a:ln w="9525">
                <a:solidFill>
                  <a:srgbClr val="D01A38"/>
                </a:solidFill>
                <a:miter lim="800000"/>
                <a:headEnd/>
                <a:tailEnd/>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sub>
                        <m:sup>
                          <m:r>
                            <a:rPr lang="zh-CN" altLang="en-US" i="1">
                              <a:solidFill>
                                <a:srgbClr val="000000"/>
                              </a:solidFill>
                              <a:latin typeface="Cambria Math" panose="02040503050406030204" pitchFamily="18" charset="0"/>
                            </a:rPr>
                            <m:t>𝑡</m:t>
                          </m:r>
                        </m:sup>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𝐹</m:t>
                              </m:r>
                            </m:e>
                          </m:acc>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𝑐</m:t>
                          </m:r>
                          <m:r>
                            <a:rPr lang="zh-CN" altLang="en-US" i="1">
                              <a:solidFill>
                                <a:srgbClr val="000000"/>
                              </a:solidFill>
                              <a:latin typeface="Cambria Math" panose="02040503050406030204" pitchFamily="18" charset="0"/>
                            </a:rPr>
                            <m:t>0</m:t>
                          </m:r>
                        </m:sub>
                      </m:sSub>
                    </m:oMath>
                  </m:oMathPara>
                </a14:m>
                <a:endParaRPr lang="zh-CN" altLang="en-US" dirty="0"/>
              </a:p>
            </p:txBody>
          </p:sp>
        </mc:Choice>
        <mc:Fallback xmlns="">
          <p:sp>
            <p:nvSpPr>
              <p:cNvPr id="27" name="Object 2">
                <a:extLst>
                  <a:ext uri="{FF2B5EF4-FFF2-40B4-BE49-F238E27FC236}">
                    <a16:creationId xmlns:a16="http://schemas.microsoft.com/office/drawing/2014/main" id="{A4B5FE67-01FD-4CAF-9F7D-74AB6EBB9612}"/>
                  </a:ext>
                </a:extLst>
              </p:cNvPr>
              <p:cNvSpPr txBox="1">
                <a:spLocks noRot="1" noChangeAspect="1" noMove="1" noResize="1" noEditPoints="1" noAdjustHandles="1" noChangeArrowheads="1" noChangeShapeType="1" noTextEdit="1"/>
              </p:cNvSpPr>
              <p:nvPr/>
            </p:nvSpPr>
            <p:spPr bwMode="auto">
              <a:xfrm>
                <a:off x="4948985" y="4464670"/>
                <a:ext cx="3856038" cy="736600"/>
              </a:xfrm>
              <a:prstGeom prst="rect">
                <a:avLst/>
              </a:prstGeom>
              <a:blipFill>
                <a:blip r:embed="rId7"/>
                <a:stretch>
                  <a:fillRect/>
                </a:stretch>
              </a:blipFill>
              <a:ln w="9525">
                <a:solidFill>
                  <a:srgbClr val="D01A38"/>
                </a:solidFill>
                <a:miter lim="800000"/>
                <a:headEnd/>
                <a:tailEnd/>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Object 3">
                <a:extLst>
                  <a:ext uri="{FF2B5EF4-FFF2-40B4-BE49-F238E27FC236}">
                    <a16:creationId xmlns:a16="http://schemas.microsoft.com/office/drawing/2014/main" id="{9D245FE2-064E-48D9-B4D5-D7EBC18F9401}"/>
                  </a:ext>
                </a:extLst>
              </p:cNvPr>
              <p:cNvSpPr txBox="1">
                <a:spLocks/>
              </p:cNvSpPr>
              <p:nvPr/>
            </p:nvSpPr>
            <p:spPr bwMode="auto">
              <a:xfrm>
                <a:off x="330201" y="3770618"/>
                <a:ext cx="4205287" cy="1082675"/>
              </a:xfrm>
              <a:prstGeom prst="rect">
                <a:avLst/>
              </a:prstGeom>
              <a:noFill/>
              <a:ln>
                <a:noFill/>
              </a:ln>
              <a:effectLst/>
              <a:extLst/>
            </p:spPr>
            <p:txBody>
              <a:bodyPr>
                <a:normAutofit fontScale="62500" lnSpcReduction="20000"/>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buFontTx/>
                  <a:buNone/>
                </a:pPr>
                <a14:m>
                  <m:oMathPara xmlns:m="http://schemas.openxmlformats.org/officeDocument/2006/math">
                    <m:oMathParaPr>
                      <m:jc m:val="centerGroup"/>
                    </m:oMathParaPr>
                    <m:oMath xmlns:m="http://schemas.openxmlformats.org/officeDocument/2006/math">
                      <m:acc>
                        <m:accPr>
                          <m:chr m:val="⃗"/>
                          <m:ctrlPr>
                            <a:rPr lang="zh-CN" altLang="en-US" i="1" kern="0" smtClea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𝑃</m:t>
                          </m:r>
                        </m:e>
                      </m:acc>
                      <m:r>
                        <a:rPr lang="zh-CN" altLang="en-US" i="1" kern="0">
                          <a:solidFill>
                            <a:srgbClr val="000000"/>
                          </a:solidFill>
                          <a:latin typeface="Cambria Math" panose="02040503050406030204" pitchFamily="18" charset="0"/>
                        </a:rPr>
                        <m:t>=</m:t>
                      </m:r>
                      <m:nary>
                        <m:naryPr>
                          <m:chr m:val="∑"/>
                          <m:supHide m:val="on"/>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𝑖</m:t>
                          </m:r>
                        </m:sub>
                        <m:sup/>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𝑚</m:t>
                              </m:r>
                            </m:e>
                            <m:sub>
                              <m:r>
                                <a:rPr lang="zh-CN" altLang="en-US" i="1" kern="0">
                                  <a:solidFill>
                                    <a:srgbClr val="000000"/>
                                  </a:solidFill>
                                  <a:latin typeface="Cambria Math" panose="02040503050406030204" pitchFamily="18" charset="0"/>
                                </a:rPr>
                                <m:t>𝑖</m:t>
                              </m:r>
                            </m:sub>
                          </m:sSub>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𝑣</m:t>
                                  </m:r>
                                </m:e>
                              </m:acc>
                            </m:e>
                            <m:sub>
                              <m:r>
                                <a:rPr lang="zh-CN" altLang="en-US" i="1" kern="0">
                                  <a:solidFill>
                                    <a:srgbClr val="000000"/>
                                  </a:solidFill>
                                  <a:latin typeface="Cambria Math" panose="02040503050406030204" pitchFamily="18" charset="0"/>
                                </a:rPr>
                                <m:t>𝑖</m:t>
                              </m:r>
                            </m:sub>
                          </m:sSub>
                          <m:r>
                            <a:rPr lang="zh-CN" altLang="en-US" i="1" kern="0">
                              <a:solidFill>
                                <a:srgbClr val="000000"/>
                              </a:solidFill>
                              <a:latin typeface="Cambria Math" panose="02040503050406030204" pitchFamily="18" charset="0"/>
                            </a:rPr>
                            <m:t>=</m:t>
                          </m:r>
                        </m:e>
                      </m:nary>
                      <m:r>
                        <a:rPr lang="zh-CN" altLang="en-US" i="1" kern="0">
                          <a:solidFill>
                            <a:srgbClr val="000000"/>
                          </a:solidFill>
                          <a:latin typeface="Cambria Math" panose="02040503050406030204" pitchFamily="18" charset="0"/>
                        </a:rPr>
                        <m:t>𝑀</m:t>
                      </m:r>
                      <m:f>
                        <m:fPr>
                          <m:ctrlPr>
                            <a:rPr lang="zh-CN" altLang="en-US" i="1" kern="0">
                              <a:solidFill>
                                <a:srgbClr val="000000"/>
                              </a:solidFill>
                              <a:latin typeface="Cambria Math" panose="02040503050406030204" pitchFamily="18" charset="0"/>
                            </a:rPr>
                          </m:ctrlPr>
                        </m:fPr>
                        <m:num>
                          <m:r>
                            <a:rPr lang="zh-CN" altLang="en-US" i="1" kern="0">
                              <a:solidFill>
                                <a:srgbClr val="000000"/>
                              </a:solidFill>
                              <a:latin typeface="Cambria Math" panose="02040503050406030204" pitchFamily="18" charset="0"/>
                            </a:rPr>
                            <m:t>𝑑</m:t>
                          </m:r>
                        </m:num>
                        <m:den>
                          <m:r>
                            <a:rPr lang="zh-CN" altLang="en-US" i="1" kern="0">
                              <a:solidFill>
                                <a:srgbClr val="000000"/>
                              </a:solidFill>
                              <a:latin typeface="Cambria Math" panose="02040503050406030204" pitchFamily="18" charset="0"/>
                            </a:rPr>
                            <m:t>𝑑𝑡</m:t>
                          </m:r>
                        </m:den>
                      </m:f>
                      <m:f>
                        <m:fPr>
                          <m:ctrlPr>
                            <a:rPr lang="zh-CN" altLang="en-US" i="1" kern="0">
                              <a:solidFill>
                                <a:srgbClr val="000000"/>
                              </a:solidFill>
                              <a:latin typeface="Cambria Math" panose="02040503050406030204" pitchFamily="18" charset="0"/>
                            </a:rPr>
                          </m:ctrlPr>
                        </m:fPr>
                        <m:num>
                          <m:nary>
                            <m:naryPr>
                              <m:chr m:val="∑"/>
                              <m:supHide m:val="on"/>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𝑖</m:t>
                              </m:r>
                            </m:sub>
                            <m:sup/>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𝑚</m:t>
                                  </m:r>
                                </m:e>
                                <m:sub>
                                  <m:r>
                                    <a:rPr lang="zh-CN" altLang="en-US" i="1" kern="0">
                                      <a:solidFill>
                                        <a:srgbClr val="000000"/>
                                      </a:solidFill>
                                      <a:latin typeface="Cambria Math" panose="02040503050406030204" pitchFamily="18" charset="0"/>
                                    </a:rPr>
                                    <m:t>𝑖</m:t>
                                  </m:r>
                                </m:sub>
                              </m:sSub>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𝑟</m:t>
                                      </m:r>
                                    </m:e>
                                  </m:acc>
                                </m:e>
                                <m:sub>
                                  <m:r>
                                    <a:rPr lang="zh-CN" altLang="en-US" i="1" kern="0">
                                      <a:solidFill>
                                        <a:srgbClr val="000000"/>
                                      </a:solidFill>
                                      <a:latin typeface="Cambria Math" panose="02040503050406030204" pitchFamily="18" charset="0"/>
                                    </a:rPr>
                                    <m:t>𝑖</m:t>
                                  </m:r>
                                </m:sub>
                              </m:sSub>
                            </m:e>
                          </m:nary>
                        </m:num>
                        <m:den>
                          <m:r>
                            <a:rPr lang="zh-CN" altLang="en-US" i="1" kern="0">
                              <a:solidFill>
                                <a:srgbClr val="000000"/>
                              </a:solidFill>
                              <a:latin typeface="Cambria Math" panose="02040503050406030204" pitchFamily="18" charset="0"/>
                            </a:rPr>
                            <m:t>𝑀</m:t>
                          </m:r>
                        </m:den>
                      </m:f>
                      <m:r>
                        <a:rPr lang="zh-CN" altLang="en-US" i="1" kern="0">
                          <a:solidFill>
                            <a:srgbClr val="000000"/>
                          </a:solidFill>
                          <a:latin typeface="Cambria Math" panose="02040503050406030204" pitchFamily="18" charset="0"/>
                        </a:rPr>
                        <m:t>=</m:t>
                      </m:r>
                      <m:r>
                        <a:rPr lang="zh-CN" altLang="en-US" i="1" kern="0">
                          <a:solidFill>
                            <a:srgbClr val="000000"/>
                          </a:solidFill>
                          <a:latin typeface="Cambria Math" panose="02040503050406030204" pitchFamily="18" charset="0"/>
                        </a:rPr>
                        <m:t>𝑀</m:t>
                      </m:r>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𝑣</m:t>
                              </m:r>
                            </m:e>
                          </m:acc>
                        </m:e>
                        <m:sub>
                          <m:r>
                            <a:rPr lang="zh-CN" altLang="en-US" i="1" kern="0">
                              <a:solidFill>
                                <a:srgbClr val="000000"/>
                              </a:solidFill>
                              <a:latin typeface="Cambria Math" panose="02040503050406030204" pitchFamily="18" charset="0"/>
                            </a:rPr>
                            <m:t>𝑐</m:t>
                          </m:r>
                        </m:sub>
                      </m:sSub>
                    </m:oMath>
                  </m:oMathPara>
                </a14:m>
                <a:endParaRPr lang="zh-CN" altLang="en-US" kern="0" dirty="0"/>
              </a:p>
            </p:txBody>
          </p:sp>
        </mc:Choice>
        <mc:Fallback xmlns="">
          <p:sp>
            <p:nvSpPr>
              <p:cNvPr id="29" name="Object 3">
                <a:extLst>
                  <a:ext uri="{FF2B5EF4-FFF2-40B4-BE49-F238E27FC236}">
                    <a16:creationId xmlns:a16="http://schemas.microsoft.com/office/drawing/2014/main" id="{9D245FE2-064E-48D9-B4D5-D7EBC18F9401}"/>
                  </a:ext>
                </a:extLst>
              </p:cNvPr>
              <p:cNvSpPr txBox="1">
                <a:spLocks noRot="1" noChangeAspect="1" noMove="1" noResize="1" noEditPoints="1" noAdjustHandles="1" noChangeArrowheads="1" noChangeShapeType="1" noTextEdit="1"/>
              </p:cNvSpPr>
              <p:nvPr/>
            </p:nvSpPr>
            <p:spPr bwMode="auto">
              <a:xfrm>
                <a:off x="330201" y="3770618"/>
                <a:ext cx="4205287" cy="1082675"/>
              </a:xfrm>
              <a:prstGeom prst="rect">
                <a:avLst/>
              </a:prstGeom>
              <a:blipFill>
                <a:blip r:embed="rId8"/>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4">
                <a:extLst>
                  <a:ext uri="{FF2B5EF4-FFF2-40B4-BE49-F238E27FC236}">
                    <a16:creationId xmlns:a16="http://schemas.microsoft.com/office/drawing/2014/main" id="{21C73454-B580-4D55-88CA-C9CB2CBA045B}"/>
                  </a:ext>
                </a:extLst>
              </p:cNvPr>
              <p:cNvSpPr txBox="1">
                <a:spLocks/>
              </p:cNvSpPr>
              <p:nvPr/>
            </p:nvSpPr>
            <p:spPr bwMode="auto">
              <a:xfrm>
                <a:off x="5004914" y="5225845"/>
                <a:ext cx="3316287" cy="763587"/>
              </a:xfrm>
              <a:prstGeom prst="rect">
                <a:avLst/>
              </a:prstGeom>
              <a:noFill/>
              <a:ln>
                <a:noFill/>
              </a:ln>
              <a:effectLst/>
              <a:extLst/>
            </p:spPr>
            <p:txBody>
              <a:bodyPr>
                <a:normAutofit fontScale="62500" lnSpcReduction="20000"/>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buFontTx/>
                  <a:buNone/>
                </a:pPr>
                <a14:m>
                  <m:oMathPara xmlns:m="http://schemas.openxmlformats.org/officeDocument/2006/math">
                    <m:oMathParaPr>
                      <m:jc m:val="centerGroup"/>
                    </m:oMathParaPr>
                    <m:oMath xmlns:m="http://schemas.openxmlformats.org/officeDocument/2006/math">
                      <m:acc>
                        <m:accPr>
                          <m:chr m:val="⃗"/>
                          <m:ctrlPr>
                            <a:rPr lang="zh-CN" altLang="en-US" i="1" kern="0" smtClea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𝐹</m:t>
                          </m:r>
                        </m:e>
                      </m:acc>
                      <m:r>
                        <a:rPr lang="zh-CN" altLang="en-US" i="1" kern="0">
                          <a:solidFill>
                            <a:srgbClr val="000000"/>
                          </a:solidFill>
                          <a:latin typeface="Cambria Math" panose="02040503050406030204" pitchFamily="18" charset="0"/>
                        </a:rPr>
                        <m:t>=</m:t>
                      </m:r>
                      <m:f>
                        <m:fPr>
                          <m:ctrlPr>
                            <a:rPr lang="zh-CN" altLang="en-US" i="1" kern="0">
                              <a:solidFill>
                                <a:srgbClr val="000000"/>
                              </a:solidFill>
                              <a:latin typeface="Cambria Math" panose="02040503050406030204" pitchFamily="18" charset="0"/>
                            </a:rPr>
                          </m:ctrlPr>
                        </m:fPr>
                        <m:num>
                          <m:r>
                            <a:rPr lang="zh-CN" altLang="en-US" i="1" kern="0">
                              <a:solidFill>
                                <a:srgbClr val="000000"/>
                              </a:solidFill>
                              <a:latin typeface="Cambria Math" panose="02040503050406030204" pitchFamily="18" charset="0"/>
                            </a:rPr>
                            <m:t>𝑑</m:t>
                          </m:r>
                        </m:num>
                        <m:den>
                          <m:r>
                            <a:rPr lang="zh-CN" altLang="en-US" i="1" kern="0">
                              <a:solidFill>
                                <a:srgbClr val="000000"/>
                              </a:solidFill>
                              <a:latin typeface="Cambria Math" panose="02040503050406030204" pitchFamily="18" charset="0"/>
                            </a:rPr>
                            <m:t>𝑑𝑡</m:t>
                          </m:r>
                        </m:den>
                      </m:f>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𝑃</m:t>
                          </m:r>
                        </m:e>
                      </m:acc>
                      <m:r>
                        <a:rPr lang="zh-CN" altLang="en-US" i="1" kern="0">
                          <a:solidFill>
                            <a:srgbClr val="000000"/>
                          </a:solidFill>
                          <a:latin typeface="Cambria Math" panose="02040503050406030204" pitchFamily="18" charset="0"/>
                        </a:rPr>
                        <m:t>=</m:t>
                      </m:r>
                      <m:f>
                        <m:fPr>
                          <m:ctrlPr>
                            <a:rPr lang="zh-CN" altLang="en-US" i="1" kern="0">
                              <a:solidFill>
                                <a:srgbClr val="000000"/>
                              </a:solidFill>
                              <a:latin typeface="Cambria Math" panose="02040503050406030204" pitchFamily="18" charset="0"/>
                            </a:rPr>
                          </m:ctrlPr>
                        </m:fPr>
                        <m:num>
                          <m:r>
                            <a:rPr lang="zh-CN" altLang="en-US" i="1" kern="0">
                              <a:solidFill>
                                <a:srgbClr val="000000"/>
                              </a:solidFill>
                              <a:latin typeface="Cambria Math" panose="02040503050406030204" pitchFamily="18" charset="0"/>
                            </a:rPr>
                            <m:t>𝑑</m:t>
                          </m:r>
                        </m:num>
                        <m:den>
                          <m:r>
                            <a:rPr lang="zh-CN" altLang="en-US" i="1" kern="0">
                              <a:solidFill>
                                <a:srgbClr val="000000"/>
                              </a:solidFill>
                              <a:latin typeface="Cambria Math" panose="02040503050406030204" pitchFamily="18" charset="0"/>
                            </a:rPr>
                            <m:t>𝑑𝑡</m:t>
                          </m:r>
                        </m:den>
                      </m:f>
                      <m:r>
                        <a:rPr lang="zh-CN" altLang="en-US" i="1" kern="0">
                          <a:solidFill>
                            <a:srgbClr val="000000"/>
                          </a:solidFill>
                          <a:latin typeface="Cambria Math" panose="02040503050406030204" pitchFamily="18" charset="0"/>
                        </a:rPr>
                        <m:t>(</m:t>
                      </m:r>
                      <m:r>
                        <a:rPr lang="zh-CN" altLang="en-US" i="1" kern="0">
                          <a:solidFill>
                            <a:srgbClr val="000000"/>
                          </a:solidFill>
                          <a:latin typeface="Cambria Math" panose="02040503050406030204" pitchFamily="18" charset="0"/>
                        </a:rPr>
                        <m:t>𝑀</m:t>
                      </m:r>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𝑣</m:t>
                          </m:r>
                        </m:e>
                        <m:sub>
                          <m:r>
                            <a:rPr lang="zh-CN" altLang="en-US" i="1" kern="0">
                              <a:solidFill>
                                <a:srgbClr val="000000"/>
                              </a:solidFill>
                              <a:latin typeface="Cambria Math" panose="02040503050406030204" pitchFamily="18" charset="0"/>
                            </a:rPr>
                            <m:t>𝐶</m:t>
                          </m:r>
                        </m:sub>
                      </m:sSub>
                      <m:r>
                        <a:rPr lang="zh-CN" altLang="en-US" i="1" kern="0">
                          <a:solidFill>
                            <a:srgbClr val="000000"/>
                          </a:solidFill>
                          <a:latin typeface="Cambria Math" panose="02040503050406030204" pitchFamily="18" charset="0"/>
                        </a:rPr>
                        <m:t>)=</m:t>
                      </m:r>
                      <m:r>
                        <a:rPr lang="zh-CN" altLang="en-US" i="1" kern="0">
                          <a:solidFill>
                            <a:srgbClr val="000000"/>
                          </a:solidFill>
                          <a:latin typeface="Cambria Math" panose="02040503050406030204" pitchFamily="18" charset="0"/>
                        </a:rPr>
                        <m:t>𝑀</m:t>
                      </m:r>
                      <m:sSub>
                        <m:sSubPr>
                          <m:ctrlPr>
                            <a:rPr lang="zh-CN" altLang="en-US" i="1" kern="0">
                              <a:solidFill>
                                <a:srgbClr val="000000"/>
                              </a:solidFill>
                              <a:latin typeface="Cambria Math" panose="02040503050406030204" pitchFamily="18" charset="0"/>
                            </a:rPr>
                          </m:ctrlPr>
                        </m:sSubPr>
                        <m:e>
                          <m:acc>
                            <m:accPr>
                              <m:chr m:val="⃗"/>
                              <m:ctrlPr>
                                <a:rPr lang="zh-CN" altLang="en-US" i="1" kern="0">
                                  <a:solidFill>
                                    <a:srgbClr val="000000"/>
                                  </a:solidFill>
                                  <a:latin typeface="Cambria Math" panose="02040503050406030204" pitchFamily="18" charset="0"/>
                                </a:rPr>
                              </m:ctrlPr>
                            </m:accPr>
                            <m:e>
                              <m:r>
                                <a:rPr lang="zh-CN" altLang="en-US" i="1" kern="0">
                                  <a:solidFill>
                                    <a:srgbClr val="000000"/>
                                  </a:solidFill>
                                  <a:latin typeface="Cambria Math" panose="02040503050406030204" pitchFamily="18" charset="0"/>
                                </a:rPr>
                                <m:t>𝑎</m:t>
                              </m:r>
                            </m:e>
                          </m:acc>
                        </m:e>
                        <m:sub>
                          <m:r>
                            <a:rPr lang="zh-CN" altLang="en-US" i="1" kern="0">
                              <a:solidFill>
                                <a:srgbClr val="000000"/>
                              </a:solidFill>
                              <a:latin typeface="Cambria Math" panose="02040503050406030204" pitchFamily="18" charset="0"/>
                            </a:rPr>
                            <m:t>𝑐</m:t>
                          </m:r>
                        </m:sub>
                      </m:sSub>
                    </m:oMath>
                  </m:oMathPara>
                </a14:m>
                <a:endParaRPr lang="zh-CN" altLang="en-US" kern="0" dirty="0"/>
              </a:p>
            </p:txBody>
          </p:sp>
        </mc:Choice>
        <mc:Fallback xmlns="">
          <p:sp>
            <p:nvSpPr>
              <p:cNvPr id="30" name="Object 4">
                <a:extLst>
                  <a:ext uri="{FF2B5EF4-FFF2-40B4-BE49-F238E27FC236}">
                    <a16:creationId xmlns:a16="http://schemas.microsoft.com/office/drawing/2014/main" id="{21C73454-B580-4D55-88CA-C9CB2CBA045B}"/>
                  </a:ext>
                </a:extLst>
              </p:cNvPr>
              <p:cNvSpPr txBox="1">
                <a:spLocks noRot="1" noChangeAspect="1" noMove="1" noResize="1" noEditPoints="1" noAdjustHandles="1" noChangeArrowheads="1" noChangeShapeType="1" noTextEdit="1"/>
              </p:cNvSpPr>
              <p:nvPr/>
            </p:nvSpPr>
            <p:spPr bwMode="auto">
              <a:xfrm>
                <a:off x="5004914" y="5225845"/>
                <a:ext cx="3316287" cy="763587"/>
              </a:xfrm>
              <a:prstGeom prst="rect">
                <a:avLst/>
              </a:prstGeom>
              <a:blipFill>
                <a:blip r:embed="rId9"/>
                <a:stretch>
                  <a:fillRect/>
                </a:stretch>
              </a:blipFill>
              <a:ln>
                <a:noFill/>
              </a:ln>
              <a:effectLst/>
              <a:extLst/>
            </p:spPr>
            <p:txBody>
              <a:bodyPr/>
              <a:lstStyle/>
              <a:p>
                <a:r>
                  <a:rPr lang="zh-CN" altLang="en-US">
                    <a:noFill/>
                  </a:rPr>
                  <a:t> </a:t>
                </a:r>
              </a:p>
            </p:txBody>
          </p:sp>
        </mc:Fallback>
      </mc:AlternateContent>
      <p:sp>
        <p:nvSpPr>
          <p:cNvPr id="31" name="椭圆 30">
            <a:extLst>
              <a:ext uri="{FF2B5EF4-FFF2-40B4-BE49-F238E27FC236}">
                <a16:creationId xmlns:a16="http://schemas.microsoft.com/office/drawing/2014/main" id="{0088CD2F-462B-4F4F-B955-4309605554CB}"/>
              </a:ext>
            </a:extLst>
          </p:cNvPr>
          <p:cNvSpPr>
            <a:spLocks noChangeArrowheads="1"/>
          </p:cNvSpPr>
          <p:nvPr/>
        </p:nvSpPr>
        <p:spPr bwMode="auto">
          <a:xfrm>
            <a:off x="2758529" y="3429000"/>
            <a:ext cx="849511" cy="1303337"/>
          </a:xfrm>
          <a:prstGeom prst="ellipse">
            <a:avLst/>
          </a:prstGeom>
          <a:solidFill>
            <a:schemeClr val="accent1">
              <a:alpha val="41176"/>
            </a:schemeClr>
          </a:solidFill>
          <a:ln w="9525" algn="ctr">
            <a:solidFill>
              <a:schemeClr val="tx1"/>
            </a:solidFill>
            <a:round/>
            <a:headEnd/>
            <a:tailEnd/>
          </a:ln>
        </p:spPr>
        <p:txBody>
          <a:bodyPr/>
          <a:lstStyle/>
          <a:p>
            <a:pPr>
              <a:spcBef>
                <a:spcPct val="20000"/>
              </a:spcBef>
            </a:pPr>
            <a:endParaRPr lang="en-US" altLang="zh-CN" b="1"/>
          </a:p>
        </p:txBody>
      </p:sp>
      <p:sp>
        <p:nvSpPr>
          <p:cNvPr id="33" name="矩形 32">
            <a:extLst>
              <a:ext uri="{FF2B5EF4-FFF2-40B4-BE49-F238E27FC236}">
                <a16:creationId xmlns:a16="http://schemas.microsoft.com/office/drawing/2014/main" id="{67AF0F41-8DB2-40D2-93D8-4F93F4E34B07}"/>
              </a:ext>
            </a:extLst>
          </p:cNvPr>
          <p:cNvSpPr/>
          <p:nvPr/>
        </p:nvSpPr>
        <p:spPr>
          <a:xfrm>
            <a:off x="3368804" y="5199285"/>
            <a:ext cx="1422400" cy="461963"/>
          </a:xfrm>
          <a:prstGeom prst="rect">
            <a:avLst/>
          </a:prstGeom>
        </p:spPr>
        <p:txBody>
          <a:bodyPr wrap="none">
            <a:spAutoFit/>
          </a:bodyPr>
          <a:lstStyle/>
          <a:p>
            <a:pPr>
              <a:spcBef>
                <a:spcPct val="20000"/>
              </a:spcBef>
              <a:defRPr/>
            </a:pPr>
            <a:r>
              <a:rPr lang="zh-CN" altLang="en-US" b="1" dirty="0">
                <a:solidFill>
                  <a:srgbClr val="000C0C"/>
                </a:solidFill>
                <a:latin typeface="楷体_GB2312" pitchFamily="49" charset="-122"/>
              </a:rPr>
              <a:t>微分形式</a:t>
            </a:r>
            <a:endParaRPr lang="zh-CN" altLang="en-US" b="1" dirty="0">
              <a:solidFill>
                <a:srgbClr val="000C0C"/>
              </a:solidFill>
              <a:effectLst>
                <a:outerShdw blurRad="38100" dist="38100" dir="2700000" algn="tl">
                  <a:srgbClr val="C0C0C0"/>
                </a:outerShdw>
              </a:effectLst>
              <a:latin typeface="楷体_GB2312" pitchFamily="49" charset="-122"/>
            </a:endParaRPr>
          </a:p>
        </p:txBody>
      </p:sp>
      <p:sp>
        <p:nvSpPr>
          <p:cNvPr id="34" name="矩形 33">
            <a:extLst>
              <a:ext uri="{FF2B5EF4-FFF2-40B4-BE49-F238E27FC236}">
                <a16:creationId xmlns:a16="http://schemas.microsoft.com/office/drawing/2014/main" id="{E2702C75-E370-418C-AA7B-385F4DD257BC}"/>
              </a:ext>
            </a:extLst>
          </p:cNvPr>
          <p:cNvSpPr/>
          <p:nvPr/>
        </p:nvSpPr>
        <p:spPr>
          <a:xfrm>
            <a:off x="3355286" y="4532553"/>
            <a:ext cx="1422400" cy="461963"/>
          </a:xfrm>
          <a:prstGeom prst="rect">
            <a:avLst/>
          </a:prstGeom>
        </p:spPr>
        <p:txBody>
          <a:bodyPr wrap="none">
            <a:spAutoFit/>
          </a:bodyPr>
          <a:lstStyle/>
          <a:p>
            <a:pPr>
              <a:spcBef>
                <a:spcPct val="20000"/>
              </a:spcBef>
              <a:defRPr/>
            </a:pPr>
            <a:r>
              <a:rPr lang="zh-CN" altLang="en-US" b="1" dirty="0">
                <a:solidFill>
                  <a:srgbClr val="000C0C"/>
                </a:solidFill>
                <a:latin typeface="楷体_GB2312" pitchFamily="49" charset="-122"/>
              </a:rPr>
              <a:t>积分形式</a:t>
            </a:r>
            <a:endParaRPr lang="zh-CN" altLang="en-US" b="1" dirty="0">
              <a:solidFill>
                <a:srgbClr val="000C0C"/>
              </a:solidFill>
              <a:effectLst>
                <a:outerShdw blurRad="38100" dist="38100" dir="2700000" algn="tl">
                  <a:srgbClr val="C0C0C0"/>
                </a:outerShdw>
              </a:effectLst>
              <a:latin typeface="楷体_GB2312" pitchFamily="49" charset="-122"/>
            </a:endParaRPr>
          </a:p>
        </p:txBody>
      </p:sp>
      <p:sp>
        <p:nvSpPr>
          <p:cNvPr id="35" name="Text Box 45">
            <a:extLst>
              <a:ext uri="{FF2B5EF4-FFF2-40B4-BE49-F238E27FC236}">
                <a16:creationId xmlns:a16="http://schemas.microsoft.com/office/drawing/2014/main" id="{7DA6FF7B-3BD6-4D06-9C81-2C07D0175963}"/>
              </a:ext>
            </a:extLst>
          </p:cNvPr>
          <p:cNvSpPr txBox="1">
            <a:spLocks noChangeArrowheads="1"/>
          </p:cNvSpPr>
          <p:nvPr/>
        </p:nvSpPr>
        <p:spPr bwMode="auto">
          <a:xfrm>
            <a:off x="275180" y="3116625"/>
            <a:ext cx="2808288" cy="519112"/>
          </a:xfrm>
          <a:prstGeom prst="rect">
            <a:avLst/>
          </a:prstGeom>
          <a:noFill/>
          <a:ln w="12700">
            <a:noFill/>
            <a:miter lim="800000"/>
            <a:headEnd type="none" w="sm" len="sm"/>
            <a:tailEnd type="none" w="sm" len="sm"/>
          </a:ln>
          <a:effectLst/>
        </p:spPr>
        <p:txBody>
          <a:bodyPr>
            <a:spAutoFit/>
          </a:bodyPr>
          <a:lstStyle/>
          <a:p>
            <a:pPr>
              <a:spcBef>
                <a:spcPct val="20000"/>
              </a:spcBef>
              <a:defRPr/>
            </a:pPr>
            <a:r>
              <a:rPr lang="en-US" altLang="zh-CN" sz="2800" b="1" dirty="0">
                <a:solidFill>
                  <a:schemeClr val="accent2"/>
                </a:solidFill>
                <a:latin typeface="楷体_GB2312" pitchFamily="49" charset="-122"/>
              </a:rPr>
              <a:t>2</a:t>
            </a:r>
            <a:r>
              <a:rPr lang="zh-CN" altLang="en-US" sz="2800" b="1">
                <a:solidFill>
                  <a:schemeClr val="accent2"/>
                </a:solidFill>
                <a:latin typeface="楷体_GB2312" pitchFamily="49" charset="-122"/>
              </a:rPr>
              <a:t>、质心的动量</a:t>
            </a:r>
            <a:endParaRPr lang="zh-CN" altLang="en-US" b="1" dirty="0">
              <a:solidFill>
                <a:schemeClr val="accent2"/>
              </a:solidFill>
              <a:effectLst>
                <a:outerShdw blurRad="38100" dist="38100" dir="2700000" algn="tl">
                  <a:srgbClr val="C0C0C0"/>
                </a:outerShdw>
              </a:effectLst>
              <a:latin typeface="楷体_GB2312" pitchFamily="49" charset="-122"/>
            </a:endParaRPr>
          </a:p>
        </p:txBody>
      </p:sp>
      <p:sp>
        <p:nvSpPr>
          <p:cNvPr id="36" name="Text Box 45">
            <a:extLst>
              <a:ext uri="{FF2B5EF4-FFF2-40B4-BE49-F238E27FC236}">
                <a16:creationId xmlns:a16="http://schemas.microsoft.com/office/drawing/2014/main" id="{32CFF103-DD09-471A-BDFD-E3AE70070A1A}"/>
              </a:ext>
            </a:extLst>
          </p:cNvPr>
          <p:cNvSpPr txBox="1">
            <a:spLocks noChangeArrowheads="1"/>
          </p:cNvSpPr>
          <p:nvPr/>
        </p:nvSpPr>
        <p:spPr bwMode="auto">
          <a:xfrm>
            <a:off x="268078" y="4814252"/>
            <a:ext cx="3583841" cy="523220"/>
          </a:xfrm>
          <a:prstGeom prst="rect">
            <a:avLst/>
          </a:prstGeom>
          <a:noFill/>
          <a:ln w="12700">
            <a:noFill/>
            <a:miter lim="800000"/>
            <a:headEnd type="none" w="sm" len="sm"/>
            <a:tailEnd type="none" w="sm" len="sm"/>
          </a:ln>
          <a:effectLst/>
        </p:spPr>
        <p:txBody>
          <a:bodyPr wrap="square">
            <a:spAutoFit/>
          </a:bodyPr>
          <a:lstStyle/>
          <a:p>
            <a:pPr>
              <a:spcBef>
                <a:spcPct val="20000"/>
              </a:spcBef>
              <a:defRPr/>
            </a:pPr>
            <a:r>
              <a:rPr lang="en-US" altLang="zh-CN" sz="2800" b="1" dirty="0">
                <a:solidFill>
                  <a:schemeClr val="accent2"/>
                </a:solidFill>
                <a:latin typeface="楷体_GB2312" pitchFamily="49" charset="-122"/>
              </a:rPr>
              <a:t>3</a:t>
            </a:r>
            <a:r>
              <a:rPr lang="zh-CN" altLang="en-US" sz="2800" b="1">
                <a:solidFill>
                  <a:schemeClr val="accent2"/>
                </a:solidFill>
                <a:latin typeface="楷体_GB2312" pitchFamily="49" charset="-122"/>
              </a:rPr>
              <a:t>、质心运动定理</a:t>
            </a:r>
            <a:endParaRPr lang="zh-CN" altLang="en-US" b="1" dirty="0">
              <a:solidFill>
                <a:schemeClr val="accent2"/>
              </a:solidFill>
              <a:effectLst>
                <a:outerShdw blurRad="38100" dist="38100" dir="2700000" algn="tl">
                  <a:srgbClr val="C0C0C0"/>
                </a:outerShdw>
              </a:effectLst>
              <a:latin typeface="楷体_GB2312" pitchFamily="49" charset="-122"/>
            </a:endParaRPr>
          </a:p>
        </p:txBody>
      </p:sp>
      <mc:AlternateContent xmlns:mc="http://schemas.openxmlformats.org/markup-compatibility/2006" xmlns:a14="http://schemas.microsoft.com/office/drawing/2010/main">
        <mc:Choice Requires="a14">
          <p:sp>
            <p:nvSpPr>
              <p:cNvPr id="41" name="Object 3">
                <a:extLst>
                  <a:ext uri="{FF2B5EF4-FFF2-40B4-BE49-F238E27FC236}">
                    <a16:creationId xmlns:a16="http://schemas.microsoft.com/office/drawing/2014/main" id="{4898A743-9D2D-451A-95EA-43629DA97C97}"/>
                  </a:ext>
                </a:extLst>
              </p:cNvPr>
              <p:cNvSpPr txBox="1"/>
              <p:nvPr/>
            </p:nvSpPr>
            <p:spPr bwMode="auto">
              <a:xfrm>
                <a:off x="3696684" y="5896927"/>
                <a:ext cx="3478824" cy="929648"/>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𝑃</m:t>
                          </m:r>
                        </m:e>
                      </m:acc>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sub>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𝐶</m:t>
                              </m:r>
                            </m:sub>
                          </m:sSub>
                          <m:r>
                            <m:rPr>
                              <m:nor/>
                            </m:rPr>
                            <a:rPr lang="zh-CN" altLang="en-US" dirty="0"/>
                            <m:t> </m:t>
                          </m:r>
                        </m:e>
                      </m:nary>
                    </m:oMath>
                  </m:oMathPara>
                </a14:m>
                <a:endParaRPr lang="zh-CN" altLang="en-US"/>
              </a:p>
            </p:txBody>
          </p:sp>
        </mc:Choice>
        <mc:Fallback xmlns="">
          <p:sp>
            <p:nvSpPr>
              <p:cNvPr id="41" name="Object 3">
                <a:extLst>
                  <a:ext uri="{FF2B5EF4-FFF2-40B4-BE49-F238E27FC236}">
                    <a16:creationId xmlns:a16="http://schemas.microsoft.com/office/drawing/2014/main" id="{4898A743-9D2D-451A-95EA-43629DA97C97}"/>
                  </a:ext>
                </a:extLst>
              </p:cNvPr>
              <p:cNvSpPr txBox="1">
                <a:spLocks noRot="1" noChangeAspect="1" noMove="1" noResize="1" noEditPoints="1" noAdjustHandles="1" noChangeArrowheads="1" noChangeShapeType="1" noTextEdit="1"/>
              </p:cNvSpPr>
              <p:nvPr/>
            </p:nvSpPr>
            <p:spPr bwMode="auto">
              <a:xfrm>
                <a:off x="3696684" y="5896927"/>
                <a:ext cx="3478824" cy="929648"/>
              </a:xfrm>
              <a:prstGeom prst="rect">
                <a:avLst/>
              </a:prstGeom>
              <a:blipFill>
                <a:blip r:embed="rId10"/>
                <a:stretch>
                  <a:fillRect/>
                </a:stretch>
              </a:blipFill>
              <a:ln>
                <a:noFill/>
              </a:ln>
              <a:effectLst/>
              <a:extLst/>
            </p:spPr>
            <p:txBody>
              <a:bodyPr/>
              <a:lstStyle/>
              <a:p>
                <a:r>
                  <a:rPr lang="zh-CN" altLang="en-US">
                    <a:noFill/>
                  </a:rPr>
                  <a:t> </a:t>
                </a:r>
              </a:p>
            </p:txBody>
          </p:sp>
        </mc:Fallback>
      </mc:AlternateContent>
      <p:sp>
        <p:nvSpPr>
          <p:cNvPr id="43" name="Rectangle 6">
            <a:extLst>
              <a:ext uri="{FF2B5EF4-FFF2-40B4-BE49-F238E27FC236}">
                <a16:creationId xmlns:a16="http://schemas.microsoft.com/office/drawing/2014/main" id="{6FFBBF1D-4CE5-4772-BB52-2ABD02F4CD15}"/>
              </a:ext>
            </a:extLst>
          </p:cNvPr>
          <p:cNvSpPr>
            <a:spLocks noChangeArrowheads="1"/>
          </p:cNvSpPr>
          <p:nvPr/>
        </p:nvSpPr>
        <p:spPr bwMode="auto">
          <a:xfrm>
            <a:off x="6734124" y="6025724"/>
            <a:ext cx="208823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pPr>
            <a:r>
              <a:rPr lang="en-US" altLang="zh-CN" sz="3200" b="1">
                <a:latin typeface="宋体" pitchFamily="2" charset="-122"/>
              </a:rPr>
              <a:t>=</a:t>
            </a:r>
            <a:r>
              <a:rPr lang="zh-CN" altLang="en-US" sz="2800" b="1">
                <a:latin typeface="华文仿宋" panose="02010600040101010101" pitchFamily="2" charset="-122"/>
                <a:ea typeface="华文仿宋" panose="02010600040101010101" pitchFamily="2" charset="-122"/>
              </a:rPr>
              <a:t>常矢量</a:t>
            </a:r>
          </a:p>
        </p:txBody>
      </p:sp>
      <p:sp>
        <p:nvSpPr>
          <p:cNvPr id="44" name="Rectangle 10">
            <a:extLst>
              <a:ext uri="{FF2B5EF4-FFF2-40B4-BE49-F238E27FC236}">
                <a16:creationId xmlns:a16="http://schemas.microsoft.com/office/drawing/2014/main" id="{DF5264DD-2A20-4158-96CA-43EFD300274D}"/>
              </a:ext>
            </a:extLst>
          </p:cNvPr>
          <p:cNvSpPr>
            <a:spLocks noChangeArrowheads="1"/>
          </p:cNvSpPr>
          <p:nvPr/>
        </p:nvSpPr>
        <p:spPr bwMode="auto">
          <a:xfrm>
            <a:off x="260808" y="5936637"/>
            <a:ext cx="85677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sz="2800" b="1">
                <a:solidFill>
                  <a:schemeClr val="accent2"/>
                </a:solidFill>
              </a:rPr>
              <a:t>4</a:t>
            </a:r>
            <a:r>
              <a:rPr lang="zh-CN" altLang="en-US" sz="2800" b="1">
                <a:solidFill>
                  <a:schemeClr val="accent2"/>
                </a:solidFill>
              </a:rPr>
              <a:t>、动量守恒定律</a:t>
            </a:r>
            <a:endParaRPr lang="zh-CN" altLang="en-US" sz="2800" b="1" dirty="0">
              <a:solidFill>
                <a:schemeClr val="accent2"/>
              </a:solidFill>
            </a:endParaRPr>
          </a:p>
        </p:txBody>
      </p:sp>
    </p:spTree>
    <p:extLst>
      <p:ext uri="{BB962C8B-B14F-4D97-AF65-F5344CB8AC3E}">
        <p14:creationId xmlns:p14="http://schemas.microsoft.com/office/powerpoint/2010/main" val="3999514648"/>
      </p:ext>
    </p:extLst>
  </p:cSld>
  <p:clrMapOvr>
    <a:masterClrMapping/>
  </p:clrMapOvr>
  <p:transition>
    <p:checke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266" name="Object 2"/>
              <p:cNvSpPr txBox="1"/>
              <p:nvPr/>
            </p:nvSpPr>
            <p:spPr bwMode="auto">
              <a:xfrm>
                <a:off x="1225550" y="1784351"/>
                <a:ext cx="1441449" cy="757238"/>
              </a:xfrm>
              <a:prstGeom prst="rect">
                <a:avLst/>
              </a:prstGeom>
              <a:noFill/>
              <a:ln>
                <a:noFill/>
              </a:ln>
              <a:effectLst/>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𝑐𝑥</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d</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v</m:t>
                              </m:r>
                            </m:e>
                            <m:sub>
                              <m:r>
                                <a:rPr lang="zh-CN" altLang="en-US" i="1">
                                  <a:solidFill>
                                    <a:srgbClr val="000000"/>
                                  </a:solidFill>
                                  <a:latin typeface="Cambria Math" panose="02040503050406030204" pitchFamily="18" charset="0"/>
                                </a:rPr>
                                <m:t>𝑐𝑥</m:t>
                              </m:r>
                            </m:sub>
                          </m:sSub>
                        </m:num>
                        <m:den>
                          <m:r>
                            <m:rPr>
                              <m:sty m:val="p"/>
                            </m:rPr>
                            <a:rPr lang="zh-CN" altLang="en-US" i="1">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den>
                      </m:f>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11266" name="Object 2"/>
              <p:cNvSpPr txBox="1">
                <a:spLocks noRot="1" noChangeAspect="1" noMove="1" noResize="1" noEditPoints="1" noAdjustHandles="1" noChangeArrowheads="1" noChangeShapeType="1" noTextEdit="1"/>
              </p:cNvSpPr>
              <p:nvPr/>
            </p:nvSpPr>
            <p:spPr bwMode="auto">
              <a:xfrm>
                <a:off x="1225550" y="1784351"/>
                <a:ext cx="1441449" cy="757238"/>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67" name="Object 3"/>
              <p:cNvSpPr txBox="1"/>
              <p:nvPr/>
            </p:nvSpPr>
            <p:spPr bwMode="auto">
              <a:xfrm>
                <a:off x="2578814" y="3291923"/>
                <a:ext cx="2212784" cy="873125"/>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den>
                      </m:f>
                    </m:oMath>
                  </m:oMathPara>
                </a14:m>
                <a:endParaRPr lang="zh-CN" altLang="en-US" dirty="0"/>
              </a:p>
            </p:txBody>
          </p:sp>
        </mc:Choice>
        <mc:Fallback xmlns="">
          <p:sp>
            <p:nvSpPr>
              <p:cNvPr id="11267" name="Object 3"/>
              <p:cNvSpPr txBox="1">
                <a:spLocks noRot="1" noChangeAspect="1" noMove="1" noResize="1" noEditPoints="1" noAdjustHandles="1" noChangeArrowheads="1" noChangeShapeType="1" noTextEdit="1"/>
              </p:cNvSpPr>
              <p:nvPr/>
            </p:nvSpPr>
            <p:spPr bwMode="auto">
              <a:xfrm>
                <a:off x="2578814" y="3291923"/>
                <a:ext cx="2212784" cy="873125"/>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68" name="Object 4"/>
              <p:cNvSpPr txBox="1"/>
              <p:nvPr/>
            </p:nvSpPr>
            <p:spPr bwMode="auto">
              <a:xfrm>
                <a:off x="673244" y="4966938"/>
                <a:ext cx="2605805" cy="959570"/>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sSub>
                            <m:sSubPr>
                              <m:ctrlPr>
                                <a:rPr lang="zh-CN" altLang="en-US" i="1">
                                  <a:solidFill>
                                    <a:srgbClr val="000000"/>
                                  </a:solidFill>
                                  <a:latin typeface="Cambria Math" panose="02040503050406030204" pitchFamily="18" charset="0"/>
                                </a:rPr>
                              </m:ctrlPr>
                            </m:sSub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sSub>
                            <m:sSubPr>
                              <m:ctrlPr>
                                <a:rPr lang="zh-CN" altLang="en-US" i="1">
                                  <a:solidFill>
                                    <a:srgbClr val="000000"/>
                                  </a:solidFill>
                                  <a:latin typeface="Cambria Math" panose="02040503050406030204" pitchFamily="18" charset="0"/>
                                </a:rPr>
                              </m:ctrlPr>
                            </m:sSub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e>
                            <m:sub>
                              <m:r>
                                <a:rPr lang="zh-CN" altLang="en-US" i="1">
                                  <a:solidFill>
                                    <a:srgbClr val="000000"/>
                                  </a:solidFill>
                                  <a:latin typeface="Cambria Math" panose="02040503050406030204" pitchFamily="18" charset="0"/>
                                </a:rPr>
                                <m:t>2</m:t>
                              </m:r>
                            </m:sub>
                          </m:sSub>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den>
                      </m:f>
                    </m:oMath>
                  </m:oMathPara>
                </a14:m>
                <a:endParaRPr lang="zh-CN" altLang="en-US" dirty="0"/>
              </a:p>
            </p:txBody>
          </p:sp>
        </mc:Choice>
        <mc:Fallback xmlns="">
          <p:sp>
            <p:nvSpPr>
              <p:cNvPr id="11268" name="Object 4"/>
              <p:cNvSpPr txBox="1">
                <a:spLocks noRot="1" noChangeAspect="1" noMove="1" noResize="1" noEditPoints="1" noAdjustHandles="1" noChangeArrowheads="1" noChangeShapeType="1" noTextEdit="1"/>
              </p:cNvSpPr>
              <p:nvPr/>
            </p:nvSpPr>
            <p:spPr bwMode="auto">
              <a:xfrm>
                <a:off x="673244" y="4966938"/>
                <a:ext cx="2605805" cy="95957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69" name="Object 5"/>
              <p:cNvSpPr txBox="1"/>
              <p:nvPr/>
            </p:nvSpPr>
            <p:spPr bwMode="auto">
              <a:xfrm>
                <a:off x="1003638" y="5944362"/>
                <a:ext cx="1801812" cy="849907"/>
              </a:xfrm>
              <a:prstGeom prst="rect">
                <a:avLst/>
              </a:prstGeom>
              <a:noFill/>
              <a:ln>
                <a:noFill/>
              </a:ln>
              <a:extLst/>
            </p:spPr>
            <p:txBody>
              <a:bodyPr>
                <a:normAutofit/>
              </a:bodyPr>
              <a:lstStyle/>
              <a:p>
                <a:r>
                  <a:rPr lang="en-US" altLang="zh-CN" i="1" dirty="0">
                    <a:solidFill>
                      <a:srgbClr val="000000"/>
                    </a:solidFill>
                  </a:rPr>
                  <a:t>s</a:t>
                </a:r>
                <a14:m>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𝑚𝑙</m:t>
                        </m:r>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den>
                    </m:f>
                  </m:oMath>
                </a14:m>
                <a:endParaRPr lang="zh-CN" altLang="en-US" dirty="0"/>
              </a:p>
            </p:txBody>
          </p:sp>
        </mc:Choice>
        <mc:Fallback xmlns="">
          <p:sp>
            <p:nvSpPr>
              <p:cNvPr id="11269" name="Object 5"/>
              <p:cNvSpPr txBox="1">
                <a:spLocks noRot="1" noChangeAspect="1" noMove="1" noResize="1" noEditPoints="1" noAdjustHandles="1" noChangeArrowheads="1" noChangeShapeType="1" noTextEdit="1"/>
              </p:cNvSpPr>
              <p:nvPr/>
            </p:nvSpPr>
            <p:spPr bwMode="auto">
              <a:xfrm>
                <a:off x="1003638" y="5944362"/>
                <a:ext cx="1801812" cy="849907"/>
              </a:xfrm>
              <a:prstGeom prst="rect">
                <a:avLst/>
              </a:prstGeom>
              <a:blipFill>
                <a:blip r:embed="rId7"/>
                <a:stretch>
                  <a:fillRect l="-5424"/>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70" name="Object 6"/>
              <p:cNvSpPr txBox="1"/>
              <p:nvPr/>
            </p:nvSpPr>
            <p:spPr bwMode="auto">
              <a:xfrm>
                <a:off x="2122964" y="5884307"/>
                <a:ext cx="2407875" cy="853822"/>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𝑙</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𝑀𝑙</m:t>
                          </m:r>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den>
                      </m:f>
                    </m:oMath>
                  </m:oMathPara>
                </a14:m>
                <a:endParaRPr lang="zh-CN" altLang="en-US" dirty="0"/>
              </a:p>
            </p:txBody>
          </p:sp>
        </mc:Choice>
        <mc:Fallback xmlns="">
          <p:sp>
            <p:nvSpPr>
              <p:cNvPr id="11270" name="Object 6"/>
              <p:cNvSpPr txBox="1">
                <a:spLocks noRot="1" noChangeAspect="1" noMove="1" noResize="1" noEditPoints="1" noAdjustHandles="1" noChangeArrowheads="1" noChangeShapeType="1" noTextEdit="1"/>
              </p:cNvSpPr>
              <p:nvPr/>
            </p:nvSpPr>
            <p:spPr bwMode="auto">
              <a:xfrm>
                <a:off x="2122964" y="5884307"/>
                <a:ext cx="2407875" cy="853822"/>
              </a:xfrm>
              <a:prstGeom prst="rect">
                <a:avLst/>
              </a:prstGeom>
              <a:blipFill>
                <a:blip r:embed="rId8"/>
                <a:stretch>
                  <a:fillRect/>
                </a:stretch>
              </a:blipFill>
              <a:ln>
                <a:noFill/>
              </a:ln>
              <a:extLst/>
            </p:spPr>
            <p:txBody>
              <a:bodyPr/>
              <a:lstStyle/>
              <a:p>
                <a:r>
                  <a:rPr lang="zh-CN" altLang="en-US">
                    <a:noFill/>
                  </a:rPr>
                  <a:t> </a:t>
                </a:r>
              </a:p>
            </p:txBody>
          </p:sp>
        </mc:Fallback>
      </mc:AlternateContent>
      <p:sp>
        <p:nvSpPr>
          <p:cNvPr id="11271" name="Text Box 7"/>
          <p:cNvSpPr txBox="1">
            <a:spLocks noChangeArrowheads="1"/>
          </p:cNvSpPr>
          <p:nvPr/>
        </p:nvSpPr>
        <p:spPr bwMode="auto">
          <a:xfrm>
            <a:off x="250825" y="58446"/>
            <a:ext cx="8242300"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b="1" dirty="0">
                <a:solidFill>
                  <a:schemeClr val="accent2"/>
                </a:solidFill>
              </a:rPr>
              <a:t>例</a:t>
            </a:r>
            <a:r>
              <a:rPr lang="en-US" altLang="zh-CN" b="1" dirty="0">
                <a:solidFill>
                  <a:schemeClr val="accent2"/>
                </a:solidFill>
              </a:rPr>
              <a:t>1</a:t>
            </a:r>
            <a:r>
              <a:rPr lang="zh-CN" altLang="en-US" b="1" dirty="0">
                <a:solidFill>
                  <a:schemeClr val="accent2"/>
                </a:solidFill>
              </a:rPr>
              <a:t>  </a:t>
            </a:r>
            <a:r>
              <a:rPr lang="zh-CN" altLang="en-US" b="1" dirty="0"/>
              <a:t>如图所示，人（</a:t>
            </a:r>
            <a:r>
              <a:rPr lang="en-US" altLang="zh-CN" b="1" dirty="0"/>
              <a:t>m</a:t>
            </a:r>
            <a:r>
              <a:rPr lang="zh-CN" altLang="en-US" b="1" dirty="0"/>
              <a:t>）与船（</a:t>
            </a:r>
            <a:r>
              <a:rPr lang="en-US" altLang="zh-CN" b="1" dirty="0"/>
              <a:t>M</a:t>
            </a:r>
            <a:r>
              <a:rPr lang="zh-CN" altLang="en-US" b="1" dirty="0"/>
              <a:t>）构成质点系，当人从船头走到船尾</a:t>
            </a:r>
            <a:r>
              <a:rPr lang="en-US" altLang="zh-CN" b="1" dirty="0"/>
              <a:t>(</a:t>
            </a:r>
            <a:r>
              <a:rPr lang="zh-CN" altLang="en-US" b="1" dirty="0"/>
              <a:t>水的阻力不计，船长为</a:t>
            </a:r>
            <a:r>
              <a:rPr lang="en-US" altLang="zh-CN" b="1" i="1" dirty="0"/>
              <a:t>l</a:t>
            </a:r>
            <a:r>
              <a:rPr lang="zh-CN" altLang="en-US" b="1" i="1" dirty="0"/>
              <a:t>  </a:t>
            </a:r>
            <a:r>
              <a:rPr lang="en-US" altLang="zh-CN" b="1" dirty="0"/>
              <a:t>)</a:t>
            </a:r>
            <a:r>
              <a:rPr lang="zh-CN" altLang="en-US" b="1" dirty="0"/>
              <a:t>，求  人和船各移动的距离。</a:t>
            </a:r>
          </a:p>
          <a:p>
            <a:pPr>
              <a:spcBef>
                <a:spcPct val="20000"/>
              </a:spcBef>
            </a:pPr>
            <a:endParaRPr lang="zh-CN" altLang="en-US" b="1" dirty="0"/>
          </a:p>
        </p:txBody>
      </p:sp>
      <p:sp>
        <p:nvSpPr>
          <p:cNvPr id="11272" name="Text Box 8"/>
          <p:cNvSpPr txBox="1">
            <a:spLocks noChangeArrowheads="1"/>
          </p:cNvSpPr>
          <p:nvPr/>
        </p:nvSpPr>
        <p:spPr bwMode="auto">
          <a:xfrm>
            <a:off x="533400" y="2438400"/>
            <a:ext cx="26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en-US" altLang="zh-CN"/>
              <a:t> </a:t>
            </a:r>
          </a:p>
        </p:txBody>
      </p:sp>
      <p:sp>
        <p:nvSpPr>
          <p:cNvPr id="11273" name="Text Box 9"/>
          <p:cNvSpPr txBox="1">
            <a:spLocks noChangeArrowheads="1"/>
          </p:cNvSpPr>
          <p:nvPr/>
        </p:nvSpPr>
        <p:spPr bwMode="auto">
          <a:xfrm>
            <a:off x="0" y="1341438"/>
            <a:ext cx="1003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dirty="0">
                <a:solidFill>
                  <a:srgbClr val="FF0000"/>
                </a:solidFill>
              </a:rPr>
              <a:t>解</a:t>
            </a:r>
            <a:r>
              <a:rPr lang="en-US" altLang="zh-CN" dirty="0">
                <a:solidFill>
                  <a:srgbClr val="FF0000"/>
                </a:solidFill>
              </a:rPr>
              <a:t>1</a:t>
            </a:r>
            <a:r>
              <a:rPr lang="zh-CN" altLang="en-US" dirty="0">
                <a:solidFill>
                  <a:srgbClr val="FF0000"/>
                </a:solidFill>
              </a:rPr>
              <a:t>、 </a:t>
            </a:r>
          </a:p>
        </p:txBody>
      </p:sp>
      <p:sp>
        <p:nvSpPr>
          <p:cNvPr id="11274" name="Text Box 10"/>
          <p:cNvSpPr txBox="1">
            <a:spLocks noChangeArrowheads="1"/>
          </p:cNvSpPr>
          <p:nvPr/>
        </p:nvSpPr>
        <p:spPr bwMode="auto">
          <a:xfrm>
            <a:off x="1169729" y="1393526"/>
            <a:ext cx="45005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b="1" dirty="0"/>
              <a:t>在水平方向上，外力为零，则</a:t>
            </a:r>
          </a:p>
        </p:txBody>
      </p:sp>
      <p:sp>
        <p:nvSpPr>
          <p:cNvPr id="11275" name="Text Box 11"/>
          <p:cNvSpPr txBox="1">
            <a:spLocks noChangeArrowheads="1"/>
          </p:cNvSpPr>
          <p:nvPr/>
        </p:nvSpPr>
        <p:spPr bwMode="auto">
          <a:xfrm>
            <a:off x="250825" y="2565400"/>
            <a:ext cx="38163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b="1" dirty="0"/>
              <a:t>开始时，人和船的质心坐标分别为：</a:t>
            </a:r>
            <a:r>
              <a:rPr lang="en-US" altLang="zh-CN" b="1" dirty="0"/>
              <a:t> </a:t>
            </a:r>
            <a:r>
              <a:rPr lang="en-US" altLang="zh-CN" b="1" i="1" dirty="0"/>
              <a:t>x</a:t>
            </a:r>
            <a:r>
              <a:rPr lang="en-US" altLang="zh-CN" b="1" i="1" baseline="-25000" dirty="0"/>
              <a:t>1 </a:t>
            </a:r>
            <a:r>
              <a:rPr lang="zh-CN" altLang="en-US" b="1" i="1" baseline="-25000" dirty="0"/>
              <a:t>，</a:t>
            </a:r>
            <a:r>
              <a:rPr lang="en-US" altLang="zh-CN" b="1" i="1" dirty="0"/>
              <a:t>x</a:t>
            </a:r>
            <a:r>
              <a:rPr lang="en-US" altLang="zh-CN" b="1" i="1" baseline="-25000" dirty="0"/>
              <a:t>2</a:t>
            </a:r>
            <a:endParaRPr lang="en-US" altLang="zh-CN" b="1" i="1" dirty="0"/>
          </a:p>
          <a:p>
            <a:pPr>
              <a:spcBef>
                <a:spcPct val="20000"/>
              </a:spcBef>
            </a:pPr>
            <a:r>
              <a:rPr lang="zh-CN" altLang="en-US" b="1" dirty="0"/>
              <a:t>系统质心位置 </a:t>
            </a:r>
          </a:p>
        </p:txBody>
      </p:sp>
      <p:sp>
        <p:nvSpPr>
          <p:cNvPr id="11276" name="Text Box 12"/>
          <p:cNvSpPr txBox="1">
            <a:spLocks noChangeArrowheads="1"/>
          </p:cNvSpPr>
          <p:nvPr/>
        </p:nvSpPr>
        <p:spPr bwMode="auto">
          <a:xfrm>
            <a:off x="255181" y="4062075"/>
            <a:ext cx="5186035"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b="1" dirty="0"/>
              <a:t>终了时，人和船的质心坐标分别为</a:t>
            </a:r>
            <a:r>
              <a:rPr lang="zh-CN" altLang="en-US" b="1"/>
              <a:t>：</a:t>
            </a:r>
            <a:r>
              <a:rPr lang="en-US" altLang="zh-CN" b="1"/>
              <a:t> </a:t>
            </a:r>
          </a:p>
          <a:p>
            <a:pPr>
              <a:spcBef>
                <a:spcPct val="20000"/>
              </a:spcBef>
            </a:pPr>
            <a:r>
              <a:rPr lang="en-US" altLang="zh-CN" b="1" i="1"/>
              <a:t>x’</a:t>
            </a:r>
            <a:r>
              <a:rPr lang="en-US" altLang="zh-CN" b="1" i="1" baseline="-25000"/>
              <a:t>1 </a:t>
            </a:r>
            <a:r>
              <a:rPr lang="zh-CN" altLang="en-US" b="1" i="1" baseline="-25000" dirty="0"/>
              <a:t>，</a:t>
            </a:r>
            <a:r>
              <a:rPr lang="en-US" altLang="zh-CN" b="1" i="1" dirty="0"/>
              <a:t>x’</a:t>
            </a:r>
            <a:r>
              <a:rPr lang="en-US" altLang="zh-CN" b="1" i="1" baseline="-25000" dirty="0"/>
              <a:t>2,</a:t>
            </a:r>
            <a:r>
              <a:rPr lang="zh-CN" altLang="en-US" b="1" dirty="0"/>
              <a:t>系统质心位置 </a:t>
            </a:r>
          </a:p>
        </p:txBody>
      </p:sp>
      <mc:AlternateContent xmlns:mc="http://schemas.openxmlformats.org/markup-compatibility/2006" xmlns:a14="http://schemas.microsoft.com/office/drawing/2010/main">
        <mc:Choice Requires="a14">
          <p:sp>
            <p:nvSpPr>
              <p:cNvPr id="11291" name="Object 9"/>
              <p:cNvSpPr txBox="1"/>
              <p:nvPr/>
            </p:nvSpPr>
            <p:spPr bwMode="auto">
              <a:xfrm>
                <a:off x="3851920" y="4803015"/>
                <a:ext cx="2949575" cy="432744"/>
              </a:xfrm>
              <a:prstGeom prst="rect">
                <a:avLst/>
              </a:prstGeom>
              <a:noFill/>
              <a:ln>
                <a:noFill/>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𝑀</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291" name="Object 9"/>
              <p:cNvSpPr txBox="1">
                <a:spLocks noRot="1" noChangeAspect="1" noMove="1" noResize="1" noEditPoints="1" noAdjustHandles="1" noChangeArrowheads="1" noChangeShapeType="1" noTextEdit="1"/>
              </p:cNvSpPr>
              <p:nvPr/>
            </p:nvSpPr>
            <p:spPr bwMode="auto">
              <a:xfrm>
                <a:off x="3851920" y="4803015"/>
                <a:ext cx="2949575" cy="432744"/>
              </a:xfrm>
              <a:prstGeom prst="rect">
                <a:avLst/>
              </a:prstGeom>
              <a:blipFill>
                <a:blip r:embed="rId9"/>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03" name="Object 14"/>
              <p:cNvSpPr txBox="1">
                <a:spLocks noGrp="1"/>
              </p:cNvSpPr>
              <p:nvPr>
                <p:ph sz="half" idx="4294967295"/>
              </p:nvPr>
            </p:nvSpPr>
            <p:spPr bwMode="auto">
              <a:xfrm>
                <a:off x="3252523" y="1775299"/>
                <a:ext cx="1325279" cy="732986"/>
              </a:xfrm>
              <a:prstGeom prst="rect">
                <a:avLst/>
              </a:prstGeom>
              <a:noFill/>
              <a:ln>
                <a:noFill/>
              </a:ln>
              <a:effectLst/>
              <a:extLst/>
            </p:spPr>
            <p:txBody>
              <a:bodyPr>
                <a:normAutofit fontScale="77500" lnSpcReduction="20000"/>
              </a:bodyPr>
              <a:lstStyle/>
              <a:p>
                <a:pPr>
                  <a:buNone/>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𝑐</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e>
                        <m:sub>
                          <m:r>
                            <a:rPr lang="zh-CN" altLang="en-US" i="1">
                              <a:solidFill>
                                <a:srgbClr val="000000"/>
                              </a:solidFill>
                              <a:latin typeface="Cambria Math" panose="02040503050406030204" pitchFamily="18" charset="0"/>
                            </a:rPr>
                            <m:t>𝑐</m:t>
                          </m:r>
                        </m:sub>
                      </m:sSub>
                    </m:oMath>
                  </m:oMathPara>
                </a14:m>
                <a:endParaRPr lang="zh-CN" altLang="en-US"/>
              </a:p>
            </p:txBody>
          </p:sp>
        </mc:Choice>
        <mc:Fallback xmlns="">
          <p:sp>
            <p:nvSpPr>
              <p:cNvPr id="11303" name="Object 14"/>
              <p:cNvSpPr txBox="1">
                <a:spLocks noRot="1" noChangeAspect="1" noMove="1" noResize="1" noEditPoints="1" noAdjustHandles="1" noChangeArrowheads="1" noChangeShapeType="1" noTextEdit="1"/>
              </p:cNvSpPr>
              <p:nvPr>
                <p:ph sz="half" idx="4294967295"/>
              </p:nvPr>
            </p:nvSpPr>
            <p:spPr bwMode="auto">
              <a:xfrm>
                <a:off x="3252523" y="1775299"/>
                <a:ext cx="1325279" cy="732986"/>
              </a:xfrm>
              <a:prstGeom prst="rect">
                <a:avLst/>
              </a:prstGeom>
              <a:blipFill>
                <a:blip r:embed="rId10"/>
                <a:stretch>
                  <a:fillRect/>
                </a:stretch>
              </a:blipFill>
              <a:ln>
                <a:noFill/>
              </a:ln>
              <a:effectLst/>
              <a:extLst/>
            </p:spPr>
            <p:txBody>
              <a:bodyPr/>
              <a:lstStyle/>
              <a:p>
                <a:r>
                  <a:rPr lang="zh-CN" altLang="en-US">
                    <a:noFill/>
                  </a:rPr>
                  <a:t> </a:t>
                </a:r>
              </a:p>
            </p:txBody>
          </p:sp>
        </mc:Fallback>
      </mc:AlternateContent>
      <p:sp>
        <p:nvSpPr>
          <p:cNvPr id="11304" name="Text Box 40"/>
          <p:cNvSpPr txBox="1">
            <a:spLocks noChangeArrowheads="1"/>
          </p:cNvSpPr>
          <p:nvPr/>
        </p:nvSpPr>
        <p:spPr bwMode="auto">
          <a:xfrm>
            <a:off x="250825" y="6049963"/>
            <a:ext cx="11080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tIns="82800" bIns="82800">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gn="just">
              <a:spcBef>
                <a:spcPct val="50000"/>
              </a:spcBef>
            </a:pPr>
            <a:r>
              <a:rPr lang="zh-CN" altLang="en-US" b="1"/>
              <a:t>解得</a:t>
            </a:r>
          </a:p>
        </p:txBody>
      </p:sp>
      <mc:AlternateContent xmlns:mc="http://schemas.openxmlformats.org/markup-compatibility/2006" xmlns:a14="http://schemas.microsoft.com/office/drawing/2010/main">
        <mc:Choice Requires="a14">
          <p:sp>
            <p:nvSpPr>
              <p:cNvPr id="11306" name="Object 15"/>
              <p:cNvSpPr txBox="1">
                <a:spLocks noGrp="1"/>
              </p:cNvSpPr>
              <p:nvPr>
                <p:ph sz="half" idx="4294967295"/>
              </p:nvPr>
            </p:nvSpPr>
            <p:spPr bwMode="auto">
              <a:xfrm>
                <a:off x="4440884" y="5331979"/>
                <a:ext cx="247650" cy="315912"/>
              </a:xfrm>
              <a:prstGeom prst="rect">
                <a:avLst/>
              </a:prstGeom>
              <a:noFill/>
              <a:ln>
                <a:noFill/>
              </a:ln>
              <a:effectLst/>
              <a:extLst/>
            </p:spPr>
            <p:txBody>
              <a:bodyPr>
                <a:normAutofit fontScale="40000" lnSpcReduction="20000"/>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𝑆</m:t>
                      </m:r>
                    </m:oMath>
                  </m:oMathPara>
                </a14:m>
                <a:endParaRPr lang="zh-CN" altLang="en-US"/>
              </a:p>
            </p:txBody>
          </p:sp>
        </mc:Choice>
        <mc:Fallback xmlns="">
          <p:sp>
            <p:nvSpPr>
              <p:cNvPr id="11306" name="Object 15"/>
              <p:cNvSpPr txBox="1">
                <a:spLocks noGrp="1" noRot="1" noChangeAspect="1" noMove="1" noResize="1" noEditPoints="1" noAdjustHandles="1" noChangeArrowheads="1" noChangeShapeType="1" noTextEdit="1"/>
              </p:cNvSpPr>
              <p:nvPr>
                <p:ph sz="half" idx="4294967295"/>
              </p:nvPr>
            </p:nvSpPr>
            <p:spPr bwMode="auto">
              <a:xfrm>
                <a:off x="4440884" y="5331979"/>
                <a:ext cx="247650" cy="315912"/>
              </a:xfrm>
              <a:prstGeom prst="rect">
                <a:avLst/>
              </a:prstGeom>
              <a:blipFill>
                <a:blip r:embed="rId11"/>
                <a:stretch>
                  <a:fillRect/>
                </a:stretch>
              </a:blipFill>
              <a:ln>
                <a:noFill/>
              </a:ln>
              <a:effectLst/>
              <a:extLst/>
            </p:spPr>
            <p:txBody>
              <a:bodyPr/>
              <a:lstStyle/>
              <a:p>
                <a:r>
                  <a:rPr lang="zh-CN" altLang="en-US">
                    <a:noFill/>
                  </a:rPr>
                  <a:t> </a:t>
                </a:r>
              </a:p>
            </p:txBody>
          </p:sp>
        </mc:Fallback>
      </mc:AlternateContent>
      <p:sp>
        <p:nvSpPr>
          <p:cNvPr id="11309" name="Line 45"/>
          <p:cNvSpPr>
            <a:spLocks noChangeShapeType="1"/>
          </p:cNvSpPr>
          <p:nvPr/>
        </p:nvSpPr>
        <p:spPr bwMode="auto">
          <a:xfrm>
            <a:off x="5845028" y="5235759"/>
            <a:ext cx="815131"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11310" name="Object 16"/>
              <p:cNvSpPr txBox="1"/>
              <p:nvPr/>
            </p:nvSpPr>
            <p:spPr bwMode="auto">
              <a:xfrm>
                <a:off x="5954869" y="5304061"/>
                <a:ext cx="498851" cy="357187"/>
              </a:xfrm>
              <a:prstGeom prst="rect">
                <a:avLst/>
              </a:prstGeom>
              <a:noFill/>
              <a:ln>
                <a:noFill/>
              </a:ln>
              <a:effectLst/>
              <a:extLst/>
            </p:spPr>
            <p:txBody>
              <a:bodyPr>
                <a:normAutofit fontScale="47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𝑆</m:t>
                      </m:r>
                    </m:oMath>
                  </m:oMathPara>
                </a14:m>
                <a:endParaRPr lang="zh-CN" altLang="en-US" dirty="0"/>
              </a:p>
            </p:txBody>
          </p:sp>
        </mc:Choice>
        <mc:Fallback xmlns="">
          <p:sp>
            <p:nvSpPr>
              <p:cNvPr id="11310" name="Object 16"/>
              <p:cNvSpPr txBox="1">
                <a:spLocks noRot="1" noChangeAspect="1" noMove="1" noResize="1" noEditPoints="1" noAdjustHandles="1" noChangeArrowheads="1" noChangeShapeType="1" noTextEdit="1"/>
              </p:cNvSpPr>
              <p:nvPr/>
            </p:nvSpPr>
            <p:spPr bwMode="auto">
              <a:xfrm>
                <a:off x="5954869" y="5304061"/>
                <a:ext cx="498851" cy="357187"/>
              </a:xfrm>
              <a:prstGeom prst="rect">
                <a:avLst/>
              </a:prstGeom>
              <a:blipFill>
                <a:blip r:embed="rId12"/>
                <a:stretch>
                  <a:fillRect/>
                </a:stretch>
              </a:blipFill>
              <a:ln>
                <a:noFill/>
              </a:ln>
              <a:effectLst/>
              <a:extLst/>
            </p:spPr>
            <p:txBody>
              <a:bodyPr/>
              <a:lstStyle/>
              <a:p>
                <a:r>
                  <a:rPr lang="zh-CN" altLang="en-US">
                    <a:noFill/>
                  </a:rPr>
                  <a:t> </a:t>
                </a:r>
              </a:p>
            </p:txBody>
          </p:sp>
        </mc:Fallback>
      </mc:AlternateContent>
      <p:sp>
        <p:nvSpPr>
          <p:cNvPr id="11311" name="Line 47"/>
          <p:cNvSpPr>
            <a:spLocks noChangeShapeType="1"/>
          </p:cNvSpPr>
          <p:nvPr/>
        </p:nvSpPr>
        <p:spPr bwMode="auto">
          <a:xfrm>
            <a:off x="4239271" y="5235759"/>
            <a:ext cx="935038"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矩形 2"/>
          <p:cNvSpPr>
            <a:spLocks noChangeArrowheads="1"/>
          </p:cNvSpPr>
          <p:nvPr/>
        </p:nvSpPr>
        <p:spPr bwMode="auto">
          <a:xfrm>
            <a:off x="4495832" y="5717615"/>
            <a:ext cx="471601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pPr>
            <a:r>
              <a:rPr lang="en-US" altLang="zh-CN" sz="2000" b="1" i="1"/>
              <a:t>S,l-S</a:t>
            </a:r>
            <a:r>
              <a:rPr lang="zh-CN" altLang="en-US" sz="2000" b="1"/>
              <a:t>分别</a:t>
            </a:r>
            <a:r>
              <a:rPr lang="zh-CN" altLang="en-US" sz="2000" b="1" dirty="0"/>
              <a:t>为船和人相对于地面移动</a:t>
            </a:r>
            <a:r>
              <a:rPr lang="zh-CN" altLang="en-US" sz="2000" b="1"/>
              <a:t>的距离</a:t>
            </a:r>
            <a:r>
              <a:rPr lang="en-US" altLang="zh-CN" sz="2000" b="1"/>
              <a:t>.</a:t>
            </a:r>
            <a:r>
              <a:rPr lang="zh-CN" altLang="en-US" sz="2000" b="1">
                <a:solidFill>
                  <a:srgbClr val="FF0000"/>
                </a:solidFill>
              </a:rPr>
              <a:t>其中人移动的距离为：</a:t>
            </a:r>
            <a:r>
              <a:rPr lang="en-US" altLang="zh-CN" sz="2000" b="1" i="1">
                <a:solidFill>
                  <a:srgbClr val="FF0000"/>
                </a:solidFill>
              </a:rPr>
              <a:t>l-S</a:t>
            </a:r>
            <a:r>
              <a:rPr lang="zh-CN" altLang="en-US" sz="2000" b="1" i="1">
                <a:solidFill>
                  <a:srgbClr val="FF0000"/>
                </a:solidFill>
              </a:rPr>
              <a:t>，</a:t>
            </a:r>
            <a:r>
              <a:rPr lang="en-US" altLang="zh-CN" sz="2000" b="1" i="1">
                <a:solidFill>
                  <a:srgbClr val="FF0000"/>
                </a:solidFill>
              </a:rPr>
              <a:t>-S</a:t>
            </a:r>
            <a:r>
              <a:rPr lang="zh-CN" altLang="en-US" sz="2000" b="1">
                <a:solidFill>
                  <a:srgbClr val="FF0000"/>
                </a:solidFill>
              </a:rPr>
              <a:t>是船对地的位移，是负的，而</a:t>
            </a:r>
            <a:r>
              <a:rPr lang="en-US" altLang="zh-CN" sz="2000" b="1" i="1">
                <a:solidFill>
                  <a:srgbClr val="FF0000"/>
                </a:solidFill>
              </a:rPr>
              <a:t>S</a:t>
            </a:r>
            <a:r>
              <a:rPr lang="zh-CN" altLang="en-US" sz="2000" b="1">
                <a:solidFill>
                  <a:srgbClr val="FF0000"/>
                </a:solidFill>
              </a:rPr>
              <a:t>是距离是正的</a:t>
            </a:r>
            <a:endParaRPr lang="zh-CN" altLang="en-US" sz="2000" dirty="0">
              <a:solidFill>
                <a:srgbClr val="FF0000"/>
              </a:solidFill>
            </a:endParaRPr>
          </a:p>
        </p:txBody>
      </p:sp>
      <p:sp>
        <p:nvSpPr>
          <p:cNvPr id="45" name="AutoShape 13"/>
          <p:cNvSpPr>
            <a:spLocks noChangeArrowheads="1"/>
          </p:cNvSpPr>
          <p:nvPr/>
        </p:nvSpPr>
        <p:spPr bwMode="auto">
          <a:xfrm>
            <a:off x="6494264" y="3886317"/>
            <a:ext cx="2438400" cy="304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347 w 21600"/>
              <a:gd name="T13" fmla="*/ 3347 h 21600"/>
              <a:gd name="T14" fmla="*/ 18253 w 21600"/>
              <a:gd name="T15" fmla="*/ 18253 h 21600"/>
            </a:gdLst>
            <a:ahLst/>
            <a:cxnLst>
              <a:cxn ang="T8">
                <a:pos x="T0" y="T1"/>
              </a:cxn>
              <a:cxn ang="T9">
                <a:pos x="T2" y="T3"/>
              </a:cxn>
              <a:cxn ang="T10">
                <a:pos x="T4" y="T5"/>
              </a:cxn>
              <a:cxn ang="T11">
                <a:pos x="T6" y="T7"/>
              </a:cxn>
            </a:cxnLst>
            <a:rect l="T12" t="T13" r="T14" b="T15"/>
            <a:pathLst>
              <a:path w="21600" h="21600">
                <a:moveTo>
                  <a:pt x="0" y="0"/>
                </a:moveTo>
                <a:lnTo>
                  <a:pt x="3094" y="21600"/>
                </a:lnTo>
                <a:lnTo>
                  <a:pt x="18506" y="21600"/>
                </a:lnTo>
                <a:lnTo>
                  <a:pt x="21600" y="0"/>
                </a:lnTo>
                <a:lnTo>
                  <a:pt x="0" y="0"/>
                </a:lnTo>
                <a:close/>
              </a:path>
            </a:pathLst>
          </a:custGeom>
          <a:solidFill>
            <a:srgbClr val="FFCCFF"/>
          </a:solidFill>
          <a:ln w="9525">
            <a:solidFill>
              <a:schemeClr val="tx1"/>
            </a:solidFill>
            <a:miter lim="800000"/>
            <a:headEnd/>
            <a:tailEnd/>
          </a:ln>
        </p:spPr>
        <p:txBody>
          <a:bodyPr wrap="none" anchor="ctr"/>
          <a:lstStyle/>
          <a:p>
            <a:endParaRPr lang="zh-CN" altLang="en-US"/>
          </a:p>
        </p:txBody>
      </p:sp>
      <p:sp>
        <p:nvSpPr>
          <p:cNvPr id="46" name="Line 14"/>
          <p:cNvSpPr>
            <a:spLocks noChangeShapeType="1"/>
          </p:cNvSpPr>
          <p:nvPr/>
        </p:nvSpPr>
        <p:spPr bwMode="auto">
          <a:xfrm>
            <a:off x="5579864" y="2383277"/>
            <a:ext cx="3429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15"/>
          <p:cNvSpPr>
            <a:spLocks noChangeShapeType="1"/>
          </p:cNvSpPr>
          <p:nvPr/>
        </p:nvSpPr>
        <p:spPr bwMode="auto">
          <a:xfrm flipV="1">
            <a:off x="5629077" y="1087877"/>
            <a:ext cx="13296" cy="325564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8" name="Object 7"/>
          <p:cNvGraphicFramePr>
            <a:graphicFrameLocks noChangeAspect="1"/>
          </p:cNvGraphicFramePr>
          <p:nvPr>
            <p:extLst>
              <p:ext uri="{D42A27DB-BD31-4B8C-83A1-F6EECF244321}">
                <p14:modId xmlns:p14="http://schemas.microsoft.com/office/powerpoint/2010/main" val="2297891942"/>
              </p:ext>
            </p:extLst>
          </p:nvPr>
        </p:nvGraphicFramePr>
        <p:xfrm>
          <a:off x="6444615" y="2936527"/>
          <a:ext cx="471488" cy="1008063"/>
        </p:xfrm>
        <a:graphic>
          <a:graphicData uri="http://schemas.openxmlformats.org/presentationml/2006/ole">
            <mc:AlternateContent xmlns:mc="http://schemas.openxmlformats.org/markup-compatibility/2006">
              <mc:Choice xmlns:v="urn:schemas-microsoft-com:vml" Requires="v">
                <p:oleObj spid="_x0000_s65310" name="Clip" r:id="rId13" imgW="1781057" imgH="3914843" progId="MS_ClipArt_Gallery.5">
                  <p:embed/>
                </p:oleObj>
              </mc:Choice>
              <mc:Fallback>
                <p:oleObj name="Clip" r:id="rId13" imgW="1781057" imgH="3914843" progId="MS_ClipArt_Gallery.5">
                  <p:embed/>
                  <p:pic>
                    <p:nvPicPr>
                      <p:cNvPr id="5"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44615" y="2936527"/>
                        <a:ext cx="471488" cy="1008063"/>
                      </a:xfrm>
                      <a:prstGeom prst="rect">
                        <a:avLst/>
                      </a:prstGeom>
                      <a:solidFill>
                        <a:schemeClr val="accent2">
                          <a:lumMod val="20000"/>
                          <a:lumOff val="80000"/>
                        </a:schemeClr>
                      </a:solidFill>
                      <a:ln>
                        <a:solidFill>
                          <a:schemeClr val="bg1"/>
                        </a:solidFill>
                      </a:ln>
                      <a:effectLst/>
                      <a:extLst/>
                    </p:spPr>
                  </p:pic>
                </p:oleObj>
              </mc:Fallback>
            </mc:AlternateContent>
          </a:graphicData>
        </a:graphic>
      </p:graphicFrame>
      <p:sp>
        <p:nvSpPr>
          <p:cNvPr id="49" name="AutoShape 17"/>
          <p:cNvSpPr>
            <a:spLocks noChangeArrowheads="1"/>
          </p:cNvSpPr>
          <p:nvPr/>
        </p:nvSpPr>
        <p:spPr bwMode="auto">
          <a:xfrm>
            <a:off x="5808464" y="2086861"/>
            <a:ext cx="2438400" cy="304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347 w 21600"/>
              <a:gd name="T13" fmla="*/ 3347 h 21600"/>
              <a:gd name="T14" fmla="*/ 18253 w 21600"/>
              <a:gd name="T15" fmla="*/ 18253 h 21600"/>
            </a:gdLst>
            <a:ahLst/>
            <a:cxnLst>
              <a:cxn ang="T8">
                <a:pos x="T0" y="T1"/>
              </a:cxn>
              <a:cxn ang="T9">
                <a:pos x="T2" y="T3"/>
              </a:cxn>
              <a:cxn ang="T10">
                <a:pos x="T4" y="T5"/>
              </a:cxn>
              <a:cxn ang="T11">
                <a:pos x="T6" y="T7"/>
              </a:cxn>
            </a:cxnLst>
            <a:rect l="T12" t="T13" r="T14" b="T15"/>
            <a:pathLst>
              <a:path w="21600" h="21600">
                <a:moveTo>
                  <a:pt x="0" y="0"/>
                </a:moveTo>
                <a:lnTo>
                  <a:pt x="3094" y="21600"/>
                </a:lnTo>
                <a:lnTo>
                  <a:pt x="18506" y="21600"/>
                </a:lnTo>
                <a:lnTo>
                  <a:pt x="21600" y="0"/>
                </a:lnTo>
                <a:lnTo>
                  <a:pt x="0" y="0"/>
                </a:lnTo>
                <a:close/>
              </a:path>
            </a:pathLst>
          </a:custGeom>
          <a:solidFill>
            <a:srgbClr val="FFFF00">
              <a:alpha val="50195"/>
            </a:srgbClr>
          </a:solidFill>
          <a:ln w="9525">
            <a:solidFill>
              <a:schemeClr val="tx1"/>
            </a:solidFill>
            <a:miter lim="800000"/>
            <a:headEnd/>
            <a:tailEnd/>
          </a:ln>
        </p:spPr>
        <p:txBody>
          <a:bodyPr wrap="none" anchor="ctr"/>
          <a:lstStyle/>
          <a:p>
            <a:endParaRPr lang="zh-CN" altLang="en-US"/>
          </a:p>
        </p:txBody>
      </p:sp>
      <p:graphicFrame>
        <p:nvGraphicFramePr>
          <p:cNvPr id="50" name="Object 8"/>
          <p:cNvGraphicFramePr>
            <a:graphicFrameLocks noChangeAspect="1"/>
          </p:cNvGraphicFramePr>
          <p:nvPr>
            <p:extLst>
              <p:ext uri="{D42A27DB-BD31-4B8C-83A1-F6EECF244321}">
                <p14:modId xmlns:p14="http://schemas.microsoft.com/office/powerpoint/2010/main" val="583761581"/>
              </p:ext>
            </p:extLst>
          </p:nvPr>
        </p:nvGraphicFramePr>
        <p:xfrm>
          <a:off x="7694414" y="1087877"/>
          <a:ext cx="471488" cy="1008063"/>
        </p:xfrm>
        <a:graphic>
          <a:graphicData uri="http://schemas.openxmlformats.org/presentationml/2006/ole">
            <mc:AlternateContent xmlns:mc="http://schemas.openxmlformats.org/markup-compatibility/2006">
              <mc:Choice xmlns:v="urn:schemas-microsoft-com:vml" Requires="v">
                <p:oleObj spid="_x0000_s65311" name="Clip" r:id="rId15" imgW="1781057" imgH="3914843" progId="MS_ClipArt_Gallery.5">
                  <p:embed/>
                </p:oleObj>
              </mc:Choice>
              <mc:Fallback>
                <p:oleObj name="Clip" r:id="rId15" imgW="1781057" imgH="3914843" progId="MS_ClipArt_Gallery.5">
                  <p:embed/>
                  <p:pic>
                    <p:nvPicPr>
                      <p:cNvPr id="7"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94414" y="1087877"/>
                        <a:ext cx="471488" cy="1008063"/>
                      </a:xfrm>
                      <a:prstGeom prst="rect">
                        <a:avLst/>
                      </a:prstGeom>
                      <a:solidFill>
                        <a:schemeClr val="accent3"/>
                      </a:solidFill>
                      <a:ln>
                        <a:noFill/>
                      </a:ln>
                      <a:effectLst/>
                      <a:extLst/>
                    </p:spPr>
                  </p:pic>
                </p:oleObj>
              </mc:Fallback>
            </mc:AlternateContent>
          </a:graphicData>
        </a:graphic>
      </p:graphicFrame>
      <p:sp>
        <p:nvSpPr>
          <p:cNvPr id="51" name="Line 19"/>
          <p:cNvSpPr>
            <a:spLocks noChangeShapeType="1"/>
          </p:cNvSpPr>
          <p:nvPr/>
        </p:nvSpPr>
        <p:spPr bwMode="auto">
          <a:xfrm flipV="1">
            <a:off x="6641307" y="1087877"/>
            <a:ext cx="18656" cy="3255640"/>
          </a:xfrm>
          <a:prstGeom prst="line">
            <a:avLst/>
          </a:prstGeom>
          <a:noFill/>
          <a:ln w="19050">
            <a:solidFill>
              <a:srgbClr val="66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20"/>
          <p:cNvSpPr>
            <a:spLocks noChangeShapeType="1"/>
          </p:cNvSpPr>
          <p:nvPr/>
        </p:nvSpPr>
        <p:spPr bwMode="auto">
          <a:xfrm flipV="1">
            <a:off x="7873348" y="1318709"/>
            <a:ext cx="17915" cy="3024808"/>
          </a:xfrm>
          <a:prstGeom prst="line">
            <a:avLst/>
          </a:prstGeom>
          <a:noFill/>
          <a:ln w="19050">
            <a:solidFill>
              <a:srgbClr val="66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1"/>
          <p:cNvSpPr>
            <a:spLocks noChangeShapeType="1"/>
          </p:cNvSpPr>
          <p:nvPr/>
        </p:nvSpPr>
        <p:spPr bwMode="auto">
          <a:xfrm>
            <a:off x="5593162" y="3462976"/>
            <a:ext cx="99060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2"/>
          <p:cNvSpPr>
            <a:spLocks noChangeShapeType="1"/>
          </p:cNvSpPr>
          <p:nvPr/>
        </p:nvSpPr>
        <p:spPr bwMode="auto">
          <a:xfrm>
            <a:off x="5593162" y="1591908"/>
            <a:ext cx="228600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3"/>
          <p:cNvSpPr>
            <a:spLocks noChangeShapeType="1"/>
          </p:cNvSpPr>
          <p:nvPr/>
        </p:nvSpPr>
        <p:spPr bwMode="auto">
          <a:xfrm flipH="1">
            <a:off x="6958848" y="2049109"/>
            <a:ext cx="16326" cy="24650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24"/>
          <p:cNvSpPr>
            <a:spLocks noChangeShapeType="1"/>
          </p:cNvSpPr>
          <p:nvPr/>
        </p:nvSpPr>
        <p:spPr bwMode="auto">
          <a:xfrm>
            <a:off x="7789663" y="2230877"/>
            <a:ext cx="7485" cy="21126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5"/>
          <p:cNvSpPr>
            <a:spLocks noChangeShapeType="1"/>
          </p:cNvSpPr>
          <p:nvPr/>
        </p:nvSpPr>
        <p:spPr bwMode="auto">
          <a:xfrm>
            <a:off x="5579864" y="2840476"/>
            <a:ext cx="1355210" cy="1323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6"/>
          <p:cNvSpPr>
            <a:spLocks noChangeShapeType="1"/>
          </p:cNvSpPr>
          <p:nvPr/>
        </p:nvSpPr>
        <p:spPr bwMode="auto">
          <a:xfrm>
            <a:off x="5579864" y="4343517"/>
            <a:ext cx="220980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Text Box 30"/>
          <p:cNvSpPr txBox="1">
            <a:spLocks noChangeArrowheads="1"/>
          </p:cNvSpPr>
          <p:nvPr/>
        </p:nvSpPr>
        <p:spPr bwMode="auto">
          <a:xfrm>
            <a:off x="8623719" y="2533295"/>
            <a:ext cx="287338" cy="4619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en-US" altLang="zh-CN" b="1" i="1" dirty="0"/>
              <a:t>x</a:t>
            </a:r>
          </a:p>
        </p:txBody>
      </p:sp>
      <mc:AlternateContent xmlns:mc="http://schemas.openxmlformats.org/markup-compatibility/2006" xmlns:a14="http://schemas.microsoft.com/office/drawing/2010/main">
        <mc:Choice Requires="a14">
          <p:sp>
            <p:nvSpPr>
              <p:cNvPr id="60" name="Object 10"/>
              <p:cNvSpPr txBox="1"/>
              <p:nvPr/>
            </p:nvSpPr>
            <p:spPr bwMode="auto">
              <a:xfrm>
                <a:off x="6123766" y="4187886"/>
                <a:ext cx="450739" cy="609266"/>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60" name="Object 10"/>
              <p:cNvSpPr txBox="1">
                <a:spLocks noRot="1" noChangeAspect="1" noMove="1" noResize="1" noEditPoints="1" noAdjustHandles="1" noChangeArrowheads="1" noChangeShapeType="1" noTextEdit="1"/>
              </p:cNvSpPr>
              <p:nvPr/>
            </p:nvSpPr>
            <p:spPr bwMode="auto">
              <a:xfrm>
                <a:off x="6123766" y="4187886"/>
                <a:ext cx="450739" cy="609266"/>
              </a:xfrm>
              <a:prstGeom prst="rect">
                <a:avLst/>
              </a:prstGeom>
              <a:blipFill>
                <a:blip r:embed="rId17"/>
                <a:stretch>
                  <a:fillRect r="-2740"/>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Object 11"/>
              <p:cNvSpPr txBox="1"/>
              <p:nvPr/>
            </p:nvSpPr>
            <p:spPr bwMode="auto">
              <a:xfrm>
                <a:off x="5857447" y="3323790"/>
                <a:ext cx="437725" cy="609266"/>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61" name="Object 11"/>
              <p:cNvSpPr txBox="1">
                <a:spLocks noRot="1" noChangeAspect="1" noMove="1" noResize="1" noEditPoints="1" noAdjustHandles="1" noChangeArrowheads="1" noChangeShapeType="1" noTextEdit="1"/>
              </p:cNvSpPr>
              <p:nvPr/>
            </p:nvSpPr>
            <p:spPr bwMode="auto">
              <a:xfrm>
                <a:off x="5857447" y="3323790"/>
                <a:ext cx="437725" cy="609266"/>
              </a:xfrm>
              <a:prstGeom prst="rect">
                <a:avLst/>
              </a:prstGeom>
              <a:blipFill>
                <a:blip r:embed="rId18"/>
                <a:stretch>
                  <a:fillRect r="-2778"/>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Object 13"/>
              <p:cNvSpPr txBox="1"/>
              <p:nvPr/>
            </p:nvSpPr>
            <p:spPr bwMode="auto">
              <a:xfrm>
                <a:off x="6139704" y="2366947"/>
                <a:ext cx="408536" cy="489963"/>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2" name="Object 13"/>
              <p:cNvSpPr txBox="1">
                <a:spLocks noRot="1" noChangeAspect="1" noMove="1" noResize="1" noEditPoints="1" noAdjustHandles="1" noChangeArrowheads="1" noChangeShapeType="1" noTextEdit="1"/>
              </p:cNvSpPr>
              <p:nvPr/>
            </p:nvSpPr>
            <p:spPr bwMode="auto">
              <a:xfrm>
                <a:off x="6139704" y="2366947"/>
                <a:ext cx="408536" cy="489963"/>
              </a:xfrm>
              <a:prstGeom prst="rect">
                <a:avLst/>
              </a:prstGeom>
              <a:blipFill>
                <a:blip r:embed="rId19"/>
                <a:stretch>
                  <a:fillRect r="-26866"/>
                </a:stretch>
              </a:blipFill>
              <a:ln>
                <a:noFill/>
              </a:ln>
              <a:effectLst/>
              <a:extLst/>
            </p:spPr>
            <p:txBody>
              <a:bodyPr/>
              <a:lstStyle/>
              <a:p>
                <a:r>
                  <a:rPr lang="zh-CN" altLang="en-US">
                    <a:noFill/>
                  </a:rPr>
                  <a:t> </a:t>
                </a:r>
              </a:p>
            </p:txBody>
          </p:sp>
        </mc:Fallback>
      </mc:AlternateContent>
      <p:sp>
        <p:nvSpPr>
          <p:cNvPr id="63" name="Text Box 35"/>
          <p:cNvSpPr txBox="1">
            <a:spLocks noChangeArrowheads="1"/>
          </p:cNvSpPr>
          <p:nvPr/>
        </p:nvSpPr>
        <p:spPr bwMode="auto">
          <a:xfrm>
            <a:off x="5148064" y="2091177"/>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en-US" altLang="zh-CN" i="1" dirty="0"/>
              <a:t>O</a:t>
            </a:r>
          </a:p>
        </p:txBody>
      </p:sp>
      <p:sp>
        <p:nvSpPr>
          <p:cNvPr id="64" name="Line 36"/>
          <p:cNvSpPr>
            <a:spLocks noChangeShapeType="1"/>
          </p:cNvSpPr>
          <p:nvPr/>
        </p:nvSpPr>
        <p:spPr bwMode="auto">
          <a:xfrm flipV="1">
            <a:off x="6626672" y="1346911"/>
            <a:ext cx="1067742"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37"/>
          <p:cNvSpPr>
            <a:spLocks noChangeShapeType="1"/>
          </p:cNvSpPr>
          <p:nvPr/>
        </p:nvSpPr>
        <p:spPr bwMode="auto">
          <a:xfrm flipH="1">
            <a:off x="5656064" y="2002277"/>
            <a:ext cx="533400" cy="0"/>
          </a:xfrm>
          <a:prstGeom prst="line">
            <a:avLst/>
          </a:prstGeom>
          <a:noFill/>
          <a:ln w="38100">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矩形 65"/>
          <p:cNvSpPr/>
          <p:nvPr/>
        </p:nvSpPr>
        <p:spPr>
          <a:xfrm>
            <a:off x="7258645" y="2458187"/>
            <a:ext cx="304892" cy="461665"/>
          </a:xfrm>
          <a:prstGeom prst="rect">
            <a:avLst/>
          </a:prstGeom>
        </p:spPr>
        <p:txBody>
          <a:bodyPr wrap="none">
            <a:spAutoFit/>
          </a:bodyPr>
          <a:lstStyle/>
          <a:p>
            <a:r>
              <a:rPr lang="en-US" altLang="zh-CN" b="1" i="1" dirty="0"/>
              <a:t>s</a:t>
            </a:r>
            <a:endParaRPr lang="zh-CN" altLang="en-US" dirty="0"/>
          </a:p>
        </p:txBody>
      </p:sp>
      <p:sp>
        <p:nvSpPr>
          <p:cNvPr id="67" name="矩形 66"/>
          <p:cNvSpPr/>
          <p:nvPr/>
        </p:nvSpPr>
        <p:spPr>
          <a:xfrm>
            <a:off x="6949067" y="931861"/>
            <a:ext cx="543739" cy="461665"/>
          </a:xfrm>
          <a:prstGeom prst="rect">
            <a:avLst/>
          </a:prstGeom>
        </p:spPr>
        <p:txBody>
          <a:bodyPr wrap="none">
            <a:spAutoFit/>
          </a:bodyPr>
          <a:lstStyle/>
          <a:p>
            <a:r>
              <a:rPr lang="en-US" altLang="zh-CN" b="1" i="1" dirty="0"/>
              <a:t>l-S</a:t>
            </a:r>
            <a:endParaRPr lang="zh-CN" altLang="en-US" dirty="0"/>
          </a:p>
        </p:txBody>
      </p:sp>
      <mc:AlternateContent xmlns:mc="http://schemas.openxmlformats.org/markup-compatibility/2006" xmlns:a14="http://schemas.microsoft.com/office/drawing/2010/main">
        <mc:Choice Requires="a14">
          <p:sp>
            <p:nvSpPr>
              <p:cNvPr id="68" name="Object 12"/>
              <p:cNvSpPr txBox="1"/>
              <p:nvPr/>
            </p:nvSpPr>
            <p:spPr bwMode="auto">
              <a:xfrm>
                <a:off x="6782603" y="1574364"/>
                <a:ext cx="476042" cy="54106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8" name="Object 12"/>
              <p:cNvSpPr txBox="1">
                <a:spLocks noRot="1" noChangeAspect="1" noMove="1" noResize="1" noEditPoints="1" noAdjustHandles="1" noChangeArrowheads="1" noChangeShapeType="1" noTextEdit="1"/>
              </p:cNvSpPr>
              <p:nvPr/>
            </p:nvSpPr>
            <p:spPr bwMode="auto">
              <a:xfrm>
                <a:off x="6782603" y="1574364"/>
                <a:ext cx="476042" cy="541060"/>
              </a:xfrm>
              <a:prstGeom prst="rect">
                <a:avLst/>
              </a:prstGeom>
              <a:blipFill>
                <a:blip r:embed="rId20"/>
                <a:stretch>
                  <a:fillRect r="-23077"/>
                </a:stretch>
              </a:blipFill>
              <a:ln>
                <a:noFill/>
              </a:ln>
              <a:effectLst/>
              <a:extLst/>
            </p:spPr>
            <p:txBody>
              <a:bodyPr/>
              <a:lstStyle/>
              <a:p>
                <a:r>
                  <a:rPr lang="zh-CN" altLang="en-US">
                    <a:noFill/>
                  </a:rPr>
                  <a:t> </a:t>
                </a:r>
              </a:p>
            </p:txBody>
          </p:sp>
        </mc:Fallback>
      </mc:AlternateContent>
      <p:sp>
        <p:nvSpPr>
          <p:cNvPr id="69" name="椭圆 68"/>
          <p:cNvSpPr/>
          <p:nvPr/>
        </p:nvSpPr>
        <p:spPr bwMode="auto">
          <a:xfrm>
            <a:off x="7656060" y="3894701"/>
            <a:ext cx="258977" cy="278184"/>
          </a:xfrm>
          <a:prstGeom prst="ellipse">
            <a:avLst/>
          </a:prstGeom>
          <a:solidFill>
            <a:srgbClr val="FF0000"/>
          </a:solidFill>
          <a:ln w="9525" cap="flat" cmpd="sng" algn="ctr">
            <a:solidFill>
              <a:srgbClr val="FF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楷体_GB2312" pitchFamily="49" charset="-122"/>
            </a:endParaRPr>
          </a:p>
        </p:txBody>
      </p:sp>
      <p:sp>
        <p:nvSpPr>
          <p:cNvPr id="70" name="椭圆 69"/>
          <p:cNvSpPr/>
          <p:nvPr/>
        </p:nvSpPr>
        <p:spPr bwMode="auto">
          <a:xfrm>
            <a:off x="6843709" y="2102214"/>
            <a:ext cx="258977" cy="278184"/>
          </a:xfrm>
          <a:prstGeom prst="ellipse">
            <a:avLst/>
          </a:prstGeom>
          <a:solidFill>
            <a:srgbClr val="FF0000"/>
          </a:solidFill>
          <a:ln w="9525" cap="flat" cmpd="sng" algn="ctr">
            <a:solidFill>
              <a:srgbClr val="FF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427746288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wipe(left)">
                                      <p:cBhvr>
                                        <p:cTn id="7" dur="500"/>
                                        <p:tgtEl>
                                          <p:spTgt spid="1127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1"/>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6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7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6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4"/>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67"/>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5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5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1273"/>
                                        </p:tgtEl>
                                        <p:attrNameLst>
                                          <p:attrName>style.visibility</p:attrName>
                                        </p:attrNameLst>
                                      </p:cBhvr>
                                      <p:to>
                                        <p:strVal val="visible"/>
                                      </p:to>
                                    </p:set>
                                    <p:animEffect transition="in" filter="wipe(left)">
                                      <p:cBhvr>
                                        <p:cTn id="64" dur="500"/>
                                        <p:tgtEl>
                                          <p:spTgt spid="1127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1274"/>
                                        </p:tgtEl>
                                        <p:attrNameLst>
                                          <p:attrName>style.visibility</p:attrName>
                                        </p:attrNameLst>
                                      </p:cBhvr>
                                      <p:to>
                                        <p:strVal val="visible"/>
                                      </p:to>
                                    </p:set>
                                    <p:animEffect transition="in" filter="wipe(left)">
                                      <p:cBhvr>
                                        <p:cTn id="69" dur="500"/>
                                        <p:tgtEl>
                                          <p:spTgt spid="1127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1266"/>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11303">
                                            <p:txEl>
                                              <p:pRg st="0" end="0"/>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1275"/>
                                        </p:tgtEl>
                                        <p:attrNameLst>
                                          <p:attrName>style.visibility</p:attrName>
                                        </p:attrNameLst>
                                      </p:cBhvr>
                                      <p:to>
                                        <p:strVal val="visible"/>
                                      </p:to>
                                    </p:set>
                                    <p:animEffect transition="in" filter="wipe(left)">
                                      <p:cBhvr>
                                        <p:cTn id="80" dur="500"/>
                                        <p:tgtEl>
                                          <p:spTgt spid="11275"/>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126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1276"/>
                                        </p:tgtEl>
                                        <p:attrNameLst>
                                          <p:attrName>style.visibility</p:attrName>
                                        </p:attrNameLst>
                                      </p:cBhvr>
                                      <p:to>
                                        <p:strVal val="visible"/>
                                      </p:to>
                                    </p:set>
                                    <p:animEffect transition="in" filter="wipe(left)">
                                      <p:cBhvr>
                                        <p:cTn id="89" dur="500"/>
                                        <p:tgtEl>
                                          <p:spTgt spid="11276"/>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1268"/>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11311"/>
                                        </p:tgtEl>
                                        <p:attrNameLst>
                                          <p:attrName>style.visibility</p:attrName>
                                        </p:attrNameLst>
                                      </p:cBhvr>
                                      <p:to>
                                        <p:strVal val="visible"/>
                                      </p:to>
                                    </p:set>
                                    <p:animEffect transition="in" filter="wipe(down)">
                                      <p:cBhvr>
                                        <p:cTn id="98" dur="500"/>
                                        <p:tgtEl>
                                          <p:spTgt spid="1131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grpId="0" nodeType="clickEffect">
                                  <p:stCondLst>
                                    <p:cond delay="0"/>
                                  </p:stCondLst>
                                  <p:childTnLst>
                                    <p:set>
                                      <p:cBhvr>
                                        <p:cTn id="102" dur="1" fill="hold">
                                          <p:stCondLst>
                                            <p:cond delay="0"/>
                                          </p:stCondLst>
                                        </p:cTn>
                                        <p:tgtEl>
                                          <p:spTgt spid="11309"/>
                                        </p:tgtEl>
                                        <p:attrNameLst>
                                          <p:attrName>style.visibility</p:attrName>
                                        </p:attrNameLst>
                                      </p:cBhvr>
                                      <p:to>
                                        <p:strVal val="visible"/>
                                      </p:to>
                                    </p:set>
                                    <p:animEffect transition="in" filter="wipe(down)">
                                      <p:cBhvr>
                                        <p:cTn id="103" dur="500"/>
                                        <p:tgtEl>
                                          <p:spTgt spid="11309"/>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11306">
                                            <p:txEl>
                                              <p:pRg st="0" end="0"/>
                                            </p:txEl>
                                          </p:spTgt>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11310"/>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11291"/>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1304"/>
                                        </p:tgtEl>
                                        <p:attrNameLst>
                                          <p:attrName>style.visibility</p:attrName>
                                        </p:attrNameLst>
                                      </p:cBhvr>
                                      <p:to>
                                        <p:strVal val="visible"/>
                                      </p:to>
                                    </p:set>
                                    <p:animEffect transition="in" filter="wipe(left)">
                                      <p:cBhvr>
                                        <p:cTn id="116" dur="500"/>
                                        <p:tgtEl>
                                          <p:spTgt spid="11304"/>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126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27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1272"/>
                                        </p:tgtEl>
                                        <p:attrNameLst>
                                          <p:attrName>style.visibility</p:attrName>
                                        </p:attrNameLst>
                                      </p:cBhvr>
                                      <p:to>
                                        <p:strVal val="visible"/>
                                      </p:to>
                                    </p:set>
                                    <p:animEffect transition="in" filter="wipe(left)">
                                      <p:cBhvr>
                                        <p:cTn id="127" dur="500"/>
                                        <p:tgtEl>
                                          <p:spTgt spid="11272"/>
                                        </p:tgtEl>
                                      </p:cBhvr>
                                    </p:animEffec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p:bldP spid="11268" grpId="0"/>
      <p:bldP spid="11269" grpId="0"/>
      <p:bldP spid="11270" grpId="0"/>
      <p:bldP spid="11271" grpId="0" autoUpdateAnimBg="0"/>
      <p:bldP spid="11272" grpId="0" autoUpdateAnimBg="0"/>
      <p:bldP spid="11273" grpId="0" autoUpdateAnimBg="0"/>
      <p:bldP spid="11274" grpId="0" autoUpdateAnimBg="0"/>
      <p:bldP spid="11275" grpId="0" autoUpdateAnimBg="0"/>
      <p:bldP spid="11276" grpId="0" autoUpdateAnimBg="0"/>
      <p:bldP spid="11291" grpId="0"/>
      <p:bldP spid="11303" grpId="0" build="p"/>
      <p:bldP spid="11304" grpId="0"/>
      <p:bldP spid="11306" grpId="0" build="p"/>
      <p:bldP spid="11309" grpId="0" animBg="1"/>
      <p:bldP spid="11310" grpId="0"/>
      <p:bldP spid="11311" grpId="0" animBg="1"/>
      <p:bldP spid="3" grpId="0"/>
      <p:bldP spid="45" grpId="0" animBg="1"/>
      <p:bldP spid="46" grpId="0" animBg="1"/>
      <p:bldP spid="47" grpId="0" animBg="1"/>
      <p:bldP spid="49" grpId="0" animBg="1"/>
      <p:bldP spid="51" grpId="0" animBg="1"/>
      <p:bldP spid="52" grpId="0" animBg="1"/>
      <p:bldP spid="53" grpId="0" animBg="1"/>
      <p:bldP spid="54" grpId="0" animBg="1"/>
      <p:bldP spid="55" grpId="0" animBg="1"/>
      <p:bldP spid="56" grpId="0" animBg="1"/>
      <p:bldP spid="57" grpId="0" animBg="1"/>
      <p:bldP spid="58" grpId="0" animBg="1"/>
      <p:bldP spid="59" grpId="0" animBg="1"/>
      <p:bldP spid="63" grpId="0"/>
      <p:bldP spid="64" grpId="0" animBg="1"/>
      <p:bldP spid="65" grpId="0" animBg="1"/>
      <p:bldP spid="66" grpId="0"/>
      <p:bldP spid="67" grpId="0"/>
      <p:bldP spid="69" grpId="0" animBg="1"/>
      <p:bldP spid="7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p:cNvSpPr txBox="1">
            <a:spLocks noChangeArrowheads="1"/>
          </p:cNvSpPr>
          <p:nvPr/>
        </p:nvSpPr>
        <p:spPr bwMode="auto">
          <a:xfrm>
            <a:off x="161911" y="424584"/>
            <a:ext cx="1003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dirty="0">
                <a:solidFill>
                  <a:srgbClr val="FF0000"/>
                </a:solidFill>
              </a:rPr>
              <a:t>解</a:t>
            </a:r>
            <a:r>
              <a:rPr lang="en-US" altLang="zh-CN" dirty="0">
                <a:solidFill>
                  <a:srgbClr val="FF0000"/>
                </a:solidFill>
              </a:rPr>
              <a:t>2</a:t>
            </a:r>
            <a:r>
              <a:rPr lang="zh-CN" altLang="en-US" dirty="0">
                <a:solidFill>
                  <a:srgbClr val="FF0000"/>
                </a:solidFill>
              </a:rPr>
              <a:t>、 </a:t>
            </a:r>
          </a:p>
        </p:txBody>
      </p:sp>
      <p:sp>
        <p:nvSpPr>
          <p:cNvPr id="3" name="Text Box 10"/>
          <p:cNvSpPr txBox="1">
            <a:spLocks noChangeArrowheads="1"/>
          </p:cNvSpPr>
          <p:nvPr/>
        </p:nvSpPr>
        <p:spPr bwMode="auto">
          <a:xfrm>
            <a:off x="1331640" y="459305"/>
            <a:ext cx="71287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b="1" dirty="0"/>
              <a:t>在水平方向上，外力为零，则水平方向动量守恒</a:t>
            </a:r>
          </a:p>
        </p:txBody>
      </p:sp>
      <p:sp>
        <p:nvSpPr>
          <p:cNvPr id="4" name="Object 9"/>
          <p:cNvSpPr txBox="1"/>
          <p:nvPr/>
        </p:nvSpPr>
        <p:spPr bwMode="auto">
          <a:xfrm>
            <a:off x="3303588" y="1484313"/>
            <a:ext cx="233362" cy="433387"/>
          </a:xfrm>
          <a:prstGeom prst="rect">
            <a:avLst/>
          </a:prstGeom>
          <a:noFill/>
          <a:ln>
            <a:noFill/>
          </a:ln>
          <a:effectLst/>
          <a:extLst/>
        </p:spPr>
        <p:txBody>
          <a:bodyPr>
            <a:normAutofit lnSpcReduction="10000"/>
          </a:bodyPr>
          <a:lstStyle/>
          <a:p>
            <a:endParaRPr lang="zh-CN" altLang="en-US"/>
          </a:p>
        </p:txBody>
      </p:sp>
      <mc:AlternateContent xmlns:mc="http://schemas.openxmlformats.org/markup-compatibility/2006" xmlns:a14="http://schemas.microsoft.com/office/drawing/2010/main">
        <mc:Choice Requires="a14">
          <p:sp>
            <p:nvSpPr>
              <p:cNvPr id="5" name="对象 4"/>
              <p:cNvSpPr txBox="1"/>
              <p:nvPr/>
            </p:nvSpPr>
            <p:spPr>
              <a:xfrm>
                <a:off x="2140240" y="1104921"/>
                <a:ext cx="3946525" cy="1028700"/>
              </a:xfrm>
              <a:prstGeom prst="rect">
                <a:avLst/>
              </a:prstGeom>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𝑀𝑉</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𝑚𝑣</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𝑉</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num>
                        <m:den>
                          <m:r>
                            <a:rPr lang="zh-CN" altLang="en-US" i="1">
                              <a:solidFill>
                                <a:srgbClr val="000000"/>
                              </a:solidFill>
                              <a:latin typeface="Cambria Math" panose="02040503050406030204" pitchFamily="18" charset="0"/>
                            </a:rPr>
                            <m:t>𝑀</m:t>
                          </m:r>
                        </m:den>
                      </m:f>
                      <m:r>
                        <a:rPr lang="zh-CN" altLang="en-US" i="1">
                          <a:solidFill>
                            <a:srgbClr val="000000"/>
                          </a:solidFill>
                          <a:latin typeface="Cambria Math" panose="02040503050406030204" pitchFamily="18" charset="0"/>
                        </a:rPr>
                        <m:t>𝑣</m:t>
                      </m:r>
                    </m:oMath>
                  </m:oMathPara>
                </a14:m>
                <a:endParaRPr lang="zh-CN" altLang="en-US"/>
              </a:p>
            </p:txBody>
          </p:sp>
        </mc:Choice>
        <mc:Fallback xmlns="">
          <p:sp>
            <p:nvSpPr>
              <p:cNvPr id="5" name="对象 4"/>
              <p:cNvSpPr txBox="1">
                <a:spLocks noRot="1" noChangeAspect="1" noMove="1" noResize="1" noEditPoints="1" noAdjustHandles="1" noChangeArrowheads="1" noChangeShapeType="1" noTextEdit="1"/>
              </p:cNvSpPr>
              <p:nvPr/>
            </p:nvSpPr>
            <p:spPr>
              <a:xfrm>
                <a:off x="2140240" y="1104921"/>
                <a:ext cx="3946525" cy="1028700"/>
              </a:xfrm>
              <a:prstGeom prst="rect">
                <a:avLst/>
              </a:prstGeom>
              <a:blipFill>
                <a:blip r:embed="rId2"/>
                <a:stretch>
                  <a:fillRect/>
                </a:stretch>
              </a:blipFill>
            </p:spPr>
            <p:txBody>
              <a:bodyPr/>
              <a:lstStyle/>
              <a:p>
                <a:r>
                  <a:rPr lang="zh-CN" altLang="en-US">
                    <a:noFill/>
                  </a:rPr>
                  <a:t> </a:t>
                </a:r>
              </a:p>
            </p:txBody>
          </p:sp>
        </mc:Fallback>
      </mc:AlternateContent>
      <p:sp>
        <p:nvSpPr>
          <p:cNvPr id="6" name="Text Box 10"/>
          <p:cNvSpPr txBox="1">
            <a:spLocks noChangeArrowheads="1"/>
          </p:cNvSpPr>
          <p:nvPr/>
        </p:nvSpPr>
        <p:spPr bwMode="auto">
          <a:xfrm>
            <a:off x="173795" y="2201188"/>
            <a:ext cx="8640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b="1" dirty="0"/>
              <a:t>在水平方向上，相对于地面人和船移动的位移分别为</a:t>
            </a:r>
            <a:r>
              <a:rPr lang="en-US" altLang="zh-CN" b="1" dirty="0"/>
              <a:t>s</a:t>
            </a:r>
            <a:r>
              <a:rPr lang="zh-CN" altLang="en-US" b="1" dirty="0"/>
              <a:t>，</a:t>
            </a:r>
            <a:r>
              <a:rPr lang="en-US" altLang="zh-CN" b="1" dirty="0"/>
              <a:t>S,</a:t>
            </a:r>
            <a:r>
              <a:rPr lang="zh-CN" altLang="en-US" b="1" dirty="0"/>
              <a:t>则：</a:t>
            </a:r>
          </a:p>
        </p:txBody>
      </p:sp>
      <mc:AlternateContent xmlns:mc="http://schemas.openxmlformats.org/markup-compatibility/2006" xmlns:a14="http://schemas.microsoft.com/office/drawing/2010/main">
        <mc:Choice Requires="a14">
          <p:sp>
            <p:nvSpPr>
              <p:cNvPr id="7" name="对象 6"/>
              <p:cNvSpPr txBox="1"/>
              <p:nvPr/>
            </p:nvSpPr>
            <p:spPr>
              <a:xfrm>
                <a:off x="1506391" y="2869506"/>
                <a:ext cx="6619019" cy="726265"/>
              </a:xfrm>
              <a:prstGeom prst="rect">
                <a:avLst/>
              </a:prstGeom>
            </p:spPr>
            <p:txBody>
              <a:bodyPr>
                <a:normAutofit fontScale="92500"/>
              </a:bodyPr>
              <a:lstStyle/>
              <a:p>
                <a14:m>
                  <m:oMath xmlns:m="http://schemas.openxmlformats.org/officeDocument/2006/math">
                    <m:r>
                      <m:rPr>
                        <m:nor/>
                      </m:rPr>
                      <a:rPr lang="zh-CN" altLang="en-US" i="0" smtClean="0">
                        <a:solidFill>
                          <a:srgbClr val="000000"/>
                        </a:solidFill>
                        <a:latin typeface="Cambria Math" panose="02040503050406030204" pitchFamily="18" charset="0"/>
                      </a:rPr>
                      <m:t>S</m:t>
                    </m:r>
                    <m:r>
                      <m:rPr>
                        <m:nor/>
                      </m:rPr>
                      <a:rPr lang="zh-CN" altLang="en-US" i="0" smtClean="0">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𝑉</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          </m:t>
                    </m:r>
                    <m:r>
                      <a:rPr lang="en-US" altLang="zh-CN" b="0" i="1" smtClean="0">
                        <a:solidFill>
                          <a:srgbClr val="000000"/>
                        </a:solidFill>
                        <a:latin typeface="Cambria Math" panose="02040503050406030204" pitchFamily="18" charset="0"/>
                      </a:rPr>
                      <m:t>𝑠</m:t>
                    </m:r>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baseline="-25000">
                        <a:solidFill>
                          <a:srgbClr val="000000"/>
                        </a:solidFill>
                        <a:latin typeface="Cambria Math" panose="02040503050406030204" pitchFamily="18" charset="0"/>
                      </a:rPr>
                      <m:t>人对地</m:t>
                    </m:r>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𝑣</m:t>
                        </m:r>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𝑆</m:t>
                    </m:r>
                    <m:r>
                      <a:rPr lang="zh-CN" altLang="en-US" i="1" baseline="-25000">
                        <a:solidFill>
                          <a:srgbClr val="000000"/>
                        </a:solidFill>
                        <a:latin typeface="Cambria Math" panose="02040503050406030204" pitchFamily="18" charset="0"/>
                      </a:rPr>
                      <m:t>人对</m:t>
                    </m:r>
                    <m:r>
                      <a:rPr lang="zh-CN" altLang="en-US" i="1" baseline="-25000" smtClean="0">
                        <a:solidFill>
                          <a:srgbClr val="000000"/>
                        </a:solidFill>
                        <a:latin typeface="Cambria Math" panose="02040503050406030204" pitchFamily="18" charset="0"/>
                      </a:rPr>
                      <m:t>船</m:t>
                    </m:r>
                  </m:oMath>
                </a14:m>
                <a:r>
                  <a:rPr lang="en-US" altLang="zh-CN"/>
                  <a:t>+S</a:t>
                </a:r>
                <a14:m>
                  <m:oMath xmlns:m="http://schemas.openxmlformats.org/officeDocument/2006/math">
                    <m:r>
                      <a:rPr lang="zh-CN" altLang="en-US" i="1" baseline="-25000">
                        <a:solidFill>
                          <a:srgbClr val="000000"/>
                        </a:solidFill>
                        <a:latin typeface="Cambria Math" panose="02040503050406030204" pitchFamily="18" charset="0"/>
                      </a:rPr>
                      <m:t>船</m:t>
                    </m:r>
                    <m:r>
                      <a:rPr lang="zh-CN" altLang="en-US" i="1" baseline="-25000" smtClean="0">
                        <a:solidFill>
                          <a:srgbClr val="000000"/>
                        </a:solidFill>
                        <a:latin typeface="Cambria Math" panose="02040503050406030204" pitchFamily="18" charset="0"/>
                      </a:rPr>
                      <m:t>对</m:t>
                    </m:r>
                  </m:oMath>
                </a14:m>
                <a:r>
                  <a:rPr lang="zh-CN" altLang="en-US" baseline="-25000"/>
                  <a:t>地</a:t>
                </a:r>
                <a:r>
                  <a:rPr lang="en-US" altLang="zh-CN"/>
                  <a:t>=</a:t>
                </a:r>
                <a:r>
                  <a:rPr lang="en-US" altLang="zh-CN" i="1"/>
                  <a:t>l-S</a:t>
                </a:r>
                <a:endParaRPr lang="zh-CN" altLang="en-US" i="1"/>
              </a:p>
            </p:txBody>
          </p:sp>
        </mc:Choice>
        <mc:Fallback xmlns="">
          <p:sp>
            <p:nvSpPr>
              <p:cNvPr id="7" name="对象 6"/>
              <p:cNvSpPr txBox="1">
                <a:spLocks noRot="1" noChangeAspect="1" noMove="1" noResize="1" noEditPoints="1" noAdjustHandles="1" noChangeArrowheads="1" noChangeShapeType="1" noTextEdit="1"/>
              </p:cNvSpPr>
              <p:nvPr/>
            </p:nvSpPr>
            <p:spPr>
              <a:xfrm>
                <a:off x="1506391" y="2869506"/>
                <a:ext cx="6619019" cy="726265"/>
              </a:xfrm>
              <a:prstGeom prst="rect">
                <a:avLst/>
              </a:prstGeom>
              <a:blipFill>
                <a:blip r:embed="rId3"/>
                <a:stretch>
                  <a:fillRect l="-1750" t="-90756" r="-368" b="-98319"/>
                </a:stretch>
              </a:blipFill>
            </p:spPr>
            <p:txBody>
              <a:bodyPr/>
              <a:lstStyle/>
              <a:p>
                <a:r>
                  <a:rPr lang="zh-CN" altLang="en-US">
                    <a:noFill/>
                  </a:rPr>
                  <a:t> </a:t>
                </a:r>
              </a:p>
            </p:txBody>
          </p:sp>
        </mc:Fallback>
      </mc:AlternateContent>
      <p:sp>
        <p:nvSpPr>
          <p:cNvPr id="8" name="矩形 7"/>
          <p:cNvSpPr/>
          <p:nvPr/>
        </p:nvSpPr>
        <p:spPr>
          <a:xfrm>
            <a:off x="467544" y="3624503"/>
            <a:ext cx="7657866" cy="461665"/>
          </a:xfrm>
          <a:prstGeom prst="rect">
            <a:avLst/>
          </a:prstGeom>
        </p:spPr>
        <p:txBody>
          <a:bodyPr wrap="none">
            <a:spAutoFit/>
          </a:bodyPr>
          <a:lstStyle/>
          <a:p>
            <a:r>
              <a:rPr lang="zh-CN" altLang="en-US" b="1" dirty="0"/>
              <a:t>当人从船头走到船尾时，人相对于船移动的距离为</a:t>
            </a:r>
            <a:r>
              <a:rPr lang="en-US" altLang="zh-CN" b="1" i="1" dirty="0"/>
              <a:t>l</a:t>
            </a:r>
            <a:r>
              <a:rPr lang="zh-CN" altLang="en-US" b="1" i="1" dirty="0"/>
              <a:t>，</a:t>
            </a:r>
            <a:r>
              <a:rPr lang="zh-CN" altLang="en-US" b="1" dirty="0"/>
              <a:t>则</a:t>
            </a:r>
            <a:endParaRPr lang="zh-CN" altLang="en-US" i="1" dirty="0"/>
          </a:p>
        </p:txBody>
      </p:sp>
      <mc:AlternateContent xmlns:mc="http://schemas.openxmlformats.org/markup-compatibility/2006" xmlns:a14="http://schemas.microsoft.com/office/drawing/2010/main">
        <mc:Choice Requires="a14">
          <p:sp>
            <p:nvSpPr>
              <p:cNvPr id="10" name="对象 9"/>
              <p:cNvSpPr txBox="1"/>
              <p:nvPr/>
            </p:nvSpPr>
            <p:spPr>
              <a:xfrm>
                <a:off x="1303412" y="3940493"/>
                <a:ext cx="4953000" cy="1790700"/>
              </a:xfrm>
              <a:prstGeom prst="rect">
                <a:avLst/>
              </a:prstGeom>
            </p:spPr>
            <p:txBody>
              <a:bodyPr>
                <a:normAutofit fontScale="92500"/>
              </a:bodyPr>
              <a:lstStyle/>
              <a:p>
                <a:pPr/>
                <a:br>
                  <a:rPr lang="zh-CN" altLang="en-US" i="1" dirty="0">
                    <a:solidFill>
                      <a:srgbClr val="000000"/>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𝑉𝑑𝑡</m:t>
                          </m:r>
                          <m:r>
                            <a:rPr lang="zh-CN" altLang="en-US" i="1">
                              <a:solidFill>
                                <a:srgbClr val="000000"/>
                              </a:solidFill>
                              <a:latin typeface="Cambria Math" panose="02040503050406030204" pitchFamily="18" charset="0"/>
                            </a:rPr>
                            <m:t>=</m:t>
                          </m:r>
                          <m:nary>
                            <m:naryPr>
                              <m:subHide m:val="on"/>
                              <m:supHide m:val="on"/>
                              <m:ctrlPr>
                                <a:rPr lang="zh-CN" altLang="en-US" i="1">
                                  <a:solidFill>
                                    <a:srgbClr val="000000"/>
                                  </a:solidFill>
                                  <a:latin typeface="Cambria Math" panose="02040503050406030204" pitchFamily="18" charset="0"/>
                                </a:rPr>
                              </m:ctrlPr>
                            </m:naryPr>
                            <m:sub/>
                            <m:sup/>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num>
                                <m:den>
                                  <m:r>
                                    <a:rPr lang="zh-CN" altLang="en-US" i="1">
                                      <a:solidFill>
                                        <a:srgbClr val="000000"/>
                                      </a:solidFill>
                                      <a:latin typeface="Cambria Math" panose="02040503050406030204" pitchFamily="18" charset="0"/>
                                    </a:rPr>
                                    <m:t>𝑀</m:t>
                                  </m:r>
                                </m:den>
                              </m:f>
                              <m:r>
                                <a:rPr lang="zh-CN" altLang="en-US" i="1">
                                  <a:solidFill>
                                    <a:srgbClr val="000000"/>
                                  </a:solidFill>
                                  <a:latin typeface="Cambria Math" panose="02040503050406030204" pitchFamily="18" charset="0"/>
                                </a:rPr>
                                <m:t>𝑣𝑑𝑡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num>
                                <m:den>
                                  <m:r>
                                    <a:rPr lang="zh-CN" altLang="en-US" i="1">
                                      <a:solidFill>
                                        <a:srgbClr val="000000"/>
                                      </a:solidFill>
                                      <a:latin typeface="Cambria Math" panose="02040503050406030204" pitchFamily="18" charset="0"/>
                                    </a:rPr>
                                    <m:t>𝑀</m:t>
                                  </m:r>
                                </m:den>
                              </m:f>
                            </m:e>
                          </m:nary>
                        </m:e>
                      </m:nary>
                      <m:nary>
                        <m:naryPr>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𝑣𝑑𝑡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num>
                            <m:den>
                              <m:r>
                                <a:rPr lang="zh-CN" altLang="en-US" i="1">
                                  <a:solidFill>
                                    <a:srgbClr val="000000"/>
                                  </a:solidFill>
                                  <a:latin typeface="Cambria Math" panose="02040503050406030204" pitchFamily="18" charset="0"/>
                                </a:rPr>
                                <m:t>𝑀</m:t>
                              </m:r>
                            </m:den>
                          </m:f>
                          <m:r>
                            <a:rPr lang="en-US" altLang="zh-CN" b="0" i="1" smtClean="0">
                              <a:solidFill>
                                <a:srgbClr val="000000"/>
                              </a:solidFill>
                              <a:latin typeface="Cambria Math" panose="02040503050406030204" pitchFamily="18" charset="0"/>
                            </a:rPr>
                            <m:t>𝑠</m:t>
                          </m:r>
                        </m:e>
                      </m:nary>
                    </m:oMath>
                  </m:oMathPara>
                </a14:m>
                <a:br>
                  <a:rPr lang="zh-CN" altLang="en-US" i="1">
                    <a:solidFill>
                      <a:srgbClr val="000000"/>
                    </a:solidFill>
                    <a:latin typeface="Cambria Math" panose="02040503050406030204" pitchFamily="18" charset="0"/>
                  </a:rPr>
                </a:br>
                <a:endParaRPr lang="zh-CN" altLang="en-US" dirty="0"/>
              </a:p>
            </p:txBody>
          </p:sp>
        </mc:Choice>
        <mc:Fallback xmlns="">
          <p:sp>
            <p:nvSpPr>
              <p:cNvPr id="10" name="对象 9"/>
              <p:cNvSpPr txBox="1">
                <a:spLocks noRot="1" noChangeAspect="1" noMove="1" noResize="1" noEditPoints="1" noAdjustHandles="1" noChangeArrowheads="1" noChangeShapeType="1" noTextEdit="1"/>
              </p:cNvSpPr>
              <p:nvPr/>
            </p:nvSpPr>
            <p:spPr>
              <a:xfrm>
                <a:off x="1303412" y="3940493"/>
                <a:ext cx="4953000" cy="17907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5"/>
              <p:cNvSpPr txBox="1"/>
              <p:nvPr/>
            </p:nvSpPr>
            <p:spPr bwMode="auto">
              <a:xfrm>
                <a:off x="1764085" y="5548788"/>
                <a:ext cx="1656184" cy="849907"/>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𝑚𝑙</m:t>
                          </m:r>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den>
                      </m:f>
                    </m:oMath>
                  </m:oMathPara>
                </a14:m>
                <a:endParaRPr lang="zh-CN" altLang="en-US" dirty="0"/>
              </a:p>
            </p:txBody>
          </p:sp>
        </mc:Choice>
        <mc:Fallback xmlns="">
          <p:sp>
            <p:nvSpPr>
              <p:cNvPr id="11" name="Object 5"/>
              <p:cNvSpPr txBox="1">
                <a:spLocks noRot="1" noChangeAspect="1" noMove="1" noResize="1" noEditPoints="1" noAdjustHandles="1" noChangeArrowheads="1" noChangeShapeType="1" noTextEdit="1"/>
              </p:cNvSpPr>
              <p:nvPr/>
            </p:nvSpPr>
            <p:spPr bwMode="auto">
              <a:xfrm>
                <a:off x="1764085" y="5548788"/>
                <a:ext cx="1656184" cy="849907"/>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6"/>
              <p:cNvSpPr txBox="1"/>
              <p:nvPr/>
            </p:nvSpPr>
            <p:spPr bwMode="auto">
              <a:xfrm>
                <a:off x="3779912" y="5590813"/>
                <a:ext cx="2952328" cy="853822"/>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𝑠</m:t>
                      </m:r>
                      <m:r>
                        <a:rPr lang="zh-CN" altLang="en-US" i="1" baseline="-25000">
                          <a:solidFill>
                            <a:srgbClr val="000000"/>
                          </a:solidFill>
                          <a:latin typeface="Cambria Math" panose="02040503050406030204" pitchFamily="18" charset="0"/>
                        </a:rPr>
                        <m:t>人对地</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𝑙</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𝑀𝑙</m:t>
                          </m:r>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den>
                      </m:f>
                    </m:oMath>
                  </m:oMathPara>
                </a14:m>
                <a:endParaRPr lang="zh-CN" altLang="en-US" dirty="0"/>
              </a:p>
            </p:txBody>
          </p:sp>
        </mc:Choice>
        <mc:Fallback xmlns="">
          <p:sp>
            <p:nvSpPr>
              <p:cNvPr id="12" name="Object 6"/>
              <p:cNvSpPr txBox="1">
                <a:spLocks noRot="1" noChangeAspect="1" noMove="1" noResize="1" noEditPoints="1" noAdjustHandles="1" noChangeArrowheads="1" noChangeShapeType="1" noTextEdit="1"/>
              </p:cNvSpPr>
              <p:nvPr/>
            </p:nvSpPr>
            <p:spPr bwMode="auto">
              <a:xfrm>
                <a:off x="3779912" y="5590813"/>
                <a:ext cx="2952328" cy="853822"/>
              </a:xfrm>
              <a:prstGeom prst="rect">
                <a:avLst/>
              </a:prstGeom>
              <a:blipFill>
                <a:blip r:embed="rId6"/>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705045642"/>
      </p:ext>
    </p:extLst>
  </p:cSld>
  <p:clrMapOvr>
    <a:masterClrMapping/>
  </p:clrMapOvr>
  <p:transition>
    <p:checke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431540" y="323534"/>
            <a:ext cx="1188132" cy="621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pPr>
            <a:r>
              <a:rPr lang="zh-CN" altLang="en-US" sz="2800" b="1">
                <a:solidFill>
                  <a:srgbClr val="FF0000"/>
                </a:solidFill>
              </a:rPr>
              <a:t>汽</a:t>
            </a:r>
            <a:endParaRPr lang="en-US" altLang="zh-CN" sz="2800" b="1">
              <a:solidFill>
                <a:srgbClr val="FF0000"/>
              </a:solidFill>
            </a:endParaRPr>
          </a:p>
          <a:p>
            <a:pPr>
              <a:spcBef>
                <a:spcPct val="20000"/>
              </a:spcBef>
            </a:pPr>
            <a:r>
              <a:rPr lang="zh-CN" altLang="en-US" sz="2800" b="1">
                <a:solidFill>
                  <a:srgbClr val="FF0000"/>
                </a:solidFill>
              </a:rPr>
              <a:t>车</a:t>
            </a:r>
            <a:endParaRPr lang="en-US" altLang="zh-CN" sz="2800" b="1">
              <a:solidFill>
                <a:srgbClr val="FF0000"/>
              </a:solidFill>
            </a:endParaRPr>
          </a:p>
          <a:p>
            <a:pPr>
              <a:spcBef>
                <a:spcPct val="20000"/>
              </a:spcBef>
            </a:pPr>
            <a:r>
              <a:rPr lang="zh-CN" altLang="en-US" sz="2800" b="1">
                <a:solidFill>
                  <a:srgbClr val="FF0000"/>
                </a:solidFill>
              </a:rPr>
              <a:t>相</a:t>
            </a:r>
            <a:endParaRPr lang="en-US" altLang="zh-CN" sz="2800" b="1">
              <a:solidFill>
                <a:srgbClr val="FF0000"/>
              </a:solidFill>
            </a:endParaRPr>
          </a:p>
          <a:p>
            <a:pPr>
              <a:spcBef>
                <a:spcPct val="20000"/>
              </a:spcBef>
            </a:pPr>
            <a:r>
              <a:rPr lang="zh-CN" altLang="en-US" sz="2800" b="1">
                <a:solidFill>
                  <a:srgbClr val="FF0000"/>
                </a:solidFill>
              </a:rPr>
              <a:t>撞</a:t>
            </a:r>
            <a:endParaRPr lang="en-US" altLang="zh-CN" sz="2800" b="1">
              <a:solidFill>
                <a:srgbClr val="FF0000"/>
              </a:solidFill>
            </a:endParaRPr>
          </a:p>
          <a:p>
            <a:pPr>
              <a:spcBef>
                <a:spcPct val="20000"/>
              </a:spcBef>
            </a:pPr>
            <a:r>
              <a:rPr lang="zh-CN" altLang="en-US" sz="2800" b="1">
                <a:solidFill>
                  <a:srgbClr val="FF0000"/>
                </a:solidFill>
              </a:rPr>
              <a:t>问</a:t>
            </a:r>
            <a:endParaRPr lang="en-US" altLang="zh-CN" sz="2800" b="1">
              <a:solidFill>
                <a:srgbClr val="FF0000"/>
              </a:solidFill>
            </a:endParaRPr>
          </a:p>
          <a:p>
            <a:pPr>
              <a:spcBef>
                <a:spcPct val="20000"/>
              </a:spcBef>
            </a:pPr>
            <a:r>
              <a:rPr lang="zh-CN" altLang="en-US" sz="2800" b="1">
                <a:solidFill>
                  <a:srgbClr val="FF0000"/>
                </a:solidFill>
              </a:rPr>
              <a:t>题</a:t>
            </a:r>
            <a:endParaRPr lang="en-US" altLang="zh-CN" sz="2800" b="1">
              <a:solidFill>
                <a:srgbClr val="FF0000"/>
              </a:solidFill>
            </a:endParaRPr>
          </a:p>
          <a:p>
            <a:pPr>
              <a:spcBef>
                <a:spcPct val="20000"/>
              </a:spcBef>
            </a:pPr>
            <a:r>
              <a:rPr lang="en-US" altLang="zh-CN" sz="2800" b="1">
                <a:solidFill>
                  <a:srgbClr val="FF0000"/>
                </a:solidFill>
              </a:rPr>
              <a:t>---</a:t>
            </a:r>
          </a:p>
          <a:p>
            <a:pPr>
              <a:spcBef>
                <a:spcPct val="20000"/>
              </a:spcBef>
            </a:pPr>
            <a:r>
              <a:rPr lang="zh-CN" altLang="en-US" sz="2800" b="1">
                <a:solidFill>
                  <a:srgbClr val="FF0000"/>
                </a:solidFill>
              </a:rPr>
              <a:t>谁</a:t>
            </a:r>
            <a:endParaRPr lang="en-US" altLang="zh-CN" sz="2800" b="1">
              <a:solidFill>
                <a:srgbClr val="FF0000"/>
              </a:solidFill>
            </a:endParaRPr>
          </a:p>
          <a:p>
            <a:pPr>
              <a:spcBef>
                <a:spcPct val="20000"/>
              </a:spcBef>
            </a:pPr>
            <a:r>
              <a:rPr lang="zh-CN" altLang="en-US" sz="2800" b="1">
                <a:solidFill>
                  <a:srgbClr val="FF0000"/>
                </a:solidFill>
              </a:rPr>
              <a:t>违</a:t>
            </a:r>
            <a:endParaRPr lang="en-US" altLang="zh-CN" sz="2800" b="1">
              <a:solidFill>
                <a:srgbClr val="FF0000"/>
              </a:solidFill>
            </a:endParaRPr>
          </a:p>
          <a:p>
            <a:pPr>
              <a:spcBef>
                <a:spcPct val="20000"/>
              </a:spcBef>
            </a:pPr>
            <a:r>
              <a:rPr lang="zh-CN" altLang="en-US" sz="2800" b="1">
                <a:solidFill>
                  <a:srgbClr val="FF0000"/>
                </a:solidFill>
              </a:rPr>
              <a:t>章</a:t>
            </a:r>
            <a:endParaRPr lang="en-US" altLang="zh-CN" sz="2800" b="1">
              <a:solidFill>
                <a:srgbClr val="FF0000"/>
              </a:solidFill>
            </a:endParaRPr>
          </a:p>
          <a:p>
            <a:pPr>
              <a:spcBef>
                <a:spcPct val="20000"/>
              </a:spcBef>
            </a:pPr>
            <a:r>
              <a:rPr lang="zh-CN" altLang="en-US" sz="2800" b="1">
                <a:solidFill>
                  <a:srgbClr val="FF0000"/>
                </a:solidFill>
              </a:rPr>
              <a:t>了</a:t>
            </a:r>
            <a:endParaRPr lang="en-US" altLang="zh-CN" sz="2800" b="1">
              <a:solidFill>
                <a:srgbClr val="FF0000"/>
              </a:solidFill>
            </a:endParaRPr>
          </a:p>
          <a:p>
            <a:pPr>
              <a:spcBef>
                <a:spcPct val="20000"/>
              </a:spcBef>
            </a:pPr>
            <a:r>
              <a:rPr lang="zh-CN" altLang="en-US" sz="2800" b="1">
                <a:solidFill>
                  <a:srgbClr val="FF0000"/>
                </a:solidFill>
              </a:rPr>
              <a:t>？</a:t>
            </a:r>
            <a:endParaRPr lang="zh-CN" altLang="en-US" sz="2800" b="1" dirty="0">
              <a:solidFill>
                <a:srgbClr val="FF0000"/>
              </a:solidFill>
            </a:endParaRPr>
          </a:p>
        </p:txBody>
      </p:sp>
      <p:pic>
        <p:nvPicPr>
          <p:cNvPr id="5" name="图片 4">
            <a:extLst>
              <a:ext uri="{FF2B5EF4-FFF2-40B4-BE49-F238E27FC236}">
                <a16:creationId xmlns:a16="http://schemas.microsoft.com/office/drawing/2014/main" id="{936B6970-3F96-443C-BAD7-9C727E4A4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92055"/>
            <a:ext cx="5900696" cy="7042109"/>
          </a:xfrm>
          <a:prstGeom prst="rect">
            <a:avLst/>
          </a:prstGeom>
        </p:spPr>
      </p:pic>
    </p:spTree>
    <p:extLst>
      <p:ext uri="{BB962C8B-B14F-4D97-AF65-F5344CB8AC3E}">
        <p14:creationId xmlns:p14="http://schemas.microsoft.com/office/powerpoint/2010/main" val="383712075"/>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07950" y="115888"/>
            <a:ext cx="88392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en-US" altLang="zh-CN" sz="2800" b="1" dirty="0"/>
              <a:t> </a:t>
            </a:r>
            <a:r>
              <a:rPr lang="zh-CN" altLang="en-US" sz="2800" b="1" dirty="0">
                <a:solidFill>
                  <a:srgbClr val="0000FF"/>
                </a:solidFill>
              </a:rPr>
              <a:t>例</a:t>
            </a:r>
            <a:r>
              <a:rPr lang="en-US" altLang="zh-CN" sz="2800" b="1" dirty="0">
                <a:solidFill>
                  <a:srgbClr val="0000FF"/>
                </a:solidFill>
              </a:rPr>
              <a:t>2</a:t>
            </a:r>
            <a:r>
              <a:rPr lang="en-US" altLang="zh-CN" sz="2800" b="1" dirty="0"/>
              <a:t>  </a:t>
            </a:r>
            <a:r>
              <a:rPr lang="zh-CN" altLang="en-US" sz="2800" b="1" dirty="0"/>
              <a:t>质量为</a:t>
            </a:r>
            <a:r>
              <a:rPr lang="en-US" altLang="zh-CN" sz="2800" b="1" i="1" dirty="0"/>
              <a:t>m</a:t>
            </a:r>
            <a:r>
              <a:rPr lang="en-US" altLang="zh-CN" sz="2800" b="1" baseline="-25000" dirty="0"/>
              <a:t>1</a:t>
            </a:r>
            <a:r>
              <a:rPr lang="en-US" altLang="zh-CN" sz="2800" b="1" dirty="0"/>
              <a:t> </a:t>
            </a:r>
            <a:r>
              <a:rPr lang="zh-CN" altLang="en-US" sz="2800" b="1" dirty="0"/>
              <a:t>和</a:t>
            </a:r>
            <a:r>
              <a:rPr lang="en-US" altLang="zh-CN" sz="2800" b="1" i="1" dirty="0"/>
              <a:t>m</a:t>
            </a:r>
            <a:r>
              <a:rPr lang="en-US" altLang="zh-CN" sz="2800" b="1" baseline="-25000" dirty="0"/>
              <a:t>2</a:t>
            </a:r>
            <a:r>
              <a:rPr lang="zh-CN" altLang="en-US" sz="2800" b="1" dirty="0"/>
              <a:t>的两个小孩，在光滑水平冰面上用绳彼此拉对方。开始时静止，相距为</a:t>
            </a:r>
            <a:r>
              <a:rPr lang="en-US" altLang="zh-CN" sz="2800" b="1" i="1" dirty="0"/>
              <a:t>l </a:t>
            </a:r>
            <a:r>
              <a:rPr lang="zh-CN" altLang="en-US" sz="2800" b="1" dirty="0"/>
              <a:t>。问他们将在何处相遇？</a:t>
            </a:r>
          </a:p>
        </p:txBody>
      </p:sp>
      <p:sp>
        <p:nvSpPr>
          <p:cNvPr id="35843" name="Text Box 3"/>
          <p:cNvSpPr txBox="1">
            <a:spLocks noChangeArrowheads="1"/>
          </p:cNvSpPr>
          <p:nvPr/>
        </p:nvSpPr>
        <p:spPr bwMode="auto">
          <a:xfrm>
            <a:off x="250825" y="1727200"/>
            <a:ext cx="47529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en-US" altLang="zh-CN" sz="2800" b="1"/>
              <a:t>       </a:t>
            </a:r>
            <a:r>
              <a:rPr lang="zh-CN" altLang="en-US" sz="2800" b="1"/>
              <a:t>把两个小孩和绳看作一个系统，水平方向动量守恒。</a:t>
            </a:r>
            <a:endParaRPr lang="zh-CN" altLang="en-US" sz="2800"/>
          </a:p>
        </p:txBody>
      </p:sp>
      <p:sp>
        <p:nvSpPr>
          <p:cNvPr id="35844" name="Text Box 4"/>
          <p:cNvSpPr txBox="1">
            <a:spLocks noChangeArrowheads="1"/>
          </p:cNvSpPr>
          <p:nvPr/>
        </p:nvSpPr>
        <p:spPr bwMode="auto">
          <a:xfrm>
            <a:off x="250825" y="2852738"/>
            <a:ext cx="471646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zh-CN" altLang="en-US" sz="2800" b="1"/>
              <a:t>任取两个小孩连线上一点为原点，向右为</a:t>
            </a:r>
            <a:r>
              <a:rPr lang="en-US" altLang="zh-CN" sz="2800" b="1" i="1"/>
              <a:t>x</a:t>
            </a:r>
            <a:r>
              <a:rPr lang="zh-CN" altLang="en-US" sz="2800" b="1"/>
              <a:t>轴为正向。</a:t>
            </a:r>
            <a:endParaRPr lang="zh-CN" altLang="en-US" sz="2800" b="1" baseline="-25000"/>
          </a:p>
        </p:txBody>
      </p:sp>
      <p:sp>
        <p:nvSpPr>
          <p:cNvPr id="35845" name="Rectangle 5"/>
          <p:cNvSpPr>
            <a:spLocks noChangeArrowheads="1"/>
          </p:cNvSpPr>
          <p:nvPr/>
        </p:nvSpPr>
        <p:spPr bwMode="auto">
          <a:xfrm>
            <a:off x="250825" y="1773238"/>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a:solidFill>
                  <a:srgbClr val="0000FF"/>
                </a:solidFill>
              </a:rPr>
              <a:t>解：</a:t>
            </a:r>
          </a:p>
        </p:txBody>
      </p:sp>
      <p:sp>
        <p:nvSpPr>
          <p:cNvPr id="35846" name="Rectangle 6"/>
          <p:cNvSpPr>
            <a:spLocks noChangeArrowheads="1"/>
          </p:cNvSpPr>
          <p:nvPr/>
        </p:nvSpPr>
        <p:spPr bwMode="auto">
          <a:xfrm>
            <a:off x="231775" y="3933825"/>
            <a:ext cx="85883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20000"/>
              </a:spcBef>
            </a:pPr>
            <a:r>
              <a:rPr lang="zh-CN" altLang="en-US" sz="2800" b="1"/>
              <a:t>设开始时小孩的坐标分别为</a:t>
            </a:r>
            <a:r>
              <a:rPr lang="en-US" altLang="zh-CN" sz="2800" b="1" i="1"/>
              <a:t>x</a:t>
            </a:r>
            <a:r>
              <a:rPr lang="en-US" altLang="zh-CN" sz="2800" b="1" baseline="-25000"/>
              <a:t>10</a:t>
            </a:r>
            <a:r>
              <a:rPr lang="zh-CN" altLang="en-US" sz="2800" b="1"/>
              <a:t>、</a:t>
            </a:r>
            <a:r>
              <a:rPr lang="en-US" altLang="zh-CN" sz="2800" b="1" i="1"/>
              <a:t>x</a:t>
            </a:r>
            <a:r>
              <a:rPr lang="en-US" altLang="zh-CN" sz="2800" b="1" baseline="-25000"/>
              <a:t>20</a:t>
            </a:r>
            <a:r>
              <a:rPr lang="zh-CN" altLang="en-US" sz="2800" b="1"/>
              <a:t>，</a:t>
            </a:r>
          </a:p>
          <a:p>
            <a:pPr>
              <a:lnSpc>
                <a:spcPct val="120000"/>
              </a:lnSpc>
              <a:spcBef>
                <a:spcPct val="20000"/>
              </a:spcBef>
            </a:pPr>
            <a:r>
              <a:rPr lang="zh-CN" altLang="en-US" sz="2800" b="1"/>
              <a:t>在任意时刻的速度分别</a:t>
            </a:r>
            <a:r>
              <a:rPr lang="en-US" altLang="zh-CN" sz="2800" b="1" i="1"/>
              <a:t>v</a:t>
            </a:r>
            <a:r>
              <a:rPr lang="en-US" altLang="zh-CN" sz="2800" b="1" baseline="-25000"/>
              <a:t>1</a:t>
            </a:r>
            <a:r>
              <a:rPr lang="zh-CN" altLang="en-US" sz="2800" b="1"/>
              <a:t>为</a:t>
            </a:r>
            <a:r>
              <a:rPr lang="en-US" altLang="zh-CN" sz="2800" b="1" i="1"/>
              <a:t>v</a:t>
            </a:r>
            <a:r>
              <a:rPr lang="en-US" altLang="zh-CN" sz="2800" b="1" baseline="-25000"/>
              <a:t>2</a:t>
            </a:r>
            <a:r>
              <a:rPr lang="zh-CN" altLang="en-US" sz="2800" b="1"/>
              <a:t>，坐标为</a:t>
            </a:r>
            <a:r>
              <a:rPr lang="en-US" altLang="zh-CN" sz="2800" b="1" i="1"/>
              <a:t>x</a:t>
            </a:r>
            <a:r>
              <a:rPr lang="en-US" altLang="zh-CN" sz="2800" b="1" baseline="-25000"/>
              <a:t>1</a:t>
            </a:r>
            <a:r>
              <a:rPr lang="zh-CN" altLang="en-US" sz="2800" b="1"/>
              <a:t>和</a:t>
            </a:r>
            <a:r>
              <a:rPr lang="en-US" altLang="zh-CN" sz="2800" b="1" i="1"/>
              <a:t>x</a:t>
            </a:r>
            <a:r>
              <a:rPr lang="en-US" altLang="zh-CN" sz="2800" b="1" baseline="-25000"/>
              <a:t>2</a:t>
            </a:r>
            <a:r>
              <a:rPr lang="zh-CN" altLang="en-US" sz="2800" b="1"/>
              <a:t>。</a:t>
            </a:r>
          </a:p>
        </p:txBody>
      </p:sp>
      <mc:AlternateContent xmlns:mc="http://schemas.openxmlformats.org/markup-compatibility/2006" xmlns:a14="http://schemas.microsoft.com/office/drawing/2010/main">
        <mc:Choice Requires="a14">
          <p:sp>
            <p:nvSpPr>
              <p:cNvPr id="35847" name="Object 2"/>
              <p:cNvSpPr txBox="1"/>
              <p:nvPr/>
            </p:nvSpPr>
            <p:spPr bwMode="auto">
              <a:xfrm>
                <a:off x="1852613" y="5497513"/>
                <a:ext cx="2844800" cy="9747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dirty="0"/>
              </a:p>
            </p:txBody>
          </p:sp>
        </mc:Choice>
        <mc:Fallback xmlns="">
          <p:sp>
            <p:nvSpPr>
              <p:cNvPr id="35847" name="Object 2"/>
              <p:cNvSpPr txBox="1">
                <a:spLocks noRot="1" noChangeAspect="1" noMove="1" noResize="1" noEditPoints="1" noAdjustHandles="1" noChangeArrowheads="1" noChangeShapeType="1" noTextEdit="1"/>
              </p:cNvSpPr>
              <p:nvPr/>
            </p:nvSpPr>
            <p:spPr bwMode="auto">
              <a:xfrm>
                <a:off x="1852613" y="5497513"/>
                <a:ext cx="2844800" cy="974725"/>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848" name="Object 3"/>
              <p:cNvSpPr txBox="1"/>
              <p:nvPr/>
            </p:nvSpPr>
            <p:spPr bwMode="auto">
              <a:xfrm>
                <a:off x="5508625" y="5481638"/>
                <a:ext cx="2735263" cy="9874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a:p>
            </p:txBody>
          </p:sp>
        </mc:Choice>
        <mc:Fallback xmlns="">
          <p:sp>
            <p:nvSpPr>
              <p:cNvPr id="35848" name="Object 3"/>
              <p:cNvSpPr txBox="1">
                <a:spLocks noRot="1" noChangeAspect="1" noMove="1" noResize="1" noEditPoints="1" noAdjustHandles="1" noChangeArrowheads="1" noChangeShapeType="1" noTextEdit="1"/>
              </p:cNvSpPr>
              <p:nvPr/>
            </p:nvSpPr>
            <p:spPr bwMode="auto">
              <a:xfrm>
                <a:off x="5508625" y="5481638"/>
                <a:ext cx="2735263" cy="987425"/>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35849" name="Text Box 9"/>
          <p:cNvSpPr txBox="1">
            <a:spLocks noChangeArrowheads="1"/>
          </p:cNvSpPr>
          <p:nvPr/>
        </p:nvSpPr>
        <p:spPr bwMode="auto">
          <a:xfrm>
            <a:off x="250825" y="5084763"/>
            <a:ext cx="3097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a:t>由运动学关系：</a:t>
            </a:r>
          </a:p>
        </p:txBody>
      </p:sp>
      <p:pic>
        <p:nvPicPr>
          <p:cNvPr id="35854" name="Picture 14" descr="图片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1628775"/>
            <a:ext cx="3816350"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99136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wipe(left)">
                                      <p:cBhvr>
                                        <p:cTn id="7" dur="500"/>
                                        <p:tgtEl>
                                          <p:spTgt spid="35842"/>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358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5845"/>
                                        </p:tgtEl>
                                        <p:attrNameLst>
                                          <p:attrName>style.visibility</p:attrName>
                                        </p:attrNameLst>
                                      </p:cBhvr>
                                      <p:to>
                                        <p:strVal val="visible"/>
                                      </p:to>
                                    </p:set>
                                    <p:animEffect transition="in" filter="wipe(left)">
                                      <p:cBhvr>
                                        <p:cTn id="15" dur="500"/>
                                        <p:tgtEl>
                                          <p:spTgt spid="3584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5843"/>
                                        </p:tgtEl>
                                        <p:attrNameLst>
                                          <p:attrName>style.visibility</p:attrName>
                                        </p:attrNameLst>
                                      </p:cBhvr>
                                      <p:to>
                                        <p:strVal val="visible"/>
                                      </p:to>
                                    </p:set>
                                    <p:animEffect transition="in" filter="wipe(left)">
                                      <p:cBhvr>
                                        <p:cTn id="20" dur="500"/>
                                        <p:tgtEl>
                                          <p:spTgt spid="3584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5844"/>
                                        </p:tgtEl>
                                        <p:attrNameLst>
                                          <p:attrName>style.visibility</p:attrName>
                                        </p:attrNameLst>
                                      </p:cBhvr>
                                      <p:to>
                                        <p:strVal val="visible"/>
                                      </p:to>
                                    </p:set>
                                    <p:animEffect transition="in" filter="wipe(left)">
                                      <p:cBhvr>
                                        <p:cTn id="25" dur="500"/>
                                        <p:tgtEl>
                                          <p:spTgt spid="3584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5849"/>
                                        </p:tgtEl>
                                        <p:attrNameLst>
                                          <p:attrName>style.visibility</p:attrName>
                                        </p:attrNameLst>
                                      </p:cBhvr>
                                      <p:to>
                                        <p:strVal val="visible"/>
                                      </p:to>
                                    </p:set>
                                    <p:animEffect transition="in" filter="wipe(left)">
                                      <p:cBhvr>
                                        <p:cTn id="35" dur="500"/>
                                        <p:tgtEl>
                                          <p:spTgt spid="3584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584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5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35843" grpId="0" autoUpdateAnimBg="0"/>
      <p:bldP spid="35844" grpId="0" autoUpdateAnimBg="0"/>
      <p:bldP spid="35845" grpId="0" autoUpdateAnimBg="0"/>
      <p:bldP spid="35846" grpId="0" autoUpdateAnimBg="0"/>
      <p:bldP spid="35847" grpId="0"/>
      <p:bldP spid="35848" grpId="0"/>
      <p:bldP spid="35849"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图片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1325" y="1268413"/>
            <a:ext cx="3443288"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6867" name="Object 2"/>
              <p:cNvSpPr txBox="1"/>
              <p:nvPr/>
            </p:nvSpPr>
            <p:spPr bwMode="auto">
              <a:xfrm>
                <a:off x="393700" y="1739900"/>
                <a:ext cx="4897438" cy="96043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dirty="0"/>
              </a:p>
            </p:txBody>
          </p:sp>
        </mc:Choice>
        <mc:Fallback xmlns="">
          <p:sp>
            <p:nvSpPr>
              <p:cNvPr id="36867" name="Object 2"/>
              <p:cNvSpPr txBox="1">
                <a:spLocks noRot="1" noChangeAspect="1" noMove="1" noResize="1" noEditPoints="1" noAdjustHandles="1" noChangeArrowheads="1" noChangeShapeType="1" noTextEdit="1"/>
              </p:cNvSpPr>
              <p:nvPr/>
            </p:nvSpPr>
            <p:spPr bwMode="auto">
              <a:xfrm>
                <a:off x="393700" y="1739900"/>
                <a:ext cx="4897438" cy="960438"/>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868" name="Object 3"/>
              <p:cNvSpPr txBox="1"/>
              <p:nvPr/>
            </p:nvSpPr>
            <p:spPr bwMode="auto">
              <a:xfrm>
                <a:off x="369702" y="205958"/>
                <a:ext cx="2844800" cy="9747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a:p>
            </p:txBody>
          </p:sp>
        </mc:Choice>
        <mc:Fallback xmlns="">
          <p:sp>
            <p:nvSpPr>
              <p:cNvPr id="36868" name="Object 3"/>
              <p:cNvSpPr txBox="1">
                <a:spLocks noRot="1" noChangeAspect="1" noMove="1" noResize="1" noEditPoints="1" noAdjustHandles="1" noChangeArrowheads="1" noChangeShapeType="1" noTextEdit="1"/>
              </p:cNvSpPr>
              <p:nvPr/>
            </p:nvSpPr>
            <p:spPr bwMode="auto">
              <a:xfrm>
                <a:off x="369702" y="205958"/>
                <a:ext cx="2844800" cy="974725"/>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869" name="Object 4"/>
              <p:cNvSpPr txBox="1"/>
              <p:nvPr/>
            </p:nvSpPr>
            <p:spPr bwMode="auto">
              <a:xfrm>
                <a:off x="3851275" y="203200"/>
                <a:ext cx="2592388" cy="936625"/>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a:p>
            </p:txBody>
          </p:sp>
        </mc:Choice>
        <mc:Fallback xmlns="">
          <p:sp>
            <p:nvSpPr>
              <p:cNvPr id="36869" name="Object 4"/>
              <p:cNvSpPr txBox="1">
                <a:spLocks noRot="1" noChangeAspect="1" noMove="1" noResize="1" noEditPoints="1" noAdjustHandles="1" noChangeArrowheads="1" noChangeShapeType="1" noTextEdit="1"/>
              </p:cNvSpPr>
              <p:nvPr/>
            </p:nvSpPr>
            <p:spPr bwMode="auto">
              <a:xfrm>
                <a:off x="3851275" y="203200"/>
                <a:ext cx="2592388" cy="936625"/>
              </a:xfrm>
              <a:prstGeom prst="rect">
                <a:avLst/>
              </a:prstGeom>
              <a:blipFill>
                <a:blip r:embed="rId5"/>
                <a:stretch>
                  <a:fillRect/>
                </a:stretch>
              </a:blipFill>
              <a:ln>
                <a:noFill/>
              </a:ln>
              <a:effectLst/>
              <a:extLst/>
            </p:spPr>
            <p:txBody>
              <a:bodyPr/>
              <a:lstStyle/>
              <a:p>
                <a:r>
                  <a:rPr lang="zh-CN" altLang="en-US">
                    <a:noFill/>
                  </a:rPr>
                  <a:t> </a:t>
                </a:r>
              </a:p>
            </p:txBody>
          </p:sp>
        </mc:Fallback>
      </mc:AlternateContent>
      <p:sp>
        <p:nvSpPr>
          <p:cNvPr id="36870" name="Rectangle 6"/>
          <p:cNvSpPr>
            <a:spLocks noChangeArrowheads="1"/>
          </p:cNvSpPr>
          <p:nvPr/>
        </p:nvSpPr>
        <p:spPr bwMode="auto">
          <a:xfrm>
            <a:off x="323850" y="1268413"/>
            <a:ext cx="2879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dirty="0"/>
              <a:t>相遇时：</a:t>
            </a:r>
            <a:r>
              <a:rPr lang="en-US" altLang="zh-CN" sz="2800" b="1" i="1" dirty="0"/>
              <a:t>x</a:t>
            </a:r>
            <a:r>
              <a:rPr lang="en-US" altLang="zh-CN" sz="2800" b="1" baseline="-25000" dirty="0"/>
              <a:t>1</a:t>
            </a:r>
            <a:r>
              <a:rPr lang="en-US" altLang="zh-CN" sz="2800" b="1" dirty="0"/>
              <a:t>=</a:t>
            </a:r>
            <a:r>
              <a:rPr lang="en-US" altLang="zh-CN" sz="2800" b="1" i="1" dirty="0"/>
              <a:t>x</a:t>
            </a:r>
            <a:r>
              <a:rPr lang="en-US" altLang="zh-CN" sz="2800" b="1" baseline="-25000" dirty="0"/>
              <a:t>2</a:t>
            </a:r>
            <a:endParaRPr lang="en-US" altLang="zh-CN" sz="2800" b="1" dirty="0"/>
          </a:p>
        </p:txBody>
      </p:sp>
      <mc:AlternateContent xmlns:mc="http://schemas.openxmlformats.org/markup-compatibility/2006" xmlns:a14="http://schemas.microsoft.com/office/drawing/2010/main">
        <mc:Choice Requires="a14">
          <p:sp>
            <p:nvSpPr>
              <p:cNvPr id="36871" name="Object 5"/>
              <p:cNvSpPr txBox="1"/>
              <p:nvPr/>
            </p:nvSpPr>
            <p:spPr bwMode="auto">
              <a:xfrm>
                <a:off x="915988" y="3729038"/>
                <a:ext cx="8029575" cy="113188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oMath>
                  </m:oMathPara>
                </a14:m>
                <a:endParaRPr lang="zh-CN" altLang="en-US" dirty="0"/>
              </a:p>
            </p:txBody>
          </p:sp>
        </mc:Choice>
        <mc:Fallback xmlns="">
          <p:sp>
            <p:nvSpPr>
              <p:cNvPr id="36871" name="Object 5"/>
              <p:cNvSpPr txBox="1">
                <a:spLocks noRot="1" noChangeAspect="1" noMove="1" noResize="1" noEditPoints="1" noAdjustHandles="1" noChangeArrowheads="1" noChangeShapeType="1" noTextEdit="1"/>
              </p:cNvSpPr>
              <p:nvPr/>
            </p:nvSpPr>
            <p:spPr bwMode="auto">
              <a:xfrm>
                <a:off x="915988" y="3729038"/>
                <a:ext cx="8029575" cy="1131887"/>
              </a:xfrm>
              <a:prstGeom prst="rect">
                <a:avLst/>
              </a:prstGeom>
              <a:blipFill>
                <a:blip r:embed="rId6"/>
                <a:stretch>
                  <a:fillRect/>
                </a:stretch>
              </a:blipFill>
              <a:ln>
                <a:noFill/>
              </a:ln>
              <a:effectLst/>
              <a:extLst/>
            </p:spPr>
            <p:txBody>
              <a:bodyPr/>
              <a:lstStyle/>
              <a:p>
                <a:r>
                  <a:rPr lang="zh-CN" altLang="en-US">
                    <a:noFill/>
                  </a:rPr>
                  <a:t> </a:t>
                </a:r>
              </a:p>
            </p:txBody>
          </p:sp>
        </mc:Fallback>
      </mc:AlternateContent>
      <p:sp>
        <p:nvSpPr>
          <p:cNvPr id="36872" name="Rectangle 8"/>
          <p:cNvSpPr>
            <a:spLocks noChangeArrowheads="1"/>
          </p:cNvSpPr>
          <p:nvPr/>
        </p:nvSpPr>
        <p:spPr bwMode="auto">
          <a:xfrm>
            <a:off x="309563" y="2808288"/>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2800" b="1"/>
              <a:t>由动量守恒：</a:t>
            </a:r>
          </a:p>
        </p:txBody>
      </p:sp>
      <mc:AlternateContent xmlns:mc="http://schemas.openxmlformats.org/markup-compatibility/2006" xmlns:a14="http://schemas.microsoft.com/office/drawing/2010/main">
        <mc:Choice Requires="a14">
          <p:sp>
            <p:nvSpPr>
              <p:cNvPr id="36873" name="Object 6"/>
              <p:cNvSpPr txBox="1"/>
              <p:nvPr/>
            </p:nvSpPr>
            <p:spPr bwMode="auto">
              <a:xfrm>
                <a:off x="2482850" y="2808288"/>
                <a:ext cx="2736850" cy="62071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36873" name="Object 6"/>
              <p:cNvSpPr txBox="1">
                <a:spLocks noRot="1" noChangeAspect="1" noMove="1" noResize="1" noEditPoints="1" noAdjustHandles="1" noChangeArrowheads="1" noChangeShapeType="1" noTextEdit="1"/>
              </p:cNvSpPr>
              <p:nvPr/>
            </p:nvSpPr>
            <p:spPr bwMode="auto">
              <a:xfrm>
                <a:off x="2482850" y="2808288"/>
                <a:ext cx="2736850" cy="620712"/>
              </a:xfrm>
              <a:prstGeom prst="rect">
                <a:avLst/>
              </a:prstGeom>
              <a:blipFill>
                <a:blip r:embed="rId7"/>
                <a:stretch>
                  <a:fillRect/>
                </a:stretch>
              </a:blipFill>
              <a:ln>
                <a:noFill/>
              </a:ln>
              <a:effectLst/>
              <a:extLst/>
            </p:spPr>
            <p:txBody>
              <a:bodyPr/>
              <a:lstStyle/>
              <a:p>
                <a:r>
                  <a:rPr lang="zh-CN" altLang="en-US">
                    <a:noFill/>
                  </a:rPr>
                  <a:t> </a:t>
                </a:r>
              </a:p>
            </p:txBody>
          </p:sp>
        </mc:Fallback>
      </mc:AlternateContent>
      <p:sp>
        <p:nvSpPr>
          <p:cNvPr id="36874" name="AutoShape 10"/>
          <p:cNvSpPr>
            <a:spLocks noChangeArrowheads="1"/>
          </p:cNvSpPr>
          <p:nvPr/>
        </p:nvSpPr>
        <p:spPr bwMode="auto">
          <a:xfrm>
            <a:off x="323850" y="4160838"/>
            <a:ext cx="576263" cy="144462"/>
          </a:xfrm>
          <a:prstGeom prst="rightArrow">
            <a:avLst>
              <a:gd name="adj1" fmla="val 50000"/>
              <a:gd name="adj2" fmla="val 99726"/>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36875" name="Object 7"/>
              <p:cNvSpPr txBox="1"/>
              <p:nvPr/>
            </p:nvSpPr>
            <p:spPr bwMode="auto">
              <a:xfrm>
                <a:off x="971550" y="5133975"/>
                <a:ext cx="4392613" cy="11747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oMath>
                  </m:oMathPara>
                </a14:m>
                <a:endParaRPr lang="zh-CN" altLang="en-US" dirty="0"/>
              </a:p>
            </p:txBody>
          </p:sp>
        </mc:Choice>
        <mc:Fallback xmlns="">
          <p:sp>
            <p:nvSpPr>
              <p:cNvPr id="36875" name="Object 7"/>
              <p:cNvSpPr txBox="1">
                <a:spLocks noRot="1" noChangeAspect="1" noMove="1" noResize="1" noEditPoints="1" noAdjustHandles="1" noChangeArrowheads="1" noChangeShapeType="1" noTextEdit="1"/>
              </p:cNvSpPr>
              <p:nvPr/>
            </p:nvSpPr>
            <p:spPr bwMode="auto">
              <a:xfrm>
                <a:off x="971550" y="5133975"/>
                <a:ext cx="4392613" cy="1174750"/>
              </a:xfrm>
              <a:prstGeom prst="rect">
                <a:avLst/>
              </a:prstGeom>
              <a:blipFill>
                <a:blip r:embed="rId8"/>
                <a:stretch>
                  <a:fillRect/>
                </a:stretch>
              </a:blipFill>
              <a:ln>
                <a:noFill/>
              </a:ln>
              <a:effectLst/>
              <a:extLst/>
            </p:spPr>
            <p:txBody>
              <a:bodyPr/>
              <a:lstStyle/>
              <a:p>
                <a:r>
                  <a:rPr lang="zh-CN" altLang="en-US">
                    <a:noFill/>
                  </a:rPr>
                  <a:t> </a:t>
                </a:r>
              </a:p>
            </p:txBody>
          </p:sp>
        </mc:Fallback>
      </mc:AlternateContent>
      <p:sp>
        <p:nvSpPr>
          <p:cNvPr id="36876" name="AutoShape 12"/>
          <p:cNvSpPr>
            <a:spLocks noChangeArrowheads="1"/>
          </p:cNvSpPr>
          <p:nvPr/>
        </p:nvSpPr>
        <p:spPr bwMode="auto">
          <a:xfrm>
            <a:off x="323850" y="5529263"/>
            <a:ext cx="576263" cy="144462"/>
          </a:xfrm>
          <a:prstGeom prst="rightArrow">
            <a:avLst>
              <a:gd name="adj1" fmla="val 50000"/>
              <a:gd name="adj2" fmla="val 99726"/>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p:sp>
        <p:nvSpPr>
          <p:cNvPr id="36877" name="AutoShape 13"/>
          <p:cNvSpPr>
            <a:spLocks/>
          </p:cNvSpPr>
          <p:nvPr/>
        </p:nvSpPr>
        <p:spPr bwMode="auto">
          <a:xfrm>
            <a:off x="5219700" y="2205038"/>
            <a:ext cx="144463" cy="863600"/>
          </a:xfrm>
          <a:prstGeom prst="rightBrace">
            <a:avLst>
              <a:gd name="adj1" fmla="val 49817"/>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en-US" altLang="zh-CN"/>
          </a:p>
        </p:txBody>
      </p:sp>
      <p:sp>
        <p:nvSpPr>
          <p:cNvPr id="36878" name="Text Box 14"/>
          <p:cNvSpPr txBox="1">
            <a:spLocks noChangeArrowheads="1"/>
          </p:cNvSpPr>
          <p:nvPr/>
        </p:nvSpPr>
        <p:spPr bwMode="auto">
          <a:xfrm>
            <a:off x="7019925" y="476250"/>
            <a:ext cx="1073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a:t>（</a:t>
            </a:r>
            <a:r>
              <a:rPr lang="en-US" altLang="zh-CN" sz="2800" b="1"/>
              <a:t>1</a:t>
            </a:r>
            <a:r>
              <a:rPr lang="zh-CN" altLang="en-US" sz="2800" b="1"/>
              <a:t>）</a:t>
            </a:r>
          </a:p>
        </p:txBody>
      </p:sp>
      <p:sp>
        <p:nvSpPr>
          <p:cNvPr id="36879" name="Rectangle 15"/>
          <p:cNvSpPr>
            <a:spLocks noChangeArrowheads="1"/>
          </p:cNvSpPr>
          <p:nvPr/>
        </p:nvSpPr>
        <p:spPr bwMode="auto">
          <a:xfrm>
            <a:off x="5651500" y="5456238"/>
            <a:ext cx="3109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a:t>代入式（</a:t>
            </a:r>
            <a:r>
              <a:rPr lang="en-US" altLang="zh-CN" sz="2800" b="1"/>
              <a:t>1</a:t>
            </a:r>
            <a:r>
              <a:rPr lang="zh-CN" altLang="en-US" sz="2800" b="1"/>
              <a:t>）得</a:t>
            </a:r>
          </a:p>
        </p:txBody>
      </p:sp>
    </p:spTree>
    <p:extLst>
      <p:ext uri="{BB962C8B-B14F-4D97-AF65-F5344CB8AC3E}">
        <p14:creationId xmlns:p14="http://schemas.microsoft.com/office/powerpoint/2010/main" val="1799853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nodeType="afterEffect">
                                  <p:stCondLst>
                                    <p:cond delay="0"/>
                                  </p:stCondLst>
                                  <p:childTnLst>
                                    <p:set>
                                      <p:cBhvr>
                                        <p:cTn id="6" dur="1" fill="hold">
                                          <p:stCondLst>
                                            <p:cond delay="0"/>
                                          </p:stCondLst>
                                        </p:cTn>
                                        <p:tgtEl>
                                          <p:spTgt spid="368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8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6870"/>
                                        </p:tgtEl>
                                        <p:attrNameLst>
                                          <p:attrName>style.visibility</p:attrName>
                                        </p:attrNameLst>
                                      </p:cBhvr>
                                      <p:to>
                                        <p:strVal val="visible"/>
                                      </p:to>
                                    </p:set>
                                    <p:animEffect transition="in" filter="wipe(left)">
                                      <p:cBhvr>
                                        <p:cTn id="19" dur="500"/>
                                        <p:tgtEl>
                                          <p:spTgt spid="3687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686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6872"/>
                                        </p:tgtEl>
                                        <p:attrNameLst>
                                          <p:attrName>style.visibility</p:attrName>
                                        </p:attrNameLst>
                                      </p:cBhvr>
                                      <p:to>
                                        <p:strVal val="visible"/>
                                      </p:to>
                                    </p:set>
                                    <p:animEffect transition="in" filter="wipe(left)">
                                      <p:cBhvr>
                                        <p:cTn id="28" dur="500"/>
                                        <p:tgtEl>
                                          <p:spTgt spid="3687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87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6877"/>
                                        </p:tgtEl>
                                        <p:attrNameLst>
                                          <p:attrName>style.visibility</p:attrName>
                                        </p:attrNameLst>
                                      </p:cBhvr>
                                      <p:to>
                                        <p:strVal val="visible"/>
                                      </p:to>
                                    </p:set>
                                    <p:animEffect transition="in" filter="wipe(left)">
                                      <p:cBhvr>
                                        <p:cTn id="37" dur="500"/>
                                        <p:tgtEl>
                                          <p:spTgt spid="3687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6874"/>
                                        </p:tgtEl>
                                        <p:attrNameLst>
                                          <p:attrName>style.visibility</p:attrName>
                                        </p:attrNameLst>
                                      </p:cBhvr>
                                      <p:to>
                                        <p:strVal val="visible"/>
                                      </p:to>
                                    </p:set>
                                    <p:animEffect transition="in" filter="wipe(left)">
                                      <p:cBhvr>
                                        <p:cTn id="42" dur="500"/>
                                        <p:tgtEl>
                                          <p:spTgt spid="3687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87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6876"/>
                                        </p:tgtEl>
                                        <p:attrNameLst>
                                          <p:attrName>style.visibility</p:attrName>
                                        </p:attrNameLst>
                                      </p:cBhvr>
                                      <p:to>
                                        <p:strVal val="visible"/>
                                      </p:to>
                                    </p:set>
                                    <p:animEffect transition="in" filter="wipe(left)">
                                      <p:cBhvr>
                                        <p:cTn id="51" dur="500"/>
                                        <p:tgtEl>
                                          <p:spTgt spid="3687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687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6879"/>
                                        </p:tgtEl>
                                        <p:attrNameLst>
                                          <p:attrName>style.visibility</p:attrName>
                                        </p:attrNameLst>
                                      </p:cBhvr>
                                      <p:to>
                                        <p:strVal val="visible"/>
                                      </p:to>
                                    </p:set>
                                    <p:animEffect transition="in" filter="wipe(left)">
                                      <p:cBhvr>
                                        <p:cTn id="60" dur="500"/>
                                        <p:tgtEl>
                                          <p:spTgt spid="36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p:bldP spid="36868" grpId="0"/>
      <p:bldP spid="36869" grpId="0"/>
      <p:bldP spid="36870" grpId="0" autoUpdateAnimBg="0"/>
      <p:bldP spid="36871" grpId="0"/>
      <p:bldP spid="36872" grpId="0"/>
      <p:bldP spid="36873" grpId="0"/>
      <p:bldP spid="36874" grpId="0" animBg="1"/>
      <p:bldP spid="36875" grpId="0"/>
      <p:bldP spid="36876" grpId="0" animBg="1"/>
      <p:bldP spid="36877" grpId="0" animBg="1"/>
      <p:bldP spid="36878" grpId="0"/>
      <p:bldP spid="36879"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890" name="Object 2"/>
              <p:cNvSpPr txBox="1"/>
              <p:nvPr/>
            </p:nvSpPr>
            <p:spPr bwMode="auto">
              <a:xfrm>
                <a:off x="1187450" y="28575"/>
                <a:ext cx="6907213" cy="1049338"/>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xmlns="">
          <p:sp>
            <p:nvSpPr>
              <p:cNvPr id="37890" name="Object 2"/>
              <p:cNvSpPr txBox="1">
                <a:spLocks noRot="1" noChangeAspect="1" noMove="1" noResize="1" noEditPoints="1" noAdjustHandles="1" noChangeArrowheads="1" noChangeShapeType="1" noTextEdit="1"/>
              </p:cNvSpPr>
              <p:nvPr/>
            </p:nvSpPr>
            <p:spPr bwMode="auto">
              <a:xfrm>
                <a:off x="1187450" y="28575"/>
                <a:ext cx="6907213" cy="1049338"/>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37891" name="Rectangle 3"/>
          <p:cNvSpPr>
            <a:spLocks noChangeArrowheads="1"/>
          </p:cNvSpPr>
          <p:nvPr/>
        </p:nvSpPr>
        <p:spPr bwMode="auto">
          <a:xfrm>
            <a:off x="323850" y="5543550"/>
            <a:ext cx="860425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20000"/>
              </a:spcBef>
            </a:pPr>
            <a:r>
              <a:rPr lang="zh-CN" altLang="en-US" b="1"/>
              <a:t>结果表明，两小孩在纯内力作用下，将在他们共同的质心相遇。上述结果也可直接由质心运动定律求出。</a:t>
            </a:r>
          </a:p>
        </p:txBody>
      </p:sp>
      <mc:AlternateContent xmlns:mc="http://schemas.openxmlformats.org/markup-compatibility/2006" xmlns:a14="http://schemas.microsoft.com/office/drawing/2010/main">
        <mc:Choice Requires="a14">
          <p:sp>
            <p:nvSpPr>
              <p:cNvPr id="37892" name="Object 3"/>
              <p:cNvSpPr txBox="1"/>
              <p:nvPr/>
            </p:nvSpPr>
            <p:spPr bwMode="auto">
              <a:xfrm>
                <a:off x="323850" y="4333875"/>
                <a:ext cx="4032251" cy="895326"/>
              </a:xfrm>
              <a:prstGeom prst="rect">
                <a:avLst/>
              </a:prstGeom>
              <a:noFill/>
              <a:ln>
                <a:noFill/>
              </a:ln>
              <a:effectLst/>
              <a:extLst/>
            </p:spPr>
            <p:txBody>
              <a:bodyPr>
                <a:normAutofit fontScale="92500"/>
              </a:bodyPr>
              <a:lstStyle/>
              <a:p>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𝐶</m:t>
                        </m:r>
                      </m:sub>
                    </m:sSub>
                  </m:oMath>
                </a14:m>
                <a:r>
                  <a:rPr lang="en-US" altLang="zh-CN" sz="2800" dirty="0"/>
                  <a:t>=</a:t>
                </a:r>
                <a:r>
                  <a:rPr lang="zh-CN" altLang="en-US" sz="2800">
                    <a:solidFill>
                      <a:srgbClr val="000000"/>
                    </a:solidFill>
                  </a:rPr>
                  <a:t> </a:t>
                </a:r>
                <a14:m>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20</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10</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2</m:t>
                            </m:r>
                          </m:sub>
                        </m:sSub>
                      </m:den>
                    </m:f>
                  </m:oMath>
                </a14:m>
                <a:endParaRPr lang="zh-CN" altLang="en-US" sz="2800" dirty="0"/>
              </a:p>
            </p:txBody>
          </p:sp>
        </mc:Choice>
        <mc:Fallback xmlns="">
          <p:sp>
            <p:nvSpPr>
              <p:cNvPr id="37892" name="Object 3"/>
              <p:cNvSpPr txBox="1">
                <a:spLocks noRot="1" noChangeAspect="1" noMove="1" noResize="1" noEditPoints="1" noAdjustHandles="1" noChangeArrowheads="1" noChangeShapeType="1" noTextEdit="1"/>
              </p:cNvSpPr>
              <p:nvPr/>
            </p:nvSpPr>
            <p:spPr bwMode="auto">
              <a:xfrm>
                <a:off x="323850" y="4333875"/>
                <a:ext cx="4032251" cy="895326"/>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37893" name="Rectangle 5"/>
          <p:cNvSpPr>
            <a:spLocks noChangeArrowheads="1"/>
          </p:cNvSpPr>
          <p:nvPr/>
        </p:nvSpPr>
        <p:spPr bwMode="auto">
          <a:xfrm>
            <a:off x="611188" y="3716338"/>
            <a:ext cx="2592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a:t>相遇时有 </a:t>
            </a:r>
          </a:p>
        </p:txBody>
      </p:sp>
      <p:pic>
        <p:nvPicPr>
          <p:cNvPr id="37898" name="Picture 10" descr="图片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3440113"/>
            <a:ext cx="3730625"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对象 1"/>
              <p:cNvSpPr txBox="1"/>
              <p:nvPr/>
            </p:nvSpPr>
            <p:spPr bwMode="auto">
              <a:xfrm>
                <a:off x="1187450" y="2336800"/>
                <a:ext cx="6916738" cy="10922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xmlns="">
          <p:sp>
            <p:nvSpPr>
              <p:cNvPr id="2" name="对象 1"/>
              <p:cNvSpPr txBox="1">
                <a:spLocks noRot="1" noChangeAspect="1" noMove="1" noResize="1" noEditPoints="1" noAdjustHandles="1" noChangeArrowheads="1" noChangeShapeType="1" noTextEdit="1"/>
              </p:cNvSpPr>
              <p:nvPr/>
            </p:nvSpPr>
            <p:spPr bwMode="auto">
              <a:xfrm>
                <a:off x="1187450" y="2336800"/>
                <a:ext cx="6916738" cy="1092200"/>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对象 2"/>
              <p:cNvSpPr txBox="1"/>
              <p:nvPr/>
            </p:nvSpPr>
            <p:spPr bwMode="auto">
              <a:xfrm>
                <a:off x="1149350" y="1196975"/>
                <a:ext cx="1968500" cy="11303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3" name="对象 2"/>
              <p:cNvSpPr txBox="1">
                <a:spLocks noRot="1" noChangeAspect="1" noMove="1" noResize="1" noEditPoints="1" noAdjustHandles="1" noChangeArrowheads="1" noChangeShapeType="1" noTextEdit="1"/>
              </p:cNvSpPr>
              <p:nvPr/>
            </p:nvSpPr>
            <p:spPr bwMode="auto">
              <a:xfrm>
                <a:off x="1149350" y="1196975"/>
                <a:ext cx="1968500" cy="113030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p:cNvSpPr txBox="1"/>
              <p:nvPr/>
            </p:nvSpPr>
            <p:spPr bwMode="auto">
              <a:xfrm>
                <a:off x="3325813" y="1327150"/>
                <a:ext cx="4559300" cy="806450"/>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𝑡</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20</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xmlns="">
          <p:sp>
            <p:nvSpPr>
              <p:cNvPr id="4" name="对象 3"/>
              <p:cNvSpPr txBox="1">
                <a:spLocks noRot="1" noChangeAspect="1" noMove="1" noResize="1" noEditPoints="1" noAdjustHandles="1" noChangeArrowheads="1" noChangeShapeType="1" noTextEdit="1"/>
              </p:cNvSpPr>
              <p:nvPr/>
            </p:nvSpPr>
            <p:spPr bwMode="auto">
              <a:xfrm>
                <a:off x="3325813" y="1327150"/>
                <a:ext cx="4559300" cy="806450"/>
              </a:xfrm>
              <a:prstGeom prst="rect">
                <a:avLst/>
              </a:prstGeom>
              <a:blipFill>
                <a:blip r:embed="rId7"/>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2688446259"/>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378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7893"/>
                                        </p:tgtEl>
                                        <p:attrNameLst>
                                          <p:attrName>style.visibility</p:attrName>
                                        </p:attrNameLst>
                                      </p:cBhvr>
                                      <p:to>
                                        <p:strVal val="visible"/>
                                      </p:to>
                                    </p:set>
                                    <p:animEffect transition="in" filter="wipe(left)">
                                      <p:cBhvr>
                                        <p:cTn id="11" dur="500"/>
                                        <p:tgtEl>
                                          <p:spTgt spid="3789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789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7891"/>
                                        </p:tgtEl>
                                        <p:attrNameLst>
                                          <p:attrName>style.visibility</p:attrName>
                                        </p:attrNameLst>
                                      </p:cBhvr>
                                      <p:to>
                                        <p:strVal val="visible"/>
                                      </p:to>
                                    </p:set>
                                    <p:animEffect transition="in" filter="wipe(left)">
                                      <p:cBhvr>
                                        <p:cTn id="20"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P spid="37892" grpId="0"/>
      <p:bldP spid="3789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250825" y="115888"/>
            <a:ext cx="85344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50000"/>
              </a:spcBef>
            </a:pPr>
            <a:r>
              <a:rPr lang="zh-CN" altLang="en-US" sz="2800" b="1" dirty="0">
                <a:solidFill>
                  <a:srgbClr val="0000FF"/>
                </a:solidFill>
              </a:rPr>
              <a:t>例</a:t>
            </a:r>
            <a:r>
              <a:rPr lang="en-US" altLang="zh-CN" sz="2800" b="1" dirty="0">
                <a:solidFill>
                  <a:srgbClr val="0000FF"/>
                </a:solidFill>
              </a:rPr>
              <a:t>3  </a:t>
            </a:r>
            <a:r>
              <a:rPr lang="en-US" altLang="zh-CN" sz="2800" b="1" dirty="0"/>
              <a:t> </a:t>
            </a:r>
            <a:r>
              <a:rPr lang="zh-CN" altLang="en-US" sz="2800" b="1" dirty="0"/>
              <a:t>如图所示</a:t>
            </a:r>
            <a:r>
              <a:rPr lang="en-US" altLang="zh-CN" sz="2800" b="1" dirty="0"/>
              <a:t>,</a:t>
            </a:r>
            <a:r>
              <a:rPr lang="zh-CN" altLang="en-US" sz="2800" b="1" dirty="0"/>
              <a:t>设炮车以仰角</a:t>
            </a:r>
            <a:r>
              <a:rPr lang="zh-CN" altLang="en-US" sz="2800" b="1" i="1" dirty="0">
                <a:sym typeface="Symbol" pitchFamily="18" charset="2"/>
              </a:rPr>
              <a:t> </a:t>
            </a:r>
            <a:r>
              <a:rPr lang="zh-CN" altLang="en-US" sz="2800" b="1" dirty="0"/>
              <a:t>发射一炮弹，炮车和炮弹的质量分别为</a:t>
            </a:r>
            <a:r>
              <a:rPr lang="en-US" altLang="zh-CN" sz="2800" b="1" i="1" dirty="0"/>
              <a:t>m</a:t>
            </a:r>
            <a:r>
              <a:rPr lang="en-US" altLang="zh-CN" sz="2800" b="1" i="1" dirty="0">
                <a:cs typeface="Times New Roman" pitchFamily="18" charset="0"/>
              </a:rPr>
              <a:t>'</a:t>
            </a:r>
            <a:r>
              <a:rPr lang="en-US" altLang="zh-CN" sz="2800" b="1" i="1" dirty="0"/>
              <a:t> </a:t>
            </a:r>
            <a:r>
              <a:rPr lang="zh-CN" altLang="en-US" sz="2800" b="1" dirty="0"/>
              <a:t>和</a:t>
            </a:r>
            <a:r>
              <a:rPr lang="en-US" altLang="zh-CN" sz="2800" b="1" i="1" dirty="0"/>
              <a:t>m </a:t>
            </a:r>
            <a:r>
              <a:rPr lang="zh-CN" altLang="en-US" sz="2800" b="1" dirty="0"/>
              <a:t>，炮弹的出口速度为</a:t>
            </a:r>
            <a:r>
              <a:rPr lang="en-US" altLang="zh-CN" sz="2800" b="1" i="1" dirty="0"/>
              <a:t>v</a:t>
            </a:r>
            <a:r>
              <a:rPr lang="zh-CN" altLang="en-US" sz="2800" b="1" dirty="0"/>
              <a:t>，求炮车的反冲速度</a:t>
            </a:r>
            <a:r>
              <a:rPr lang="en-US" altLang="zh-CN" sz="2800" b="1" i="1" dirty="0"/>
              <a:t>v'</a:t>
            </a:r>
            <a:r>
              <a:rPr lang="zh-CN" altLang="en-US" sz="2800" b="1" dirty="0"/>
              <a:t>。炮车与地面间的摩擦力不计。</a:t>
            </a:r>
          </a:p>
        </p:txBody>
      </p:sp>
      <p:sp>
        <p:nvSpPr>
          <p:cNvPr id="31747" name="Rectangle 3"/>
          <p:cNvSpPr>
            <a:spLocks noChangeArrowheads="1"/>
          </p:cNvSpPr>
          <p:nvPr/>
        </p:nvSpPr>
        <p:spPr bwMode="auto">
          <a:xfrm>
            <a:off x="323850" y="4149725"/>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2800" b="1">
                <a:solidFill>
                  <a:srgbClr val="0000FF"/>
                </a:solidFill>
              </a:rPr>
              <a:t>解：</a:t>
            </a:r>
          </a:p>
        </p:txBody>
      </p:sp>
      <p:sp>
        <p:nvSpPr>
          <p:cNvPr id="31748" name="Text Box 4"/>
          <p:cNvSpPr txBox="1">
            <a:spLocks noChangeArrowheads="1"/>
          </p:cNvSpPr>
          <p:nvPr/>
        </p:nvSpPr>
        <p:spPr bwMode="auto">
          <a:xfrm>
            <a:off x="971550" y="4149725"/>
            <a:ext cx="446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sz="2800" b="1"/>
              <a:t>选取炮车和炮弹组成系统</a:t>
            </a:r>
          </a:p>
        </p:txBody>
      </p:sp>
      <p:sp>
        <p:nvSpPr>
          <p:cNvPr id="31749" name="Text Box 5"/>
          <p:cNvSpPr txBox="1">
            <a:spLocks noChangeArrowheads="1"/>
          </p:cNvSpPr>
          <p:nvPr/>
        </p:nvSpPr>
        <p:spPr bwMode="auto">
          <a:xfrm>
            <a:off x="971550" y="4797425"/>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spcBef>
                <a:spcPct val="20000"/>
              </a:spcBef>
            </a:pPr>
            <a:r>
              <a:rPr lang="zh-CN" altLang="en-US" sz="2800" b="1"/>
              <a:t>内、外力分析。</a:t>
            </a:r>
          </a:p>
        </p:txBody>
      </p:sp>
      <p:sp>
        <p:nvSpPr>
          <p:cNvPr id="31750" name="Text Box 6"/>
          <p:cNvSpPr txBox="1">
            <a:spLocks noChangeArrowheads="1"/>
          </p:cNvSpPr>
          <p:nvPr/>
        </p:nvSpPr>
        <p:spPr bwMode="auto">
          <a:xfrm>
            <a:off x="539750" y="5373688"/>
            <a:ext cx="50419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a:lnSpc>
                <a:spcPct val="120000"/>
              </a:lnSpc>
              <a:spcBef>
                <a:spcPct val="20000"/>
              </a:spcBef>
            </a:pPr>
            <a:r>
              <a:rPr lang="zh-CN" altLang="en-US" sz="2800" b="1"/>
              <a:t>炮车与地面间的摩擦力不计，系统水平方向动量守恒。</a:t>
            </a:r>
          </a:p>
        </p:txBody>
      </p:sp>
      <p:sp>
        <p:nvSpPr>
          <p:cNvPr id="59394" name="Object 2"/>
          <p:cNvSpPr txBox="1"/>
          <p:nvPr/>
        </p:nvSpPr>
        <p:spPr bwMode="auto">
          <a:xfrm>
            <a:off x="4514850" y="3321050"/>
            <a:ext cx="114300" cy="215900"/>
          </a:xfrm>
          <a:prstGeom prst="rect">
            <a:avLst/>
          </a:prstGeom>
          <a:noFill/>
          <a:ln>
            <a:noFill/>
          </a:ln>
          <a:effectLst/>
          <a:extLst/>
        </p:spPr>
        <p:txBody>
          <a:bodyPr>
            <a:normAutofit fontScale="40000" lnSpcReduction="20000"/>
          </a:bodyPr>
          <a:lstStyle/>
          <a:p>
            <a:endParaRPr lang="zh-CN" altLang="en-US"/>
          </a:p>
        </p:txBody>
      </p:sp>
      <p:pic>
        <p:nvPicPr>
          <p:cNvPr id="31756" name="Picture 12" descr="图3-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758950"/>
            <a:ext cx="5616575"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3" descr="图片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3860800"/>
            <a:ext cx="3419475" cy="248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23779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wipe(left)">
                                      <p:cBhvr>
                                        <p:cTn id="7" dur="500"/>
                                        <p:tgtEl>
                                          <p:spTgt spid="3174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1756"/>
                                        </p:tgtEl>
                                        <p:attrNameLst>
                                          <p:attrName>style.visibility</p:attrName>
                                        </p:attrNameLst>
                                      </p:cBhvr>
                                      <p:to>
                                        <p:strVal val="visible"/>
                                      </p:to>
                                    </p:set>
                                    <p:animEffect transition="in" filter="wipe(left)">
                                      <p:cBhvr>
                                        <p:cTn id="11" dur="500"/>
                                        <p:tgtEl>
                                          <p:spTgt spid="317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747"/>
                                        </p:tgtEl>
                                        <p:attrNameLst>
                                          <p:attrName>style.visibility</p:attrName>
                                        </p:attrNameLst>
                                      </p:cBhvr>
                                      <p:to>
                                        <p:strVal val="visible"/>
                                      </p:to>
                                    </p:set>
                                    <p:animEffect transition="in" filter="wipe(left)">
                                      <p:cBhvr>
                                        <p:cTn id="16" dur="500"/>
                                        <p:tgtEl>
                                          <p:spTgt spid="3174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748"/>
                                        </p:tgtEl>
                                        <p:attrNameLst>
                                          <p:attrName>style.visibility</p:attrName>
                                        </p:attrNameLst>
                                      </p:cBhvr>
                                      <p:to>
                                        <p:strVal val="visible"/>
                                      </p:to>
                                    </p:set>
                                    <p:animEffect transition="in" filter="wipe(left)">
                                      <p:cBhvr>
                                        <p:cTn id="21" dur="500"/>
                                        <p:tgtEl>
                                          <p:spTgt spid="3174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1749"/>
                                        </p:tgtEl>
                                        <p:attrNameLst>
                                          <p:attrName>style.visibility</p:attrName>
                                        </p:attrNameLst>
                                      </p:cBhvr>
                                      <p:to>
                                        <p:strVal val="visible"/>
                                      </p:to>
                                    </p:set>
                                    <p:animEffect transition="in" filter="wipe(left)">
                                      <p:cBhvr>
                                        <p:cTn id="26" dur="500"/>
                                        <p:tgtEl>
                                          <p:spTgt spid="317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1757"/>
                                        </p:tgtEl>
                                        <p:attrNameLst>
                                          <p:attrName>style.visibility</p:attrName>
                                        </p:attrNameLst>
                                      </p:cBhvr>
                                      <p:to>
                                        <p:strVal val="visible"/>
                                      </p:to>
                                    </p:set>
                                    <p:animEffect transition="in" filter="wipe(left)">
                                      <p:cBhvr>
                                        <p:cTn id="31" dur="500"/>
                                        <p:tgtEl>
                                          <p:spTgt spid="3175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1750"/>
                                        </p:tgtEl>
                                        <p:attrNameLst>
                                          <p:attrName>style.visibility</p:attrName>
                                        </p:attrNameLst>
                                      </p:cBhvr>
                                      <p:to>
                                        <p:strVal val="visible"/>
                                      </p:to>
                                    </p:set>
                                    <p:animEffect transition="in" filter="wipe(left)">
                                      <p:cBhvr>
                                        <p:cTn id="36" dur="500"/>
                                        <p:tgtEl>
                                          <p:spTgt spid="31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utoUpdateAnimBg="0"/>
      <p:bldP spid="31747" grpId="0" autoUpdateAnimBg="0"/>
      <p:bldP spid="31748" grpId="0" autoUpdateAnimBg="0"/>
      <p:bldP spid="31749" grpId="0" autoUpdateAnimBg="0"/>
      <p:bldP spid="31750"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770" name="Object 2"/>
              <p:cNvSpPr txBox="1"/>
              <p:nvPr/>
            </p:nvSpPr>
            <p:spPr bwMode="auto">
              <a:xfrm>
                <a:off x="1692275" y="3573463"/>
                <a:ext cx="3135313" cy="100806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𝑚</m:t>
                          </m:r>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𝑚</m:t>
                              </m:r>
                            </m:e>
                            <m:sup>
                              <m:r>
                                <a:rPr lang="zh-CN" altLang="en-US" i="1">
                                  <a:solidFill>
                                    <a:srgbClr val="000000"/>
                                  </a:solidFill>
                                  <a:latin typeface="Cambria Math" panose="02040503050406030204" pitchFamily="18" charset="0"/>
                                </a:rPr>
                                <m:t>′</m:t>
                              </m:r>
                            </m:sup>
                          </m:sSup>
                        </m:den>
                      </m:f>
                      <m:r>
                        <a:rPr lang="zh-CN" altLang="en-US" i="1">
                          <a:solidFill>
                            <a:srgbClr val="000000"/>
                          </a:solidFill>
                          <a:latin typeface="Cambria Math" panose="02040503050406030204" pitchFamily="18" charset="0"/>
                        </a:rPr>
                        <m:t>𝑣</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oMath>
                  </m:oMathPara>
                </a14:m>
                <a:endParaRPr lang="zh-CN" altLang="en-US"/>
              </a:p>
            </p:txBody>
          </p:sp>
        </mc:Choice>
        <mc:Fallback xmlns="">
          <p:sp>
            <p:nvSpPr>
              <p:cNvPr id="32770" name="Object 2"/>
              <p:cNvSpPr txBox="1">
                <a:spLocks noRot="1" noChangeAspect="1" noMove="1" noResize="1" noEditPoints="1" noAdjustHandles="1" noChangeArrowheads="1" noChangeShapeType="1" noTextEdit="1"/>
              </p:cNvSpPr>
              <p:nvPr/>
            </p:nvSpPr>
            <p:spPr bwMode="auto">
              <a:xfrm>
                <a:off x="1692275" y="3573463"/>
                <a:ext cx="3135313" cy="1008062"/>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32771" name="Rectangle 3"/>
          <p:cNvSpPr>
            <a:spLocks noChangeArrowheads="1"/>
          </p:cNvSpPr>
          <p:nvPr/>
        </p:nvSpPr>
        <p:spPr bwMode="auto">
          <a:xfrm>
            <a:off x="827088" y="2909888"/>
            <a:ext cx="4800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宋体" pitchFamily="2" charset="-122"/>
              </a:rPr>
              <a:t>得炮车的反冲速度为                          </a:t>
            </a:r>
          </a:p>
        </p:txBody>
      </p:sp>
      <mc:AlternateContent xmlns:mc="http://schemas.openxmlformats.org/markup-compatibility/2006" xmlns:a14="http://schemas.microsoft.com/office/drawing/2010/main">
        <mc:Choice Requires="a14">
          <p:sp>
            <p:nvSpPr>
              <p:cNvPr id="32772" name="Object 3"/>
              <p:cNvSpPr txBox="1"/>
              <p:nvPr/>
            </p:nvSpPr>
            <p:spPr bwMode="auto">
              <a:xfrm>
                <a:off x="1798638" y="2263775"/>
                <a:ext cx="4406900" cy="6604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𝑚</m:t>
                          </m:r>
                        </m:e>
                        <m:sup>
                          <m:r>
                            <a:rPr lang="zh-CN" altLang="en-US" i="1">
                              <a:solidFill>
                                <a:srgbClr val="000000"/>
                              </a:solidFill>
                              <a:latin typeface="Cambria Math" panose="02040503050406030204" pitchFamily="18" charset="0"/>
                            </a:rPr>
                            <m:t>′</m:t>
                          </m:r>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𝑣</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32772" name="Object 3"/>
              <p:cNvSpPr txBox="1">
                <a:spLocks noRot="1" noChangeAspect="1" noMove="1" noResize="1" noEditPoints="1" noAdjustHandles="1" noChangeArrowheads="1" noChangeShapeType="1" noTextEdit="1"/>
              </p:cNvSpPr>
              <p:nvPr/>
            </p:nvSpPr>
            <p:spPr bwMode="auto">
              <a:xfrm>
                <a:off x="1798638" y="2263775"/>
                <a:ext cx="4406900" cy="660400"/>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32773" name="Rectangle 5"/>
          <p:cNvSpPr>
            <a:spLocks noChangeArrowheads="1"/>
          </p:cNvSpPr>
          <p:nvPr/>
        </p:nvSpPr>
        <p:spPr bwMode="auto">
          <a:xfrm>
            <a:off x="179388" y="4868863"/>
            <a:ext cx="5256212"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20000"/>
              </a:spcBef>
            </a:pPr>
            <a:r>
              <a:rPr lang="zh-CN" altLang="en-US" sz="2800" b="1" dirty="0"/>
              <a:t>思考：竖直方向动量守恒吗？</a:t>
            </a:r>
            <a:endParaRPr lang="en-US" altLang="zh-CN" sz="2800" b="1" dirty="0"/>
          </a:p>
          <a:p>
            <a:pPr eaLnBrk="0" hangingPunct="0">
              <a:spcBef>
                <a:spcPct val="20000"/>
              </a:spcBef>
            </a:pPr>
            <a:r>
              <a:rPr lang="zh-CN" altLang="en-US" sz="2800" b="1" dirty="0">
                <a:latin typeface="楷体_GB2312" pitchFamily="49" charset="-122"/>
              </a:rPr>
              <a:t>在发射过程中，地面支持力远大于炮车重力，系统竖直方向动量不守恒。</a:t>
            </a:r>
            <a:endParaRPr lang="zh-CN" altLang="en-US" sz="2800" b="1" dirty="0"/>
          </a:p>
        </p:txBody>
      </p:sp>
      <p:sp>
        <p:nvSpPr>
          <p:cNvPr id="60423" name="Rectangle 6"/>
          <p:cNvSpPr>
            <a:spLocks noChangeArrowheads="1"/>
          </p:cNvSpPr>
          <p:nvPr/>
        </p:nvSpPr>
        <p:spPr bwMode="auto">
          <a:xfrm>
            <a:off x="684213" y="908050"/>
            <a:ext cx="4113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20000"/>
              </a:spcBef>
            </a:pPr>
            <a:r>
              <a:rPr lang="zh-CN" altLang="en-US" sz="2800" b="1"/>
              <a:t>系统水平方向动量守恒：</a:t>
            </a:r>
          </a:p>
        </p:txBody>
      </p:sp>
      <p:sp>
        <p:nvSpPr>
          <p:cNvPr id="60424" name="矩形 10"/>
          <p:cNvSpPr>
            <a:spLocks noChangeArrowheads="1"/>
          </p:cNvSpPr>
          <p:nvPr/>
        </p:nvSpPr>
        <p:spPr bwMode="auto">
          <a:xfrm>
            <a:off x="971550" y="260350"/>
            <a:ext cx="5761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b="1" i="1"/>
              <a:t>v</a:t>
            </a:r>
            <a:r>
              <a:rPr lang="zh-CN" altLang="en-US" b="1"/>
              <a:t>为子弹相对于车的速度</a:t>
            </a:r>
            <a:endParaRPr lang="en-US"/>
          </a:p>
        </p:txBody>
      </p:sp>
      <mc:AlternateContent xmlns:mc="http://schemas.openxmlformats.org/markup-compatibility/2006" xmlns:a14="http://schemas.microsoft.com/office/drawing/2010/main">
        <mc:Choice Requires="a14">
          <p:sp>
            <p:nvSpPr>
              <p:cNvPr id="2" name="Object 8"/>
              <p:cNvSpPr txBox="1"/>
              <p:nvPr/>
            </p:nvSpPr>
            <p:spPr bwMode="auto">
              <a:xfrm>
                <a:off x="2428875" y="1466850"/>
                <a:ext cx="5456238" cy="738188"/>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子弹地</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子弹车</m:t>
                          </m:r>
                        </m:sub>
                      </m:sSub>
                      <m: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车地</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𝜃</m:t>
                          </m:r>
                        </m:e>
                      </m:func>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𝑣</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xmlns="">
          <p:sp>
            <p:nvSpPr>
              <p:cNvPr id="2" name="Object 8"/>
              <p:cNvSpPr txBox="1">
                <a:spLocks noRot="1" noChangeAspect="1" noMove="1" noResize="1" noEditPoints="1" noAdjustHandles="1" noChangeArrowheads="1" noChangeShapeType="1" noTextEdit="1"/>
              </p:cNvSpPr>
              <p:nvPr/>
            </p:nvSpPr>
            <p:spPr bwMode="auto">
              <a:xfrm>
                <a:off x="2428875" y="1466850"/>
                <a:ext cx="5456238" cy="738188"/>
              </a:xfrm>
              <a:prstGeom prst="rect">
                <a:avLst/>
              </a:prstGeom>
              <a:blipFill>
                <a:blip r:embed="rId4"/>
                <a:stretch>
                  <a:fillRect/>
                </a:stretch>
              </a:blipFill>
              <a:ln>
                <a:noFill/>
              </a:ln>
              <a:effectLst/>
              <a:extLst/>
            </p:spPr>
            <p:txBody>
              <a:bodyPr/>
              <a:lstStyle/>
              <a:p>
                <a:r>
                  <a:rPr lang="zh-CN" altLang="en-US">
                    <a:noFill/>
                  </a:rPr>
                  <a:t> </a:t>
                </a:r>
              </a:p>
            </p:txBody>
          </p:sp>
        </mc:Fallback>
      </mc:AlternateContent>
      <p:pic>
        <p:nvPicPr>
          <p:cNvPr id="60425" name="Picture 13" descr="图片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4076700"/>
            <a:ext cx="3419475" cy="248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6" name="矩形 9"/>
          <p:cNvSpPr>
            <a:spLocks noChangeArrowheads="1"/>
          </p:cNvSpPr>
          <p:nvPr/>
        </p:nvSpPr>
        <p:spPr bwMode="auto">
          <a:xfrm>
            <a:off x="323850" y="1628775"/>
            <a:ext cx="2039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b="1"/>
              <a:t>子弹水平方向</a:t>
            </a:r>
            <a:endParaRPr lang="en-US"/>
          </a:p>
        </p:txBody>
      </p:sp>
    </p:spTree>
    <p:extLst>
      <p:ext uri="{BB962C8B-B14F-4D97-AF65-F5344CB8AC3E}">
        <p14:creationId xmlns:p14="http://schemas.microsoft.com/office/powerpoint/2010/main" val="2811412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4F6E32-0B4D-4912-A720-F3D6672F2A6B}"/>
              </a:ext>
            </a:extLst>
          </p:cNvPr>
          <p:cNvSpPr>
            <a:spLocks noGrp="1"/>
          </p:cNvSpPr>
          <p:nvPr>
            <p:ph/>
          </p:nvPr>
        </p:nvSpPr>
        <p:spPr/>
        <p:txBody>
          <a:bodyPr/>
          <a:lstStyle/>
          <a:p>
            <a:endParaRPr lang="zh-CN" altLang="en-US"/>
          </a:p>
        </p:txBody>
      </p:sp>
      <p:pic>
        <p:nvPicPr>
          <p:cNvPr id="4" name="图片 3">
            <a:extLst>
              <a:ext uri="{FF2B5EF4-FFF2-40B4-BE49-F238E27FC236}">
                <a16:creationId xmlns:a16="http://schemas.microsoft.com/office/drawing/2014/main" id="{1A851EEC-C056-43C9-980C-01FD2017CD95}"/>
              </a:ext>
            </a:extLst>
          </p:cNvPr>
          <p:cNvPicPr>
            <a:picLocks noChangeAspect="1"/>
          </p:cNvPicPr>
          <p:nvPr/>
        </p:nvPicPr>
        <p:blipFill rotWithShape="1">
          <a:blip r:embed="rId2"/>
          <a:srcRect b="5385"/>
          <a:stretch/>
        </p:blipFill>
        <p:spPr>
          <a:xfrm>
            <a:off x="108325" y="249091"/>
            <a:ext cx="4283968" cy="6309476"/>
          </a:xfrm>
          <a:prstGeom prst="rect">
            <a:avLst/>
          </a:prstGeom>
        </p:spPr>
      </p:pic>
      <p:pic>
        <p:nvPicPr>
          <p:cNvPr id="5" name="图片 4">
            <a:extLst>
              <a:ext uri="{FF2B5EF4-FFF2-40B4-BE49-F238E27FC236}">
                <a16:creationId xmlns:a16="http://schemas.microsoft.com/office/drawing/2014/main" id="{8945575B-93BF-42FD-9BC3-0F26A3AEBD93}"/>
              </a:ext>
            </a:extLst>
          </p:cNvPr>
          <p:cNvPicPr>
            <a:picLocks noChangeAspect="1"/>
          </p:cNvPicPr>
          <p:nvPr/>
        </p:nvPicPr>
        <p:blipFill rotWithShape="1">
          <a:blip r:embed="rId3"/>
          <a:srcRect t="23767" b="1"/>
          <a:stretch/>
        </p:blipFill>
        <p:spPr>
          <a:xfrm>
            <a:off x="4397098" y="2274220"/>
            <a:ext cx="3855904" cy="2309559"/>
          </a:xfrm>
          <a:prstGeom prst="rect">
            <a:avLst/>
          </a:prstGeom>
        </p:spPr>
      </p:pic>
    </p:spTree>
    <p:extLst>
      <p:ext uri="{BB962C8B-B14F-4D97-AF65-F5344CB8AC3E}">
        <p14:creationId xmlns:p14="http://schemas.microsoft.com/office/powerpoint/2010/main" val="14628980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2">
            <a:extLst>
              <a:ext uri="{FF2B5EF4-FFF2-40B4-BE49-F238E27FC236}">
                <a16:creationId xmlns:a16="http://schemas.microsoft.com/office/drawing/2014/main" id="{1F8F650A-8D80-488C-A204-9C127C2FC6AD}"/>
              </a:ext>
            </a:extLst>
          </p:cNvPr>
          <p:cNvSpPr txBox="1">
            <a:spLocks noChangeArrowheads="1"/>
          </p:cNvSpPr>
          <p:nvPr/>
        </p:nvSpPr>
        <p:spPr bwMode="auto">
          <a:xfrm>
            <a:off x="420688" y="2276475"/>
            <a:ext cx="818356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en-US" altLang="zh-CN" sz="2800" b="1">
                <a:latin typeface="宋体" pitchFamily="2" charset="-122"/>
              </a:rPr>
              <a:t>    </a:t>
            </a:r>
            <a:r>
              <a:rPr lang="zh-CN" altLang="en-US" sz="2800" b="1">
                <a:latin typeface="宋体" pitchFamily="2" charset="-122"/>
              </a:rPr>
              <a:t>炸裂时爆炸力是物体内力，它远大于重力，故在爆炸中，可认为动量守恒。</a:t>
            </a:r>
          </a:p>
        </p:txBody>
      </p:sp>
      <p:sp>
        <p:nvSpPr>
          <p:cNvPr id="12" name="Text Box 3">
            <a:extLst>
              <a:ext uri="{FF2B5EF4-FFF2-40B4-BE49-F238E27FC236}">
                <a16:creationId xmlns:a16="http://schemas.microsoft.com/office/drawing/2014/main" id="{A1170CCA-A046-4D8B-872C-154429CFACE9}"/>
              </a:ext>
            </a:extLst>
          </p:cNvPr>
          <p:cNvSpPr txBox="1">
            <a:spLocks noChangeArrowheads="1"/>
          </p:cNvSpPr>
          <p:nvPr/>
        </p:nvSpPr>
        <p:spPr bwMode="auto">
          <a:xfrm>
            <a:off x="323850" y="115888"/>
            <a:ext cx="84963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zh-CN" altLang="en-US" sz="2800" b="1" dirty="0">
                <a:solidFill>
                  <a:srgbClr val="0000FF"/>
                </a:solidFill>
              </a:rPr>
              <a:t>例</a:t>
            </a:r>
            <a:r>
              <a:rPr lang="en-US" altLang="zh-CN" sz="2800" b="1" dirty="0">
                <a:solidFill>
                  <a:srgbClr val="0000FF"/>
                </a:solidFill>
              </a:rPr>
              <a:t>4  </a:t>
            </a:r>
            <a:r>
              <a:rPr lang="en-US" altLang="zh-CN" sz="2800" b="1" dirty="0">
                <a:solidFill>
                  <a:schemeClr val="accent2"/>
                </a:solidFill>
              </a:rPr>
              <a:t> </a:t>
            </a:r>
            <a:r>
              <a:rPr lang="zh-CN" altLang="en-US" sz="2800" b="1" dirty="0"/>
              <a:t>一个静止物体炸成三块，其中两块质量相等，且以相同速度</a:t>
            </a:r>
            <a:r>
              <a:rPr lang="en-US" altLang="zh-CN" sz="2800" b="1" dirty="0"/>
              <a:t>30 m/s</a:t>
            </a:r>
            <a:r>
              <a:rPr lang="zh-CN" altLang="en-US" sz="2800" b="1" dirty="0"/>
              <a:t>沿</a:t>
            </a:r>
            <a:r>
              <a:rPr lang="zh-CN" altLang="en-US" sz="2800" b="1" dirty="0">
                <a:solidFill>
                  <a:srgbClr val="FF0000"/>
                </a:solidFill>
              </a:rPr>
              <a:t>相互垂直</a:t>
            </a:r>
            <a:r>
              <a:rPr lang="zh-CN" altLang="en-US" sz="2800" b="1" dirty="0"/>
              <a:t>的方向飞开，第三块的质量恰好等于这两块质量的总和。试求第三块的速度（大小和方向）。</a:t>
            </a:r>
          </a:p>
        </p:txBody>
      </p:sp>
      <mc:AlternateContent xmlns:mc="http://schemas.openxmlformats.org/markup-compatibility/2006" xmlns:a14="http://schemas.microsoft.com/office/drawing/2010/main">
        <mc:Choice Requires="a14">
          <p:sp>
            <p:nvSpPr>
              <p:cNvPr id="13" name="Object 2">
                <a:extLst>
                  <a:ext uri="{FF2B5EF4-FFF2-40B4-BE49-F238E27FC236}">
                    <a16:creationId xmlns:a16="http://schemas.microsoft.com/office/drawing/2014/main" id="{C48F456B-75A4-4F30-ADF7-E217CEEEBA37}"/>
                  </a:ext>
                </a:extLst>
              </p:cNvPr>
              <p:cNvSpPr txBox="1"/>
              <p:nvPr/>
            </p:nvSpPr>
            <p:spPr bwMode="auto">
              <a:xfrm>
                <a:off x="684213" y="3513138"/>
                <a:ext cx="4967287" cy="7080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=0</m:t>
                      </m:r>
                    </m:oMath>
                  </m:oMathPara>
                </a14:m>
                <a:endParaRPr lang="zh-CN" altLang="en-US" dirty="0"/>
              </a:p>
            </p:txBody>
          </p:sp>
        </mc:Choice>
        <mc:Fallback xmlns="">
          <p:sp>
            <p:nvSpPr>
              <p:cNvPr id="13" name="Object 2">
                <a:extLst>
                  <a:ext uri="{FF2B5EF4-FFF2-40B4-BE49-F238E27FC236}">
                    <a16:creationId xmlns:a16="http://schemas.microsoft.com/office/drawing/2014/main" id="{C48F456B-75A4-4F30-ADF7-E217CEEEBA37}"/>
                  </a:ext>
                </a:extLst>
              </p:cNvPr>
              <p:cNvSpPr txBox="1">
                <a:spLocks noRot="1" noChangeAspect="1" noMove="1" noResize="1" noEditPoints="1" noAdjustHandles="1" noChangeArrowheads="1" noChangeShapeType="1" noTextEdit="1"/>
              </p:cNvSpPr>
              <p:nvPr/>
            </p:nvSpPr>
            <p:spPr bwMode="auto">
              <a:xfrm>
                <a:off x="684213" y="3513138"/>
                <a:ext cx="4967287" cy="708025"/>
              </a:xfrm>
              <a:prstGeom prst="rect">
                <a:avLst/>
              </a:prstGeom>
              <a:blipFill>
                <a:blip r:embed="rId2"/>
                <a:stretch>
                  <a:fillRect t="-12069"/>
                </a:stretch>
              </a:blipFill>
              <a:ln>
                <a:noFill/>
              </a:ln>
              <a:effectLst/>
              <a:extLst/>
            </p:spPr>
            <p:txBody>
              <a:bodyPr/>
              <a:lstStyle/>
              <a:p>
                <a:r>
                  <a:rPr lang="zh-CN" altLang="en-US">
                    <a:noFill/>
                  </a:rPr>
                  <a:t> </a:t>
                </a:r>
              </a:p>
            </p:txBody>
          </p:sp>
        </mc:Fallback>
      </mc:AlternateContent>
      <p:sp>
        <p:nvSpPr>
          <p:cNvPr id="14" name="AutoShape 6">
            <a:extLst>
              <a:ext uri="{FF2B5EF4-FFF2-40B4-BE49-F238E27FC236}">
                <a16:creationId xmlns:a16="http://schemas.microsoft.com/office/drawing/2014/main" id="{187A5D19-E8F7-4408-90E2-1CADAAB141CC}"/>
              </a:ext>
            </a:extLst>
          </p:cNvPr>
          <p:cNvSpPr>
            <a:spLocks noChangeArrowheads="1"/>
          </p:cNvSpPr>
          <p:nvPr/>
        </p:nvSpPr>
        <p:spPr bwMode="auto">
          <a:xfrm>
            <a:off x="539750" y="4652963"/>
            <a:ext cx="576263" cy="144462"/>
          </a:xfrm>
          <a:prstGeom prst="rightArrow">
            <a:avLst>
              <a:gd name="adj1" fmla="val 50000"/>
              <a:gd name="adj2" fmla="val 99726"/>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15" name="Object 3">
                <a:extLst>
                  <a:ext uri="{FF2B5EF4-FFF2-40B4-BE49-F238E27FC236}">
                    <a16:creationId xmlns:a16="http://schemas.microsoft.com/office/drawing/2014/main" id="{2F8CED48-2B1F-4ACD-9191-ECB9298A05C9}"/>
                  </a:ext>
                </a:extLst>
              </p:cNvPr>
              <p:cNvSpPr txBox="1"/>
              <p:nvPr/>
            </p:nvSpPr>
            <p:spPr bwMode="auto">
              <a:xfrm>
                <a:off x="1258888" y="4387850"/>
                <a:ext cx="4465637" cy="69373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oMath>
                  </m:oMathPara>
                </a14:m>
                <a:endParaRPr lang="zh-CN" altLang="en-US" dirty="0"/>
              </a:p>
            </p:txBody>
          </p:sp>
        </mc:Choice>
        <mc:Fallback xmlns="">
          <p:sp>
            <p:nvSpPr>
              <p:cNvPr id="15" name="Object 3">
                <a:extLst>
                  <a:ext uri="{FF2B5EF4-FFF2-40B4-BE49-F238E27FC236}">
                    <a16:creationId xmlns:a16="http://schemas.microsoft.com/office/drawing/2014/main" id="{2F8CED48-2B1F-4ACD-9191-ECB9298A05C9}"/>
                  </a:ext>
                </a:extLst>
              </p:cNvPr>
              <p:cNvSpPr txBox="1">
                <a:spLocks noRot="1" noChangeAspect="1" noMove="1" noResize="1" noEditPoints="1" noAdjustHandles="1" noChangeArrowheads="1" noChangeShapeType="1" noTextEdit="1"/>
              </p:cNvSpPr>
              <p:nvPr/>
            </p:nvSpPr>
            <p:spPr bwMode="auto">
              <a:xfrm>
                <a:off x="1258888" y="4387850"/>
                <a:ext cx="4465637" cy="693738"/>
              </a:xfrm>
              <a:prstGeom prst="rect">
                <a:avLst/>
              </a:prstGeom>
              <a:blipFill>
                <a:blip r:embed="rId3"/>
                <a:stretch>
                  <a:fillRect t="-12281"/>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Object 4">
                <a:extLst>
                  <a:ext uri="{FF2B5EF4-FFF2-40B4-BE49-F238E27FC236}">
                    <a16:creationId xmlns:a16="http://schemas.microsoft.com/office/drawing/2014/main" id="{C44BEAEB-7231-4929-8854-8E81D4948B8C}"/>
                  </a:ext>
                </a:extLst>
              </p:cNvPr>
              <p:cNvSpPr txBox="1"/>
              <p:nvPr/>
            </p:nvSpPr>
            <p:spPr bwMode="auto">
              <a:xfrm>
                <a:off x="1258888" y="5414031"/>
                <a:ext cx="5545137" cy="6921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3</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16" name="Object 4">
                <a:extLst>
                  <a:ext uri="{FF2B5EF4-FFF2-40B4-BE49-F238E27FC236}">
                    <a16:creationId xmlns:a16="http://schemas.microsoft.com/office/drawing/2014/main" id="{C44BEAEB-7231-4929-8854-8E81D4948B8C}"/>
                  </a:ext>
                </a:extLst>
              </p:cNvPr>
              <p:cNvSpPr txBox="1">
                <a:spLocks noRot="1" noChangeAspect="1" noMove="1" noResize="1" noEditPoints="1" noAdjustHandles="1" noChangeArrowheads="1" noChangeShapeType="1" noTextEdit="1"/>
              </p:cNvSpPr>
              <p:nvPr/>
            </p:nvSpPr>
            <p:spPr bwMode="auto">
              <a:xfrm>
                <a:off x="1258888" y="5414031"/>
                <a:ext cx="5545137" cy="692150"/>
              </a:xfrm>
              <a:prstGeom prst="rect">
                <a:avLst/>
              </a:prstGeom>
              <a:blipFill>
                <a:blip r:embed="rId4"/>
                <a:stretch>
                  <a:fillRect/>
                </a:stretch>
              </a:blipFill>
              <a:ln>
                <a:noFill/>
              </a:ln>
              <a:effectLst/>
              <a:extLst/>
            </p:spPr>
            <p:txBody>
              <a:bodyPr/>
              <a:lstStyle/>
              <a:p>
                <a:r>
                  <a:rPr lang="zh-CN" altLang="en-US">
                    <a:noFill/>
                  </a:rPr>
                  <a:t> </a:t>
                </a:r>
              </a:p>
            </p:txBody>
          </p:sp>
        </mc:Fallback>
      </mc:AlternateContent>
      <p:sp>
        <p:nvSpPr>
          <p:cNvPr id="17" name="AutoShape 9">
            <a:extLst>
              <a:ext uri="{FF2B5EF4-FFF2-40B4-BE49-F238E27FC236}">
                <a16:creationId xmlns:a16="http://schemas.microsoft.com/office/drawing/2014/main" id="{7B1CD34F-9270-40A1-A2E0-0A1C98375E58}"/>
              </a:ext>
            </a:extLst>
          </p:cNvPr>
          <p:cNvSpPr>
            <a:spLocks noChangeArrowheads="1"/>
          </p:cNvSpPr>
          <p:nvPr/>
        </p:nvSpPr>
        <p:spPr bwMode="auto">
          <a:xfrm>
            <a:off x="539750" y="5661025"/>
            <a:ext cx="576263" cy="144463"/>
          </a:xfrm>
          <a:prstGeom prst="rightArrow">
            <a:avLst>
              <a:gd name="adj1" fmla="val 50000"/>
              <a:gd name="adj2" fmla="val 99725"/>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p:pic>
        <p:nvPicPr>
          <p:cNvPr id="18" name="Picture 14" descr="图3-23">
            <a:extLst>
              <a:ext uri="{FF2B5EF4-FFF2-40B4-BE49-F238E27FC236}">
                <a16:creationId xmlns:a16="http://schemas.microsoft.com/office/drawing/2014/main" id="{C01BBC3E-2CFD-4189-870B-8F6BE7B2AB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5963" y="3213100"/>
            <a:ext cx="3168650"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526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3" grpId="0"/>
      <p:bldP spid="14" grpId="0" animBg="1"/>
      <p:bldP spid="15" grpId="0"/>
      <p:bldP spid="16" grpId="0"/>
      <p:bldP spid="1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8" name="Object 2"/>
              <p:cNvSpPr txBox="1"/>
              <p:nvPr/>
            </p:nvSpPr>
            <p:spPr bwMode="auto">
              <a:xfrm>
                <a:off x="828675" y="1844675"/>
                <a:ext cx="8064500" cy="10795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ad>
                        <m:radPr>
                          <m:degHide m:val="on"/>
                          <m:ctrlPr>
                            <a:rPr lang="zh-CN" altLang="en-US" i="1">
                              <a:solidFill>
                                <a:srgbClr val="000000"/>
                              </a:solidFill>
                              <a:latin typeface="Cambria Math" panose="02040503050406030204" pitchFamily="18" charset="0"/>
                            </a:rPr>
                          </m:ctrlPr>
                        </m:radPr>
                        <m:deg/>
                        <m:e>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e>
                            <m:sup>
                              <m:r>
                                <a:rPr lang="zh-CN" altLang="en-US" i="1">
                                  <a:solidFill>
                                    <a:srgbClr val="000000"/>
                                  </a:solidFill>
                                  <a:latin typeface="Cambria Math" panose="02040503050406030204" pitchFamily="18" charset="0"/>
                                </a:rPr>
                                <m:t>2</m:t>
                              </m:r>
                            </m:sup>
                          </m:sSup>
                        </m:e>
                      </m:ra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2</m:t>
                              </m:r>
                            </m:sup>
                          </m:sSup>
                        </m:e>
                      </m:rad>
                      <m:r>
                        <a:rPr lang="zh-CN" altLang="en-US" i="1">
                          <a:solidFill>
                            <a:srgbClr val="000000"/>
                          </a:solidFill>
                          <a:latin typeface="Cambria Math" panose="02040503050406030204" pitchFamily="18" charset="0"/>
                        </a:rPr>
                        <m:t>=21.2(</m:t>
                      </m:r>
                      <m:r>
                        <m:rPr>
                          <m:nor/>
                        </m:rPr>
                        <a:rPr lang="zh-CN" altLang="en-US" i="0">
                          <a:solidFill>
                            <a:srgbClr val="000000"/>
                          </a:solidFill>
                          <a:latin typeface="Cambria Math" panose="02040503050406030204" pitchFamily="18" charset="0"/>
                        </a:rPr>
                        <m:t>m</m:t>
                      </m:r>
                      <m:r>
                        <m:rPr>
                          <m:nor/>
                        </m:rPr>
                        <a:rPr lang="zh-CN" altLang="en-US" i="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4818" name="Object 2"/>
              <p:cNvSpPr txBox="1">
                <a:spLocks noRot="1" noChangeAspect="1" noMove="1" noResize="1" noEditPoints="1" noAdjustHandles="1" noChangeArrowheads="1" noChangeShapeType="1" noTextEdit="1"/>
              </p:cNvSpPr>
              <p:nvPr/>
            </p:nvSpPr>
            <p:spPr bwMode="auto">
              <a:xfrm>
                <a:off x="828675" y="1844675"/>
                <a:ext cx="8064500" cy="1079500"/>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819" name="Object 3"/>
              <p:cNvSpPr txBox="1"/>
              <p:nvPr/>
            </p:nvSpPr>
            <p:spPr bwMode="auto">
              <a:xfrm>
                <a:off x="827088" y="3094038"/>
                <a:ext cx="2232025" cy="5651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=18</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oMath>
                  </m:oMathPara>
                </a14:m>
                <a:endParaRPr lang="zh-CN" altLang="en-US"/>
              </a:p>
            </p:txBody>
          </p:sp>
        </mc:Choice>
        <mc:Fallback xmlns="">
          <p:sp>
            <p:nvSpPr>
              <p:cNvPr id="34819" name="Object 3"/>
              <p:cNvSpPr txBox="1">
                <a:spLocks noRot="1" noChangeAspect="1" noMove="1" noResize="1" noEditPoints="1" noAdjustHandles="1" noChangeArrowheads="1" noChangeShapeType="1" noTextEdit="1"/>
              </p:cNvSpPr>
              <p:nvPr/>
            </p:nvSpPr>
            <p:spPr bwMode="auto">
              <a:xfrm>
                <a:off x="827088" y="3094038"/>
                <a:ext cx="2232025" cy="565150"/>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820" name="Object 4"/>
              <p:cNvSpPr txBox="1"/>
              <p:nvPr/>
            </p:nvSpPr>
            <p:spPr bwMode="auto">
              <a:xfrm>
                <a:off x="684213" y="3716338"/>
                <a:ext cx="3917950" cy="119856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tan</m:t>
                          </m:r>
                        </m:fName>
                        <m:e>
                          <m:r>
                            <a:rPr lang="zh-CN" altLang="en-US" i="1">
                              <a:solidFill>
                                <a:srgbClr val="000000"/>
                              </a:solidFill>
                              <a:latin typeface="Cambria Math" panose="02040503050406030204" pitchFamily="18" charset="0"/>
                            </a:rPr>
                            <m:t>𝜃</m:t>
                          </m:r>
                        </m:e>
                      </m:fun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=1, </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=4</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4820" name="Object 4"/>
              <p:cNvSpPr txBox="1">
                <a:spLocks noRot="1" noChangeAspect="1" noMove="1" noResize="1" noEditPoints="1" noAdjustHandles="1" noChangeArrowheads="1" noChangeShapeType="1" noTextEdit="1"/>
              </p:cNvSpPr>
              <p:nvPr/>
            </p:nvSpPr>
            <p:spPr bwMode="auto">
              <a:xfrm>
                <a:off x="684213" y="3716338"/>
                <a:ext cx="3917950" cy="1198562"/>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821" name="Object 5"/>
              <p:cNvSpPr txBox="1"/>
              <p:nvPr/>
            </p:nvSpPr>
            <p:spPr bwMode="auto">
              <a:xfrm>
                <a:off x="5445125" y="3573463"/>
                <a:ext cx="1431925" cy="5365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=13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m:t>
                          </m:r>
                        </m:sup>
                      </m:sSup>
                    </m:oMath>
                  </m:oMathPara>
                </a14:m>
                <a:endParaRPr lang="zh-CN" altLang="en-US" dirty="0"/>
              </a:p>
            </p:txBody>
          </p:sp>
        </mc:Choice>
        <mc:Fallback xmlns="">
          <p:sp>
            <p:nvSpPr>
              <p:cNvPr id="34821" name="Object 5"/>
              <p:cNvSpPr txBox="1">
                <a:spLocks noRot="1" noChangeAspect="1" noMove="1" noResize="1" noEditPoints="1" noAdjustHandles="1" noChangeArrowheads="1" noChangeShapeType="1" noTextEdit="1"/>
              </p:cNvSpPr>
              <p:nvPr/>
            </p:nvSpPr>
            <p:spPr bwMode="auto">
              <a:xfrm>
                <a:off x="5445125" y="3573463"/>
                <a:ext cx="1431925" cy="536575"/>
              </a:xfrm>
              <a:prstGeom prst="rect">
                <a:avLst/>
              </a:prstGeom>
              <a:blipFill>
                <a:blip r:embed="rId5"/>
                <a:stretch>
                  <a:fillRect/>
                </a:stretch>
              </a:blipFill>
              <a:ln>
                <a:noFill/>
              </a:ln>
              <a:effectLst/>
              <a:extLst/>
            </p:spPr>
            <p:txBody>
              <a:bodyPr/>
              <a:lstStyle/>
              <a:p>
                <a:r>
                  <a:rPr lang="zh-CN" altLang="en-US">
                    <a:noFill/>
                  </a:rPr>
                  <a:t> </a:t>
                </a:r>
              </a:p>
            </p:txBody>
          </p:sp>
        </mc:Fallback>
      </mc:AlternateContent>
      <p:grpSp>
        <p:nvGrpSpPr>
          <p:cNvPr id="2" name="Group 6"/>
          <p:cNvGrpSpPr>
            <a:grpSpLocks/>
          </p:cNvGrpSpPr>
          <p:nvPr/>
        </p:nvGrpSpPr>
        <p:grpSpPr bwMode="auto">
          <a:xfrm>
            <a:off x="677863" y="4975225"/>
            <a:ext cx="4470400" cy="1117600"/>
            <a:chOff x="427" y="3067"/>
            <a:chExt cx="2816" cy="704"/>
          </a:xfrm>
        </p:grpSpPr>
        <p:sp>
          <p:nvSpPr>
            <p:cNvPr id="62482" name="Text Box 7"/>
            <p:cNvSpPr txBox="1">
              <a:spLocks noChangeArrowheads="1"/>
            </p:cNvSpPr>
            <p:nvPr/>
          </p:nvSpPr>
          <p:spPr bwMode="auto">
            <a:xfrm>
              <a:off x="427" y="3067"/>
              <a:ext cx="2816"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50000"/>
                </a:spcBef>
              </a:pPr>
              <a:r>
                <a:rPr lang="zh-CN" altLang="en-US" sz="2800" b="1">
                  <a:latin typeface="宋体" pitchFamily="2" charset="-122"/>
                </a:rPr>
                <a:t>即  和  及  都成     ，且三者都在同一平面内</a:t>
              </a:r>
            </a:p>
          </p:txBody>
        </p:sp>
        <mc:AlternateContent xmlns:mc="http://schemas.openxmlformats.org/markup-compatibility/2006" xmlns:a14="http://schemas.microsoft.com/office/drawing/2010/main">
          <mc:Choice Requires="a14">
            <p:sp>
              <p:nvSpPr>
                <p:cNvPr id="62474" name="Object 10"/>
                <p:cNvSpPr txBox="1"/>
                <p:nvPr/>
              </p:nvSpPr>
              <p:spPr bwMode="auto">
                <a:xfrm>
                  <a:off x="2336" y="3113"/>
                  <a:ext cx="483" cy="339"/>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13</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5</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xmlns="">
            <p:sp>
              <p:nvSpPr>
                <p:cNvPr id="62474" name="Object 10"/>
                <p:cNvSpPr txBox="1">
                  <a:spLocks noRot="1" noChangeAspect="1" noMove="1" noResize="1" noEditPoints="1" noAdjustHandles="1" noChangeArrowheads="1" noChangeShapeType="1" noTextEdit="1"/>
                </p:cNvSpPr>
                <p:nvPr/>
              </p:nvSpPr>
              <p:spPr bwMode="auto">
                <a:xfrm>
                  <a:off x="2336" y="3113"/>
                  <a:ext cx="483" cy="339"/>
                </a:xfrm>
                <a:prstGeom prst="rect">
                  <a:avLst/>
                </a:prstGeom>
                <a:blipFill>
                  <a:blip r:embed="rId6"/>
                  <a:stretch>
                    <a:fillRect l="-1587"/>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5" name="Object 11"/>
                <p:cNvSpPr txBox="1"/>
                <p:nvPr/>
              </p:nvSpPr>
              <p:spPr bwMode="auto">
                <a:xfrm>
                  <a:off x="1194" y="3121"/>
                  <a:ext cx="215" cy="328"/>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3</m:t>
                            </m:r>
                          </m:sub>
                        </m:sSub>
                      </m:oMath>
                    </m:oMathPara>
                  </a14:m>
                  <a:endParaRPr lang="zh-CN" altLang="en-US"/>
                </a:p>
              </p:txBody>
            </p:sp>
          </mc:Choice>
          <mc:Fallback xmlns="">
            <p:sp>
              <p:nvSpPr>
                <p:cNvPr id="62475" name="Object 11"/>
                <p:cNvSpPr txBox="1">
                  <a:spLocks noRot="1" noChangeAspect="1" noMove="1" noResize="1" noEditPoints="1" noAdjustHandles="1" noChangeArrowheads="1" noChangeShapeType="1" noTextEdit="1"/>
                </p:cNvSpPr>
                <p:nvPr/>
              </p:nvSpPr>
              <p:spPr bwMode="auto">
                <a:xfrm>
                  <a:off x="1194" y="3121"/>
                  <a:ext cx="215" cy="328"/>
                </a:xfrm>
                <a:prstGeom prst="rect">
                  <a:avLst/>
                </a:prstGeom>
                <a:blipFill>
                  <a:blip r:embed="rId7"/>
                  <a:stretch>
                    <a:fillRect t="-12791" r="-21429"/>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6" name="Object 12"/>
                <p:cNvSpPr txBox="1"/>
                <p:nvPr/>
              </p:nvSpPr>
              <p:spPr bwMode="auto">
                <a:xfrm>
                  <a:off x="715" y="3129"/>
                  <a:ext cx="191" cy="320"/>
                </a:xfrm>
                <a:prstGeom prst="rect">
                  <a:avLst/>
                </a:prstGeom>
                <a:noFill/>
                <a:ln>
                  <a:noFill/>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62476" name="Object 12"/>
                <p:cNvSpPr txBox="1">
                  <a:spLocks noRot="1" noChangeAspect="1" noMove="1" noResize="1" noEditPoints="1" noAdjustHandles="1" noChangeArrowheads="1" noChangeShapeType="1" noTextEdit="1"/>
                </p:cNvSpPr>
                <p:nvPr/>
              </p:nvSpPr>
              <p:spPr bwMode="auto">
                <a:xfrm>
                  <a:off x="715" y="3129"/>
                  <a:ext cx="191" cy="320"/>
                </a:xfrm>
                <a:prstGeom prst="rect">
                  <a:avLst/>
                </a:prstGeom>
                <a:blipFill>
                  <a:blip r:embed="rId8"/>
                  <a:stretch>
                    <a:fillRect t="-14286" r="-26000"/>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7" name="Object 13"/>
                <p:cNvSpPr txBox="1"/>
                <p:nvPr/>
              </p:nvSpPr>
              <p:spPr bwMode="auto">
                <a:xfrm>
                  <a:off x="1610" y="3130"/>
                  <a:ext cx="224" cy="32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62477" name="Object 13"/>
                <p:cNvSpPr txBox="1">
                  <a:spLocks noRot="1" noChangeAspect="1" noMove="1" noResize="1" noEditPoints="1" noAdjustHandles="1" noChangeArrowheads="1" noChangeShapeType="1" noTextEdit="1"/>
                </p:cNvSpPr>
                <p:nvPr/>
              </p:nvSpPr>
              <p:spPr bwMode="auto">
                <a:xfrm>
                  <a:off x="1610" y="3130"/>
                  <a:ext cx="224" cy="320"/>
                </a:xfrm>
                <a:prstGeom prst="rect">
                  <a:avLst/>
                </a:prstGeom>
                <a:blipFill>
                  <a:blip r:embed="rId9"/>
                  <a:stretch>
                    <a:fillRect t="-12048" r="-22034"/>
                  </a:stretch>
                </a:blipFill>
                <a:ln>
                  <a:noFill/>
                </a:ln>
                <a:effectLs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4828" name="Object 6"/>
              <p:cNvSpPr txBox="1"/>
              <p:nvPr/>
            </p:nvSpPr>
            <p:spPr bwMode="auto">
              <a:xfrm>
                <a:off x="857250" y="1074738"/>
                <a:ext cx="3930650" cy="61118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𝑚</m:t>
                      </m:r>
                    </m:oMath>
                  </m:oMathPara>
                </a14:m>
                <a:endParaRPr lang="zh-CN" altLang="en-US"/>
              </a:p>
            </p:txBody>
          </p:sp>
        </mc:Choice>
        <mc:Fallback xmlns="">
          <p:sp>
            <p:nvSpPr>
              <p:cNvPr id="34828" name="Object 6"/>
              <p:cNvSpPr txBox="1">
                <a:spLocks noRot="1" noChangeAspect="1" noMove="1" noResize="1" noEditPoints="1" noAdjustHandles="1" noChangeArrowheads="1" noChangeShapeType="1" noTextEdit="1"/>
              </p:cNvSpPr>
              <p:nvPr/>
            </p:nvSpPr>
            <p:spPr bwMode="auto">
              <a:xfrm>
                <a:off x="857250" y="1074738"/>
                <a:ext cx="3930650" cy="611187"/>
              </a:xfrm>
              <a:prstGeom prst="rect">
                <a:avLst/>
              </a:prstGeom>
              <a:blipFill>
                <a:blip r:embed="rId10"/>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829" name="Object 7"/>
              <p:cNvSpPr txBox="1"/>
              <p:nvPr/>
            </p:nvSpPr>
            <p:spPr bwMode="auto">
              <a:xfrm>
                <a:off x="827088" y="333375"/>
                <a:ext cx="5545137" cy="6921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3</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oMath>
                  </m:oMathPara>
                </a14:m>
                <a:endParaRPr lang="zh-CN" altLang="en-US"/>
              </a:p>
            </p:txBody>
          </p:sp>
        </mc:Choice>
        <mc:Fallback xmlns="">
          <p:sp>
            <p:nvSpPr>
              <p:cNvPr id="34829" name="Object 7"/>
              <p:cNvSpPr txBox="1">
                <a:spLocks noRot="1" noChangeAspect="1" noMove="1" noResize="1" noEditPoints="1" noAdjustHandles="1" noChangeArrowheads="1" noChangeShapeType="1" noTextEdit="1"/>
              </p:cNvSpPr>
              <p:nvPr/>
            </p:nvSpPr>
            <p:spPr bwMode="auto">
              <a:xfrm>
                <a:off x="827088" y="333375"/>
                <a:ext cx="5545137" cy="692150"/>
              </a:xfrm>
              <a:prstGeom prst="rect">
                <a:avLst/>
              </a:prstGeom>
              <a:blipFill>
                <a:blip r:embed="rId11"/>
                <a:stretch>
                  <a:fillRect/>
                </a:stretch>
              </a:blipFill>
              <a:ln>
                <a:noFill/>
              </a:ln>
              <a:effectLst/>
              <a:extLst/>
            </p:spPr>
            <p:txBody>
              <a:bodyPr/>
              <a:lstStyle/>
              <a:p>
                <a:r>
                  <a:rPr lang="zh-CN" altLang="en-US">
                    <a:noFill/>
                  </a:rPr>
                  <a:t> </a:t>
                </a:r>
              </a:p>
            </p:txBody>
          </p:sp>
        </mc:Fallback>
      </mc:AlternateContent>
      <p:sp>
        <p:nvSpPr>
          <p:cNvPr id="34830" name="AutoShape 14"/>
          <p:cNvSpPr>
            <a:spLocks/>
          </p:cNvSpPr>
          <p:nvPr/>
        </p:nvSpPr>
        <p:spPr bwMode="auto">
          <a:xfrm>
            <a:off x="4565650" y="3284538"/>
            <a:ext cx="71438" cy="1152525"/>
          </a:xfrm>
          <a:prstGeom prst="rightBrace">
            <a:avLst>
              <a:gd name="adj1" fmla="val 134444"/>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en-US" altLang="zh-CN"/>
          </a:p>
        </p:txBody>
      </p:sp>
      <p:sp>
        <p:nvSpPr>
          <p:cNvPr id="34831" name="AutoShape 15"/>
          <p:cNvSpPr>
            <a:spLocks noChangeArrowheads="1"/>
          </p:cNvSpPr>
          <p:nvPr/>
        </p:nvSpPr>
        <p:spPr bwMode="auto">
          <a:xfrm>
            <a:off x="4710113" y="3789363"/>
            <a:ext cx="576262" cy="144462"/>
          </a:xfrm>
          <a:prstGeom prst="rightArrow">
            <a:avLst>
              <a:gd name="adj1" fmla="val 50000"/>
              <a:gd name="adj2" fmla="val 99726"/>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p:sp>
        <p:nvSpPr>
          <p:cNvPr id="62472" name="Object 8"/>
          <p:cNvSpPr txBox="1"/>
          <p:nvPr/>
        </p:nvSpPr>
        <p:spPr bwMode="auto">
          <a:xfrm>
            <a:off x="4724400" y="3321050"/>
            <a:ext cx="114300" cy="215900"/>
          </a:xfrm>
          <a:prstGeom prst="rect">
            <a:avLst/>
          </a:prstGeom>
          <a:noFill/>
          <a:ln>
            <a:noFill/>
          </a:ln>
          <a:effectLst/>
          <a:extLst/>
        </p:spPr>
        <p:txBody>
          <a:bodyPr>
            <a:normAutofit fontScale="40000" lnSpcReduction="20000"/>
          </a:bodyPr>
          <a:lstStyle/>
          <a:p>
            <a:endParaRPr lang="zh-CN" altLang="en-US"/>
          </a:p>
        </p:txBody>
      </p:sp>
      <p:sp>
        <p:nvSpPr>
          <p:cNvPr id="62473" name="Object 9"/>
          <p:cNvSpPr txBox="1"/>
          <p:nvPr/>
        </p:nvSpPr>
        <p:spPr bwMode="auto">
          <a:xfrm>
            <a:off x="4724400" y="3321050"/>
            <a:ext cx="114300" cy="215900"/>
          </a:xfrm>
          <a:prstGeom prst="rect">
            <a:avLst/>
          </a:prstGeom>
          <a:noFill/>
          <a:ln>
            <a:noFill/>
          </a:ln>
          <a:effectLst/>
          <a:extLst/>
        </p:spPr>
        <p:txBody>
          <a:bodyPr>
            <a:normAutofit fontScale="40000" lnSpcReduction="20000"/>
          </a:bodyPr>
          <a:lstStyle/>
          <a:p>
            <a:endParaRPr lang="zh-CN" altLang="en-US"/>
          </a:p>
        </p:txBody>
      </p:sp>
      <p:pic>
        <p:nvPicPr>
          <p:cNvPr id="34838" name="Picture 22" descr="图3-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51500" y="4292600"/>
            <a:ext cx="3132138"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3018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348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8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4830"/>
                                        </p:tgtEl>
                                        <p:attrNameLst>
                                          <p:attrName>style.visibility</p:attrName>
                                        </p:attrNameLst>
                                      </p:cBhvr>
                                      <p:to>
                                        <p:strVal val="visible"/>
                                      </p:to>
                                    </p:set>
                                    <p:animEffect transition="in" filter="wipe(left)">
                                      <p:cBhvr>
                                        <p:cTn id="23" dur="500"/>
                                        <p:tgtEl>
                                          <p:spTgt spid="348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4831"/>
                                        </p:tgtEl>
                                        <p:attrNameLst>
                                          <p:attrName>style.visibility</p:attrName>
                                        </p:attrNameLst>
                                      </p:cBhvr>
                                      <p:to>
                                        <p:strVal val="visible"/>
                                      </p:to>
                                    </p:set>
                                    <p:animEffect transition="in" filter="wipe(left)">
                                      <p:cBhvr>
                                        <p:cTn id="28" dur="500"/>
                                        <p:tgtEl>
                                          <p:spTgt spid="34831"/>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8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19" grpId="0"/>
      <p:bldP spid="34820" grpId="0"/>
      <p:bldP spid="34821" grpId="0"/>
      <p:bldP spid="34828" grpId="0"/>
      <p:bldP spid="34829" grpId="0"/>
      <p:bldP spid="34830" grpId="0" animBg="1"/>
      <p:bldP spid="3483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6"/>
          <p:cNvSpPr>
            <a:spLocks noChangeArrowheads="1"/>
          </p:cNvSpPr>
          <p:nvPr/>
        </p:nvSpPr>
        <p:spPr bwMode="auto">
          <a:xfrm>
            <a:off x="101600" y="115888"/>
            <a:ext cx="51911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a:solidFill>
                  <a:srgbClr val="FF0000"/>
                </a:solidFill>
              </a:rPr>
              <a:t>*</a:t>
            </a:r>
            <a:r>
              <a:rPr lang="zh-CN" altLang="en-US" b="1" dirty="0">
                <a:solidFill>
                  <a:srgbClr val="FF0000"/>
                </a:solidFill>
              </a:rPr>
              <a:t>六</a:t>
            </a:r>
            <a:r>
              <a:rPr kumimoji="1" lang="zh-CN" altLang="en-US" b="1">
                <a:solidFill>
                  <a:srgbClr val="FF0000"/>
                </a:solidFill>
              </a:rPr>
              <a:t>）</a:t>
            </a:r>
            <a:r>
              <a:rPr kumimoji="1" lang="zh-CN" altLang="en-US" b="1" dirty="0">
                <a:solidFill>
                  <a:srgbClr val="FF0000"/>
                </a:solidFill>
              </a:rPr>
              <a:t>、变质量物体的运动方程</a:t>
            </a:r>
          </a:p>
        </p:txBody>
      </p:sp>
      <p:grpSp>
        <p:nvGrpSpPr>
          <p:cNvPr id="37916" name="Group 28"/>
          <p:cNvGrpSpPr>
            <a:grpSpLocks/>
          </p:cNvGrpSpPr>
          <p:nvPr/>
        </p:nvGrpSpPr>
        <p:grpSpPr bwMode="auto">
          <a:xfrm>
            <a:off x="0" y="664912"/>
            <a:ext cx="8640763" cy="989013"/>
            <a:chOff x="158" y="458"/>
            <a:chExt cx="5443" cy="623"/>
          </a:xfrm>
        </p:grpSpPr>
        <p:sp>
          <p:nvSpPr>
            <p:cNvPr id="37895" name="Rectangle 7"/>
            <p:cNvSpPr>
              <a:spLocks noChangeArrowheads="1"/>
            </p:cNvSpPr>
            <p:nvPr/>
          </p:nvSpPr>
          <p:spPr bwMode="auto">
            <a:xfrm>
              <a:off x="158" y="458"/>
              <a:ext cx="5443" cy="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b="1" dirty="0"/>
                <a:t>设 </a:t>
              </a:r>
              <a:r>
                <a:rPr kumimoji="1" lang="en-US" altLang="zh-CN" b="1" i="1" dirty="0"/>
                <a:t>t</a:t>
              </a:r>
              <a:r>
                <a:rPr kumimoji="1" lang="en-US" altLang="zh-CN" b="1" dirty="0"/>
                <a:t> </a:t>
              </a:r>
              <a:r>
                <a:rPr kumimoji="1" lang="zh-CN" altLang="en-US" b="1" dirty="0"/>
                <a:t>时刻，某物体质量为</a:t>
              </a:r>
              <a:r>
                <a:rPr kumimoji="1" lang="zh-CN" altLang="en-US" b="1" i="1" dirty="0"/>
                <a:t> </a:t>
              </a:r>
              <a:r>
                <a:rPr kumimoji="1" lang="en-US" altLang="zh-CN" b="1" i="1" dirty="0"/>
                <a:t>m</a:t>
              </a:r>
              <a:r>
                <a:rPr kumimoji="1" lang="zh-CN" altLang="en-US" b="1" dirty="0"/>
                <a:t>，速度为    </a:t>
              </a:r>
              <a:r>
                <a:rPr kumimoji="1" lang="en-US" altLang="zh-CN" b="1" dirty="0"/>
                <a:t>(&lt;&lt;</a:t>
              </a:r>
              <a:r>
                <a:rPr kumimoji="1" lang="en-US" altLang="zh-CN" b="1" i="1" dirty="0"/>
                <a:t>c</a:t>
              </a:r>
              <a:r>
                <a:rPr kumimoji="1" lang="en-US" altLang="zh-CN" b="1" dirty="0"/>
                <a:t>)</a:t>
              </a:r>
              <a:r>
                <a:rPr kumimoji="1" lang="zh-CN" altLang="en-US" b="1" dirty="0"/>
                <a:t>，另有一质元</a:t>
              </a:r>
              <a:r>
                <a:rPr kumimoji="1" lang="en-US" altLang="zh-CN" b="1" dirty="0" err="1"/>
                <a:t>d</a:t>
              </a:r>
              <a:r>
                <a:rPr kumimoji="1" lang="en-US" altLang="zh-CN" b="1" i="1" dirty="0" err="1"/>
                <a:t>m</a:t>
              </a:r>
              <a:r>
                <a:rPr kumimoji="1" lang="en-US" altLang="zh-CN" b="1" i="1" dirty="0"/>
                <a:t> </a:t>
              </a:r>
              <a:r>
                <a:rPr kumimoji="1" lang="zh-CN" altLang="en-US" b="1" dirty="0"/>
                <a:t>，速度为     。</a:t>
              </a:r>
              <a:endParaRPr kumimoji="1" lang="zh-CN" altLang="en-US" b="1" dirty="0">
                <a:solidFill>
                  <a:schemeClr val="tx2"/>
                </a:solidFill>
              </a:endParaRPr>
            </a:p>
          </p:txBody>
        </p:sp>
        <mc:AlternateContent xmlns:mc="http://schemas.openxmlformats.org/markup-compatibility/2006" xmlns:a14="http://schemas.microsoft.com/office/drawing/2010/main">
          <mc:Choice Requires="a14">
            <p:sp>
              <p:nvSpPr>
                <p:cNvPr id="37896" name="Object 8"/>
                <p:cNvSpPr txBox="1"/>
                <p:nvPr/>
              </p:nvSpPr>
              <p:spPr bwMode="auto">
                <a:xfrm>
                  <a:off x="3243" y="458"/>
                  <a:ext cx="234" cy="328"/>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oMath>
                    </m:oMathPara>
                  </a14:m>
                  <a:endParaRPr lang="zh-CN" altLang="en-US"/>
                </a:p>
              </p:txBody>
            </p:sp>
          </mc:Choice>
          <mc:Fallback xmlns="">
            <p:sp>
              <p:nvSpPr>
                <p:cNvPr id="37896" name="Object 8"/>
                <p:cNvSpPr txBox="1">
                  <a:spLocks noRot="1" noChangeAspect="1" noMove="1" noResize="1" noEditPoints="1" noAdjustHandles="1" noChangeArrowheads="1" noChangeShapeType="1" noTextEdit="1"/>
                </p:cNvSpPr>
                <p:nvPr/>
              </p:nvSpPr>
              <p:spPr bwMode="auto">
                <a:xfrm>
                  <a:off x="3243" y="458"/>
                  <a:ext cx="234" cy="328"/>
                </a:xfrm>
                <a:prstGeom prst="rect">
                  <a:avLst/>
                </a:prstGeom>
                <a:blipFill>
                  <a:blip r:embed="rId2"/>
                  <a:stretch>
                    <a:fillRect t="-16471" r="-32787"/>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897" name="Object 9"/>
                <p:cNvSpPr txBox="1"/>
                <p:nvPr/>
              </p:nvSpPr>
              <p:spPr bwMode="auto">
                <a:xfrm>
                  <a:off x="815" y="763"/>
                  <a:ext cx="205" cy="31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𝑢</m:t>
                            </m:r>
                          </m:e>
                        </m:acc>
                      </m:oMath>
                    </m:oMathPara>
                  </a14:m>
                  <a:endParaRPr lang="zh-CN" altLang="en-US" dirty="0"/>
                </a:p>
              </p:txBody>
            </p:sp>
          </mc:Choice>
          <mc:Fallback xmlns="">
            <p:sp>
              <p:nvSpPr>
                <p:cNvPr id="37897" name="Object 9"/>
                <p:cNvSpPr txBox="1">
                  <a:spLocks noRot="1" noChangeAspect="1" noMove="1" noResize="1" noEditPoints="1" noAdjustHandles="1" noChangeArrowheads="1" noChangeShapeType="1" noTextEdit="1"/>
                </p:cNvSpPr>
                <p:nvPr/>
              </p:nvSpPr>
              <p:spPr bwMode="auto">
                <a:xfrm>
                  <a:off x="815" y="763"/>
                  <a:ext cx="205" cy="318"/>
                </a:xfrm>
                <a:prstGeom prst="rect">
                  <a:avLst/>
                </a:prstGeom>
                <a:blipFill>
                  <a:blip r:embed="rId3"/>
                  <a:stretch>
                    <a:fillRect r="-7547"/>
                  </a:stretch>
                </a:blipFill>
                <a:ln>
                  <a:noFill/>
                </a:ln>
                <a:effectLst/>
              </p:spPr>
              <p:txBody>
                <a:bodyPr/>
                <a:lstStyle/>
                <a:p>
                  <a:r>
                    <a:rPr lang="zh-CN" altLang="en-US">
                      <a:noFill/>
                    </a:rPr>
                    <a:t> </a:t>
                  </a:r>
                </a:p>
              </p:txBody>
            </p:sp>
          </mc:Fallback>
        </mc:AlternateContent>
      </p:grpSp>
      <p:grpSp>
        <p:nvGrpSpPr>
          <p:cNvPr id="37905" name="Group 17"/>
          <p:cNvGrpSpPr>
            <a:grpSpLocks/>
          </p:cNvGrpSpPr>
          <p:nvPr/>
        </p:nvGrpSpPr>
        <p:grpSpPr bwMode="auto">
          <a:xfrm>
            <a:off x="300781" y="1903409"/>
            <a:ext cx="5548314" cy="517525"/>
            <a:chOff x="249" y="1364"/>
            <a:chExt cx="3495" cy="326"/>
          </a:xfrm>
        </p:grpSpPr>
        <p:sp>
          <p:nvSpPr>
            <p:cNvPr id="37899" name="Rectangle 11"/>
            <p:cNvSpPr>
              <a:spLocks noChangeArrowheads="1"/>
            </p:cNvSpPr>
            <p:nvPr/>
          </p:nvSpPr>
          <p:spPr bwMode="auto">
            <a:xfrm>
              <a:off x="249" y="1389"/>
              <a:ext cx="34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i="1">
                  <a:solidFill>
                    <a:schemeClr val="tx2"/>
                  </a:solidFill>
                </a:rPr>
                <a:t>t+</a:t>
              </a:r>
              <a:r>
                <a:rPr kumimoji="1" lang="en-US" altLang="zh-CN" b="1">
                  <a:solidFill>
                    <a:schemeClr val="tx2"/>
                  </a:solidFill>
                </a:rPr>
                <a:t>d</a:t>
              </a:r>
              <a:r>
                <a:rPr kumimoji="1" lang="en-US" altLang="zh-CN" b="1" i="1">
                  <a:solidFill>
                    <a:schemeClr val="tx2"/>
                  </a:solidFill>
                </a:rPr>
                <a:t>t </a:t>
              </a:r>
              <a:r>
                <a:rPr kumimoji="1" lang="zh-CN" altLang="en-US" b="1">
                  <a:solidFill>
                    <a:schemeClr val="tx2"/>
                  </a:solidFill>
                </a:rPr>
                <a:t>时刻合并后的共同速度为              ，</a:t>
              </a:r>
              <a:endParaRPr kumimoji="1" lang="zh-CN" altLang="en-US" b="1" i="1">
                <a:solidFill>
                  <a:schemeClr val="tx2"/>
                </a:solidFill>
              </a:endParaRPr>
            </a:p>
          </p:txBody>
        </p:sp>
        <mc:AlternateContent xmlns:mc="http://schemas.openxmlformats.org/markup-compatibility/2006" xmlns:a14="http://schemas.microsoft.com/office/drawing/2010/main">
          <mc:Choice Requires="a14">
            <p:sp>
              <p:nvSpPr>
                <p:cNvPr id="37898" name="Object 10"/>
                <p:cNvSpPr txBox="1"/>
                <p:nvPr/>
              </p:nvSpPr>
              <p:spPr bwMode="auto">
                <a:xfrm>
                  <a:off x="2762" y="1364"/>
                  <a:ext cx="767" cy="326"/>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oMath>
                    </m:oMathPara>
                  </a14:m>
                  <a:endParaRPr lang="zh-CN" altLang="en-US"/>
                </a:p>
              </p:txBody>
            </p:sp>
          </mc:Choice>
          <mc:Fallback xmlns="">
            <p:sp>
              <p:nvSpPr>
                <p:cNvPr id="37898" name="Object 10"/>
                <p:cNvSpPr txBox="1">
                  <a:spLocks noRot="1" noChangeAspect="1" noMove="1" noResize="1" noEditPoints="1" noAdjustHandles="1" noChangeArrowheads="1" noChangeShapeType="1" noTextEdit="1"/>
                </p:cNvSpPr>
                <p:nvPr/>
              </p:nvSpPr>
              <p:spPr bwMode="auto">
                <a:xfrm>
                  <a:off x="2762" y="1364"/>
                  <a:ext cx="767" cy="326"/>
                </a:xfrm>
                <a:prstGeom prst="rect">
                  <a:avLst/>
                </a:prstGeom>
                <a:blipFill>
                  <a:blip r:embed="rId4"/>
                  <a:stretch>
                    <a:fillRect t="-16471" r="-26500"/>
                  </a:stretch>
                </a:blipFill>
                <a:ln>
                  <a:noFill/>
                </a:ln>
                <a:effectLst/>
                <a:extLst/>
              </p:spPr>
              <p:txBody>
                <a:bodyPr/>
                <a:lstStyle/>
                <a:p>
                  <a:r>
                    <a:rPr lang="zh-CN" altLang="en-US">
                      <a:noFill/>
                    </a:rPr>
                    <a:t> </a:t>
                  </a:r>
                </a:p>
              </p:txBody>
            </p:sp>
          </mc:Fallback>
        </mc:AlternateContent>
      </p:grpSp>
      <p:sp>
        <p:nvSpPr>
          <p:cNvPr id="37900" name="Rectangle 12"/>
          <p:cNvSpPr>
            <a:spLocks noChangeArrowheads="1"/>
          </p:cNvSpPr>
          <p:nvPr/>
        </p:nvSpPr>
        <p:spPr bwMode="auto">
          <a:xfrm>
            <a:off x="250826" y="2492375"/>
            <a:ext cx="525695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a:solidFill>
                  <a:schemeClr val="tx2"/>
                </a:solidFill>
              </a:rPr>
              <a:t>合并后的质量为</a:t>
            </a:r>
            <a:r>
              <a:rPr lang="en-US" altLang="zh-CN" b="1" i="1">
                <a:solidFill>
                  <a:schemeClr val="tx2"/>
                </a:solidFill>
              </a:rPr>
              <a:t>m</a:t>
            </a:r>
            <a:r>
              <a:rPr lang="en-US" altLang="zh-CN" b="1">
                <a:solidFill>
                  <a:schemeClr val="tx2"/>
                </a:solidFill>
              </a:rPr>
              <a:t>+d</a:t>
            </a:r>
            <a:r>
              <a:rPr lang="en-US" altLang="zh-CN" b="1" i="1">
                <a:solidFill>
                  <a:schemeClr val="tx2"/>
                </a:solidFill>
              </a:rPr>
              <a:t>m,</a:t>
            </a:r>
            <a:r>
              <a:rPr kumimoji="1" lang="zh-CN" altLang="en-US" b="1">
                <a:solidFill>
                  <a:schemeClr val="tx2"/>
                </a:solidFill>
              </a:rPr>
              <a:t>把物体与质元作为系统，由动量定理</a:t>
            </a:r>
          </a:p>
        </p:txBody>
      </p:sp>
      <mc:AlternateContent xmlns:mc="http://schemas.openxmlformats.org/markup-compatibility/2006" xmlns:a14="http://schemas.microsoft.com/office/drawing/2010/main">
        <mc:Choice Requires="a14">
          <p:sp>
            <p:nvSpPr>
              <p:cNvPr id="37901" name="Object 13"/>
              <p:cNvSpPr txBox="1"/>
              <p:nvPr/>
            </p:nvSpPr>
            <p:spPr bwMode="auto">
              <a:xfrm>
                <a:off x="0" y="3991805"/>
                <a:ext cx="5402013" cy="5810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𝑚</m:t>
                      </m:r>
                      <m:r>
                        <a:rPr lang="zh-CN" altLang="en-US" i="1" smtClean="0">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m:t>
                      </m:r>
                      <m:acc>
                        <m:accPr>
                          <m:chr m:val="⃗"/>
                          <m:ctrlPr>
                            <a:rPr lang="zh-CN" altLang="en-US" i="1" smtClean="0">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𝑣</m:t>
                          </m:r>
                        </m:e>
                      </m:acc>
                      <m:r>
                        <a:rPr lang="zh-CN" altLang="en-US" i="1">
                          <a:solidFill>
                            <a:srgbClr val="000000"/>
                          </a:solidFill>
                          <a:latin typeface="Cambria Math" panose="02040503050406030204" pitchFamily="18" charset="0"/>
                        </a:rPr>
                        <m:t>+</m:t>
                      </m:r>
                      <m:r>
                        <m:rPr>
                          <m:sty m:val="p"/>
                        </m:rPr>
                        <a:rPr lang="en-US" altLang="zh-CN" b="0" i="0" smtClean="0">
                          <a:solidFill>
                            <a:srgbClr val="000000"/>
                          </a:solidFill>
                          <a:latin typeface="Cambria Math" panose="02040503050406030204" pitchFamily="18" charset="0"/>
                        </a:rPr>
                        <m:t>d</m:t>
                      </m:r>
                      <m:acc>
                        <m:accPr>
                          <m:chr m:val="⃗"/>
                          <m:ctrlPr>
                            <a:rPr lang="zh-CN" altLang="en-US" i="1">
                              <a:solidFill>
                                <a:srgbClr val="000000"/>
                              </a:solidFill>
                              <a:latin typeface="Cambria Math" panose="02040503050406030204" pitchFamily="18" charset="0"/>
                            </a:rPr>
                          </m:ctrlPr>
                        </m:accPr>
                        <m:e>
                          <m:r>
                            <a:rPr lang="en-US" altLang="zh-CN" b="0" i="1" smtClean="0">
                              <a:solidFill>
                                <a:srgbClr val="000000"/>
                              </a:solidFill>
                              <a:latin typeface="Cambria Math" panose="02040503050406030204" pitchFamily="18" charset="0"/>
                            </a:rPr>
                            <m:t>𝑣</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acc>
                        <m:accPr>
                          <m:chr m:val="⃗"/>
                          <m:ctrlPr>
                            <a:rPr lang="zh-CN" altLang="en-US" i="1">
                              <a:solidFill>
                                <a:srgbClr val="000000"/>
                              </a:solidFill>
                              <a:latin typeface="Cambria Math" panose="02040503050406030204" pitchFamily="18" charset="0"/>
                            </a:rPr>
                          </m:ctrlPr>
                        </m:accPr>
                        <m:e>
                          <m:r>
                            <a:rPr lang="en-US" altLang="zh-CN" i="1">
                              <a:solidFill>
                                <a:srgbClr val="000000"/>
                              </a:solidFill>
                              <a:latin typeface="Cambria Math" panose="02040503050406030204" pitchFamily="18" charset="0"/>
                            </a:rPr>
                            <m:t>𝑣</m:t>
                          </m:r>
                        </m:e>
                      </m:ac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 </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𝐮</m:t>
                          </m:r>
                        </m:e>
                      </m:acc>
                    </m:oMath>
                  </m:oMathPara>
                </a14:m>
                <a:endParaRPr lang="zh-CN" altLang="en-US" dirty="0"/>
              </a:p>
            </p:txBody>
          </p:sp>
        </mc:Choice>
        <mc:Fallback xmlns="">
          <p:sp>
            <p:nvSpPr>
              <p:cNvPr id="37901" name="Object 13"/>
              <p:cNvSpPr txBox="1">
                <a:spLocks noRot="1" noChangeAspect="1" noMove="1" noResize="1" noEditPoints="1" noAdjustHandles="1" noChangeArrowheads="1" noChangeShapeType="1" noTextEdit="1"/>
              </p:cNvSpPr>
              <p:nvPr/>
            </p:nvSpPr>
            <p:spPr bwMode="auto">
              <a:xfrm>
                <a:off x="0" y="3991805"/>
                <a:ext cx="5402013" cy="581025"/>
              </a:xfrm>
              <a:prstGeom prst="rect">
                <a:avLst/>
              </a:prstGeom>
              <a:blipFill>
                <a:blip r:embed="rId5"/>
                <a:stretch>
                  <a:fillRect t="-14737"/>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902" name="Object 14"/>
              <p:cNvSpPr txBox="1"/>
              <p:nvPr/>
            </p:nvSpPr>
            <p:spPr bwMode="auto">
              <a:xfrm>
                <a:off x="5145453" y="3991805"/>
                <a:ext cx="1223962" cy="576262"/>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𝐅</m:t>
                          </m:r>
                        </m:e>
                      </m:acc>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oMath>
                  </m:oMathPara>
                </a14:m>
                <a:endParaRPr lang="zh-CN" altLang="en-US" dirty="0"/>
              </a:p>
            </p:txBody>
          </p:sp>
        </mc:Choice>
        <mc:Fallback xmlns="">
          <p:sp>
            <p:nvSpPr>
              <p:cNvPr id="37902" name="Object 14"/>
              <p:cNvSpPr txBox="1">
                <a:spLocks noRot="1" noChangeAspect="1" noMove="1" noResize="1" noEditPoints="1" noAdjustHandles="1" noChangeArrowheads="1" noChangeShapeType="1" noTextEdit="1"/>
              </p:cNvSpPr>
              <p:nvPr/>
            </p:nvSpPr>
            <p:spPr bwMode="auto">
              <a:xfrm>
                <a:off x="5145453" y="3991805"/>
                <a:ext cx="1223962" cy="576262"/>
              </a:xfrm>
              <a:prstGeom prst="rect">
                <a:avLst/>
              </a:prstGeom>
              <a:blipFill>
                <a:blip r:embed="rId6"/>
                <a:stretch>
                  <a:fillRect/>
                </a:stretch>
              </a:blipFill>
              <a:ln>
                <a:noFill/>
              </a:ln>
              <a:effectLst/>
              <a:extLst/>
            </p:spPr>
            <p:txBody>
              <a:bodyPr/>
              <a:lstStyle/>
              <a:p>
                <a:r>
                  <a:rPr lang="zh-CN" altLang="en-US">
                    <a:noFill/>
                  </a:rPr>
                  <a:t> </a:t>
                </a:r>
              </a:p>
            </p:txBody>
          </p:sp>
        </mc:Fallback>
      </mc:AlternateContent>
      <p:sp>
        <p:nvSpPr>
          <p:cNvPr id="37906" name="Rectangle 18"/>
          <p:cNvSpPr>
            <a:spLocks noChangeArrowheads="1"/>
          </p:cNvSpPr>
          <p:nvPr/>
        </p:nvSpPr>
        <p:spPr bwMode="auto">
          <a:xfrm>
            <a:off x="526818" y="4983801"/>
            <a:ext cx="32400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a:solidFill>
                  <a:schemeClr val="tx2"/>
                </a:solidFill>
              </a:rPr>
              <a:t>略去二阶小量，</a:t>
            </a:r>
            <a:endParaRPr kumimoji="1" lang="zh-CN" altLang="en-US" b="1" i="1">
              <a:solidFill>
                <a:schemeClr val="tx2"/>
              </a:solidFill>
            </a:endParaRPr>
          </a:p>
        </p:txBody>
      </p:sp>
      <mc:AlternateContent xmlns:mc="http://schemas.openxmlformats.org/markup-compatibility/2006" xmlns:a14="http://schemas.microsoft.com/office/drawing/2010/main">
        <mc:Choice Requires="a14">
          <p:sp>
            <p:nvSpPr>
              <p:cNvPr id="37907" name="Object 19"/>
              <p:cNvSpPr txBox="1"/>
              <p:nvPr/>
            </p:nvSpPr>
            <p:spPr bwMode="auto">
              <a:xfrm>
                <a:off x="3773310" y="4753198"/>
                <a:ext cx="3744912" cy="1138237"/>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𝐯</m:t>
                                  </m:r>
                                </m:e>
                              </m:acc>
                              <m:r>
                                <a:rPr lang="zh-CN" altLang="en-US" i="1">
                                  <a:solidFill>
                                    <a:srgbClr val="000000"/>
                                  </a:solidFill>
                                  <a:latin typeface="Cambria Math" panose="02040503050406030204" pitchFamily="18" charset="0"/>
                                </a:rPr>
                                <m:t>)</m:t>
                              </m:r>
                            </m:e>
                          </m:func>
                        </m:num>
                        <m:den>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num>
                        <m:den>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𝑡</m:t>
                              </m:r>
                            </m:e>
                          </m:func>
                        </m:den>
                      </m:f>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𝐮</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𝐅</m:t>
                          </m:r>
                        </m:e>
                      </m:acc>
                    </m:oMath>
                  </m:oMathPara>
                </a14:m>
                <a:endParaRPr lang="zh-CN" altLang="en-US" dirty="0"/>
              </a:p>
            </p:txBody>
          </p:sp>
        </mc:Choice>
        <mc:Fallback xmlns="">
          <p:sp>
            <p:nvSpPr>
              <p:cNvPr id="37907" name="Object 19"/>
              <p:cNvSpPr txBox="1">
                <a:spLocks noRot="1" noChangeAspect="1" noMove="1" noResize="1" noEditPoints="1" noAdjustHandles="1" noChangeArrowheads="1" noChangeShapeType="1" noTextEdit="1"/>
              </p:cNvSpPr>
              <p:nvPr/>
            </p:nvSpPr>
            <p:spPr bwMode="auto">
              <a:xfrm>
                <a:off x="3773310" y="4753198"/>
                <a:ext cx="3744912" cy="1138237"/>
              </a:xfrm>
              <a:prstGeom prst="rect">
                <a:avLst/>
              </a:prstGeom>
              <a:blipFill>
                <a:blip r:embed="rId7"/>
                <a:stretch>
                  <a:fillRect/>
                </a:stretch>
              </a:blipFill>
              <a:ln>
                <a:noFill/>
              </a:ln>
              <a:effectLst/>
              <a:extLst/>
            </p:spPr>
            <p:txBody>
              <a:bodyPr/>
              <a:lstStyle/>
              <a:p>
                <a:r>
                  <a:rPr lang="zh-CN" altLang="en-US">
                    <a:noFill/>
                  </a:rPr>
                  <a:t> </a:t>
                </a:r>
              </a:p>
            </p:txBody>
          </p:sp>
        </mc:Fallback>
      </mc:AlternateContent>
      <p:sp>
        <p:nvSpPr>
          <p:cNvPr id="37908" name="AutoShape 20"/>
          <p:cNvSpPr>
            <a:spLocks noChangeArrowheads="1"/>
          </p:cNvSpPr>
          <p:nvPr/>
        </p:nvSpPr>
        <p:spPr bwMode="auto">
          <a:xfrm>
            <a:off x="3074938" y="5120987"/>
            <a:ext cx="576262" cy="144462"/>
          </a:xfrm>
          <a:prstGeom prst="rightArrow">
            <a:avLst>
              <a:gd name="adj1" fmla="val 50000"/>
              <a:gd name="adj2" fmla="val 9972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9" name="Rectangle 21"/>
          <p:cNvSpPr>
            <a:spLocks noChangeArrowheads="1"/>
          </p:cNvSpPr>
          <p:nvPr/>
        </p:nvSpPr>
        <p:spPr bwMode="auto">
          <a:xfrm>
            <a:off x="2676395" y="5625483"/>
            <a:ext cx="42100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a:solidFill>
                  <a:srgbClr val="0000FF"/>
                </a:solidFill>
              </a:rPr>
              <a:t>变质量物体运动方程</a:t>
            </a:r>
          </a:p>
        </p:txBody>
      </p:sp>
      <p:sp>
        <p:nvSpPr>
          <p:cNvPr id="37910" name="Rectangle 22"/>
          <p:cNvSpPr>
            <a:spLocks noChangeArrowheads="1"/>
          </p:cNvSpPr>
          <p:nvPr/>
        </p:nvSpPr>
        <p:spPr bwMode="auto">
          <a:xfrm>
            <a:off x="327342" y="6237752"/>
            <a:ext cx="84963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buFontTx/>
              <a:buBlip>
                <a:blip r:embed="rId8"/>
              </a:buBlip>
            </a:pPr>
            <a:r>
              <a:rPr kumimoji="1" lang="en-US" altLang="zh-CN" b="1"/>
              <a:t> </a:t>
            </a:r>
            <a:r>
              <a:rPr kumimoji="1" lang="zh-CN" altLang="en-US" b="1"/>
              <a:t>注意：</a:t>
            </a:r>
            <a:r>
              <a:rPr kumimoji="1" lang="en-US" altLang="zh-CN" b="1"/>
              <a:t>d</a:t>
            </a:r>
            <a:r>
              <a:rPr kumimoji="1" lang="en-US" altLang="zh-CN" b="1" i="1"/>
              <a:t>m</a:t>
            </a:r>
            <a:r>
              <a:rPr kumimoji="1" lang="zh-CN" altLang="en-US" b="1"/>
              <a:t>可正可负，当</a:t>
            </a:r>
            <a:r>
              <a:rPr kumimoji="1" lang="en-US" altLang="zh-CN" b="1"/>
              <a:t>d</a:t>
            </a:r>
            <a:r>
              <a:rPr kumimoji="1" lang="en-US" altLang="zh-CN" b="1" i="1"/>
              <a:t>m</a:t>
            </a:r>
            <a:r>
              <a:rPr kumimoji="1" lang="zh-CN" altLang="en-US" b="1"/>
              <a:t>取负时，表明物体质量减小。</a:t>
            </a:r>
          </a:p>
        </p:txBody>
      </p:sp>
      <p:pic>
        <p:nvPicPr>
          <p:cNvPr id="81922" name="Picture 2" descr="https://p8.itc.cn/q_70/images03/20220620/4817d4fce59f470fa0cc3bb6f8fdcb2c.png">
            <a:extLst>
              <a:ext uri="{FF2B5EF4-FFF2-40B4-BE49-F238E27FC236}">
                <a16:creationId xmlns:a16="http://schemas.microsoft.com/office/drawing/2014/main" id="{F9DDC7E4-4717-4B9F-BC1F-A23CBCBB9FE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689743" y="1396385"/>
            <a:ext cx="3454209" cy="259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9000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7894"/>
                                        </p:tgtEl>
                                        <p:attrNameLst>
                                          <p:attrName>style.visibility</p:attrName>
                                        </p:attrNameLst>
                                      </p:cBhvr>
                                      <p:to>
                                        <p:strVal val="visible"/>
                                      </p:to>
                                    </p:set>
                                    <p:animEffect transition="in" filter="wipe(left)">
                                      <p:cBhvr>
                                        <p:cTn id="7" dur="500"/>
                                        <p:tgtEl>
                                          <p:spTgt spid="378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7916"/>
                                        </p:tgtEl>
                                        <p:attrNameLst>
                                          <p:attrName>style.visibility</p:attrName>
                                        </p:attrNameLst>
                                      </p:cBhvr>
                                      <p:to>
                                        <p:strVal val="visible"/>
                                      </p:to>
                                    </p:set>
                                    <p:animEffect transition="in" filter="wipe(left)">
                                      <p:cBhvr>
                                        <p:cTn id="12" dur="500"/>
                                        <p:tgtEl>
                                          <p:spTgt spid="379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7905"/>
                                        </p:tgtEl>
                                        <p:attrNameLst>
                                          <p:attrName>style.visibility</p:attrName>
                                        </p:attrNameLst>
                                      </p:cBhvr>
                                      <p:to>
                                        <p:strVal val="visible"/>
                                      </p:to>
                                    </p:set>
                                    <p:animEffect transition="in" filter="wipe(left)">
                                      <p:cBhvr>
                                        <p:cTn id="17" dur="500"/>
                                        <p:tgtEl>
                                          <p:spTgt spid="379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900"/>
                                        </p:tgtEl>
                                        <p:attrNameLst>
                                          <p:attrName>style.visibility</p:attrName>
                                        </p:attrNameLst>
                                      </p:cBhvr>
                                      <p:to>
                                        <p:strVal val="visible"/>
                                      </p:to>
                                    </p:set>
                                    <p:animEffect transition="in" filter="wipe(left)">
                                      <p:cBhvr>
                                        <p:cTn id="22" dur="500"/>
                                        <p:tgtEl>
                                          <p:spTgt spid="379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90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90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7906"/>
                                        </p:tgtEl>
                                        <p:attrNameLst>
                                          <p:attrName>style.visibility</p:attrName>
                                        </p:attrNameLst>
                                      </p:cBhvr>
                                      <p:to>
                                        <p:strVal val="visible"/>
                                      </p:to>
                                    </p:set>
                                    <p:animEffect transition="in" filter="wipe(left)">
                                      <p:cBhvr>
                                        <p:cTn id="33" dur="500"/>
                                        <p:tgtEl>
                                          <p:spTgt spid="3790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7908"/>
                                        </p:tgtEl>
                                        <p:attrNameLst>
                                          <p:attrName>style.visibility</p:attrName>
                                        </p:attrNameLst>
                                      </p:cBhvr>
                                      <p:to>
                                        <p:strVal val="visible"/>
                                      </p:to>
                                    </p:set>
                                    <p:animEffect transition="in" filter="wipe(left)">
                                      <p:cBhvr>
                                        <p:cTn id="38" dur="500"/>
                                        <p:tgtEl>
                                          <p:spTgt spid="3790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90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7909"/>
                                        </p:tgtEl>
                                        <p:attrNameLst>
                                          <p:attrName>style.visibility</p:attrName>
                                        </p:attrNameLst>
                                      </p:cBhvr>
                                      <p:to>
                                        <p:strVal val="visible"/>
                                      </p:to>
                                    </p:set>
                                    <p:animEffect transition="in" filter="wipe(left)">
                                      <p:cBhvr>
                                        <p:cTn id="47" dur="500"/>
                                        <p:tgtEl>
                                          <p:spTgt spid="3790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7910"/>
                                        </p:tgtEl>
                                        <p:attrNameLst>
                                          <p:attrName>style.visibility</p:attrName>
                                        </p:attrNameLst>
                                      </p:cBhvr>
                                      <p:to>
                                        <p:strVal val="visible"/>
                                      </p:to>
                                    </p:set>
                                    <p:animEffect transition="in" filter="wipe(left)">
                                      <p:cBhvr>
                                        <p:cTn id="52" dur="500"/>
                                        <p:tgtEl>
                                          <p:spTgt spid="37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p:bldP spid="37900" grpId="0"/>
      <p:bldP spid="37901" grpId="0"/>
      <p:bldP spid="37902" grpId="0"/>
      <p:bldP spid="37906" grpId="0" autoUpdateAnimBg="0"/>
      <p:bldP spid="37907" grpId="0"/>
      <p:bldP spid="37909" grpId="0"/>
      <p:bldP spid="3791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07950" y="115888"/>
            <a:ext cx="3384550" cy="155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sz="2800" b="1" baseline="30000">
                <a:solidFill>
                  <a:srgbClr val="FF0000"/>
                </a:solidFill>
              </a:rPr>
              <a:t>*</a:t>
            </a:r>
            <a:r>
              <a:rPr lang="zh-CN" altLang="en-US" sz="2800" b="1" dirty="0">
                <a:solidFill>
                  <a:srgbClr val="FF0000"/>
                </a:solidFill>
              </a:rPr>
              <a:t>七）、</a:t>
            </a:r>
            <a:r>
              <a:rPr lang="zh-CN" altLang="en-US" sz="2800" b="1">
                <a:solidFill>
                  <a:srgbClr val="FF0000"/>
                </a:solidFill>
              </a:rPr>
              <a:t>火箭飞行</a:t>
            </a:r>
            <a:endParaRPr lang="en-US" altLang="zh-CN" sz="2800" b="1">
              <a:solidFill>
                <a:srgbClr val="FF0000"/>
              </a:solidFill>
            </a:endParaRPr>
          </a:p>
          <a:p>
            <a:pPr>
              <a:spcBef>
                <a:spcPct val="20000"/>
              </a:spcBef>
            </a:pPr>
            <a:r>
              <a:rPr lang="en-US" altLang="zh-CN" sz="2800" b="1"/>
              <a:t>(1)</a:t>
            </a:r>
            <a:r>
              <a:rPr lang="zh-CN" altLang="en-US" sz="2800" b="1"/>
              <a:t>火箭的速度</a:t>
            </a:r>
            <a:endParaRPr lang="en-US" altLang="zh-CN" sz="2800" b="1"/>
          </a:p>
          <a:p>
            <a:pPr>
              <a:spcBef>
                <a:spcPct val="20000"/>
              </a:spcBef>
            </a:pPr>
            <a:endParaRPr lang="zh-CN" altLang="en-US" sz="2800" b="1" dirty="0">
              <a:solidFill>
                <a:srgbClr val="FF0000"/>
              </a:solidFill>
            </a:endParaRPr>
          </a:p>
        </p:txBody>
      </p:sp>
      <p:sp>
        <p:nvSpPr>
          <p:cNvPr id="28675" name="Text Box 3"/>
          <p:cNvSpPr txBox="1">
            <a:spLocks noChangeArrowheads="1"/>
          </p:cNvSpPr>
          <p:nvPr/>
        </p:nvSpPr>
        <p:spPr bwMode="auto">
          <a:xfrm>
            <a:off x="215900" y="1289000"/>
            <a:ext cx="66611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lnSpc>
                <a:spcPct val="120000"/>
              </a:lnSpc>
              <a:spcBef>
                <a:spcPct val="20000"/>
              </a:spcBef>
            </a:pPr>
            <a:r>
              <a:rPr lang="zh-CN" altLang="en-US" sz="2800" b="1"/>
              <a:t>设 </a:t>
            </a:r>
            <a:r>
              <a:rPr lang="en-US" altLang="zh-CN" sz="2800" b="1" i="1"/>
              <a:t>t</a:t>
            </a:r>
            <a:r>
              <a:rPr lang="en-US" altLang="zh-CN" sz="2800" b="1"/>
              <a:t> </a:t>
            </a:r>
            <a:r>
              <a:rPr lang="zh-CN" altLang="en-US" sz="2800" b="1"/>
              <a:t>时刻，火箭质量为</a:t>
            </a:r>
            <a:r>
              <a:rPr lang="zh-CN" altLang="en-US" sz="2800" b="1" i="1"/>
              <a:t> </a:t>
            </a:r>
            <a:r>
              <a:rPr lang="en-US" altLang="zh-CN" sz="2800" b="1" i="1"/>
              <a:t>m</a:t>
            </a:r>
            <a:r>
              <a:rPr lang="zh-CN" altLang="en-US" sz="2800" b="1"/>
              <a:t>，速度为 </a:t>
            </a:r>
            <a:r>
              <a:rPr lang="en-US" altLang="zh-CN" sz="2800" b="1" i="1"/>
              <a:t>v</a:t>
            </a:r>
            <a:r>
              <a:rPr lang="en-US" altLang="zh-CN" sz="2800" b="1"/>
              <a:t> (</a:t>
            </a:r>
            <a:r>
              <a:rPr lang="zh-CN" altLang="en-US" sz="2800" b="1"/>
              <a:t>向上</a:t>
            </a:r>
            <a:r>
              <a:rPr lang="en-US" altLang="zh-CN" sz="2800" b="1"/>
              <a:t>)</a:t>
            </a:r>
            <a:r>
              <a:rPr lang="zh-CN" altLang="en-US" sz="2800" b="1"/>
              <a:t>，在</a:t>
            </a:r>
            <a:r>
              <a:rPr lang="zh-CN" altLang="en-US" sz="2800" b="1" i="1"/>
              <a:t> </a:t>
            </a:r>
            <a:r>
              <a:rPr lang="en-US" altLang="zh-CN" sz="2800" b="1"/>
              <a:t>d</a:t>
            </a:r>
            <a:r>
              <a:rPr lang="en-US" altLang="zh-CN" sz="2800" b="1" i="1"/>
              <a:t>t </a:t>
            </a:r>
            <a:r>
              <a:rPr lang="zh-CN" altLang="en-US" sz="2800" b="1"/>
              <a:t>内，喷出气体 </a:t>
            </a:r>
            <a:r>
              <a:rPr lang="en-US" altLang="zh-CN" sz="2800" b="1"/>
              <a:t>d</a:t>
            </a:r>
            <a:r>
              <a:rPr lang="en-US" altLang="zh-CN" sz="2800" b="1" i="1"/>
              <a:t>m </a:t>
            </a:r>
            <a:r>
              <a:rPr lang="en-US" altLang="zh-CN" sz="2800" b="1"/>
              <a:t>(&lt;0)</a:t>
            </a:r>
            <a:r>
              <a:rPr lang="zh-CN" altLang="en-US" sz="2800" b="1"/>
              <a:t>，喷气相对火箭的速度</a:t>
            </a:r>
            <a:r>
              <a:rPr lang="en-US" altLang="zh-CN" sz="2800" b="1"/>
              <a:t>(</a:t>
            </a:r>
            <a:r>
              <a:rPr lang="zh-CN" altLang="en-US" sz="2800" b="1"/>
              <a:t>称喷气速度</a:t>
            </a:r>
            <a:r>
              <a:rPr lang="en-US" altLang="zh-CN" sz="2800" b="1"/>
              <a:t>)</a:t>
            </a:r>
            <a:r>
              <a:rPr lang="zh-CN" altLang="en-US" sz="2800" b="1"/>
              <a:t>为 </a:t>
            </a:r>
            <a:r>
              <a:rPr lang="en-US" altLang="zh-CN" sz="2800" b="1" i="1"/>
              <a:t>u</a:t>
            </a:r>
            <a:r>
              <a:rPr lang="en-US" altLang="zh-CN" sz="2800" b="1"/>
              <a:t> (</a:t>
            </a:r>
            <a:r>
              <a:rPr lang="zh-CN" altLang="en-US" sz="2800" b="1"/>
              <a:t>向下</a:t>
            </a:r>
            <a:r>
              <a:rPr lang="en-US" altLang="zh-CN" sz="2800" b="1"/>
              <a:t>)</a:t>
            </a:r>
            <a:r>
              <a:rPr lang="zh-CN" altLang="en-US" sz="2800" b="1"/>
              <a:t>，使火箭的速度增加了 </a:t>
            </a:r>
            <a:r>
              <a:rPr lang="en-US" altLang="zh-CN" sz="2800" b="1"/>
              <a:t>d</a:t>
            </a:r>
            <a:r>
              <a:rPr lang="en-US" altLang="zh-CN" sz="2800" b="1" i="1"/>
              <a:t>v</a:t>
            </a:r>
            <a:r>
              <a:rPr lang="zh-CN" altLang="en-US" sz="2800" b="1"/>
              <a:t>。</a:t>
            </a:r>
          </a:p>
        </p:txBody>
      </p:sp>
      <p:sp>
        <p:nvSpPr>
          <p:cNvPr id="28676" name="Rectangle 4"/>
          <p:cNvSpPr>
            <a:spLocks noChangeArrowheads="1"/>
          </p:cNvSpPr>
          <p:nvPr/>
        </p:nvSpPr>
        <p:spPr bwMode="auto">
          <a:xfrm>
            <a:off x="250825" y="3521025"/>
            <a:ext cx="59769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20000"/>
              </a:spcBef>
            </a:pPr>
            <a:r>
              <a:rPr lang="zh-CN" altLang="en-US" sz="2800" b="1"/>
              <a:t>若不计重力和其他外力，由</a:t>
            </a:r>
            <a:r>
              <a:rPr lang="zh-CN" altLang="en-US" sz="2800" b="1">
                <a:solidFill>
                  <a:schemeClr val="tx2"/>
                </a:solidFill>
              </a:rPr>
              <a:t>动量守恒定律可得</a:t>
            </a:r>
            <a:r>
              <a:rPr lang="zh-CN" altLang="en-US" sz="2800" b="1"/>
              <a:t> </a:t>
            </a:r>
          </a:p>
        </p:txBody>
      </p:sp>
      <mc:AlternateContent xmlns:mc="http://schemas.openxmlformats.org/markup-compatibility/2006" xmlns:a14="http://schemas.microsoft.com/office/drawing/2010/main">
        <mc:Choice Requires="a14">
          <p:sp>
            <p:nvSpPr>
              <p:cNvPr id="28677" name="Object 2"/>
              <p:cNvSpPr txBox="1"/>
              <p:nvPr/>
            </p:nvSpPr>
            <p:spPr bwMode="auto">
              <a:xfrm>
                <a:off x="2987675" y="5968950"/>
                <a:ext cx="2016125" cy="10604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𝑚</m:t>
                          </m:r>
                        </m:num>
                        <m:den>
                          <m:r>
                            <a:rPr lang="zh-CN" altLang="en-US" i="1">
                              <a:solidFill>
                                <a:srgbClr val="000000"/>
                              </a:solidFill>
                              <a:latin typeface="Cambria Math" panose="02040503050406030204" pitchFamily="18" charset="0"/>
                            </a:rPr>
                            <m:t>𝑚</m:t>
                          </m:r>
                        </m:den>
                      </m:f>
                    </m:oMath>
                  </m:oMathPara>
                </a14:m>
                <a:endParaRPr lang="zh-CN" altLang="en-US" dirty="0"/>
              </a:p>
            </p:txBody>
          </p:sp>
        </mc:Choice>
        <mc:Fallback xmlns="">
          <p:sp>
            <p:nvSpPr>
              <p:cNvPr id="28677" name="Object 2"/>
              <p:cNvSpPr txBox="1">
                <a:spLocks noRot="1" noChangeAspect="1" noMove="1" noResize="1" noEditPoints="1" noAdjustHandles="1" noChangeArrowheads="1" noChangeShapeType="1" noTextEdit="1"/>
              </p:cNvSpPr>
              <p:nvPr/>
            </p:nvSpPr>
            <p:spPr bwMode="auto">
              <a:xfrm>
                <a:off x="2987675" y="5968950"/>
                <a:ext cx="2016125" cy="1060450"/>
              </a:xfrm>
              <a:prstGeom prst="rect">
                <a:avLst/>
              </a:prstGeom>
              <a:blipFill>
                <a:blip r:embed="rId2"/>
                <a:stretch>
                  <a:fillRect/>
                </a:stretch>
              </a:blipFill>
              <a:ln>
                <a:noFill/>
              </a:ln>
              <a:effectLst/>
              <a:extLst/>
            </p:spPr>
            <p:txBody>
              <a:bodyPr/>
              <a:lstStyle/>
              <a:p>
                <a:r>
                  <a:rPr lang="zh-CN" altLang="en-US">
                    <a:noFill/>
                  </a:rPr>
                  <a:t> </a:t>
                </a:r>
              </a:p>
            </p:txBody>
          </p:sp>
        </mc:Fallback>
      </mc:AlternateContent>
      <p:sp>
        <p:nvSpPr>
          <p:cNvPr id="28678" name="AutoShape 6"/>
          <p:cNvSpPr>
            <a:spLocks noChangeArrowheads="1"/>
          </p:cNvSpPr>
          <p:nvPr/>
        </p:nvSpPr>
        <p:spPr bwMode="auto">
          <a:xfrm>
            <a:off x="2195513" y="6402337"/>
            <a:ext cx="576262" cy="144463"/>
          </a:xfrm>
          <a:prstGeom prst="rightArrow">
            <a:avLst>
              <a:gd name="adj1" fmla="val 50000"/>
              <a:gd name="adj2" fmla="val 99725"/>
            </a:avLst>
          </a:prstGeom>
          <a:solidFill>
            <a:schemeClr val="accent1"/>
          </a:solidFill>
          <a:ln w="9525">
            <a:solidFill>
              <a:schemeClr val="tx1"/>
            </a:solidFill>
            <a:miter lim="800000"/>
            <a:headEnd/>
            <a:tailEnd/>
          </a:ln>
        </p:spPr>
        <p:txBody>
          <a:bodyPr wrap="none" anchor="ctr"/>
          <a:lstStyle/>
          <a:p>
            <a:pPr>
              <a:spcBef>
                <a:spcPct val="20000"/>
              </a:spcBef>
            </a:pPr>
            <a:endParaRPr lang="en-US" altLang="zh-CN"/>
          </a:p>
        </p:txBody>
      </p:sp>
      <mc:AlternateContent xmlns:mc="http://schemas.openxmlformats.org/markup-compatibility/2006" xmlns:a14="http://schemas.microsoft.com/office/drawing/2010/main">
        <mc:Choice Requires="a14">
          <p:sp>
            <p:nvSpPr>
              <p:cNvPr id="28679" name="Object 3"/>
              <p:cNvSpPr txBox="1"/>
              <p:nvPr/>
            </p:nvSpPr>
            <p:spPr bwMode="auto">
              <a:xfrm>
                <a:off x="323850" y="4744987"/>
                <a:ext cx="6624638" cy="569913"/>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𝑚𝑣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𝑣</m:t>
                          </m:r>
                        </m:e>
                      </m:func>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8679" name="Object 3"/>
              <p:cNvSpPr txBox="1">
                <a:spLocks noRot="1" noChangeAspect="1" noMove="1" noResize="1" noEditPoints="1" noAdjustHandles="1" noChangeArrowheads="1" noChangeShapeType="1" noTextEdit="1"/>
              </p:cNvSpPr>
              <p:nvPr/>
            </p:nvSpPr>
            <p:spPr bwMode="auto">
              <a:xfrm>
                <a:off x="323850" y="4744987"/>
                <a:ext cx="6624638" cy="569913"/>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28680" name="Rectangle 8"/>
          <p:cNvSpPr>
            <a:spLocks noChangeArrowheads="1"/>
          </p:cNvSpPr>
          <p:nvPr/>
        </p:nvSpPr>
        <p:spPr bwMode="auto">
          <a:xfrm>
            <a:off x="250825" y="5537150"/>
            <a:ext cx="3240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a:solidFill>
                  <a:schemeClr val="tx2"/>
                </a:solidFill>
              </a:rPr>
              <a:t>略去二阶小量，</a:t>
            </a:r>
            <a:endParaRPr lang="zh-CN" altLang="en-US" sz="2800" b="1" i="1">
              <a:solidFill>
                <a:schemeClr val="tx2"/>
              </a:solidFill>
            </a:endParaRPr>
          </a:p>
        </p:txBody>
      </p:sp>
      <p:pic>
        <p:nvPicPr>
          <p:cNvPr id="28685" name="Picture 13" descr="图片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13" y="1412875"/>
            <a:ext cx="2262187"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33413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wipe(left)">
                                      <p:cBhvr>
                                        <p:cTn id="7" dur="500"/>
                                        <p:tgtEl>
                                          <p:spTgt spid="286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685"/>
                                        </p:tgtEl>
                                        <p:attrNameLst>
                                          <p:attrName>style.visibility</p:attrName>
                                        </p:attrNameLst>
                                      </p:cBhvr>
                                      <p:to>
                                        <p:strVal val="visible"/>
                                      </p:to>
                                    </p:set>
                                    <p:animEffect transition="in" filter="wipe(left)">
                                      <p:cBhvr>
                                        <p:cTn id="12" dur="500"/>
                                        <p:tgtEl>
                                          <p:spTgt spid="286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wipe(left)">
                                      <p:cBhvr>
                                        <p:cTn id="17" dur="500"/>
                                        <p:tgtEl>
                                          <p:spTgt spid="286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76"/>
                                        </p:tgtEl>
                                        <p:attrNameLst>
                                          <p:attrName>style.visibility</p:attrName>
                                        </p:attrNameLst>
                                      </p:cBhvr>
                                      <p:to>
                                        <p:strVal val="visible"/>
                                      </p:to>
                                    </p:set>
                                    <p:animEffect transition="in" filter="wipe(left)">
                                      <p:cBhvr>
                                        <p:cTn id="22" dur="500"/>
                                        <p:tgtEl>
                                          <p:spTgt spid="286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67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680"/>
                                        </p:tgtEl>
                                        <p:attrNameLst>
                                          <p:attrName>style.visibility</p:attrName>
                                        </p:attrNameLst>
                                      </p:cBhvr>
                                      <p:to>
                                        <p:strVal val="visible"/>
                                      </p:to>
                                    </p:set>
                                    <p:animEffect transition="in" filter="wipe(left)">
                                      <p:cBhvr>
                                        <p:cTn id="31" dur="500"/>
                                        <p:tgtEl>
                                          <p:spTgt spid="2868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78"/>
                                        </p:tgtEl>
                                        <p:attrNameLst>
                                          <p:attrName>style.visibility</p:attrName>
                                        </p:attrNameLst>
                                      </p:cBhvr>
                                      <p:to>
                                        <p:strVal val="visible"/>
                                      </p:to>
                                    </p:set>
                                    <p:animEffect transition="in" filter="wipe(left)">
                                      <p:cBhvr>
                                        <p:cTn id="36" dur="500"/>
                                        <p:tgtEl>
                                          <p:spTgt spid="28678"/>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utoUpdateAnimBg="0"/>
      <p:bldP spid="28676" grpId="0" autoUpdateAnimBg="0"/>
      <p:bldP spid="28677" grpId="0"/>
      <p:bldP spid="28678" grpId="0" animBg="1"/>
      <p:bldP spid="28679" grpId="0"/>
      <p:bldP spid="28680"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23850" y="1555750"/>
            <a:ext cx="252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2800" b="1" dirty="0"/>
              <a:t>设</a:t>
            </a:r>
            <a:r>
              <a:rPr lang="en-US" altLang="zh-CN" sz="2800" b="1" i="1" dirty="0"/>
              <a:t>u</a:t>
            </a:r>
            <a:r>
              <a:rPr lang="zh-CN" altLang="en-US" sz="2800" b="1" dirty="0"/>
              <a:t>是一常量，</a:t>
            </a:r>
          </a:p>
        </p:txBody>
      </p:sp>
      <mc:AlternateContent xmlns:mc="http://schemas.openxmlformats.org/markup-compatibility/2006" xmlns:a14="http://schemas.microsoft.com/office/drawing/2010/main">
        <mc:Choice Requires="a14">
          <p:sp>
            <p:nvSpPr>
              <p:cNvPr id="29699" name="Object 2"/>
              <p:cNvSpPr txBox="1"/>
              <p:nvPr/>
            </p:nvSpPr>
            <p:spPr bwMode="auto">
              <a:xfrm>
                <a:off x="2771775" y="1125538"/>
                <a:ext cx="3463925" cy="114300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𝑣</m:t>
                              </m:r>
                            </m:e>
                          </m:func>
                        </m:e>
                      </m:nary>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up>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num>
                            <m:den>
                              <m:r>
                                <a:rPr lang="zh-CN" altLang="en-US" i="1">
                                  <a:solidFill>
                                    <a:srgbClr val="000000"/>
                                  </a:solidFill>
                                  <a:latin typeface="Cambria Math" panose="02040503050406030204" pitchFamily="18" charset="0"/>
                                </a:rPr>
                                <m:t>𝑚</m:t>
                              </m:r>
                            </m:den>
                          </m:f>
                        </m:e>
                      </m:nary>
                    </m:oMath>
                  </m:oMathPara>
                </a14:m>
                <a:endParaRPr lang="zh-CN" altLang="en-US" dirty="0"/>
              </a:p>
            </p:txBody>
          </p:sp>
        </mc:Choice>
        <mc:Fallback xmlns="">
          <p:sp>
            <p:nvSpPr>
              <p:cNvPr id="29699" name="Object 2"/>
              <p:cNvSpPr txBox="1">
                <a:spLocks noRot="1" noChangeAspect="1" noMove="1" noResize="1" noEditPoints="1" noAdjustHandles="1" noChangeArrowheads="1" noChangeShapeType="1" noTextEdit="1"/>
              </p:cNvSpPr>
              <p:nvPr/>
            </p:nvSpPr>
            <p:spPr bwMode="auto">
              <a:xfrm>
                <a:off x="2771775" y="1125538"/>
                <a:ext cx="3463925" cy="1143000"/>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00" name="Object 3"/>
              <p:cNvSpPr txBox="1"/>
              <p:nvPr/>
            </p:nvSpPr>
            <p:spPr bwMode="auto">
              <a:xfrm>
                <a:off x="2700338" y="2205038"/>
                <a:ext cx="2808287" cy="120967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e>
                      </m:func>
                    </m:oMath>
                  </m:oMathPara>
                </a14:m>
                <a:endParaRPr lang="zh-CN" altLang="en-US" dirty="0"/>
              </a:p>
            </p:txBody>
          </p:sp>
        </mc:Choice>
        <mc:Fallback xmlns="">
          <p:sp>
            <p:nvSpPr>
              <p:cNvPr id="29700" name="Object 3"/>
              <p:cNvSpPr txBox="1">
                <a:spLocks noRot="1" noChangeAspect="1" noMove="1" noResize="1" noEditPoints="1" noAdjustHandles="1" noChangeArrowheads="1" noChangeShapeType="1" noTextEdit="1"/>
              </p:cNvSpPr>
              <p:nvPr/>
            </p:nvSpPr>
            <p:spPr bwMode="auto">
              <a:xfrm>
                <a:off x="2700338" y="2205038"/>
                <a:ext cx="2808287" cy="1209675"/>
              </a:xfrm>
              <a:prstGeom prst="rect">
                <a:avLst/>
              </a:prstGeom>
              <a:blipFill>
                <a:blip r:embed="rId3"/>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01" name="Object 4"/>
              <p:cNvSpPr txBox="1"/>
              <p:nvPr/>
            </p:nvSpPr>
            <p:spPr bwMode="auto">
              <a:xfrm>
                <a:off x="2771775" y="44450"/>
                <a:ext cx="2016125" cy="1060450"/>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𝑚</m:t>
                          </m:r>
                        </m:num>
                        <m:den>
                          <m:r>
                            <a:rPr lang="zh-CN" altLang="en-US" i="1">
                              <a:solidFill>
                                <a:srgbClr val="000000"/>
                              </a:solidFill>
                              <a:latin typeface="Cambria Math" panose="02040503050406030204" pitchFamily="18" charset="0"/>
                            </a:rPr>
                            <m:t>𝑚</m:t>
                          </m:r>
                        </m:den>
                      </m:f>
                    </m:oMath>
                  </m:oMathPara>
                </a14:m>
                <a:endParaRPr lang="zh-CN" altLang="en-US" dirty="0"/>
              </a:p>
            </p:txBody>
          </p:sp>
        </mc:Choice>
        <mc:Fallback xmlns="">
          <p:sp>
            <p:nvSpPr>
              <p:cNvPr id="29701" name="Object 4"/>
              <p:cNvSpPr txBox="1">
                <a:spLocks noRot="1" noChangeAspect="1" noMove="1" noResize="1" noEditPoints="1" noAdjustHandles="1" noChangeArrowheads="1" noChangeShapeType="1" noTextEdit="1"/>
              </p:cNvSpPr>
              <p:nvPr/>
            </p:nvSpPr>
            <p:spPr bwMode="auto">
              <a:xfrm>
                <a:off x="2771775" y="44450"/>
                <a:ext cx="2016125" cy="1060450"/>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02" name="Object 5"/>
              <p:cNvSpPr txBox="1"/>
              <p:nvPr/>
            </p:nvSpPr>
            <p:spPr bwMode="auto">
              <a:xfrm>
                <a:off x="1763713" y="4292600"/>
                <a:ext cx="4154487" cy="2312988"/>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0</m:t>
                              </m:r>
                            </m:sub>
                          </m:sSub>
                        </m:sub>
                        <m:sup>
                          <m:r>
                            <a:rPr lang="zh-CN" altLang="en-US" i="1">
                              <a:solidFill>
                                <a:srgbClr val="000000"/>
                              </a:solidFill>
                              <a:latin typeface="Cambria Math" panose="02040503050406030204" pitchFamily="18" charset="0"/>
                            </a:rPr>
                            <m:t>𝑚</m:t>
                          </m:r>
                        </m:sup>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f>
                            <m:fPr>
                              <m:ctrlPr>
                                <a:rPr lang="zh-CN" altLang="en-US" i="1">
                                  <a:solidFill>
                                    <a:srgbClr val="000000"/>
                                  </a:solidFill>
                                  <a:latin typeface="Cambria Math" panose="02040503050406030204" pitchFamily="18" charset="0"/>
                                </a:rPr>
                              </m:ctrlPr>
                            </m:fPr>
                            <m:num>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m:t>
                                  </m:r>
                                </m:fName>
                                <m:e>
                                  <m:r>
                                    <a:rPr lang="zh-CN" altLang="en-US" i="1">
                                      <a:solidFill>
                                        <a:srgbClr val="000000"/>
                                      </a:solidFill>
                                      <a:latin typeface="Cambria Math" panose="02040503050406030204" pitchFamily="18" charset="0"/>
                                    </a:rPr>
                                    <m:t>𝑚</m:t>
                                  </m:r>
                                </m:e>
                              </m:func>
                            </m:num>
                            <m:den>
                              <m:r>
                                <a:rPr lang="zh-CN" altLang="en-US" i="1">
                                  <a:solidFill>
                                    <a:srgbClr val="000000"/>
                                  </a:solidFill>
                                  <a:latin typeface="Cambria Math" panose="02040503050406030204" pitchFamily="18" charset="0"/>
                                </a:rPr>
                                <m:t>𝑚</m:t>
                              </m:r>
                            </m:den>
                          </m:f>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𝑢</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𝑚</m:t>
                              </m:r>
                            </m:den>
                          </m:f>
                        </m:e>
                      </m:func>
                    </m:oMath>
                    <m:oMath xmlns:m="http://schemas.openxmlformats.org/officeDocument/2006/math">
                      <m:r>
                        <a:rPr lang="zh-CN" altLang="en-US" i="1">
                          <a:solidFill>
                            <a:srgbClr val="000000"/>
                          </a:solidFill>
                          <a:latin typeface="Cambria Math" panose="02040503050406030204" pitchFamily="18" charset="0"/>
                        </a:rPr>
                        <m:t>𝑁</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𝑚</m:t>
                          </m:r>
                        </m:den>
                      </m:f>
                    </m:oMath>
                  </m:oMathPara>
                </a14:m>
                <a:endParaRPr lang="zh-CN" altLang="en-US" dirty="0"/>
              </a:p>
            </p:txBody>
          </p:sp>
        </mc:Choice>
        <mc:Fallback xmlns="">
          <p:sp>
            <p:nvSpPr>
              <p:cNvPr id="29702" name="Object 5"/>
              <p:cNvSpPr txBox="1">
                <a:spLocks noRot="1" noChangeAspect="1" noMove="1" noResize="1" noEditPoints="1" noAdjustHandles="1" noChangeArrowheads="1" noChangeShapeType="1" noTextEdit="1"/>
              </p:cNvSpPr>
              <p:nvPr/>
            </p:nvSpPr>
            <p:spPr bwMode="auto">
              <a:xfrm>
                <a:off x="1763713" y="4292600"/>
                <a:ext cx="4154487" cy="2312988"/>
              </a:xfrm>
              <a:prstGeom prst="rect">
                <a:avLst/>
              </a:prstGeom>
              <a:blipFill>
                <a:blip r:embed="rId5"/>
                <a:stretch>
                  <a:fillRect/>
                </a:stretch>
              </a:blipFill>
              <a:ln>
                <a:noFill/>
              </a:ln>
              <a:extLst/>
            </p:spPr>
            <p:txBody>
              <a:bodyPr/>
              <a:lstStyle/>
              <a:p>
                <a:r>
                  <a:rPr lang="zh-CN" altLang="en-US">
                    <a:noFill/>
                  </a:rPr>
                  <a:t> </a:t>
                </a:r>
              </a:p>
            </p:txBody>
          </p:sp>
        </mc:Fallback>
      </mc:AlternateContent>
      <p:sp>
        <p:nvSpPr>
          <p:cNvPr id="29703" name="Rectangle 7"/>
          <p:cNvSpPr>
            <a:spLocks noChangeArrowheads="1"/>
          </p:cNvSpPr>
          <p:nvPr/>
        </p:nvSpPr>
        <p:spPr bwMode="auto">
          <a:xfrm>
            <a:off x="215900" y="3357563"/>
            <a:ext cx="88931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20000"/>
              </a:spcBef>
            </a:pPr>
            <a:r>
              <a:rPr lang="zh-CN" altLang="en-US" sz="2800" b="1"/>
              <a:t>设火箭开始飞行的速度为零，质量为</a:t>
            </a:r>
            <a:r>
              <a:rPr lang="en-US" altLang="zh-CN" sz="2800" b="1" i="1"/>
              <a:t>m</a:t>
            </a:r>
            <a:r>
              <a:rPr lang="en-US" altLang="zh-CN" sz="2800" b="1" baseline="-25000"/>
              <a:t>0 </a:t>
            </a:r>
            <a:r>
              <a:rPr lang="zh-CN" altLang="en-US" sz="2800" b="1"/>
              <a:t>，燃料烧尽时，火箭剩下的质量为</a:t>
            </a:r>
            <a:r>
              <a:rPr lang="en-US" altLang="zh-CN" sz="2800" b="1" i="1"/>
              <a:t>m </a:t>
            </a:r>
            <a:r>
              <a:rPr lang="zh-CN" altLang="en-US" sz="2800" b="1"/>
              <a:t>，此时火箭能达到的速度是 </a:t>
            </a:r>
          </a:p>
        </p:txBody>
      </p:sp>
      <p:sp>
        <p:nvSpPr>
          <p:cNvPr id="29704" name="AutoShape 8"/>
          <p:cNvSpPr>
            <a:spLocks noChangeArrowheads="1"/>
          </p:cNvSpPr>
          <p:nvPr/>
        </p:nvSpPr>
        <p:spPr bwMode="auto">
          <a:xfrm>
            <a:off x="5076056" y="4292600"/>
            <a:ext cx="528628" cy="1008062"/>
          </a:xfrm>
          <a:prstGeom prst="wedgeEllipseCallout">
            <a:avLst>
              <a:gd name="adj1" fmla="val 138727"/>
              <a:gd name="adj2" fmla="val 49528"/>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spcBef>
                <a:spcPct val="20000"/>
              </a:spcBef>
            </a:pPr>
            <a:endParaRPr lang="en-US" altLang="zh-CN" sz="2800" b="1"/>
          </a:p>
        </p:txBody>
      </p:sp>
      <p:sp>
        <p:nvSpPr>
          <p:cNvPr id="29705" name="Text Box 9"/>
          <p:cNvSpPr txBox="1">
            <a:spLocks noChangeArrowheads="1"/>
          </p:cNvSpPr>
          <p:nvPr/>
        </p:nvSpPr>
        <p:spPr bwMode="auto">
          <a:xfrm>
            <a:off x="6030118" y="5060625"/>
            <a:ext cx="27003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20000"/>
              </a:spcBef>
            </a:pPr>
            <a:r>
              <a:rPr lang="zh-CN" altLang="en-US" sz="2800" b="1" dirty="0">
                <a:solidFill>
                  <a:srgbClr val="0000FF"/>
                </a:solidFill>
              </a:rPr>
              <a:t>火箭的质量比</a:t>
            </a:r>
            <a:r>
              <a:rPr lang="en-US" altLang="zh-CN" sz="2800" b="1" dirty="0">
                <a:solidFill>
                  <a:srgbClr val="0000FF"/>
                </a:solidFill>
              </a:rPr>
              <a:t>,</a:t>
            </a:r>
            <a:endParaRPr lang="zh-CN" altLang="en-US" sz="2800" b="1" dirty="0">
              <a:solidFill>
                <a:srgbClr val="0000FF"/>
              </a:solidFill>
            </a:endParaRPr>
          </a:p>
        </p:txBody>
      </p:sp>
      <p:sp>
        <p:nvSpPr>
          <p:cNvPr id="2" name="矩形 1"/>
          <p:cNvSpPr/>
          <p:nvPr/>
        </p:nvSpPr>
        <p:spPr>
          <a:xfrm>
            <a:off x="3959756" y="5867027"/>
            <a:ext cx="4551887" cy="904863"/>
          </a:xfrm>
          <a:prstGeom prst="rect">
            <a:avLst/>
          </a:prstGeom>
        </p:spPr>
        <p:txBody>
          <a:bodyPr wrap="none">
            <a:spAutoFit/>
          </a:bodyPr>
          <a:lstStyle/>
          <a:p>
            <a:pPr eaLnBrk="1" hangingPunct="1">
              <a:spcBef>
                <a:spcPct val="20000"/>
              </a:spcBef>
            </a:pPr>
            <a:r>
              <a:rPr lang="en-US" altLang="zh-CN" b="1" i="1" dirty="0">
                <a:solidFill>
                  <a:srgbClr val="0000FF"/>
                </a:solidFill>
              </a:rPr>
              <a:t>N</a:t>
            </a:r>
            <a:r>
              <a:rPr lang="zh-CN" altLang="en-US" b="1" dirty="0">
                <a:solidFill>
                  <a:srgbClr val="0000FF"/>
                </a:solidFill>
              </a:rPr>
              <a:t>一般为</a:t>
            </a:r>
            <a:r>
              <a:rPr lang="en-US" altLang="zh-CN" b="1" dirty="0">
                <a:solidFill>
                  <a:srgbClr val="0000FF"/>
                </a:solidFill>
              </a:rPr>
              <a:t>15</a:t>
            </a:r>
            <a:r>
              <a:rPr lang="zh-CN" altLang="en-US" b="1" dirty="0">
                <a:solidFill>
                  <a:srgbClr val="0000FF"/>
                </a:solidFill>
              </a:rPr>
              <a:t>， </a:t>
            </a:r>
            <a:r>
              <a:rPr lang="en-US" altLang="zh-CN" b="1" i="1" dirty="0">
                <a:solidFill>
                  <a:srgbClr val="0000FF"/>
                </a:solidFill>
              </a:rPr>
              <a:t>u</a:t>
            </a:r>
            <a:r>
              <a:rPr lang="en-US" altLang="zh-CN" b="1" dirty="0">
                <a:solidFill>
                  <a:srgbClr val="0000FF"/>
                </a:solidFill>
              </a:rPr>
              <a:t>=4km/s,</a:t>
            </a:r>
            <a:r>
              <a:rPr lang="zh-CN" altLang="en-US" b="1" dirty="0">
                <a:solidFill>
                  <a:srgbClr val="0000FF"/>
                </a:solidFill>
              </a:rPr>
              <a:t> </a:t>
            </a:r>
            <a:r>
              <a:rPr lang="en-US" altLang="zh-CN" b="1" i="1" dirty="0">
                <a:solidFill>
                  <a:srgbClr val="0000FF"/>
                </a:solidFill>
              </a:rPr>
              <a:t>v</a:t>
            </a:r>
            <a:r>
              <a:rPr lang="en-US" altLang="zh-CN" b="1" dirty="0">
                <a:solidFill>
                  <a:srgbClr val="0000FF"/>
                </a:solidFill>
              </a:rPr>
              <a:t>=11km/s</a:t>
            </a:r>
          </a:p>
          <a:p>
            <a:pPr eaLnBrk="1" hangingPunct="1">
              <a:spcBef>
                <a:spcPct val="20000"/>
              </a:spcBef>
            </a:pPr>
            <a:r>
              <a:rPr lang="zh-CN" altLang="en-US" b="1" dirty="0">
                <a:solidFill>
                  <a:srgbClr val="0000FF"/>
                </a:solidFill>
              </a:rPr>
              <a:t>单级火箭实际</a:t>
            </a:r>
            <a:r>
              <a:rPr lang="en-US" altLang="zh-CN" b="1" dirty="0">
                <a:solidFill>
                  <a:srgbClr val="0000FF"/>
                </a:solidFill>
              </a:rPr>
              <a:t>7km/s.</a:t>
            </a:r>
            <a:endParaRPr lang="zh-CN" altLang="en-US" b="1" dirty="0">
              <a:solidFill>
                <a:srgbClr val="0000FF"/>
              </a:solidFill>
            </a:endParaRPr>
          </a:p>
        </p:txBody>
      </p:sp>
    </p:spTree>
    <p:extLst>
      <p:ext uri="{BB962C8B-B14F-4D97-AF65-F5344CB8AC3E}">
        <p14:creationId xmlns:p14="http://schemas.microsoft.com/office/powerpoint/2010/main" val="13693067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9698"/>
                                        </p:tgtEl>
                                        <p:attrNameLst>
                                          <p:attrName>style.visibility</p:attrName>
                                        </p:attrNameLst>
                                      </p:cBhvr>
                                      <p:to>
                                        <p:strVal val="visible"/>
                                      </p:to>
                                    </p:set>
                                    <p:animEffect transition="in" filter="wipe(left)">
                                      <p:cBhvr>
                                        <p:cTn id="11" dur="500"/>
                                        <p:tgtEl>
                                          <p:spTgt spid="2969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969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970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703"/>
                                        </p:tgtEl>
                                        <p:attrNameLst>
                                          <p:attrName>style.visibility</p:attrName>
                                        </p:attrNameLst>
                                      </p:cBhvr>
                                      <p:to>
                                        <p:strVal val="visible"/>
                                      </p:to>
                                    </p:set>
                                    <p:animEffect transition="in" filter="wipe(left)">
                                      <p:cBhvr>
                                        <p:cTn id="24" dur="500"/>
                                        <p:tgtEl>
                                          <p:spTgt spid="2970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9704"/>
                                        </p:tgtEl>
                                        <p:attrNameLst>
                                          <p:attrName>style.visibility</p:attrName>
                                        </p:attrNameLst>
                                      </p:cBhvr>
                                      <p:to>
                                        <p:strVal val="visible"/>
                                      </p:to>
                                    </p:set>
                                    <p:animEffect transition="in" filter="wipe(left)">
                                      <p:cBhvr>
                                        <p:cTn id="29" dur="500"/>
                                        <p:tgtEl>
                                          <p:spTgt spid="2970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970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9705"/>
                                        </p:tgtEl>
                                        <p:attrNameLst>
                                          <p:attrName>style.visibility</p:attrName>
                                        </p:attrNameLst>
                                      </p:cBhvr>
                                      <p:to>
                                        <p:strVal val="visible"/>
                                      </p:to>
                                    </p:set>
                                    <p:animEffect transition="in" filter="wipe(left)">
                                      <p:cBhvr>
                                        <p:cTn id="38" dur="500"/>
                                        <p:tgtEl>
                                          <p:spTgt spid="2970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p:bldP spid="29699" grpId="0"/>
      <p:bldP spid="29700" grpId="0"/>
      <p:bldP spid="29701" grpId="0"/>
      <p:bldP spid="29702" grpId="0"/>
      <p:bldP spid="29703" grpId="0"/>
      <p:bldP spid="29704" grpId="0" animBg="1"/>
      <p:bldP spid="29705" grpId="0"/>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395288" y="333375"/>
            <a:ext cx="2592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b="1"/>
              <a:t>多级火箭：</a:t>
            </a:r>
          </a:p>
        </p:txBody>
      </p:sp>
      <mc:AlternateContent xmlns:mc="http://schemas.openxmlformats.org/markup-compatibility/2006" xmlns:a14="http://schemas.microsoft.com/office/drawing/2010/main">
        <mc:Choice Requires="a14">
          <p:sp>
            <p:nvSpPr>
              <p:cNvPr id="30723" name="Object 2"/>
              <p:cNvSpPr txBox="1"/>
              <p:nvPr/>
            </p:nvSpPr>
            <p:spPr bwMode="auto">
              <a:xfrm>
                <a:off x="2268538" y="3573463"/>
                <a:ext cx="2881312" cy="12922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nary>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𝑖</m:t>
                          </m:r>
                        </m:sub>
                      </m:sSub>
                      <m:func>
                        <m:funcPr>
                          <m:ctrlPr>
                            <a:rPr lang="zh-CN" altLang="en-US" i="1">
                              <a:solidFill>
                                <a:srgbClr val="000000"/>
                              </a:solidFill>
                              <a:latin typeface="Cambria Math" panose="02040503050406030204" pitchFamily="18" charset="0"/>
                            </a:rPr>
                          </m:ctrlPr>
                        </m:funcPr>
                        <m:fNa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ln</m:t>
                              </m:r>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𝑖</m:t>
                              </m:r>
                            </m:sub>
                          </m:sSub>
                        </m:fName>
                        <m:e/>
                      </m:func>
                    </m:oMath>
                  </m:oMathPara>
                </a14:m>
                <a:endParaRPr lang="zh-CN" altLang="en-US" dirty="0"/>
              </a:p>
            </p:txBody>
          </p:sp>
        </mc:Choice>
        <mc:Fallback xmlns="">
          <p:sp>
            <p:nvSpPr>
              <p:cNvPr id="30723" name="Object 2"/>
              <p:cNvSpPr txBox="1">
                <a:spLocks noRot="1" noChangeAspect="1" noMove="1" noResize="1" noEditPoints="1" noAdjustHandles="1" noChangeArrowheads="1" noChangeShapeType="1" noTextEdit="1"/>
              </p:cNvSpPr>
              <p:nvPr/>
            </p:nvSpPr>
            <p:spPr bwMode="auto">
              <a:xfrm>
                <a:off x="2268538" y="3573463"/>
                <a:ext cx="2881312" cy="1292225"/>
              </a:xfrm>
              <a:prstGeom prst="rect">
                <a:avLst/>
              </a:prstGeom>
              <a:blipFill>
                <a:blip r:embed="rId2"/>
                <a:stretch>
                  <a:fillRect/>
                </a:stretch>
              </a:blipFill>
              <a:ln>
                <a:noFill/>
              </a:ln>
              <a:effectLst/>
              <a:extLst/>
            </p:spPr>
            <p:txBody>
              <a:bodyPr/>
              <a:lstStyle/>
              <a:p>
                <a:r>
                  <a:rPr lang="zh-CN" altLang="en-US">
                    <a:noFill/>
                  </a:rPr>
                  <a:t> </a:t>
                </a:r>
              </a:p>
            </p:txBody>
          </p:sp>
        </mc:Fallback>
      </mc:AlternateContent>
      <p:grpSp>
        <p:nvGrpSpPr>
          <p:cNvPr id="2" name="Group 4"/>
          <p:cNvGrpSpPr>
            <a:grpSpLocks/>
          </p:cNvGrpSpPr>
          <p:nvPr/>
        </p:nvGrpSpPr>
        <p:grpSpPr bwMode="auto">
          <a:xfrm>
            <a:off x="611188" y="4941888"/>
            <a:ext cx="4540250" cy="530225"/>
            <a:chOff x="528" y="3266"/>
            <a:chExt cx="2688" cy="334"/>
          </a:xfrm>
        </p:grpSpPr>
        <mc:AlternateContent xmlns:mc="http://schemas.openxmlformats.org/markup-compatibility/2006" xmlns:a14="http://schemas.microsoft.com/office/drawing/2010/main">
          <mc:Choice Requires="a14">
            <p:sp>
              <p:nvSpPr>
                <p:cNvPr id="68614" name="Object 6"/>
                <p:cNvSpPr txBox="1"/>
                <p:nvPr/>
              </p:nvSpPr>
              <p:spPr bwMode="auto">
                <a:xfrm>
                  <a:off x="528" y="3266"/>
                  <a:ext cx="288" cy="334"/>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68614" name="Object 6"/>
                <p:cNvSpPr txBox="1">
                  <a:spLocks noRot="1" noChangeAspect="1" noMove="1" noResize="1" noEditPoints="1" noAdjustHandles="1" noChangeArrowheads="1" noChangeShapeType="1" noTextEdit="1"/>
                </p:cNvSpPr>
                <p:nvPr/>
              </p:nvSpPr>
              <p:spPr bwMode="auto">
                <a:xfrm>
                  <a:off x="528" y="3266"/>
                  <a:ext cx="288" cy="334"/>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68622" name="Line 6"/>
            <p:cNvSpPr>
              <a:spLocks noChangeShapeType="1"/>
            </p:cNvSpPr>
            <p:nvPr/>
          </p:nvSpPr>
          <p:spPr bwMode="auto">
            <a:xfrm>
              <a:off x="864" y="3456"/>
              <a:ext cx="2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3" name="Text Box 7"/>
            <p:cNvSpPr txBox="1">
              <a:spLocks noChangeArrowheads="1"/>
            </p:cNvSpPr>
            <p:nvPr/>
          </p:nvSpPr>
          <p:spPr bwMode="auto">
            <a:xfrm>
              <a:off x="1152" y="3273"/>
              <a:ext cx="20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b="1"/>
                <a:t>第 </a:t>
              </a:r>
              <a:r>
                <a:rPr lang="en-US" altLang="zh-CN" sz="2800" b="1" i="1"/>
                <a:t>i </a:t>
              </a:r>
              <a:r>
                <a:rPr lang="zh-CN" altLang="en-US" sz="2800" b="1"/>
                <a:t>级火箭喷气速率</a:t>
              </a:r>
            </a:p>
          </p:txBody>
        </p:sp>
      </p:grpSp>
      <p:grpSp>
        <p:nvGrpSpPr>
          <p:cNvPr id="3" name="Group 8"/>
          <p:cNvGrpSpPr>
            <a:grpSpLocks/>
          </p:cNvGrpSpPr>
          <p:nvPr/>
        </p:nvGrpSpPr>
        <p:grpSpPr bwMode="auto">
          <a:xfrm>
            <a:off x="539750" y="5661025"/>
            <a:ext cx="4324350" cy="533400"/>
            <a:chOff x="492" y="3648"/>
            <a:chExt cx="2724" cy="336"/>
          </a:xfrm>
        </p:grpSpPr>
        <mc:AlternateContent xmlns:mc="http://schemas.openxmlformats.org/markup-compatibility/2006" xmlns:a14="http://schemas.microsoft.com/office/drawing/2010/main">
          <mc:Choice Requires="a14">
            <p:sp>
              <p:nvSpPr>
                <p:cNvPr id="68613" name="Object 5"/>
                <p:cNvSpPr txBox="1"/>
                <p:nvPr/>
              </p:nvSpPr>
              <p:spPr bwMode="auto">
                <a:xfrm>
                  <a:off x="492" y="3650"/>
                  <a:ext cx="360" cy="334"/>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𝑖</m:t>
                            </m:r>
                          </m:sub>
                        </m:sSub>
                      </m:oMath>
                    </m:oMathPara>
                  </a14:m>
                  <a:endParaRPr lang="zh-CN" altLang="en-US"/>
                </a:p>
              </p:txBody>
            </p:sp>
          </mc:Choice>
          <mc:Fallback xmlns="">
            <p:sp>
              <p:nvSpPr>
                <p:cNvPr id="68613" name="Object 5"/>
                <p:cNvSpPr txBox="1">
                  <a:spLocks noRot="1" noChangeAspect="1" noMove="1" noResize="1" noEditPoints="1" noAdjustHandles="1" noChangeArrowheads="1" noChangeShapeType="1" noTextEdit="1"/>
                </p:cNvSpPr>
                <p:nvPr/>
              </p:nvSpPr>
              <p:spPr bwMode="auto">
                <a:xfrm>
                  <a:off x="492" y="3650"/>
                  <a:ext cx="360" cy="334"/>
                </a:xfrm>
                <a:prstGeom prst="rect">
                  <a:avLst/>
                </a:prstGeom>
                <a:blipFill>
                  <a:blip r:embed="rId4"/>
                  <a:stretch>
                    <a:fillRect/>
                  </a:stretch>
                </a:blipFill>
                <a:ln>
                  <a:noFill/>
                </a:ln>
                <a:effectLst/>
                <a:extLst/>
              </p:spPr>
              <p:txBody>
                <a:bodyPr/>
                <a:lstStyle/>
                <a:p>
                  <a:r>
                    <a:rPr lang="zh-CN" altLang="en-US">
                      <a:noFill/>
                    </a:rPr>
                    <a:t> </a:t>
                  </a:r>
                </a:p>
              </p:txBody>
            </p:sp>
          </mc:Fallback>
        </mc:AlternateContent>
        <p:sp>
          <p:nvSpPr>
            <p:cNvPr id="68620" name="Line 10"/>
            <p:cNvSpPr>
              <a:spLocks noChangeShapeType="1"/>
            </p:cNvSpPr>
            <p:nvPr/>
          </p:nvSpPr>
          <p:spPr bwMode="auto">
            <a:xfrm>
              <a:off x="864" y="3831"/>
              <a:ext cx="2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1" name="Text Box 11"/>
            <p:cNvSpPr txBox="1">
              <a:spLocks noChangeArrowheads="1"/>
            </p:cNvSpPr>
            <p:nvPr/>
          </p:nvSpPr>
          <p:spPr bwMode="auto">
            <a:xfrm>
              <a:off x="1152" y="3648"/>
              <a:ext cx="20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楷体_GB2312" pitchFamily="49" charset="-122"/>
                </a:defRPr>
              </a:lvl1pPr>
              <a:lvl2pPr marL="742950" indent="-285750" eaLnBrk="0" hangingPunct="0">
                <a:defRPr kumimoji="1" sz="2400">
                  <a:solidFill>
                    <a:schemeClr val="tx1"/>
                  </a:solidFill>
                  <a:latin typeface="Times New Roman" pitchFamily="18" charset="0"/>
                  <a:ea typeface="楷体_GB2312" pitchFamily="49" charset="-122"/>
                </a:defRPr>
              </a:lvl2pPr>
              <a:lvl3pPr marL="1143000" indent="-228600" eaLnBrk="0" hangingPunct="0">
                <a:defRPr kumimoji="1" sz="2400">
                  <a:solidFill>
                    <a:schemeClr val="tx1"/>
                  </a:solidFill>
                  <a:latin typeface="Times New Roman" pitchFamily="18" charset="0"/>
                  <a:ea typeface="楷体_GB2312" pitchFamily="49" charset="-122"/>
                </a:defRPr>
              </a:lvl3pPr>
              <a:lvl4pPr marL="1600200" indent="-228600" eaLnBrk="0" hangingPunct="0">
                <a:defRPr kumimoji="1" sz="2400">
                  <a:solidFill>
                    <a:schemeClr val="tx1"/>
                  </a:solidFill>
                  <a:latin typeface="Times New Roman" pitchFamily="18" charset="0"/>
                  <a:ea typeface="楷体_GB2312" pitchFamily="49" charset="-122"/>
                </a:defRPr>
              </a:lvl4pPr>
              <a:lvl5pPr marL="2057400" indent="-228600" eaLnBrk="0" hangingPunct="0">
                <a:defRPr kumimoji="1" sz="2400">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楷体_GB2312" pitchFamily="49" charset="-122"/>
                </a:defRPr>
              </a:lvl9pPr>
            </a:lstStyle>
            <a:p>
              <a:pPr eaLnBrk="1" hangingPunct="1">
                <a:spcBef>
                  <a:spcPct val="50000"/>
                </a:spcBef>
              </a:pPr>
              <a:r>
                <a:rPr lang="zh-CN" altLang="en-US" sz="2800" b="1"/>
                <a:t>第 </a:t>
              </a:r>
              <a:r>
                <a:rPr lang="en-US" altLang="zh-CN" sz="2800" b="1" i="1"/>
                <a:t>i </a:t>
              </a:r>
              <a:r>
                <a:rPr lang="zh-CN" altLang="en-US" sz="2800" b="1"/>
                <a:t>级火箭质量比</a:t>
              </a:r>
            </a:p>
          </p:txBody>
        </p:sp>
      </p:grpSp>
      <mc:AlternateContent xmlns:mc="http://schemas.openxmlformats.org/markup-compatibility/2006" xmlns:a14="http://schemas.microsoft.com/office/drawing/2010/main">
        <mc:Choice Requires="a14">
          <p:sp>
            <p:nvSpPr>
              <p:cNvPr id="30732" name="Object 3"/>
              <p:cNvSpPr txBox="1"/>
              <p:nvPr/>
            </p:nvSpPr>
            <p:spPr bwMode="auto">
              <a:xfrm>
                <a:off x="1060450" y="1125538"/>
                <a:ext cx="2127250" cy="62230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1</m:t>
                          </m:r>
                        </m:sub>
                      </m:sSub>
                      <m:func>
                        <m:funcPr>
                          <m:ctrlPr>
                            <a:rPr lang="zh-CN" altLang="en-US" i="1">
                              <a:solidFill>
                                <a:srgbClr val="000000"/>
                              </a:solidFill>
                              <a:latin typeface="Cambria Math" panose="02040503050406030204" pitchFamily="18" charset="0"/>
                            </a:rPr>
                          </m:ctrlPr>
                        </m:funcPr>
                        <m:fNa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ln</m:t>
                              </m:r>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1</m:t>
                              </m:r>
                            </m:sub>
                          </m:sSub>
                        </m:fName>
                        <m:e/>
                      </m:func>
                    </m:oMath>
                  </m:oMathPara>
                </a14:m>
                <a:endParaRPr lang="zh-CN" altLang="en-US" dirty="0"/>
              </a:p>
            </p:txBody>
          </p:sp>
        </mc:Choice>
        <mc:Fallback xmlns="">
          <p:sp>
            <p:nvSpPr>
              <p:cNvPr id="30732" name="Object 3"/>
              <p:cNvSpPr txBox="1">
                <a:spLocks noRot="1" noChangeAspect="1" noMove="1" noResize="1" noEditPoints="1" noAdjustHandles="1" noChangeArrowheads="1" noChangeShapeType="1" noTextEdit="1"/>
              </p:cNvSpPr>
              <p:nvPr/>
            </p:nvSpPr>
            <p:spPr bwMode="auto">
              <a:xfrm>
                <a:off x="1060450" y="1125538"/>
                <a:ext cx="2127250" cy="622300"/>
              </a:xfrm>
              <a:prstGeom prst="rect">
                <a:avLst/>
              </a:prstGeom>
              <a:blipFill>
                <a:blip r:embed="rId5"/>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733" name="Object 4"/>
              <p:cNvSpPr txBox="1"/>
              <p:nvPr/>
            </p:nvSpPr>
            <p:spPr bwMode="auto">
              <a:xfrm>
                <a:off x="1044575" y="1844675"/>
                <a:ext cx="3455988" cy="1711325"/>
              </a:xfrm>
              <a:prstGeom prst="rect">
                <a:avLst/>
              </a:prstGeom>
              <a:noFill/>
              <a:ln>
                <a:noFill/>
              </a:ln>
              <a:effectLst/>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ln</m:t>
                              </m:r>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2</m:t>
                              </m:r>
                            </m:sub>
                          </m:sSub>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 </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𝑢</m:t>
                          </m:r>
                        </m:e>
                        <m:sub>
                          <m:r>
                            <a:rPr lang="zh-CN" altLang="en-US" i="1">
                              <a:solidFill>
                                <a:srgbClr val="000000"/>
                              </a:solidFill>
                              <a:latin typeface="Cambria Math" panose="02040503050406030204" pitchFamily="18" charset="0"/>
                            </a:rPr>
                            <m:t>3</m:t>
                          </m:r>
                        </m:sub>
                      </m:sSub>
                      <m:func>
                        <m:funcPr>
                          <m:ctrlPr>
                            <a:rPr lang="zh-CN" altLang="en-US" i="1">
                              <a:solidFill>
                                <a:srgbClr val="000000"/>
                              </a:solidFill>
                              <a:latin typeface="Cambria Math" panose="02040503050406030204" pitchFamily="18" charset="0"/>
                            </a:rPr>
                          </m:ctrlPr>
                        </m:funcPr>
                        <m:fNa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ln</m:t>
                              </m:r>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3</m:t>
                              </m:r>
                            </m:sub>
                          </m:sSub>
                        </m:fName>
                        <m:e>
                          <m:r>
                            <a:rPr lang="zh-CN" altLang="en-US" i="1">
                              <a:solidFill>
                                <a:srgbClr val="000000"/>
                              </a:solidFill>
                              <a:latin typeface="Cambria Math" panose="02040503050406030204" pitchFamily="18" charset="0"/>
                            </a:rPr>
                            <m:t>,</m:t>
                          </m:r>
                        </m:e>
                      </m:func>
                    </m:oMath>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0733" name="Object 4"/>
              <p:cNvSpPr txBox="1">
                <a:spLocks noRot="1" noChangeAspect="1" noMove="1" noResize="1" noEditPoints="1" noAdjustHandles="1" noChangeArrowheads="1" noChangeShapeType="1" noTextEdit="1"/>
              </p:cNvSpPr>
              <p:nvPr/>
            </p:nvSpPr>
            <p:spPr bwMode="auto">
              <a:xfrm>
                <a:off x="1044575" y="1844675"/>
                <a:ext cx="3455988" cy="1711325"/>
              </a:xfrm>
              <a:prstGeom prst="rect">
                <a:avLst/>
              </a:prstGeom>
              <a:blipFill>
                <a:blip r:embed="rId6"/>
                <a:stretch>
                  <a:fillRect/>
                </a:stretch>
              </a:blipFill>
              <a:ln>
                <a:noFill/>
              </a:ln>
              <a:effectLst/>
              <a:extLst/>
            </p:spPr>
            <p:txBody>
              <a:bodyPr/>
              <a:lstStyle/>
              <a:p>
                <a:r>
                  <a:rPr lang="zh-CN" altLang="en-US">
                    <a:noFill/>
                  </a:rPr>
                  <a:t> </a:t>
                </a:r>
              </a:p>
            </p:txBody>
          </p:sp>
        </mc:Fallback>
      </mc:AlternateContent>
      <p:sp>
        <p:nvSpPr>
          <p:cNvPr id="30734" name="Rectangle 14"/>
          <p:cNvSpPr>
            <a:spLocks noChangeArrowheads="1"/>
          </p:cNvSpPr>
          <p:nvPr/>
        </p:nvSpPr>
        <p:spPr bwMode="auto">
          <a:xfrm>
            <a:off x="468313" y="3933825"/>
            <a:ext cx="2058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spcBef>
                <a:spcPct val="20000"/>
              </a:spcBef>
            </a:pPr>
            <a:r>
              <a:rPr lang="zh-CN" altLang="en-US" sz="2800" b="1"/>
              <a:t>最终速度： </a:t>
            </a:r>
          </a:p>
        </p:txBody>
      </p:sp>
      <p:pic>
        <p:nvPicPr>
          <p:cNvPr id="30739" name="Picture 19" descr="图片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404813"/>
            <a:ext cx="28956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5763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ipe(left)">
                                      <p:cBhvr>
                                        <p:cTn id="7" dur="500"/>
                                        <p:tgtEl>
                                          <p:spTgt spid="30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073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073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072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73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734"/>
                                        </p:tgtEl>
                                        <p:attrNameLst>
                                          <p:attrName>style.visibility</p:attrName>
                                        </p:attrNameLst>
                                      </p:cBhvr>
                                      <p:to>
                                        <p:strVal val="visible"/>
                                      </p:to>
                                    </p:set>
                                    <p:animEffect transition="in" filter="wipe(left)">
                                      <p:cBhvr>
                                        <p:cTn id="26" dur="500"/>
                                        <p:tgtEl>
                                          <p:spTgt spid="307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3" grpId="0"/>
      <p:bldP spid="30732" grpId="0"/>
      <p:bldP spid="30733" grpId="0"/>
      <p:bldP spid="3073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69B9DB7-8E0F-41B3-AE5F-80A9C1C0A938}"/>
              </a:ext>
            </a:extLst>
          </p:cNvPr>
          <p:cNvPicPr>
            <a:picLocks noChangeAspect="1"/>
          </p:cNvPicPr>
          <p:nvPr/>
        </p:nvPicPr>
        <p:blipFill rotWithShape="1">
          <a:blip r:embed="rId2"/>
          <a:srcRect l="8263" t="39588" r="50757" b="19897"/>
          <a:stretch/>
        </p:blipFill>
        <p:spPr>
          <a:xfrm>
            <a:off x="107504" y="904777"/>
            <a:ext cx="7128792" cy="3964383"/>
          </a:xfrm>
          <a:prstGeom prst="rect">
            <a:avLst/>
          </a:prstGeom>
        </p:spPr>
      </p:pic>
      <p:pic>
        <p:nvPicPr>
          <p:cNvPr id="4" name="Picture 230">
            <a:extLst>
              <a:ext uri="{FF2B5EF4-FFF2-40B4-BE49-F238E27FC236}">
                <a16:creationId xmlns:a16="http://schemas.microsoft.com/office/drawing/2014/main" id="{E68DFCC3-639E-48A3-8F0F-9E5E7D6C8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195769" y="2373183"/>
            <a:ext cx="5798709" cy="1429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本框 4">
            <a:extLst>
              <a:ext uri="{FF2B5EF4-FFF2-40B4-BE49-F238E27FC236}">
                <a16:creationId xmlns:a16="http://schemas.microsoft.com/office/drawing/2014/main" id="{B67D9BFD-FE34-48F2-A11E-069B8FAF48A8}"/>
              </a:ext>
            </a:extLst>
          </p:cNvPr>
          <p:cNvSpPr txBox="1"/>
          <p:nvPr/>
        </p:nvSpPr>
        <p:spPr>
          <a:xfrm>
            <a:off x="7380312" y="5445224"/>
            <a:ext cx="526106" cy="461665"/>
          </a:xfrm>
          <a:prstGeom prst="rect">
            <a:avLst/>
          </a:prstGeom>
          <a:noFill/>
        </p:spPr>
        <p:txBody>
          <a:bodyPr wrap="none" rtlCol="0">
            <a:spAutoFit/>
          </a:bodyPr>
          <a:lstStyle/>
          <a:p>
            <a:r>
              <a:rPr lang="en-US" altLang="zh-CN"/>
              <a:t>m</a:t>
            </a:r>
            <a:r>
              <a:rPr lang="en-US" altLang="zh-CN" baseline="-25000"/>
              <a:t>1</a:t>
            </a:r>
          </a:p>
        </p:txBody>
      </p:sp>
      <p:sp>
        <p:nvSpPr>
          <p:cNvPr id="6" name="文本框 5">
            <a:extLst>
              <a:ext uri="{FF2B5EF4-FFF2-40B4-BE49-F238E27FC236}">
                <a16:creationId xmlns:a16="http://schemas.microsoft.com/office/drawing/2014/main" id="{8FE3189A-E6CA-4624-9852-0B276D37DAF1}"/>
              </a:ext>
            </a:extLst>
          </p:cNvPr>
          <p:cNvSpPr txBox="1"/>
          <p:nvPr/>
        </p:nvSpPr>
        <p:spPr>
          <a:xfrm>
            <a:off x="7165249" y="205520"/>
            <a:ext cx="1090363" cy="461665"/>
          </a:xfrm>
          <a:prstGeom prst="rect">
            <a:avLst/>
          </a:prstGeom>
          <a:noFill/>
        </p:spPr>
        <p:txBody>
          <a:bodyPr wrap="none" rtlCol="0">
            <a:spAutoFit/>
          </a:bodyPr>
          <a:lstStyle/>
          <a:p>
            <a:r>
              <a:rPr lang="en-US" altLang="zh-CN"/>
              <a:t>m</a:t>
            </a:r>
            <a:r>
              <a:rPr lang="en-US" altLang="zh-CN" baseline="-25000"/>
              <a:t>1-</a:t>
            </a:r>
            <a:r>
              <a:rPr lang="en-US" altLang="zh-CN"/>
              <a:t>dm</a:t>
            </a:r>
            <a:r>
              <a:rPr lang="en-US" altLang="zh-CN" baseline="-25000"/>
              <a:t>2</a:t>
            </a:r>
          </a:p>
        </p:txBody>
      </p:sp>
      <p:pic>
        <p:nvPicPr>
          <p:cNvPr id="8" name="图片 7">
            <a:extLst>
              <a:ext uri="{FF2B5EF4-FFF2-40B4-BE49-F238E27FC236}">
                <a16:creationId xmlns:a16="http://schemas.microsoft.com/office/drawing/2014/main" id="{74C4E71F-1182-4982-936F-0841A82E3FB2}"/>
              </a:ext>
            </a:extLst>
          </p:cNvPr>
          <p:cNvPicPr>
            <a:picLocks noChangeAspect="1"/>
          </p:cNvPicPr>
          <p:nvPr/>
        </p:nvPicPr>
        <p:blipFill>
          <a:blip r:embed="rId4"/>
          <a:stretch>
            <a:fillRect/>
          </a:stretch>
        </p:blipFill>
        <p:spPr>
          <a:xfrm>
            <a:off x="4572000" y="5229200"/>
            <a:ext cx="1562100" cy="1028700"/>
          </a:xfrm>
          <a:prstGeom prst="rect">
            <a:avLst/>
          </a:prstGeom>
        </p:spPr>
      </p:pic>
      <p:sp>
        <p:nvSpPr>
          <p:cNvPr id="9" name="文本框 8">
            <a:extLst>
              <a:ext uri="{FF2B5EF4-FFF2-40B4-BE49-F238E27FC236}">
                <a16:creationId xmlns:a16="http://schemas.microsoft.com/office/drawing/2014/main" id="{B46BE3FC-9C37-4252-9773-EADAFCB253BC}"/>
              </a:ext>
            </a:extLst>
          </p:cNvPr>
          <p:cNvSpPr txBox="1"/>
          <p:nvPr/>
        </p:nvSpPr>
        <p:spPr>
          <a:xfrm>
            <a:off x="1237582" y="5491557"/>
            <a:ext cx="2954655" cy="461665"/>
          </a:xfrm>
          <a:prstGeom prst="rect">
            <a:avLst/>
          </a:prstGeom>
          <a:noFill/>
        </p:spPr>
        <p:txBody>
          <a:bodyPr wrap="none" rtlCol="0">
            <a:spAutoFit/>
          </a:bodyPr>
          <a:lstStyle/>
          <a:p>
            <a:r>
              <a:rPr lang="zh-CN" altLang="en-US"/>
              <a:t>则火箭受到的推力为</a:t>
            </a:r>
          </a:p>
        </p:txBody>
      </p:sp>
      <p:sp>
        <p:nvSpPr>
          <p:cNvPr id="10" name="矩形 9">
            <a:extLst>
              <a:ext uri="{FF2B5EF4-FFF2-40B4-BE49-F238E27FC236}">
                <a16:creationId xmlns:a16="http://schemas.microsoft.com/office/drawing/2014/main" id="{B0C97AF0-02DD-40D4-B0FF-A3FB5838F52C}"/>
              </a:ext>
            </a:extLst>
          </p:cNvPr>
          <p:cNvSpPr/>
          <p:nvPr/>
        </p:nvSpPr>
        <p:spPr>
          <a:xfrm>
            <a:off x="880310" y="288658"/>
            <a:ext cx="2159566" cy="461665"/>
          </a:xfrm>
          <a:prstGeom prst="rect">
            <a:avLst/>
          </a:prstGeom>
        </p:spPr>
        <p:txBody>
          <a:bodyPr wrap="none">
            <a:spAutoFit/>
          </a:bodyPr>
          <a:lstStyle/>
          <a:p>
            <a:r>
              <a:rPr lang="en-US" altLang="zh-CN" b="1">
                <a:solidFill>
                  <a:srgbClr val="3333FF"/>
                </a:solidFill>
              </a:rPr>
              <a:t>(2) </a:t>
            </a:r>
            <a:r>
              <a:rPr lang="zh-CN" altLang="en-US" b="1">
                <a:solidFill>
                  <a:srgbClr val="3333FF"/>
                </a:solidFill>
              </a:rPr>
              <a:t>火箭的推力</a:t>
            </a:r>
          </a:p>
        </p:txBody>
      </p:sp>
    </p:spTree>
    <p:extLst>
      <p:ext uri="{BB962C8B-B14F-4D97-AF65-F5344CB8AC3E}">
        <p14:creationId xmlns:p14="http://schemas.microsoft.com/office/powerpoint/2010/main" val="11245818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3" descr="djhj">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304800"/>
            <a:ext cx="1501775" cy="636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5" name="Rectangle 12"/>
          <p:cNvSpPr>
            <a:spLocks noChangeArrowheads="1"/>
          </p:cNvSpPr>
          <p:nvPr/>
        </p:nvSpPr>
        <p:spPr bwMode="auto">
          <a:xfrm>
            <a:off x="468313" y="76200"/>
            <a:ext cx="61912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1800" dirty="0">
                <a:ea typeface="华文彩云" pitchFamily="2" charset="-122"/>
              </a:rPr>
              <a:t>多级运载火箭的重要性</a:t>
            </a:r>
            <a:endParaRPr lang="zh-CN" altLang="en-US" sz="1800" dirty="0"/>
          </a:p>
          <a:p>
            <a:pPr eaLnBrk="0" hangingPunct="0">
              <a:spcBef>
                <a:spcPct val="50000"/>
              </a:spcBef>
            </a:pPr>
            <a:r>
              <a:rPr lang="zh-CN" altLang="en-US" sz="1800" dirty="0">
                <a:ea typeface="宋体" pitchFamily="2" charset="-122"/>
              </a:rPr>
              <a:t> </a:t>
            </a:r>
            <a:r>
              <a:rPr lang="zh-CN" altLang="en-US" sz="1800" dirty="0">
                <a:ea typeface="黑体" pitchFamily="49" charset="-122"/>
              </a:rPr>
              <a:t>在目前技术条件下，一般火箭发动机的喷气速度最大只能是</a:t>
            </a:r>
            <a:r>
              <a:rPr lang="en-US" altLang="zh-CN" sz="1800" dirty="0">
                <a:ea typeface="黑体" pitchFamily="49" charset="-122"/>
              </a:rPr>
              <a:t>2</a:t>
            </a:r>
            <a:r>
              <a:rPr lang="zh-CN" altLang="en-US" sz="1800" dirty="0">
                <a:ea typeface="黑体" pitchFamily="49" charset="-122"/>
              </a:rPr>
              <a:t>．</a:t>
            </a:r>
            <a:r>
              <a:rPr lang="en-US" altLang="zh-CN" sz="1800" dirty="0">
                <a:ea typeface="黑体" pitchFamily="49" charset="-122"/>
              </a:rPr>
              <a:t>5km</a:t>
            </a:r>
            <a:r>
              <a:rPr lang="zh-CN" altLang="en-US" sz="1800" dirty="0">
                <a:ea typeface="黑体" pitchFamily="49" charset="-122"/>
              </a:rPr>
              <a:t>／秒，相应地，火箭前进的最大速度是</a:t>
            </a:r>
            <a:r>
              <a:rPr lang="en-US" altLang="zh-CN" sz="1800" dirty="0">
                <a:ea typeface="黑体" pitchFamily="49" charset="-122"/>
              </a:rPr>
              <a:t>4.5km/s</a:t>
            </a:r>
            <a:r>
              <a:rPr lang="zh-CN" altLang="en-US" sz="1800" dirty="0">
                <a:ea typeface="黑体" pitchFamily="49" charset="-122"/>
              </a:rPr>
              <a:t>。很明显，要把卫星送上几百</a:t>
            </a:r>
            <a:r>
              <a:rPr lang="en-US" altLang="zh-CN" sz="1800" dirty="0">
                <a:ea typeface="黑体" pitchFamily="49" charset="-122"/>
              </a:rPr>
              <a:t>km</a:t>
            </a:r>
            <a:r>
              <a:rPr lang="zh-CN" altLang="en-US" sz="1800" dirty="0">
                <a:ea typeface="黑体" pitchFamily="49" charset="-122"/>
              </a:rPr>
              <a:t>的高空，并具有环绕速度，用单级火箭是很难达到的。所以，在目前技术条件下，单级火箭无法使卫星达到环绕速度，不能做卫星的运载火箭。</a:t>
            </a:r>
            <a:r>
              <a:rPr lang="zh-CN" altLang="en-US" sz="1800" dirty="0"/>
              <a:t> </a:t>
            </a:r>
            <a:endParaRPr lang="zh-CN" altLang="en-US" sz="1800" dirty="0">
              <a:ea typeface="宋体" pitchFamily="2" charset="-122"/>
            </a:endParaRPr>
          </a:p>
          <a:p>
            <a:pPr eaLnBrk="0" hangingPunct="0">
              <a:spcBef>
                <a:spcPct val="50000"/>
              </a:spcBef>
            </a:pPr>
            <a:r>
              <a:rPr lang="zh-CN" altLang="en-US" sz="1800" dirty="0">
                <a:ea typeface="黑体" pitchFamily="49" charset="-122"/>
              </a:rPr>
              <a:t>    多级火箭在航行过程中，可把工作完毕而变得无用的火箭壳体和发动机（死重）抛掉，以达到提高速度的目的。目前，发射人造地球卫星只要用二级或三级火箭就足够了。根据需要还可以用一枚多级火箭同时发射几颗卫星。</a:t>
            </a:r>
            <a:endParaRPr lang="zh-CN" altLang="en-US" sz="1800" dirty="0"/>
          </a:p>
          <a:p>
            <a:pPr eaLnBrk="0" hangingPunct="0">
              <a:spcBef>
                <a:spcPct val="50000"/>
              </a:spcBef>
            </a:pPr>
            <a:r>
              <a:rPr lang="zh-CN" altLang="en-US" sz="1800" dirty="0">
                <a:ea typeface="黑体" pitchFamily="49" charset="-122"/>
              </a:rPr>
              <a:t>    多级运载火箭是一个整体，通常由几个单级火箭组成。一般用串联形式连接，各级头尾相接，也有下一级为并联、上面为串联的组合形式，整个运载火箭分为壳体、推进系统、飞行控制系统等。</a:t>
            </a:r>
            <a:endParaRPr lang="zh-CN" altLang="en-US" sz="1800" dirty="0"/>
          </a:p>
          <a:p>
            <a:pPr eaLnBrk="0" hangingPunct="0">
              <a:spcBef>
                <a:spcPct val="50000"/>
              </a:spcBef>
            </a:pPr>
            <a:r>
              <a:rPr lang="zh-CN" altLang="en-US" sz="1800" dirty="0">
                <a:ea typeface="黑体" pitchFamily="49" charset="-122"/>
              </a:rPr>
              <a:t>    运载火箭还有各种分离系统，包括各级的分离，卫星与运载火箭末级的分离，卫星与整流罩的分离。级间分离系统既要保证各级牢固连接，又要在下面一级工作完毕之后，可靠地把它分离掉，同时启动上面一级发动机和控制系统工作。</a:t>
            </a:r>
            <a:endParaRPr lang="zh-CN" altLang="en-US" sz="1800" dirty="0">
              <a:ea typeface="宋体" pitchFamily="2" charset="-122"/>
            </a:endParaRPr>
          </a:p>
        </p:txBody>
      </p:sp>
      <p:sp>
        <p:nvSpPr>
          <p:cNvPr id="90116" name="矩形 1"/>
          <p:cNvSpPr>
            <a:spLocks noChangeArrowheads="1"/>
          </p:cNvSpPr>
          <p:nvPr/>
        </p:nvSpPr>
        <p:spPr bwMode="auto">
          <a:xfrm>
            <a:off x="107950" y="5837238"/>
            <a:ext cx="66738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GB" altLang="zh-CN"/>
              <a:t>http://news.sina.com.cn/z/tiangong2011/index.shtml</a:t>
            </a:r>
            <a:endParaRPr lang="zh-CN" altLang="en-US"/>
          </a:p>
        </p:txBody>
      </p:sp>
    </p:spTree>
    <p:extLst>
      <p:ext uri="{BB962C8B-B14F-4D97-AF65-F5344CB8AC3E}">
        <p14:creationId xmlns:p14="http://schemas.microsoft.com/office/powerpoint/2010/main" val="57175884"/>
      </p:ext>
    </p:extLst>
  </p:cSld>
  <p:clrMapOvr>
    <a:masterClrMapping/>
  </p:clrMapOvr>
  <p:transition>
    <p:checker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3" descr="214348_458257176_qczfqjgv">
            <a:hlinkClick r:id="rId2" tooltip="新窗口打开"/>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04800"/>
            <a:ext cx="4076700" cy="269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Rectangle 4"/>
          <p:cNvSpPr>
            <a:spLocks noChangeArrowheads="1"/>
          </p:cNvSpPr>
          <p:nvPr/>
        </p:nvSpPr>
        <p:spPr bwMode="auto">
          <a:xfrm>
            <a:off x="457200" y="3352800"/>
            <a:ext cx="39481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000" b="1">
                <a:latin typeface="宋体" pitchFamily="2" charset="-122"/>
                <a:ea typeface="宋体" pitchFamily="2" charset="-122"/>
              </a:rPr>
              <a:t>明代</a:t>
            </a:r>
            <a:r>
              <a:rPr lang="en-US" altLang="zh-CN" sz="2000" b="1">
                <a:latin typeface="宋体" pitchFamily="2" charset="-122"/>
                <a:ea typeface="宋体" pitchFamily="2" charset="-122"/>
              </a:rPr>
              <a:t>《</a:t>
            </a:r>
            <a:r>
              <a:rPr lang="zh-CN" altLang="en-US" sz="2000" b="1">
                <a:latin typeface="宋体" pitchFamily="2" charset="-122"/>
                <a:ea typeface="宋体" pitchFamily="2" charset="-122"/>
              </a:rPr>
              <a:t>武备志</a:t>
            </a:r>
            <a:r>
              <a:rPr lang="en-US" altLang="zh-CN" sz="2000" b="1">
                <a:latin typeface="宋体" pitchFamily="2" charset="-122"/>
                <a:ea typeface="宋体" pitchFamily="2" charset="-122"/>
              </a:rPr>
              <a:t>》</a:t>
            </a:r>
            <a:r>
              <a:rPr lang="zh-CN" altLang="en-US" sz="2000" b="1">
                <a:latin typeface="宋体" pitchFamily="2" charset="-122"/>
                <a:ea typeface="宋体" pitchFamily="2" charset="-122"/>
              </a:rPr>
              <a:t>记载的多级火箭，用纸糊筒外绑第一级火箭，龙口内有第二级火箭，射出后加大射程击中敌方船舰，用于水上攻击，射程可以达到</a:t>
            </a:r>
            <a:r>
              <a:rPr lang="en-US" altLang="zh-CN" sz="2000" b="1">
                <a:latin typeface="宋体" pitchFamily="2" charset="-122"/>
                <a:ea typeface="宋体" pitchFamily="2" charset="-122"/>
              </a:rPr>
              <a:t>1.5km</a:t>
            </a:r>
            <a:r>
              <a:rPr lang="zh-CN" altLang="en-US" sz="2000" b="1">
                <a:latin typeface="宋体" pitchFamily="2" charset="-122"/>
                <a:ea typeface="宋体" pitchFamily="2" charset="-122"/>
              </a:rPr>
              <a:t>。但是因为制造复杂，这个距离上瞄准困难，基本没有实用。</a:t>
            </a:r>
            <a:endParaRPr lang="zh-CN" altLang="en-US" sz="2000" b="1">
              <a:ea typeface="宋体" pitchFamily="2" charset="-122"/>
            </a:endParaRPr>
          </a:p>
        </p:txBody>
      </p:sp>
      <p:pic>
        <p:nvPicPr>
          <p:cNvPr id="91140" name="Picture 8" descr="1190432983944_1190432983944_r">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381000"/>
            <a:ext cx="380682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2648042"/>
      </p:ext>
    </p:extLst>
  </p:cSld>
  <p:clrMapOvr>
    <a:masterClrMapping/>
  </p:clrMapOvr>
  <p:transition>
    <p:checker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620" name="Picture 3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3853" y="1052736"/>
            <a:ext cx="3266579" cy="2259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63" name="Picture 1063" descr="图片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6500" y="3741738"/>
            <a:ext cx="3803650" cy="2566987"/>
          </a:xfrm>
          <a:prstGeom prst="rect">
            <a:avLst/>
          </a:prstGeom>
          <a:noFill/>
          <a:extLst>
            <a:ext uri="{909E8E84-426E-40DD-AFC4-6F175D3DCCD1}">
              <a14:hiddenFill xmlns:a14="http://schemas.microsoft.com/office/drawing/2010/main">
                <a:solidFill>
                  <a:srgbClr val="FFFFFF"/>
                </a:solidFill>
              </a14:hiddenFill>
            </a:ext>
          </a:extLst>
        </p:spPr>
      </p:pic>
      <p:sp>
        <p:nvSpPr>
          <p:cNvPr id="100400" name="Rectangle 48"/>
          <p:cNvSpPr>
            <a:spLocks noChangeArrowheads="1"/>
          </p:cNvSpPr>
          <p:nvPr/>
        </p:nvSpPr>
        <p:spPr bwMode="auto">
          <a:xfrm>
            <a:off x="365124" y="3284538"/>
            <a:ext cx="8815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dirty="0"/>
              <a:t>引入质点</a:t>
            </a:r>
            <a:r>
              <a:rPr kumimoji="1" lang="zh-CN" altLang="en-US" dirty="0">
                <a:solidFill>
                  <a:srgbClr val="0000FF"/>
                </a:solidFill>
              </a:rPr>
              <a:t>对参考点</a:t>
            </a:r>
            <a:r>
              <a:rPr kumimoji="1" lang="en-US" altLang="zh-CN" i="1" dirty="0">
                <a:solidFill>
                  <a:srgbClr val="0000FF"/>
                </a:solidFill>
              </a:rPr>
              <a:t>O</a:t>
            </a:r>
            <a:r>
              <a:rPr kumimoji="1" lang="zh-CN" altLang="en-US" dirty="0">
                <a:solidFill>
                  <a:srgbClr val="0000FF"/>
                </a:solidFill>
              </a:rPr>
              <a:t>的角动量（</a:t>
            </a:r>
            <a:r>
              <a:rPr kumimoji="1" lang="en-US" altLang="zh-CN" dirty="0">
                <a:solidFill>
                  <a:srgbClr val="0000FF"/>
                </a:solidFill>
              </a:rPr>
              <a:t>angular momentum</a:t>
            </a:r>
            <a:r>
              <a:rPr kumimoji="1" lang="zh-CN" altLang="en-US" dirty="0">
                <a:solidFill>
                  <a:srgbClr val="0000FF"/>
                </a:solidFill>
              </a:rPr>
              <a:t>）</a:t>
            </a:r>
            <a:r>
              <a:rPr kumimoji="1" lang="zh-CN" altLang="en-US" dirty="0"/>
              <a:t>：</a:t>
            </a:r>
          </a:p>
        </p:txBody>
      </p:sp>
      <p:graphicFrame>
        <p:nvGraphicFramePr>
          <p:cNvPr id="100414" name="Object 62"/>
          <p:cNvGraphicFramePr>
            <a:graphicFrameLocks noChangeAspect="1"/>
          </p:cNvGraphicFramePr>
          <p:nvPr/>
        </p:nvGraphicFramePr>
        <p:xfrm>
          <a:off x="1222375" y="4022725"/>
          <a:ext cx="3770313" cy="673100"/>
        </p:xfrm>
        <a:graphic>
          <a:graphicData uri="http://schemas.openxmlformats.org/presentationml/2006/ole">
            <mc:AlternateContent xmlns:mc="http://schemas.openxmlformats.org/markup-compatibility/2006">
              <mc:Choice xmlns:v="urn:schemas-microsoft-com:vml" Requires="v">
                <p:oleObj spid="_x0000_s71744" name="公式" r:id="rId6" imgW="30784800" imgH="5486400" progId="Equation.3">
                  <p:embed/>
                </p:oleObj>
              </mc:Choice>
              <mc:Fallback>
                <p:oleObj name="公式" r:id="rId6" imgW="30784800" imgH="5486400" progId="Equation.3">
                  <p:embed/>
                  <p:pic>
                    <p:nvPicPr>
                      <p:cNvPr id="100414" name="Object 62"/>
                      <p:cNvPicPr>
                        <a:picLocks noChangeAspect="1" noChangeArrowheads="1"/>
                      </p:cNvPicPr>
                      <p:nvPr/>
                    </p:nvPicPr>
                    <p:blipFill>
                      <a:blip r:embed="rId7"/>
                      <a:srcRect/>
                      <a:stretch>
                        <a:fillRect/>
                      </a:stretch>
                    </p:blipFill>
                    <p:spPr bwMode="auto">
                      <a:xfrm>
                        <a:off x="1222375" y="4022725"/>
                        <a:ext cx="3770313"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3459" name="Group 1059"/>
          <p:cNvGrpSpPr/>
          <p:nvPr/>
        </p:nvGrpSpPr>
        <p:grpSpPr bwMode="auto">
          <a:xfrm>
            <a:off x="817563" y="5013325"/>
            <a:ext cx="3530600" cy="519113"/>
            <a:chOff x="515" y="3158"/>
            <a:chExt cx="2224" cy="327"/>
          </a:xfrm>
        </p:grpSpPr>
        <p:sp>
          <p:nvSpPr>
            <p:cNvPr id="100416" name="Rectangle 64"/>
            <p:cNvSpPr>
              <a:spLocks noChangeArrowheads="1"/>
            </p:cNvSpPr>
            <p:nvPr/>
          </p:nvSpPr>
          <p:spPr bwMode="auto">
            <a:xfrm>
              <a:off x="515" y="3158"/>
              <a:ext cx="10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a:t>大小：                           </a:t>
              </a:r>
            </a:p>
          </p:txBody>
        </p:sp>
        <p:graphicFrame>
          <p:nvGraphicFramePr>
            <p:cNvPr id="100417" name="Object 65"/>
            <p:cNvGraphicFramePr>
              <a:graphicFrameLocks noChangeAspect="1"/>
            </p:cNvGraphicFramePr>
            <p:nvPr/>
          </p:nvGraphicFramePr>
          <p:xfrm>
            <a:off x="1292" y="3158"/>
            <a:ext cx="1447" cy="286"/>
          </p:xfrm>
          <a:graphic>
            <a:graphicData uri="http://schemas.openxmlformats.org/presentationml/2006/ole">
              <mc:AlternateContent xmlns:mc="http://schemas.openxmlformats.org/markup-compatibility/2006">
                <mc:Choice xmlns:v="urn:schemas-microsoft-com:vml" Requires="v">
                  <p:oleObj spid="_x0000_s71745" name="Equation" r:id="rId8" imgW="1168400" imgH="241300" progId="Equation.3">
                    <p:embed/>
                  </p:oleObj>
                </mc:Choice>
                <mc:Fallback>
                  <p:oleObj name="Equation" r:id="rId8" imgW="1168400" imgH="241300" progId="Equation.3">
                    <p:embed/>
                    <p:pic>
                      <p:nvPicPr>
                        <p:cNvPr id="100417" name="Object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2" y="3158"/>
                          <a:ext cx="1447"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0435" name="Rectangle 83"/>
          <p:cNvSpPr>
            <a:spLocks noChangeArrowheads="1"/>
          </p:cNvSpPr>
          <p:nvPr/>
        </p:nvSpPr>
        <p:spPr bwMode="auto">
          <a:xfrm>
            <a:off x="822325" y="5656263"/>
            <a:ext cx="4254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a:latin typeface="Bookman Old Style" panose="02050604050505020204" pitchFamily="18" charset="0"/>
              </a:rPr>
              <a:t>方向：右手螺旋定则确定</a:t>
            </a:r>
          </a:p>
        </p:txBody>
      </p:sp>
      <p:sp>
        <p:nvSpPr>
          <p:cNvPr id="100449" name="Rectangle 97"/>
          <p:cNvSpPr>
            <a:spLocks noChangeArrowheads="1"/>
          </p:cNvSpPr>
          <p:nvPr/>
        </p:nvSpPr>
        <p:spPr bwMode="auto">
          <a:xfrm>
            <a:off x="179388" y="765175"/>
            <a:ext cx="432117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dirty="0"/>
              <a:t>一、角动量（动量矩）</a:t>
            </a:r>
          </a:p>
        </p:txBody>
      </p:sp>
      <p:sp>
        <p:nvSpPr>
          <p:cNvPr id="100477" name="Text Box 125"/>
          <p:cNvSpPr txBox="1">
            <a:spLocks noChangeArrowheads="1"/>
          </p:cNvSpPr>
          <p:nvPr/>
        </p:nvSpPr>
        <p:spPr bwMode="auto">
          <a:xfrm>
            <a:off x="107950" y="101600"/>
            <a:ext cx="72723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dirty="0">
                <a:solidFill>
                  <a:srgbClr val="FF0000"/>
                </a:solidFill>
              </a:rPr>
              <a:t>§2-3  </a:t>
            </a:r>
            <a:r>
              <a:rPr lang="zh-CN" altLang="en-US" dirty="0">
                <a:solidFill>
                  <a:srgbClr val="FF0000"/>
                </a:solidFill>
                <a:cs typeface="Times New Roman" panose="02020603050405020304" pitchFamily="18" charset="0"/>
              </a:rPr>
              <a:t>质点的角动量定理和角动量守恒定律  </a:t>
            </a:r>
          </a:p>
        </p:txBody>
      </p:sp>
      <p:sp>
        <p:nvSpPr>
          <p:cNvPr id="3" name="文本框 2"/>
          <p:cNvSpPr txBox="1"/>
          <p:nvPr/>
        </p:nvSpPr>
        <p:spPr>
          <a:xfrm>
            <a:off x="545626" y="1582718"/>
            <a:ext cx="4625257" cy="1569660"/>
          </a:xfrm>
          <a:prstGeom prst="rect">
            <a:avLst/>
          </a:prstGeom>
          <a:noFill/>
        </p:spPr>
        <p:txBody>
          <a:bodyPr wrap="square" rtlCol="0">
            <a:spAutoFit/>
          </a:bodyPr>
          <a:lstStyle/>
          <a:p>
            <a:r>
              <a:rPr lang="zh-CN" altLang="en-US" dirty="0"/>
              <a:t>自然界中行星围绕</a:t>
            </a:r>
            <a:r>
              <a:rPr lang="zh-CN" altLang="en-US"/>
              <a:t>太阳公转</a:t>
            </a:r>
            <a:endParaRPr lang="en-US" altLang="zh-CN"/>
          </a:p>
          <a:p>
            <a:r>
              <a:rPr lang="zh-CN" altLang="en-US">
                <a:solidFill>
                  <a:srgbClr val="FF0000"/>
                </a:solidFill>
              </a:rPr>
              <a:t>开普勒面积定理</a:t>
            </a:r>
            <a:r>
              <a:rPr lang="zh-CN" altLang="en-US"/>
              <a:t>：行星和太阳的连线在相等的时间间隔内扫过的面积相等</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449"/>
                                        </p:tgtEl>
                                        <p:attrNameLst>
                                          <p:attrName>style.visibility</p:attrName>
                                        </p:attrNameLst>
                                      </p:cBhvr>
                                      <p:to>
                                        <p:strVal val="visible"/>
                                      </p:to>
                                    </p:set>
                                    <p:animEffect transition="in" filter="wipe(left)">
                                      <p:cBhvr>
                                        <p:cTn id="7" dur="500"/>
                                        <p:tgtEl>
                                          <p:spTgt spid="1004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8620"/>
                                        </p:tgtEl>
                                        <p:attrNameLst>
                                          <p:attrName>style.visibility</p:attrName>
                                        </p:attrNameLst>
                                      </p:cBhvr>
                                      <p:to>
                                        <p:strVal val="visible"/>
                                      </p:to>
                                    </p:set>
                                    <p:animEffect transition="in" filter="wipe(left)">
                                      <p:cBhvr>
                                        <p:cTn id="17" dur="500"/>
                                        <p:tgtEl>
                                          <p:spTgt spid="1386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400"/>
                                        </p:tgtEl>
                                        <p:attrNameLst>
                                          <p:attrName>style.visibility</p:attrName>
                                        </p:attrNameLst>
                                      </p:cBhvr>
                                      <p:to>
                                        <p:strVal val="visible"/>
                                      </p:to>
                                    </p:set>
                                    <p:animEffect transition="in" filter="wipe(left)">
                                      <p:cBhvr>
                                        <p:cTn id="22" dur="500"/>
                                        <p:tgtEl>
                                          <p:spTgt spid="1004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0414"/>
                                        </p:tgtEl>
                                        <p:attrNameLst>
                                          <p:attrName>style.visibility</p:attrName>
                                        </p:attrNameLst>
                                      </p:cBhvr>
                                      <p:to>
                                        <p:strVal val="visible"/>
                                      </p:to>
                                    </p:set>
                                    <p:animEffect transition="in" filter="wipe(left)">
                                      <p:cBhvr>
                                        <p:cTn id="27" dur="500"/>
                                        <p:tgtEl>
                                          <p:spTgt spid="10041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346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3459"/>
                                        </p:tgtEl>
                                        <p:attrNameLst>
                                          <p:attrName>style.visibility</p:attrName>
                                        </p:attrNameLst>
                                      </p:cBhvr>
                                      <p:to>
                                        <p:strVal val="visible"/>
                                      </p:to>
                                    </p:set>
                                    <p:animEffect transition="in" filter="wipe(left)">
                                      <p:cBhvr>
                                        <p:cTn id="36" dur="500"/>
                                        <p:tgtEl>
                                          <p:spTgt spid="10345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00435"/>
                                        </p:tgtEl>
                                        <p:attrNameLst>
                                          <p:attrName>style.visibility</p:attrName>
                                        </p:attrNameLst>
                                      </p:cBhvr>
                                      <p:to>
                                        <p:strVal val="visible"/>
                                      </p:to>
                                    </p:set>
                                    <p:animEffect transition="in" filter="wipe(left)">
                                      <p:cBhvr>
                                        <p:cTn id="41" dur="500"/>
                                        <p:tgtEl>
                                          <p:spTgt spid="100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00" grpId="0" autoUpdateAnimBg="0"/>
      <p:bldP spid="100449" grpId="0" autoUpdateAnimBg="0"/>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462" name="Picture 86" descr="图片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2852738"/>
            <a:ext cx="4552950" cy="345598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1425" name="Object 49"/>
          <p:cNvGraphicFramePr>
            <a:graphicFrameLocks noChangeAspect="1"/>
          </p:cNvGraphicFramePr>
          <p:nvPr/>
        </p:nvGraphicFramePr>
        <p:xfrm>
          <a:off x="1962150" y="423863"/>
          <a:ext cx="3770313" cy="671512"/>
        </p:xfrm>
        <a:graphic>
          <a:graphicData uri="http://schemas.openxmlformats.org/presentationml/2006/ole">
            <mc:AlternateContent xmlns:mc="http://schemas.openxmlformats.org/markup-compatibility/2006">
              <mc:Choice xmlns:v="urn:schemas-microsoft-com:vml" Requires="v">
                <p:oleObj spid="_x0000_s72796" name="公式" r:id="rId4" imgW="30784800" imgH="5486400" progId="Equation.3">
                  <p:embed/>
                </p:oleObj>
              </mc:Choice>
              <mc:Fallback>
                <p:oleObj name="公式" r:id="rId4" imgW="30784800" imgH="5486400" progId="Equation.3">
                  <p:embed/>
                  <p:pic>
                    <p:nvPicPr>
                      <p:cNvPr id="101425" name="Object 49"/>
                      <p:cNvPicPr>
                        <a:picLocks noChangeAspect="1" noChangeArrowheads="1"/>
                      </p:cNvPicPr>
                      <p:nvPr/>
                    </p:nvPicPr>
                    <p:blipFill>
                      <a:blip r:embed="rId5"/>
                      <a:srcRect/>
                      <a:stretch>
                        <a:fillRect/>
                      </a:stretch>
                    </p:blipFill>
                    <p:spPr bwMode="auto">
                      <a:xfrm>
                        <a:off x="1962150" y="423863"/>
                        <a:ext cx="3770313" cy="67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1460" name="Group 84"/>
          <p:cNvGrpSpPr/>
          <p:nvPr/>
        </p:nvGrpSpPr>
        <p:grpSpPr bwMode="auto">
          <a:xfrm>
            <a:off x="450850" y="1196975"/>
            <a:ext cx="8153400" cy="1117600"/>
            <a:chOff x="284" y="935"/>
            <a:chExt cx="5136" cy="704"/>
          </a:xfrm>
        </p:grpSpPr>
        <p:sp>
          <p:nvSpPr>
            <p:cNvPr id="101423" name="Rectangle 47"/>
            <p:cNvSpPr>
              <a:spLocks noChangeArrowheads="1"/>
            </p:cNvSpPr>
            <p:nvPr/>
          </p:nvSpPr>
          <p:spPr bwMode="auto">
            <a:xfrm>
              <a:off x="284" y="935"/>
              <a:ext cx="5136"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kumimoji="1" lang="zh-CN" altLang="en-US" dirty="0">
                  <a:solidFill>
                    <a:srgbClr val="0000FF"/>
                  </a:solidFill>
                </a:rPr>
                <a:t>特例：</a:t>
              </a:r>
              <a:r>
                <a:rPr kumimoji="1" lang="zh-CN" altLang="en-US" dirty="0"/>
                <a:t>做圆周运动时，由于            ，质点对圆心的角动量大小为                 ，</a:t>
              </a:r>
            </a:p>
          </p:txBody>
        </p:sp>
        <p:graphicFrame>
          <p:nvGraphicFramePr>
            <p:cNvPr id="101424" name="Object 48"/>
            <p:cNvGraphicFramePr>
              <a:graphicFrameLocks noChangeAspect="1"/>
            </p:cNvGraphicFramePr>
            <p:nvPr>
              <p:extLst>
                <p:ext uri="{D42A27DB-BD31-4B8C-83A1-F6EECF244321}">
                  <p14:modId xmlns:p14="http://schemas.microsoft.com/office/powerpoint/2010/main" val="1272717656"/>
                </p:ext>
              </p:extLst>
            </p:nvPr>
          </p:nvGraphicFramePr>
          <p:xfrm>
            <a:off x="2661" y="936"/>
            <a:ext cx="613" cy="286"/>
          </p:xfrm>
          <a:graphic>
            <a:graphicData uri="http://schemas.openxmlformats.org/presentationml/2006/ole">
              <mc:AlternateContent xmlns:mc="http://schemas.openxmlformats.org/markup-compatibility/2006">
                <mc:Choice xmlns:v="urn:schemas-microsoft-com:vml" Requires="v">
                  <p:oleObj spid="_x0000_s72797" name="公式" r:id="rId6" imgW="9144000" imgH="4267200" progId="Equation.3">
                    <p:embed/>
                  </p:oleObj>
                </mc:Choice>
                <mc:Fallback>
                  <p:oleObj name="公式" r:id="rId6" imgW="9144000" imgH="4267200" progId="Equation.3">
                    <p:embed/>
                    <p:pic>
                      <p:nvPicPr>
                        <p:cNvPr id="101424" name="Object 48"/>
                        <p:cNvPicPr>
                          <a:picLocks noChangeAspect="1" noChangeArrowheads="1"/>
                        </p:cNvPicPr>
                        <p:nvPr/>
                      </p:nvPicPr>
                      <p:blipFill>
                        <a:blip r:embed="rId7"/>
                        <a:srcRect/>
                        <a:stretch>
                          <a:fillRect/>
                        </a:stretch>
                      </p:blipFill>
                      <p:spPr bwMode="auto">
                        <a:xfrm>
                          <a:off x="2661" y="936"/>
                          <a:ext cx="613"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26" name="Object 50"/>
            <p:cNvGraphicFramePr>
              <a:graphicFrameLocks noChangeAspect="1"/>
            </p:cNvGraphicFramePr>
            <p:nvPr>
              <p:extLst>
                <p:ext uri="{D42A27DB-BD31-4B8C-83A1-F6EECF244321}">
                  <p14:modId xmlns:p14="http://schemas.microsoft.com/office/powerpoint/2010/main" val="1532371469"/>
                </p:ext>
              </p:extLst>
            </p:nvPr>
          </p:nvGraphicFramePr>
          <p:xfrm>
            <a:off x="703" y="1235"/>
            <a:ext cx="856" cy="287"/>
          </p:xfrm>
          <a:graphic>
            <a:graphicData uri="http://schemas.openxmlformats.org/presentationml/2006/ole">
              <mc:AlternateContent xmlns:mc="http://schemas.openxmlformats.org/markup-compatibility/2006">
                <mc:Choice xmlns:v="urn:schemas-microsoft-com:vml" Requires="v">
                  <p:oleObj spid="_x0000_s72798" name="公式" r:id="rId8" imgW="13411200" imgH="4267200" progId="Equation.3">
                    <p:embed/>
                  </p:oleObj>
                </mc:Choice>
                <mc:Fallback>
                  <p:oleObj name="公式" r:id="rId8" imgW="13411200" imgH="4267200" progId="Equation.3">
                    <p:embed/>
                    <p:pic>
                      <p:nvPicPr>
                        <p:cNvPr id="101426" name="Object 50"/>
                        <p:cNvPicPr>
                          <a:picLocks noChangeAspect="1" noChangeArrowheads="1"/>
                        </p:cNvPicPr>
                        <p:nvPr/>
                      </p:nvPicPr>
                      <p:blipFill>
                        <a:blip r:embed="rId9"/>
                        <a:srcRect/>
                        <a:stretch>
                          <a:fillRect/>
                        </a:stretch>
                      </p:blipFill>
                      <p:spPr bwMode="auto">
                        <a:xfrm>
                          <a:off x="703" y="1235"/>
                          <a:ext cx="856"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1427" name="Rectangle 51"/>
          <p:cNvSpPr>
            <a:spLocks noChangeArrowheads="1"/>
          </p:cNvSpPr>
          <p:nvPr/>
        </p:nvSpPr>
        <p:spPr bwMode="auto">
          <a:xfrm>
            <a:off x="468313" y="2636838"/>
            <a:ext cx="3756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t>大小不变，方向不变。</a:t>
            </a:r>
          </a:p>
        </p:txBody>
      </p:sp>
      <p:sp>
        <p:nvSpPr>
          <p:cNvPr id="101453" name="Rectangle 77"/>
          <p:cNvSpPr>
            <a:spLocks noChangeArrowheads="1"/>
          </p:cNvSpPr>
          <p:nvPr/>
        </p:nvSpPr>
        <p:spPr bwMode="auto">
          <a:xfrm>
            <a:off x="234950" y="3429000"/>
            <a:ext cx="64087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0" hangingPunct="0">
              <a:buClr>
                <a:srgbClr val="0000FF"/>
              </a:buClr>
              <a:buFont typeface="Wingdings" panose="05000000000000000000" pitchFamily="2" charset="2"/>
              <a:buChar char="Ø"/>
            </a:pPr>
            <a:r>
              <a:rPr kumimoji="1" lang="en-US" altLang="zh-CN" dirty="0"/>
              <a:t> </a:t>
            </a:r>
            <a:r>
              <a:rPr kumimoji="1" lang="zh-CN" altLang="en-US" dirty="0"/>
              <a:t>质点对圆心</a:t>
            </a:r>
            <a:r>
              <a:rPr kumimoji="1" lang="en-US" altLang="zh-CN" i="1" dirty="0"/>
              <a:t>O</a:t>
            </a:r>
            <a:r>
              <a:rPr kumimoji="1" lang="zh-CN" altLang="en-US" dirty="0"/>
              <a:t>的角动量为常量。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1425"/>
                                        </p:tgtEl>
                                        <p:attrNameLst>
                                          <p:attrName>style.visibility</p:attrName>
                                        </p:attrNameLst>
                                      </p:cBhvr>
                                      <p:to>
                                        <p:strVal val="visible"/>
                                      </p:to>
                                    </p:set>
                                    <p:animEffect transition="in" filter="wipe(left)">
                                      <p:cBhvr>
                                        <p:cTn id="7" dur="500"/>
                                        <p:tgtEl>
                                          <p:spTgt spid="1014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1460"/>
                                        </p:tgtEl>
                                        <p:attrNameLst>
                                          <p:attrName>style.visibility</p:attrName>
                                        </p:attrNameLst>
                                      </p:cBhvr>
                                      <p:to>
                                        <p:strVal val="visible"/>
                                      </p:to>
                                    </p:set>
                                    <p:animEffect transition="in" filter="wipe(left)">
                                      <p:cBhvr>
                                        <p:cTn id="12" dur="500"/>
                                        <p:tgtEl>
                                          <p:spTgt spid="10146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46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1427"/>
                                        </p:tgtEl>
                                        <p:attrNameLst>
                                          <p:attrName>style.visibility</p:attrName>
                                        </p:attrNameLst>
                                      </p:cBhvr>
                                      <p:to>
                                        <p:strVal val="visible"/>
                                      </p:to>
                                    </p:set>
                                    <p:animEffect transition="in" filter="wipe(left)">
                                      <p:cBhvr>
                                        <p:cTn id="21" dur="500"/>
                                        <p:tgtEl>
                                          <p:spTgt spid="10142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1453"/>
                                        </p:tgtEl>
                                        <p:attrNameLst>
                                          <p:attrName>style.visibility</p:attrName>
                                        </p:attrNameLst>
                                      </p:cBhvr>
                                      <p:to>
                                        <p:strVal val="visible"/>
                                      </p:to>
                                    </p:set>
                                    <p:animEffect transition="in" filter="wipe(left)">
                                      <p:cBhvr>
                                        <p:cTn id="26" dur="500"/>
                                        <p:tgtEl>
                                          <p:spTgt spid="101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27" grpId="0" autoUpdateAnimBg="0"/>
      <p:bldP spid="101453"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51520" y="188640"/>
            <a:ext cx="8496944" cy="3416320"/>
            <a:chOff x="251520" y="188640"/>
            <a:chExt cx="8496944" cy="3416320"/>
          </a:xfrm>
        </p:grpSpPr>
        <p:sp>
          <p:nvSpPr>
            <p:cNvPr id="3" name="矩形 2"/>
            <p:cNvSpPr/>
            <p:nvPr/>
          </p:nvSpPr>
          <p:spPr>
            <a:xfrm>
              <a:off x="251520" y="188640"/>
              <a:ext cx="8496944" cy="3416320"/>
            </a:xfrm>
            <a:prstGeom prst="rect">
              <a:avLst/>
            </a:prstGeom>
          </p:spPr>
          <p:txBody>
            <a:bodyPr wrap="square">
              <a:spAutoFit/>
            </a:bodyPr>
            <a:lstStyle/>
            <a:p>
              <a:pPr algn="just"/>
              <a:r>
                <a:rPr kumimoji="1" lang="zh-CN" altLang="en-US" dirty="0">
                  <a:solidFill>
                    <a:srgbClr val="0000FF"/>
                  </a:solidFill>
                </a:rPr>
                <a:t>例</a:t>
              </a:r>
              <a:r>
                <a:rPr kumimoji="1" lang="en-US" altLang="zh-CN" dirty="0">
                  <a:solidFill>
                    <a:srgbClr val="0000FF"/>
                  </a:solidFill>
                </a:rPr>
                <a:t>2-9 </a:t>
              </a:r>
              <a:r>
                <a:rPr kumimoji="1" lang="zh-CN" altLang="en-US" dirty="0"/>
                <a:t>按经典原子理论：氢原子中的电子在圆形轨道</a:t>
              </a:r>
              <a:endParaRPr kumimoji="1" lang="en-US" altLang="zh-CN" dirty="0"/>
            </a:p>
            <a:p>
              <a:pPr algn="just"/>
              <a:endParaRPr kumimoji="1" lang="en-US" altLang="zh-CN" dirty="0"/>
            </a:p>
            <a:p>
              <a:pPr algn="just"/>
              <a:r>
                <a:rPr kumimoji="1" lang="zh-CN" altLang="en-US" dirty="0"/>
                <a:t>上绕核运动。电子与氢原子核之间的静电力</a:t>
              </a:r>
              <a:endParaRPr kumimoji="1" lang="en-US" altLang="zh-CN" dirty="0"/>
            </a:p>
            <a:p>
              <a:pPr algn="just"/>
              <a:endParaRPr kumimoji="1" lang="en-US" altLang="zh-CN" dirty="0"/>
            </a:p>
            <a:p>
              <a:pPr algn="just"/>
              <a:r>
                <a:rPr kumimoji="1" lang="zh-CN" altLang="en-US" dirty="0"/>
                <a:t>因为电子的角动量具有量子化的特征，所以电子绕核</a:t>
              </a:r>
              <a:endParaRPr kumimoji="1" lang="en-US" altLang="zh-CN" dirty="0"/>
            </a:p>
            <a:p>
              <a:pPr algn="just"/>
              <a:endParaRPr kumimoji="1" lang="en-US" altLang="zh-CN" dirty="0"/>
            </a:p>
            <a:p>
              <a:pPr algn="just"/>
              <a:r>
                <a:rPr kumimoji="1" lang="zh-CN" altLang="en-US" dirty="0"/>
                <a:t>运动的角动量只能等于       的整数（</a:t>
              </a:r>
              <a:r>
                <a:rPr kumimoji="1" lang="en-US" altLang="zh-CN" i="1" dirty="0"/>
                <a:t>n</a:t>
              </a:r>
              <a:r>
                <a:rPr kumimoji="1" lang="zh-CN" altLang="en-US" dirty="0"/>
                <a:t>）倍。问电子</a:t>
              </a:r>
              <a:endParaRPr kumimoji="1" lang="en-US" altLang="zh-CN" dirty="0"/>
            </a:p>
            <a:p>
              <a:pPr algn="just"/>
              <a:endParaRPr kumimoji="1" lang="en-US" altLang="zh-CN" dirty="0"/>
            </a:p>
            <a:p>
              <a:pPr algn="just"/>
              <a:r>
                <a:rPr kumimoji="1" lang="zh-CN" altLang="en-US" dirty="0"/>
                <a:t>运动的容许轨道半径等于多少？</a:t>
              </a:r>
              <a:endParaRPr kumimoji="1" lang="en-US" altLang="zh-CN" dirty="0"/>
            </a:p>
          </p:txBody>
        </p:sp>
        <p:graphicFrame>
          <p:nvGraphicFramePr>
            <p:cNvPr id="7" name="Object 65"/>
            <p:cNvGraphicFramePr>
              <a:graphicFrameLocks noChangeAspect="1"/>
            </p:cNvGraphicFramePr>
            <p:nvPr>
              <p:extLst>
                <p:ext uri="{D42A27DB-BD31-4B8C-83A1-F6EECF244321}">
                  <p14:modId xmlns:p14="http://schemas.microsoft.com/office/powerpoint/2010/main" val="675887099"/>
                </p:ext>
              </p:extLst>
            </p:nvPr>
          </p:nvGraphicFramePr>
          <p:xfrm>
            <a:off x="6300192" y="548680"/>
            <a:ext cx="1565275" cy="1069975"/>
          </p:xfrm>
          <a:graphic>
            <a:graphicData uri="http://schemas.openxmlformats.org/presentationml/2006/ole">
              <mc:AlternateContent xmlns:mc="http://schemas.openxmlformats.org/markup-compatibility/2006">
                <mc:Choice xmlns:v="urn:schemas-microsoft-com:vml" Requires="v">
                  <p:oleObj spid="_x0000_s73790" name="公式" r:id="rId3" imgW="14325600" imgH="10058400" progId="Equation.3">
                    <p:embed/>
                  </p:oleObj>
                </mc:Choice>
                <mc:Fallback>
                  <p:oleObj name="公式" r:id="rId3" imgW="14325600" imgH="10058400" progId="Equation.3">
                    <p:embed/>
                    <p:pic>
                      <p:nvPicPr>
                        <p:cNvPr id="7" name="Object 65"/>
                        <p:cNvPicPr>
                          <a:picLocks noChangeAspect="1" noChangeArrowheads="1"/>
                        </p:cNvPicPr>
                        <p:nvPr/>
                      </p:nvPicPr>
                      <p:blipFill>
                        <a:blip r:embed="rId4"/>
                        <a:srcRect/>
                        <a:stretch>
                          <a:fillRect/>
                        </a:stretch>
                      </p:blipFill>
                      <p:spPr bwMode="auto">
                        <a:xfrm>
                          <a:off x="6300192" y="548680"/>
                          <a:ext cx="1565275"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361357621"/>
                </p:ext>
              </p:extLst>
            </p:nvPr>
          </p:nvGraphicFramePr>
          <p:xfrm>
            <a:off x="3347864" y="2060848"/>
            <a:ext cx="665163" cy="1004887"/>
          </p:xfrm>
          <a:graphic>
            <a:graphicData uri="http://schemas.openxmlformats.org/presentationml/2006/ole">
              <mc:AlternateContent xmlns:mc="http://schemas.openxmlformats.org/markup-compatibility/2006">
                <mc:Choice xmlns:v="urn:schemas-microsoft-com:vml" Requires="v">
                  <p:oleObj spid="_x0000_s73791" name="公式" r:id="rId5" imgW="6096000" imgH="9448800" progId="Equation.3">
                    <p:embed/>
                  </p:oleObj>
                </mc:Choice>
                <mc:Fallback>
                  <p:oleObj name="公式" r:id="rId5" imgW="6096000" imgH="9448800" progId="Equation.3">
                    <p:embed/>
                    <p:pic>
                      <p:nvPicPr>
                        <p:cNvPr id="2" name="对象 1"/>
                        <p:cNvPicPr>
                          <a:picLocks noChangeAspect="1" noChangeArrowheads="1"/>
                        </p:cNvPicPr>
                        <p:nvPr/>
                      </p:nvPicPr>
                      <p:blipFill>
                        <a:blip r:embed="rId6"/>
                        <a:srcRect/>
                        <a:stretch>
                          <a:fillRect/>
                        </a:stretch>
                      </p:blipFill>
                      <p:spPr bwMode="auto">
                        <a:xfrm>
                          <a:off x="3347864" y="2060848"/>
                          <a:ext cx="665163"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1691680" y="2492896"/>
          <a:ext cx="2697162" cy="1004888"/>
        </p:xfrm>
        <a:graphic>
          <a:graphicData uri="http://schemas.openxmlformats.org/presentationml/2006/ole">
            <mc:AlternateContent xmlns:mc="http://schemas.openxmlformats.org/markup-compatibility/2006">
              <mc:Choice xmlns:v="urn:schemas-microsoft-com:vml" Requires="v">
                <p:oleObj spid="_x0000_s74874" name="公式" r:id="rId3" imgW="24688800" imgH="9448800" progId="Equation.3">
                  <p:embed/>
                </p:oleObj>
              </mc:Choice>
              <mc:Fallback>
                <p:oleObj name="公式" r:id="rId3" imgW="24688800" imgH="9448800" progId="Equation.3">
                  <p:embed/>
                  <p:pic>
                    <p:nvPicPr>
                      <p:cNvPr id="3" name="对象 2"/>
                      <p:cNvPicPr>
                        <a:picLocks noChangeAspect="1" noChangeArrowheads="1"/>
                      </p:cNvPicPr>
                      <p:nvPr/>
                    </p:nvPicPr>
                    <p:blipFill>
                      <a:blip r:embed="rId4"/>
                      <a:srcRect/>
                      <a:stretch>
                        <a:fillRect/>
                      </a:stretch>
                    </p:blipFill>
                    <p:spPr bwMode="auto">
                      <a:xfrm>
                        <a:off x="1691680" y="2492896"/>
                        <a:ext cx="2697162"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54"/>
          <p:cNvSpPr>
            <a:spLocks noChangeArrowheads="1"/>
          </p:cNvSpPr>
          <p:nvPr/>
        </p:nvSpPr>
        <p:spPr bwMode="auto">
          <a:xfrm>
            <a:off x="395536" y="1844824"/>
            <a:ext cx="76328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dirty="0"/>
              <a:t>由于电子绕核运动时，角动量有量子化的特征</a:t>
            </a:r>
          </a:p>
        </p:txBody>
      </p:sp>
      <p:graphicFrame>
        <p:nvGraphicFramePr>
          <p:cNvPr id="5" name="对象 4"/>
          <p:cNvGraphicFramePr>
            <a:graphicFrameLocks noChangeAspect="1"/>
          </p:cNvGraphicFramePr>
          <p:nvPr/>
        </p:nvGraphicFramePr>
        <p:xfrm>
          <a:off x="1763688" y="3962365"/>
          <a:ext cx="2297113" cy="1069975"/>
        </p:xfrm>
        <a:graphic>
          <a:graphicData uri="http://schemas.openxmlformats.org/presentationml/2006/ole">
            <mc:AlternateContent xmlns:mc="http://schemas.openxmlformats.org/markup-compatibility/2006">
              <mc:Choice xmlns:v="urn:schemas-microsoft-com:vml" Requires="v">
                <p:oleObj spid="_x0000_s74875" name="公式" r:id="rId5" imgW="21031200" imgH="10058400" progId="Equation.3">
                  <p:embed/>
                </p:oleObj>
              </mc:Choice>
              <mc:Fallback>
                <p:oleObj name="公式" r:id="rId5" imgW="21031200" imgH="10058400" progId="Equation.3">
                  <p:embed/>
                  <p:pic>
                    <p:nvPicPr>
                      <p:cNvPr id="5" name="对象 4"/>
                      <p:cNvPicPr>
                        <a:picLocks noChangeAspect="1" noChangeArrowheads="1"/>
                      </p:cNvPicPr>
                      <p:nvPr/>
                    </p:nvPicPr>
                    <p:blipFill>
                      <a:blip r:embed="rId6"/>
                      <a:srcRect/>
                      <a:stretch>
                        <a:fillRect/>
                      </a:stretch>
                    </p:blipFill>
                    <p:spPr bwMode="auto">
                      <a:xfrm>
                        <a:off x="1763688" y="3962365"/>
                        <a:ext cx="2297113"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4"/>
          <p:cNvSpPr>
            <a:spLocks noChangeArrowheads="1"/>
          </p:cNvSpPr>
          <p:nvPr/>
        </p:nvSpPr>
        <p:spPr bwMode="auto">
          <a:xfrm>
            <a:off x="395536" y="3573016"/>
            <a:ext cx="76328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dirty="0"/>
              <a:t>联合解得</a:t>
            </a:r>
          </a:p>
        </p:txBody>
      </p:sp>
      <p:sp>
        <p:nvSpPr>
          <p:cNvPr id="7" name="Rectangle 54"/>
          <p:cNvSpPr>
            <a:spLocks noChangeArrowheads="1"/>
          </p:cNvSpPr>
          <p:nvPr/>
        </p:nvSpPr>
        <p:spPr bwMode="auto">
          <a:xfrm>
            <a:off x="547936" y="5283205"/>
            <a:ext cx="763284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dirty="0"/>
              <a:t>即电子绕核运动的轨道半径只能与</a:t>
            </a:r>
            <a:r>
              <a:rPr kumimoji="1" lang="en-US" altLang="zh-CN" i="1" dirty="0"/>
              <a:t>n</a:t>
            </a:r>
            <a:r>
              <a:rPr kumimoji="1" lang="zh-CN" altLang="en-US" dirty="0"/>
              <a:t>的平方成正比，轨道半径是不连续的。</a:t>
            </a:r>
          </a:p>
        </p:txBody>
      </p:sp>
      <p:graphicFrame>
        <p:nvGraphicFramePr>
          <p:cNvPr id="8" name="对象 7"/>
          <p:cNvGraphicFramePr>
            <a:graphicFrameLocks noChangeAspect="1"/>
          </p:cNvGraphicFramePr>
          <p:nvPr/>
        </p:nvGraphicFramePr>
        <p:xfrm>
          <a:off x="4788024" y="2732070"/>
          <a:ext cx="1831975" cy="519113"/>
        </p:xfrm>
        <a:graphic>
          <a:graphicData uri="http://schemas.openxmlformats.org/presentationml/2006/ole">
            <mc:AlternateContent xmlns:mc="http://schemas.openxmlformats.org/markup-compatibility/2006">
              <mc:Choice xmlns:v="urn:schemas-microsoft-com:vml" Requires="v">
                <p:oleObj spid="_x0000_s74876" name="公式" r:id="rId7" imgW="16764000" imgH="4876800" progId="Equation.3">
                  <p:embed/>
                </p:oleObj>
              </mc:Choice>
              <mc:Fallback>
                <p:oleObj name="公式" r:id="rId7" imgW="16764000" imgH="4876800" progId="Equation.3">
                  <p:embed/>
                  <p:pic>
                    <p:nvPicPr>
                      <p:cNvPr id="8" name="对象 7"/>
                      <p:cNvPicPr>
                        <a:picLocks noChangeAspect="1" noChangeArrowheads="1"/>
                      </p:cNvPicPr>
                      <p:nvPr/>
                    </p:nvPicPr>
                    <p:blipFill>
                      <a:blip r:embed="rId8"/>
                      <a:srcRect/>
                      <a:stretch>
                        <a:fillRect/>
                      </a:stretch>
                    </p:blipFill>
                    <p:spPr bwMode="auto">
                      <a:xfrm>
                        <a:off x="4788024" y="2732070"/>
                        <a:ext cx="18319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54"/>
          <p:cNvSpPr>
            <a:spLocks noChangeArrowheads="1"/>
          </p:cNvSpPr>
          <p:nvPr/>
        </p:nvSpPr>
        <p:spPr bwMode="auto">
          <a:xfrm>
            <a:off x="395535" y="116632"/>
            <a:ext cx="574941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dirty="0">
                <a:solidFill>
                  <a:srgbClr val="0000FF"/>
                </a:solidFill>
              </a:rPr>
              <a:t>解：</a:t>
            </a:r>
            <a:r>
              <a:rPr kumimoji="1" lang="zh-CN" altLang="en-US" dirty="0"/>
              <a:t>由牛顿第二定律得</a:t>
            </a:r>
          </a:p>
        </p:txBody>
      </p:sp>
      <p:graphicFrame>
        <p:nvGraphicFramePr>
          <p:cNvPr id="12" name="对象 11"/>
          <p:cNvGraphicFramePr>
            <a:graphicFrameLocks noChangeAspect="1"/>
          </p:cNvGraphicFramePr>
          <p:nvPr/>
        </p:nvGraphicFramePr>
        <p:xfrm>
          <a:off x="2231197" y="620688"/>
          <a:ext cx="3895725" cy="1069975"/>
        </p:xfrm>
        <a:graphic>
          <a:graphicData uri="http://schemas.openxmlformats.org/presentationml/2006/ole">
            <mc:AlternateContent xmlns:mc="http://schemas.openxmlformats.org/markup-compatibility/2006">
              <mc:Choice xmlns:v="urn:schemas-microsoft-com:vml" Requires="v">
                <p:oleObj spid="_x0000_s74877" name="公式" r:id="rId9" imgW="35661600" imgH="10058400" progId="Equation.3">
                  <p:embed/>
                </p:oleObj>
              </mc:Choice>
              <mc:Fallback>
                <p:oleObj name="公式" r:id="rId9" imgW="35661600" imgH="10058400" progId="Equation.3">
                  <p:embed/>
                  <p:pic>
                    <p:nvPicPr>
                      <p:cNvPr id="12" name="对象 11"/>
                      <p:cNvPicPr>
                        <a:picLocks noChangeAspect="1" noChangeArrowheads="1"/>
                      </p:cNvPicPr>
                      <p:nvPr/>
                    </p:nvPicPr>
                    <p:blipFill>
                      <a:blip r:embed="rId10"/>
                      <a:srcRect/>
                      <a:stretch>
                        <a:fillRect/>
                      </a:stretch>
                    </p:blipFill>
                    <p:spPr bwMode="auto">
                      <a:xfrm>
                        <a:off x="2231197" y="620688"/>
                        <a:ext cx="3895725"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P spid="7" grpId="0" autoUpdateAnimBg="0"/>
      <p:bldP spid="11"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33" name="Object 9"/>
          <p:cNvGraphicFramePr>
            <a:graphicFrameLocks noChangeAspect="1"/>
          </p:cNvGraphicFramePr>
          <p:nvPr/>
        </p:nvGraphicFramePr>
        <p:xfrm>
          <a:off x="3114675" y="765175"/>
          <a:ext cx="2624138" cy="1071563"/>
        </p:xfrm>
        <a:graphic>
          <a:graphicData uri="http://schemas.openxmlformats.org/presentationml/2006/ole">
            <mc:AlternateContent xmlns:mc="http://schemas.openxmlformats.org/markup-compatibility/2006">
              <mc:Choice xmlns:v="urn:schemas-microsoft-com:vml" Requires="v">
                <p:oleObj spid="_x0000_s76018" name="公式" r:id="rId3" imgW="24688800" imgH="10058400" progId="Equation.3">
                  <p:embed/>
                </p:oleObj>
              </mc:Choice>
              <mc:Fallback>
                <p:oleObj name="公式" r:id="rId3" imgW="24688800" imgH="10058400" progId="Equation.3">
                  <p:embed/>
                  <p:pic>
                    <p:nvPicPr>
                      <p:cNvPr id="103433" name="Object 9"/>
                      <p:cNvPicPr>
                        <a:picLocks noChangeAspect="1" noChangeArrowheads="1"/>
                      </p:cNvPicPr>
                      <p:nvPr/>
                    </p:nvPicPr>
                    <p:blipFill>
                      <a:blip r:embed="rId4"/>
                      <a:srcRect/>
                      <a:stretch>
                        <a:fillRect/>
                      </a:stretch>
                    </p:blipFill>
                    <p:spPr bwMode="auto">
                      <a:xfrm>
                        <a:off x="3114675" y="765175"/>
                        <a:ext cx="2624138" cy="1071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4" name="Object 10"/>
          <p:cNvGraphicFramePr>
            <a:graphicFrameLocks noChangeAspect="1"/>
          </p:cNvGraphicFramePr>
          <p:nvPr/>
        </p:nvGraphicFramePr>
        <p:xfrm>
          <a:off x="5738813" y="836613"/>
          <a:ext cx="2990850" cy="1022350"/>
        </p:xfrm>
        <a:graphic>
          <a:graphicData uri="http://schemas.openxmlformats.org/presentationml/2006/ole">
            <mc:AlternateContent xmlns:mc="http://schemas.openxmlformats.org/markup-compatibility/2006">
              <mc:Choice xmlns:v="urn:schemas-microsoft-com:vml" Requires="v">
                <p:oleObj spid="_x0000_s76019" name="公式" r:id="rId5" imgW="27736800" imgH="9448800" progId="Equation.3">
                  <p:embed/>
                </p:oleObj>
              </mc:Choice>
              <mc:Fallback>
                <p:oleObj name="公式" r:id="rId5" imgW="27736800" imgH="9448800" progId="Equation.3">
                  <p:embed/>
                  <p:pic>
                    <p:nvPicPr>
                      <p:cNvPr id="103434" name="Object 10"/>
                      <p:cNvPicPr>
                        <a:picLocks noChangeAspect="1" noChangeArrowheads="1"/>
                      </p:cNvPicPr>
                      <p:nvPr/>
                    </p:nvPicPr>
                    <p:blipFill>
                      <a:blip r:embed="rId6"/>
                      <a:srcRect/>
                      <a:stretch>
                        <a:fillRect/>
                      </a:stretch>
                    </p:blipFill>
                    <p:spPr bwMode="auto">
                      <a:xfrm>
                        <a:off x="5738813" y="836613"/>
                        <a:ext cx="299085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5" name="Object 11"/>
          <p:cNvGraphicFramePr>
            <a:graphicFrameLocks noChangeAspect="1"/>
          </p:cNvGraphicFramePr>
          <p:nvPr/>
        </p:nvGraphicFramePr>
        <p:xfrm>
          <a:off x="1835150" y="2060575"/>
          <a:ext cx="5545138" cy="1033463"/>
        </p:xfrm>
        <a:graphic>
          <a:graphicData uri="http://schemas.openxmlformats.org/presentationml/2006/ole">
            <mc:AlternateContent xmlns:mc="http://schemas.openxmlformats.org/markup-compatibility/2006">
              <mc:Choice xmlns:v="urn:schemas-microsoft-com:vml" Requires="v">
                <p:oleObj spid="_x0000_s76020" name="公式" r:id="rId7" imgW="50596800" imgH="9448800" progId="Equation.3">
                  <p:embed/>
                </p:oleObj>
              </mc:Choice>
              <mc:Fallback>
                <p:oleObj name="公式" r:id="rId7" imgW="50596800" imgH="9448800" progId="Equation.3">
                  <p:embed/>
                  <p:pic>
                    <p:nvPicPr>
                      <p:cNvPr id="103435" name="Object 11"/>
                      <p:cNvPicPr>
                        <a:picLocks noChangeAspect="1" noChangeArrowheads="1"/>
                      </p:cNvPicPr>
                      <p:nvPr/>
                    </p:nvPicPr>
                    <p:blipFill>
                      <a:blip r:embed="rId8"/>
                      <a:srcRect/>
                      <a:stretch>
                        <a:fillRect/>
                      </a:stretch>
                    </p:blipFill>
                    <p:spPr bwMode="auto">
                      <a:xfrm>
                        <a:off x="1835150" y="2060575"/>
                        <a:ext cx="5545138"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6" name="Object 12"/>
          <p:cNvGraphicFramePr>
            <a:graphicFrameLocks noChangeAspect="1"/>
          </p:cNvGraphicFramePr>
          <p:nvPr/>
        </p:nvGraphicFramePr>
        <p:xfrm>
          <a:off x="1835150" y="3212976"/>
          <a:ext cx="3948113" cy="1141412"/>
        </p:xfrm>
        <a:graphic>
          <a:graphicData uri="http://schemas.openxmlformats.org/presentationml/2006/ole">
            <mc:AlternateContent xmlns:mc="http://schemas.openxmlformats.org/markup-compatibility/2006">
              <mc:Choice xmlns:v="urn:schemas-microsoft-com:vml" Requires="v">
                <p:oleObj spid="_x0000_s76021" name="公式" r:id="rId9" imgW="34747200" imgH="10058400" progId="Equation.3">
                  <p:embed/>
                </p:oleObj>
              </mc:Choice>
              <mc:Fallback>
                <p:oleObj name="公式" r:id="rId9" imgW="34747200" imgH="10058400" progId="Equation.3">
                  <p:embed/>
                  <p:pic>
                    <p:nvPicPr>
                      <p:cNvPr id="103436" name="Object 12"/>
                      <p:cNvPicPr>
                        <a:picLocks noChangeAspect="1" noChangeArrowheads="1"/>
                      </p:cNvPicPr>
                      <p:nvPr/>
                    </p:nvPicPr>
                    <p:blipFill>
                      <a:blip r:embed="rId10"/>
                      <a:srcRect/>
                      <a:stretch>
                        <a:fillRect/>
                      </a:stretch>
                    </p:blipFill>
                    <p:spPr bwMode="auto">
                      <a:xfrm>
                        <a:off x="1835150" y="3212976"/>
                        <a:ext cx="3948113"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7" name="Object 13"/>
          <p:cNvGraphicFramePr>
            <a:graphicFrameLocks noChangeAspect="1"/>
          </p:cNvGraphicFramePr>
          <p:nvPr/>
        </p:nvGraphicFramePr>
        <p:xfrm>
          <a:off x="539750" y="1022350"/>
          <a:ext cx="1584325" cy="642938"/>
        </p:xfrm>
        <a:graphic>
          <a:graphicData uri="http://schemas.openxmlformats.org/presentationml/2006/ole">
            <mc:AlternateContent xmlns:mc="http://schemas.openxmlformats.org/markup-compatibility/2006">
              <mc:Choice xmlns:v="urn:schemas-microsoft-com:vml" Requires="v">
                <p:oleObj spid="_x0000_s76022" name="公式" r:id="rId11" imgW="14325600" imgH="5791200" progId="Equation.3">
                  <p:embed/>
                </p:oleObj>
              </mc:Choice>
              <mc:Fallback>
                <p:oleObj name="公式" r:id="rId11" imgW="14325600" imgH="5791200" progId="Equation.3">
                  <p:embed/>
                  <p:pic>
                    <p:nvPicPr>
                      <p:cNvPr id="103437" name="Object 13"/>
                      <p:cNvPicPr>
                        <a:picLocks noChangeAspect="1" noChangeArrowheads="1"/>
                      </p:cNvPicPr>
                      <p:nvPr/>
                    </p:nvPicPr>
                    <p:blipFill>
                      <a:blip r:embed="rId12"/>
                      <a:srcRect/>
                      <a:stretch>
                        <a:fillRect/>
                      </a:stretch>
                    </p:blipFill>
                    <p:spPr bwMode="auto">
                      <a:xfrm>
                        <a:off x="539750" y="1022350"/>
                        <a:ext cx="1584325"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44" name="Rectangle 20"/>
          <p:cNvSpPr>
            <a:spLocks noChangeArrowheads="1"/>
          </p:cNvSpPr>
          <p:nvPr/>
        </p:nvSpPr>
        <p:spPr bwMode="auto">
          <a:xfrm>
            <a:off x="107950" y="115888"/>
            <a:ext cx="5532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zh-CN" altLang="en-US" dirty="0"/>
              <a:t>二、质点的角动量定理</a:t>
            </a:r>
          </a:p>
        </p:txBody>
      </p:sp>
      <p:sp>
        <p:nvSpPr>
          <p:cNvPr id="103445" name="AutoShape 21"/>
          <p:cNvSpPr>
            <a:spLocks noChangeArrowheads="1"/>
          </p:cNvSpPr>
          <p:nvPr/>
        </p:nvSpPr>
        <p:spPr bwMode="auto">
          <a:xfrm>
            <a:off x="2411413" y="1232792"/>
            <a:ext cx="468000" cy="324000"/>
          </a:xfrm>
          <a:prstGeom prst="rightArrow">
            <a:avLst>
              <a:gd name="adj1" fmla="val 50000"/>
              <a:gd name="adj2" fmla="val 35421"/>
            </a:avLst>
          </a:prstGeom>
          <a:noFill/>
          <a:ln w="9525">
            <a:solidFill>
              <a:schemeClr val="tx1"/>
            </a:solidFill>
            <a:miter lim="800000"/>
          </a:ln>
          <a:effectLst/>
        </p:spPr>
        <p:txBody>
          <a:bodyPr wrap="none" anchor="ctr"/>
          <a:lstStyle/>
          <a:p>
            <a:endParaRPr lang="zh-CN" altLang="en-US"/>
          </a:p>
        </p:txBody>
      </p:sp>
      <p:graphicFrame>
        <p:nvGraphicFramePr>
          <p:cNvPr id="103447" name="Object 23"/>
          <p:cNvGraphicFramePr>
            <a:graphicFrameLocks noChangeAspect="1"/>
          </p:cNvGraphicFramePr>
          <p:nvPr/>
        </p:nvGraphicFramePr>
        <p:xfrm>
          <a:off x="5921375" y="4565054"/>
          <a:ext cx="2125663" cy="558800"/>
        </p:xfrm>
        <a:graphic>
          <a:graphicData uri="http://schemas.openxmlformats.org/presentationml/2006/ole">
            <mc:AlternateContent xmlns:mc="http://schemas.openxmlformats.org/markup-compatibility/2006">
              <mc:Choice xmlns:v="urn:schemas-microsoft-com:vml" Requires="v">
                <p:oleObj spid="_x0000_s76023" name="公式" r:id="rId13" imgW="16459200" imgH="4876800" progId="Equation.3">
                  <p:embed/>
                </p:oleObj>
              </mc:Choice>
              <mc:Fallback>
                <p:oleObj name="公式" r:id="rId13" imgW="16459200" imgH="4876800" progId="Equation.3">
                  <p:embed/>
                  <p:pic>
                    <p:nvPicPr>
                      <p:cNvPr id="103447" name="Object 23"/>
                      <p:cNvPicPr>
                        <a:picLocks noChangeAspect="1" noChangeArrowheads="1"/>
                      </p:cNvPicPr>
                      <p:nvPr/>
                    </p:nvPicPr>
                    <p:blipFill>
                      <a:blip r:embed="rId14">
                        <a:lum bright="2000" contrast="100000"/>
                      </a:blip>
                      <a:srcRect/>
                      <a:stretch>
                        <a:fillRect/>
                      </a:stretch>
                    </p:blipFill>
                    <p:spPr bwMode="auto">
                      <a:xfrm>
                        <a:off x="5921375" y="4565054"/>
                        <a:ext cx="2125663"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3454" name="Group 30"/>
          <p:cNvGrpSpPr/>
          <p:nvPr/>
        </p:nvGrpSpPr>
        <p:grpSpPr bwMode="auto">
          <a:xfrm>
            <a:off x="749301" y="4611092"/>
            <a:ext cx="5172075" cy="569913"/>
            <a:chOff x="472" y="2869"/>
            <a:chExt cx="3258" cy="359"/>
          </a:xfrm>
        </p:grpSpPr>
        <p:sp>
          <p:nvSpPr>
            <p:cNvPr id="103446" name="Rectangle 22"/>
            <p:cNvSpPr>
              <a:spLocks noChangeArrowheads="1"/>
            </p:cNvSpPr>
            <p:nvPr/>
          </p:nvSpPr>
          <p:spPr bwMode="auto">
            <a:xfrm>
              <a:off x="472" y="2901"/>
              <a:ext cx="3258"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a:t>定义合力     </a:t>
              </a:r>
              <a:r>
                <a:rPr kumimoji="1" lang="zh-CN" altLang="en-US">
                  <a:solidFill>
                    <a:srgbClr val="0000FF"/>
                  </a:solidFill>
                </a:rPr>
                <a:t>对参考点</a:t>
              </a:r>
              <a:r>
                <a:rPr kumimoji="1" lang="en-US" altLang="zh-CN" i="1">
                  <a:solidFill>
                    <a:srgbClr val="0000FF"/>
                  </a:solidFill>
                </a:rPr>
                <a:t>O</a:t>
              </a:r>
              <a:r>
                <a:rPr kumimoji="1" lang="zh-CN" altLang="en-US">
                  <a:solidFill>
                    <a:srgbClr val="0000FF"/>
                  </a:solidFill>
                </a:rPr>
                <a:t>的力矩</a:t>
              </a:r>
              <a:r>
                <a:rPr kumimoji="1" lang="zh-CN" altLang="en-US"/>
                <a:t>：</a:t>
              </a:r>
            </a:p>
          </p:txBody>
        </p:sp>
        <p:graphicFrame>
          <p:nvGraphicFramePr>
            <p:cNvPr id="103448" name="Object 24"/>
            <p:cNvGraphicFramePr>
              <a:graphicFrameLocks noChangeAspect="1"/>
            </p:cNvGraphicFramePr>
            <p:nvPr/>
          </p:nvGraphicFramePr>
          <p:xfrm>
            <a:off x="1292" y="2869"/>
            <a:ext cx="258" cy="299"/>
          </p:xfrm>
          <a:graphic>
            <a:graphicData uri="http://schemas.openxmlformats.org/presentationml/2006/ole">
              <mc:AlternateContent xmlns:mc="http://schemas.openxmlformats.org/markup-compatibility/2006">
                <mc:Choice xmlns:v="urn:schemas-microsoft-com:vml" Requires="v">
                  <p:oleObj spid="_x0000_s76024" name="公式" r:id="rId15" imgW="3962400" imgH="4572000" progId="Equation.3">
                    <p:embed/>
                  </p:oleObj>
                </mc:Choice>
                <mc:Fallback>
                  <p:oleObj name="公式" r:id="rId15" imgW="3962400" imgH="4572000" progId="Equation.3">
                    <p:embed/>
                    <p:pic>
                      <p:nvPicPr>
                        <p:cNvPr id="103448" name="Object 24"/>
                        <p:cNvPicPr>
                          <a:picLocks noChangeAspect="1" noChangeArrowheads="1"/>
                        </p:cNvPicPr>
                        <p:nvPr/>
                      </p:nvPicPr>
                      <p:blipFill>
                        <a:blip r:embed="rId16"/>
                        <a:srcRect/>
                        <a:stretch>
                          <a:fillRect/>
                        </a:stretch>
                      </p:blipFill>
                      <p:spPr bwMode="auto">
                        <a:xfrm>
                          <a:off x="1292" y="2869"/>
                          <a:ext cx="258"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3449" name="Text Box 25"/>
          <p:cNvSpPr txBox="1">
            <a:spLocks noChangeArrowheads="1"/>
          </p:cNvSpPr>
          <p:nvPr/>
        </p:nvSpPr>
        <p:spPr bwMode="auto">
          <a:xfrm>
            <a:off x="395288" y="5574184"/>
            <a:ext cx="3816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t>上式又写为 </a:t>
            </a:r>
          </a:p>
        </p:txBody>
      </p:sp>
      <p:graphicFrame>
        <p:nvGraphicFramePr>
          <p:cNvPr id="103452" name="Object 28"/>
          <p:cNvGraphicFramePr>
            <a:graphicFrameLocks noChangeAspect="1"/>
          </p:cNvGraphicFramePr>
          <p:nvPr/>
        </p:nvGraphicFramePr>
        <p:xfrm>
          <a:off x="2908300" y="5307732"/>
          <a:ext cx="1584325" cy="1217612"/>
        </p:xfrm>
        <a:graphic>
          <a:graphicData uri="http://schemas.openxmlformats.org/presentationml/2006/ole">
            <mc:AlternateContent xmlns:mc="http://schemas.openxmlformats.org/markup-compatibility/2006">
              <mc:Choice xmlns:v="urn:schemas-microsoft-com:vml" Requires="v">
                <p:oleObj spid="_x0000_s76025" name="公式" r:id="rId17" imgW="13106400" imgH="10058400" progId="Equation.3">
                  <p:embed/>
                </p:oleObj>
              </mc:Choice>
              <mc:Fallback>
                <p:oleObj name="公式" r:id="rId17" imgW="13106400" imgH="10058400" progId="Equation.3">
                  <p:embed/>
                  <p:pic>
                    <p:nvPicPr>
                      <p:cNvPr id="103452" name="Object 28"/>
                      <p:cNvPicPr>
                        <a:picLocks noChangeAspect="1" noChangeArrowheads="1"/>
                      </p:cNvPicPr>
                      <p:nvPr/>
                    </p:nvPicPr>
                    <p:blipFill>
                      <a:blip r:embed="rId18">
                        <a:lum bright="2000" contrast="100000"/>
                      </a:blip>
                      <a:srcRect/>
                      <a:stretch>
                        <a:fillRect/>
                      </a:stretch>
                    </p:blipFill>
                    <p:spPr bwMode="auto">
                      <a:xfrm>
                        <a:off x="2908300" y="5307732"/>
                        <a:ext cx="1584325" cy="12176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444"/>
                                        </p:tgtEl>
                                        <p:attrNameLst>
                                          <p:attrName>style.visibility</p:attrName>
                                        </p:attrNameLst>
                                      </p:cBhvr>
                                      <p:to>
                                        <p:strVal val="visible"/>
                                      </p:to>
                                    </p:set>
                                    <p:animEffect transition="in" filter="wipe(left)">
                                      <p:cBhvr>
                                        <p:cTn id="7" dur="500"/>
                                        <p:tgtEl>
                                          <p:spTgt spid="1034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3437"/>
                                        </p:tgtEl>
                                        <p:attrNameLst>
                                          <p:attrName>style.visibility</p:attrName>
                                        </p:attrNameLst>
                                      </p:cBhvr>
                                      <p:to>
                                        <p:strVal val="visible"/>
                                      </p:to>
                                    </p:set>
                                    <p:animEffect transition="in" filter="wipe(left)">
                                      <p:cBhvr>
                                        <p:cTn id="12" dur="500"/>
                                        <p:tgtEl>
                                          <p:spTgt spid="1034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3445"/>
                                        </p:tgtEl>
                                        <p:attrNameLst>
                                          <p:attrName>style.visibility</p:attrName>
                                        </p:attrNameLst>
                                      </p:cBhvr>
                                      <p:to>
                                        <p:strVal val="visible"/>
                                      </p:to>
                                    </p:set>
                                    <p:animEffect transition="in" filter="wipe(left)">
                                      <p:cBhvr>
                                        <p:cTn id="17" dur="500"/>
                                        <p:tgtEl>
                                          <p:spTgt spid="103445"/>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03433"/>
                                        </p:tgtEl>
                                        <p:attrNameLst>
                                          <p:attrName>style.visibility</p:attrName>
                                        </p:attrNameLst>
                                      </p:cBhvr>
                                      <p:to>
                                        <p:strVal val="visible"/>
                                      </p:to>
                                    </p:set>
                                    <p:animEffect transition="in" filter="wipe(left)">
                                      <p:cBhvr>
                                        <p:cTn id="21" dur="500"/>
                                        <p:tgtEl>
                                          <p:spTgt spid="10343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3434"/>
                                        </p:tgtEl>
                                        <p:attrNameLst>
                                          <p:attrName>style.visibility</p:attrName>
                                        </p:attrNameLst>
                                      </p:cBhvr>
                                      <p:to>
                                        <p:strVal val="visible"/>
                                      </p:to>
                                    </p:set>
                                    <p:animEffect transition="in" filter="wipe(left)">
                                      <p:cBhvr>
                                        <p:cTn id="26" dur="500"/>
                                        <p:tgtEl>
                                          <p:spTgt spid="1034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3435"/>
                                        </p:tgtEl>
                                        <p:attrNameLst>
                                          <p:attrName>style.visibility</p:attrName>
                                        </p:attrNameLst>
                                      </p:cBhvr>
                                      <p:to>
                                        <p:strVal val="visible"/>
                                      </p:to>
                                    </p:set>
                                    <p:animEffect transition="in" filter="wipe(left)">
                                      <p:cBhvr>
                                        <p:cTn id="31" dur="500"/>
                                        <p:tgtEl>
                                          <p:spTgt spid="10343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3436"/>
                                        </p:tgtEl>
                                        <p:attrNameLst>
                                          <p:attrName>style.visibility</p:attrName>
                                        </p:attrNameLst>
                                      </p:cBhvr>
                                      <p:to>
                                        <p:strVal val="visible"/>
                                      </p:to>
                                    </p:set>
                                    <p:animEffect transition="in" filter="wipe(left)">
                                      <p:cBhvr>
                                        <p:cTn id="36" dur="500"/>
                                        <p:tgtEl>
                                          <p:spTgt spid="10343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03454"/>
                                        </p:tgtEl>
                                        <p:attrNameLst>
                                          <p:attrName>style.visibility</p:attrName>
                                        </p:attrNameLst>
                                      </p:cBhvr>
                                      <p:to>
                                        <p:strVal val="visible"/>
                                      </p:to>
                                    </p:set>
                                    <p:animEffect transition="in" filter="wipe(left)">
                                      <p:cBhvr>
                                        <p:cTn id="41" dur="500"/>
                                        <p:tgtEl>
                                          <p:spTgt spid="10345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3447"/>
                                        </p:tgtEl>
                                        <p:attrNameLst>
                                          <p:attrName>style.visibility</p:attrName>
                                        </p:attrNameLst>
                                      </p:cBhvr>
                                      <p:to>
                                        <p:strVal val="visible"/>
                                      </p:to>
                                    </p:set>
                                    <p:animEffect transition="in" filter="wipe(left)">
                                      <p:cBhvr>
                                        <p:cTn id="46" dur="500"/>
                                        <p:tgtEl>
                                          <p:spTgt spid="10344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3449"/>
                                        </p:tgtEl>
                                        <p:attrNameLst>
                                          <p:attrName>style.visibility</p:attrName>
                                        </p:attrNameLst>
                                      </p:cBhvr>
                                      <p:to>
                                        <p:strVal val="visible"/>
                                      </p:to>
                                    </p:set>
                                    <p:animEffect transition="in" filter="wipe(left)">
                                      <p:cBhvr>
                                        <p:cTn id="51" dur="500"/>
                                        <p:tgtEl>
                                          <p:spTgt spid="103449"/>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103452"/>
                                        </p:tgtEl>
                                        <p:attrNameLst>
                                          <p:attrName>style.visibility</p:attrName>
                                        </p:attrNameLst>
                                      </p:cBhvr>
                                      <p:to>
                                        <p:strVal val="visible"/>
                                      </p:to>
                                    </p:set>
                                    <p:animEffect transition="in" filter="wipe(left)">
                                      <p:cBhvr>
                                        <p:cTn id="55" dur="500"/>
                                        <p:tgtEl>
                                          <p:spTgt spid="103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44" grpId="0"/>
      <p:bldP spid="103445" grpId="0" animBg="1"/>
      <p:bldP spid="10344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8"/>
          <p:cNvGraphicFramePr>
            <a:graphicFrameLocks noChangeAspect="1"/>
          </p:cNvGraphicFramePr>
          <p:nvPr/>
        </p:nvGraphicFramePr>
        <p:xfrm>
          <a:off x="2267744" y="116632"/>
          <a:ext cx="1584325" cy="1217612"/>
        </p:xfrm>
        <a:graphic>
          <a:graphicData uri="http://schemas.openxmlformats.org/presentationml/2006/ole">
            <mc:AlternateContent xmlns:mc="http://schemas.openxmlformats.org/markup-compatibility/2006">
              <mc:Choice xmlns:v="urn:schemas-microsoft-com:vml" Requires="v">
                <p:oleObj spid="_x0000_s76832" name="公式" r:id="rId3" imgW="13106400" imgH="10058400" progId="Equation.3">
                  <p:embed/>
                </p:oleObj>
              </mc:Choice>
              <mc:Fallback>
                <p:oleObj name="公式" r:id="rId3" imgW="13106400" imgH="10058400" progId="Equation.3">
                  <p:embed/>
                  <p:pic>
                    <p:nvPicPr>
                      <p:cNvPr id="2" name="Object 28"/>
                      <p:cNvPicPr>
                        <a:picLocks noChangeAspect="1" noChangeArrowheads="1"/>
                      </p:cNvPicPr>
                      <p:nvPr/>
                    </p:nvPicPr>
                    <p:blipFill>
                      <a:blip r:embed="rId4">
                        <a:lum bright="2000" contrast="100000"/>
                      </a:blip>
                      <a:srcRect/>
                      <a:stretch>
                        <a:fillRect/>
                      </a:stretch>
                    </p:blipFill>
                    <p:spPr bwMode="auto">
                      <a:xfrm>
                        <a:off x="2267744" y="116632"/>
                        <a:ext cx="1584325" cy="12176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文本框 2"/>
          <p:cNvSpPr txBox="1"/>
          <p:nvPr/>
        </p:nvSpPr>
        <p:spPr>
          <a:xfrm>
            <a:off x="539552" y="1368499"/>
            <a:ext cx="7777112" cy="954107"/>
          </a:xfrm>
          <a:prstGeom prst="rect">
            <a:avLst/>
          </a:prstGeom>
          <a:noFill/>
        </p:spPr>
        <p:txBody>
          <a:bodyPr wrap="square" rtlCol="0">
            <a:spAutoFit/>
          </a:bodyPr>
          <a:lstStyle/>
          <a:p>
            <a:r>
              <a:rPr lang="zh-CN" altLang="en-US" dirty="0"/>
              <a:t>质点所受合外力矩等于它对同一参考点的角动量的时间变化率</a:t>
            </a:r>
            <a:r>
              <a:rPr lang="en-US" altLang="zh-CN" dirty="0"/>
              <a:t>---</a:t>
            </a:r>
            <a:r>
              <a:rPr lang="zh-CN" altLang="en-US" dirty="0">
                <a:solidFill>
                  <a:srgbClr val="0000FF"/>
                </a:solidFill>
              </a:rPr>
              <a:t>质点的角动量定理</a:t>
            </a:r>
          </a:p>
        </p:txBody>
      </p:sp>
      <p:sp>
        <p:nvSpPr>
          <p:cNvPr id="4" name="文本框 3"/>
          <p:cNvSpPr txBox="1"/>
          <p:nvPr/>
        </p:nvSpPr>
        <p:spPr>
          <a:xfrm>
            <a:off x="539553" y="2780928"/>
            <a:ext cx="7632848" cy="954107"/>
          </a:xfrm>
          <a:prstGeom prst="rect">
            <a:avLst/>
          </a:prstGeom>
          <a:noFill/>
        </p:spPr>
        <p:txBody>
          <a:bodyPr wrap="square" rtlCol="0">
            <a:spAutoFit/>
          </a:bodyPr>
          <a:lstStyle/>
          <a:p>
            <a:r>
              <a:rPr lang="zh-CN" altLang="en-US" dirty="0"/>
              <a:t>由于一对内力对于同一参考点的合力矩为零，所以质点系的角动量定理可写成同样形式。</a:t>
            </a:r>
          </a:p>
        </p:txBody>
      </p:sp>
      <p:sp>
        <p:nvSpPr>
          <p:cNvPr id="5" name="文本框 4"/>
          <p:cNvSpPr txBox="1"/>
          <p:nvPr/>
        </p:nvSpPr>
        <p:spPr>
          <a:xfrm>
            <a:off x="827584" y="4221088"/>
            <a:ext cx="4129657" cy="523220"/>
          </a:xfrm>
          <a:prstGeom prst="rect">
            <a:avLst/>
          </a:prstGeom>
          <a:noFill/>
        </p:spPr>
        <p:txBody>
          <a:bodyPr wrap="none" rtlCol="0">
            <a:spAutoFit/>
          </a:bodyPr>
          <a:lstStyle/>
          <a:p>
            <a:r>
              <a:rPr lang="en-US" altLang="zh-CN" dirty="0"/>
              <a:t>M</a:t>
            </a:r>
            <a:r>
              <a:rPr lang="zh-CN" altLang="en-US" dirty="0"/>
              <a:t>是质点系所受合外力矩</a:t>
            </a:r>
          </a:p>
        </p:txBody>
      </p:sp>
      <p:sp>
        <p:nvSpPr>
          <p:cNvPr id="7" name="文本框 6"/>
          <p:cNvSpPr txBox="1"/>
          <p:nvPr/>
        </p:nvSpPr>
        <p:spPr>
          <a:xfrm>
            <a:off x="830398" y="4709026"/>
            <a:ext cx="3669594" cy="523220"/>
          </a:xfrm>
          <a:prstGeom prst="rect">
            <a:avLst/>
          </a:prstGeom>
          <a:noFill/>
        </p:spPr>
        <p:txBody>
          <a:bodyPr wrap="none" rtlCol="0">
            <a:spAutoFit/>
          </a:bodyPr>
          <a:lstStyle/>
          <a:p>
            <a:r>
              <a:rPr lang="en-US" altLang="zh-CN" dirty="0"/>
              <a:t>L</a:t>
            </a:r>
            <a:r>
              <a:rPr lang="zh-CN" altLang="en-US" dirty="0"/>
              <a:t>是质点系的总角动量</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8" name="Object 6"/>
          <p:cNvGraphicFramePr>
            <a:graphicFrameLocks noChangeAspect="1"/>
          </p:cNvGraphicFramePr>
          <p:nvPr/>
        </p:nvGraphicFramePr>
        <p:xfrm>
          <a:off x="1755602" y="669925"/>
          <a:ext cx="1592262" cy="1141412"/>
        </p:xfrm>
        <a:graphic>
          <a:graphicData uri="http://schemas.openxmlformats.org/presentationml/2006/ole">
            <mc:AlternateContent xmlns:mc="http://schemas.openxmlformats.org/markup-compatibility/2006">
              <mc:Choice xmlns:v="urn:schemas-microsoft-com:vml" Requires="v">
                <p:oleObj spid="_x0000_s77916" name="公式" r:id="rId3" imgW="14020800" imgH="10058400" progId="Equation.3">
                  <p:embed/>
                </p:oleObj>
              </mc:Choice>
              <mc:Fallback>
                <p:oleObj name="公式" r:id="rId3" imgW="14020800" imgH="10058400" progId="Equation.3">
                  <p:embed/>
                  <p:pic>
                    <p:nvPicPr>
                      <p:cNvPr id="105478" name="Object 6"/>
                      <p:cNvPicPr>
                        <a:picLocks noChangeAspect="1" noChangeArrowheads="1"/>
                      </p:cNvPicPr>
                      <p:nvPr/>
                    </p:nvPicPr>
                    <p:blipFill>
                      <a:blip r:embed="rId4"/>
                      <a:srcRect/>
                      <a:stretch>
                        <a:fillRect/>
                      </a:stretch>
                    </p:blipFill>
                    <p:spPr bwMode="auto">
                      <a:xfrm>
                        <a:off x="1755602" y="669925"/>
                        <a:ext cx="1592262"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79" name="Rectangle 7"/>
          <p:cNvSpPr>
            <a:spLocks noChangeArrowheads="1"/>
          </p:cNvSpPr>
          <p:nvPr/>
        </p:nvSpPr>
        <p:spPr bwMode="auto">
          <a:xfrm>
            <a:off x="503238" y="3284538"/>
            <a:ext cx="831691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kumimoji="1" lang="zh-CN" altLang="en-US" dirty="0">
                <a:solidFill>
                  <a:srgbClr val="0000FF"/>
                </a:solidFill>
              </a:rPr>
              <a:t>角动量守恒定律（</a:t>
            </a:r>
            <a:r>
              <a:rPr kumimoji="1" lang="en-US" altLang="zh-CN" dirty="0">
                <a:solidFill>
                  <a:srgbClr val="0000FF"/>
                </a:solidFill>
              </a:rPr>
              <a:t>law of conservation of angular momentum</a:t>
            </a:r>
            <a:r>
              <a:rPr kumimoji="1" lang="zh-CN" altLang="en-US" dirty="0">
                <a:solidFill>
                  <a:srgbClr val="0000FF"/>
                </a:solidFill>
              </a:rPr>
              <a:t>）：</a:t>
            </a:r>
            <a:r>
              <a:rPr kumimoji="1" lang="zh-CN" altLang="en-US" dirty="0"/>
              <a:t>如果作用在质点上的外力对某给定点的力矩为零，则质点对该点的角动量在运动过程中保持不变。</a:t>
            </a:r>
          </a:p>
        </p:txBody>
      </p:sp>
      <p:grpSp>
        <p:nvGrpSpPr>
          <p:cNvPr id="105480" name="Group 8"/>
          <p:cNvGrpSpPr/>
          <p:nvPr/>
        </p:nvGrpSpPr>
        <p:grpSpPr bwMode="auto">
          <a:xfrm>
            <a:off x="900113" y="1989138"/>
            <a:ext cx="7056437" cy="1230312"/>
            <a:chOff x="576" y="864"/>
            <a:chExt cx="4445" cy="775"/>
          </a:xfrm>
        </p:grpSpPr>
        <p:graphicFrame>
          <p:nvGraphicFramePr>
            <p:cNvPr id="105481" name="Object 9"/>
            <p:cNvGraphicFramePr>
              <a:graphicFrameLocks noChangeAspect="1"/>
            </p:cNvGraphicFramePr>
            <p:nvPr/>
          </p:nvGraphicFramePr>
          <p:xfrm>
            <a:off x="2209" y="864"/>
            <a:ext cx="2067" cy="775"/>
          </p:xfrm>
          <a:graphic>
            <a:graphicData uri="http://schemas.openxmlformats.org/presentationml/2006/ole">
              <mc:AlternateContent xmlns:mc="http://schemas.openxmlformats.org/markup-compatibility/2006">
                <mc:Choice xmlns:v="urn:schemas-microsoft-com:vml" Requires="v">
                  <p:oleObj spid="_x0000_s77917" name="公式" r:id="rId5" imgW="26822400" imgH="10058400" progId="Equation.3">
                    <p:embed/>
                  </p:oleObj>
                </mc:Choice>
                <mc:Fallback>
                  <p:oleObj name="公式" r:id="rId5" imgW="26822400" imgH="10058400" progId="Equation.3">
                    <p:embed/>
                    <p:pic>
                      <p:nvPicPr>
                        <p:cNvPr id="105481" name="Object 9"/>
                        <p:cNvPicPr>
                          <a:picLocks noChangeAspect="1" noChangeArrowheads="1"/>
                        </p:cNvPicPr>
                        <p:nvPr/>
                      </p:nvPicPr>
                      <p:blipFill>
                        <a:blip r:embed="rId6">
                          <a:lum bright="2000" contrast="100000"/>
                        </a:blip>
                        <a:srcRect/>
                        <a:stretch>
                          <a:fillRect/>
                        </a:stretch>
                      </p:blipFill>
                      <p:spPr bwMode="auto">
                        <a:xfrm>
                          <a:off x="2209" y="864"/>
                          <a:ext cx="2067" cy="7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82" name="Object 10"/>
            <p:cNvGraphicFramePr>
              <a:graphicFrameLocks noChangeAspect="1"/>
            </p:cNvGraphicFramePr>
            <p:nvPr/>
          </p:nvGraphicFramePr>
          <p:xfrm>
            <a:off x="852" y="1068"/>
            <a:ext cx="964" cy="422"/>
          </p:xfrm>
          <a:graphic>
            <a:graphicData uri="http://schemas.openxmlformats.org/presentationml/2006/ole">
              <mc:AlternateContent xmlns:mc="http://schemas.openxmlformats.org/markup-compatibility/2006">
                <mc:Choice xmlns:v="urn:schemas-microsoft-com:vml" Requires="v">
                  <p:oleObj spid="_x0000_s77918" name="公式" r:id="rId7" imgW="12496800" imgH="5486400" progId="Equation.3">
                    <p:embed/>
                  </p:oleObj>
                </mc:Choice>
                <mc:Fallback>
                  <p:oleObj name="公式" r:id="rId7" imgW="12496800" imgH="5486400" progId="Equation.3">
                    <p:embed/>
                    <p:pic>
                      <p:nvPicPr>
                        <p:cNvPr id="105482" name="Object 10"/>
                        <p:cNvPicPr>
                          <a:picLocks noChangeAspect="1" noChangeArrowheads="1"/>
                        </p:cNvPicPr>
                        <p:nvPr/>
                      </p:nvPicPr>
                      <p:blipFill>
                        <a:blip r:embed="rId8">
                          <a:lum bright="2000" contrast="100000"/>
                        </a:blip>
                        <a:srcRect/>
                        <a:stretch>
                          <a:fillRect/>
                        </a:stretch>
                      </p:blipFill>
                      <p:spPr bwMode="auto">
                        <a:xfrm>
                          <a:off x="852" y="1068"/>
                          <a:ext cx="964" cy="42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83" name="Text Box 11"/>
            <p:cNvSpPr txBox="1">
              <a:spLocks noChangeArrowheads="1"/>
            </p:cNvSpPr>
            <p:nvPr/>
          </p:nvSpPr>
          <p:spPr bwMode="auto">
            <a:xfrm>
              <a:off x="576" y="110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dirty="0"/>
                <a:t>若</a:t>
              </a:r>
            </a:p>
          </p:txBody>
        </p:sp>
        <p:sp>
          <p:nvSpPr>
            <p:cNvPr id="105484" name="Text Box 12"/>
            <p:cNvSpPr txBox="1">
              <a:spLocks noChangeArrowheads="1"/>
            </p:cNvSpPr>
            <p:nvPr/>
          </p:nvSpPr>
          <p:spPr bwMode="auto">
            <a:xfrm>
              <a:off x="1920" y="110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dirty="0"/>
                <a:t>则</a:t>
              </a:r>
            </a:p>
          </p:txBody>
        </p:sp>
        <p:sp>
          <p:nvSpPr>
            <p:cNvPr id="105485" name="Text Box 13"/>
            <p:cNvSpPr txBox="1">
              <a:spLocks noChangeArrowheads="1"/>
            </p:cNvSpPr>
            <p:nvPr/>
          </p:nvSpPr>
          <p:spPr bwMode="auto">
            <a:xfrm>
              <a:off x="4080" y="1088"/>
              <a:ext cx="9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dirty="0">
                  <a:solidFill>
                    <a:srgbClr val="0000FF"/>
                  </a:solidFill>
                </a:rPr>
                <a:t>(</a:t>
              </a:r>
              <a:r>
                <a:rPr kumimoji="1" lang="zh-CN" altLang="en-US" dirty="0">
                  <a:solidFill>
                    <a:srgbClr val="0000FF"/>
                  </a:solidFill>
                </a:rPr>
                <a:t>常矢量</a:t>
              </a:r>
              <a:r>
                <a:rPr kumimoji="1" lang="en-US" altLang="zh-CN" dirty="0">
                  <a:solidFill>
                    <a:srgbClr val="0000FF"/>
                  </a:solidFill>
                </a:rPr>
                <a:t>)</a:t>
              </a:r>
            </a:p>
          </p:txBody>
        </p:sp>
      </p:grpSp>
      <p:sp>
        <p:nvSpPr>
          <p:cNvPr id="105486" name="Text Box 14"/>
          <p:cNvSpPr txBox="1">
            <a:spLocks noChangeArrowheads="1"/>
          </p:cNvSpPr>
          <p:nvPr/>
        </p:nvSpPr>
        <p:spPr bwMode="auto">
          <a:xfrm>
            <a:off x="1116013" y="981075"/>
            <a:ext cx="541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t>由</a:t>
            </a:r>
          </a:p>
        </p:txBody>
      </p:sp>
      <p:sp>
        <p:nvSpPr>
          <p:cNvPr id="11" name="Rectangle 20"/>
          <p:cNvSpPr>
            <a:spLocks noChangeArrowheads="1"/>
          </p:cNvSpPr>
          <p:nvPr/>
        </p:nvSpPr>
        <p:spPr bwMode="auto">
          <a:xfrm>
            <a:off x="107950" y="115888"/>
            <a:ext cx="5532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kumimoji="1" lang="zh-CN" altLang="en-US" dirty="0"/>
              <a:t>三、质点的角动量守恒定律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86"/>
                                        </p:tgtEl>
                                        <p:attrNameLst>
                                          <p:attrName>style.visibility</p:attrName>
                                        </p:attrNameLst>
                                      </p:cBhvr>
                                      <p:to>
                                        <p:strVal val="visible"/>
                                      </p:to>
                                    </p:set>
                                    <p:animEffect transition="in" filter="wipe(left)">
                                      <p:cBhvr>
                                        <p:cTn id="12" dur="500"/>
                                        <p:tgtEl>
                                          <p:spTgt spid="10548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05478"/>
                                        </p:tgtEl>
                                        <p:attrNameLst>
                                          <p:attrName>style.visibility</p:attrName>
                                        </p:attrNameLst>
                                      </p:cBhvr>
                                      <p:to>
                                        <p:strVal val="visible"/>
                                      </p:to>
                                    </p:set>
                                    <p:animEffect transition="in" filter="wipe(left)">
                                      <p:cBhvr>
                                        <p:cTn id="16" dur="500"/>
                                        <p:tgtEl>
                                          <p:spTgt spid="1054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5480"/>
                                        </p:tgtEl>
                                        <p:attrNameLst>
                                          <p:attrName>style.visibility</p:attrName>
                                        </p:attrNameLst>
                                      </p:cBhvr>
                                      <p:to>
                                        <p:strVal val="visible"/>
                                      </p:to>
                                    </p:set>
                                    <p:animEffect transition="in" filter="wipe(left)">
                                      <p:cBhvr>
                                        <p:cTn id="21" dur="500"/>
                                        <p:tgtEl>
                                          <p:spTgt spid="10548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5479"/>
                                        </p:tgtEl>
                                        <p:attrNameLst>
                                          <p:attrName>style.visibility</p:attrName>
                                        </p:attrNameLst>
                                      </p:cBhvr>
                                      <p:to>
                                        <p:strVal val="visible"/>
                                      </p:to>
                                    </p:set>
                                    <p:animEffect transition="in" filter="wipe(left)">
                                      <p:cBhvr>
                                        <p:cTn id="26" dur="500"/>
                                        <p:tgtEl>
                                          <p:spTgt spid="105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9" grpId="0" autoUpdateAnimBg="0"/>
      <p:bldP spid="105486" grpId="0"/>
      <p:bldP spid="1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8" name="Object 28"/>
          <p:cNvGraphicFramePr>
            <a:graphicFrameLocks noChangeAspect="1"/>
          </p:cNvGraphicFramePr>
          <p:nvPr/>
        </p:nvGraphicFramePr>
        <p:xfrm>
          <a:off x="1409874" y="2924944"/>
          <a:ext cx="1895475" cy="644525"/>
        </p:xfrm>
        <a:graphic>
          <a:graphicData uri="http://schemas.openxmlformats.org/presentationml/2006/ole">
            <mc:AlternateContent xmlns:mc="http://schemas.openxmlformats.org/markup-compatibility/2006">
              <mc:Choice xmlns:v="urn:schemas-microsoft-com:vml" Requires="v">
                <p:oleObj spid="_x0000_s78910" name="公式" r:id="rId3" imgW="15240000" imgH="5181600" progId="Equation.3">
                  <p:embed/>
                </p:oleObj>
              </mc:Choice>
              <mc:Fallback>
                <p:oleObj name="公式" r:id="rId3" imgW="15240000" imgH="5181600" progId="Equation.3">
                  <p:embed/>
                  <p:pic>
                    <p:nvPicPr>
                      <p:cNvPr id="102428" name="Object 28"/>
                      <p:cNvPicPr>
                        <a:picLocks noChangeAspect="1" noChangeArrowheads="1"/>
                      </p:cNvPicPr>
                      <p:nvPr/>
                    </p:nvPicPr>
                    <p:blipFill>
                      <a:blip r:embed="rId4"/>
                      <a:srcRect/>
                      <a:stretch>
                        <a:fillRect/>
                      </a:stretch>
                    </p:blipFill>
                    <p:spPr bwMode="auto">
                      <a:xfrm>
                        <a:off x="1409874" y="2924944"/>
                        <a:ext cx="1895475"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9" name="Object 29"/>
          <p:cNvGraphicFramePr>
            <a:graphicFrameLocks noChangeAspect="1"/>
          </p:cNvGraphicFramePr>
          <p:nvPr/>
        </p:nvGraphicFramePr>
        <p:xfrm>
          <a:off x="1090613" y="3644900"/>
          <a:ext cx="2744787" cy="666750"/>
        </p:xfrm>
        <a:graphic>
          <a:graphicData uri="http://schemas.openxmlformats.org/presentationml/2006/ole">
            <mc:AlternateContent xmlns:mc="http://schemas.openxmlformats.org/markup-compatibility/2006">
              <mc:Choice xmlns:v="urn:schemas-microsoft-com:vml" Requires="v">
                <p:oleObj spid="_x0000_s78911" name="公式" r:id="rId5" imgW="21336000" imgH="5181600" progId="Equation.3">
                  <p:embed/>
                </p:oleObj>
              </mc:Choice>
              <mc:Fallback>
                <p:oleObj name="公式" r:id="rId5" imgW="21336000" imgH="5181600" progId="Equation.3">
                  <p:embed/>
                  <p:pic>
                    <p:nvPicPr>
                      <p:cNvPr id="102429" name="Object 29"/>
                      <p:cNvPicPr>
                        <a:picLocks noChangeAspect="1" noChangeArrowheads="1"/>
                      </p:cNvPicPr>
                      <p:nvPr/>
                    </p:nvPicPr>
                    <p:blipFill>
                      <a:blip r:embed="rId6"/>
                      <a:srcRect/>
                      <a:stretch>
                        <a:fillRect/>
                      </a:stretch>
                    </p:blipFill>
                    <p:spPr bwMode="auto">
                      <a:xfrm>
                        <a:off x="1090613" y="3644900"/>
                        <a:ext cx="2744787"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30" name="Rectangle 30"/>
          <p:cNvSpPr>
            <a:spLocks noChangeArrowheads="1"/>
          </p:cNvSpPr>
          <p:nvPr/>
        </p:nvSpPr>
        <p:spPr bwMode="auto">
          <a:xfrm>
            <a:off x="323850" y="4508500"/>
            <a:ext cx="6911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a:t>表明小球对圆心的角动量保持不变。</a:t>
            </a:r>
          </a:p>
        </p:txBody>
      </p:sp>
      <p:sp>
        <p:nvSpPr>
          <p:cNvPr id="102431" name="Rectangle 31"/>
          <p:cNvSpPr>
            <a:spLocks noChangeArrowheads="1"/>
          </p:cNvSpPr>
          <p:nvPr/>
        </p:nvSpPr>
        <p:spPr bwMode="auto">
          <a:xfrm>
            <a:off x="322386" y="207412"/>
            <a:ext cx="4465638" cy="3149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dirty="0">
                <a:solidFill>
                  <a:srgbClr val="0000FF"/>
                </a:solidFill>
              </a:rPr>
              <a:t>实验演示：</a:t>
            </a:r>
            <a:r>
              <a:rPr kumimoji="1" lang="zh-CN" altLang="en-US" dirty="0"/>
              <a:t>质量为</a:t>
            </a:r>
            <a:r>
              <a:rPr kumimoji="1" lang="en-US" altLang="zh-CN" i="1" dirty="0"/>
              <a:t>m</a:t>
            </a:r>
            <a:r>
              <a:rPr kumimoji="1" lang="zh-CN" altLang="en-US" dirty="0"/>
              <a:t>的小球系在轻绳的一端，绳穿过一竖直的管子，一手握管，另一手执绳。用力向下拉绳，实验发现： </a:t>
            </a:r>
          </a:p>
          <a:p>
            <a:pPr>
              <a:lnSpc>
                <a:spcPct val="120000"/>
              </a:lnSpc>
            </a:pPr>
            <a:endParaRPr kumimoji="1" lang="zh-CN" altLang="en-US" dirty="0"/>
          </a:p>
        </p:txBody>
      </p:sp>
      <p:sp>
        <p:nvSpPr>
          <p:cNvPr id="102435" name="Text Box 35"/>
          <p:cNvSpPr txBox="1">
            <a:spLocks noChangeArrowheads="1"/>
          </p:cNvSpPr>
          <p:nvPr/>
        </p:nvSpPr>
        <p:spPr bwMode="auto">
          <a:xfrm>
            <a:off x="468313" y="3716338"/>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t>即</a:t>
            </a:r>
          </a:p>
        </p:txBody>
      </p:sp>
      <p:sp>
        <p:nvSpPr>
          <p:cNvPr id="102436" name="Rectangle 36"/>
          <p:cNvSpPr>
            <a:spLocks noChangeArrowheads="1"/>
          </p:cNvSpPr>
          <p:nvPr/>
        </p:nvSpPr>
        <p:spPr bwMode="auto">
          <a:xfrm>
            <a:off x="323850" y="5300663"/>
            <a:ext cx="8208963"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dirty="0">
                <a:solidFill>
                  <a:srgbClr val="0000FF"/>
                </a:solidFill>
              </a:rPr>
              <a:t>解释：</a:t>
            </a:r>
            <a:r>
              <a:rPr kumimoji="1" lang="zh-CN" altLang="en-US" dirty="0"/>
              <a:t>作用在小球上的</a:t>
            </a:r>
            <a:r>
              <a:rPr kumimoji="1" lang="zh-CN" altLang="en-US" dirty="0">
                <a:solidFill>
                  <a:srgbClr val="0000FF"/>
                </a:solidFill>
              </a:rPr>
              <a:t>有心力</a:t>
            </a:r>
            <a:r>
              <a:rPr kumimoji="1" lang="zh-CN" altLang="en-US" dirty="0"/>
              <a:t>对</a:t>
            </a:r>
            <a:r>
              <a:rPr kumimoji="1" lang="zh-CN" altLang="en-US" dirty="0">
                <a:solidFill>
                  <a:srgbClr val="0000FF"/>
                </a:solidFill>
              </a:rPr>
              <a:t>力心</a:t>
            </a:r>
            <a:r>
              <a:rPr kumimoji="1" lang="zh-CN" altLang="en-US" dirty="0"/>
              <a:t>的力矩为零，故小球的角动量守恒。</a:t>
            </a:r>
          </a:p>
        </p:txBody>
      </p:sp>
      <p:pic>
        <p:nvPicPr>
          <p:cNvPr id="116738" name="Picture 2" descr="图片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6463" y="620713"/>
            <a:ext cx="4194175" cy="3644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431"/>
                                        </p:tgtEl>
                                        <p:attrNameLst>
                                          <p:attrName>style.visibility</p:attrName>
                                        </p:attrNameLst>
                                      </p:cBhvr>
                                      <p:to>
                                        <p:strVal val="visible"/>
                                      </p:to>
                                    </p:set>
                                    <p:animEffect transition="in" filter="wipe(left)">
                                      <p:cBhvr>
                                        <p:cTn id="7" dur="500"/>
                                        <p:tgtEl>
                                          <p:spTgt spid="10243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167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2428"/>
                                        </p:tgtEl>
                                        <p:attrNameLst>
                                          <p:attrName>style.visibility</p:attrName>
                                        </p:attrNameLst>
                                      </p:cBhvr>
                                      <p:to>
                                        <p:strVal val="visible"/>
                                      </p:to>
                                    </p:set>
                                    <p:animEffect transition="in" filter="wipe(left)">
                                      <p:cBhvr>
                                        <p:cTn id="15" dur="500"/>
                                        <p:tgtEl>
                                          <p:spTgt spid="10242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2435"/>
                                        </p:tgtEl>
                                        <p:attrNameLst>
                                          <p:attrName>style.visibility</p:attrName>
                                        </p:attrNameLst>
                                      </p:cBhvr>
                                      <p:to>
                                        <p:strVal val="visible"/>
                                      </p:to>
                                    </p:set>
                                    <p:animEffect transition="in" filter="wipe(left)">
                                      <p:cBhvr>
                                        <p:cTn id="20" dur="500"/>
                                        <p:tgtEl>
                                          <p:spTgt spid="102435"/>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02429"/>
                                        </p:tgtEl>
                                        <p:attrNameLst>
                                          <p:attrName>style.visibility</p:attrName>
                                        </p:attrNameLst>
                                      </p:cBhvr>
                                      <p:to>
                                        <p:strVal val="visible"/>
                                      </p:to>
                                    </p:set>
                                    <p:animEffect transition="in" filter="wipe(left)">
                                      <p:cBhvr>
                                        <p:cTn id="24" dur="500"/>
                                        <p:tgtEl>
                                          <p:spTgt spid="10242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2430"/>
                                        </p:tgtEl>
                                        <p:attrNameLst>
                                          <p:attrName>style.visibility</p:attrName>
                                        </p:attrNameLst>
                                      </p:cBhvr>
                                      <p:to>
                                        <p:strVal val="visible"/>
                                      </p:to>
                                    </p:set>
                                    <p:animEffect transition="in" filter="wipe(left)">
                                      <p:cBhvr>
                                        <p:cTn id="29" dur="500"/>
                                        <p:tgtEl>
                                          <p:spTgt spid="10243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2436"/>
                                        </p:tgtEl>
                                        <p:attrNameLst>
                                          <p:attrName>style.visibility</p:attrName>
                                        </p:attrNameLst>
                                      </p:cBhvr>
                                      <p:to>
                                        <p:strVal val="visible"/>
                                      </p:to>
                                    </p:set>
                                    <p:animEffect transition="in" filter="wipe(left)">
                                      <p:cBhvr>
                                        <p:cTn id="34" dur="500"/>
                                        <p:tgtEl>
                                          <p:spTgt spid="102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0" grpId="0" autoUpdateAnimBg="0"/>
      <p:bldP spid="102431" grpId="0" autoUpdateAnimBg="0"/>
      <p:bldP spid="102435" grpId="0" autoUpdateAnimBg="0"/>
      <p:bldP spid="102436"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4" name="Rectangle 6"/>
          <p:cNvSpPr>
            <a:spLocks noChangeArrowheads="1"/>
          </p:cNvSpPr>
          <p:nvPr/>
        </p:nvSpPr>
        <p:spPr bwMode="auto">
          <a:xfrm>
            <a:off x="323850" y="333375"/>
            <a:ext cx="43195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a:latin typeface="Bookman Old Style" panose="02050604050505020204" pitchFamily="18" charset="0"/>
              </a:rPr>
              <a:t>行星绕太阳的运动：</a:t>
            </a:r>
          </a:p>
        </p:txBody>
      </p:sp>
      <p:graphicFrame>
        <p:nvGraphicFramePr>
          <p:cNvPr id="104455" name="Object 7"/>
          <p:cNvGraphicFramePr>
            <a:graphicFrameLocks noChangeAspect="1"/>
          </p:cNvGraphicFramePr>
          <p:nvPr/>
        </p:nvGraphicFramePr>
        <p:xfrm>
          <a:off x="450850" y="4076700"/>
          <a:ext cx="1981200" cy="612775"/>
        </p:xfrm>
        <a:graphic>
          <a:graphicData uri="http://schemas.openxmlformats.org/presentationml/2006/ole">
            <mc:AlternateContent xmlns:mc="http://schemas.openxmlformats.org/markup-compatibility/2006">
              <mc:Choice xmlns:v="urn:schemas-microsoft-com:vml" Requires="v">
                <p:oleObj spid="_x0000_s79934" name="公式" r:id="rId3" imgW="16764000" imgH="5181600" progId="Equation.3">
                  <p:embed/>
                </p:oleObj>
              </mc:Choice>
              <mc:Fallback>
                <p:oleObj name="公式" r:id="rId3" imgW="16764000" imgH="5181600" progId="Equation.3">
                  <p:embed/>
                  <p:pic>
                    <p:nvPicPr>
                      <p:cNvPr id="104455" name="Object 7"/>
                      <p:cNvPicPr>
                        <a:picLocks noChangeAspect="1" noChangeArrowheads="1"/>
                      </p:cNvPicPr>
                      <p:nvPr/>
                    </p:nvPicPr>
                    <p:blipFill>
                      <a:blip r:embed="rId4"/>
                      <a:srcRect/>
                      <a:stretch>
                        <a:fillRect/>
                      </a:stretch>
                    </p:blipFill>
                    <p:spPr bwMode="auto">
                      <a:xfrm>
                        <a:off x="450850" y="4076700"/>
                        <a:ext cx="1981200"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6" name="Object 8"/>
          <p:cNvGraphicFramePr>
            <a:graphicFrameLocks noChangeAspect="1"/>
          </p:cNvGraphicFramePr>
          <p:nvPr/>
        </p:nvGraphicFramePr>
        <p:xfrm>
          <a:off x="450850" y="2997200"/>
          <a:ext cx="2773363" cy="620713"/>
        </p:xfrm>
        <a:graphic>
          <a:graphicData uri="http://schemas.openxmlformats.org/presentationml/2006/ole">
            <mc:AlternateContent xmlns:mc="http://schemas.openxmlformats.org/markup-compatibility/2006">
              <mc:Choice xmlns:v="urn:schemas-microsoft-com:vml" Requires="v">
                <p:oleObj spid="_x0000_s79935" name="公式" r:id="rId5" imgW="23164800" imgH="5181600" progId="Equation.3">
                  <p:embed/>
                </p:oleObj>
              </mc:Choice>
              <mc:Fallback>
                <p:oleObj name="公式" r:id="rId5" imgW="23164800" imgH="5181600" progId="Equation.3">
                  <p:embed/>
                  <p:pic>
                    <p:nvPicPr>
                      <p:cNvPr id="104456" name="Object 8"/>
                      <p:cNvPicPr>
                        <a:picLocks noChangeAspect="1" noChangeArrowheads="1"/>
                      </p:cNvPicPr>
                      <p:nvPr/>
                    </p:nvPicPr>
                    <p:blipFill>
                      <a:blip r:embed="rId6"/>
                      <a:srcRect/>
                      <a:stretch>
                        <a:fillRect/>
                      </a:stretch>
                    </p:blipFill>
                    <p:spPr bwMode="auto">
                      <a:xfrm>
                        <a:off x="450850" y="2997200"/>
                        <a:ext cx="2773363"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92" name="Rectangle 44"/>
          <p:cNvSpPr>
            <a:spLocks noChangeArrowheads="1"/>
          </p:cNvSpPr>
          <p:nvPr/>
        </p:nvSpPr>
        <p:spPr bwMode="auto">
          <a:xfrm>
            <a:off x="323850" y="981075"/>
            <a:ext cx="8424863"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a:t>        </a:t>
            </a:r>
            <a:r>
              <a:rPr kumimoji="1" lang="zh-CN" altLang="en-US"/>
              <a:t>作用在行星上的万有引力（有心力）对太阳（力心）的力矩为零，因此，行星在运动过程中，对太阳的角动量保持不变。</a:t>
            </a:r>
          </a:p>
        </p:txBody>
      </p:sp>
      <p:sp>
        <p:nvSpPr>
          <p:cNvPr id="104493" name="Rectangle 45"/>
          <p:cNvSpPr>
            <a:spLocks noChangeArrowheads="1"/>
          </p:cNvSpPr>
          <p:nvPr/>
        </p:nvSpPr>
        <p:spPr bwMode="auto">
          <a:xfrm>
            <a:off x="395288" y="5589240"/>
            <a:ext cx="722826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buClr>
                <a:srgbClr val="0000FF"/>
              </a:buClr>
              <a:buFont typeface="Wingdings" panose="05000000000000000000" pitchFamily="2" charset="2"/>
              <a:buChar char="Ø"/>
            </a:pPr>
            <a:r>
              <a:rPr kumimoji="1" lang="en-US" altLang="zh-CN" dirty="0"/>
              <a:t> </a:t>
            </a:r>
            <a:r>
              <a:rPr kumimoji="1" lang="zh-CN" altLang="en-US" dirty="0"/>
              <a:t>在有心力场中，对于力心的角动量守恒。</a:t>
            </a:r>
          </a:p>
        </p:txBody>
      </p:sp>
      <p:pic>
        <p:nvPicPr>
          <p:cNvPr id="143472" name="Picture 112" descr="E:\1-图形工作区\普通物理学网络课程\finished\第3章\jpg\图3-31.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7944" y="2204864"/>
            <a:ext cx="4392488" cy="3389579"/>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55576" y="6127977"/>
            <a:ext cx="4512774" cy="523220"/>
          </a:xfrm>
          <a:prstGeom prst="rect">
            <a:avLst/>
          </a:prstGeom>
          <a:noFill/>
        </p:spPr>
        <p:txBody>
          <a:bodyPr wrap="none" rtlCol="0">
            <a:spAutoFit/>
          </a:bodyPr>
          <a:lstStyle/>
          <a:p>
            <a:r>
              <a:rPr lang="zh-CN" altLang="en-US" dirty="0"/>
              <a:t>可以推得开普勒第二定理。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454"/>
                                        </p:tgtEl>
                                        <p:attrNameLst>
                                          <p:attrName>style.visibility</p:attrName>
                                        </p:attrNameLst>
                                      </p:cBhvr>
                                      <p:to>
                                        <p:strVal val="visible"/>
                                      </p:to>
                                    </p:set>
                                    <p:animEffect transition="in" filter="wipe(left)">
                                      <p:cBhvr>
                                        <p:cTn id="7" dur="500"/>
                                        <p:tgtEl>
                                          <p:spTgt spid="1044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3472"/>
                                        </p:tgtEl>
                                        <p:attrNameLst>
                                          <p:attrName>style.visibility</p:attrName>
                                        </p:attrNameLst>
                                      </p:cBhvr>
                                      <p:to>
                                        <p:strVal val="visible"/>
                                      </p:to>
                                    </p:set>
                                    <p:animEffect transition="in" filter="wipe(left)">
                                      <p:cBhvr>
                                        <p:cTn id="12" dur="500"/>
                                        <p:tgtEl>
                                          <p:spTgt spid="1434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4492"/>
                                        </p:tgtEl>
                                        <p:attrNameLst>
                                          <p:attrName>style.visibility</p:attrName>
                                        </p:attrNameLst>
                                      </p:cBhvr>
                                      <p:to>
                                        <p:strVal val="visible"/>
                                      </p:to>
                                    </p:set>
                                    <p:animEffect transition="in" filter="wipe(left)">
                                      <p:cBhvr>
                                        <p:cTn id="17" dur="500"/>
                                        <p:tgtEl>
                                          <p:spTgt spid="10449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4456"/>
                                        </p:tgtEl>
                                        <p:attrNameLst>
                                          <p:attrName>style.visibility</p:attrName>
                                        </p:attrNameLst>
                                      </p:cBhvr>
                                      <p:to>
                                        <p:strVal val="visible"/>
                                      </p:to>
                                    </p:set>
                                    <p:animEffect transition="in" filter="wipe(left)">
                                      <p:cBhvr>
                                        <p:cTn id="22" dur="500"/>
                                        <p:tgtEl>
                                          <p:spTgt spid="1044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4455"/>
                                        </p:tgtEl>
                                        <p:attrNameLst>
                                          <p:attrName>style.visibility</p:attrName>
                                        </p:attrNameLst>
                                      </p:cBhvr>
                                      <p:to>
                                        <p:strVal val="visible"/>
                                      </p:to>
                                    </p:set>
                                    <p:animEffect transition="in" filter="wipe(left)">
                                      <p:cBhvr>
                                        <p:cTn id="27" dur="500"/>
                                        <p:tgtEl>
                                          <p:spTgt spid="10445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4493"/>
                                        </p:tgtEl>
                                        <p:attrNameLst>
                                          <p:attrName>style.visibility</p:attrName>
                                        </p:attrNameLst>
                                      </p:cBhvr>
                                      <p:to>
                                        <p:strVal val="visible"/>
                                      </p:to>
                                    </p:set>
                                    <p:animEffect transition="in" filter="wipe(left)">
                                      <p:cBhvr>
                                        <p:cTn id="32" dur="500"/>
                                        <p:tgtEl>
                                          <p:spTgt spid="10449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4" grpId="0" autoUpdateAnimBg="0"/>
      <p:bldP spid="104492" grpId="0" autoUpdateAnimBg="0"/>
      <p:bldP spid="104493" grpId="0" autoUpdateAnimBg="0"/>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18E3378-CDC3-4A26-9727-4583BF295F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86" y="619987"/>
            <a:ext cx="7467557" cy="6151242"/>
          </a:xfrm>
          <a:prstGeom prst="rect">
            <a:avLst/>
          </a:prstGeom>
        </p:spPr>
      </p:pic>
      <p:pic>
        <p:nvPicPr>
          <p:cNvPr id="4" name="Picture 380">
            <a:extLst>
              <a:ext uri="{FF2B5EF4-FFF2-40B4-BE49-F238E27FC236}">
                <a16:creationId xmlns:a16="http://schemas.microsoft.com/office/drawing/2014/main" id="{60387099-333F-47C0-A60E-F84711051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0044" y="3212976"/>
            <a:ext cx="2850225" cy="19717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直接箭头连接符 4">
            <a:extLst>
              <a:ext uri="{FF2B5EF4-FFF2-40B4-BE49-F238E27FC236}">
                <a16:creationId xmlns:a16="http://schemas.microsoft.com/office/drawing/2014/main" id="{35895145-2CFC-44F3-B2EE-DDA6EC8EA5BD}"/>
              </a:ext>
            </a:extLst>
          </p:cNvPr>
          <p:cNvCxnSpPr/>
          <p:nvPr/>
        </p:nvCxnSpPr>
        <p:spPr bwMode="auto">
          <a:xfrm flipH="1" flipV="1">
            <a:off x="6660232" y="3419830"/>
            <a:ext cx="1440160" cy="504056"/>
          </a:xfrm>
          <a:prstGeom prst="straightConnector1">
            <a:avLst/>
          </a:prstGeom>
          <a:noFill/>
          <a:ln w="28575" cap="flat" cmpd="sng" algn="ctr">
            <a:solidFill>
              <a:schemeClr val="accent1"/>
            </a:solidFill>
            <a:prstDash val="solid"/>
            <a:round/>
            <a:headEnd type="none" w="med" len="med"/>
            <a:tailEnd type="triangle"/>
          </a:ln>
          <a:effectLst/>
        </p:spPr>
      </p:cxnSp>
      <p:sp>
        <p:nvSpPr>
          <p:cNvPr id="6" name="文本框 5">
            <a:extLst>
              <a:ext uri="{FF2B5EF4-FFF2-40B4-BE49-F238E27FC236}">
                <a16:creationId xmlns:a16="http://schemas.microsoft.com/office/drawing/2014/main" id="{FFBBE59E-D255-42ED-BD4A-23ECA1031FEB}"/>
              </a:ext>
            </a:extLst>
          </p:cNvPr>
          <p:cNvSpPr txBox="1"/>
          <p:nvPr/>
        </p:nvSpPr>
        <p:spPr>
          <a:xfrm>
            <a:off x="6732240" y="3876628"/>
            <a:ext cx="498855" cy="461665"/>
          </a:xfrm>
          <a:prstGeom prst="rect">
            <a:avLst/>
          </a:prstGeom>
          <a:noFill/>
        </p:spPr>
        <p:txBody>
          <a:bodyPr wrap="none" rtlCol="0">
            <a:spAutoFit/>
          </a:bodyPr>
          <a:lstStyle/>
          <a:p>
            <a:r>
              <a:rPr lang="en-US" altLang="zh-CN"/>
              <a:t>d</a:t>
            </a:r>
            <a:r>
              <a:rPr lang="en-US" altLang="zh-CN" i="1">
                <a:sym typeface="Symbol" panose="05050102010706020507" pitchFamily="18" charset="2"/>
              </a:rPr>
              <a:t></a:t>
            </a:r>
            <a:endParaRPr lang="zh-CN" altLang="en-US" i="1"/>
          </a:p>
        </p:txBody>
      </p:sp>
      <p:cxnSp>
        <p:nvCxnSpPr>
          <p:cNvPr id="8" name="连接符: 肘形 7">
            <a:extLst>
              <a:ext uri="{FF2B5EF4-FFF2-40B4-BE49-F238E27FC236}">
                <a16:creationId xmlns:a16="http://schemas.microsoft.com/office/drawing/2014/main" id="{997F852F-094A-4043-A39A-D858C647FDB8}"/>
              </a:ext>
            </a:extLst>
          </p:cNvPr>
          <p:cNvCxnSpPr/>
          <p:nvPr/>
        </p:nvCxnSpPr>
        <p:spPr bwMode="auto">
          <a:xfrm rot="16200000" flipV="1">
            <a:off x="6822458" y="3698822"/>
            <a:ext cx="678460" cy="138815"/>
          </a:xfrm>
          <a:prstGeom prst="bentConnector3">
            <a:avLst/>
          </a:prstGeom>
          <a:noFill/>
          <a:ln w="9525" cap="flat" cmpd="sng" algn="ctr">
            <a:solidFill>
              <a:srgbClr val="FF00FF"/>
            </a:solidFill>
            <a:prstDash val="solid"/>
            <a:round/>
            <a:headEnd type="none" w="med" len="med"/>
            <a:tailEnd type="triangle"/>
          </a:ln>
          <a:effectLst/>
        </p:spPr>
      </p:cxnSp>
      <p:sp>
        <p:nvSpPr>
          <p:cNvPr id="9" name="矩形 8">
            <a:extLst>
              <a:ext uri="{FF2B5EF4-FFF2-40B4-BE49-F238E27FC236}">
                <a16:creationId xmlns:a16="http://schemas.microsoft.com/office/drawing/2014/main" id="{B78898D0-EB68-4EF5-8868-5CEEB07666DF}"/>
              </a:ext>
            </a:extLst>
          </p:cNvPr>
          <p:cNvSpPr/>
          <p:nvPr/>
        </p:nvSpPr>
        <p:spPr>
          <a:xfrm>
            <a:off x="1043608" y="188640"/>
            <a:ext cx="2954655" cy="461665"/>
          </a:xfrm>
          <a:prstGeom prst="rect">
            <a:avLst/>
          </a:prstGeom>
        </p:spPr>
        <p:txBody>
          <a:bodyPr wrap="none">
            <a:spAutoFit/>
          </a:bodyPr>
          <a:lstStyle/>
          <a:p>
            <a:r>
              <a:rPr lang="zh-CN" altLang="en-US">
                <a:solidFill>
                  <a:srgbClr val="FF0000"/>
                </a:solidFill>
              </a:rPr>
              <a:t>开普勒面积定理证明</a:t>
            </a:r>
            <a:endParaRPr lang="zh-CN" altLang="en-US"/>
          </a:p>
        </p:txBody>
      </p:sp>
    </p:spTree>
    <p:extLst>
      <p:ext uri="{BB962C8B-B14F-4D97-AF65-F5344CB8AC3E}">
        <p14:creationId xmlns:p14="http://schemas.microsoft.com/office/powerpoint/2010/main" val="5434173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6637" y="2852936"/>
            <a:ext cx="3102076" cy="2257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06502" name="Object 6"/>
          <p:cNvGraphicFramePr>
            <a:graphicFrameLocks noChangeAspect="1"/>
          </p:cNvGraphicFramePr>
          <p:nvPr/>
        </p:nvGraphicFramePr>
        <p:xfrm>
          <a:off x="467544" y="5163343"/>
          <a:ext cx="4279900" cy="569913"/>
        </p:xfrm>
        <a:graphic>
          <a:graphicData uri="http://schemas.openxmlformats.org/presentationml/2006/ole">
            <mc:AlternateContent xmlns:mc="http://schemas.openxmlformats.org/markup-compatibility/2006">
              <mc:Choice xmlns:v="urn:schemas-microsoft-com:vml" Requires="v">
                <p:oleObj spid="_x0000_s81018" name="公式" r:id="rId4" imgW="39014400" imgH="5181600" progId="Equation.3">
                  <p:embed/>
                </p:oleObj>
              </mc:Choice>
              <mc:Fallback>
                <p:oleObj name="公式" r:id="rId4" imgW="39014400" imgH="5181600" progId="Equation.3">
                  <p:embed/>
                  <p:pic>
                    <p:nvPicPr>
                      <p:cNvPr id="106502" name="Object 6"/>
                      <p:cNvPicPr>
                        <a:picLocks noChangeAspect="1" noChangeArrowheads="1"/>
                      </p:cNvPicPr>
                      <p:nvPr/>
                    </p:nvPicPr>
                    <p:blipFill>
                      <a:blip r:embed="rId5">
                        <a:lum bright="2000" contrast="100000"/>
                      </a:blip>
                      <a:srcRect/>
                      <a:stretch>
                        <a:fillRect/>
                      </a:stretch>
                    </p:blipFill>
                    <p:spPr bwMode="auto">
                      <a:xfrm>
                        <a:off x="467544" y="5163343"/>
                        <a:ext cx="4279900"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4" name="Object 8"/>
          <p:cNvGraphicFramePr>
            <a:graphicFrameLocks noChangeAspect="1"/>
          </p:cNvGraphicFramePr>
          <p:nvPr/>
        </p:nvGraphicFramePr>
        <p:xfrm>
          <a:off x="1002901" y="3429000"/>
          <a:ext cx="2682875" cy="555625"/>
        </p:xfrm>
        <a:graphic>
          <a:graphicData uri="http://schemas.openxmlformats.org/presentationml/2006/ole">
            <mc:AlternateContent xmlns:mc="http://schemas.openxmlformats.org/markup-compatibility/2006">
              <mc:Choice xmlns:v="urn:schemas-microsoft-com:vml" Requires="v">
                <p:oleObj spid="_x0000_s81019" name="公式" r:id="rId6" imgW="24993600" imgH="5181600" progId="Equation.3">
                  <p:embed/>
                </p:oleObj>
              </mc:Choice>
              <mc:Fallback>
                <p:oleObj name="公式" r:id="rId6" imgW="24993600" imgH="5181600" progId="Equation.3">
                  <p:embed/>
                  <p:pic>
                    <p:nvPicPr>
                      <p:cNvPr id="106504" name="Object 8"/>
                      <p:cNvPicPr>
                        <a:picLocks noChangeAspect="1" noChangeArrowheads="1"/>
                      </p:cNvPicPr>
                      <p:nvPr/>
                    </p:nvPicPr>
                    <p:blipFill>
                      <a:blip r:embed="rId7">
                        <a:lum bright="2000" contrast="100000"/>
                      </a:blip>
                      <a:srcRect/>
                      <a:stretch>
                        <a:fillRect/>
                      </a:stretch>
                    </p:blipFill>
                    <p:spPr bwMode="auto">
                      <a:xfrm>
                        <a:off x="1002901" y="3429000"/>
                        <a:ext cx="2682875"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7" name="Text Box 11"/>
          <p:cNvSpPr txBox="1">
            <a:spLocks noChangeArrowheads="1"/>
          </p:cNvSpPr>
          <p:nvPr/>
        </p:nvSpPr>
        <p:spPr bwMode="auto">
          <a:xfrm>
            <a:off x="179388" y="2838450"/>
            <a:ext cx="8985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dirty="0">
                <a:solidFill>
                  <a:srgbClr val="0000FF"/>
                </a:solidFill>
              </a:rPr>
              <a:t>解：</a:t>
            </a:r>
          </a:p>
        </p:txBody>
      </p:sp>
      <p:sp>
        <p:nvSpPr>
          <p:cNvPr id="106529" name="Rectangle 33"/>
          <p:cNvSpPr>
            <a:spLocks noChangeArrowheads="1"/>
          </p:cNvSpPr>
          <p:nvPr/>
        </p:nvSpPr>
        <p:spPr bwMode="auto">
          <a:xfrm>
            <a:off x="179388" y="115888"/>
            <a:ext cx="8569325" cy="2677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kumimoji="1" lang="zh-CN" altLang="en-US" dirty="0">
                <a:solidFill>
                  <a:srgbClr val="0000FF"/>
                </a:solidFill>
              </a:rPr>
              <a:t>例</a:t>
            </a:r>
            <a:r>
              <a:rPr kumimoji="1" lang="en-US" altLang="zh-CN" dirty="0">
                <a:solidFill>
                  <a:srgbClr val="0000FF"/>
                </a:solidFill>
              </a:rPr>
              <a:t>2-10</a:t>
            </a:r>
            <a:r>
              <a:rPr kumimoji="1" lang="en-US" altLang="zh-CN" dirty="0">
                <a:solidFill>
                  <a:srgbClr val="FF0000"/>
                </a:solidFill>
              </a:rPr>
              <a:t>  </a:t>
            </a:r>
            <a:r>
              <a:rPr kumimoji="1" lang="zh-CN" altLang="en-US" dirty="0"/>
              <a:t>我国第一颗人造卫星绕地球沿椭圆轨道运动，地球的中心</a:t>
            </a:r>
            <a:r>
              <a:rPr kumimoji="1" lang="en-US" altLang="zh-CN" i="1" dirty="0"/>
              <a:t>O</a:t>
            </a:r>
            <a:r>
              <a:rPr kumimoji="1" lang="zh-CN" altLang="en-US" dirty="0"/>
              <a:t>为该椭圆的一个焦点。已知地球半径</a:t>
            </a:r>
            <a:r>
              <a:rPr kumimoji="1" lang="en-US" altLang="zh-CN" i="1" dirty="0"/>
              <a:t>R</a:t>
            </a:r>
            <a:r>
              <a:rPr kumimoji="1" lang="en-US" altLang="zh-CN" dirty="0"/>
              <a:t>=6378km</a:t>
            </a:r>
            <a:r>
              <a:rPr kumimoji="1" lang="zh-CN" altLang="en-US" dirty="0"/>
              <a:t>，人造地球卫星距地面最近距离</a:t>
            </a:r>
            <a:r>
              <a:rPr kumimoji="1" lang="en-US" altLang="zh-CN" i="1" dirty="0"/>
              <a:t>l</a:t>
            </a:r>
            <a:r>
              <a:rPr kumimoji="1" lang="en-US" altLang="zh-CN" baseline="-25000" dirty="0"/>
              <a:t>1</a:t>
            </a:r>
            <a:r>
              <a:rPr kumimoji="1" lang="en-US" altLang="zh-CN" dirty="0"/>
              <a:t>=439km</a:t>
            </a:r>
            <a:r>
              <a:rPr kumimoji="1" lang="zh-CN" altLang="en-US" dirty="0"/>
              <a:t>，最远距离</a:t>
            </a:r>
            <a:r>
              <a:rPr kumimoji="1" lang="en-US" altLang="zh-CN" i="1" dirty="0"/>
              <a:t>l</a:t>
            </a:r>
            <a:r>
              <a:rPr kumimoji="1" lang="en-US" altLang="zh-CN" baseline="-25000" dirty="0"/>
              <a:t>2</a:t>
            </a:r>
            <a:r>
              <a:rPr kumimoji="1" lang="en-US" altLang="zh-CN" dirty="0"/>
              <a:t>=2384km</a:t>
            </a:r>
            <a:r>
              <a:rPr kumimoji="1" lang="zh-CN" altLang="en-US" dirty="0"/>
              <a:t>，若人造地球卫星在近地点</a:t>
            </a:r>
            <a:r>
              <a:rPr kumimoji="1" lang="en-US" altLang="zh-CN" i="1" dirty="0"/>
              <a:t>A</a:t>
            </a:r>
            <a:r>
              <a:rPr kumimoji="1" lang="en-US" altLang="zh-CN" baseline="-25000" dirty="0"/>
              <a:t>1</a:t>
            </a:r>
            <a:r>
              <a:rPr kumimoji="1" lang="zh-CN" altLang="en-US" dirty="0"/>
              <a:t>的速度</a:t>
            </a:r>
            <a:r>
              <a:rPr kumimoji="1" lang="en-US" altLang="zh-CN" i="1" dirty="0"/>
              <a:t>v</a:t>
            </a:r>
            <a:r>
              <a:rPr kumimoji="1" lang="en-US" altLang="zh-CN" b="0" baseline="-25000" dirty="0"/>
              <a:t>1</a:t>
            </a:r>
            <a:r>
              <a:rPr kumimoji="1" lang="en-US" altLang="zh-CN" dirty="0"/>
              <a:t>=8.10km/s</a:t>
            </a:r>
            <a:r>
              <a:rPr kumimoji="1" lang="zh-CN" altLang="en-US" dirty="0"/>
              <a:t>，求人造地球卫星在远地点</a:t>
            </a:r>
            <a:r>
              <a:rPr kumimoji="1" lang="en-US" altLang="zh-CN" i="1" dirty="0"/>
              <a:t>A</a:t>
            </a:r>
            <a:r>
              <a:rPr kumimoji="1" lang="en-US" altLang="zh-CN" baseline="-25000" dirty="0"/>
              <a:t>2</a:t>
            </a:r>
            <a:r>
              <a:rPr kumimoji="1" lang="zh-CN" altLang="en-US" dirty="0"/>
              <a:t>的速度。</a:t>
            </a:r>
            <a:endParaRPr kumimoji="1" lang="en-US" altLang="zh-CN" baseline="-25000" dirty="0"/>
          </a:p>
        </p:txBody>
      </p:sp>
      <p:sp>
        <p:nvSpPr>
          <p:cNvPr id="2" name="矩形 1"/>
          <p:cNvSpPr/>
          <p:nvPr/>
        </p:nvSpPr>
        <p:spPr>
          <a:xfrm>
            <a:off x="899592" y="2852936"/>
            <a:ext cx="4238661" cy="523220"/>
          </a:xfrm>
          <a:prstGeom prst="rect">
            <a:avLst/>
          </a:prstGeom>
        </p:spPr>
        <p:txBody>
          <a:bodyPr wrap="none">
            <a:spAutoFit/>
          </a:bodyPr>
          <a:lstStyle/>
          <a:p>
            <a:r>
              <a:rPr kumimoji="1" lang="zh-CN" altLang="en-US" dirty="0"/>
              <a:t>在近地点</a:t>
            </a:r>
            <a:r>
              <a:rPr kumimoji="1" lang="en-US" altLang="zh-CN" i="1" dirty="0"/>
              <a:t>A</a:t>
            </a:r>
            <a:r>
              <a:rPr kumimoji="1" lang="en-US" altLang="zh-CN" baseline="-25000" dirty="0"/>
              <a:t>1</a:t>
            </a:r>
            <a:r>
              <a:rPr kumimoji="1" lang="en-US" altLang="zh-CN" i="1" dirty="0"/>
              <a:t> </a:t>
            </a:r>
            <a:r>
              <a:rPr kumimoji="1" lang="zh-CN" altLang="en-US" i="1" dirty="0"/>
              <a:t>、</a:t>
            </a:r>
            <a:r>
              <a:rPr kumimoji="1" lang="en-US" altLang="zh-CN" i="1" dirty="0"/>
              <a:t>A</a:t>
            </a:r>
            <a:r>
              <a:rPr kumimoji="1" lang="en-US" altLang="zh-CN" baseline="-25000" dirty="0"/>
              <a:t>2</a:t>
            </a:r>
            <a:r>
              <a:rPr kumimoji="1" lang="zh-CN" altLang="en-US" dirty="0"/>
              <a:t>的角动量</a:t>
            </a:r>
            <a:endParaRPr lang="zh-CN" altLang="en-US" dirty="0"/>
          </a:p>
        </p:txBody>
      </p:sp>
      <p:graphicFrame>
        <p:nvGraphicFramePr>
          <p:cNvPr id="3" name="对象 2"/>
          <p:cNvGraphicFramePr>
            <a:graphicFrameLocks noChangeAspect="1"/>
          </p:cNvGraphicFramePr>
          <p:nvPr/>
        </p:nvGraphicFramePr>
        <p:xfrm>
          <a:off x="971600" y="4005064"/>
          <a:ext cx="2747963" cy="555625"/>
        </p:xfrm>
        <a:graphic>
          <a:graphicData uri="http://schemas.openxmlformats.org/presentationml/2006/ole">
            <mc:AlternateContent xmlns:mc="http://schemas.openxmlformats.org/markup-compatibility/2006">
              <mc:Choice xmlns:v="urn:schemas-microsoft-com:vml" Requires="v">
                <p:oleObj spid="_x0000_s81020" name="公式" r:id="rId8" imgW="25603200" imgH="5181600" progId="Equation.3">
                  <p:embed/>
                </p:oleObj>
              </mc:Choice>
              <mc:Fallback>
                <p:oleObj name="公式" r:id="rId8" imgW="25603200" imgH="5181600" progId="Equation.3">
                  <p:embed/>
                  <p:pic>
                    <p:nvPicPr>
                      <p:cNvPr id="3" name="对象 2"/>
                      <p:cNvPicPr>
                        <a:picLocks noChangeAspect="1" noChangeArrowheads="1"/>
                      </p:cNvPicPr>
                      <p:nvPr/>
                    </p:nvPicPr>
                    <p:blipFill>
                      <a:blip r:embed="rId9">
                        <a:lum bright="2000" contrast="100000"/>
                      </a:blip>
                      <a:srcRect/>
                      <a:stretch>
                        <a:fillRect/>
                      </a:stretch>
                    </p:blipFill>
                    <p:spPr bwMode="auto">
                      <a:xfrm>
                        <a:off x="971600" y="4005064"/>
                        <a:ext cx="2747963"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nvGraphicFramePr>
        <p:xfrm>
          <a:off x="2123728" y="5740912"/>
          <a:ext cx="4279900" cy="1139825"/>
        </p:xfrm>
        <a:graphic>
          <a:graphicData uri="http://schemas.openxmlformats.org/presentationml/2006/ole">
            <mc:AlternateContent xmlns:mc="http://schemas.openxmlformats.org/markup-compatibility/2006">
              <mc:Choice xmlns:v="urn:schemas-microsoft-com:vml" Requires="v">
                <p:oleObj spid="_x0000_s81021" name="公式" r:id="rId10" imgW="39014400" imgH="10363200" progId="Equation.3">
                  <p:embed/>
                </p:oleObj>
              </mc:Choice>
              <mc:Fallback>
                <p:oleObj name="公式" r:id="rId10" imgW="39014400" imgH="10363200" progId="Equation.3">
                  <p:embed/>
                  <p:pic>
                    <p:nvPicPr>
                      <p:cNvPr id="4" name="对象 3"/>
                      <p:cNvPicPr>
                        <a:picLocks noChangeAspect="1" noChangeArrowheads="1"/>
                      </p:cNvPicPr>
                      <p:nvPr/>
                    </p:nvPicPr>
                    <p:blipFill>
                      <a:blip r:embed="rId11">
                        <a:lum bright="2000" contrast="100000"/>
                      </a:blip>
                      <a:srcRect/>
                      <a:stretch>
                        <a:fillRect/>
                      </a:stretch>
                    </p:blipFill>
                    <p:spPr bwMode="auto">
                      <a:xfrm>
                        <a:off x="2123728" y="5740912"/>
                        <a:ext cx="4279900"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矩形 15"/>
          <p:cNvSpPr/>
          <p:nvPr/>
        </p:nvSpPr>
        <p:spPr>
          <a:xfrm>
            <a:off x="395536" y="4581128"/>
            <a:ext cx="1988045" cy="523220"/>
          </a:xfrm>
          <a:prstGeom prst="rect">
            <a:avLst/>
          </a:prstGeom>
        </p:spPr>
        <p:txBody>
          <a:bodyPr wrap="none">
            <a:spAutoFit/>
          </a:bodyPr>
          <a:lstStyle/>
          <a:p>
            <a:r>
              <a:rPr kumimoji="1" lang="zh-CN" altLang="en-US" dirty="0"/>
              <a:t>角动量守恒</a:t>
            </a:r>
            <a:endParaRPr lang="zh-CN" altLang="en-US" dirty="0"/>
          </a:p>
        </p:txBody>
      </p:sp>
      <p:sp>
        <p:nvSpPr>
          <p:cNvPr id="17" name="AutoShape 11"/>
          <p:cNvSpPr>
            <a:spLocks noChangeArrowheads="1"/>
          </p:cNvSpPr>
          <p:nvPr/>
        </p:nvSpPr>
        <p:spPr bwMode="auto">
          <a:xfrm>
            <a:off x="1403648" y="6129336"/>
            <a:ext cx="552137" cy="324000"/>
          </a:xfrm>
          <a:prstGeom prst="rightArrow">
            <a:avLst>
              <a:gd name="adj1" fmla="val 50000"/>
              <a:gd name="adj2" fmla="val 44212"/>
            </a:avLst>
          </a:prstGeom>
          <a:noFill/>
          <a:ln w="9525">
            <a:solidFill>
              <a:schemeClr val="tx1"/>
            </a:solidFill>
            <a:miter lim="800000"/>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6529"/>
                                        </p:tgtEl>
                                        <p:attrNameLst>
                                          <p:attrName>style.visibility</p:attrName>
                                        </p:attrNameLst>
                                      </p:cBhvr>
                                      <p:to>
                                        <p:strVal val="visible"/>
                                      </p:to>
                                    </p:set>
                                    <p:animEffect transition="in" filter="wipe(left)">
                                      <p:cBhvr>
                                        <p:cTn id="7" dur="500"/>
                                        <p:tgtEl>
                                          <p:spTgt spid="106529"/>
                                        </p:tgtEl>
                                      </p:cBhvr>
                                    </p:animEffect>
                                  </p:childTnLst>
                                </p:cTn>
                              </p:par>
                              <p:par>
                                <p:cTn id="8" presetID="22" presetClass="entr" presetSubtype="8" fill="hold" nodeType="withEffect">
                                  <p:stCondLst>
                                    <p:cond delay="0"/>
                                  </p:stCondLst>
                                  <p:childTnLst>
                                    <p:set>
                                      <p:cBhvr>
                                        <p:cTn id="9" dur="1" fill="hold">
                                          <p:stCondLst>
                                            <p:cond delay="0"/>
                                          </p:stCondLst>
                                        </p:cTn>
                                        <p:tgtEl>
                                          <p:spTgt spid="177154"/>
                                        </p:tgtEl>
                                        <p:attrNameLst>
                                          <p:attrName>style.visibility</p:attrName>
                                        </p:attrNameLst>
                                      </p:cBhvr>
                                      <p:to>
                                        <p:strVal val="visible"/>
                                      </p:to>
                                    </p:set>
                                    <p:animEffect transition="in" filter="wipe(left)">
                                      <p:cBhvr>
                                        <p:cTn id="10" dur="500"/>
                                        <p:tgtEl>
                                          <p:spTgt spid="17715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6507"/>
                                        </p:tgtEl>
                                        <p:attrNameLst>
                                          <p:attrName>style.visibility</p:attrName>
                                        </p:attrNameLst>
                                      </p:cBhvr>
                                      <p:to>
                                        <p:strVal val="visible"/>
                                      </p:to>
                                    </p:set>
                                    <p:animEffect transition="in" filter="wipe(left)">
                                      <p:cBhvr>
                                        <p:cTn id="15" dur="500"/>
                                        <p:tgtEl>
                                          <p:spTgt spid="106507"/>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6504"/>
                                        </p:tgtEl>
                                        <p:attrNameLst>
                                          <p:attrName>style.visibility</p:attrName>
                                        </p:attrNameLst>
                                      </p:cBhvr>
                                      <p:to>
                                        <p:strVal val="visible"/>
                                      </p:to>
                                    </p:set>
                                    <p:animEffect transition="in" filter="wipe(left)">
                                      <p:cBhvr>
                                        <p:cTn id="24" dur="500"/>
                                        <p:tgtEl>
                                          <p:spTgt spid="106504"/>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06502"/>
                                        </p:tgtEl>
                                        <p:attrNameLst>
                                          <p:attrName>style.visibility</p:attrName>
                                        </p:attrNameLst>
                                      </p:cBhvr>
                                      <p:to>
                                        <p:strVal val="visible"/>
                                      </p:to>
                                    </p:set>
                                    <p:animEffect transition="in" filter="wipe(left)">
                                      <p:cBhvr>
                                        <p:cTn id="38" dur="500"/>
                                        <p:tgtEl>
                                          <p:spTgt spid="10650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7" grpId="0"/>
      <p:bldP spid="106529" grpId="0"/>
      <p:bldP spid="2" grpId="0"/>
      <p:bldP spid="16" grpId="0"/>
      <p:bldP spid="1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7584" y="1844824"/>
            <a:ext cx="7920880" cy="3170099"/>
          </a:xfrm>
          <a:prstGeom prst="rect">
            <a:avLst/>
          </a:prstGeom>
        </p:spPr>
        <p:txBody>
          <a:bodyPr wrap="square">
            <a:spAutoFit/>
          </a:bodyPr>
          <a:lstStyle/>
          <a:p>
            <a:pPr marL="457200" indent="-457200" algn="ctr" eaLnBrk="0" hangingPunct="0"/>
            <a:r>
              <a:rPr lang="zh-CN" altLang="en-US" sz="4000" b="1" dirty="0">
                <a:ea typeface="宋体" pitchFamily="2" charset="-122"/>
              </a:rPr>
              <a:t>作业</a:t>
            </a:r>
            <a:endParaRPr lang="en-US" altLang="zh-CN" sz="4000" b="1" dirty="0">
              <a:ea typeface="宋体" pitchFamily="2" charset="-122"/>
            </a:endParaRPr>
          </a:p>
          <a:p>
            <a:pPr marL="457200" indent="-457200" eaLnBrk="0" hangingPunct="0"/>
            <a:endParaRPr lang="en-US" altLang="zh-CN" sz="4000"/>
          </a:p>
          <a:p>
            <a:pPr marL="457200" indent="-457200" eaLnBrk="0" hangingPunct="0"/>
            <a:r>
              <a:rPr lang="en-US" altLang="zh-CN" sz="4000">
                <a:ea typeface="宋体" pitchFamily="2" charset="-122"/>
              </a:rPr>
              <a:t>2-7</a:t>
            </a:r>
            <a:r>
              <a:rPr lang="zh-CN" altLang="en-US" sz="4000">
                <a:ea typeface="宋体" pitchFamily="2" charset="-122"/>
              </a:rPr>
              <a:t>；    </a:t>
            </a:r>
            <a:r>
              <a:rPr lang="en-US" altLang="zh-CN" sz="4000">
                <a:ea typeface="宋体" pitchFamily="2" charset="-122"/>
              </a:rPr>
              <a:t>2-9</a:t>
            </a:r>
            <a:r>
              <a:rPr lang="zh-CN" altLang="en-US" sz="4000">
                <a:ea typeface="宋体" pitchFamily="2" charset="-122"/>
              </a:rPr>
              <a:t>；  </a:t>
            </a:r>
            <a:r>
              <a:rPr lang="en-US" altLang="zh-CN" sz="4000">
                <a:ea typeface="宋体" pitchFamily="2" charset="-122"/>
              </a:rPr>
              <a:t>2-10; </a:t>
            </a:r>
            <a:r>
              <a:rPr lang="zh-CN" altLang="en-US" sz="4000">
                <a:ea typeface="宋体" pitchFamily="2" charset="-122"/>
              </a:rPr>
              <a:t>  </a:t>
            </a:r>
            <a:r>
              <a:rPr lang="en-US" altLang="zh-CN" sz="4000">
                <a:ea typeface="宋体" pitchFamily="2" charset="-122"/>
              </a:rPr>
              <a:t>2-12  </a:t>
            </a:r>
          </a:p>
          <a:p>
            <a:pPr marL="457200" indent="-457200" eaLnBrk="0" hangingPunct="0"/>
            <a:r>
              <a:rPr lang="en-US" altLang="zh-CN" sz="4000">
                <a:ea typeface="宋体" pitchFamily="2" charset="-122"/>
              </a:rPr>
              <a:t> </a:t>
            </a:r>
          </a:p>
          <a:p>
            <a:pPr marL="457200" indent="-457200" eaLnBrk="0" hangingPunct="0"/>
            <a:endParaRPr lang="zh-CN" altLang="en-US" sz="4000" dirty="0"/>
          </a:p>
        </p:txBody>
      </p:sp>
    </p:spTree>
    <p:extLst>
      <p:ext uri="{BB962C8B-B14F-4D97-AF65-F5344CB8AC3E}">
        <p14:creationId xmlns:p14="http://schemas.microsoft.com/office/powerpoint/2010/main" val="3288167342"/>
      </p:ext>
    </p:extLst>
  </p:cSld>
  <p:clrMapOvr>
    <a:masterClrMapping/>
  </p:clrMapOvr>
  <p:transition>
    <p:checker dir="vert"/>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2162" name="Picture 4" descr="http://desktop.0937.net/d/0/3/200611091116494060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457200"/>
            <a:ext cx="9753601"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3" name="Rectangle 2"/>
          <p:cNvSpPr>
            <a:spLocks noGrp="1" noChangeArrowheads="1"/>
          </p:cNvSpPr>
          <p:nvPr>
            <p:ph type="ctrTitle"/>
          </p:nvPr>
        </p:nvSpPr>
        <p:spPr>
          <a:xfrm>
            <a:off x="968375" y="-100013"/>
            <a:ext cx="7772400" cy="1143001"/>
          </a:xfrm>
        </p:spPr>
        <p:txBody>
          <a:bodyPr/>
          <a:lstStyle/>
          <a:p>
            <a:r>
              <a:rPr lang="zh-CN" altLang="en-US" b="1">
                <a:solidFill>
                  <a:srgbClr val="FFFF00"/>
                </a:solidFill>
              </a:rPr>
              <a:t>人类航天事业的发展</a:t>
            </a:r>
          </a:p>
        </p:txBody>
      </p:sp>
      <p:sp>
        <p:nvSpPr>
          <p:cNvPr id="146435" name="Rectangle 3"/>
          <p:cNvSpPr>
            <a:spLocks noGrp="1" noChangeArrowheads="1"/>
          </p:cNvSpPr>
          <p:nvPr>
            <p:ph type="subTitle" idx="1"/>
          </p:nvPr>
        </p:nvSpPr>
        <p:spPr>
          <a:xfrm>
            <a:off x="3348038" y="2924175"/>
            <a:ext cx="5976937" cy="2362200"/>
          </a:xfrm>
        </p:spPr>
        <p:txBody>
          <a:bodyPr/>
          <a:lstStyle/>
          <a:p>
            <a:pPr algn="l"/>
            <a:r>
              <a:rPr lang="zh-CN" altLang="en-US" b="1">
                <a:solidFill>
                  <a:srgbClr val="FFFF00"/>
                </a:solidFill>
              </a:rPr>
              <a:t>飞向浩瀚的宇宙，漫步无垠的太空，一直是人类的梦想。在这个梦想的激励下，人类的航天事业在快速地发展着。</a:t>
            </a:r>
          </a:p>
        </p:txBody>
      </p:sp>
    </p:spTree>
    <p:extLst>
      <p:ext uri="{BB962C8B-B14F-4D97-AF65-F5344CB8AC3E}">
        <p14:creationId xmlns:p14="http://schemas.microsoft.com/office/powerpoint/2010/main" val="2543987178"/>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 calcmode="lin" valueType="num">
                                      <p:cBhvr additive="base">
                                        <p:cTn id="7" dur="500" fill="hold"/>
                                        <p:tgtEl>
                                          <p:spTgt spid="146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643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9" name="Rectangle 3"/>
          <p:cNvSpPr>
            <a:spLocks noGrp="1" noChangeArrowheads="1"/>
          </p:cNvSpPr>
          <p:nvPr>
            <p:ph type="body" idx="1"/>
          </p:nvPr>
        </p:nvSpPr>
        <p:spPr>
          <a:xfrm>
            <a:off x="250825" y="260350"/>
            <a:ext cx="8534400" cy="6019800"/>
          </a:xfrm>
        </p:spPr>
        <p:txBody>
          <a:bodyPr/>
          <a:lstStyle/>
          <a:p>
            <a:r>
              <a:rPr lang="zh-CN" altLang="en-US" b="1"/>
              <a:t>1957年10月4日，前苏联成功地发射了世界上第一颗人造地球卫星。1958年1月31日，美国也发射了自己的第一颗人造地球卫星。</a:t>
            </a:r>
          </a:p>
          <a:p>
            <a:r>
              <a:rPr lang="zh-CN" altLang="en-US" b="1"/>
              <a:t>1959年9月12日，前苏联发射“月球”2号探测器。</a:t>
            </a:r>
          </a:p>
          <a:p>
            <a:r>
              <a:rPr lang="zh-CN" altLang="en-US" b="1"/>
              <a:t>1961年4月12日，前苏联发射了世界上第一艘载人飞船，宇航员加加林在太空轨道上飞行108分钟，成为人类遨游太空的第一人。</a:t>
            </a:r>
          </a:p>
          <a:p>
            <a:r>
              <a:rPr lang="zh-CN" altLang="en-US" b="1"/>
              <a:t>1965年3月18日，前苏联“上升”2号飞船宇航员列昂诺夫走出舱外活动，第一次实现了人类太空行走。</a:t>
            </a:r>
          </a:p>
          <a:p>
            <a:endParaRPr lang="zh-CN" altLang="en-US" b="1"/>
          </a:p>
        </p:txBody>
      </p:sp>
    </p:spTree>
    <p:extLst>
      <p:ext uri="{BB962C8B-B14F-4D97-AF65-F5344CB8AC3E}">
        <p14:creationId xmlns:p14="http://schemas.microsoft.com/office/powerpoint/2010/main" val="3170939865"/>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500" fill="hold"/>
                                        <p:tgtEl>
                                          <p:spTgt spid="147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7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7459">
                                            <p:txEl>
                                              <p:pRg st="1" end="1"/>
                                            </p:txEl>
                                          </p:spTgt>
                                        </p:tgtEl>
                                        <p:attrNameLst>
                                          <p:attrName>style.visibility</p:attrName>
                                        </p:attrNameLst>
                                      </p:cBhvr>
                                      <p:to>
                                        <p:strVal val="visible"/>
                                      </p:to>
                                    </p:set>
                                    <p:anim calcmode="lin" valueType="num">
                                      <p:cBhvr additive="base">
                                        <p:cTn id="13" dur="500" fill="hold"/>
                                        <p:tgtEl>
                                          <p:spTgt spid="147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7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7459">
                                            <p:txEl>
                                              <p:pRg st="2" end="2"/>
                                            </p:txEl>
                                          </p:spTgt>
                                        </p:tgtEl>
                                        <p:attrNameLst>
                                          <p:attrName>style.visibility</p:attrName>
                                        </p:attrNameLst>
                                      </p:cBhvr>
                                      <p:to>
                                        <p:strVal val="visible"/>
                                      </p:to>
                                    </p:set>
                                    <p:anim calcmode="lin" valueType="num">
                                      <p:cBhvr additive="base">
                                        <p:cTn id="19" dur="500" fill="hold"/>
                                        <p:tgtEl>
                                          <p:spTgt spid="147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74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7459">
                                            <p:txEl>
                                              <p:pRg st="3" end="3"/>
                                            </p:txEl>
                                          </p:spTgt>
                                        </p:tgtEl>
                                        <p:attrNameLst>
                                          <p:attrName>style.visibility</p:attrName>
                                        </p:attrNameLst>
                                      </p:cBhvr>
                                      <p:to>
                                        <p:strVal val="visible"/>
                                      </p:to>
                                    </p:set>
                                    <p:anim calcmode="lin" valueType="num">
                                      <p:cBhvr additive="base">
                                        <p:cTn id="25" dur="500" fill="hold"/>
                                        <p:tgtEl>
                                          <p:spTgt spid="1474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745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83" name="Rectangle 3"/>
          <p:cNvSpPr>
            <a:spLocks noGrp="1" noChangeArrowheads="1"/>
          </p:cNvSpPr>
          <p:nvPr>
            <p:ph type="body" idx="1"/>
          </p:nvPr>
        </p:nvSpPr>
        <p:spPr>
          <a:xfrm>
            <a:off x="179388" y="620713"/>
            <a:ext cx="8534400" cy="5715000"/>
          </a:xfrm>
        </p:spPr>
        <p:txBody>
          <a:bodyPr/>
          <a:lstStyle/>
          <a:p>
            <a:r>
              <a:rPr lang="zh-CN" altLang="en-US" sz="2400" b="1" dirty="0"/>
              <a:t>1969年7月16日，美国“阿波罗”11号飞船飞入太空，7月21日，飞船飞抵月球，两名宇航员把人类的足迹第一次印在了月球上（阿姆斯特朗）。</a:t>
            </a:r>
          </a:p>
          <a:p>
            <a:r>
              <a:rPr lang="zh-CN" altLang="en-US" sz="2400" b="1" dirty="0"/>
              <a:t>1981年4月12日，世界上第一架航天飞机——美国“哥伦比亚”号航天飞机发射成功。</a:t>
            </a:r>
          </a:p>
          <a:p>
            <a:r>
              <a:rPr lang="zh-CN" altLang="en-US" sz="2400" b="1" dirty="0"/>
              <a:t>截至目前，全世界共进行</a:t>
            </a:r>
            <a:r>
              <a:rPr lang="zh-CN" altLang="en-US" sz="2400" b="1"/>
              <a:t>了2</a:t>
            </a:r>
            <a:r>
              <a:rPr lang="en-US" altLang="zh-CN" sz="2400" b="1"/>
              <a:t>5</a:t>
            </a:r>
            <a:r>
              <a:rPr lang="zh-CN" altLang="en-US" sz="2400" b="1"/>
              <a:t>0</a:t>
            </a:r>
            <a:r>
              <a:rPr lang="zh-CN" altLang="en-US" sz="2400" b="1" dirty="0"/>
              <a:t>多次载人航天</a:t>
            </a:r>
            <a:r>
              <a:rPr lang="zh-CN" altLang="en-US" sz="2400" b="1"/>
              <a:t>飞行，</a:t>
            </a:r>
            <a:r>
              <a:rPr lang="en-US" altLang="zh-CN" sz="2400" b="1"/>
              <a:t>9</a:t>
            </a:r>
            <a:r>
              <a:rPr lang="zh-CN" altLang="en-US" sz="2400" b="1"/>
              <a:t>00</a:t>
            </a:r>
            <a:r>
              <a:rPr lang="zh-CN" altLang="en-US" sz="2400" b="1" dirty="0"/>
              <a:t>多人次上天。</a:t>
            </a:r>
          </a:p>
          <a:p>
            <a:endParaRPr lang="zh-CN" altLang="en-US" sz="2400" b="1" dirty="0"/>
          </a:p>
        </p:txBody>
      </p:sp>
      <p:pic>
        <p:nvPicPr>
          <p:cNvPr id="81924" name="Picture 4" descr="https://pics2.baidu.com/feed/622762d0f703918fea647369d4a1c29d58eec407.jpeg@f_auto?token=73a9007d74cf42e250a9424f6e518385">
            <a:hlinkClick r:id="rId3"/>
            <a:extLst>
              <a:ext uri="{FF2B5EF4-FFF2-40B4-BE49-F238E27FC236}">
                <a16:creationId xmlns:a16="http://schemas.microsoft.com/office/drawing/2014/main" id="{3FD2A34C-0567-4642-9FC6-CBB32D3062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49213"/>
            <a:ext cx="60452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822879"/>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533400" y="0"/>
            <a:ext cx="7772400" cy="1143000"/>
          </a:xfrm>
        </p:spPr>
        <p:txBody>
          <a:bodyPr/>
          <a:lstStyle/>
          <a:p>
            <a:r>
              <a:rPr lang="zh-CN" altLang="en-US" dirty="0"/>
              <a:t>我国航天事业的发展</a:t>
            </a:r>
          </a:p>
        </p:txBody>
      </p:sp>
      <p:sp>
        <p:nvSpPr>
          <p:cNvPr id="151555" name="Rectangle 3"/>
          <p:cNvSpPr>
            <a:spLocks noGrp="1" noChangeArrowheads="1"/>
          </p:cNvSpPr>
          <p:nvPr>
            <p:ph type="body" idx="1"/>
          </p:nvPr>
        </p:nvSpPr>
        <p:spPr>
          <a:xfrm>
            <a:off x="107504" y="1052736"/>
            <a:ext cx="8915400" cy="5638800"/>
          </a:xfrm>
        </p:spPr>
        <p:txBody>
          <a:bodyPr/>
          <a:lstStyle/>
          <a:p>
            <a:pPr>
              <a:defRPr/>
            </a:pPr>
            <a:r>
              <a:rPr lang="zh-CN" altLang="en-US" sz="2200" b="1" kern="100" dirty="0"/>
              <a:t>　１９５６年１０月８日，中国第一个火箭导弹研制机构</a:t>
            </a:r>
            <a:r>
              <a:rPr lang="en-US" altLang="zh-CN" sz="2200" b="1" kern="100" dirty="0"/>
              <a:t>——</a:t>
            </a:r>
            <a:r>
              <a:rPr lang="zh-CN" altLang="en-US" sz="2200" b="1" kern="100" dirty="0"/>
              <a:t>国防部第五研究院成立，钱学森任院长。 </a:t>
            </a:r>
            <a:endParaRPr lang="en-US" altLang="zh-CN" sz="2200" b="1" kern="100" dirty="0"/>
          </a:p>
          <a:p>
            <a:pPr>
              <a:defRPr/>
            </a:pPr>
            <a:r>
              <a:rPr lang="zh-CN" altLang="en-US" sz="2200" b="1" kern="100" dirty="0"/>
              <a:t>１９６４年７月１９日，中国第一枚内载小白鼠的生物火箭在安徽广德发射成功，中国空间科学探测迈出了第一步。 </a:t>
            </a:r>
            <a:endParaRPr lang="en-US" altLang="zh-CN" sz="2200" b="1" kern="100" dirty="0"/>
          </a:p>
          <a:p>
            <a:pPr>
              <a:defRPr/>
            </a:pPr>
            <a:r>
              <a:rPr lang="en-US" altLang="zh-CN" sz="2200" b="1" kern="100" dirty="0"/>
              <a:t>1</a:t>
            </a:r>
            <a:r>
              <a:rPr lang="zh-CN" altLang="en-US" sz="2200" b="1" kern="100" dirty="0"/>
              <a:t>９６８年４月１日，中国航天医学工程研究所成立，开始选训宇航员和进行载人航天医学工程研究。 </a:t>
            </a:r>
          </a:p>
          <a:p>
            <a:pPr>
              <a:defRPr/>
            </a:pPr>
            <a:r>
              <a:rPr lang="zh-CN" altLang="en-US" sz="2200" b="1" kern="100" dirty="0"/>
              <a:t>１９７０年４月２４日，随着第一颗人造地球卫星“东方红”１号在酒泉发射成功，中国成为世界上第五个发射卫星的国家。 </a:t>
            </a:r>
          </a:p>
          <a:p>
            <a:pPr>
              <a:defRPr/>
            </a:pPr>
            <a:r>
              <a:rPr lang="zh-CN" altLang="en-US" sz="2200" b="1" kern="100" dirty="0"/>
              <a:t>１９７５年１１月２６日，首颗返回式卫星发射成功，３天后顺利返回，中国成为世界上第三个掌握卫星返回技术的国家。 </a:t>
            </a:r>
          </a:p>
          <a:p>
            <a:pPr>
              <a:defRPr/>
            </a:pPr>
            <a:r>
              <a:rPr lang="zh-CN" altLang="en-US" sz="2200" b="1" kern="100" dirty="0"/>
              <a:t>１９８８年９月７日，长征４号运载火箭在太原成功发射了风云１号Ａ气象卫星。 </a:t>
            </a:r>
          </a:p>
          <a:p>
            <a:pPr>
              <a:defRPr/>
            </a:pPr>
            <a:r>
              <a:rPr lang="zh-CN" altLang="en-US" sz="2200" b="1" kern="100" dirty="0"/>
              <a:t>　　１９９０年４月７日，“长征３号”运载火箭成功发射美国研制的“亚洲１号”卫星，中国在国际商业卫星发射服务市场中占有了一席之地。 </a:t>
            </a:r>
          </a:p>
        </p:txBody>
      </p:sp>
    </p:spTree>
    <p:extLst>
      <p:ext uri="{BB962C8B-B14F-4D97-AF65-F5344CB8AC3E}">
        <p14:creationId xmlns:p14="http://schemas.microsoft.com/office/powerpoint/2010/main" val="2840372013"/>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 calcmode="lin" valueType="num">
                                      <p:cBhvr additive="base">
                                        <p:cTn id="7" dur="500" fill="hold"/>
                                        <p:tgtEl>
                                          <p:spTgt spid="1515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15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1555">
                                            <p:txEl>
                                              <p:pRg st="1" end="1"/>
                                            </p:txEl>
                                          </p:spTgt>
                                        </p:tgtEl>
                                        <p:attrNameLst>
                                          <p:attrName>style.visibility</p:attrName>
                                        </p:attrNameLst>
                                      </p:cBhvr>
                                      <p:to>
                                        <p:strVal val="visible"/>
                                      </p:to>
                                    </p:set>
                                    <p:anim calcmode="lin" valueType="num">
                                      <p:cBhvr additive="base">
                                        <p:cTn id="13" dur="500" fill="hold"/>
                                        <p:tgtEl>
                                          <p:spTgt spid="1515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1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1555">
                                            <p:txEl>
                                              <p:pRg st="2" end="2"/>
                                            </p:txEl>
                                          </p:spTgt>
                                        </p:tgtEl>
                                        <p:attrNameLst>
                                          <p:attrName>style.visibility</p:attrName>
                                        </p:attrNameLst>
                                      </p:cBhvr>
                                      <p:to>
                                        <p:strVal val="visible"/>
                                      </p:to>
                                    </p:set>
                                    <p:anim calcmode="lin" valueType="num">
                                      <p:cBhvr additive="base">
                                        <p:cTn id="19" dur="500" fill="hold"/>
                                        <p:tgtEl>
                                          <p:spTgt spid="1515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15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1555">
                                            <p:txEl>
                                              <p:pRg st="3" end="3"/>
                                            </p:txEl>
                                          </p:spTgt>
                                        </p:tgtEl>
                                        <p:attrNameLst>
                                          <p:attrName>style.visibility</p:attrName>
                                        </p:attrNameLst>
                                      </p:cBhvr>
                                      <p:to>
                                        <p:strVal val="visible"/>
                                      </p:to>
                                    </p:set>
                                    <p:anim calcmode="lin" valueType="num">
                                      <p:cBhvr additive="base">
                                        <p:cTn id="25" dur="500" fill="hold"/>
                                        <p:tgtEl>
                                          <p:spTgt spid="1515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15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1555">
                                            <p:txEl>
                                              <p:pRg st="4" end="4"/>
                                            </p:txEl>
                                          </p:spTgt>
                                        </p:tgtEl>
                                        <p:attrNameLst>
                                          <p:attrName>style.visibility</p:attrName>
                                        </p:attrNameLst>
                                      </p:cBhvr>
                                      <p:to>
                                        <p:strVal val="visible"/>
                                      </p:to>
                                    </p:set>
                                    <p:anim calcmode="lin" valueType="num">
                                      <p:cBhvr additive="base">
                                        <p:cTn id="31" dur="500" fill="hold"/>
                                        <p:tgtEl>
                                          <p:spTgt spid="1515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15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1555">
                                            <p:txEl>
                                              <p:pRg st="5" end="5"/>
                                            </p:txEl>
                                          </p:spTgt>
                                        </p:tgtEl>
                                        <p:attrNameLst>
                                          <p:attrName>style.visibility</p:attrName>
                                        </p:attrNameLst>
                                      </p:cBhvr>
                                      <p:to>
                                        <p:strVal val="visible"/>
                                      </p:to>
                                    </p:set>
                                    <p:anim calcmode="lin" valueType="num">
                                      <p:cBhvr additive="base">
                                        <p:cTn id="37" dur="500" fill="hold"/>
                                        <p:tgtEl>
                                          <p:spTgt spid="15155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15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1555">
                                            <p:txEl>
                                              <p:pRg st="6" end="6"/>
                                            </p:txEl>
                                          </p:spTgt>
                                        </p:tgtEl>
                                        <p:attrNameLst>
                                          <p:attrName>style.visibility</p:attrName>
                                        </p:attrNameLst>
                                      </p:cBhvr>
                                      <p:to>
                                        <p:strVal val="visible"/>
                                      </p:to>
                                    </p:set>
                                    <p:anim calcmode="lin" valueType="num">
                                      <p:cBhvr additive="base">
                                        <p:cTn id="43" dur="500" fill="hold"/>
                                        <p:tgtEl>
                                          <p:spTgt spid="15155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155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7" name="Rectangle 3"/>
          <p:cNvSpPr>
            <a:spLocks noGrp="1" noChangeArrowheads="1"/>
          </p:cNvSpPr>
          <p:nvPr>
            <p:ph type="body" idx="1"/>
          </p:nvPr>
        </p:nvSpPr>
        <p:spPr>
          <a:xfrm>
            <a:off x="214313" y="0"/>
            <a:ext cx="8929687" cy="6858000"/>
          </a:xfrm>
        </p:spPr>
        <p:txBody>
          <a:bodyPr/>
          <a:lstStyle/>
          <a:p>
            <a:pPr>
              <a:defRPr/>
            </a:pPr>
            <a:r>
              <a:rPr lang="zh-CN" altLang="en-US" sz="2200" b="1" kern="100" dirty="0">
                <a:latin typeface="+mj-ea"/>
                <a:ea typeface="+mj-ea"/>
              </a:rPr>
              <a:t>１９９０年７月１６日，“长征”２号捆绑式火箭首次在西昌发射成功，为发射载人航天器打下了基础。 </a:t>
            </a:r>
          </a:p>
          <a:p>
            <a:pPr>
              <a:defRPr/>
            </a:pPr>
            <a:r>
              <a:rPr lang="zh-CN" altLang="en-US" sz="2200" b="1" kern="100" dirty="0">
                <a:latin typeface="+mj-ea"/>
                <a:ea typeface="+mj-ea"/>
              </a:rPr>
              <a:t>１９９２年，中国载人飞船正式列入国家计划进行研制，这项工程后来被定名为“神舟”号飞船载人航天工程。 </a:t>
            </a:r>
          </a:p>
        </p:txBody>
      </p:sp>
      <p:sp>
        <p:nvSpPr>
          <p:cNvPr id="51203" name="矩形 3"/>
          <p:cNvSpPr>
            <a:spLocks noChangeArrowheads="1"/>
          </p:cNvSpPr>
          <p:nvPr/>
        </p:nvSpPr>
        <p:spPr bwMode="auto">
          <a:xfrm>
            <a:off x="428625" y="1895475"/>
            <a:ext cx="86439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atinLnBrk="1">
              <a:spcBef>
                <a:spcPct val="20000"/>
              </a:spcBef>
            </a:pPr>
            <a:r>
              <a:rPr lang="en-US" altLang="zh-CN" b="1"/>
              <a:t>2007</a:t>
            </a:r>
            <a:r>
              <a:rPr lang="en-US" b="1"/>
              <a:t>年</a:t>
            </a:r>
            <a:r>
              <a:rPr lang="en-US" altLang="zh-CN" b="1"/>
              <a:t>10</a:t>
            </a:r>
            <a:r>
              <a:rPr lang="en-US" b="1"/>
              <a:t>月</a:t>
            </a:r>
            <a:r>
              <a:rPr lang="en-US" altLang="zh-CN" b="1"/>
              <a:t>24</a:t>
            </a:r>
            <a:r>
              <a:rPr lang="en-US" b="1"/>
              <a:t>日，嫦娥一号卫星由长征三号甲运载火箭在西昌卫星发射中心发射成功。</a:t>
            </a:r>
            <a:r>
              <a:rPr lang="zh-CN" altLang="en-US" b="1"/>
              <a:t>是中国自主研制并发射的首个</a:t>
            </a:r>
            <a:r>
              <a:rPr lang="zh-CN" altLang="en-US" b="1">
                <a:hlinkClick r:id="rId2" action="ppaction://hlinkfile"/>
              </a:rPr>
              <a:t>月球探测器</a:t>
            </a:r>
            <a:r>
              <a:rPr lang="zh-CN" altLang="en-US" b="1"/>
              <a:t>。</a:t>
            </a:r>
            <a:endParaRPr lang="en-US" altLang="zh-CN" b="1"/>
          </a:p>
        </p:txBody>
      </p:sp>
      <p:pic>
        <p:nvPicPr>
          <p:cNvPr id="51204" name="Picture 2" descr="http://imgsrc.baidu.com/baike/pic/item/dc15484e5e3d1229b3de05a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3286125"/>
            <a:ext cx="32385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矩形 5"/>
          <p:cNvSpPr>
            <a:spLocks noChangeArrowheads="1"/>
          </p:cNvSpPr>
          <p:nvPr/>
        </p:nvSpPr>
        <p:spPr bwMode="auto">
          <a:xfrm>
            <a:off x="1643063" y="592931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en-US"/>
              <a:t>嫦娥一号</a:t>
            </a:r>
          </a:p>
        </p:txBody>
      </p:sp>
      <p:pic>
        <p:nvPicPr>
          <p:cNvPr id="51206" name="Picture 2" descr="http://imgsrc.baidu.com/baike/pic/item/0e655ca77b87fa86d043586c.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2857500"/>
            <a:ext cx="3500437"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5929313" y="6396038"/>
            <a:ext cx="1616075" cy="461962"/>
          </a:xfrm>
          <a:prstGeom prst="rect">
            <a:avLst/>
          </a:prstGeom>
        </p:spPr>
        <p:txBody>
          <a:bodyPr>
            <a:spAutoFit/>
          </a:bodyPr>
          <a:lstStyle/>
          <a:p>
            <a:pPr>
              <a:spcBef>
                <a:spcPct val="20000"/>
              </a:spcBef>
              <a:defRPr/>
            </a:pPr>
            <a:r>
              <a:rPr lang="zh-CN" altLang="en-US" b="1" kern="100" dirty="0">
                <a:latin typeface="+mj-ea"/>
              </a:rPr>
              <a:t>神舟</a:t>
            </a:r>
            <a:endParaRPr lang="en-US" dirty="0"/>
          </a:p>
        </p:txBody>
      </p:sp>
    </p:spTree>
    <p:extLst>
      <p:ext uri="{BB962C8B-B14F-4D97-AF65-F5344CB8AC3E}">
        <p14:creationId xmlns:p14="http://schemas.microsoft.com/office/powerpoint/2010/main" val="4202014789"/>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additive="base">
                                        <p:cTn id="7" dur="500" fill="hold"/>
                                        <p:tgtEl>
                                          <p:spTgt spid="149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9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507">
                                            <p:txEl>
                                              <p:pRg st="1" end="1"/>
                                            </p:txEl>
                                          </p:spTgt>
                                        </p:tgtEl>
                                        <p:attrNameLst>
                                          <p:attrName>style.visibility</p:attrName>
                                        </p:attrNameLst>
                                      </p:cBhvr>
                                      <p:to>
                                        <p:strVal val="visible"/>
                                      </p:to>
                                    </p:set>
                                    <p:anim calcmode="lin" valueType="num">
                                      <p:cBhvr additive="base">
                                        <p:cTn id="13" dur="500" fill="hold"/>
                                        <p:tgtEl>
                                          <p:spTgt spid="1495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95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51203"/>
                                        </p:tgtEl>
                                        <p:attrNameLst>
                                          <p:attrName>style.visibility</p:attrName>
                                        </p:attrNameLst>
                                      </p:cBhvr>
                                      <p:to>
                                        <p:strVal val="visible"/>
                                      </p:to>
                                    </p:set>
                                    <p:animEffect transition="in" filter="blinds(horizontal)">
                                      <p:cBhvr>
                                        <p:cTn id="19" dur="500"/>
                                        <p:tgtEl>
                                          <p:spTgt spid="51203"/>
                                        </p:tgtEl>
                                      </p:cBhvr>
                                    </p:animEffect>
                                  </p:childTnLst>
                                </p:cTn>
                              </p:par>
                              <p:par>
                                <p:cTn id="20" presetID="3" presetClass="entr" presetSubtype="10" fill="hold" nodeType="withEffect">
                                  <p:stCondLst>
                                    <p:cond delay="0"/>
                                  </p:stCondLst>
                                  <p:childTnLst>
                                    <p:set>
                                      <p:cBhvr>
                                        <p:cTn id="21" dur="1" fill="hold">
                                          <p:stCondLst>
                                            <p:cond delay="0"/>
                                          </p:stCondLst>
                                        </p:cTn>
                                        <p:tgtEl>
                                          <p:spTgt spid="51204"/>
                                        </p:tgtEl>
                                        <p:attrNameLst>
                                          <p:attrName>style.visibility</p:attrName>
                                        </p:attrNameLst>
                                      </p:cBhvr>
                                      <p:to>
                                        <p:strVal val="visible"/>
                                      </p:to>
                                    </p:set>
                                    <p:animEffect transition="in" filter="blinds(horizontal)">
                                      <p:cBhvr>
                                        <p:cTn id="22" dur="500"/>
                                        <p:tgtEl>
                                          <p:spTgt spid="5120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1205"/>
                                        </p:tgtEl>
                                        <p:attrNameLst>
                                          <p:attrName>style.visibility</p:attrName>
                                        </p:attrNameLst>
                                      </p:cBhvr>
                                      <p:to>
                                        <p:strVal val="visible"/>
                                      </p:to>
                                    </p:set>
                                    <p:animEffect transition="in" filter="blinds(horizontal)">
                                      <p:cBhvr>
                                        <p:cTn id="25" dur="500"/>
                                        <p:tgtEl>
                                          <p:spTgt spid="5120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51206"/>
                                        </p:tgtEl>
                                        <p:attrNameLst>
                                          <p:attrName>style.visibility</p:attrName>
                                        </p:attrNameLst>
                                      </p:cBhvr>
                                      <p:to>
                                        <p:strVal val="visible"/>
                                      </p:to>
                                    </p:set>
                                    <p:animEffect transition="in" filter="blinds(horizontal)">
                                      <p:cBhvr>
                                        <p:cTn id="30" dur="500"/>
                                        <p:tgtEl>
                                          <p:spTgt spid="5120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linds(horizontal)">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autoUpdateAnimBg="0"/>
      <p:bldP spid="51203" grpId="0"/>
      <p:bldP spid="51205" grpId="0"/>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矩形 3"/>
          <p:cNvSpPr>
            <a:spLocks noChangeArrowheads="1"/>
          </p:cNvSpPr>
          <p:nvPr/>
        </p:nvSpPr>
        <p:spPr bwMode="auto">
          <a:xfrm>
            <a:off x="250825" y="188913"/>
            <a:ext cx="86439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atinLnBrk="1">
              <a:spcBef>
                <a:spcPct val="20000"/>
              </a:spcBef>
            </a:pPr>
            <a:r>
              <a:rPr lang="zh-CN" altLang="en-US" b="1"/>
              <a:t>嫦娥二号于</a:t>
            </a:r>
            <a:r>
              <a:rPr lang="en-US" altLang="zh-CN" b="1"/>
              <a:t>2010</a:t>
            </a:r>
            <a:r>
              <a:rPr lang="zh-CN" altLang="en-US" b="1"/>
              <a:t>年</a:t>
            </a:r>
            <a:r>
              <a:rPr lang="en-US" altLang="zh-CN" b="1"/>
              <a:t>10</a:t>
            </a:r>
            <a:r>
              <a:rPr lang="zh-CN" altLang="en-US" b="1"/>
              <a:t>月</a:t>
            </a:r>
            <a:r>
              <a:rPr lang="en-US" altLang="zh-CN" b="1"/>
              <a:t>1</a:t>
            </a:r>
            <a:r>
              <a:rPr lang="zh-CN" altLang="en-US" b="1"/>
              <a:t>日</a:t>
            </a:r>
            <a:r>
              <a:rPr lang="en-US" altLang="zh-CN" b="1"/>
              <a:t>18</a:t>
            </a:r>
            <a:r>
              <a:rPr lang="zh-CN" altLang="en-US" b="1"/>
              <a:t>时</a:t>
            </a:r>
            <a:r>
              <a:rPr lang="en-US" altLang="zh-CN" b="1"/>
              <a:t>59</a:t>
            </a:r>
            <a:r>
              <a:rPr lang="zh-CN" altLang="en-US" b="1"/>
              <a:t>分</a:t>
            </a:r>
            <a:r>
              <a:rPr lang="en-US" altLang="zh-CN" b="1"/>
              <a:t>57</a:t>
            </a:r>
            <a:r>
              <a:rPr lang="zh-CN" altLang="en-US" b="1"/>
              <a:t>秒发射 </a:t>
            </a:r>
            <a:r>
              <a:rPr lang="en-US" b="1"/>
              <a:t>，由长征三号</a:t>
            </a:r>
            <a:r>
              <a:rPr lang="zh-CN" altLang="en-US" b="1"/>
              <a:t>丙</a:t>
            </a:r>
            <a:r>
              <a:rPr lang="en-US" b="1"/>
              <a:t>运载火箭在西昌卫星发射中心发射成功。</a:t>
            </a:r>
            <a:r>
              <a:rPr lang="zh-CN" altLang="en-US" b="1"/>
              <a:t>是中国自主研制并发射的第二个</a:t>
            </a:r>
            <a:r>
              <a:rPr lang="zh-CN" altLang="en-US" b="1">
                <a:hlinkClick r:id="rId2" action="ppaction://hlinkfile"/>
              </a:rPr>
              <a:t>月球探测器</a:t>
            </a:r>
            <a:r>
              <a:rPr lang="zh-CN" altLang="en-US" b="1"/>
              <a:t>。</a:t>
            </a:r>
            <a:endParaRPr lang="en-US" altLang="zh-CN" b="1"/>
          </a:p>
        </p:txBody>
      </p:sp>
      <p:sp>
        <p:nvSpPr>
          <p:cNvPr id="2" name="矩形 1"/>
          <p:cNvSpPr/>
          <p:nvPr/>
        </p:nvSpPr>
        <p:spPr>
          <a:xfrm>
            <a:off x="4392488" y="1037049"/>
            <a:ext cx="4572000" cy="5632311"/>
          </a:xfrm>
          <a:prstGeom prst="rect">
            <a:avLst/>
          </a:prstGeom>
        </p:spPr>
        <p:txBody>
          <a:bodyPr>
            <a:spAutoFit/>
          </a:bodyPr>
          <a:lstStyle/>
          <a:p>
            <a:r>
              <a:rPr lang="zh-CN" altLang="en-US" dirty="0"/>
              <a:t>嫦娥三号卫星简称嫦娥三号，是</a:t>
            </a:r>
            <a:r>
              <a:rPr lang="zh-CN" altLang="en-US" u="sng" dirty="0">
                <a:hlinkClick r:id="rId3"/>
              </a:rPr>
              <a:t>嫦娥</a:t>
            </a:r>
            <a:r>
              <a:rPr lang="zh-CN" altLang="en-US" dirty="0"/>
              <a:t>绕月</a:t>
            </a:r>
            <a:r>
              <a:rPr lang="zh-CN" altLang="en-US" u="sng" dirty="0">
                <a:hlinkClick r:id="rId4"/>
              </a:rPr>
              <a:t>探月工程</a:t>
            </a:r>
            <a:r>
              <a:rPr lang="zh-CN" altLang="en-US" dirty="0"/>
              <a:t>计划中嫦娥系列的第三颗人造绕月探月卫星。嫦娥三号任务是探月工程二期的关键任务，将突破月球软着陆、月面巡视勘察、月面生存、深空测控通信与遥操作、运载火箭直接进入地月转移轨道等关键技术，实现中国首次对地外天体的直接探测。“嫦娥三号”最大的特点是携带有一部“中华牌”</a:t>
            </a:r>
            <a:r>
              <a:rPr lang="zh-CN" altLang="en-US" u="sng" dirty="0">
                <a:hlinkClick r:id="rId5"/>
              </a:rPr>
              <a:t>月球车</a:t>
            </a:r>
            <a:r>
              <a:rPr lang="zh-CN" altLang="en-US" dirty="0"/>
              <a:t>，实现月球表面探测。</a:t>
            </a:r>
            <a:r>
              <a:rPr lang="en-US" altLang="zh-CN" dirty="0"/>
              <a:t>2012</a:t>
            </a:r>
            <a:r>
              <a:rPr lang="zh-CN" altLang="en-US" dirty="0"/>
              <a:t>年</a:t>
            </a:r>
            <a:r>
              <a:rPr lang="en-US" altLang="zh-CN" dirty="0"/>
              <a:t>7</a:t>
            </a:r>
            <a:r>
              <a:rPr lang="zh-CN" altLang="en-US" dirty="0"/>
              <a:t>月</a:t>
            </a:r>
            <a:r>
              <a:rPr lang="en-US" altLang="zh-CN" dirty="0"/>
              <a:t>30</a:t>
            </a:r>
            <a:r>
              <a:rPr lang="zh-CN" altLang="en-US" dirty="0"/>
              <a:t>日，</a:t>
            </a:r>
            <a:r>
              <a:rPr lang="zh-CN" altLang="en-US" u="sng" dirty="0">
                <a:hlinkClick r:id="rId6"/>
              </a:rPr>
              <a:t>国防科技工业局</a:t>
            </a:r>
            <a:r>
              <a:rPr lang="zh-CN" altLang="en-US" dirty="0"/>
              <a:t>宣布，“嫦娥三号”将于</a:t>
            </a:r>
            <a:r>
              <a:rPr lang="en-US" altLang="zh-CN" dirty="0"/>
              <a:t>2013</a:t>
            </a:r>
            <a:r>
              <a:rPr lang="zh-CN" altLang="en-US" dirty="0"/>
              <a:t>年下半年择机发射。</a:t>
            </a:r>
          </a:p>
        </p:txBody>
      </p:sp>
      <p:sp>
        <p:nvSpPr>
          <p:cNvPr id="4" name="Rectangle 4"/>
          <p:cNvSpPr>
            <a:spLocks noChangeArrowheads="1"/>
          </p:cNvSpPr>
          <p:nvPr/>
        </p:nvSpPr>
        <p:spPr bwMode="auto">
          <a:xfrm>
            <a:off x="4318000" y="0"/>
            <a:ext cx="508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900" b="1" i="0" u="none" strike="noStrike" cap="none" normalizeH="0" baseline="0">
                <a:ln>
                  <a:noFill/>
                </a:ln>
                <a:solidFill>
                  <a:srgbClr val="FFFFFF"/>
                </a:solidFill>
                <a:effectLst/>
                <a:latin typeface="Arial" pitchFamily="34" charset="0"/>
                <a:ea typeface="宋体" pitchFamily="2" charset="-122"/>
                <a:cs typeface="Arial" pitchFamily="34" charset="0"/>
              </a:rPr>
              <a:t>1 / 13</a:t>
            </a:r>
            <a:endParaRPr kumimoji="0" lang="zh-CN" altLang="zh-CN" sz="900" b="0" i="0" u="none" strike="noStrike" cap="none" normalizeH="0" baseline="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rPr>
            </a:b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pic>
        <p:nvPicPr>
          <p:cNvPr id="78851" name="Picture 3" descr="http://imgsrc.baidu.com/baike/pic/item/dc854fda9bc9939cb6fd48ee.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20" y="1484784"/>
            <a:ext cx="4104928" cy="1974900"/>
          </a:xfrm>
          <a:prstGeom prst="rect">
            <a:avLst/>
          </a:prstGeom>
          <a:noFill/>
          <a:extLst>
            <a:ext uri="{909E8E84-426E-40DD-AFC4-6F175D3DCCD1}">
              <a14:hiddenFill xmlns:a14="http://schemas.microsoft.com/office/drawing/2010/main">
                <a:solidFill>
                  <a:srgbClr val="FFFFFF"/>
                </a:solidFill>
              </a14:hiddenFill>
            </a:ext>
          </a:extLst>
        </p:spPr>
      </p:pic>
      <p:pic>
        <p:nvPicPr>
          <p:cNvPr id="78854" name="Picture 6" descr="http://imgsrc.baidu.com/baike/pic/item/c8177f3e6709c93d09147e6c9f3df8dcd0005442.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13" y="3717032"/>
            <a:ext cx="4277073" cy="2844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25624"/>
      </p:ext>
    </p:extLst>
  </p:cSld>
  <p:clrMapOvr>
    <a:masterClrMapping/>
  </p:clrMapOvr>
  <p:transition>
    <p:checker dir="ver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矩形 1"/>
          <p:cNvSpPr>
            <a:spLocks noChangeArrowheads="1"/>
          </p:cNvSpPr>
          <p:nvPr/>
        </p:nvSpPr>
        <p:spPr bwMode="auto">
          <a:xfrm>
            <a:off x="0" y="450850"/>
            <a:ext cx="9072563" cy="636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1900" dirty="0"/>
              <a:t>　　</a:t>
            </a:r>
            <a:r>
              <a:rPr lang="zh-CN" altLang="en-US" sz="1900" b="1" dirty="0">
                <a:hlinkClick r:id="rId2" action="ppaction://hlinkfile"/>
              </a:rPr>
              <a:t>神舟一号</a:t>
            </a:r>
            <a:r>
              <a:rPr lang="zh-CN" altLang="en-US" sz="1900" b="1" dirty="0"/>
              <a:t>（无人）</a:t>
            </a:r>
            <a:r>
              <a:rPr lang="zh-CN" altLang="en-US" sz="1900" dirty="0"/>
              <a:t>时间：</a:t>
            </a:r>
            <a:r>
              <a:rPr lang="en-US" altLang="zh-CN" sz="1900" dirty="0"/>
              <a:t>1999</a:t>
            </a:r>
            <a:r>
              <a:rPr lang="zh-CN" altLang="en-US" sz="1900" dirty="0"/>
              <a:t>年</a:t>
            </a:r>
            <a:r>
              <a:rPr lang="en-US" altLang="zh-CN" sz="1900" dirty="0"/>
              <a:t>11</a:t>
            </a:r>
            <a:r>
              <a:rPr lang="zh-CN" altLang="en-US" sz="1900" dirty="0"/>
              <a:t>月</a:t>
            </a:r>
            <a:r>
              <a:rPr lang="en-US" altLang="zh-CN" sz="1900" dirty="0"/>
              <a:t>20</a:t>
            </a:r>
            <a:r>
              <a:rPr lang="zh-CN" altLang="en-US" sz="1900" dirty="0"/>
              <a:t>日</a:t>
            </a:r>
            <a:r>
              <a:rPr lang="en-US" altLang="zh-CN" sz="1900" dirty="0"/>
              <a:t>6</a:t>
            </a:r>
            <a:r>
              <a:rPr lang="zh-CN" altLang="en-US" sz="1900" dirty="0"/>
              <a:t>时发射，</a:t>
            </a:r>
            <a:r>
              <a:rPr lang="en-US" altLang="zh-CN" sz="1900" dirty="0"/>
              <a:t>21</a:t>
            </a:r>
            <a:r>
              <a:rPr lang="zh-CN" altLang="en-US" sz="1900" dirty="0"/>
              <a:t>日回收 </a:t>
            </a:r>
            <a:endParaRPr lang="en-US" altLang="zh-CN" sz="1900" dirty="0"/>
          </a:p>
          <a:p>
            <a:pPr>
              <a:spcBef>
                <a:spcPct val="20000"/>
              </a:spcBef>
            </a:pPr>
            <a:r>
              <a:rPr lang="en-US" altLang="zh-CN" sz="1900" dirty="0"/>
              <a:t>         </a:t>
            </a:r>
            <a:r>
              <a:rPr lang="zh-CN" altLang="en-US" sz="1900" dirty="0"/>
              <a:t>发射地点：酒泉卫星发射中心 　　回收地点：内蒙古中部 </a:t>
            </a:r>
            <a:br>
              <a:rPr lang="zh-CN" altLang="en-US" sz="1900" dirty="0"/>
            </a:br>
            <a:r>
              <a:rPr lang="zh-CN" altLang="en-US" sz="1900" dirty="0"/>
              <a:t>　　</a:t>
            </a:r>
            <a:r>
              <a:rPr lang="zh-CN" altLang="en-US" sz="1900" b="1" dirty="0">
                <a:hlinkClick r:id="rId3" action="ppaction://hlinkfile"/>
              </a:rPr>
              <a:t>神舟二号</a:t>
            </a:r>
            <a:r>
              <a:rPr lang="zh-CN" altLang="en-US" sz="1900" b="1" dirty="0"/>
              <a:t>（无人） </a:t>
            </a:r>
            <a:r>
              <a:rPr lang="zh-CN" altLang="en-US" sz="1900" dirty="0"/>
              <a:t>时间：</a:t>
            </a:r>
            <a:r>
              <a:rPr lang="en-US" altLang="zh-CN" sz="1900" dirty="0"/>
              <a:t>2001</a:t>
            </a:r>
            <a:r>
              <a:rPr lang="zh-CN" altLang="en-US" sz="1900" dirty="0"/>
              <a:t>年</a:t>
            </a:r>
            <a:r>
              <a:rPr lang="en-US" altLang="zh-CN" sz="1900" dirty="0"/>
              <a:t>01</a:t>
            </a:r>
            <a:r>
              <a:rPr lang="zh-CN" altLang="en-US" sz="1900" dirty="0"/>
              <a:t>月</a:t>
            </a:r>
            <a:r>
              <a:rPr lang="en-US" altLang="zh-CN" sz="1900" dirty="0"/>
              <a:t>10</a:t>
            </a:r>
            <a:r>
              <a:rPr lang="zh-CN" altLang="en-US" sz="1900" dirty="0"/>
              <a:t>日</a:t>
            </a:r>
            <a:r>
              <a:rPr lang="en-US" altLang="zh-CN" sz="1900" dirty="0"/>
              <a:t>1</a:t>
            </a:r>
            <a:r>
              <a:rPr lang="zh-CN" altLang="en-US" sz="1900" dirty="0"/>
              <a:t>时发射，</a:t>
            </a:r>
            <a:r>
              <a:rPr lang="en-US" altLang="zh-CN" sz="1900" dirty="0"/>
              <a:t>1</a:t>
            </a:r>
            <a:r>
              <a:rPr lang="zh-CN" altLang="en-US" sz="1900" dirty="0"/>
              <a:t>月</a:t>
            </a:r>
            <a:r>
              <a:rPr lang="en-US" altLang="zh-CN" sz="1900" dirty="0"/>
              <a:t>16</a:t>
            </a:r>
            <a:r>
              <a:rPr lang="zh-CN" altLang="en-US" sz="1900" dirty="0"/>
              <a:t>日回收 </a:t>
            </a:r>
            <a:br>
              <a:rPr lang="zh-CN" altLang="en-US" sz="1900" dirty="0"/>
            </a:br>
            <a:r>
              <a:rPr lang="zh-CN" altLang="en-US" sz="1900" dirty="0"/>
              <a:t>　　地点：酒泉卫星发射中心 　　回收地点：内蒙古中部 </a:t>
            </a:r>
            <a:br>
              <a:rPr lang="zh-CN" altLang="en-US" sz="1900" dirty="0"/>
            </a:br>
            <a:r>
              <a:rPr lang="zh-CN" altLang="en-US" sz="1900" dirty="0"/>
              <a:t>　　</a:t>
            </a:r>
            <a:r>
              <a:rPr lang="zh-CN" altLang="en-US" sz="1900" b="1" dirty="0">
                <a:hlinkClick r:id="rId4" action="ppaction://hlinkfile"/>
              </a:rPr>
              <a:t>神舟三号</a:t>
            </a:r>
            <a:r>
              <a:rPr lang="zh-CN" altLang="en-US" sz="1900" b="1" dirty="0"/>
              <a:t>（无人）</a:t>
            </a:r>
            <a:r>
              <a:rPr lang="zh-CN" altLang="en-US" sz="1900" dirty="0"/>
              <a:t>时间：</a:t>
            </a:r>
            <a:r>
              <a:rPr lang="en-US" altLang="zh-CN" sz="1900" dirty="0"/>
              <a:t>2002</a:t>
            </a:r>
            <a:r>
              <a:rPr lang="zh-CN" altLang="en-US" sz="1900" dirty="0"/>
              <a:t>年</a:t>
            </a:r>
            <a:r>
              <a:rPr lang="en-US" altLang="zh-CN" sz="1900" dirty="0"/>
              <a:t>03</a:t>
            </a:r>
            <a:r>
              <a:rPr lang="zh-CN" altLang="en-US" sz="1900" dirty="0"/>
              <a:t>月</a:t>
            </a:r>
            <a:r>
              <a:rPr lang="en-US" altLang="zh-CN" sz="1900" dirty="0"/>
              <a:t>25</a:t>
            </a:r>
            <a:r>
              <a:rPr lang="zh-CN" altLang="en-US" sz="1900" dirty="0"/>
              <a:t>日</a:t>
            </a:r>
            <a:r>
              <a:rPr lang="en-US" altLang="zh-CN" sz="1900" dirty="0"/>
              <a:t>22</a:t>
            </a:r>
            <a:r>
              <a:rPr lang="zh-CN" altLang="en-US" sz="1900" dirty="0"/>
              <a:t>时发射，</a:t>
            </a:r>
            <a:r>
              <a:rPr lang="en-US" altLang="zh-CN" sz="1900" dirty="0"/>
              <a:t>4</a:t>
            </a:r>
            <a:r>
              <a:rPr lang="zh-CN" altLang="en-US" sz="1900" dirty="0"/>
              <a:t>月</a:t>
            </a:r>
            <a:r>
              <a:rPr lang="en-US" altLang="zh-CN" sz="1900" dirty="0"/>
              <a:t>1</a:t>
            </a:r>
            <a:r>
              <a:rPr lang="zh-CN" altLang="en-US" sz="1900" dirty="0"/>
              <a:t>日回收 </a:t>
            </a:r>
            <a:br>
              <a:rPr lang="zh-CN" altLang="en-US" sz="1900" dirty="0"/>
            </a:br>
            <a:r>
              <a:rPr lang="zh-CN" altLang="en-US" sz="1900" dirty="0"/>
              <a:t>　　地点：酒泉卫星发射中心 　　回收地点：内蒙古中部 </a:t>
            </a:r>
            <a:br>
              <a:rPr lang="zh-CN" altLang="en-US" sz="1900" dirty="0"/>
            </a:br>
            <a:r>
              <a:rPr lang="zh-CN" altLang="en-US" sz="1900" dirty="0"/>
              <a:t>　　</a:t>
            </a:r>
            <a:r>
              <a:rPr lang="zh-CN" altLang="en-US" sz="1900" b="1" dirty="0">
                <a:hlinkClick r:id="rId5" action="ppaction://hlinkfile"/>
              </a:rPr>
              <a:t>神舟四号</a:t>
            </a:r>
            <a:r>
              <a:rPr lang="zh-CN" altLang="en-US" sz="1900" dirty="0"/>
              <a:t>（无人）时间：</a:t>
            </a:r>
            <a:r>
              <a:rPr lang="en-US" altLang="zh-CN" sz="1900" dirty="0"/>
              <a:t>2002</a:t>
            </a:r>
            <a:r>
              <a:rPr lang="zh-CN" altLang="en-US" sz="1900" dirty="0"/>
              <a:t>年</a:t>
            </a:r>
            <a:r>
              <a:rPr lang="en-US" altLang="zh-CN" sz="1900" dirty="0"/>
              <a:t>12</a:t>
            </a:r>
            <a:r>
              <a:rPr lang="zh-CN" altLang="en-US" sz="1900" dirty="0"/>
              <a:t>月</a:t>
            </a:r>
            <a:r>
              <a:rPr lang="en-US" altLang="zh-CN" sz="1900" dirty="0"/>
              <a:t>30</a:t>
            </a:r>
            <a:r>
              <a:rPr lang="zh-CN" altLang="en-US" sz="1900" dirty="0"/>
              <a:t>日零时发射，</a:t>
            </a:r>
            <a:r>
              <a:rPr lang="en-US" altLang="zh-CN" sz="1900" dirty="0"/>
              <a:t>2003</a:t>
            </a:r>
            <a:r>
              <a:rPr lang="zh-CN" altLang="en-US" sz="1900" dirty="0"/>
              <a:t>年</a:t>
            </a:r>
            <a:r>
              <a:rPr lang="en-US" altLang="zh-CN" sz="1900" dirty="0"/>
              <a:t>1</a:t>
            </a:r>
            <a:r>
              <a:rPr lang="zh-CN" altLang="en-US" sz="1900" dirty="0"/>
              <a:t>月</a:t>
            </a:r>
            <a:r>
              <a:rPr lang="en-US" altLang="zh-CN" sz="1900" dirty="0"/>
              <a:t>5</a:t>
            </a:r>
            <a:r>
              <a:rPr lang="zh-CN" altLang="en-US" sz="1900" dirty="0"/>
              <a:t>日回收 </a:t>
            </a:r>
            <a:br>
              <a:rPr lang="zh-CN" altLang="en-US" sz="1900" dirty="0"/>
            </a:br>
            <a:r>
              <a:rPr lang="zh-CN" altLang="en-US" sz="1900" dirty="0"/>
              <a:t>　　地点：酒泉卫星发射中心 　　回收地点：内蒙古中部 </a:t>
            </a:r>
            <a:br>
              <a:rPr lang="zh-CN" altLang="en-US" sz="1900" dirty="0"/>
            </a:br>
            <a:r>
              <a:rPr lang="zh-CN" altLang="en-US" sz="1900" dirty="0"/>
              <a:t>　　</a:t>
            </a:r>
            <a:r>
              <a:rPr lang="zh-CN" altLang="en-US" sz="1900" b="1" dirty="0">
                <a:hlinkClick r:id="rId6" action="ppaction://hlinkfile"/>
              </a:rPr>
              <a:t>神舟五号</a:t>
            </a:r>
            <a:r>
              <a:rPr lang="zh-CN" altLang="en-US" sz="1900" b="1" dirty="0"/>
              <a:t>（载人</a:t>
            </a:r>
            <a:r>
              <a:rPr lang="en-US" altLang="zh-CN" sz="1900" b="1" dirty="0"/>
              <a:t>1</a:t>
            </a:r>
            <a:r>
              <a:rPr lang="zh-CN" altLang="en-US" sz="1900" b="1" dirty="0"/>
              <a:t>）</a:t>
            </a:r>
            <a:r>
              <a:rPr lang="zh-CN" altLang="en-US" sz="1900" dirty="0"/>
              <a:t>时间：</a:t>
            </a:r>
            <a:r>
              <a:rPr lang="en-US" altLang="zh-CN" sz="1900" dirty="0"/>
              <a:t>2003</a:t>
            </a:r>
            <a:r>
              <a:rPr lang="zh-CN" altLang="en-US" sz="1900" dirty="0"/>
              <a:t>年</a:t>
            </a:r>
            <a:r>
              <a:rPr lang="en-US" altLang="zh-CN" sz="1900" dirty="0"/>
              <a:t>10</a:t>
            </a:r>
            <a:r>
              <a:rPr lang="zh-CN" altLang="en-US" sz="1900" dirty="0"/>
              <a:t>月</a:t>
            </a:r>
            <a:r>
              <a:rPr lang="en-US" altLang="zh-CN" sz="1900" dirty="0"/>
              <a:t>15</a:t>
            </a:r>
            <a:r>
              <a:rPr lang="zh-CN" altLang="en-US" sz="1900" dirty="0"/>
              <a:t>日</a:t>
            </a:r>
            <a:r>
              <a:rPr lang="en-US" altLang="zh-CN" sz="1900" dirty="0"/>
              <a:t>9</a:t>
            </a:r>
            <a:r>
              <a:rPr lang="zh-CN" altLang="en-US" sz="1900" dirty="0"/>
              <a:t>时整发射，</a:t>
            </a:r>
            <a:r>
              <a:rPr lang="en-US" altLang="zh-CN" sz="1900" dirty="0"/>
              <a:t>21</a:t>
            </a:r>
            <a:r>
              <a:rPr lang="zh-CN" altLang="en-US" sz="1900" dirty="0"/>
              <a:t>小时后回收 </a:t>
            </a:r>
            <a:br>
              <a:rPr lang="zh-CN" altLang="en-US" sz="1900" dirty="0"/>
            </a:br>
            <a:r>
              <a:rPr lang="zh-CN" altLang="en-US" sz="1900" dirty="0"/>
              <a:t>　　地点：酒泉卫星发射中心 　　回收地点：内蒙古中部四子王旗 </a:t>
            </a:r>
            <a:br>
              <a:rPr lang="zh-CN" altLang="en-US" sz="1900" dirty="0"/>
            </a:br>
            <a:r>
              <a:rPr lang="zh-CN" altLang="en-US" sz="1900" dirty="0"/>
              <a:t>　　搭载人数</a:t>
            </a:r>
            <a:r>
              <a:rPr lang="en-US" altLang="zh-CN" sz="1900" dirty="0"/>
              <a:t>1</a:t>
            </a:r>
            <a:r>
              <a:rPr lang="zh-CN" altLang="en-US" sz="1900" dirty="0"/>
              <a:t>人：杨利伟 　　宇航员梯队：杨利伟、翟志刚、聂海胜</a:t>
            </a:r>
            <a:br>
              <a:rPr lang="zh-CN" altLang="en-US" sz="1900" dirty="0"/>
            </a:br>
            <a:r>
              <a:rPr lang="zh-CN" altLang="en-US" sz="1900" dirty="0"/>
              <a:t>　　</a:t>
            </a:r>
            <a:r>
              <a:rPr lang="zh-CN" altLang="en-US" sz="1900" b="1" dirty="0">
                <a:hlinkClick r:id="rId7" action="ppaction://hlinkfile"/>
              </a:rPr>
              <a:t>神舟六号</a:t>
            </a:r>
            <a:r>
              <a:rPr lang="zh-CN" altLang="en-US" sz="1900" b="1" dirty="0"/>
              <a:t>（载人</a:t>
            </a:r>
            <a:r>
              <a:rPr lang="en-US" altLang="zh-CN" sz="1900" b="1" dirty="0"/>
              <a:t>2</a:t>
            </a:r>
            <a:r>
              <a:rPr lang="zh-CN" altLang="en-US" sz="1900" b="1" dirty="0"/>
              <a:t>）</a:t>
            </a:r>
            <a:r>
              <a:rPr lang="zh-CN" altLang="en-US" sz="1900" dirty="0"/>
              <a:t>：</a:t>
            </a:r>
            <a:r>
              <a:rPr lang="en-US" altLang="zh-CN" sz="1900" dirty="0"/>
              <a:t>2005</a:t>
            </a:r>
            <a:r>
              <a:rPr lang="zh-CN" altLang="en-US" sz="1900" dirty="0"/>
              <a:t>年</a:t>
            </a:r>
            <a:r>
              <a:rPr lang="en-US" altLang="zh-CN" sz="1900" dirty="0"/>
              <a:t>10</a:t>
            </a:r>
            <a:r>
              <a:rPr lang="zh-CN" altLang="en-US" sz="1900" dirty="0"/>
              <a:t>月</a:t>
            </a:r>
            <a:r>
              <a:rPr lang="en-US" altLang="zh-CN" sz="1900" dirty="0"/>
              <a:t>12</a:t>
            </a:r>
            <a:r>
              <a:rPr lang="zh-CN" altLang="en-US" sz="1900" dirty="0"/>
              <a:t>日</a:t>
            </a:r>
            <a:r>
              <a:rPr lang="en-US" altLang="zh-CN" sz="1900" dirty="0"/>
              <a:t>9</a:t>
            </a:r>
            <a:r>
              <a:rPr lang="zh-CN" altLang="en-US" sz="1900" dirty="0"/>
              <a:t>时整发射，</a:t>
            </a:r>
            <a:r>
              <a:rPr lang="en-US" altLang="zh-CN" sz="1900" dirty="0"/>
              <a:t>115</a:t>
            </a:r>
            <a:r>
              <a:rPr lang="zh-CN" altLang="en-US" sz="1900" dirty="0"/>
              <a:t>小时</a:t>
            </a:r>
            <a:r>
              <a:rPr lang="en-US" altLang="zh-CN" sz="1900" dirty="0"/>
              <a:t>33</a:t>
            </a:r>
            <a:r>
              <a:rPr lang="zh-CN" altLang="en-US" sz="1900" dirty="0"/>
              <a:t>分钟后回收 </a:t>
            </a:r>
            <a:br>
              <a:rPr lang="zh-CN" altLang="en-US" sz="1900" dirty="0"/>
            </a:br>
            <a:r>
              <a:rPr lang="zh-CN" altLang="en-US" sz="1900" dirty="0"/>
              <a:t>　　地点：酒泉卫星发射中心 　　回收地点：内蒙古中部四子王旗</a:t>
            </a:r>
            <a:br>
              <a:rPr lang="zh-CN" altLang="en-US" sz="1900" dirty="0"/>
            </a:br>
            <a:r>
              <a:rPr lang="zh-CN" altLang="en-US" sz="1900" dirty="0"/>
              <a:t>　　搭载人数</a:t>
            </a:r>
            <a:r>
              <a:rPr lang="en-US" altLang="zh-CN" sz="1900" dirty="0"/>
              <a:t>2</a:t>
            </a:r>
            <a:r>
              <a:rPr lang="zh-CN" altLang="en-US" sz="1900" dirty="0"/>
              <a:t>人：执行任务宇航员： 费俊龙，指挥长 聂海胜，操作手 </a:t>
            </a:r>
            <a:br>
              <a:rPr lang="zh-CN" altLang="en-US" sz="1900" dirty="0"/>
            </a:br>
            <a:r>
              <a:rPr lang="zh-CN" altLang="en-US" sz="1900" dirty="0"/>
              <a:t>　　后备宇航员 　　第一梯队：刘伯明、景海鹏 　　第二梯队：翟志刚、吴杰</a:t>
            </a:r>
            <a:br>
              <a:rPr lang="zh-CN" altLang="en-US" sz="1900" dirty="0"/>
            </a:br>
            <a:r>
              <a:rPr lang="zh-CN" altLang="en-US" sz="1900" dirty="0"/>
              <a:t>　　</a:t>
            </a:r>
            <a:r>
              <a:rPr lang="zh-CN" altLang="en-US" sz="1900" b="1" dirty="0">
                <a:hlinkClick r:id="rId8" action="ppaction://hlinkfile"/>
              </a:rPr>
              <a:t>神舟七号</a:t>
            </a:r>
            <a:r>
              <a:rPr lang="zh-CN" altLang="en-US" sz="1900" b="1" dirty="0"/>
              <a:t>（载人</a:t>
            </a:r>
            <a:r>
              <a:rPr lang="en-US" altLang="zh-CN" sz="1900" b="1" dirty="0"/>
              <a:t>3</a:t>
            </a:r>
            <a:r>
              <a:rPr lang="zh-CN" altLang="en-US" sz="1900" b="1" dirty="0"/>
              <a:t>）</a:t>
            </a:r>
            <a:br>
              <a:rPr lang="zh-CN" altLang="en-US" sz="1900" b="1" dirty="0"/>
            </a:br>
            <a:r>
              <a:rPr lang="zh-CN" altLang="en-US" sz="1900" b="1" dirty="0"/>
              <a:t>　　</a:t>
            </a:r>
            <a:r>
              <a:rPr lang="zh-CN" altLang="en-US" sz="1900" dirty="0"/>
              <a:t>时间：</a:t>
            </a:r>
            <a:r>
              <a:rPr lang="en-US" altLang="zh-CN" sz="1900" dirty="0"/>
              <a:t>2008</a:t>
            </a:r>
            <a:r>
              <a:rPr lang="zh-CN" altLang="en-US" sz="1900" dirty="0"/>
              <a:t>年</a:t>
            </a:r>
            <a:r>
              <a:rPr lang="en-US" altLang="zh-CN" sz="1900" dirty="0"/>
              <a:t>9</a:t>
            </a:r>
            <a:r>
              <a:rPr lang="zh-CN" altLang="en-US" sz="1900" dirty="0"/>
              <a:t>月</a:t>
            </a:r>
            <a:r>
              <a:rPr lang="en-US" altLang="zh-CN" sz="1900" dirty="0"/>
              <a:t>25</a:t>
            </a:r>
            <a:r>
              <a:rPr lang="zh-CN" altLang="en-US" sz="1900" dirty="0"/>
              <a:t>日</a:t>
            </a:r>
            <a:r>
              <a:rPr lang="en-US" altLang="zh-CN" sz="1900" dirty="0"/>
              <a:t>21</a:t>
            </a:r>
            <a:r>
              <a:rPr lang="zh-CN" altLang="en-US" sz="1900" dirty="0"/>
              <a:t>时</a:t>
            </a:r>
            <a:r>
              <a:rPr lang="en-US" altLang="zh-CN" sz="1900" dirty="0"/>
              <a:t>10</a:t>
            </a:r>
            <a:r>
              <a:rPr lang="zh-CN" altLang="en-US" sz="1900" dirty="0"/>
              <a:t>分发射，于</a:t>
            </a:r>
            <a:r>
              <a:rPr lang="en-US" altLang="zh-CN" sz="1900" dirty="0"/>
              <a:t>9</a:t>
            </a:r>
            <a:r>
              <a:rPr lang="zh-CN" altLang="en-US" sz="1900" dirty="0"/>
              <a:t>月</a:t>
            </a:r>
            <a:r>
              <a:rPr lang="en-US" altLang="zh-CN" sz="1900" dirty="0"/>
              <a:t>28</a:t>
            </a:r>
            <a:r>
              <a:rPr lang="zh-CN" altLang="en-US" sz="1900" dirty="0"/>
              <a:t>日</a:t>
            </a:r>
            <a:r>
              <a:rPr lang="en-US" altLang="zh-CN" sz="1900" dirty="0"/>
              <a:t>17</a:t>
            </a:r>
            <a:r>
              <a:rPr lang="zh-CN" altLang="en-US" sz="1900" dirty="0"/>
              <a:t>时</a:t>
            </a:r>
            <a:r>
              <a:rPr lang="en-US" altLang="zh-CN" sz="1900" dirty="0"/>
              <a:t>37</a:t>
            </a:r>
            <a:r>
              <a:rPr lang="zh-CN" altLang="en-US" sz="1900" dirty="0"/>
              <a:t>分回收</a:t>
            </a:r>
            <a:br>
              <a:rPr lang="zh-CN" altLang="en-US" sz="1900" dirty="0"/>
            </a:br>
            <a:r>
              <a:rPr lang="zh-CN" altLang="en-US" sz="1900" dirty="0"/>
              <a:t>　　地点：酒泉卫星发射中心 　　回收地点：内蒙古中部四子王旗主着陆区</a:t>
            </a:r>
            <a:br>
              <a:rPr lang="zh-CN" altLang="en-US" sz="1900" dirty="0"/>
            </a:br>
            <a:r>
              <a:rPr lang="zh-CN" altLang="en-US" sz="1900" dirty="0"/>
              <a:t>　　搭载人数</a:t>
            </a:r>
            <a:r>
              <a:rPr lang="en-US" altLang="zh-CN" sz="1900" dirty="0"/>
              <a:t>3</a:t>
            </a:r>
            <a:r>
              <a:rPr lang="zh-CN" altLang="en-US" sz="1900" dirty="0"/>
              <a:t>人：执行任务宇航员：翟志刚、景海鹏、刘伯明 　　首次出舱</a:t>
            </a:r>
            <a:endParaRPr lang="en-US" altLang="zh-CN" sz="1900" dirty="0"/>
          </a:p>
          <a:p>
            <a:pPr>
              <a:spcBef>
                <a:spcPct val="20000"/>
              </a:spcBef>
            </a:pPr>
            <a:r>
              <a:rPr lang="zh-CN" altLang="en-US" sz="1900" dirty="0"/>
              <a:t>　　</a:t>
            </a:r>
            <a:r>
              <a:rPr lang="zh-CN" altLang="en-US" sz="1900" b="1" dirty="0">
                <a:hlinkClick r:id="rId8" action="ppaction://hlinkfile"/>
              </a:rPr>
              <a:t>神舟八号</a:t>
            </a:r>
            <a:r>
              <a:rPr lang="zh-CN" altLang="en-US" sz="1900" b="1" dirty="0"/>
              <a:t>（无人）</a:t>
            </a:r>
            <a:r>
              <a:rPr lang="zh-CN" altLang="en-US" sz="1900" dirty="0"/>
              <a:t>时间：</a:t>
            </a:r>
            <a:r>
              <a:rPr lang="en-US" altLang="zh-CN" sz="1900" dirty="0">
                <a:solidFill>
                  <a:srgbClr val="FF0000"/>
                </a:solidFill>
              </a:rPr>
              <a:t>2011</a:t>
            </a:r>
            <a:r>
              <a:rPr lang="zh-CN" altLang="en-US" sz="1900" dirty="0">
                <a:solidFill>
                  <a:srgbClr val="FF0000"/>
                </a:solidFill>
              </a:rPr>
              <a:t>年</a:t>
            </a:r>
            <a:r>
              <a:rPr lang="en-US" altLang="zh-CN" sz="1900" dirty="0">
                <a:solidFill>
                  <a:srgbClr val="FF0000"/>
                </a:solidFill>
              </a:rPr>
              <a:t>11</a:t>
            </a:r>
            <a:r>
              <a:rPr lang="zh-CN" altLang="en-US" sz="1900" dirty="0">
                <a:solidFill>
                  <a:srgbClr val="FF0000"/>
                </a:solidFill>
              </a:rPr>
              <a:t>月</a:t>
            </a:r>
            <a:r>
              <a:rPr lang="en-US" altLang="zh-CN" sz="1900" dirty="0">
                <a:solidFill>
                  <a:srgbClr val="FF0000"/>
                </a:solidFill>
              </a:rPr>
              <a:t>1</a:t>
            </a:r>
            <a:r>
              <a:rPr lang="zh-CN" altLang="en-US" sz="1900" dirty="0">
                <a:solidFill>
                  <a:srgbClr val="FF0000"/>
                </a:solidFill>
              </a:rPr>
              <a:t>日</a:t>
            </a:r>
            <a:r>
              <a:rPr lang="zh-CN" altLang="en-US" sz="1900" dirty="0"/>
              <a:t>，将与</a:t>
            </a:r>
            <a:r>
              <a:rPr lang="en-US" altLang="zh-CN" sz="1900" dirty="0"/>
              <a:t>2011</a:t>
            </a:r>
            <a:r>
              <a:rPr lang="zh-CN" altLang="en-US" sz="1900" dirty="0"/>
              <a:t>年</a:t>
            </a:r>
            <a:r>
              <a:rPr lang="en-US" altLang="zh-CN" sz="1900" dirty="0"/>
              <a:t>9</a:t>
            </a:r>
            <a:r>
              <a:rPr lang="zh-CN" altLang="en-US" sz="1900" dirty="0"/>
              <a:t>月</a:t>
            </a:r>
            <a:r>
              <a:rPr lang="en-US" altLang="zh-CN" sz="1900" dirty="0"/>
              <a:t>29</a:t>
            </a:r>
            <a:r>
              <a:rPr lang="zh-CN" altLang="en-US" sz="1900" dirty="0"/>
              <a:t>号发射的</a:t>
            </a:r>
            <a:r>
              <a:rPr lang="zh-CN" altLang="en-US" sz="1900" dirty="0">
                <a:solidFill>
                  <a:srgbClr val="FF0000"/>
                </a:solidFill>
              </a:rPr>
              <a:t>天宫一号</a:t>
            </a:r>
            <a:r>
              <a:rPr lang="zh-CN" altLang="en-US" sz="1900" dirty="0"/>
              <a:t>对接，再与</a:t>
            </a:r>
            <a:r>
              <a:rPr lang="zh-CN" altLang="en-US" sz="2000" dirty="0"/>
              <a:t>神九、神十飞船对接后，建立中国第一个空间实验室。 </a:t>
            </a:r>
            <a:endParaRPr lang="en-US" sz="1900" dirty="0"/>
          </a:p>
        </p:txBody>
      </p:sp>
      <p:sp>
        <p:nvSpPr>
          <p:cNvPr id="98307" name="矩形 2"/>
          <p:cNvSpPr>
            <a:spLocks noChangeArrowheads="1"/>
          </p:cNvSpPr>
          <p:nvPr/>
        </p:nvSpPr>
        <p:spPr bwMode="auto">
          <a:xfrm>
            <a:off x="428625" y="-47625"/>
            <a:ext cx="2830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TW" altLang="en-US" b="1" dirty="0">
                <a:solidFill>
                  <a:srgbClr val="FF0000"/>
                </a:solidFill>
              </a:rPr>
              <a:t>神舟</a:t>
            </a:r>
            <a:r>
              <a:rPr lang="zh-CN" altLang="en-US" b="1" dirty="0">
                <a:solidFill>
                  <a:srgbClr val="FF0000"/>
                </a:solidFill>
              </a:rPr>
              <a:t>飞船</a:t>
            </a:r>
            <a:r>
              <a:rPr lang="en-US" altLang="zh-CN" b="1" dirty="0">
                <a:solidFill>
                  <a:srgbClr val="FF0000"/>
                </a:solidFill>
              </a:rPr>
              <a:t>1-10</a:t>
            </a:r>
            <a:r>
              <a:rPr lang="zh-CN" altLang="en-US" b="1" dirty="0">
                <a:solidFill>
                  <a:srgbClr val="FF0000"/>
                </a:solidFill>
              </a:rPr>
              <a:t>号</a:t>
            </a:r>
            <a:endParaRPr lang="en-US" dirty="0">
              <a:solidFill>
                <a:srgbClr val="FF0000"/>
              </a:solidFill>
            </a:endParaRPr>
          </a:p>
        </p:txBody>
      </p:sp>
    </p:spTree>
    <p:extLst>
      <p:ext uri="{BB962C8B-B14F-4D97-AF65-F5344CB8AC3E}">
        <p14:creationId xmlns:p14="http://schemas.microsoft.com/office/powerpoint/2010/main" val="2584035259"/>
      </p:ext>
    </p:extLst>
  </p:cSld>
  <p:clrMapOvr>
    <a:masterClrMapping/>
  </p:clrMapOvr>
  <p:transition>
    <p:checker dir="ver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314"/>
            <a:ext cx="2915816" cy="6740307"/>
          </a:xfrm>
          <a:prstGeom prst="rect">
            <a:avLst/>
          </a:prstGeom>
        </p:spPr>
        <p:txBody>
          <a:bodyPr wrap="square">
            <a:spAutoFit/>
          </a:bodyPr>
          <a:lstStyle/>
          <a:p>
            <a:r>
              <a:rPr lang="zh-CN" altLang="en-US" b="1" dirty="0">
                <a:hlinkClick r:id="rId2" action="ppaction://hlinkfile"/>
              </a:rPr>
              <a:t>神舟九号</a:t>
            </a:r>
            <a:r>
              <a:rPr lang="zh-CN" altLang="en-US" b="1" dirty="0"/>
              <a:t>（</a:t>
            </a:r>
            <a:r>
              <a:rPr lang="zh-CN" altLang="en-US" dirty="0"/>
              <a:t>景海鹏（指令长）刘旺、刘洋（女）</a:t>
            </a:r>
            <a:r>
              <a:rPr lang="zh-CN" altLang="en-US" b="1" dirty="0"/>
              <a:t>三人）</a:t>
            </a:r>
            <a:r>
              <a:rPr lang="zh-CN" altLang="en-US" dirty="0"/>
              <a:t>时间：</a:t>
            </a:r>
            <a:br>
              <a:rPr lang="zh-CN" altLang="en-US" dirty="0"/>
            </a:br>
            <a:r>
              <a:rPr lang="en-US" altLang="zh-CN" dirty="0"/>
              <a:t>2012</a:t>
            </a:r>
            <a:r>
              <a:rPr lang="zh-CN" altLang="en-US" dirty="0"/>
              <a:t>年</a:t>
            </a:r>
            <a:r>
              <a:rPr lang="en-US" altLang="zh-CN" dirty="0"/>
              <a:t>6</a:t>
            </a:r>
            <a:r>
              <a:rPr lang="zh-CN" altLang="en-US" dirty="0"/>
              <a:t>月</a:t>
            </a:r>
            <a:r>
              <a:rPr lang="en-US" altLang="zh-CN" dirty="0"/>
              <a:t>16</a:t>
            </a:r>
            <a:r>
              <a:rPr lang="zh-CN" altLang="en-US" dirty="0"/>
              <a:t>日 </a:t>
            </a:r>
            <a:r>
              <a:rPr lang="en-US" altLang="zh-CN" dirty="0"/>
              <a:t>18</a:t>
            </a:r>
            <a:r>
              <a:rPr lang="zh-CN" altLang="en-US" dirty="0"/>
              <a:t>时</a:t>
            </a:r>
            <a:r>
              <a:rPr lang="en-US" altLang="zh-CN" dirty="0"/>
              <a:t>37</a:t>
            </a:r>
            <a:r>
              <a:rPr lang="zh-CN" altLang="en-US" dirty="0"/>
              <a:t>分</a:t>
            </a:r>
            <a:r>
              <a:rPr lang="en-US" altLang="zh-CN" dirty="0"/>
              <a:t>24</a:t>
            </a:r>
            <a:r>
              <a:rPr lang="zh-CN" altLang="en-US" dirty="0"/>
              <a:t>秒。</a:t>
            </a:r>
            <a:endParaRPr lang="zh-CN" altLang="en-US" b="1" dirty="0"/>
          </a:p>
          <a:p>
            <a:r>
              <a:rPr lang="zh-CN" altLang="en-US" b="1" dirty="0"/>
              <a:t> </a:t>
            </a:r>
          </a:p>
          <a:p>
            <a:endParaRPr lang="en-US" altLang="zh-CN" b="1" dirty="0">
              <a:solidFill>
                <a:schemeClr val="accent2"/>
              </a:solidFill>
            </a:endParaRPr>
          </a:p>
          <a:p>
            <a:endParaRPr lang="en-US" altLang="zh-CN" b="1" dirty="0">
              <a:solidFill>
                <a:schemeClr val="accent2"/>
              </a:solidFill>
            </a:endParaRPr>
          </a:p>
          <a:p>
            <a:endParaRPr lang="en-US" altLang="zh-CN" b="1" dirty="0">
              <a:solidFill>
                <a:schemeClr val="accent2"/>
              </a:solidFill>
            </a:endParaRPr>
          </a:p>
          <a:p>
            <a:r>
              <a:rPr lang="zh-CN" altLang="en-US" b="1" dirty="0">
                <a:solidFill>
                  <a:schemeClr val="accent2"/>
                </a:solidFill>
              </a:rPr>
              <a:t>神舟十号飞船</a:t>
            </a:r>
            <a:r>
              <a:rPr lang="zh-CN" altLang="en-US" b="1" dirty="0"/>
              <a:t>航天员：</a:t>
            </a:r>
            <a:r>
              <a:rPr lang="zh-CN" altLang="en-US" dirty="0"/>
              <a:t>聂海胜（指令长）、张晓光、王亚平（女）</a:t>
            </a:r>
          </a:p>
          <a:p>
            <a:r>
              <a:rPr lang="zh-CN" altLang="en-US" dirty="0"/>
              <a:t> </a:t>
            </a:r>
            <a:r>
              <a:rPr lang="zh-CN" altLang="en-US" b="1" dirty="0"/>
              <a:t>发射时间：</a:t>
            </a:r>
            <a:r>
              <a:rPr lang="en-US" altLang="zh-CN" dirty="0"/>
              <a:t>20</a:t>
            </a:r>
            <a:r>
              <a:rPr lang="zh-CN" altLang="en-US" dirty="0"/>
              <a:t> </a:t>
            </a:r>
            <a:r>
              <a:rPr lang="en-US" altLang="zh-CN" dirty="0"/>
              <a:t>13</a:t>
            </a:r>
            <a:r>
              <a:rPr lang="zh-CN" altLang="en-US" dirty="0"/>
              <a:t>年</a:t>
            </a:r>
            <a:r>
              <a:rPr lang="en-US" altLang="zh-CN" dirty="0"/>
              <a:t>6</a:t>
            </a:r>
            <a:r>
              <a:rPr lang="zh-CN" altLang="en-US" dirty="0"/>
              <a:t>月</a:t>
            </a:r>
            <a:r>
              <a:rPr lang="en-US" altLang="zh-CN" dirty="0"/>
              <a:t>11</a:t>
            </a:r>
            <a:r>
              <a:rPr lang="zh-CN" altLang="en-US" dirty="0"/>
              <a:t>日</a:t>
            </a:r>
            <a:r>
              <a:rPr lang="en-US" altLang="zh-CN" dirty="0"/>
              <a:t>17</a:t>
            </a:r>
            <a:r>
              <a:rPr lang="zh-CN" altLang="en-US" dirty="0"/>
              <a:t>时</a:t>
            </a:r>
            <a:r>
              <a:rPr lang="en-US" altLang="zh-CN" dirty="0"/>
              <a:t>38</a:t>
            </a:r>
            <a:r>
              <a:rPr lang="zh-CN" altLang="en-US" dirty="0"/>
              <a:t>分</a:t>
            </a:r>
            <a:r>
              <a:rPr lang="en-US" altLang="zh-CN" dirty="0"/>
              <a:t>02.666</a:t>
            </a:r>
            <a:r>
              <a:rPr lang="zh-CN" altLang="en-US" dirty="0"/>
              <a:t>秒 </a:t>
            </a:r>
          </a:p>
          <a:p>
            <a:endParaRPr lang="zh-CN" altLang="en-US" dirty="0"/>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1920" y="3502144"/>
            <a:ext cx="4498032" cy="2991191"/>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8599" y="10953"/>
            <a:ext cx="4469004" cy="3274031"/>
          </a:xfrm>
          <a:prstGeom prst="rect">
            <a:avLst/>
          </a:prstGeom>
        </p:spPr>
      </p:pic>
    </p:spTree>
    <p:extLst>
      <p:ext uri="{BB962C8B-B14F-4D97-AF65-F5344CB8AC3E}">
        <p14:creationId xmlns:p14="http://schemas.microsoft.com/office/powerpoint/2010/main" val="514382315"/>
      </p:ext>
    </p:extLst>
  </p:cSld>
  <p:clrMapOvr>
    <a:masterClrMapping/>
  </p:clrMapOvr>
  <p:transition>
    <p:checker dir="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0580986-DEAC-4324-AE78-6CF5D8C5080C}"/>
              </a:ext>
            </a:extLst>
          </p:cNvPr>
          <p:cNvSpPr/>
          <p:nvPr/>
        </p:nvSpPr>
        <p:spPr>
          <a:xfrm>
            <a:off x="179512" y="188640"/>
            <a:ext cx="4572000" cy="3046988"/>
          </a:xfrm>
          <a:prstGeom prst="rect">
            <a:avLst/>
          </a:prstGeom>
        </p:spPr>
        <p:txBody>
          <a:bodyPr>
            <a:spAutoFit/>
          </a:bodyPr>
          <a:lstStyle/>
          <a:p>
            <a:r>
              <a:rPr lang="zh-CN" altLang="en-US" b="1">
                <a:solidFill>
                  <a:schemeClr val="accent2"/>
                </a:solidFill>
              </a:rPr>
              <a:t>神舟十一号飞船</a:t>
            </a:r>
            <a:endParaRPr lang="en-US" altLang="zh-CN" b="1">
              <a:solidFill>
                <a:schemeClr val="accent2"/>
              </a:solidFill>
            </a:endParaRPr>
          </a:p>
          <a:p>
            <a:r>
              <a:rPr lang="zh-CN" altLang="en-US" b="1"/>
              <a:t>航天员：</a:t>
            </a:r>
            <a:r>
              <a:rPr lang="zh-CN" altLang="en-US">
                <a:hlinkClick r:id="rId2"/>
              </a:rPr>
              <a:t>景海鹏</a:t>
            </a:r>
            <a:r>
              <a:rPr lang="zh-CN" altLang="en-US"/>
              <a:t>、</a:t>
            </a:r>
            <a:r>
              <a:rPr lang="zh-CN" altLang="en-US">
                <a:hlinkClick r:id="rId3"/>
              </a:rPr>
              <a:t>陈冬</a:t>
            </a:r>
            <a:endParaRPr lang="zh-CN" altLang="en-US"/>
          </a:p>
          <a:p>
            <a:r>
              <a:rPr lang="zh-CN" altLang="en-US" b="1"/>
              <a:t>指令长：</a:t>
            </a:r>
            <a:r>
              <a:rPr lang="zh-CN" altLang="en-US">
                <a:hlinkClick r:id="rId2"/>
              </a:rPr>
              <a:t>景海鹏</a:t>
            </a:r>
            <a:endParaRPr lang="zh-CN" altLang="en-US"/>
          </a:p>
          <a:p>
            <a:r>
              <a:rPr lang="zh-CN" altLang="en-US"/>
              <a:t> </a:t>
            </a:r>
            <a:r>
              <a:rPr lang="zh-CN" altLang="en-US" b="1"/>
              <a:t>发射时间：</a:t>
            </a:r>
            <a:r>
              <a:rPr lang="en-US" altLang="zh-CN"/>
              <a:t>2016</a:t>
            </a:r>
            <a:r>
              <a:rPr lang="zh-CN" altLang="en-US"/>
              <a:t>年</a:t>
            </a:r>
            <a:r>
              <a:rPr lang="en-US" altLang="zh-CN"/>
              <a:t>10</a:t>
            </a:r>
            <a:r>
              <a:rPr lang="zh-CN" altLang="en-US"/>
              <a:t>月</a:t>
            </a:r>
            <a:r>
              <a:rPr lang="en-US" altLang="zh-CN"/>
              <a:t>17</a:t>
            </a:r>
            <a:r>
              <a:rPr lang="zh-CN" altLang="en-US"/>
              <a:t>日</a:t>
            </a:r>
            <a:r>
              <a:rPr lang="en-US" altLang="zh-CN"/>
              <a:t>07</a:t>
            </a:r>
            <a:r>
              <a:rPr lang="zh-CN" altLang="en-US"/>
              <a:t>时</a:t>
            </a:r>
            <a:r>
              <a:rPr lang="en-US" altLang="zh-CN"/>
              <a:t>30</a:t>
            </a:r>
            <a:r>
              <a:rPr lang="zh-CN" altLang="en-US"/>
              <a:t>分</a:t>
            </a:r>
            <a:r>
              <a:rPr lang="zh-CN" altLang="en-US" baseline="30000"/>
              <a:t> </a:t>
            </a:r>
            <a:endParaRPr lang="zh-CN" altLang="en-US"/>
          </a:p>
          <a:p>
            <a:r>
              <a:rPr lang="zh-CN" altLang="en-US" b="1"/>
              <a:t>返回时间：</a:t>
            </a:r>
            <a:r>
              <a:rPr lang="en-US" altLang="zh-CN"/>
              <a:t>2016</a:t>
            </a:r>
            <a:r>
              <a:rPr lang="zh-CN" altLang="en-US"/>
              <a:t>年</a:t>
            </a:r>
            <a:r>
              <a:rPr lang="en-US" altLang="zh-CN"/>
              <a:t>11</a:t>
            </a:r>
            <a:r>
              <a:rPr lang="zh-CN" altLang="en-US"/>
              <a:t>月</a:t>
            </a:r>
            <a:r>
              <a:rPr lang="en-US" altLang="zh-CN"/>
              <a:t>18</a:t>
            </a:r>
            <a:r>
              <a:rPr lang="zh-CN" altLang="en-US"/>
              <a:t>日</a:t>
            </a:r>
            <a:r>
              <a:rPr lang="en-US" altLang="zh-CN"/>
              <a:t>13</a:t>
            </a:r>
            <a:r>
              <a:rPr lang="zh-CN" altLang="en-US"/>
              <a:t>时</a:t>
            </a:r>
            <a:r>
              <a:rPr lang="en-US" altLang="zh-CN"/>
              <a:t>33</a:t>
            </a:r>
            <a:r>
              <a:rPr lang="zh-CN" altLang="en-US"/>
              <a:t>分</a:t>
            </a:r>
          </a:p>
          <a:p>
            <a:endParaRPr lang="zh-CN" altLang="en-US" dirty="0"/>
          </a:p>
        </p:txBody>
      </p:sp>
      <p:pic>
        <p:nvPicPr>
          <p:cNvPr id="70658" name="Picture 2" descr="https://pics1.baidu.com/feed/caef76094b36acafbe9cb2025039241800e99c3c.jpeg?token=71075b9ffc651567b850c8fd591fa730">
            <a:extLst>
              <a:ext uri="{FF2B5EF4-FFF2-40B4-BE49-F238E27FC236}">
                <a16:creationId xmlns:a16="http://schemas.microsoft.com/office/drawing/2014/main" id="{04AC121C-EE19-4978-9CD8-C172522A77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0"/>
            <a:ext cx="3894517" cy="2592288"/>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E7826E9D-E2AA-4808-9BE7-7C3354A30A90}"/>
              </a:ext>
            </a:extLst>
          </p:cNvPr>
          <p:cNvSpPr/>
          <p:nvPr/>
        </p:nvSpPr>
        <p:spPr>
          <a:xfrm>
            <a:off x="233772" y="3220388"/>
            <a:ext cx="5130316" cy="2308324"/>
          </a:xfrm>
          <a:prstGeom prst="rect">
            <a:avLst/>
          </a:prstGeom>
        </p:spPr>
        <p:txBody>
          <a:bodyPr wrap="square">
            <a:spAutoFit/>
          </a:bodyPr>
          <a:lstStyle/>
          <a:p>
            <a:r>
              <a:rPr lang="zh-CN" altLang="en-US" b="1">
                <a:solidFill>
                  <a:schemeClr val="accent2"/>
                </a:solidFill>
              </a:rPr>
              <a:t>神舟十二号飞船</a:t>
            </a:r>
            <a:endParaRPr lang="en-US" altLang="zh-CN" b="1">
              <a:solidFill>
                <a:schemeClr val="accent2"/>
              </a:solidFill>
            </a:endParaRPr>
          </a:p>
          <a:p>
            <a:r>
              <a:rPr lang="zh-CN" altLang="en-US" b="1"/>
              <a:t>航天员：</a:t>
            </a:r>
            <a:r>
              <a:rPr lang="zh-CN" altLang="en-US">
                <a:hlinkClick r:id="rId5"/>
              </a:rPr>
              <a:t>聂海胜</a:t>
            </a:r>
            <a:r>
              <a:rPr lang="zh-CN" altLang="en-US"/>
              <a:t>、</a:t>
            </a:r>
            <a:r>
              <a:rPr lang="zh-CN" altLang="en-US">
                <a:hlinkClick r:id="rId6"/>
              </a:rPr>
              <a:t>刘伯明</a:t>
            </a:r>
            <a:r>
              <a:rPr lang="zh-CN" altLang="en-US"/>
              <a:t>、</a:t>
            </a:r>
            <a:r>
              <a:rPr lang="zh-CN" altLang="en-US">
                <a:hlinkClick r:id="rId7"/>
              </a:rPr>
              <a:t>汤洪波</a:t>
            </a:r>
            <a:endParaRPr lang="zh-CN" altLang="en-US"/>
          </a:p>
          <a:p>
            <a:r>
              <a:rPr lang="zh-CN" altLang="en-US" b="1"/>
              <a:t>指令长：</a:t>
            </a:r>
            <a:r>
              <a:rPr lang="zh-CN" altLang="en-US" u="sng">
                <a:hlinkClick r:id="rId5"/>
              </a:rPr>
              <a:t>聂海胜</a:t>
            </a:r>
            <a:endParaRPr lang="zh-CN" altLang="en-US"/>
          </a:p>
          <a:p>
            <a:r>
              <a:rPr lang="zh-CN" altLang="en-US"/>
              <a:t> </a:t>
            </a:r>
            <a:r>
              <a:rPr lang="zh-CN" altLang="en-US" b="1"/>
              <a:t>发射时间：</a:t>
            </a:r>
            <a:r>
              <a:rPr lang="en-US" altLang="zh-CN"/>
              <a:t>2021</a:t>
            </a:r>
            <a:r>
              <a:rPr lang="zh-CN" altLang="en-US"/>
              <a:t>年</a:t>
            </a:r>
            <a:r>
              <a:rPr lang="en-US" altLang="zh-CN"/>
              <a:t>6</a:t>
            </a:r>
            <a:r>
              <a:rPr lang="zh-CN" altLang="en-US"/>
              <a:t>月</a:t>
            </a:r>
            <a:r>
              <a:rPr lang="en-US" altLang="zh-CN"/>
              <a:t>17</a:t>
            </a:r>
            <a:r>
              <a:rPr lang="zh-CN" altLang="en-US"/>
              <a:t>日</a:t>
            </a:r>
            <a:r>
              <a:rPr lang="en-US" altLang="zh-CN"/>
              <a:t>09</a:t>
            </a:r>
            <a:r>
              <a:rPr lang="zh-CN" altLang="en-US"/>
              <a:t>时</a:t>
            </a:r>
            <a:r>
              <a:rPr lang="en-US" altLang="zh-CN"/>
              <a:t>22</a:t>
            </a:r>
            <a:r>
              <a:rPr lang="zh-CN" altLang="en-US"/>
              <a:t>分</a:t>
            </a:r>
          </a:p>
          <a:p>
            <a:r>
              <a:rPr lang="zh-CN" altLang="en-US" b="1"/>
              <a:t>返回时间</a:t>
            </a:r>
            <a:r>
              <a:rPr lang="zh-CN" altLang="en-US"/>
              <a:t>：</a:t>
            </a:r>
            <a:r>
              <a:rPr lang="en-US" altLang="zh-CN"/>
              <a:t>2021</a:t>
            </a:r>
            <a:r>
              <a:rPr lang="zh-CN" altLang="en-US"/>
              <a:t>年</a:t>
            </a:r>
            <a:r>
              <a:rPr lang="en-US" altLang="zh-CN"/>
              <a:t>9</a:t>
            </a:r>
            <a:r>
              <a:rPr lang="zh-CN" altLang="en-US"/>
              <a:t>月</a:t>
            </a:r>
            <a:r>
              <a:rPr lang="en-US" altLang="zh-CN"/>
              <a:t>17</a:t>
            </a:r>
            <a:r>
              <a:rPr lang="zh-CN" altLang="en-US"/>
              <a:t>日</a:t>
            </a:r>
            <a:r>
              <a:rPr lang="en-US" altLang="zh-CN"/>
              <a:t>13</a:t>
            </a:r>
            <a:r>
              <a:rPr lang="zh-CN" altLang="en-US"/>
              <a:t>时</a:t>
            </a:r>
            <a:r>
              <a:rPr lang="en-US" altLang="zh-CN"/>
              <a:t>34</a:t>
            </a:r>
            <a:r>
              <a:rPr lang="zh-CN" altLang="en-US"/>
              <a:t>分</a:t>
            </a:r>
          </a:p>
          <a:p>
            <a:endParaRPr lang="zh-CN" altLang="en-US" dirty="0"/>
          </a:p>
        </p:txBody>
      </p:sp>
      <p:pic>
        <p:nvPicPr>
          <p:cNvPr id="70660" name="Picture 4" descr="https://bkimg.cdn.bcebos.com/pic/b151f8198618367adab4dd54733d9cd4b31c86014fa1?x-bce-process=image/watermark,image_d2F0ZXIvYmFpa2U5Mg==,g_7,xp_5,yp_5/format,f_auto">
            <a:extLst>
              <a:ext uri="{FF2B5EF4-FFF2-40B4-BE49-F238E27FC236}">
                <a16:creationId xmlns:a16="http://schemas.microsoft.com/office/drawing/2014/main" id="{42A71761-9C5A-406A-9580-F42290C336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0072" y="3429000"/>
            <a:ext cx="3967068" cy="3031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9518028"/>
      </p:ext>
    </p:extLst>
  </p:cSld>
  <p:clrMapOvr>
    <a:masterClrMapping/>
  </p:clrMapOvr>
  <p:transition>
    <p:checker dir="ver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6CCA0E2-6394-4A3D-B015-D01D9C7BD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17" y="189422"/>
            <a:ext cx="8596206" cy="1588343"/>
          </a:xfrm>
          <a:prstGeom prst="rect">
            <a:avLst/>
          </a:prstGeom>
        </p:spPr>
      </p:pic>
      <p:pic>
        <p:nvPicPr>
          <p:cNvPr id="70658" name="Picture 2" descr="神舟十三号载人飞船飞行乘组人员">
            <a:extLst>
              <a:ext uri="{FF2B5EF4-FFF2-40B4-BE49-F238E27FC236}">
                <a16:creationId xmlns:a16="http://schemas.microsoft.com/office/drawing/2014/main" id="{872C5AB5-D6E4-43AA-97DC-153AEE6C29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8225" y="1861944"/>
            <a:ext cx="4184758" cy="298817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F0D8BB9A-8E0A-403A-8E25-9EC678272B58}"/>
              </a:ext>
            </a:extLst>
          </p:cNvPr>
          <p:cNvSpPr/>
          <p:nvPr/>
        </p:nvSpPr>
        <p:spPr>
          <a:xfrm>
            <a:off x="1176336" y="387519"/>
            <a:ext cx="2963616" cy="461665"/>
          </a:xfrm>
          <a:prstGeom prst="rect">
            <a:avLst/>
          </a:prstGeom>
          <a:solidFill>
            <a:schemeClr val="bg1"/>
          </a:solidFill>
        </p:spPr>
        <p:txBody>
          <a:bodyPr wrap="square">
            <a:spAutoFit/>
          </a:bodyPr>
          <a:lstStyle/>
          <a:p>
            <a:r>
              <a:rPr lang="zh-CN" altLang="en-US" b="1">
                <a:hlinkClick r:id="rId4" action="ppaction://hlinkfile"/>
              </a:rPr>
              <a:t>神舟十三号</a:t>
            </a:r>
            <a:endParaRPr lang="en-US" altLang="zh-CN" b="1"/>
          </a:p>
        </p:txBody>
      </p:sp>
      <p:pic>
        <p:nvPicPr>
          <p:cNvPr id="70664" name="Picture 8" descr="神舟十四号乘组航天员蔡旭哲、陈冬、刘洋">
            <a:extLst>
              <a:ext uri="{FF2B5EF4-FFF2-40B4-BE49-F238E27FC236}">
                <a16:creationId xmlns:a16="http://schemas.microsoft.com/office/drawing/2014/main" id="{90D6AF06-6A6E-4063-80E9-8D9CDF019D8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99480" y="1923698"/>
            <a:ext cx="4184758" cy="292642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8D4C0991-2A42-41E2-831B-59855732AC5C}"/>
              </a:ext>
            </a:extLst>
          </p:cNvPr>
          <p:cNvSpPr/>
          <p:nvPr/>
        </p:nvSpPr>
        <p:spPr>
          <a:xfrm>
            <a:off x="1276351" y="1861944"/>
            <a:ext cx="6680025" cy="461665"/>
          </a:xfrm>
          <a:prstGeom prst="rect">
            <a:avLst/>
          </a:prstGeom>
        </p:spPr>
        <p:txBody>
          <a:bodyPr wrap="square">
            <a:spAutoFit/>
          </a:bodyPr>
          <a:lstStyle/>
          <a:p>
            <a:r>
              <a:rPr lang="zh-CN" altLang="en-US" b="1">
                <a:solidFill>
                  <a:srgbClr val="FFFF00"/>
                </a:solidFill>
                <a:hlinkClick r:id="rId4" action="ppaction://hlinkfile">
                  <a:extLst>
                    <a:ext uri="{A12FA001-AC4F-418D-AE19-62706E023703}">
                      <ahyp:hlinkClr xmlns:ahyp="http://schemas.microsoft.com/office/drawing/2018/hyperlinkcolor" val="tx"/>
                    </a:ext>
                  </a:extLst>
                </a:hlinkClick>
              </a:rPr>
              <a:t>神舟十三号                                   神舟十四号</a:t>
            </a:r>
            <a:endParaRPr lang="en-US" altLang="zh-CN" b="1">
              <a:solidFill>
                <a:srgbClr val="FFFF00"/>
              </a:solidFill>
            </a:endParaRPr>
          </a:p>
        </p:txBody>
      </p:sp>
      <p:pic>
        <p:nvPicPr>
          <p:cNvPr id="10" name="图片 9">
            <a:extLst>
              <a:ext uri="{FF2B5EF4-FFF2-40B4-BE49-F238E27FC236}">
                <a16:creationId xmlns:a16="http://schemas.microsoft.com/office/drawing/2014/main" id="{EB300FF1-F10C-4901-BE7A-50A253C8A1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5854" y="4934302"/>
            <a:ext cx="8832292" cy="1696390"/>
          </a:xfrm>
          <a:prstGeom prst="rect">
            <a:avLst/>
          </a:prstGeom>
        </p:spPr>
      </p:pic>
      <p:sp>
        <p:nvSpPr>
          <p:cNvPr id="14" name="矩形 13">
            <a:extLst>
              <a:ext uri="{FF2B5EF4-FFF2-40B4-BE49-F238E27FC236}">
                <a16:creationId xmlns:a16="http://schemas.microsoft.com/office/drawing/2014/main" id="{E4211B47-CABF-4592-9448-07E892DD20D0}"/>
              </a:ext>
            </a:extLst>
          </p:cNvPr>
          <p:cNvSpPr/>
          <p:nvPr/>
        </p:nvSpPr>
        <p:spPr>
          <a:xfrm>
            <a:off x="1331379" y="4929160"/>
            <a:ext cx="2952589" cy="461665"/>
          </a:xfrm>
          <a:prstGeom prst="rect">
            <a:avLst/>
          </a:prstGeom>
          <a:solidFill>
            <a:schemeClr val="bg1"/>
          </a:solidFill>
        </p:spPr>
        <p:txBody>
          <a:bodyPr wrap="square">
            <a:spAutoFit/>
          </a:bodyPr>
          <a:lstStyle/>
          <a:p>
            <a:r>
              <a:rPr lang="zh-CN" altLang="en-US" b="1">
                <a:hlinkClick r:id="rId4" action="ppaction://hlinkfile"/>
              </a:rPr>
              <a:t>神舟十四号</a:t>
            </a:r>
            <a:endParaRPr lang="en-US" altLang="zh-CN" b="1"/>
          </a:p>
        </p:txBody>
      </p:sp>
    </p:spTree>
    <p:extLst>
      <p:ext uri="{BB962C8B-B14F-4D97-AF65-F5344CB8AC3E}">
        <p14:creationId xmlns:p14="http://schemas.microsoft.com/office/powerpoint/2010/main" val="655944637"/>
      </p:ext>
    </p:extLst>
  </p:cSld>
  <p:clrMapOvr>
    <a:masterClrMapping/>
  </p:clrMapOvr>
  <p:transition>
    <p:checker dir="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4100C80-8E1D-4CA2-BF05-CFC7953E0791}"/>
              </a:ext>
            </a:extLst>
          </p:cNvPr>
          <p:cNvSpPr/>
          <p:nvPr/>
        </p:nvSpPr>
        <p:spPr>
          <a:xfrm>
            <a:off x="2771800" y="87015"/>
            <a:ext cx="3262432" cy="461665"/>
          </a:xfrm>
          <a:prstGeom prst="rect">
            <a:avLst/>
          </a:prstGeom>
        </p:spPr>
        <p:txBody>
          <a:bodyPr wrap="none">
            <a:spAutoFit/>
          </a:bodyPr>
          <a:lstStyle/>
          <a:p>
            <a:r>
              <a:rPr lang="zh-CN" altLang="en-US" b="1">
                <a:solidFill>
                  <a:srgbClr val="333333"/>
                </a:solidFill>
                <a:latin typeface="Helvetica Neue"/>
              </a:rPr>
              <a:t>神舟飞船发射记录简况</a:t>
            </a:r>
            <a:endParaRPr lang="zh-CN" altLang="en-US"/>
          </a:p>
        </p:txBody>
      </p:sp>
      <p:graphicFrame>
        <p:nvGraphicFramePr>
          <p:cNvPr id="3" name="表格 2">
            <a:extLst>
              <a:ext uri="{FF2B5EF4-FFF2-40B4-BE49-F238E27FC236}">
                <a16:creationId xmlns:a16="http://schemas.microsoft.com/office/drawing/2014/main" id="{7B585714-E512-4631-9DDB-8FB3FF4263D9}"/>
              </a:ext>
            </a:extLst>
          </p:cNvPr>
          <p:cNvGraphicFramePr>
            <a:graphicFrameLocks noGrp="1"/>
          </p:cNvGraphicFramePr>
          <p:nvPr>
            <p:extLst>
              <p:ext uri="{D42A27DB-BD31-4B8C-83A1-F6EECF244321}">
                <p14:modId xmlns:p14="http://schemas.microsoft.com/office/powerpoint/2010/main" val="3451576873"/>
              </p:ext>
            </p:extLst>
          </p:nvPr>
        </p:nvGraphicFramePr>
        <p:xfrm>
          <a:off x="107505" y="548681"/>
          <a:ext cx="8784975" cy="6222305"/>
        </p:xfrm>
        <a:graphic>
          <a:graphicData uri="http://schemas.openxmlformats.org/drawingml/2006/table">
            <a:tbl>
              <a:tblPr/>
              <a:tblGrid>
                <a:gridCol w="1076191">
                  <a:extLst>
                    <a:ext uri="{9D8B030D-6E8A-4147-A177-3AD203B41FA5}">
                      <a16:colId xmlns:a16="http://schemas.microsoft.com/office/drawing/2014/main" val="2227673715"/>
                    </a:ext>
                  </a:extLst>
                </a:gridCol>
                <a:gridCol w="1590887">
                  <a:extLst>
                    <a:ext uri="{9D8B030D-6E8A-4147-A177-3AD203B41FA5}">
                      <a16:colId xmlns:a16="http://schemas.microsoft.com/office/drawing/2014/main" val="153620512"/>
                    </a:ext>
                  </a:extLst>
                </a:gridCol>
                <a:gridCol w="1707867">
                  <a:extLst>
                    <a:ext uri="{9D8B030D-6E8A-4147-A177-3AD203B41FA5}">
                      <a16:colId xmlns:a16="http://schemas.microsoft.com/office/drawing/2014/main" val="1169694311"/>
                    </a:ext>
                  </a:extLst>
                </a:gridCol>
                <a:gridCol w="1871630">
                  <a:extLst>
                    <a:ext uri="{9D8B030D-6E8A-4147-A177-3AD203B41FA5}">
                      <a16:colId xmlns:a16="http://schemas.microsoft.com/office/drawing/2014/main" val="461103376"/>
                    </a:ext>
                  </a:extLst>
                </a:gridCol>
                <a:gridCol w="1111280">
                  <a:extLst>
                    <a:ext uri="{9D8B030D-6E8A-4147-A177-3AD203B41FA5}">
                      <a16:colId xmlns:a16="http://schemas.microsoft.com/office/drawing/2014/main" val="4259968242"/>
                    </a:ext>
                  </a:extLst>
                </a:gridCol>
                <a:gridCol w="760348">
                  <a:extLst>
                    <a:ext uri="{9D8B030D-6E8A-4147-A177-3AD203B41FA5}">
                      <a16:colId xmlns:a16="http://schemas.microsoft.com/office/drawing/2014/main" val="3755861868"/>
                    </a:ext>
                  </a:extLst>
                </a:gridCol>
                <a:gridCol w="666772">
                  <a:extLst>
                    <a:ext uri="{9D8B030D-6E8A-4147-A177-3AD203B41FA5}">
                      <a16:colId xmlns:a16="http://schemas.microsoft.com/office/drawing/2014/main" val="3925366605"/>
                    </a:ext>
                  </a:extLst>
                </a:gridCol>
              </a:tblGrid>
              <a:tr h="292629">
                <a:tc>
                  <a:txBody>
                    <a:bodyPr/>
                    <a:lstStyle/>
                    <a:p>
                      <a:pPr algn="ctr" fontAlgn="ctr" latinLnBrk="1"/>
                      <a:r>
                        <a:rPr lang="zh-CN" altLang="en-US" sz="1000" b="1">
                          <a:solidFill>
                            <a:srgbClr val="333333"/>
                          </a:solidFill>
                          <a:effectLst/>
                        </a:rPr>
                        <a:t>编号</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8F8F8"/>
                    </a:solidFill>
                  </a:tcPr>
                </a:tc>
                <a:tc>
                  <a:txBody>
                    <a:bodyPr/>
                    <a:lstStyle/>
                    <a:p>
                      <a:pPr algn="ctr" fontAlgn="ctr" latinLnBrk="1"/>
                      <a:r>
                        <a:rPr lang="zh-CN" altLang="en-US" sz="1000" b="1">
                          <a:solidFill>
                            <a:srgbClr val="333333"/>
                          </a:solidFill>
                          <a:effectLst/>
                        </a:rPr>
                        <a:t>发射时间</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8F8F8"/>
                    </a:solidFill>
                  </a:tcPr>
                </a:tc>
                <a:tc>
                  <a:txBody>
                    <a:bodyPr/>
                    <a:lstStyle/>
                    <a:p>
                      <a:pPr algn="ctr" fontAlgn="ctr" latinLnBrk="1"/>
                      <a:r>
                        <a:rPr lang="zh-CN" altLang="en-US" sz="1000" b="1">
                          <a:solidFill>
                            <a:srgbClr val="333333"/>
                          </a:solidFill>
                          <a:effectLst/>
                        </a:rPr>
                        <a:t>返回时间</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8F8F8"/>
                    </a:solidFill>
                  </a:tcPr>
                </a:tc>
                <a:tc>
                  <a:txBody>
                    <a:bodyPr/>
                    <a:lstStyle/>
                    <a:p>
                      <a:pPr algn="ctr" fontAlgn="ctr" latinLnBrk="1"/>
                      <a:r>
                        <a:rPr lang="zh-CN" altLang="en-US" sz="1000" b="1">
                          <a:solidFill>
                            <a:srgbClr val="333333"/>
                          </a:solidFill>
                          <a:effectLst/>
                        </a:rPr>
                        <a:t>乘组</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8F8F8"/>
                    </a:solidFill>
                  </a:tcPr>
                </a:tc>
                <a:tc>
                  <a:txBody>
                    <a:bodyPr/>
                    <a:lstStyle/>
                    <a:p>
                      <a:pPr algn="ctr" fontAlgn="ctr" latinLnBrk="1"/>
                      <a:r>
                        <a:rPr lang="zh-CN" altLang="en-US" sz="1000" b="1">
                          <a:solidFill>
                            <a:srgbClr val="333333"/>
                          </a:solidFill>
                          <a:effectLst/>
                        </a:rPr>
                        <a:t>飞行时间</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8F8F8"/>
                    </a:solidFill>
                  </a:tcPr>
                </a:tc>
                <a:tc>
                  <a:txBody>
                    <a:bodyPr/>
                    <a:lstStyle/>
                    <a:p>
                      <a:pPr algn="ctr" fontAlgn="ctr" latinLnBrk="1"/>
                      <a:r>
                        <a:rPr lang="zh-CN" altLang="en-US" sz="1000" b="1">
                          <a:solidFill>
                            <a:srgbClr val="333333"/>
                          </a:solidFill>
                          <a:effectLst/>
                        </a:rPr>
                        <a:t>圈数</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8F8F8"/>
                    </a:solidFill>
                  </a:tcPr>
                </a:tc>
                <a:tc>
                  <a:txBody>
                    <a:bodyPr/>
                    <a:lstStyle/>
                    <a:p>
                      <a:pPr algn="ctr" fontAlgn="ctr" latinLnBrk="1"/>
                      <a:r>
                        <a:rPr lang="zh-CN" altLang="en-US" sz="1000" b="1">
                          <a:solidFill>
                            <a:srgbClr val="333333"/>
                          </a:solidFill>
                          <a:effectLst/>
                        </a:rPr>
                        <a:t>发射场</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8F8F8"/>
                    </a:solidFill>
                  </a:tcPr>
                </a:tc>
                <a:extLst>
                  <a:ext uri="{0D108BD9-81ED-4DB2-BD59-A6C34878D82A}">
                    <a16:rowId xmlns:a16="http://schemas.microsoft.com/office/drawing/2014/main" val="2198245651"/>
                  </a:ext>
                </a:extLst>
              </a:tr>
              <a:tr h="292629">
                <a:tc>
                  <a:txBody>
                    <a:bodyPr/>
                    <a:lstStyle/>
                    <a:p>
                      <a:pPr algn="ctr" fontAlgn="ctr" latinLnBrk="1"/>
                      <a:r>
                        <a:rPr lang="zh-CN" altLang="en-US" sz="1000" u="none" strike="noStrike">
                          <a:solidFill>
                            <a:srgbClr val="136EC2"/>
                          </a:solidFill>
                          <a:effectLst/>
                          <a:hlinkClick r:id="rId3"/>
                        </a:rPr>
                        <a:t>神舟一号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1999-11-20 06:30</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1999-11-21 03:41</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无人</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21</a:t>
                      </a:r>
                      <a:r>
                        <a:rPr lang="zh-CN" altLang="en-US" sz="1000">
                          <a:solidFill>
                            <a:srgbClr val="333333"/>
                          </a:solidFill>
                          <a:effectLst/>
                        </a:rPr>
                        <a:t>小时</a:t>
                      </a:r>
                      <a:r>
                        <a:rPr lang="en-US" altLang="zh-CN" sz="1000">
                          <a:solidFill>
                            <a:srgbClr val="333333"/>
                          </a:solidFill>
                          <a:effectLst/>
                        </a:rPr>
                        <a:t>11</a:t>
                      </a:r>
                      <a:r>
                        <a:rPr lang="zh-CN" altLang="en-US" sz="1000">
                          <a:solidFill>
                            <a:srgbClr val="333333"/>
                          </a:solidFill>
                          <a:effectLst/>
                        </a:rPr>
                        <a:t>分</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14</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rowSpan="18">
                  <a:txBody>
                    <a:bodyPr/>
                    <a:lstStyle/>
                    <a:p>
                      <a:pPr algn="ctr" fontAlgn="ctr" latinLnBrk="1"/>
                      <a:r>
                        <a:rPr lang="zh-CN" altLang="en-US" sz="1000" u="none" strike="noStrike">
                          <a:solidFill>
                            <a:srgbClr val="136EC2"/>
                          </a:solidFill>
                          <a:effectLst/>
                          <a:hlinkClick r:id="rId4"/>
                        </a:rPr>
                        <a:t>酒泉</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120612186"/>
                  </a:ext>
                </a:extLst>
              </a:tr>
              <a:tr h="387251">
                <a:tc>
                  <a:txBody>
                    <a:bodyPr/>
                    <a:lstStyle/>
                    <a:p>
                      <a:pPr algn="ctr" fontAlgn="ctr" latinLnBrk="1"/>
                      <a:r>
                        <a:rPr lang="zh-CN" altLang="en-US" sz="1000" u="none" strike="noStrike">
                          <a:solidFill>
                            <a:srgbClr val="136EC2"/>
                          </a:solidFill>
                          <a:effectLst/>
                          <a:hlinkClick r:id="rId5"/>
                        </a:rPr>
                        <a:t>神舟二号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2001-01-10 01:00</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2001-01-16 19:22</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无人</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6</a:t>
                      </a:r>
                      <a:r>
                        <a:rPr lang="zh-CN" altLang="en-US" sz="1000">
                          <a:solidFill>
                            <a:srgbClr val="333333"/>
                          </a:solidFill>
                          <a:effectLst/>
                        </a:rPr>
                        <a:t>天</a:t>
                      </a:r>
                      <a:r>
                        <a:rPr lang="en-US" altLang="zh-CN" sz="1000">
                          <a:solidFill>
                            <a:srgbClr val="333333"/>
                          </a:solidFill>
                          <a:effectLst/>
                        </a:rPr>
                        <a:t>18</a:t>
                      </a:r>
                      <a:r>
                        <a:rPr lang="zh-CN" altLang="en-US" sz="1000">
                          <a:solidFill>
                            <a:srgbClr val="333333"/>
                          </a:solidFill>
                          <a:effectLst/>
                        </a:rPr>
                        <a:t>小时</a:t>
                      </a:r>
                      <a:r>
                        <a:rPr lang="en-US" altLang="zh-CN" sz="1000">
                          <a:solidFill>
                            <a:srgbClr val="333333"/>
                          </a:solidFill>
                          <a:effectLst/>
                        </a:rPr>
                        <a:t>22</a:t>
                      </a:r>
                      <a:r>
                        <a:rPr lang="zh-CN" altLang="en-US" sz="1000">
                          <a:solidFill>
                            <a:srgbClr val="333333"/>
                          </a:solidFill>
                          <a:effectLst/>
                        </a:rPr>
                        <a:t>分</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108</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2131212862"/>
                  </a:ext>
                </a:extLst>
              </a:tr>
              <a:tr h="387251">
                <a:tc>
                  <a:txBody>
                    <a:bodyPr/>
                    <a:lstStyle/>
                    <a:p>
                      <a:pPr algn="ctr" fontAlgn="ctr" latinLnBrk="1"/>
                      <a:r>
                        <a:rPr lang="zh-CN" altLang="en-US" sz="1000" u="none" strike="noStrike">
                          <a:solidFill>
                            <a:srgbClr val="136EC2"/>
                          </a:solidFill>
                          <a:effectLst/>
                          <a:hlinkClick r:id="rId6"/>
                        </a:rPr>
                        <a:t>神舟三号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2002-03-25 22:15</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2002-04-01 16:54</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搭载模拟人</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6</a:t>
                      </a:r>
                      <a:r>
                        <a:rPr lang="zh-CN" altLang="en-US" sz="1000">
                          <a:solidFill>
                            <a:srgbClr val="333333"/>
                          </a:solidFill>
                          <a:effectLst/>
                        </a:rPr>
                        <a:t>天</a:t>
                      </a:r>
                      <a:r>
                        <a:rPr lang="en-US" altLang="zh-CN" sz="1000">
                          <a:solidFill>
                            <a:srgbClr val="333333"/>
                          </a:solidFill>
                          <a:effectLst/>
                        </a:rPr>
                        <a:t>18</a:t>
                      </a:r>
                      <a:r>
                        <a:rPr lang="zh-CN" altLang="en-US" sz="1000">
                          <a:solidFill>
                            <a:srgbClr val="333333"/>
                          </a:solidFill>
                          <a:effectLst/>
                        </a:rPr>
                        <a:t>小时</a:t>
                      </a:r>
                      <a:r>
                        <a:rPr lang="en-US" altLang="zh-CN" sz="1000">
                          <a:solidFill>
                            <a:srgbClr val="333333"/>
                          </a:solidFill>
                          <a:effectLst/>
                        </a:rPr>
                        <a:t>39</a:t>
                      </a:r>
                      <a:r>
                        <a:rPr lang="zh-CN" altLang="en-US" sz="1000">
                          <a:solidFill>
                            <a:srgbClr val="333333"/>
                          </a:solidFill>
                          <a:effectLst/>
                        </a:rPr>
                        <a:t>分</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108</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1681178498"/>
                  </a:ext>
                </a:extLst>
              </a:tr>
              <a:tr h="387251">
                <a:tc>
                  <a:txBody>
                    <a:bodyPr/>
                    <a:lstStyle/>
                    <a:p>
                      <a:pPr algn="ctr" fontAlgn="ctr" latinLnBrk="1"/>
                      <a:r>
                        <a:rPr lang="zh-CN" altLang="en-US" sz="1000" u="none" strike="noStrike">
                          <a:solidFill>
                            <a:srgbClr val="136EC2"/>
                          </a:solidFill>
                          <a:effectLst/>
                          <a:hlinkClick r:id="rId7"/>
                        </a:rPr>
                        <a:t>神舟四号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2002-12-30 00:40</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2003-01-05 19:16</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搭载模拟人</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6</a:t>
                      </a:r>
                      <a:r>
                        <a:rPr lang="zh-CN" altLang="en-US" sz="1000">
                          <a:solidFill>
                            <a:srgbClr val="333333"/>
                          </a:solidFill>
                          <a:effectLst/>
                        </a:rPr>
                        <a:t>天</a:t>
                      </a:r>
                      <a:r>
                        <a:rPr lang="en-US" altLang="zh-CN" sz="1000">
                          <a:solidFill>
                            <a:srgbClr val="333333"/>
                          </a:solidFill>
                          <a:effectLst/>
                        </a:rPr>
                        <a:t>18</a:t>
                      </a:r>
                      <a:r>
                        <a:rPr lang="zh-CN" altLang="en-US" sz="1000">
                          <a:solidFill>
                            <a:srgbClr val="333333"/>
                          </a:solidFill>
                          <a:effectLst/>
                        </a:rPr>
                        <a:t>小时</a:t>
                      </a:r>
                      <a:r>
                        <a:rPr lang="en-US" altLang="zh-CN" sz="1000">
                          <a:solidFill>
                            <a:srgbClr val="333333"/>
                          </a:solidFill>
                          <a:effectLst/>
                        </a:rPr>
                        <a:t>36</a:t>
                      </a:r>
                      <a:r>
                        <a:rPr lang="zh-CN" altLang="en-US" sz="1000">
                          <a:solidFill>
                            <a:srgbClr val="333333"/>
                          </a:solidFill>
                          <a:effectLst/>
                        </a:rPr>
                        <a:t>分</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108</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959546465"/>
                  </a:ext>
                </a:extLst>
              </a:tr>
              <a:tr h="292629">
                <a:tc>
                  <a:txBody>
                    <a:bodyPr/>
                    <a:lstStyle/>
                    <a:p>
                      <a:pPr algn="ctr" fontAlgn="ctr" latinLnBrk="1"/>
                      <a:r>
                        <a:rPr lang="zh-CN" altLang="en-US" sz="1000" u="none" strike="noStrike">
                          <a:solidFill>
                            <a:srgbClr val="136EC2"/>
                          </a:solidFill>
                          <a:effectLst/>
                          <a:hlinkClick r:id="rId8"/>
                        </a:rPr>
                        <a:t>神舟五号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2003-10-15 09:00</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2003-10-16 06:28</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u="none" strike="noStrike">
                          <a:solidFill>
                            <a:srgbClr val="136EC2"/>
                          </a:solidFill>
                          <a:effectLst/>
                          <a:hlinkClick r:id="rId9"/>
                        </a:rPr>
                        <a:t>杨利伟</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21</a:t>
                      </a:r>
                      <a:r>
                        <a:rPr lang="zh-CN" altLang="en-US" sz="1000">
                          <a:solidFill>
                            <a:srgbClr val="333333"/>
                          </a:solidFill>
                          <a:effectLst/>
                        </a:rPr>
                        <a:t>小时</a:t>
                      </a:r>
                      <a:r>
                        <a:rPr lang="en-US" altLang="zh-CN" sz="1000">
                          <a:solidFill>
                            <a:srgbClr val="333333"/>
                          </a:solidFill>
                          <a:effectLst/>
                        </a:rPr>
                        <a:t>28</a:t>
                      </a:r>
                      <a:r>
                        <a:rPr lang="zh-CN" altLang="en-US" sz="1000">
                          <a:solidFill>
                            <a:srgbClr val="333333"/>
                          </a:solidFill>
                          <a:effectLst/>
                        </a:rPr>
                        <a:t>分</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14</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2170880667"/>
                  </a:ext>
                </a:extLst>
              </a:tr>
              <a:tr h="292629">
                <a:tc>
                  <a:txBody>
                    <a:bodyPr/>
                    <a:lstStyle/>
                    <a:p>
                      <a:pPr algn="ctr" fontAlgn="ctr" latinLnBrk="1"/>
                      <a:r>
                        <a:rPr lang="zh-CN" altLang="en-US" sz="1000" u="none" strike="noStrike">
                          <a:solidFill>
                            <a:srgbClr val="136EC2"/>
                          </a:solidFill>
                          <a:effectLst/>
                          <a:hlinkClick r:id="rId10"/>
                        </a:rPr>
                        <a:t>神舟六号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2005-10-12 09:00</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2005-10-17 04:32</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u="none" strike="noStrike">
                          <a:solidFill>
                            <a:srgbClr val="136EC2"/>
                          </a:solidFill>
                          <a:effectLst/>
                          <a:hlinkClick r:id="rId11"/>
                        </a:rPr>
                        <a:t>费俊龙</a:t>
                      </a:r>
                      <a:r>
                        <a:rPr lang="zh-CN" altLang="en-US" sz="1000">
                          <a:solidFill>
                            <a:srgbClr val="333333"/>
                          </a:solidFill>
                          <a:effectLst/>
                        </a:rPr>
                        <a:t>、</a:t>
                      </a:r>
                      <a:r>
                        <a:rPr lang="zh-CN" altLang="en-US" sz="1000" u="none" strike="noStrike">
                          <a:solidFill>
                            <a:srgbClr val="136EC2"/>
                          </a:solidFill>
                          <a:effectLst/>
                          <a:hlinkClick r:id="rId12"/>
                        </a:rPr>
                        <a:t>聂海胜</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4</a:t>
                      </a:r>
                      <a:r>
                        <a:rPr lang="zh-CN" altLang="en-US" sz="1000">
                          <a:solidFill>
                            <a:srgbClr val="333333"/>
                          </a:solidFill>
                          <a:effectLst/>
                        </a:rPr>
                        <a:t>天</a:t>
                      </a:r>
                      <a:r>
                        <a:rPr lang="en-US" altLang="zh-CN" sz="1000">
                          <a:solidFill>
                            <a:srgbClr val="333333"/>
                          </a:solidFill>
                          <a:effectLst/>
                        </a:rPr>
                        <a:t>19</a:t>
                      </a:r>
                      <a:r>
                        <a:rPr lang="zh-CN" altLang="en-US" sz="1000">
                          <a:solidFill>
                            <a:srgbClr val="333333"/>
                          </a:solidFill>
                          <a:effectLst/>
                        </a:rPr>
                        <a:t>时</a:t>
                      </a:r>
                      <a:r>
                        <a:rPr lang="en-US" altLang="zh-CN" sz="1000">
                          <a:solidFill>
                            <a:srgbClr val="333333"/>
                          </a:solidFill>
                          <a:effectLst/>
                        </a:rPr>
                        <a:t>32</a:t>
                      </a:r>
                      <a:r>
                        <a:rPr lang="zh-CN" altLang="en-US" sz="1000">
                          <a:solidFill>
                            <a:srgbClr val="333333"/>
                          </a:solidFill>
                          <a:effectLst/>
                        </a:rPr>
                        <a:t>分</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77</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1384782270"/>
                  </a:ext>
                </a:extLst>
              </a:tr>
              <a:tr h="387251">
                <a:tc>
                  <a:txBody>
                    <a:bodyPr/>
                    <a:lstStyle/>
                    <a:p>
                      <a:pPr algn="ctr" fontAlgn="ctr" latinLnBrk="1"/>
                      <a:r>
                        <a:rPr lang="zh-CN" altLang="en-US" sz="1000" u="none" strike="noStrike">
                          <a:solidFill>
                            <a:srgbClr val="136EC2"/>
                          </a:solidFill>
                          <a:effectLst/>
                          <a:hlinkClick r:id="rId13"/>
                        </a:rPr>
                        <a:t>神舟七号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2008-09-25 21:10</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2008-09-28 17:37</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u="none" strike="noStrike">
                          <a:solidFill>
                            <a:srgbClr val="136EC2"/>
                          </a:solidFill>
                          <a:effectLst/>
                          <a:hlinkClick r:id="rId14"/>
                        </a:rPr>
                        <a:t>翟志刚</a:t>
                      </a:r>
                      <a:r>
                        <a:rPr lang="zh-CN" altLang="en-US" sz="1000">
                          <a:solidFill>
                            <a:srgbClr val="333333"/>
                          </a:solidFill>
                          <a:effectLst/>
                        </a:rPr>
                        <a:t>、</a:t>
                      </a:r>
                      <a:r>
                        <a:rPr lang="zh-CN" altLang="en-US" sz="1000" u="none" strike="noStrike">
                          <a:solidFill>
                            <a:srgbClr val="136EC2"/>
                          </a:solidFill>
                          <a:effectLst/>
                          <a:hlinkClick r:id="rId15"/>
                        </a:rPr>
                        <a:t>刘伯明</a:t>
                      </a:r>
                      <a:r>
                        <a:rPr lang="zh-CN" altLang="en-US" sz="1000">
                          <a:solidFill>
                            <a:srgbClr val="333333"/>
                          </a:solidFill>
                          <a:effectLst/>
                        </a:rPr>
                        <a:t>、</a:t>
                      </a:r>
                      <a:r>
                        <a:rPr lang="zh-CN" altLang="en-US" sz="1000" u="none" strike="noStrike">
                          <a:solidFill>
                            <a:srgbClr val="136EC2"/>
                          </a:solidFill>
                          <a:effectLst/>
                          <a:hlinkClick r:id="rId16"/>
                        </a:rPr>
                        <a:t>景海鹏</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a:t>
                      </a:r>
                      <a:r>
                        <a:rPr lang="zh-CN" altLang="en-US" sz="1000">
                          <a:solidFill>
                            <a:srgbClr val="333333"/>
                          </a:solidFill>
                          <a:effectLst/>
                        </a:rPr>
                        <a:t>天</a:t>
                      </a:r>
                      <a:r>
                        <a:rPr lang="en-US" altLang="zh-CN" sz="1000">
                          <a:solidFill>
                            <a:srgbClr val="333333"/>
                          </a:solidFill>
                          <a:effectLst/>
                        </a:rPr>
                        <a:t>20</a:t>
                      </a:r>
                      <a:r>
                        <a:rPr lang="zh-CN" altLang="en-US" sz="1000">
                          <a:solidFill>
                            <a:srgbClr val="333333"/>
                          </a:solidFill>
                          <a:effectLst/>
                        </a:rPr>
                        <a:t>小时</a:t>
                      </a:r>
                      <a:r>
                        <a:rPr lang="en-US" altLang="zh-CN" sz="1000">
                          <a:solidFill>
                            <a:srgbClr val="333333"/>
                          </a:solidFill>
                          <a:effectLst/>
                        </a:rPr>
                        <a:t>30</a:t>
                      </a:r>
                      <a:r>
                        <a:rPr lang="zh-CN" altLang="en-US" sz="1000">
                          <a:solidFill>
                            <a:srgbClr val="333333"/>
                          </a:solidFill>
                          <a:effectLst/>
                        </a:rPr>
                        <a:t>分</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45</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039128977"/>
                  </a:ext>
                </a:extLst>
              </a:tr>
              <a:tr h="292629">
                <a:tc>
                  <a:txBody>
                    <a:bodyPr/>
                    <a:lstStyle/>
                    <a:p>
                      <a:pPr algn="ctr" fontAlgn="ctr" latinLnBrk="1"/>
                      <a:r>
                        <a:rPr lang="zh-CN" altLang="en-US" sz="1000" u="none" strike="noStrike">
                          <a:solidFill>
                            <a:srgbClr val="136EC2"/>
                          </a:solidFill>
                          <a:effectLst/>
                          <a:hlinkClick r:id="rId17"/>
                        </a:rPr>
                        <a:t>神舟八号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2011-11-01 05:58</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2011-11-17 19:32</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搭载模拟人</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18</a:t>
                      </a:r>
                      <a:r>
                        <a:rPr lang="zh-CN" altLang="en-US" sz="1000">
                          <a:solidFill>
                            <a:srgbClr val="333333"/>
                          </a:solidFill>
                          <a:effectLst/>
                        </a:rPr>
                        <a:t>天</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249</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1512467050"/>
                  </a:ext>
                </a:extLst>
              </a:tr>
              <a:tr h="292629">
                <a:tc>
                  <a:txBody>
                    <a:bodyPr/>
                    <a:lstStyle/>
                    <a:p>
                      <a:pPr algn="ctr" fontAlgn="ctr" latinLnBrk="1"/>
                      <a:r>
                        <a:rPr lang="zh-CN" altLang="en-US" sz="1000" u="none" strike="noStrike">
                          <a:solidFill>
                            <a:srgbClr val="136EC2"/>
                          </a:solidFill>
                          <a:effectLst/>
                          <a:hlinkClick r:id="rId18"/>
                        </a:rPr>
                        <a:t>神舟九号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2012-06-16 18:37</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2012-06-29 10:03</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景海鹏、</a:t>
                      </a:r>
                      <a:r>
                        <a:rPr lang="zh-CN" altLang="en-US" sz="1000" u="none" strike="noStrike">
                          <a:solidFill>
                            <a:srgbClr val="136EC2"/>
                          </a:solidFill>
                          <a:effectLst/>
                          <a:hlinkClick r:id="rId19"/>
                        </a:rPr>
                        <a:t>刘旺</a:t>
                      </a:r>
                      <a:r>
                        <a:rPr lang="zh-CN" altLang="en-US" sz="1000">
                          <a:solidFill>
                            <a:srgbClr val="333333"/>
                          </a:solidFill>
                          <a:effectLst/>
                        </a:rPr>
                        <a:t>、</a:t>
                      </a:r>
                      <a:r>
                        <a:rPr lang="zh-CN" altLang="en-US" sz="1000" u="none" strike="noStrike">
                          <a:solidFill>
                            <a:srgbClr val="136EC2"/>
                          </a:solidFill>
                          <a:effectLst/>
                          <a:hlinkClick r:id="rId20"/>
                        </a:rPr>
                        <a:t>刘洋</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12</a:t>
                      </a:r>
                      <a:r>
                        <a:rPr lang="zh-CN" altLang="en-US" sz="1000">
                          <a:solidFill>
                            <a:srgbClr val="333333"/>
                          </a:solidFill>
                          <a:effectLst/>
                        </a:rPr>
                        <a:t>天</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不详</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135307338"/>
                  </a:ext>
                </a:extLst>
              </a:tr>
              <a:tr h="292629">
                <a:tc>
                  <a:txBody>
                    <a:bodyPr/>
                    <a:lstStyle/>
                    <a:p>
                      <a:pPr algn="ctr" fontAlgn="ctr" latinLnBrk="1"/>
                      <a:r>
                        <a:rPr lang="zh-CN" altLang="en-US" sz="1000" u="none" strike="noStrike">
                          <a:solidFill>
                            <a:srgbClr val="136EC2"/>
                          </a:solidFill>
                          <a:effectLst/>
                          <a:hlinkClick r:id="rId21"/>
                        </a:rPr>
                        <a:t>神舟十号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2013-06-11 17:38</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2013-06-26 08:07</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聂海胜、</a:t>
                      </a:r>
                      <a:r>
                        <a:rPr lang="zh-CN" altLang="en-US" sz="1000" u="none" strike="noStrike">
                          <a:solidFill>
                            <a:srgbClr val="136EC2"/>
                          </a:solidFill>
                          <a:effectLst/>
                          <a:hlinkClick r:id="rId22"/>
                        </a:rPr>
                        <a:t>张晓光</a:t>
                      </a:r>
                      <a:r>
                        <a:rPr lang="zh-CN" altLang="en-US" sz="1000">
                          <a:solidFill>
                            <a:srgbClr val="333333"/>
                          </a:solidFill>
                          <a:effectLst/>
                        </a:rPr>
                        <a:t>、</a:t>
                      </a:r>
                      <a:r>
                        <a:rPr lang="zh-CN" altLang="en-US" sz="1000" u="none" strike="noStrike">
                          <a:solidFill>
                            <a:srgbClr val="136EC2"/>
                          </a:solidFill>
                          <a:effectLst/>
                          <a:hlinkClick r:id="rId23"/>
                        </a:rPr>
                        <a:t>王亚平</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15</a:t>
                      </a:r>
                      <a:r>
                        <a:rPr lang="zh-CN" altLang="en-US" sz="1000">
                          <a:solidFill>
                            <a:srgbClr val="333333"/>
                          </a:solidFill>
                          <a:effectLst/>
                        </a:rPr>
                        <a:t>天</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不详</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950311305"/>
                  </a:ext>
                </a:extLst>
              </a:tr>
              <a:tr h="292629">
                <a:tc>
                  <a:txBody>
                    <a:bodyPr/>
                    <a:lstStyle/>
                    <a:p>
                      <a:pPr algn="ctr" fontAlgn="ctr" latinLnBrk="1"/>
                      <a:r>
                        <a:rPr lang="zh-CN" altLang="en-US" sz="1000" u="none" strike="noStrike">
                          <a:solidFill>
                            <a:srgbClr val="136EC2"/>
                          </a:solidFill>
                          <a:effectLst/>
                          <a:hlinkClick r:id="rId24"/>
                        </a:rPr>
                        <a:t>神舟十一号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2016-10-17 07:30</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2016-11-18 13:33</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景海鹏、</a:t>
                      </a:r>
                      <a:r>
                        <a:rPr lang="zh-CN" altLang="en-US" sz="1000" u="none" strike="noStrike">
                          <a:solidFill>
                            <a:srgbClr val="136EC2"/>
                          </a:solidFill>
                          <a:effectLst/>
                          <a:hlinkClick r:id="rId25"/>
                        </a:rPr>
                        <a:t>陈冬</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32</a:t>
                      </a:r>
                      <a:r>
                        <a:rPr lang="zh-CN" altLang="en-US" sz="1000">
                          <a:solidFill>
                            <a:srgbClr val="333333"/>
                          </a:solidFill>
                          <a:effectLst/>
                        </a:rPr>
                        <a:t>天</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不详</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151013208"/>
                  </a:ext>
                </a:extLst>
              </a:tr>
              <a:tr h="292629">
                <a:tc>
                  <a:txBody>
                    <a:bodyPr/>
                    <a:lstStyle/>
                    <a:p>
                      <a:pPr algn="ctr" fontAlgn="ctr" latinLnBrk="1"/>
                      <a:r>
                        <a:rPr lang="zh-CN" altLang="en-US" sz="1000" u="none" strike="noStrike">
                          <a:solidFill>
                            <a:srgbClr val="136EC2"/>
                          </a:solidFill>
                          <a:effectLst/>
                          <a:hlinkClick r:id="rId26"/>
                        </a:rPr>
                        <a:t>神舟十二号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2021-06-17 09:22</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2021-09-17 13:34</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聂海胜、刘伯明、</a:t>
                      </a:r>
                      <a:r>
                        <a:rPr lang="zh-CN" altLang="en-US" sz="1000" u="none" strike="noStrike">
                          <a:solidFill>
                            <a:srgbClr val="136EC2"/>
                          </a:solidFill>
                          <a:effectLst/>
                          <a:hlinkClick r:id="rId27"/>
                        </a:rPr>
                        <a:t>汤洪波</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93</a:t>
                      </a:r>
                      <a:r>
                        <a:rPr lang="zh-CN" altLang="en-US" sz="1000">
                          <a:solidFill>
                            <a:srgbClr val="333333"/>
                          </a:solidFill>
                          <a:effectLst/>
                        </a:rPr>
                        <a:t>天</a:t>
                      </a:r>
                      <a:r>
                        <a:rPr lang="zh-CN" altLang="en-US" sz="1000" baseline="30000">
                          <a:solidFill>
                            <a:srgbClr val="3366CC"/>
                          </a:solidFill>
                          <a:effectLst/>
                        </a:rPr>
                        <a:t> </a:t>
                      </a:r>
                      <a:r>
                        <a:rPr lang="en-US" altLang="zh-CN" sz="1000" baseline="30000">
                          <a:solidFill>
                            <a:srgbClr val="3366CC"/>
                          </a:solidFill>
                          <a:effectLst/>
                        </a:rPr>
                        <a:t>[19]</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不详</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1145505230"/>
                  </a:ext>
                </a:extLst>
              </a:tr>
              <a:tr h="292629">
                <a:tc>
                  <a:txBody>
                    <a:bodyPr/>
                    <a:lstStyle/>
                    <a:p>
                      <a:pPr algn="ctr" fontAlgn="ctr" latinLnBrk="1"/>
                      <a:r>
                        <a:rPr lang="zh-CN" altLang="en-US" sz="1000" u="none" strike="noStrike">
                          <a:solidFill>
                            <a:srgbClr val="136EC2"/>
                          </a:solidFill>
                          <a:effectLst/>
                          <a:hlinkClick r:id="rId28"/>
                        </a:rPr>
                        <a:t>神舟十三号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2021-10-16 00:23</a:t>
                      </a:r>
                      <a:r>
                        <a:rPr lang="zh-CN" altLang="en-US" sz="1000" baseline="30000">
                          <a:solidFill>
                            <a:srgbClr val="3366CC"/>
                          </a:solidFill>
                          <a:effectLst/>
                        </a:rPr>
                        <a:t> </a:t>
                      </a:r>
                      <a:r>
                        <a:rPr lang="en-US" altLang="zh-CN" sz="1000" baseline="30000">
                          <a:solidFill>
                            <a:srgbClr val="3366CC"/>
                          </a:solidFill>
                          <a:effectLst/>
                        </a:rPr>
                        <a:t>[15]</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2022-4-16 09:56</a:t>
                      </a:r>
                      <a:r>
                        <a:rPr lang="zh-CN" altLang="en-US" sz="1000" baseline="30000">
                          <a:solidFill>
                            <a:srgbClr val="3366CC"/>
                          </a:solidFill>
                          <a:effectLst/>
                        </a:rPr>
                        <a:t> </a:t>
                      </a:r>
                      <a:r>
                        <a:rPr lang="en-US" altLang="zh-CN" sz="1000" baseline="30000">
                          <a:solidFill>
                            <a:srgbClr val="3366CC"/>
                          </a:solidFill>
                          <a:effectLst/>
                        </a:rPr>
                        <a:t>[17-18]</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翟志刚、王亚平、</a:t>
                      </a:r>
                      <a:r>
                        <a:rPr lang="zh-CN" altLang="en-US" sz="1000" u="none" strike="noStrike">
                          <a:solidFill>
                            <a:srgbClr val="136EC2"/>
                          </a:solidFill>
                          <a:effectLst/>
                          <a:hlinkClick r:id="rId29"/>
                        </a:rPr>
                        <a:t>叶光富</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183</a:t>
                      </a:r>
                      <a:r>
                        <a:rPr lang="zh-CN" altLang="en-US" sz="1000">
                          <a:solidFill>
                            <a:srgbClr val="333333"/>
                          </a:solidFill>
                          <a:effectLst/>
                        </a:rPr>
                        <a:t>天</a:t>
                      </a:r>
                      <a:r>
                        <a:rPr lang="zh-CN" altLang="en-US" sz="1000" baseline="30000">
                          <a:solidFill>
                            <a:srgbClr val="3366CC"/>
                          </a:solidFill>
                          <a:effectLst/>
                        </a:rPr>
                        <a:t> </a:t>
                      </a:r>
                      <a:r>
                        <a:rPr lang="en-US" altLang="zh-CN" sz="1000" baseline="30000">
                          <a:solidFill>
                            <a:srgbClr val="3366CC"/>
                          </a:solidFill>
                          <a:effectLst/>
                        </a:rPr>
                        <a:t>[17]</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不详</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952775965"/>
                  </a:ext>
                </a:extLst>
              </a:tr>
              <a:tr h="292629">
                <a:tc>
                  <a:txBody>
                    <a:bodyPr/>
                    <a:lstStyle/>
                    <a:p>
                      <a:pPr algn="ctr" fontAlgn="ctr" latinLnBrk="1"/>
                      <a:r>
                        <a:rPr lang="zh-CN" altLang="en-US" sz="1000" u="none" strike="noStrike">
                          <a:solidFill>
                            <a:srgbClr val="136EC2"/>
                          </a:solidFill>
                          <a:effectLst/>
                          <a:hlinkClick r:id="rId30"/>
                        </a:rPr>
                        <a:t>神舟十四号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2022-06-05 10:44</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2022-12-04 20:09</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陈冬、刘洋、</a:t>
                      </a:r>
                      <a:r>
                        <a:rPr lang="zh-CN" altLang="en-US" sz="1000" u="none" strike="noStrike">
                          <a:solidFill>
                            <a:srgbClr val="136EC2"/>
                          </a:solidFill>
                          <a:effectLst/>
                          <a:hlinkClick r:id="rId31"/>
                        </a:rPr>
                        <a:t>蔡旭哲</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183</a:t>
                      </a:r>
                      <a:r>
                        <a:rPr lang="zh-CN" altLang="en-US" sz="1000">
                          <a:solidFill>
                            <a:srgbClr val="333333"/>
                          </a:solidFill>
                          <a:effectLst/>
                        </a:rPr>
                        <a:t>天</a:t>
                      </a:r>
                      <a:r>
                        <a:rPr lang="zh-CN" altLang="en-US" sz="1000" baseline="30000">
                          <a:solidFill>
                            <a:srgbClr val="3366CC"/>
                          </a:solidFill>
                          <a:effectLst/>
                        </a:rPr>
                        <a:t> </a:t>
                      </a:r>
                      <a:r>
                        <a:rPr lang="en-US" altLang="zh-CN" sz="1000" baseline="30000">
                          <a:solidFill>
                            <a:srgbClr val="3366CC"/>
                          </a:solidFill>
                          <a:effectLst/>
                        </a:rPr>
                        <a:t>[68]</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a:t>
                      </a:r>
                      <a:r>
                        <a:rPr lang="zh-CN" altLang="en-US" sz="1000" baseline="30000">
                          <a:solidFill>
                            <a:srgbClr val="3366CC"/>
                          </a:solidFill>
                          <a:effectLst/>
                        </a:rPr>
                        <a:t> </a:t>
                      </a:r>
                      <a:r>
                        <a:rPr lang="en-US" altLang="zh-CN" sz="1000" baseline="30000">
                          <a:solidFill>
                            <a:srgbClr val="3366CC"/>
                          </a:solidFill>
                          <a:effectLst/>
                        </a:rPr>
                        <a:t>[25]</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1341500785"/>
                  </a:ext>
                </a:extLst>
              </a:tr>
              <a:tr h="292629">
                <a:tc>
                  <a:txBody>
                    <a:bodyPr/>
                    <a:lstStyle/>
                    <a:p>
                      <a:pPr algn="ctr" fontAlgn="ctr" latinLnBrk="1"/>
                      <a:r>
                        <a:rPr lang="zh-CN" altLang="en-US" sz="1000" u="none" strike="noStrike">
                          <a:solidFill>
                            <a:srgbClr val="136EC2"/>
                          </a:solidFill>
                          <a:effectLst/>
                          <a:hlinkClick r:id="rId32"/>
                        </a:rPr>
                        <a:t>神舟十五号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2022-11-29 23:08</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2023-06-04 06:33</a:t>
                      </a:r>
                      <a:r>
                        <a:rPr lang="zh-CN" altLang="en-US" sz="1000" baseline="30000">
                          <a:solidFill>
                            <a:srgbClr val="3366CC"/>
                          </a:solidFill>
                          <a:effectLst/>
                        </a:rPr>
                        <a:t> </a:t>
                      </a:r>
                      <a:r>
                        <a:rPr lang="en-US" altLang="zh-CN" sz="1000" baseline="30000">
                          <a:solidFill>
                            <a:srgbClr val="3366CC"/>
                          </a:solidFill>
                          <a:effectLst/>
                        </a:rPr>
                        <a:t>[61] [79]</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a:solidFill>
                            <a:srgbClr val="333333"/>
                          </a:solidFill>
                          <a:effectLst/>
                        </a:rPr>
                        <a:t>费俊龙、</a:t>
                      </a:r>
                      <a:r>
                        <a:rPr lang="zh-CN" altLang="en-US" sz="1000" u="none" strike="noStrike">
                          <a:solidFill>
                            <a:srgbClr val="136EC2"/>
                          </a:solidFill>
                          <a:effectLst/>
                          <a:hlinkClick r:id="rId33"/>
                        </a:rPr>
                        <a:t>邓清明</a:t>
                      </a:r>
                      <a:r>
                        <a:rPr lang="zh-CN" altLang="en-US" sz="1000">
                          <a:solidFill>
                            <a:srgbClr val="333333"/>
                          </a:solidFill>
                          <a:effectLst/>
                        </a:rPr>
                        <a:t>、</a:t>
                      </a:r>
                      <a:r>
                        <a:rPr lang="zh-CN" altLang="en-US" sz="1000" u="none" strike="noStrike">
                          <a:solidFill>
                            <a:srgbClr val="136EC2"/>
                          </a:solidFill>
                          <a:effectLst/>
                          <a:hlinkClick r:id="rId34"/>
                        </a:rPr>
                        <a:t>张陆</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6</a:t>
                      </a:r>
                      <a:r>
                        <a:rPr lang="zh-CN" altLang="en-US" sz="1000">
                          <a:solidFill>
                            <a:srgbClr val="333333"/>
                          </a:solidFill>
                          <a:effectLst/>
                        </a:rPr>
                        <a:t>个月</a:t>
                      </a:r>
                      <a:r>
                        <a:rPr lang="zh-CN" altLang="en-US" sz="1000" baseline="30000">
                          <a:solidFill>
                            <a:srgbClr val="3366CC"/>
                          </a:solidFill>
                          <a:effectLst/>
                        </a:rPr>
                        <a:t> </a:t>
                      </a:r>
                      <a:r>
                        <a:rPr lang="en-US" altLang="zh-CN" sz="1000" baseline="30000">
                          <a:solidFill>
                            <a:srgbClr val="3366CC"/>
                          </a:solidFill>
                          <a:effectLst/>
                        </a:rPr>
                        <a:t>[81]</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a:t>
                      </a:r>
                      <a:r>
                        <a:rPr lang="zh-CN" altLang="en-US" sz="1000" baseline="30000">
                          <a:solidFill>
                            <a:srgbClr val="3366CC"/>
                          </a:solidFill>
                          <a:effectLst/>
                        </a:rPr>
                        <a:t> </a:t>
                      </a:r>
                      <a:r>
                        <a:rPr lang="en-US" altLang="zh-CN" sz="1000" baseline="30000">
                          <a:solidFill>
                            <a:srgbClr val="3366CC"/>
                          </a:solidFill>
                          <a:effectLst/>
                        </a:rPr>
                        <a:t>[63]</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2637635997"/>
                  </a:ext>
                </a:extLst>
              </a:tr>
              <a:tr h="387251">
                <a:tc>
                  <a:txBody>
                    <a:bodyPr/>
                    <a:lstStyle/>
                    <a:p>
                      <a:pPr algn="ctr" fontAlgn="ctr" latinLnBrk="1"/>
                      <a:r>
                        <a:rPr lang="zh-CN" altLang="en-US" sz="1000" u="none" strike="noStrike">
                          <a:solidFill>
                            <a:srgbClr val="136EC2"/>
                          </a:solidFill>
                          <a:effectLst/>
                          <a:hlinkClick r:id="rId35"/>
                        </a:rPr>
                        <a:t>神舟十六号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2023-05-30 09:31</a:t>
                      </a:r>
                      <a:r>
                        <a:rPr lang="zh-CN" altLang="en-US" sz="1000" baseline="30000">
                          <a:solidFill>
                            <a:srgbClr val="3366CC"/>
                          </a:solidFill>
                          <a:effectLst/>
                        </a:rPr>
                        <a:t> </a:t>
                      </a:r>
                      <a:r>
                        <a:rPr lang="en-US" altLang="zh-CN" sz="1000" baseline="30000">
                          <a:solidFill>
                            <a:srgbClr val="3366CC"/>
                          </a:solidFill>
                          <a:effectLst/>
                        </a:rPr>
                        <a:t>[77]</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2023-10-31 08:11</a:t>
                      </a:r>
                      <a:r>
                        <a:rPr lang="zh-CN" altLang="en-US" sz="1000" baseline="30000">
                          <a:solidFill>
                            <a:srgbClr val="3366CC"/>
                          </a:solidFill>
                          <a:effectLst/>
                        </a:rPr>
                        <a:t> </a:t>
                      </a:r>
                      <a:r>
                        <a:rPr lang="en-US" altLang="zh-CN" sz="1000" baseline="30000">
                          <a:solidFill>
                            <a:srgbClr val="3366CC"/>
                          </a:solidFill>
                          <a:effectLst/>
                        </a:rPr>
                        <a:t>[89]</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u="none" strike="noStrike">
                          <a:solidFill>
                            <a:srgbClr val="136EC2"/>
                          </a:solidFill>
                          <a:effectLst/>
                          <a:hlinkClick r:id="rId36"/>
                        </a:rPr>
                        <a:t>景海鹏</a:t>
                      </a:r>
                      <a:r>
                        <a:rPr lang="zh-CN" altLang="en-US" sz="1000">
                          <a:solidFill>
                            <a:srgbClr val="333333"/>
                          </a:solidFill>
                          <a:effectLst/>
                        </a:rPr>
                        <a:t>、</a:t>
                      </a:r>
                      <a:r>
                        <a:rPr lang="zh-CN" altLang="en-US" sz="1000" u="none" strike="noStrike">
                          <a:solidFill>
                            <a:srgbClr val="136EC2"/>
                          </a:solidFill>
                          <a:effectLst/>
                          <a:hlinkClick r:id="rId37"/>
                        </a:rPr>
                        <a:t>朱杨柱</a:t>
                      </a:r>
                      <a:r>
                        <a:rPr lang="zh-CN" altLang="en-US" sz="1000">
                          <a:solidFill>
                            <a:srgbClr val="333333"/>
                          </a:solidFill>
                          <a:effectLst/>
                        </a:rPr>
                        <a:t>、</a:t>
                      </a:r>
                      <a:r>
                        <a:rPr lang="zh-CN" altLang="en-US" sz="1000" u="none" strike="noStrike">
                          <a:solidFill>
                            <a:srgbClr val="136EC2"/>
                          </a:solidFill>
                          <a:effectLst/>
                          <a:hlinkClick r:id="rId38"/>
                        </a:rPr>
                        <a:t>桂海潮</a:t>
                      </a:r>
                      <a:r>
                        <a:rPr lang="zh-CN" altLang="en-US" sz="1000" baseline="30000">
                          <a:solidFill>
                            <a:srgbClr val="3366CC"/>
                          </a:solidFill>
                          <a:effectLst/>
                        </a:rPr>
                        <a:t> </a:t>
                      </a:r>
                      <a:r>
                        <a:rPr lang="en-US" altLang="zh-CN" sz="1000" baseline="30000">
                          <a:solidFill>
                            <a:srgbClr val="3366CC"/>
                          </a:solidFill>
                          <a:effectLst/>
                        </a:rPr>
                        <a:t>[75]</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154</a:t>
                      </a:r>
                      <a:r>
                        <a:rPr lang="zh-CN" altLang="en-US" sz="1000">
                          <a:solidFill>
                            <a:srgbClr val="333333"/>
                          </a:solidFill>
                          <a:effectLst/>
                        </a:rPr>
                        <a:t>天</a:t>
                      </a:r>
                      <a:r>
                        <a:rPr lang="zh-CN" altLang="en-US" sz="1000" baseline="30000">
                          <a:solidFill>
                            <a:srgbClr val="3366CC"/>
                          </a:solidFill>
                          <a:effectLst/>
                        </a:rPr>
                        <a:t> </a:t>
                      </a:r>
                      <a:r>
                        <a:rPr lang="en-US" altLang="zh-CN" sz="1000" baseline="30000">
                          <a:solidFill>
                            <a:srgbClr val="3366CC"/>
                          </a:solidFill>
                          <a:effectLst/>
                        </a:rPr>
                        <a:t>[89]</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300288430"/>
                  </a:ext>
                </a:extLst>
              </a:tr>
              <a:tr h="387251">
                <a:tc>
                  <a:txBody>
                    <a:bodyPr/>
                    <a:lstStyle/>
                    <a:p>
                      <a:pPr algn="ctr" fontAlgn="ctr" latinLnBrk="1"/>
                      <a:r>
                        <a:rPr lang="zh-CN" altLang="en-US" sz="1000" u="none" strike="noStrike">
                          <a:solidFill>
                            <a:srgbClr val="136EC2"/>
                          </a:solidFill>
                          <a:effectLst/>
                          <a:hlinkClick r:id="rId39"/>
                        </a:rPr>
                        <a:t>神舟十七号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2023-10-26 11:14</a:t>
                      </a:r>
                      <a:r>
                        <a:rPr lang="zh-CN" altLang="en-US" sz="1000" baseline="30000">
                          <a:solidFill>
                            <a:srgbClr val="3366CC"/>
                          </a:solidFill>
                          <a:effectLst/>
                        </a:rPr>
                        <a:t> </a:t>
                      </a:r>
                      <a:r>
                        <a:rPr lang="en-US" altLang="zh-CN" sz="1000" baseline="30000">
                          <a:solidFill>
                            <a:srgbClr val="3366CC"/>
                          </a:solidFill>
                          <a:effectLst/>
                        </a:rPr>
                        <a:t>[87]</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2024-04-30 17:46</a:t>
                      </a:r>
                      <a:r>
                        <a:rPr lang="zh-CN" altLang="en-US" sz="1000" baseline="30000">
                          <a:solidFill>
                            <a:srgbClr val="3366CC"/>
                          </a:solidFill>
                          <a:effectLst/>
                        </a:rPr>
                        <a:t> </a:t>
                      </a:r>
                      <a:r>
                        <a:rPr lang="en-US" altLang="zh-CN" sz="1000" baseline="30000">
                          <a:solidFill>
                            <a:srgbClr val="3366CC"/>
                          </a:solidFill>
                          <a:effectLst/>
                        </a:rPr>
                        <a:t>[97]</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u="none" strike="noStrike">
                          <a:solidFill>
                            <a:srgbClr val="136EC2"/>
                          </a:solidFill>
                          <a:effectLst/>
                          <a:hlinkClick r:id="rId27"/>
                        </a:rPr>
                        <a:t>汤洪波</a:t>
                      </a:r>
                      <a:r>
                        <a:rPr lang="zh-CN" altLang="en-US" sz="1000">
                          <a:solidFill>
                            <a:srgbClr val="333333"/>
                          </a:solidFill>
                          <a:effectLst/>
                        </a:rPr>
                        <a:t>、</a:t>
                      </a:r>
                      <a:r>
                        <a:rPr lang="zh-CN" altLang="en-US" sz="1000" u="none" strike="noStrike">
                          <a:solidFill>
                            <a:srgbClr val="136EC2"/>
                          </a:solidFill>
                          <a:effectLst/>
                          <a:hlinkClick r:id="rId40"/>
                        </a:rPr>
                        <a:t>唐胜杰</a:t>
                      </a:r>
                      <a:r>
                        <a:rPr lang="zh-CN" altLang="en-US" sz="1000">
                          <a:solidFill>
                            <a:srgbClr val="333333"/>
                          </a:solidFill>
                          <a:effectLst/>
                        </a:rPr>
                        <a:t>、</a:t>
                      </a:r>
                      <a:r>
                        <a:rPr lang="zh-CN" altLang="en-US" sz="1000" u="none" strike="noStrike">
                          <a:solidFill>
                            <a:srgbClr val="136EC2"/>
                          </a:solidFill>
                          <a:effectLst/>
                          <a:hlinkClick r:id="rId41"/>
                        </a:rPr>
                        <a:t>江新林</a:t>
                      </a:r>
                      <a:r>
                        <a:rPr lang="zh-CN" altLang="en-US" sz="1000" baseline="30000">
                          <a:solidFill>
                            <a:srgbClr val="3366CC"/>
                          </a:solidFill>
                          <a:effectLst/>
                        </a:rPr>
                        <a:t> </a:t>
                      </a:r>
                      <a:r>
                        <a:rPr lang="en-US" altLang="zh-CN" sz="1000" baseline="30000">
                          <a:solidFill>
                            <a:srgbClr val="3366CC"/>
                          </a:solidFill>
                          <a:effectLst/>
                        </a:rPr>
                        <a:t>[84]</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187</a:t>
                      </a:r>
                      <a:r>
                        <a:rPr lang="zh-CN" altLang="en-US" sz="1000">
                          <a:solidFill>
                            <a:srgbClr val="333333"/>
                          </a:solidFill>
                          <a:effectLst/>
                        </a:rPr>
                        <a:t>天</a:t>
                      </a:r>
                      <a:r>
                        <a:rPr lang="zh-CN" altLang="en-US" sz="1000" baseline="30000">
                          <a:solidFill>
                            <a:srgbClr val="3366CC"/>
                          </a:solidFill>
                          <a:effectLst/>
                        </a:rPr>
                        <a:t> </a:t>
                      </a:r>
                      <a:r>
                        <a:rPr lang="en-US" altLang="zh-CN" sz="1000" baseline="30000">
                          <a:solidFill>
                            <a:srgbClr val="3366CC"/>
                          </a:solidFill>
                          <a:effectLst/>
                        </a:rPr>
                        <a:t>[97]</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1792273000"/>
                  </a:ext>
                </a:extLst>
              </a:tr>
              <a:tr h="387251">
                <a:tc>
                  <a:txBody>
                    <a:bodyPr/>
                    <a:lstStyle/>
                    <a:p>
                      <a:pPr algn="ctr" fontAlgn="ctr" latinLnBrk="1"/>
                      <a:r>
                        <a:rPr lang="zh-CN" altLang="en-US" sz="1000" u="none" strike="noStrike">
                          <a:solidFill>
                            <a:srgbClr val="136EC2"/>
                          </a:solidFill>
                          <a:effectLst/>
                          <a:hlinkClick r:id="rId42"/>
                        </a:rPr>
                        <a:t>神舟十八号</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2024-04-25 20</a:t>
                      </a:r>
                    </a:p>
                    <a:p>
                      <a:pPr algn="ctr" fontAlgn="ctr" latinLnBrk="1"/>
                      <a:r>
                        <a:rPr lang="en-US" altLang="zh-CN" sz="1000">
                          <a:solidFill>
                            <a:srgbClr val="333333"/>
                          </a:solidFill>
                          <a:effectLst/>
                        </a:rPr>
                        <a:t>:59</a:t>
                      </a:r>
                      <a:r>
                        <a:rPr lang="zh-CN" altLang="en-US" sz="1000" baseline="30000">
                          <a:solidFill>
                            <a:srgbClr val="3366CC"/>
                          </a:solidFill>
                          <a:effectLst/>
                        </a:rPr>
                        <a:t> </a:t>
                      </a:r>
                      <a:r>
                        <a:rPr lang="en-US" altLang="zh-CN" sz="1000" baseline="30000">
                          <a:solidFill>
                            <a:srgbClr val="3366CC"/>
                          </a:solidFill>
                          <a:effectLst/>
                        </a:rPr>
                        <a:t>[98]</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zh-CN" altLang="en-US" sz="1000" u="none" strike="noStrike">
                          <a:solidFill>
                            <a:srgbClr val="136EC2"/>
                          </a:solidFill>
                          <a:effectLst/>
                          <a:hlinkClick r:id="rId29"/>
                        </a:rPr>
                        <a:t>叶光富</a:t>
                      </a:r>
                      <a:r>
                        <a:rPr lang="zh-CN" altLang="en-US" sz="1000">
                          <a:solidFill>
                            <a:srgbClr val="333333"/>
                          </a:solidFill>
                          <a:effectLst/>
                        </a:rPr>
                        <a:t>、</a:t>
                      </a:r>
                      <a:r>
                        <a:rPr lang="zh-CN" altLang="en-US" sz="1000" u="none" strike="noStrike">
                          <a:solidFill>
                            <a:srgbClr val="136EC2"/>
                          </a:solidFill>
                          <a:effectLst/>
                          <a:hlinkClick r:id="rId43"/>
                        </a:rPr>
                        <a:t>李聪</a:t>
                      </a:r>
                      <a:r>
                        <a:rPr lang="zh-CN" altLang="en-US" sz="1000">
                          <a:solidFill>
                            <a:srgbClr val="333333"/>
                          </a:solidFill>
                          <a:effectLst/>
                        </a:rPr>
                        <a:t>、</a:t>
                      </a:r>
                      <a:r>
                        <a:rPr lang="zh-CN" altLang="en-US" sz="1000" u="none" strike="noStrike">
                          <a:solidFill>
                            <a:srgbClr val="136EC2"/>
                          </a:solidFill>
                          <a:effectLst/>
                          <a:hlinkClick r:id="rId44"/>
                        </a:rPr>
                        <a:t>李广苏</a:t>
                      </a:r>
                      <a:r>
                        <a:rPr lang="zh-CN" altLang="en-US" sz="1000" baseline="30000">
                          <a:solidFill>
                            <a:srgbClr val="3366CC"/>
                          </a:solidFill>
                          <a:effectLst/>
                        </a:rPr>
                        <a:t> </a:t>
                      </a:r>
                      <a:r>
                        <a:rPr lang="en-US" altLang="zh-CN" sz="1000" baseline="30000">
                          <a:solidFill>
                            <a:srgbClr val="3366CC"/>
                          </a:solidFill>
                          <a:effectLst/>
                        </a:rPr>
                        <a:t>[98]</a:t>
                      </a:r>
                      <a:endParaRPr lang="zh-CN" altLang="en-US" sz="1000">
                        <a:solidFill>
                          <a:srgbClr val="333333"/>
                        </a:solidFill>
                        <a:effectLst/>
                      </a:endParaRP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fontAlgn="ctr" latinLnBrk="1"/>
                      <a:r>
                        <a:rPr lang="en-US" altLang="zh-CN" sz="1000">
                          <a:solidFill>
                            <a:srgbClr val="333333"/>
                          </a:solidFill>
                          <a:effectLst/>
                        </a:rPr>
                        <a:t>-</a:t>
                      </a:r>
                    </a:p>
                  </a:txBody>
                  <a:tcPr marL="14485" marR="14485" marT="2897" marB="2897"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877614179"/>
                  </a:ext>
                </a:extLst>
              </a:tr>
            </a:tbl>
          </a:graphicData>
        </a:graphic>
      </p:graphicFrame>
    </p:spTree>
    <p:extLst>
      <p:ext uri="{BB962C8B-B14F-4D97-AF65-F5344CB8AC3E}">
        <p14:creationId xmlns:p14="http://schemas.microsoft.com/office/powerpoint/2010/main" val="3824230837"/>
      </p:ext>
    </p:extLst>
  </p:cSld>
  <p:clrMapOvr>
    <a:masterClrMapping/>
  </p:clrMapOvr>
  <p:transition>
    <p:checker dir="ver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496" y="44624"/>
            <a:ext cx="8712968" cy="6740307"/>
          </a:xfrm>
          <a:prstGeom prst="rect">
            <a:avLst/>
          </a:prstGeom>
          <a:noFill/>
        </p:spPr>
        <p:txBody>
          <a:bodyPr wrap="square" rtlCol="0">
            <a:spAutoFit/>
          </a:bodyPr>
          <a:lstStyle/>
          <a:p>
            <a:r>
              <a:rPr lang="zh-CN" altLang="en-US" b="1" dirty="0">
                <a:solidFill>
                  <a:srgbClr val="FF0000"/>
                </a:solidFill>
              </a:rPr>
              <a:t>天宫一号</a:t>
            </a:r>
            <a:r>
              <a:rPr lang="zh-CN" altLang="en-US" b="1" dirty="0"/>
              <a:t>：</a:t>
            </a:r>
            <a:r>
              <a:rPr lang="zh-CN" altLang="en-US" dirty="0"/>
              <a:t>是中国第一个目标飞行器和空间实验室，于</a:t>
            </a:r>
            <a:r>
              <a:rPr lang="en-US" altLang="zh-CN" dirty="0"/>
              <a:t>2011</a:t>
            </a:r>
            <a:r>
              <a:rPr lang="zh-CN" altLang="en-US" dirty="0"/>
              <a:t>年</a:t>
            </a:r>
            <a:r>
              <a:rPr lang="en-US" altLang="zh-CN" dirty="0"/>
              <a:t>9</a:t>
            </a:r>
            <a:r>
              <a:rPr lang="zh-CN" altLang="en-US" dirty="0"/>
              <a:t>月</a:t>
            </a:r>
            <a:r>
              <a:rPr lang="en-US" altLang="zh-CN" dirty="0"/>
              <a:t>29</a:t>
            </a:r>
            <a:r>
              <a:rPr lang="zh-CN" altLang="en-US" dirty="0"/>
              <a:t>日</a:t>
            </a:r>
            <a:r>
              <a:rPr lang="en-US" altLang="zh-CN" dirty="0"/>
              <a:t>21</a:t>
            </a:r>
            <a:r>
              <a:rPr lang="zh-CN" altLang="en-US" dirty="0"/>
              <a:t>时</a:t>
            </a:r>
            <a:r>
              <a:rPr lang="en-US" altLang="zh-CN" dirty="0"/>
              <a:t>16</a:t>
            </a:r>
            <a:r>
              <a:rPr lang="zh-CN" altLang="en-US" dirty="0"/>
              <a:t>分</a:t>
            </a:r>
            <a:r>
              <a:rPr lang="en-US" altLang="zh-CN" dirty="0"/>
              <a:t>3</a:t>
            </a:r>
            <a:r>
              <a:rPr lang="zh-CN" altLang="en-US" dirty="0"/>
              <a:t>秒在酒泉卫星发射中心发射。</a:t>
            </a:r>
            <a:endParaRPr lang="en-US" altLang="zh-CN" dirty="0"/>
          </a:p>
          <a:p>
            <a:endParaRPr lang="en-US" altLang="zh-CN" dirty="0"/>
          </a:p>
          <a:p>
            <a:r>
              <a:rPr lang="zh-CN" altLang="en-US" b="1" dirty="0">
                <a:solidFill>
                  <a:srgbClr val="FF0000"/>
                </a:solidFill>
              </a:rPr>
              <a:t>神舟九号</a:t>
            </a:r>
            <a:r>
              <a:rPr lang="zh-CN" altLang="en-US" dirty="0">
                <a:solidFill>
                  <a:srgbClr val="FF0000"/>
                </a:solidFill>
              </a:rPr>
              <a:t>：</a:t>
            </a:r>
            <a:r>
              <a:rPr lang="en-US" altLang="zh-CN" dirty="0"/>
              <a:t>2012</a:t>
            </a:r>
            <a:r>
              <a:rPr lang="zh-CN" altLang="en-US" dirty="0"/>
              <a:t>年</a:t>
            </a:r>
            <a:r>
              <a:rPr lang="en-US" altLang="zh-CN" dirty="0"/>
              <a:t>6</a:t>
            </a:r>
            <a:r>
              <a:rPr lang="zh-CN" altLang="en-US" dirty="0"/>
              <a:t>月</a:t>
            </a:r>
            <a:r>
              <a:rPr lang="en-US" altLang="zh-CN" dirty="0"/>
              <a:t>16</a:t>
            </a:r>
            <a:r>
              <a:rPr lang="zh-CN" altLang="en-US" dirty="0"/>
              <a:t>日</a:t>
            </a:r>
            <a:r>
              <a:rPr lang="en-US" altLang="zh-CN" dirty="0"/>
              <a:t>18</a:t>
            </a:r>
            <a:r>
              <a:rPr lang="zh-CN" altLang="en-US" dirty="0"/>
              <a:t>时</a:t>
            </a:r>
            <a:r>
              <a:rPr lang="en-US" altLang="zh-CN" dirty="0"/>
              <a:t>37</a:t>
            </a:r>
            <a:r>
              <a:rPr lang="zh-CN" altLang="en-US" dirty="0"/>
              <a:t>分，飞船在酒泉卫星发射中心发射升空。</a:t>
            </a:r>
            <a:r>
              <a:rPr lang="en-US" altLang="zh-CN" dirty="0"/>
              <a:t>2012</a:t>
            </a:r>
            <a:r>
              <a:rPr lang="zh-CN" altLang="en-US" dirty="0"/>
              <a:t>年</a:t>
            </a:r>
            <a:r>
              <a:rPr lang="en-US" altLang="zh-CN" dirty="0"/>
              <a:t>6</a:t>
            </a:r>
            <a:r>
              <a:rPr lang="zh-CN" altLang="en-US" dirty="0"/>
              <a:t>月</a:t>
            </a:r>
            <a:r>
              <a:rPr lang="en-US" altLang="zh-CN" dirty="0"/>
              <a:t>18</a:t>
            </a:r>
            <a:r>
              <a:rPr lang="zh-CN" altLang="en-US" dirty="0"/>
              <a:t>日约</a:t>
            </a:r>
            <a:r>
              <a:rPr lang="en-US" altLang="zh-CN" dirty="0"/>
              <a:t>11</a:t>
            </a:r>
            <a:r>
              <a:rPr lang="zh-CN" altLang="en-US" dirty="0"/>
              <a:t>时左右转入自主控制飞行，</a:t>
            </a:r>
            <a:r>
              <a:rPr lang="en-US" altLang="zh-CN" dirty="0"/>
              <a:t>14</a:t>
            </a:r>
            <a:r>
              <a:rPr lang="zh-CN" altLang="en-US" dirty="0"/>
              <a:t>时左右与天宫一号实施自动交会对接，这是中国实施的首次载人空间交会对接。</a:t>
            </a:r>
            <a:endParaRPr lang="en-US" altLang="zh-CN" dirty="0"/>
          </a:p>
          <a:p>
            <a:pPr latinLnBrk="1"/>
            <a:endParaRPr lang="en-US" altLang="zh-CN" dirty="0"/>
          </a:p>
          <a:p>
            <a:pPr latinLnBrk="1"/>
            <a:r>
              <a:rPr lang="zh-CN" altLang="en-US" dirty="0"/>
              <a:t>天宫一号与神九或神十的载人交会对接无疑将为中国航天史上掀开极具突破性的一章，然而这一切，都是为了“</a:t>
            </a:r>
            <a:r>
              <a:rPr lang="zh-CN" altLang="en-US" dirty="0">
                <a:solidFill>
                  <a:srgbClr val="FF0000"/>
                </a:solidFill>
              </a:rPr>
              <a:t>空间站</a:t>
            </a:r>
            <a:r>
              <a:rPr lang="zh-CN" altLang="en-US" dirty="0"/>
              <a:t>”的搭建。中国计划在</a:t>
            </a:r>
            <a:r>
              <a:rPr lang="en-US" altLang="zh-CN" dirty="0"/>
              <a:t>2014</a:t>
            </a:r>
            <a:r>
              <a:rPr lang="zh-CN" altLang="en-US" dirty="0"/>
              <a:t>年发射太空站的核心舱，然后以核心舱为基础，再对接实验舱、货运飞船。预计我国的空间站整个重量大约是</a:t>
            </a:r>
            <a:r>
              <a:rPr lang="en-US" altLang="zh-CN" dirty="0"/>
              <a:t>60</a:t>
            </a:r>
            <a:r>
              <a:rPr lang="zh-CN" altLang="en-US" dirty="0"/>
              <a:t>吨，其中核心舱</a:t>
            </a:r>
            <a:r>
              <a:rPr lang="en-US" altLang="zh-CN" dirty="0"/>
              <a:t>20</a:t>
            </a:r>
            <a:r>
              <a:rPr lang="zh-CN" altLang="en-US" dirty="0"/>
              <a:t>吨，还有两个实验舱、载人飞船、货运飞船。“长征五号”的运载能力是</a:t>
            </a:r>
            <a:r>
              <a:rPr lang="en-US" altLang="zh-CN" dirty="0"/>
              <a:t>25</a:t>
            </a:r>
            <a:r>
              <a:rPr lang="zh-CN" altLang="en-US" dirty="0"/>
              <a:t>吨，完全有能力将核心舱送入太空，它完全采用无毒无污染推进剂。</a:t>
            </a:r>
            <a:r>
              <a:rPr lang="zh-CN" altLang="en-US" u="sng" dirty="0">
                <a:hlinkClick r:id="rId2"/>
              </a:rPr>
              <a:t>国际空间站</a:t>
            </a:r>
            <a:r>
              <a:rPr lang="zh-CN" altLang="en-US" dirty="0"/>
              <a:t>预计在</a:t>
            </a:r>
            <a:r>
              <a:rPr lang="en-US" altLang="zh-CN" dirty="0"/>
              <a:t>2020</a:t>
            </a:r>
            <a:r>
              <a:rPr lang="zh-CN" altLang="en-US" dirty="0"/>
              <a:t>年退役，而到</a:t>
            </a:r>
            <a:r>
              <a:rPr lang="en-US" altLang="zh-CN" dirty="0"/>
              <a:t>2020</a:t>
            </a:r>
            <a:r>
              <a:rPr lang="zh-CN" altLang="en-US" dirty="0"/>
              <a:t>年，中国将建成自己的太空家园，那时，中国空间站或将成为世界唯一的空间站。</a:t>
            </a:r>
            <a:br>
              <a:rPr lang="zh-CN" altLang="en-US" dirty="0"/>
            </a:br>
            <a:endParaRPr lang="zh-CN" altLang="en-US" dirty="0"/>
          </a:p>
        </p:txBody>
      </p:sp>
      <p:pic>
        <p:nvPicPr>
          <p:cNvPr id="75783"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11748" t="19024" r="17074" b="11460"/>
          <a:stretch/>
        </p:blipFill>
        <p:spPr bwMode="auto">
          <a:xfrm>
            <a:off x="-47062" y="836712"/>
            <a:ext cx="9083558"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1398316"/>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1" name="Picture 2" descr="天宫一号结构示意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983" y="183295"/>
            <a:ext cx="5104034" cy="302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4" name="Picture 4" descr="http://img3.cache.netease.com/photo/0001/2011-08-11/900x600_7B6APBTV00AN00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486" y="3377873"/>
            <a:ext cx="5139531" cy="341136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8"/>
          <p:cNvSpPr>
            <a:spLocks noChangeArrowheads="1"/>
          </p:cNvSpPr>
          <p:nvPr/>
        </p:nvSpPr>
        <p:spPr bwMode="auto">
          <a:xfrm>
            <a:off x="2446338" y="0"/>
            <a:ext cx="42513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rPr>
            </a:b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1411632162"/>
      </p:ext>
    </p:extLst>
  </p:cSld>
  <p:clrMapOvr>
    <a:masterClrMapping/>
  </p:clrMapOvr>
  <p:transition>
    <p:checker dir="ver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918" y="4250539"/>
            <a:ext cx="3981330" cy="2592288"/>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3316" y="897128"/>
            <a:ext cx="3985770" cy="3353412"/>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97127"/>
            <a:ext cx="5076056" cy="3353412"/>
          </a:xfrm>
          <a:prstGeom prst="rect">
            <a:avLst/>
          </a:prstGeom>
        </p:spPr>
      </p:pic>
      <p:sp>
        <p:nvSpPr>
          <p:cNvPr id="7" name="矩形 6"/>
          <p:cNvSpPr/>
          <p:nvPr/>
        </p:nvSpPr>
        <p:spPr>
          <a:xfrm>
            <a:off x="323528" y="66130"/>
            <a:ext cx="8640960" cy="830997"/>
          </a:xfrm>
          <a:prstGeom prst="rect">
            <a:avLst/>
          </a:prstGeom>
        </p:spPr>
        <p:txBody>
          <a:bodyPr wrap="square">
            <a:spAutoFit/>
          </a:bodyPr>
          <a:lstStyle/>
          <a:p>
            <a:r>
              <a:rPr lang="zh-CN" altLang="en-US" b="1" dirty="0">
                <a:solidFill>
                  <a:schemeClr val="accent2"/>
                </a:solidFill>
                <a:latin typeface="arial" panose="020B0604020202020204" pitchFamily="34" charset="0"/>
              </a:rPr>
              <a:t>天宫二号空间实验室已于</a:t>
            </a:r>
            <a:r>
              <a:rPr lang="en-US" altLang="zh-CN" b="1" dirty="0">
                <a:solidFill>
                  <a:schemeClr val="accent2"/>
                </a:solidFill>
                <a:latin typeface="arial" panose="020B0604020202020204" pitchFamily="34" charset="0"/>
              </a:rPr>
              <a:t>2016</a:t>
            </a:r>
            <a:r>
              <a:rPr lang="zh-CN" altLang="en-US" b="1" dirty="0">
                <a:solidFill>
                  <a:schemeClr val="accent2"/>
                </a:solidFill>
                <a:latin typeface="arial" panose="020B0604020202020204" pitchFamily="34" charset="0"/>
              </a:rPr>
              <a:t>年</a:t>
            </a:r>
            <a:r>
              <a:rPr lang="en-US" altLang="zh-CN" b="1" dirty="0">
                <a:solidFill>
                  <a:schemeClr val="accent2"/>
                </a:solidFill>
                <a:latin typeface="arial" panose="020B0604020202020204" pitchFamily="34" charset="0"/>
              </a:rPr>
              <a:t>9</a:t>
            </a:r>
            <a:r>
              <a:rPr lang="zh-CN" altLang="en-US" b="1" dirty="0">
                <a:solidFill>
                  <a:schemeClr val="accent2"/>
                </a:solidFill>
                <a:latin typeface="arial" panose="020B0604020202020204" pitchFamily="34" charset="0"/>
              </a:rPr>
              <a:t>月</a:t>
            </a:r>
            <a:r>
              <a:rPr lang="en-US" altLang="zh-CN" b="1" dirty="0">
                <a:solidFill>
                  <a:schemeClr val="accent2"/>
                </a:solidFill>
                <a:latin typeface="arial" panose="020B0604020202020204" pitchFamily="34" charset="0"/>
              </a:rPr>
              <a:t>15</a:t>
            </a:r>
            <a:r>
              <a:rPr lang="zh-CN" altLang="en-US" b="1" dirty="0">
                <a:solidFill>
                  <a:schemeClr val="accent2"/>
                </a:solidFill>
                <a:latin typeface="arial" panose="020B0604020202020204" pitchFamily="34" charset="0"/>
              </a:rPr>
              <a:t>日</a:t>
            </a:r>
            <a:r>
              <a:rPr lang="en-US" altLang="zh-CN" b="1" dirty="0">
                <a:solidFill>
                  <a:schemeClr val="accent2"/>
                </a:solidFill>
                <a:latin typeface="arial" panose="020B0604020202020204" pitchFamily="34" charset="0"/>
              </a:rPr>
              <a:t>22</a:t>
            </a:r>
            <a:r>
              <a:rPr lang="zh-CN" altLang="en-US" b="1" dirty="0">
                <a:solidFill>
                  <a:schemeClr val="accent2"/>
                </a:solidFill>
                <a:latin typeface="arial" panose="020B0604020202020204" pitchFamily="34" charset="0"/>
              </a:rPr>
              <a:t>时</a:t>
            </a:r>
            <a:r>
              <a:rPr lang="en-US" altLang="zh-CN" b="1" dirty="0">
                <a:solidFill>
                  <a:schemeClr val="accent2"/>
                </a:solidFill>
                <a:latin typeface="arial" panose="020B0604020202020204" pitchFamily="34" charset="0"/>
              </a:rPr>
              <a:t>04</a:t>
            </a:r>
            <a:r>
              <a:rPr lang="zh-CN" altLang="en-US" b="1" dirty="0">
                <a:solidFill>
                  <a:schemeClr val="accent2"/>
                </a:solidFill>
                <a:latin typeface="arial" panose="020B0604020202020204" pitchFamily="34" charset="0"/>
              </a:rPr>
              <a:t>分</a:t>
            </a:r>
            <a:r>
              <a:rPr lang="en-US" altLang="zh-CN" b="1" dirty="0">
                <a:solidFill>
                  <a:schemeClr val="accent2"/>
                </a:solidFill>
                <a:latin typeface="arial" panose="020B0604020202020204" pitchFamily="34" charset="0"/>
              </a:rPr>
              <a:t>09</a:t>
            </a:r>
            <a:r>
              <a:rPr lang="zh-CN" altLang="en-US" b="1" dirty="0">
                <a:solidFill>
                  <a:schemeClr val="accent2"/>
                </a:solidFill>
                <a:latin typeface="arial" panose="020B0604020202020204" pitchFamily="34" charset="0"/>
              </a:rPr>
              <a:t>秒在酒泉卫星发射中心发射成功。</a:t>
            </a:r>
            <a:endParaRPr lang="zh-CN" altLang="en-US" b="1" dirty="0">
              <a:solidFill>
                <a:schemeClr val="accent2"/>
              </a:solidFill>
            </a:endParaRPr>
          </a:p>
        </p:txBody>
      </p:sp>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1248" y="4252027"/>
            <a:ext cx="3905250" cy="2590800"/>
          </a:xfrm>
          <a:prstGeom prst="rect">
            <a:avLst/>
          </a:prstGeom>
        </p:spPr>
      </p:pic>
    </p:spTree>
    <p:extLst>
      <p:ext uri="{BB962C8B-B14F-4D97-AF65-F5344CB8AC3E}">
        <p14:creationId xmlns:p14="http://schemas.microsoft.com/office/powerpoint/2010/main" val="280214397"/>
      </p:ext>
    </p:extLst>
  </p:cSld>
  <p:clrMapOvr>
    <a:masterClrMapping/>
  </p:clrMapOvr>
  <p:transition>
    <p:checker dir="ver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794A979-0886-41AD-86B5-CF8DB713A8C4}"/>
              </a:ext>
            </a:extLst>
          </p:cNvPr>
          <p:cNvSpPr/>
          <p:nvPr/>
        </p:nvSpPr>
        <p:spPr>
          <a:xfrm>
            <a:off x="27611" y="116632"/>
            <a:ext cx="9361040" cy="461665"/>
          </a:xfrm>
          <a:prstGeom prst="rect">
            <a:avLst/>
          </a:prstGeom>
        </p:spPr>
        <p:txBody>
          <a:bodyPr wrap="square">
            <a:spAutoFit/>
          </a:bodyPr>
          <a:lstStyle/>
          <a:p>
            <a:r>
              <a:rPr lang="zh-CN" altLang="en-US">
                <a:hlinkClick r:id="rId2"/>
              </a:rPr>
              <a:t>中国空间站（中国载人空间站“天宫”）</a:t>
            </a:r>
            <a:r>
              <a:rPr lang="en-US" altLang="zh-CN">
                <a:hlinkClick r:id="rId2"/>
              </a:rPr>
              <a:t>_</a:t>
            </a:r>
            <a:r>
              <a:rPr lang="zh-CN" altLang="en-US">
                <a:hlinkClick r:id="rId2"/>
              </a:rPr>
              <a:t>百度百科 </a:t>
            </a:r>
            <a:r>
              <a:rPr lang="en-US" altLang="zh-CN">
                <a:hlinkClick r:id="rId2"/>
              </a:rPr>
              <a:t>(baidu.com)</a:t>
            </a:r>
            <a:endParaRPr lang="zh-CN" altLang="en-US"/>
          </a:p>
        </p:txBody>
      </p:sp>
      <p:sp>
        <p:nvSpPr>
          <p:cNvPr id="4" name="矩形 3">
            <a:extLst>
              <a:ext uri="{FF2B5EF4-FFF2-40B4-BE49-F238E27FC236}">
                <a16:creationId xmlns:a16="http://schemas.microsoft.com/office/drawing/2014/main" id="{E315D2F6-97BF-453E-87D1-5FE3301AAA15}"/>
              </a:ext>
            </a:extLst>
          </p:cNvPr>
          <p:cNvSpPr/>
          <p:nvPr/>
        </p:nvSpPr>
        <p:spPr>
          <a:xfrm>
            <a:off x="179512" y="866329"/>
            <a:ext cx="8856984" cy="6039089"/>
          </a:xfrm>
          <a:prstGeom prst="rect">
            <a:avLst/>
          </a:prstGeom>
        </p:spPr>
        <p:txBody>
          <a:bodyPr wrap="square">
            <a:spAutoFit/>
          </a:bodyPr>
          <a:lstStyle/>
          <a:p>
            <a:pPr>
              <a:lnSpc>
                <a:spcPct val="150000"/>
              </a:lnSpc>
            </a:pPr>
            <a:r>
              <a:rPr lang="zh-CN" altLang="en-US">
                <a:solidFill>
                  <a:srgbClr val="333333"/>
                </a:solidFill>
                <a:latin typeface="Helvetica Neue"/>
              </a:rPr>
              <a:t>载人空间站命名为“</a:t>
            </a:r>
            <a:r>
              <a:rPr lang="zh-CN" altLang="en-US">
                <a:solidFill>
                  <a:srgbClr val="136EC2"/>
                </a:solidFill>
                <a:latin typeface="Helvetica Neue"/>
                <a:hlinkClick r:id="rId3"/>
              </a:rPr>
              <a:t>天宫</a:t>
            </a:r>
            <a:r>
              <a:rPr lang="zh-CN" altLang="en-US">
                <a:solidFill>
                  <a:srgbClr val="333333"/>
                </a:solidFill>
                <a:latin typeface="Helvetica Neue"/>
              </a:rPr>
              <a:t>”，代号“</a:t>
            </a:r>
            <a:r>
              <a:rPr lang="en-US" altLang="zh-CN">
                <a:solidFill>
                  <a:srgbClr val="333333"/>
                </a:solidFill>
                <a:latin typeface="Helvetica Neue"/>
              </a:rPr>
              <a:t>TG”</a:t>
            </a:r>
            <a:r>
              <a:rPr lang="zh-CN" altLang="en-US">
                <a:solidFill>
                  <a:srgbClr val="333333"/>
                </a:solidFill>
                <a:latin typeface="Helvetica Neue"/>
              </a:rPr>
              <a:t>；</a:t>
            </a:r>
          </a:p>
          <a:p>
            <a:pPr>
              <a:lnSpc>
                <a:spcPct val="150000"/>
              </a:lnSpc>
            </a:pPr>
            <a:r>
              <a:rPr lang="zh-CN" altLang="en-US">
                <a:solidFill>
                  <a:srgbClr val="333333"/>
                </a:solidFill>
                <a:latin typeface="Helvetica Neue"/>
              </a:rPr>
              <a:t>核心舱命名为“</a:t>
            </a:r>
            <a:r>
              <a:rPr lang="zh-CN" altLang="en-US">
                <a:solidFill>
                  <a:srgbClr val="136EC2"/>
                </a:solidFill>
                <a:latin typeface="Helvetica Neue"/>
                <a:hlinkClick r:id="rId4"/>
              </a:rPr>
              <a:t>天和</a:t>
            </a:r>
            <a:r>
              <a:rPr lang="zh-CN" altLang="en-US">
                <a:solidFill>
                  <a:srgbClr val="333333"/>
                </a:solidFill>
                <a:latin typeface="Helvetica Neue"/>
              </a:rPr>
              <a:t>”，代号“</a:t>
            </a:r>
            <a:r>
              <a:rPr lang="en-US" altLang="zh-CN">
                <a:solidFill>
                  <a:srgbClr val="333333"/>
                </a:solidFill>
                <a:latin typeface="Helvetica Neue"/>
              </a:rPr>
              <a:t>TH”</a:t>
            </a:r>
            <a:r>
              <a:rPr lang="zh-CN" altLang="en-US">
                <a:solidFill>
                  <a:srgbClr val="333333"/>
                </a:solidFill>
                <a:latin typeface="Helvetica Neue"/>
              </a:rPr>
              <a:t>；</a:t>
            </a:r>
          </a:p>
          <a:p>
            <a:pPr>
              <a:lnSpc>
                <a:spcPct val="150000"/>
              </a:lnSpc>
            </a:pPr>
            <a:r>
              <a:rPr lang="zh-CN" altLang="en-US">
                <a:solidFill>
                  <a:srgbClr val="333333"/>
                </a:solidFill>
                <a:latin typeface="Helvetica Neue"/>
              </a:rPr>
              <a:t>实验舱</a:t>
            </a:r>
            <a:r>
              <a:rPr lang="en-US" altLang="zh-CN">
                <a:solidFill>
                  <a:srgbClr val="333333"/>
                </a:solidFill>
                <a:latin typeface="Helvetica Neue"/>
              </a:rPr>
              <a:t>Ⅰ</a:t>
            </a:r>
            <a:r>
              <a:rPr lang="zh-CN" altLang="en-US">
                <a:solidFill>
                  <a:srgbClr val="333333"/>
                </a:solidFill>
                <a:latin typeface="Helvetica Neue"/>
              </a:rPr>
              <a:t>命名为“</a:t>
            </a:r>
            <a:r>
              <a:rPr lang="zh-CN" altLang="en-US">
                <a:solidFill>
                  <a:srgbClr val="136EC2"/>
                </a:solidFill>
                <a:latin typeface="Helvetica Neue"/>
                <a:hlinkClick r:id="rId5"/>
              </a:rPr>
              <a:t>问天</a:t>
            </a:r>
            <a:r>
              <a:rPr lang="zh-CN" altLang="en-US">
                <a:solidFill>
                  <a:srgbClr val="333333"/>
                </a:solidFill>
                <a:latin typeface="Helvetica Neue"/>
              </a:rPr>
              <a:t>”，代号“</a:t>
            </a:r>
            <a:r>
              <a:rPr lang="en-US" altLang="zh-CN">
                <a:solidFill>
                  <a:srgbClr val="333333"/>
                </a:solidFill>
                <a:latin typeface="Helvetica Neue"/>
              </a:rPr>
              <a:t>WT”</a:t>
            </a:r>
            <a:r>
              <a:rPr lang="zh-CN" altLang="en-US">
                <a:solidFill>
                  <a:srgbClr val="333333"/>
                </a:solidFill>
                <a:latin typeface="Helvetica Neue"/>
              </a:rPr>
              <a:t>；</a:t>
            </a:r>
          </a:p>
          <a:p>
            <a:pPr>
              <a:lnSpc>
                <a:spcPct val="150000"/>
              </a:lnSpc>
            </a:pPr>
            <a:r>
              <a:rPr lang="zh-CN" altLang="en-US">
                <a:solidFill>
                  <a:srgbClr val="333333"/>
                </a:solidFill>
                <a:latin typeface="Helvetica Neue"/>
              </a:rPr>
              <a:t>实验舱</a:t>
            </a:r>
            <a:r>
              <a:rPr lang="en-US" altLang="zh-CN">
                <a:solidFill>
                  <a:srgbClr val="333333"/>
                </a:solidFill>
                <a:latin typeface="Helvetica Neue"/>
              </a:rPr>
              <a:t>Ⅱ</a:t>
            </a:r>
            <a:r>
              <a:rPr lang="zh-CN" altLang="en-US">
                <a:solidFill>
                  <a:srgbClr val="333333"/>
                </a:solidFill>
                <a:latin typeface="Helvetica Neue"/>
              </a:rPr>
              <a:t>命名为“</a:t>
            </a:r>
            <a:r>
              <a:rPr lang="zh-CN" altLang="en-US">
                <a:solidFill>
                  <a:srgbClr val="136EC2"/>
                </a:solidFill>
                <a:latin typeface="Helvetica Neue"/>
                <a:hlinkClick r:id="rId6"/>
              </a:rPr>
              <a:t>梦天</a:t>
            </a:r>
            <a:r>
              <a:rPr lang="zh-CN" altLang="en-US">
                <a:solidFill>
                  <a:srgbClr val="333333"/>
                </a:solidFill>
                <a:latin typeface="Helvetica Neue"/>
              </a:rPr>
              <a:t>”，代号“</a:t>
            </a:r>
            <a:r>
              <a:rPr lang="en-US" altLang="zh-CN">
                <a:solidFill>
                  <a:srgbClr val="333333"/>
                </a:solidFill>
                <a:latin typeface="Helvetica Neue"/>
              </a:rPr>
              <a:t>MT”</a:t>
            </a:r>
            <a:r>
              <a:rPr lang="zh-CN" altLang="en-US">
                <a:solidFill>
                  <a:srgbClr val="333333"/>
                </a:solidFill>
                <a:latin typeface="Helvetica Neue"/>
              </a:rPr>
              <a:t>；</a:t>
            </a:r>
          </a:p>
          <a:p>
            <a:pPr>
              <a:lnSpc>
                <a:spcPct val="150000"/>
              </a:lnSpc>
            </a:pPr>
            <a:r>
              <a:rPr lang="zh-CN" altLang="en-US">
                <a:solidFill>
                  <a:srgbClr val="333333"/>
                </a:solidFill>
                <a:latin typeface="Helvetica Neue"/>
              </a:rPr>
              <a:t>货运飞船命名为“</a:t>
            </a:r>
            <a:r>
              <a:rPr lang="zh-CN" altLang="en-US">
                <a:solidFill>
                  <a:srgbClr val="136EC2"/>
                </a:solidFill>
                <a:latin typeface="Helvetica Neue"/>
                <a:hlinkClick r:id="rId7"/>
              </a:rPr>
              <a:t>天舟</a:t>
            </a:r>
            <a:r>
              <a:rPr lang="zh-CN" altLang="en-US">
                <a:solidFill>
                  <a:srgbClr val="333333"/>
                </a:solidFill>
                <a:latin typeface="Helvetica Neue"/>
              </a:rPr>
              <a:t>”，代号“</a:t>
            </a:r>
            <a:r>
              <a:rPr lang="en-US" altLang="zh-CN">
                <a:solidFill>
                  <a:srgbClr val="333333"/>
                </a:solidFill>
                <a:latin typeface="Helvetica Neue"/>
              </a:rPr>
              <a:t>TZ”:</a:t>
            </a:r>
            <a:r>
              <a:rPr lang="en-US" altLang="zh-CN" sz="1800">
                <a:solidFill>
                  <a:srgbClr val="333333"/>
                </a:solidFill>
                <a:latin typeface="Helvetica Neue"/>
              </a:rPr>
              <a:t>2017-2022</a:t>
            </a:r>
            <a:r>
              <a:rPr lang="zh-CN" altLang="en-US" sz="1800">
                <a:solidFill>
                  <a:srgbClr val="333333"/>
                </a:solidFill>
                <a:latin typeface="Helvetica Neue"/>
              </a:rPr>
              <a:t>已发射四次：天舟</a:t>
            </a:r>
            <a:r>
              <a:rPr lang="en-US" altLang="zh-CN" sz="1800">
                <a:solidFill>
                  <a:srgbClr val="333333"/>
                </a:solidFill>
                <a:latin typeface="Helvetica Neue"/>
              </a:rPr>
              <a:t>1-4</a:t>
            </a:r>
            <a:r>
              <a:rPr lang="zh-CN" altLang="en-US" sz="1800">
                <a:solidFill>
                  <a:srgbClr val="333333"/>
                </a:solidFill>
                <a:latin typeface="Helvetica Neue"/>
              </a:rPr>
              <a:t>号</a:t>
            </a:r>
            <a:endParaRPr lang="en-US" altLang="zh-CN" sz="1800">
              <a:solidFill>
                <a:srgbClr val="333333"/>
              </a:solidFill>
              <a:latin typeface="Helvetica Neue"/>
            </a:endParaRPr>
          </a:p>
          <a:p>
            <a:pPr>
              <a:lnSpc>
                <a:spcPct val="150000"/>
              </a:lnSpc>
            </a:pPr>
            <a:endParaRPr lang="en-US" altLang="zh-CN" sz="2000"/>
          </a:p>
          <a:p>
            <a:pPr>
              <a:lnSpc>
                <a:spcPct val="150000"/>
              </a:lnSpc>
            </a:pPr>
            <a:r>
              <a:rPr lang="zh-CN" altLang="en-US" sz="2000"/>
              <a:t>中国空间站命名为“天宫”，具有鲜明的中国特色和时代特征，总体方案优化，通过交会对接和转位组装构成空间站本体。其基本构型包括天和核心舱、问天实验舱</a:t>
            </a:r>
            <a:r>
              <a:rPr lang="en-US" altLang="zh-CN" sz="2000"/>
              <a:t>Ⅰ</a:t>
            </a:r>
            <a:r>
              <a:rPr lang="zh-CN" altLang="en-US" sz="2000"/>
              <a:t>和梦天实验舱</a:t>
            </a:r>
            <a:r>
              <a:rPr lang="en-US" altLang="zh-CN" sz="2000"/>
              <a:t>Ⅱ</a:t>
            </a:r>
            <a:r>
              <a:rPr lang="zh-CN" altLang="en-US" sz="2000"/>
              <a:t>，每个舱段规模</a:t>
            </a:r>
            <a:r>
              <a:rPr lang="en-US" altLang="zh-CN" sz="2000"/>
              <a:t>20</a:t>
            </a:r>
            <a:r>
              <a:rPr lang="zh-CN" altLang="en-US" sz="2000"/>
              <a:t>吨级。空间站在轨运行期间，由神舟载人飞船提供乘员运输，由</a:t>
            </a:r>
            <a:r>
              <a:rPr lang="zh-CN" altLang="en-US" sz="2000">
                <a:hlinkClick r:id="rId8"/>
              </a:rPr>
              <a:t>天舟货运飞船</a:t>
            </a:r>
            <a:r>
              <a:rPr lang="zh-CN" altLang="en-US" sz="2000"/>
              <a:t>提供补给支持。空间站设计寿命</a:t>
            </a:r>
            <a:r>
              <a:rPr lang="en-US" altLang="zh-CN" sz="2000"/>
              <a:t>10</a:t>
            </a:r>
            <a:r>
              <a:rPr lang="zh-CN" altLang="en-US" sz="2000"/>
              <a:t>年，可根据需要，通过维护维修进一步延长寿命。额定乘员</a:t>
            </a:r>
            <a:r>
              <a:rPr lang="en-US" altLang="zh-CN" sz="2000"/>
              <a:t>3</a:t>
            </a:r>
            <a:r>
              <a:rPr lang="zh-CN" altLang="en-US" sz="2000"/>
              <a:t>人，乘组轮换期间短期可达</a:t>
            </a:r>
            <a:r>
              <a:rPr lang="en-US" altLang="zh-CN" sz="2000"/>
              <a:t>6</a:t>
            </a:r>
            <a:r>
              <a:rPr lang="zh-CN" altLang="en-US" sz="2000"/>
              <a:t>人。</a:t>
            </a:r>
            <a:endParaRPr lang="en-US" altLang="zh-CN" sz="2000" b="0" i="0">
              <a:solidFill>
                <a:srgbClr val="333333"/>
              </a:solidFill>
              <a:effectLst/>
              <a:latin typeface="Helvetica Neue"/>
            </a:endParaRPr>
          </a:p>
        </p:txBody>
      </p:sp>
      <p:pic>
        <p:nvPicPr>
          <p:cNvPr id="70658" name="Picture 2" descr="https://bkimg.cdn.bcebos.com/pic/aa18972bd40735fae6cd61c9310118b30f2442a7a239?x-bce-process=image/watermark,image_d2F0ZXIvYmFpa2UyNzI=,g_7,xp_5,yp_5/format,f_auto">
            <a:hlinkClick r:id="rId9"/>
            <a:extLst>
              <a:ext uri="{FF2B5EF4-FFF2-40B4-BE49-F238E27FC236}">
                <a16:creationId xmlns:a16="http://schemas.microsoft.com/office/drawing/2014/main" id="{A80532CB-0140-4978-9BF8-CF5D6EA994B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814" y="793298"/>
            <a:ext cx="9144000" cy="596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436905"/>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教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3300"/>
      </a:folHlink>
    </a:clrScheme>
    <a:fontScheme name="教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rgbClr val="FF00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教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D:\MSOffice\Templates\教案.pot</Template>
  <TotalTime>7471</TotalTime>
  <Words>9669</Words>
  <Application>Microsoft Office PowerPoint</Application>
  <PresentationFormat>全屏显示(4:3)</PresentationFormat>
  <Paragraphs>966</Paragraphs>
  <Slides>92</Slides>
  <Notes>14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5</vt:i4>
      </vt:variant>
      <vt:variant>
        <vt:lpstr>幻灯片标题</vt:lpstr>
      </vt:variant>
      <vt:variant>
        <vt:i4>92</vt:i4>
      </vt:variant>
    </vt:vector>
  </HeadingPairs>
  <TitlesOfParts>
    <vt:vector size="118" baseType="lpstr">
      <vt:lpstr>Frutiger-BoldCn</vt:lpstr>
      <vt:lpstr>Helvetica Neue</vt:lpstr>
      <vt:lpstr>Microsoft Yahei</vt:lpstr>
      <vt:lpstr>方正粗宋简体</vt:lpstr>
      <vt:lpstr>黑体</vt:lpstr>
      <vt:lpstr>华文彩云</vt:lpstr>
      <vt:lpstr>华文仿宋</vt:lpstr>
      <vt:lpstr>华文楷体</vt:lpstr>
      <vt:lpstr>华文新魏</vt:lpstr>
      <vt:lpstr>楷体_GB2312</vt:lpstr>
      <vt:lpstr>宋体</vt:lpstr>
      <vt:lpstr>幼圆</vt:lpstr>
      <vt:lpstr>Arial</vt:lpstr>
      <vt:lpstr>Arial</vt:lpstr>
      <vt:lpstr>Bookman Old Style</vt:lpstr>
      <vt:lpstr>Cambria Math</vt:lpstr>
      <vt:lpstr>Monotype Sorts</vt:lpstr>
      <vt:lpstr>Symbol</vt:lpstr>
      <vt:lpstr>Times New Roman</vt:lpstr>
      <vt:lpstr>Wingdings</vt:lpstr>
      <vt:lpstr>教案</vt:lpstr>
      <vt:lpstr>PhotoImpact</vt:lpstr>
      <vt:lpstr>Equation</vt:lpstr>
      <vt:lpstr>Clip</vt:lpstr>
      <vt:lpstr>公式</vt:lpstr>
      <vt:lpstr>MathType 7.0 Equation</vt:lpstr>
      <vt:lpstr>通知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 质点系的动量定理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人类航天事业的发展</vt:lpstr>
      <vt:lpstr>PowerPoint 演示文稿</vt:lpstr>
      <vt:lpstr>PowerPoint 演示文稿</vt:lpstr>
      <vt:lpstr>我国航天事业的发展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动量守恒</dc:title>
  <dc:creator>Wang</dc:creator>
  <cp:lastModifiedBy>Songyou Wang</cp:lastModifiedBy>
  <cp:revision>390</cp:revision>
  <dcterms:created xsi:type="dcterms:W3CDTF">2000-10-27T22:42:25Z</dcterms:created>
  <dcterms:modified xsi:type="dcterms:W3CDTF">2025-09-24T07:11:29Z</dcterms:modified>
</cp:coreProperties>
</file>