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1"/>
  </p:notesMasterIdLst>
  <p:sldIdLst>
    <p:sldId id="548" r:id="rId2"/>
    <p:sldId id="350" r:id="rId3"/>
    <p:sldId id="351" r:id="rId4"/>
    <p:sldId id="352" r:id="rId5"/>
    <p:sldId id="353" r:id="rId6"/>
    <p:sldId id="372" r:id="rId7"/>
    <p:sldId id="354" r:id="rId8"/>
    <p:sldId id="355" r:id="rId9"/>
    <p:sldId id="417" r:id="rId10"/>
    <p:sldId id="288" r:id="rId11"/>
    <p:sldId id="544" r:id="rId12"/>
    <p:sldId id="357" r:id="rId13"/>
    <p:sldId id="358" r:id="rId14"/>
    <p:sldId id="359" r:id="rId15"/>
    <p:sldId id="422" r:id="rId16"/>
    <p:sldId id="483" r:id="rId17"/>
    <p:sldId id="362" r:id="rId18"/>
    <p:sldId id="373" r:id="rId19"/>
    <p:sldId id="290" r:id="rId20"/>
    <p:sldId id="543" r:id="rId21"/>
    <p:sldId id="374" r:id="rId22"/>
    <p:sldId id="375" r:id="rId23"/>
    <p:sldId id="435" r:id="rId24"/>
    <p:sldId id="376" r:id="rId25"/>
    <p:sldId id="549" r:id="rId26"/>
    <p:sldId id="377" r:id="rId27"/>
    <p:sldId id="294" r:id="rId28"/>
    <p:sldId id="418" r:id="rId29"/>
    <p:sldId id="419" r:id="rId30"/>
    <p:sldId id="420" r:id="rId31"/>
    <p:sldId id="421" r:id="rId32"/>
    <p:sldId id="379" r:id="rId33"/>
    <p:sldId id="437" r:id="rId34"/>
    <p:sldId id="438" r:id="rId35"/>
    <p:sldId id="381" r:id="rId36"/>
    <p:sldId id="382" r:id="rId37"/>
    <p:sldId id="383" r:id="rId38"/>
    <p:sldId id="439" r:id="rId39"/>
    <p:sldId id="440" r:id="rId40"/>
    <p:sldId id="515" r:id="rId41"/>
    <p:sldId id="533" r:id="rId42"/>
    <p:sldId id="534" r:id="rId43"/>
    <p:sldId id="535" r:id="rId44"/>
    <p:sldId id="536" r:id="rId45"/>
    <p:sldId id="537" r:id="rId46"/>
    <p:sldId id="538" r:id="rId47"/>
    <p:sldId id="553" r:id="rId48"/>
    <p:sldId id="550" r:id="rId49"/>
    <p:sldId id="552" r:id="rId50"/>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a:srgbClr val="FF0000"/>
    <a:srgbClr val="0000FF"/>
    <a:srgbClr val="00FFFF"/>
    <a:srgbClr val="CCFFFF"/>
    <a:srgbClr val="FFFF00"/>
    <a:srgbClr val="FFFF99"/>
    <a:srgbClr val="CC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86285" autoAdjust="0"/>
  </p:normalViewPr>
  <p:slideViewPr>
    <p:cSldViewPr>
      <p:cViewPr varScale="1">
        <p:scale>
          <a:sx n="55" d="100"/>
          <a:sy n="55" d="100"/>
        </p:scale>
        <p:origin x="1552" y="40"/>
      </p:cViewPr>
      <p:guideLst>
        <p:guide orient="horz" pos="2160"/>
        <p:guide pos="2880"/>
      </p:guideLst>
    </p:cSldViewPr>
  </p:slideViewPr>
  <p:outlineViewPr>
    <p:cViewPr>
      <p:scale>
        <a:sx n="33" d="100"/>
        <a:sy n="33" d="100"/>
      </p:scale>
      <p:origin x="0" y="-37449"/>
    </p:cViewPr>
  </p:outlineViewPr>
  <p:notesTextViewPr>
    <p:cViewPr>
      <p:scale>
        <a:sx n="100" d="100"/>
        <a:sy n="100" d="100"/>
      </p:scale>
      <p:origin x="0" y="0"/>
    </p:cViewPr>
  </p:notesTextViewPr>
  <p:sorterViewPr>
    <p:cViewPr varScale="1">
      <p:scale>
        <a:sx n="1" d="1"/>
        <a:sy n="1" d="1"/>
      </p:scale>
      <p:origin x="0" y="-1245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7.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28.wmf"/><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6.wmf"/><Relationship Id="rId2" Type="http://schemas.openxmlformats.org/officeDocument/2006/relationships/image" Target="../media/image42.wmf"/><Relationship Id="rId1" Type="http://schemas.openxmlformats.org/officeDocument/2006/relationships/image" Target="../media/image41.wmf"/><Relationship Id="rId6" Type="http://schemas.openxmlformats.org/officeDocument/2006/relationships/image" Target="../media/image19.wmf"/><Relationship Id="rId5" Type="http://schemas.openxmlformats.org/officeDocument/2006/relationships/image" Target="../media/image45.wmf"/><Relationship Id="rId4"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5" Type="http://schemas.openxmlformats.org/officeDocument/2006/relationships/image" Target="../media/image51.wmf"/><Relationship Id="rId4"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png"/><Relationship Id="rId5" Type="http://schemas.openxmlformats.org/officeDocument/2006/relationships/image" Target="../media/image60.wmf"/><Relationship Id="rId4"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image" Target="../media/image64.wmf"/><Relationship Id="rId7" Type="http://schemas.openxmlformats.org/officeDocument/2006/relationships/image" Target="../media/image68.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5.wmf"/><Relationship Id="rId9"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60.wmf"/><Relationship Id="rId1" Type="http://schemas.openxmlformats.org/officeDocument/2006/relationships/image" Target="../media/image61.png"/><Relationship Id="rId5" Type="http://schemas.openxmlformats.org/officeDocument/2006/relationships/image" Target="../media/image7.wmf"/><Relationship Id="rId4" Type="http://schemas.openxmlformats.org/officeDocument/2006/relationships/image" Target="../media/image7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4" Type="http://schemas.openxmlformats.org/officeDocument/2006/relationships/image" Target="../media/image8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88.wmf"/><Relationship Id="rId1" Type="http://schemas.openxmlformats.org/officeDocument/2006/relationships/image" Target="../media/image90.wmf"/><Relationship Id="rId6" Type="http://schemas.openxmlformats.org/officeDocument/2006/relationships/image" Target="../media/image19.wmf"/><Relationship Id="rId5" Type="http://schemas.openxmlformats.org/officeDocument/2006/relationships/image" Target="../media/image93.wmf"/><Relationship Id="rId4" Type="http://schemas.openxmlformats.org/officeDocument/2006/relationships/image" Target="../media/image92.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image" Target="../media/image96.wmf"/><Relationship Id="rId7" Type="http://schemas.openxmlformats.org/officeDocument/2006/relationships/image" Target="../media/image100.wmf"/><Relationship Id="rId2" Type="http://schemas.openxmlformats.org/officeDocument/2006/relationships/image" Target="../media/image95.wmf"/><Relationship Id="rId1" Type="http://schemas.openxmlformats.org/officeDocument/2006/relationships/image" Target="../media/image94.wmf"/><Relationship Id="rId6" Type="http://schemas.openxmlformats.org/officeDocument/2006/relationships/image" Target="../media/image99.wmf"/><Relationship Id="rId11" Type="http://schemas.openxmlformats.org/officeDocument/2006/relationships/image" Target="../media/image104.wmf"/><Relationship Id="rId5" Type="http://schemas.openxmlformats.org/officeDocument/2006/relationships/image" Target="../media/image98.wmf"/><Relationship Id="rId10" Type="http://schemas.openxmlformats.org/officeDocument/2006/relationships/image" Target="../media/image103.wmf"/><Relationship Id="rId4" Type="http://schemas.openxmlformats.org/officeDocument/2006/relationships/image" Target="../media/image97.wmf"/><Relationship Id="rId9" Type="http://schemas.openxmlformats.org/officeDocument/2006/relationships/image" Target="../media/image10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 Id="rId4" Type="http://schemas.openxmlformats.org/officeDocument/2006/relationships/image" Target="../media/image10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11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15.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wmf"/><Relationship Id="rId1" Type="http://schemas.openxmlformats.org/officeDocument/2006/relationships/image" Target="../media/image116.wmf"/><Relationship Id="rId4" Type="http://schemas.openxmlformats.org/officeDocument/2006/relationships/image" Target="../media/image119.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25.wmf"/><Relationship Id="rId2" Type="http://schemas.openxmlformats.org/officeDocument/2006/relationships/image" Target="../media/image124.wmf"/><Relationship Id="rId1" Type="http://schemas.openxmlformats.org/officeDocument/2006/relationships/image" Target="../media/image123.wmf"/><Relationship Id="rId4" Type="http://schemas.openxmlformats.org/officeDocument/2006/relationships/image" Target="../media/image126.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0.emf"/><Relationship Id="rId2" Type="http://schemas.openxmlformats.org/officeDocument/2006/relationships/image" Target="../media/image129.emf"/><Relationship Id="rId1" Type="http://schemas.openxmlformats.org/officeDocument/2006/relationships/image" Target="../media/image128.emf"/><Relationship Id="rId4" Type="http://schemas.openxmlformats.org/officeDocument/2006/relationships/image" Target="../media/image13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 Id="rId4" Type="http://schemas.openxmlformats.org/officeDocument/2006/relationships/image" Target="../media/image137.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39.wmf"/><Relationship Id="rId1" Type="http://schemas.openxmlformats.org/officeDocument/2006/relationships/image" Target="../media/image138.w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3.wmf"/><Relationship Id="rId7" Type="http://schemas.openxmlformats.org/officeDocument/2006/relationships/image" Target="../media/image71.wmf"/><Relationship Id="rId12" Type="http://schemas.openxmlformats.org/officeDocument/2006/relationships/image" Target="../media/image143.wmf"/><Relationship Id="rId2" Type="http://schemas.openxmlformats.org/officeDocument/2006/relationships/image" Target="../media/image2.wmf"/><Relationship Id="rId1" Type="http://schemas.openxmlformats.org/officeDocument/2006/relationships/image" Target="../media/image1.wmf"/><Relationship Id="rId6" Type="http://schemas.openxmlformats.org/officeDocument/2006/relationships/image" Target="../media/image19.wmf"/><Relationship Id="rId11" Type="http://schemas.openxmlformats.org/officeDocument/2006/relationships/image" Target="../media/image130.emf"/><Relationship Id="rId5" Type="http://schemas.openxmlformats.org/officeDocument/2006/relationships/image" Target="../media/image5.wmf"/><Relationship Id="rId10" Type="http://schemas.openxmlformats.org/officeDocument/2006/relationships/image" Target="../media/image129.emf"/><Relationship Id="rId4" Type="http://schemas.openxmlformats.org/officeDocument/2006/relationships/image" Target="../media/image4.wmf"/><Relationship Id="rId9"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ffectLst/>
                <a:cs typeface="+mn-cs"/>
              </a:defRPr>
            </a:lvl1pPr>
          </a:lstStyle>
          <a:p>
            <a:pPr>
              <a:defRPr/>
            </a:pPr>
            <a:endParaRPr lang="en-US" altLang="zh-CN"/>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ffectLst/>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cs typeface="+mn-cs"/>
              </a:defRPr>
            </a:lvl1pPr>
          </a:lstStyle>
          <a:p>
            <a:pPr>
              <a:defRPr/>
            </a:pPr>
            <a:endParaRPr lang="en-US" altLang="zh-CN"/>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cs typeface="Arial" panose="020B0604020202020204" pitchFamily="34" charset="0"/>
              </a:defRPr>
            </a:lvl1pPr>
          </a:lstStyle>
          <a:p>
            <a:pPr>
              <a:defRPr/>
            </a:pPr>
            <a:fld id="{CB9446CB-3D22-4BD9-88F8-925168EFF50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aike.baidu.com/item/%E4%BD%93%E7%A7%AF"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a:ln/>
        </p:spPr>
      </p:sp>
      <p:sp>
        <p:nvSpPr>
          <p:cNvPr id="10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8EB0F7F-A60B-4E26-AC8C-CAADAB4638AE}" type="slidenum">
              <a:rPr lang="en-US" altLang="zh-CN" smtClean="0"/>
              <a:pPr>
                <a:spcBef>
                  <a:spcPct val="0"/>
                </a:spcBef>
              </a:pPr>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a:solidFill>
                  <a:schemeClr val="tx1"/>
                </a:solidFill>
                <a:effectLst/>
                <a:latin typeface="Times New Roman" pitchFamily="18" charset="0"/>
                <a:ea typeface="宋体" pitchFamily="2" charset="-122"/>
                <a:cs typeface="+mn-cs"/>
              </a:rPr>
              <a:t>墓碑上刻着的，是普朗克常数，根据</a:t>
            </a:r>
            <a:r>
              <a:rPr kumimoji="1" lang="en-US" altLang="zh-CN" sz="1200" b="0" i="0" kern="1200">
                <a:solidFill>
                  <a:schemeClr val="tx1"/>
                </a:solidFill>
                <a:effectLst/>
                <a:latin typeface="Times New Roman" pitchFamily="18" charset="0"/>
                <a:ea typeface="宋体" pitchFamily="2" charset="-122"/>
                <a:cs typeface="+mn-cs"/>
              </a:rPr>
              <a:t>2017</a:t>
            </a:r>
            <a:r>
              <a:rPr kumimoji="1" lang="zh-CN" altLang="en-US" sz="1200" b="0" i="0" kern="1200">
                <a:solidFill>
                  <a:schemeClr val="tx1"/>
                </a:solidFill>
                <a:effectLst/>
                <a:latin typeface="Times New Roman" pitchFamily="18" charset="0"/>
                <a:ea typeface="宋体" pitchFamily="2" charset="-122"/>
                <a:cs typeface="+mn-cs"/>
              </a:rPr>
              <a:t>年</a:t>
            </a:r>
            <a:r>
              <a:rPr kumimoji="1" lang="en-US" altLang="zh-CN" sz="1200" b="0" i="0" kern="1200">
                <a:solidFill>
                  <a:schemeClr val="tx1"/>
                </a:solidFill>
                <a:effectLst/>
                <a:latin typeface="Times New Roman" pitchFamily="18" charset="0"/>
                <a:ea typeface="宋体" pitchFamily="2" charset="-122"/>
                <a:cs typeface="+mn-cs"/>
              </a:rPr>
              <a:t>CODATA</a:t>
            </a:r>
            <a:r>
              <a:rPr kumimoji="1" lang="zh-CN" altLang="en-US" sz="1200" b="0" i="0" kern="1200">
                <a:solidFill>
                  <a:schemeClr val="tx1"/>
                </a:solidFill>
                <a:effectLst/>
                <a:latin typeface="Times New Roman" pitchFamily="18" charset="0"/>
                <a:ea typeface="宋体" pitchFamily="2" charset="-122"/>
                <a:cs typeface="+mn-cs"/>
              </a:rPr>
              <a:t>公布的数据，目前国际上最权威的测量值是：</a:t>
            </a:r>
            <a:r>
              <a:rPr kumimoji="1" lang="en-US" altLang="zh-CN" sz="1200" b="0" i="0" kern="1200">
                <a:solidFill>
                  <a:schemeClr val="tx1"/>
                </a:solidFill>
                <a:effectLst/>
                <a:latin typeface="Times New Roman" pitchFamily="18" charset="0"/>
                <a:ea typeface="宋体" pitchFamily="2" charset="-122"/>
                <a:cs typeface="+mn-cs"/>
              </a:rPr>
              <a:t>6.62X10-32W/s2</a:t>
            </a:r>
            <a:endParaRPr kumimoji="1" lang="zh-CN" altLang="en-US" sz="1200" b="0" i="0" kern="1200">
              <a:solidFill>
                <a:schemeClr val="tx1"/>
              </a:solidFill>
              <a:effectLst/>
              <a:latin typeface="Times New Roman" pitchFamily="18" charset="0"/>
              <a:ea typeface="宋体" pitchFamily="2" charset="-122"/>
              <a:cs typeface="+mn-cs"/>
            </a:endParaRPr>
          </a:p>
          <a:p>
            <a:r>
              <a:rPr kumimoji="1" lang="zh-CN" altLang="en-US" sz="1200" b="0" i="0" kern="1200">
                <a:solidFill>
                  <a:schemeClr val="tx1"/>
                </a:solidFill>
                <a:effectLst/>
                <a:latin typeface="Times New Roman" pitchFamily="18" charset="0"/>
                <a:ea typeface="宋体" pitchFamily="2" charset="-122"/>
                <a:cs typeface="+mn-cs"/>
              </a:rPr>
              <a:t>不过，你可能发现了，墓碑上刻的单位是</a:t>
            </a:r>
            <a:r>
              <a:rPr kumimoji="1" lang="en-US" altLang="zh-CN" sz="1200" b="0" i="0" kern="1200">
                <a:solidFill>
                  <a:schemeClr val="tx1"/>
                </a:solidFill>
                <a:effectLst/>
                <a:latin typeface="Times New Roman" pitchFamily="18" charset="0"/>
                <a:ea typeface="宋体" pitchFamily="2" charset="-122"/>
                <a:cs typeface="+mn-cs"/>
              </a:rPr>
              <a:t>W·s2</a:t>
            </a:r>
            <a:r>
              <a:rPr kumimoji="1" lang="zh-CN" altLang="en-US" sz="1200" b="0" i="0" kern="1200">
                <a:solidFill>
                  <a:schemeClr val="tx1"/>
                </a:solidFill>
                <a:effectLst/>
                <a:latin typeface="Times New Roman" pitchFamily="18" charset="0"/>
                <a:ea typeface="宋体" pitchFamily="2" charset="-122"/>
                <a:cs typeface="+mn-cs"/>
              </a:rPr>
              <a:t>，和我们现在最常用的</a:t>
            </a:r>
            <a:r>
              <a:rPr kumimoji="1" lang="en-US" altLang="zh-CN" sz="1200" b="0" i="0" kern="1200">
                <a:solidFill>
                  <a:schemeClr val="tx1"/>
                </a:solidFill>
                <a:effectLst/>
                <a:latin typeface="Times New Roman" pitchFamily="18" charset="0"/>
                <a:ea typeface="宋体" pitchFamily="2" charset="-122"/>
                <a:cs typeface="+mn-cs"/>
              </a:rPr>
              <a:t>J·s</a:t>
            </a:r>
            <a:r>
              <a:rPr kumimoji="1" lang="zh-CN" altLang="en-US" sz="1200" b="0" i="0" kern="1200">
                <a:solidFill>
                  <a:schemeClr val="tx1"/>
                </a:solidFill>
                <a:effectLst/>
                <a:latin typeface="Times New Roman" pitchFamily="18" charset="0"/>
                <a:ea typeface="宋体" pitchFamily="2" charset="-122"/>
                <a:cs typeface="+mn-cs"/>
              </a:rPr>
              <a:t>并不一致，但因为</a:t>
            </a:r>
            <a:r>
              <a:rPr kumimoji="1" lang="en-US" altLang="zh-CN" sz="1200" b="0" i="0" kern="1200">
                <a:solidFill>
                  <a:schemeClr val="tx1"/>
                </a:solidFill>
                <a:effectLst/>
                <a:latin typeface="Times New Roman" pitchFamily="18" charset="0"/>
                <a:ea typeface="宋体" pitchFamily="2" charset="-122"/>
                <a:cs typeface="+mn-cs"/>
              </a:rPr>
              <a:t>1J=1W·s</a:t>
            </a:r>
            <a:r>
              <a:rPr kumimoji="1" lang="zh-CN" altLang="en-US" sz="1200" b="0" i="0" kern="1200">
                <a:solidFill>
                  <a:schemeClr val="tx1"/>
                </a:solidFill>
                <a:effectLst/>
                <a:latin typeface="Times New Roman" pitchFamily="18" charset="0"/>
                <a:ea typeface="宋体" pitchFamily="2" charset="-122"/>
                <a:cs typeface="+mn-cs"/>
              </a:rPr>
              <a:t>，所以量纲其实是等价的。</a:t>
            </a:r>
          </a:p>
          <a:p>
            <a:endParaRPr lang="zh-CN" altLang="en-US"/>
          </a:p>
        </p:txBody>
      </p:sp>
      <p:sp>
        <p:nvSpPr>
          <p:cNvPr id="4" name="灯片编号占位符 3"/>
          <p:cNvSpPr>
            <a:spLocks noGrp="1"/>
          </p:cNvSpPr>
          <p:nvPr>
            <p:ph type="sldNum" sz="quarter" idx="5"/>
          </p:nvPr>
        </p:nvSpPr>
        <p:spPr/>
        <p:txBody>
          <a:bodyPr/>
          <a:lstStyle/>
          <a:p>
            <a:pPr>
              <a:defRPr/>
            </a:pPr>
            <a:fld id="{CB9446CB-3D22-4BD9-88F8-925168EFF502}" type="slidenum">
              <a:rPr lang="en-US" altLang="zh-CN" smtClean="0"/>
              <a:pPr>
                <a:defRPr/>
              </a:pPr>
              <a:t>4</a:t>
            </a:fld>
            <a:endParaRPr lang="en-US" altLang="zh-CN"/>
          </a:p>
        </p:txBody>
      </p:sp>
    </p:spTree>
    <p:extLst>
      <p:ext uri="{BB962C8B-B14F-4D97-AF65-F5344CB8AC3E}">
        <p14:creationId xmlns:p14="http://schemas.microsoft.com/office/powerpoint/2010/main" val="2405787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斯忒藩－玻耳兹曼定律描述黑体辐射场（即光子“气体”）总能量同热力学温度之间关系的一个著名定律。它首先由</a:t>
            </a:r>
            <a:r>
              <a:rPr lang="en-US" altLang="zh-CN"/>
              <a:t>J.</a:t>
            </a:r>
            <a:r>
              <a:rPr lang="zh-CN" altLang="en-US"/>
              <a:t>斯忒藩于</a:t>
            </a:r>
            <a:r>
              <a:rPr lang="en-US" altLang="zh-CN"/>
              <a:t>1879</a:t>
            </a:r>
            <a:r>
              <a:rPr lang="zh-CN" altLang="en-US"/>
              <a:t>年从实验上得到，之后由</a:t>
            </a:r>
            <a:r>
              <a:rPr lang="en-US" altLang="zh-CN"/>
              <a:t>L.</a:t>
            </a:r>
            <a:r>
              <a:rPr lang="zh-CN" altLang="en-US"/>
              <a:t>玻耳兹曼于</a:t>
            </a:r>
            <a:r>
              <a:rPr lang="en-US" altLang="zh-CN"/>
              <a:t>1884</a:t>
            </a:r>
            <a:r>
              <a:rPr lang="zh-CN" altLang="en-US"/>
              <a:t>年根据热力学理论导出。</a:t>
            </a:r>
          </a:p>
        </p:txBody>
      </p:sp>
      <p:sp>
        <p:nvSpPr>
          <p:cNvPr id="4" name="灯片编号占位符 3"/>
          <p:cNvSpPr>
            <a:spLocks noGrp="1"/>
          </p:cNvSpPr>
          <p:nvPr>
            <p:ph type="sldNum" sz="quarter" idx="10"/>
          </p:nvPr>
        </p:nvSpPr>
        <p:spPr/>
        <p:txBody>
          <a:bodyPr/>
          <a:lstStyle/>
          <a:p>
            <a:pPr>
              <a:defRPr/>
            </a:pPr>
            <a:fld id="{CB9446CB-3D22-4BD9-88F8-925168EFF502}" type="slidenum">
              <a:rPr lang="en-US" altLang="zh-CN" smtClean="0"/>
              <a:pPr>
                <a:defRPr/>
              </a:pPr>
              <a:t>5</a:t>
            </a:fld>
            <a:endParaRPr lang="en-US" altLang="zh-CN"/>
          </a:p>
        </p:txBody>
      </p:sp>
    </p:spTree>
    <p:extLst>
      <p:ext uri="{BB962C8B-B14F-4D97-AF65-F5344CB8AC3E}">
        <p14:creationId xmlns:p14="http://schemas.microsoft.com/office/powerpoint/2010/main" val="2571345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A0A5DF4A-7480-4A78-88D9-8E3FB45DEE83}" type="slidenum">
              <a:rPr lang="en-US" altLang="zh-CN" smtClean="0"/>
              <a:pPr>
                <a:spcBef>
                  <a:spcPct val="0"/>
                </a:spcBef>
              </a:pPr>
              <a:t>14</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u="none" strike="noStrike" kern="1200">
                <a:solidFill>
                  <a:schemeClr val="tx1"/>
                </a:solidFill>
                <a:effectLst/>
                <a:latin typeface="Times New Roman" pitchFamily="18" charset="0"/>
                <a:ea typeface="宋体" pitchFamily="2" charset="-122"/>
                <a:cs typeface="+mn-cs"/>
              </a:rPr>
              <a:t>清华大学物理系</a:t>
            </a:r>
            <a:r>
              <a:rPr kumimoji="1" lang="zh-CN" altLang="en-US" sz="1200" b="0" i="0" kern="1200">
                <a:solidFill>
                  <a:schemeClr val="tx1"/>
                </a:solidFill>
                <a:effectLst/>
                <a:latin typeface="Times New Roman" pitchFamily="18" charset="0"/>
                <a:ea typeface="宋体" pitchFamily="2" charset="-122"/>
                <a:cs typeface="+mn-cs"/>
              </a:rPr>
              <a:t>教授张三慧，主编</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大学物理学</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。体例新颖</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内容现代</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在国内有较大影响</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已</a:t>
            </a:r>
            <a:r>
              <a:rPr kumimoji="1" lang="en-US" altLang="zh-CN" sz="1200" b="0" i="0" kern="1200">
                <a:solidFill>
                  <a:schemeClr val="tx1"/>
                </a:solidFill>
                <a:effectLst/>
                <a:latin typeface="Times New Roman" pitchFamily="18" charset="0"/>
                <a:ea typeface="宋体" pitchFamily="2" charset="-122"/>
                <a:cs typeface="+mn-cs"/>
              </a:rPr>
              <a:t>11</a:t>
            </a:r>
            <a:r>
              <a:rPr kumimoji="1" lang="zh-CN" altLang="en-US" sz="1200" b="0" i="0" kern="1200">
                <a:solidFill>
                  <a:schemeClr val="tx1"/>
                </a:solidFill>
                <a:effectLst/>
                <a:latin typeface="Times New Roman" pitchFamily="18" charset="0"/>
                <a:ea typeface="宋体" pitchFamily="2" charset="-122"/>
                <a:cs typeface="+mn-cs"/>
              </a:rPr>
              <a:t>次重印。编写英文版电磁学和量子物理</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并用英语讲授</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甚为优秀生欢迎。参与编译</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现代科学技术词典</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英汉词海</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等</a:t>
            </a:r>
            <a:r>
              <a:rPr kumimoji="1" lang="en-US" altLang="zh-CN" sz="1200" b="0" i="0" kern="1200">
                <a:solidFill>
                  <a:schemeClr val="tx1"/>
                </a:solidFill>
                <a:effectLst/>
                <a:latin typeface="Times New Roman" pitchFamily="18" charset="0"/>
                <a:ea typeface="宋体" pitchFamily="2" charset="-122"/>
                <a:cs typeface="+mn-cs"/>
              </a:rPr>
              <a:t>5</a:t>
            </a:r>
            <a:r>
              <a:rPr kumimoji="1" lang="zh-CN" altLang="en-US" sz="1200" b="0" i="0" kern="1200">
                <a:solidFill>
                  <a:schemeClr val="tx1"/>
                </a:solidFill>
                <a:effectLst/>
                <a:latin typeface="Times New Roman" pitchFamily="18" charset="0"/>
                <a:ea typeface="宋体" pitchFamily="2" charset="-122"/>
                <a:cs typeface="+mn-cs"/>
              </a:rPr>
              <a:t>部辞书。著有</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常见的圆周运动</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漫谈相对论</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等</a:t>
            </a:r>
            <a:r>
              <a:rPr kumimoji="1" lang="en-US" altLang="zh-CN" sz="1200" b="0" i="0" kern="1200">
                <a:solidFill>
                  <a:schemeClr val="tx1"/>
                </a:solidFill>
                <a:effectLst/>
                <a:latin typeface="Times New Roman" pitchFamily="18" charset="0"/>
                <a:ea typeface="宋体" pitchFamily="2" charset="-122"/>
                <a:cs typeface="+mn-cs"/>
              </a:rPr>
              <a:t>7</a:t>
            </a:r>
            <a:r>
              <a:rPr kumimoji="1" lang="zh-CN" altLang="en-US" sz="1200" b="0" i="0" kern="1200">
                <a:solidFill>
                  <a:schemeClr val="tx1"/>
                </a:solidFill>
                <a:effectLst/>
                <a:latin typeface="Times New Roman" pitchFamily="18" charset="0"/>
                <a:ea typeface="宋体" pitchFamily="2" charset="-122"/>
                <a:cs typeface="+mn-cs"/>
              </a:rPr>
              <a:t>本科普书</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其中</a:t>
            </a:r>
            <a:r>
              <a:rPr kumimoji="1" lang="en-US" altLang="zh-CN" sz="1200" b="0" i="0" kern="1200">
                <a:solidFill>
                  <a:schemeClr val="tx1"/>
                </a:solidFill>
                <a:effectLst/>
                <a:latin typeface="Times New Roman" pitchFamily="18" charset="0"/>
                <a:ea typeface="宋体" pitchFamily="2" charset="-122"/>
                <a:cs typeface="+mn-cs"/>
              </a:rPr>
              <a:t>2</a:t>
            </a:r>
            <a:r>
              <a:rPr kumimoji="1" lang="zh-CN" altLang="en-US" sz="1200" b="0" i="0" kern="1200">
                <a:solidFill>
                  <a:schemeClr val="tx1"/>
                </a:solidFill>
                <a:effectLst/>
                <a:latin typeface="Times New Roman" pitchFamily="18" charset="0"/>
                <a:ea typeface="宋体" pitchFamily="2" charset="-122"/>
                <a:cs typeface="+mn-cs"/>
              </a:rPr>
              <a:t>本获奖</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。发表教学研究论文</a:t>
            </a:r>
            <a:r>
              <a:rPr kumimoji="1" lang="en-US" altLang="zh-CN" sz="1200" b="0" i="0" kern="1200">
                <a:solidFill>
                  <a:schemeClr val="tx1"/>
                </a:solidFill>
                <a:effectLst/>
                <a:latin typeface="Times New Roman" pitchFamily="18" charset="0"/>
                <a:ea typeface="宋体" pitchFamily="2" charset="-122"/>
                <a:cs typeface="+mn-cs"/>
              </a:rPr>
              <a:t>20</a:t>
            </a:r>
            <a:r>
              <a:rPr kumimoji="1" lang="zh-CN" altLang="en-US" sz="1200" b="0" i="0" kern="1200">
                <a:solidFill>
                  <a:schemeClr val="tx1"/>
                </a:solidFill>
                <a:effectLst/>
                <a:latin typeface="Times New Roman" pitchFamily="18" charset="0"/>
                <a:ea typeface="宋体" pitchFamily="2" charset="-122"/>
                <a:cs typeface="+mn-cs"/>
              </a:rPr>
              <a:t>余篇</a:t>
            </a:r>
            <a:r>
              <a:rPr kumimoji="1" lang="en-US" altLang="zh-CN" sz="1200" b="0" i="0" kern="1200">
                <a:solidFill>
                  <a:schemeClr val="tx1"/>
                </a:solidFill>
                <a:effectLst/>
                <a:latin typeface="Times New Roman" pitchFamily="18" charset="0"/>
                <a:ea typeface="宋体" pitchFamily="2" charset="-122"/>
                <a:cs typeface="+mn-cs"/>
              </a:rPr>
              <a:t>,</a:t>
            </a:r>
            <a:r>
              <a:rPr kumimoji="1" lang="zh-CN" altLang="en-US" sz="1200" b="0" i="0" kern="1200">
                <a:solidFill>
                  <a:schemeClr val="tx1"/>
                </a:solidFill>
                <a:effectLst/>
                <a:latin typeface="Times New Roman" pitchFamily="18" charset="0"/>
                <a:ea typeface="宋体" pitchFamily="2" charset="-122"/>
                <a:cs typeface="+mn-cs"/>
              </a:rPr>
              <a:t>其中介绍国外物理教材和阐述物理教学应广泛联系实际和现代化的文章曾在全国物理教师中引起很大反响。</a:t>
            </a:r>
            <a:endParaRPr lang="zh-CN" altLang="en-US"/>
          </a:p>
        </p:txBody>
      </p:sp>
      <p:sp>
        <p:nvSpPr>
          <p:cNvPr id="4" name="灯片编号占位符 3"/>
          <p:cNvSpPr>
            <a:spLocks noGrp="1"/>
          </p:cNvSpPr>
          <p:nvPr>
            <p:ph type="sldNum" sz="quarter" idx="5"/>
          </p:nvPr>
        </p:nvSpPr>
        <p:spPr/>
        <p:txBody>
          <a:bodyPr/>
          <a:lstStyle/>
          <a:p>
            <a:pPr>
              <a:defRPr/>
            </a:pPr>
            <a:fld id="{CB9446CB-3D22-4BD9-88F8-925168EFF502}" type="slidenum">
              <a:rPr lang="en-US" altLang="zh-CN" smtClean="0"/>
              <a:pPr>
                <a:defRPr/>
              </a:pPr>
              <a:t>20</a:t>
            </a:fld>
            <a:endParaRPr lang="en-US" altLang="zh-CN"/>
          </a:p>
        </p:txBody>
      </p:sp>
    </p:spTree>
    <p:extLst>
      <p:ext uri="{BB962C8B-B14F-4D97-AF65-F5344CB8AC3E}">
        <p14:creationId xmlns:p14="http://schemas.microsoft.com/office/powerpoint/2010/main" val="3882750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a:solidFill>
                  <a:schemeClr val="tx1"/>
                </a:solidFill>
                <a:effectLst/>
                <a:latin typeface="Times New Roman" pitchFamily="18" charset="0"/>
                <a:ea typeface="宋体" pitchFamily="2" charset="-122"/>
                <a:cs typeface="+mn-cs"/>
              </a:rPr>
              <a:t>1</a:t>
            </a:r>
            <a:r>
              <a:rPr kumimoji="1" lang="zh-CN" altLang="en-US" sz="1200" b="0" i="0" kern="1200">
                <a:solidFill>
                  <a:schemeClr val="tx1"/>
                </a:solidFill>
                <a:effectLst/>
                <a:latin typeface="Times New Roman" pitchFamily="18" charset="0"/>
                <a:ea typeface="宋体" pitchFamily="2" charset="-122"/>
                <a:cs typeface="+mn-cs"/>
              </a:rPr>
              <a:t>摩尔任何理想气体所占的</a:t>
            </a:r>
            <a:r>
              <a:rPr kumimoji="1" lang="zh-CN" altLang="en-US" sz="1200" b="0" i="0" u="none" strike="noStrike" kern="1200">
                <a:solidFill>
                  <a:schemeClr val="tx1"/>
                </a:solidFill>
                <a:effectLst/>
                <a:latin typeface="Times New Roman" pitchFamily="18" charset="0"/>
                <a:ea typeface="宋体" pitchFamily="2" charset="-122"/>
                <a:cs typeface="+mn-cs"/>
                <a:hlinkClick r:id="rId3"/>
              </a:rPr>
              <a:t>体积</a:t>
            </a:r>
            <a:r>
              <a:rPr kumimoji="1" lang="zh-CN" altLang="en-US" sz="1200" b="0" i="0" kern="1200">
                <a:solidFill>
                  <a:schemeClr val="tx1"/>
                </a:solidFill>
                <a:effectLst/>
                <a:latin typeface="Times New Roman" pitchFamily="18" charset="0"/>
                <a:ea typeface="宋体" pitchFamily="2" charset="-122"/>
                <a:cs typeface="+mn-cs"/>
              </a:rPr>
              <a:t>都约为</a:t>
            </a:r>
            <a:r>
              <a:rPr kumimoji="1" lang="en-US" altLang="zh-CN" sz="1200" b="0" i="0" kern="1200">
                <a:solidFill>
                  <a:schemeClr val="tx1"/>
                </a:solidFill>
                <a:effectLst/>
                <a:latin typeface="Times New Roman" pitchFamily="18" charset="0"/>
                <a:ea typeface="宋体" pitchFamily="2" charset="-122"/>
                <a:cs typeface="+mn-cs"/>
              </a:rPr>
              <a:t>22.4</a:t>
            </a:r>
            <a:r>
              <a:rPr kumimoji="1" lang="zh-CN" altLang="en-US" sz="1200" b="0" i="0" kern="1200">
                <a:solidFill>
                  <a:schemeClr val="tx1"/>
                </a:solidFill>
                <a:effectLst/>
                <a:latin typeface="Times New Roman" pitchFamily="18" charset="0"/>
                <a:ea typeface="宋体" pitchFamily="2" charset="-122"/>
                <a:cs typeface="+mn-cs"/>
              </a:rPr>
              <a:t>升。</a:t>
            </a:r>
            <a:endParaRPr lang="zh-CN" altLang="en-US"/>
          </a:p>
        </p:txBody>
      </p:sp>
      <p:sp>
        <p:nvSpPr>
          <p:cNvPr id="4" name="灯片编号占位符 3"/>
          <p:cNvSpPr>
            <a:spLocks noGrp="1"/>
          </p:cNvSpPr>
          <p:nvPr>
            <p:ph type="sldNum" sz="quarter" idx="10"/>
          </p:nvPr>
        </p:nvSpPr>
        <p:spPr/>
        <p:txBody>
          <a:bodyPr/>
          <a:lstStyle/>
          <a:p>
            <a:pPr>
              <a:defRPr/>
            </a:pPr>
            <a:fld id="{CB9446CB-3D22-4BD9-88F8-925168EFF502}" type="slidenum">
              <a:rPr lang="en-US" altLang="zh-CN" smtClean="0"/>
              <a:pPr>
                <a:defRPr/>
              </a:pPr>
              <a:t>45</a:t>
            </a:fld>
            <a:endParaRPr lang="en-US" altLang="zh-CN"/>
          </a:p>
        </p:txBody>
      </p:sp>
    </p:spTree>
    <p:extLst>
      <p:ext uri="{BB962C8B-B14F-4D97-AF65-F5344CB8AC3E}">
        <p14:creationId xmlns:p14="http://schemas.microsoft.com/office/powerpoint/2010/main" val="1060430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457200" y="2363788"/>
            <a:ext cx="8153400" cy="1600200"/>
            <a:chOff x="288" y="1489"/>
            <a:chExt cx="5136" cy="1008"/>
          </a:xfrm>
        </p:grpSpPr>
        <p:sp>
          <p:nvSpPr>
            <p:cNvPr id="5" name="Arc 3"/>
            <p:cNvSpPr>
              <a:spLocks/>
            </p:cNvSpPr>
            <p:nvPr/>
          </p:nvSpPr>
          <p:spPr bwMode="invGray">
            <a:xfrm>
              <a:off x="3595" y="1489"/>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path>
                <a:path w="21912" h="43200" stroke="0"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lnTo>
                    <a:pt x="312" y="21600"/>
                  </a:lnTo>
                  <a:close/>
                </a:path>
              </a:pathLst>
            </a:custGeom>
            <a:gradFill rotWithShape="0">
              <a:gsLst>
                <a:gs pos="0">
                  <a:schemeClr val="bg1"/>
                </a:gs>
                <a:gs pos="100000">
                  <a:srgbClr val="663300"/>
                </a:gs>
              </a:gsLst>
              <a:lin ang="0" scaled="1"/>
            </a:gradFill>
            <a:ln w="9525" cap="rnd">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6" name="Arc 4"/>
            <p:cNvSpPr>
              <a:spLocks/>
            </p:cNvSpPr>
            <p:nvPr/>
          </p:nvSpPr>
          <p:spPr bwMode="invGray">
            <a:xfrm>
              <a:off x="3548" y="1593"/>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path>
                <a:path w="21924" h="43200" stroke="0"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lnTo>
                    <a:pt x="324" y="21600"/>
                  </a:lnTo>
                  <a:close/>
                </a:path>
              </a:pathLst>
            </a:custGeom>
            <a:gradFill rotWithShape="0">
              <a:gsLst>
                <a:gs pos="0">
                  <a:schemeClr val="bg1"/>
                </a:gs>
                <a:gs pos="100000">
                  <a:srgbClr val="894400"/>
                </a:gs>
              </a:gsLst>
              <a:lin ang="0" scaled="1"/>
            </a:gradFill>
            <a:ln w="9525" cap="rnd">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7" name="Arc 5"/>
            <p:cNvSpPr>
              <a:spLocks/>
            </p:cNvSpPr>
            <p:nvPr/>
          </p:nvSpPr>
          <p:spPr bwMode="invGray">
            <a:xfrm>
              <a:off x="3521" y="1732"/>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path>
                <a:path w="21925" h="43200" stroke="0"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lnTo>
                    <a:pt x="325" y="21600"/>
                  </a:lnTo>
                  <a:close/>
                </a:path>
              </a:pathLst>
            </a:custGeom>
            <a:gradFill rotWithShape="0">
              <a:gsLst>
                <a:gs pos="0">
                  <a:schemeClr val="bg1"/>
                </a:gs>
                <a:gs pos="100000">
                  <a:srgbClr val="B75B00"/>
                </a:gs>
              </a:gsLst>
              <a:lin ang="0" scaled="1"/>
            </a:gradFill>
            <a:ln w="9525" cap="rnd">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8" name="AutoShape 6"/>
            <p:cNvSpPr>
              <a:spLocks noChangeArrowheads="1"/>
            </p:cNvSpPr>
            <p:nvPr/>
          </p:nvSpPr>
          <p:spPr bwMode="invGray">
            <a:xfrm>
              <a:off x="288" y="1940"/>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sp>
        <p:nvSpPr>
          <p:cNvPr id="4103" name="Rectangle 7"/>
          <p:cNvSpPr>
            <a:spLocks noGrp="1" noChangeArrowheads="1"/>
          </p:cNvSpPr>
          <p:nvPr>
            <p:ph type="ctrTitle" sz="quarter"/>
          </p:nvPr>
        </p:nvSpPr>
        <p:spPr>
          <a:xfrm>
            <a:off x="685800" y="1447800"/>
            <a:ext cx="7772400" cy="1143000"/>
          </a:xfrm>
        </p:spPr>
        <p:txBody>
          <a:bodyPr/>
          <a:lstStyle>
            <a:lvl1pPr>
              <a:defRPr/>
            </a:lvl1pPr>
          </a:lstStyle>
          <a:p>
            <a:r>
              <a:rPr lang="zh-CN" altLang="en-US"/>
              <a:t>单击此处编辑母版标题样式</a:t>
            </a:r>
          </a:p>
        </p:txBody>
      </p:sp>
      <p:sp>
        <p:nvSpPr>
          <p:cNvPr id="4104" name="Rectangle 8"/>
          <p:cNvSpPr>
            <a:spLocks noGrp="1" noChangeArrowheads="1"/>
          </p:cNvSpPr>
          <p:nvPr>
            <p:ph type="subTitle" sz="quarter" idx="1"/>
          </p:nvPr>
        </p:nvSpPr>
        <p:spPr>
          <a:xfrm>
            <a:off x="1371600" y="3733800"/>
            <a:ext cx="6400800" cy="1752600"/>
          </a:xfrm>
        </p:spPr>
        <p:txBody>
          <a:bodyPr/>
          <a:lstStyle>
            <a:lvl1pPr marL="0" indent="0" algn="ctr">
              <a:buFontTx/>
              <a:buNone/>
              <a:defRPr/>
            </a:lvl1pPr>
          </a:lstStyle>
          <a:p>
            <a:r>
              <a:rPr lang="zh-CN" altLang="en-US"/>
              <a:t>单击此处编辑母版副标题样式</a:t>
            </a:r>
          </a:p>
        </p:txBody>
      </p:sp>
      <p:sp>
        <p:nvSpPr>
          <p:cNvPr id="9" name="Rectangle 9"/>
          <p:cNvSpPr>
            <a:spLocks noGrp="1" noChangeArrowheads="1"/>
          </p:cNvSpPr>
          <p:nvPr>
            <p:ph type="dt" sz="quarter" idx="10"/>
          </p:nvPr>
        </p:nvSpPr>
        <p:spPr/>
        <p:txBody>
          <a:bodyPr/>
          <a:lstStyle>
            <a:lvl1pPr>
              <a:defRPr/>
            </a:lvl1pPr>
          </a:lstStyle>
          <a:p>
            <a:pPr>
              <a:defRPr/>
            </a:pPr>
            <a:fld id="{E5BD84CA-6050-4A01-9DE4-11B24405D9A5}" type="datetime1">
              <a:rPr lang="zh-CN" altLang="en-US"/>
              <a:pPr>
                <a:defRPr/>
              </a:pPr>
              <a:t>2025/11/5</a:t>
            </a:fld>
            <a:endParaRPr lang="en-US" altLang="zh-CN"/>
          </a:p>
        </p:txBody>
      </p:sp>
      <p:sp>
        <p:nvSpPr>
          <p:cNvPr id="10" name="Rectangle 10"/>
          <p:cNvSpPr>
            <a:spLocks noGrp="1" noChangeArrowheads="1"/>
          </p:cNvSpPr>
          <p:nvPr>
            <p:ph type="ftr" sz="quarter" idx="11"/>
          </p:nvPr>
        </p:nvSpPr>
        <p:spPr/>
        <p:txBody>
          <a:bodyPr/>
          <a:lstStyle>
            <a:lvl1pPr>
              <a:defRPr/>
            </a:lvl1pPr>
          </a:lstStyle>
          <a:p>
            <a:pPr>
              <a:defRPr/>
            </a:pPr>
            <a:endParaRPr lang="en-US" altLang="zh-CN"/>
          </a:p>
        </p:txBody>
      </p:sp>
      <p:sp>
        <p:nvSpPr>
          <p:cNvPr id="11" name="Rectangle 11"/>
          <p:cNvSpPr>
            <a:spLocks noGrp="1" noChangeArrowheads="1"/>
          </p:cNvSpPr>
          <p:nvPr>
            <p:ph type="sldNum" sz="quarter" idx="12"/>
          </p:nvPr>
        </p:nvSpPr>
        <p:spPr/>
        <p:txBody>
          <a:bodyPr/>
          <a:lstStyle>
            <a:lvl1pPr>
              <a:defRPr/>
            </a:lvl1pPr>
          </a:lstStyle>
          <a:p>
            <a:pPr>
              <a:defRPr/>
            </a:pPr>
            <a:fld id="{4A195773-9730-49E3-AA54-EB17FC2BB253}" type="slidenum">
              <a:rPr lang="en-US" altLang="zh-CN"/>
              <a:pPr>
                <a:defRPr/>
              </a:pPr>
              <a:t>‹#›</a:t>
            </a:fld>
            <a:endParaRPr lang="en-US" altLang="zh-CN"/>
          </a:p>
        </p:txBody>
      </p:sp>
    </p:spTree>
    <p:extLst>
      <p:ext uri="{BB962C8B-B14F-4D97-AF65-F5344CB8AC3E}">
        <p14:creationId xmlns:p14="http://schemas.microsoft.com/office/powerpoint/2010/main" val="818781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9"/>
          <p:cNvSpPr>
            <a:spLocks noGrp="1" noChangeArrowheads="1"/>
          </p:cNvSpPr>
          <p:nvPr>
            <p:ph type="dt" sz="half" idx="10"/>
          </p:nvPr>
        </p:nvSpPr>
        <p:spPr>
          <a:ln/>
        </p:spPr>
        <p:txBody>
          <a:bodyPr/>
          <a:lstStyle>
            <a:lvl1pPr>
              <a:defRPr/>
            </a:lvl1pPr>
          </a:lstStyle>
          <a:p>
            <a:pPr>
              <a:defRPr/>
            </a:pPr>
            <a:fld id="{02607779-164E-4A7D-B812-4D9A42457D2F}" type="datetime1">
              <a:rPr lang="zh-CN" altLang="en-US"/>
              <a:pPr>
                <a:defRPr/>
              </a:pPr>
              <a:t>2025/11/5</a:t>
            </a:fld>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9D66DF5B-8ED6-4C9C-A372-028A3308B49A}" type="slidenum">
              <a:rPr lang="en-US" altLang="zh-CN"/>
              <a:pPr>
                <a:defRPr/>
              </a:pPr>
              <a:t>‹#›</a:t>
            </a:fld>
            <a:endParaRPr lang="en-US" altLang="zh-CN"/>
          </a:p>
        </p:txBody>
      </p:sp>
    </p:spTree>
    <p:extLst>
      <p:ext uri="{BB962C8B-B14F-4D97-AF65-F5344CB8AC3E}">
        <p14:creationId xmlns:p14="http://schemas.microsoft.com/office/powerpoint/2010/main" val="3856901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9"/>
          <p:cNvSpPr>
            <a:spLocks noGrp="1" noChangeArrowheads="1"/>
          </p:cNvSpPr>
          <p:nvPr>
            <p:ph type="dt" sz="half" idx="10"/>
          </p:nvPr>
        </p:nvSpPr>
        <p:spPr>
          <a:ln/>
        </p:spPr>
        <p:txBody>
          <a:bodyPr/>
          <a:lstStyle>
            <a:lvl1pPr>
              <a:defRPr/>
            </a:lvl1pPr>
          </a:lstStyle>
          <a:p>
            <a:pPr>
              <a:defRPr/>
            </a:pPr>
            <a:fld id="{E893141F-74B0-4D2E-94E0-D3BF16F81E08}" type="datetime1">
              <a:rPr lang="zh-CN" altLang="en-US"/>
              <a:pPr>
                <a:defRPr/>
              </a:pPr>
              <a:t>2025/11/5</a:t>
            </a:fld>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5B503E1A-C3F1-49C7-A87F-C62352B9FFA9}" type="slidenum">
              <a:rPr lang="en-US" altLang="zh-CN"/>
              <a:pPr>
                <a:defRPr/>
              </a:pPr>
              <a:t>‹#›</a:t>
            </a:fld>
            <a:endParaRPr lang="en-US" altLang="zh-CN"/>
          </a:p>
        </p:txBody>
      </p:sp>
    </p:spTree>
    <p:extLst>
      <p:ext uri="{BB962C8B-B14F-4D97-AF65-F5344CB8AC3E}">
        <p14:creationId xmlns:p14="http://schemas.microsoft.com/office/powerpoint/2010/main" val="1277884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685800" y="2057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2057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9"/>
          <p:cNvSpPr>
            <a:spLocks noGrp="1" noChangeArrowheads="1"/>
          </p:cNvSpPr>
          <p:nvPr>
            <p:ph type="dt" sz="half" idx="10"/>
          </p:nvPr>
        </p:nvSpPr>
        <p:spPr>
          <a:ln/>
        </p:spPr>
        <p:txBody>
          <a:bodyPr/>
          <a:lstStyle>
            <a:lvl1pPr>
              <a:defRPr/>
            </a:lvl1pPr>
          </a:lstStyle>
          <a:p>
            <a:pPr>
              <a:defRPr/>
            </a:pPr>
            <a:fld id="{D71CF68F-38B1-4073-8030-F784531BB43E}" type="datetime1">
              <a:rPr lang="zh-CN" altLang="en-US"/>
              <a:pPr>
                <a:defRPr/>
              </a:pPr>
              <a:t>2025/11/5</a:t>
            </a:fld>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DE80BCFF-2260-41B1-885A-AB550F7A070F}" type="slidenum">
              <a:rPr lang="en-US" altLang="zh-CN"/>
              <a:pPr>
                <a:defRPr/>
              </a:pPr>
              <a:t>‹#›</a:t>
            </a:fld>
            <a:endParaRPr lang="en-US" altLang="zh-CN"/>
          </a:p>
        </p:txBody>
      </p:sp>
    </p:spTree>
    <p:extLst>
      <p:ext uri="{BB962C8B-B14F-4D97-AF65-F5344CB8AC3E}">
        <p14:creationId xmlns:p14="http://schemas.microsoft.com/office/powerpoint/2010/main" val="3742093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9"/>
          <p:cNvSpPr>
            <a:spLocks noGrp="1" noChangeArrowheads="1"/>
          </p:cNvSpPr>
          <p:nvPr>
            <p:ph type="dt" sz="half" idx="10"/>
          </p:nvPr>
        </p:nvSpPr>
        <p:spPr>
          <a:ln/>
        </p:spPr>
        <p:txBody>
          <a:bodyPr/>
          <a:lstStyle>
            <a:lvl1pPr>
              <a:defRPr/>
            </a:lvl1pPr>
          </a:lstStyle>
          <a:p>
            <a:pPr>
              <a:defRPr/>
            </a:pPr>
            <a:fld id="{95EED570-ACBB-4898-8556-C58BF71B3348}" type="datetime1">
              <a:rPr lang="zh-CN" altLang="en-US"/>
              <a:pPr>
                <a:defRPr/>
              </a:pPr>
              <a:t>2025/11/5</a:t>
            </a:fld>
            <a:endParaRPr lang="en-US" altLang="zh-CN"/>
          </a:p>
        </p:txBody>
      </p:sp>
      <p:sp>
        <p:nvSpPr>
          <p:cNvPr id="8"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1"/>
          <p:cNvSpPr>
            <a:spLocks noGrp="1" noChangeArrowheads="1"/>
          </p:cNvSpPr>
          <p:nvPr>
            <p:ph type="sldNum" sz="quarter" idx="12"/>
          </p:nvPr>
        </p:nvSpPr>
        <p:spPr>
          <a:ln/>
        </p:spPr>
        <p:txBody>
          <a:bodyPr/>
          <a:lstStyle>
            <a:lvl1pPr>
              <a:defRPr/>
            </a:lvl1pPr>
          </a:lstStyle>
          <a:p>
            <a:pPr>
              <a:defRPr/>
            </a:pPr>
            <a:fld id="{6742D665-91A4-4193-8D30-8EB26D58CE7E}" type="slidenum">
              <a:rPr lang="en-US" altLang="zh-CN"/>
              <a:pPr>
                <a:defRPr/>
              </a:pPr>
              <a:t>‹#›</a:t>
            </a:fld>
            <a:endParaRPr lang="en-US" altLang="zh-CN"/>
          </a:p>
        </p:txBody>
      </p:sp>
    </p:spTree>
    <p:extLst>
      <p:ext uri="{BB962C8B-B14F-4D97-AF65-F5344CB8AC3E}">
        <p14:creationId xmlns:p14="http://schemas.microsoft.com/office/powerpoint/2010/main" val="3091387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9"/>
          <p:cNvSpPr>
            <a:spLocks noGrp="1" noChangeArrowheads="1"/>
          </p:cNvSpPr>
          <p:nvPr>
            <p:ph type="dt" sz="half" idx="10"/>
          </p:nvPr>
        </p:nvSpPr>
        <p:spPr>
          <a:ln/>
        </p:spPr>
        <p:txBody>
          <a:bodyPr/>
          <a:lstStyle>
            <a:lvl1pPr>
              <a:defRPr/>
            </a:lvl1pPr>
          </a:lstStyle>
          <a:p>
            <a:pPr>
              <a:defRPr/>
            </a:pPr>
            <a:fld id="{56190FC8-3F27-43D4-A6E5-A1EBB88591DF}" type="datetime1">
              <a:rPr lang="zh-CN" altLang="en-US"/>
              <a:pPr>
                <a:defRPr/>
              </a:pPr>
              <a:t>2025/11/5</a:t>
            </a:fld>
            <a:endParaRPr lang="en-US" altLang="zh-CN"/>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a:ln/>
        </p:spPr>
        <p:txBody>
          <a:bodyPr/>
          <a:lstStyle>
            <a:lvl1pPr>
              <a:defRPr/>
            </a:lvl1pPr>
          </a:lstStyle>
          <a:p>
            <a:pPr>
              <a:defRPr/>
            </a:pPr>
            <a:fld id="{BB329C11-625E-4D6A-B3F7-82F0C46055DA}" type="slidenum">
              <a:rPr lang="en-US" altLang="zh-CN"/>
              <a:pPr>
                <a:defRPr/>
              </a:pPr>
              <a:t>‹#›</a:t>
            </a:fld>
            <a:endParaRPr lang="en-US" altLang="zh-CN"/>
          </a:p>
        </p:txBody>
      </p:sp>
    </p:spTree>
    <p:extLst>
      <p:ext uri="{BB962C8B-B14F-4D97-AF65-F5344CB8AC3E}">
        <p14:creationId xmlns:p14="http://schemas.microsoft.com/office/powerpoint/2010/main" val="27421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fld id="{9503945F-C89F-46B5-AC7F-F248ECA2898B}" type="datetime1">
              <a:rPr lang="zh-CN" altLang="en-US"/>
              <a:pPr>
                <a:defRPr/>
              </a:pPr>
              <a:t>2025/11/5</a:t>
            </a:fld>
            <a:endParaRPr lang="en-US" altLang="zh-CN"/>
          </a:p>
        </p:txBody>
      </p:sp>
      <p:sp>
        <p:nvSpPr>
          <p:cNvPr id="3"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1"/>
          <p:cNvSpPr>
            <a:spLocks noGrp="1" noChangeArrowheads="1"/>
          </p:cNvSpPr>
          <p:nvPr>
            <p:ph type="sldNum" sz="quarter" idx="12"/>
          </p:nvPr>
        </p:nvSpPr>
        <p:spPr>
          <a:ln/>
        </p:spPr>
        <p:txBody>
          <a:bodyPr/>
          <a:lstStyle>
            <a:lvl1pPr>
              <a:defRPr/>
            </a:lvl1pPr>
          </a:lstStyle>
          <a:p>
            <a:pPr>
              <a:defRPr/>
            </a:pPr>
            <a:fld id="{0B1DD84B-203E-4857-8CDD-243EFC3B2683}" type="slidenum">
              <a:rPr lang="en-US" altLang="zh-CN"/>
              <a:pPr>
                <a:defRPr/>
              </a:pPr>
              <a:t>‹#›</a:t>
            </a:fld>
            <a:endParaRPr lang="en-US" altLang="zh-CN"/>
          </a:p>
        </p:txBody>
      </p:sp>
    </p:spTree>
    <p:extLst>
      <p:ext uri="{BB962C8B-B14F-4D97-AF65-F5344CB8AC3E}">
        <p14:creationId xmlns:p14="http://schemas.microsoft.com/office/powerpoint/2010/main" val="3725277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fld id="{B6BAAF9E-BF8B-4B0E-81A1-2E55F88F4BC1}" type="datetime1">
              <a:rPr lang="zh-CN" altLang="en-US"/>
              <a:pPr>
                <a:defRPr/>
              </a:pPr>
              <a:t>2025/11/5</a:t>
            </a:fld>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7A476652-E29F-428C-AF8B-BF338E7FBC10}" type="slidenum">
              <a:rPr lang="en-US" altLang="zh-CN"/>
              <a:pPr>
                <a:defRPr/>
              </a:pPr>
              <a:t>‹#›</a:t>
            </a:fld>
            <a:endParaRPr lang="en-US" altLang="zh-CN"/>
          </a:p>
        </p:txBody>
      </p:sp>
    </p:spTree>
    <p:extLst>
      <p:ext uri="{BB962C8B-B14F-4D97-AF65-F5344CB8AC3E}">
        <p14:creationId xmlns:p14="http://schemas.microsoft.com/office/powerpoint/2010/main" val="4265290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fld id="{531754E3-DB34-42E5-82CB-489C1A73DDC8}" type="datetime1">
              <a:rPr lang="zh-CN" altLang="en-US"/>
              <a:pPr>
                <a:defRPr/>
              </a:pPr>
              <a:t>2025/11/5</a:t>
            </a:fld>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A36FD3D2-2E4B-4337-981D-A2E35C9F73E5}" type="slidenum">
              <a:rPr lang="en-US" altLang="zh-CN"/>
              <a:pPr>
                <a:defRPr/>
              </a:pPr>
              <a:t>‹#›</a:t>
            </a:fld>
            <a:endParaRPr lang="en-US" altLang="zh-CN"/>
          </a:p>
        </p:txBody>
      </p:sp>
    </p:spTree>
    <p:extLst>
      <p:ext uri="{BB962C8B-B14F-4D97-AF65-F5344CB8AC3E}">
        <p14:creationId xmlns:p14="http://schemas.microsoft.com/office/powerpoint/2010/main" val="2641437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9"/>
          <p:cNvSpPr>
            <a:spLocks noGrp="1" noChangeArrowheads="1"/>
          </p:cNvSpPr>
          <p:nvPr>
            <p:ph type="dt" sz="half" idx="10"/>
          </p:nvPr>
        </p:nvSpPr>
        <p:spPr>
          <a:ln/>
        </p:spPr>
        <p:txBody>
          <a:bodyPr/>
          <a:lstStyle>
            <a:lvl1pPr>
              <a:defRPr/>
            </a:lvl1pPr>
          </a:lstStyle>
          <a:p>
            <a:pPr>
              <a:defRPr/>
            </a:pPr>
            <a:fld id="{0CD18183-1933-41D2-9A71-0CA32DEFB9EE}" type="datetime1">
              <a:rPr lang="zh-CN" altLang="en-US"/>
              <a:pPr>
                <a:defRPr/>
              </a:pPr>
              <a:t>2025/11/5</a:t>
            </a:fld>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2F51E6C1-3AA0-4546-9389-CA1067D3587A}" type="slidenum">
              <a:rPr lang="en-US" altLang="zh-CN"/>
              <a:pPr>
                <a:defRPr/>
              </a:pPr>
              <a:t>‹#›</a:t>
            </a:fld>
            <a:endParaRPr lang="en-US" altLang="zh-CN"/>
          </a:p>
        </p:txBody>
      </p:sp>
    </p:spTree>
    <p:extLst>
      <p:ext uri="{BB962C8B-B14F-4D97-AF65-F5344CB8AC3E}">
        <p14:creationId xmlns:p14="http://schemas.microsoft.com/office/powerpoint/2010/main" val="3641450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381000"/>
            <a:ext cx="1943100" cy="5791200"/>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685800" y="381000"/>
            <a:ext cx="567690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9"/>
          <p:cNvSpPr>
            <a:spLocks noGrp="1" noChangeArrowheads="1"/>
          </p:cNvSpPr>
          <p:nvPr>
            <p:ph type="dt" sz="half" idx="10"/>
          </p:nvPr>
        </p:nvSpPr>
        <p:spPr>
          <a:ln/>
        </p:spPr>
        <p:txBody>
          <a:bodyPr/>
          <a:lstStyle>
            <a:lvl1pPr>
              <a:defRPr/>
            </a:lvl1pPr>
          </a:lstStyle>
          <a:p>
            <a:pPr>
              <a:defRPr/>
            </a:pPr>
            <a:fld id="{AEDBF6C5-C1A9-411B-9C08-6C95B7518362}" type="datetime1">
              <a:rPr lang="zh-CN" altLang="en-US"/>
              <a:pPr>
                <a:defRPr/>
              </a:pPr>
              <a:t>2025/11/5</a:t>
            </a:fld>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660CB254-33A1-4BCC-94A3-7DB8301AB8E0}" type="slidenum">
              <a:rPr lang="en-US" altLang="zh-CN"/>
              <a:pPr>
                <a:defRPr/>
              </a:pPr>
              <a:t>‹#›</a:t>
            </a:fld>
            <a:endParaRPr lang="en-US" altLang="zh-CN"/>
          </a:p>
        </p:txBody>
      </p:sp>
    </p:spTree>
    <p:extLst>
      <p:ext uri="{BB962C8B-B14F-4D97-AF65-F5344CB8AC3E}">
        <p14:creationId xmlns:p14="http://schemas.microsoft.com/office/powerpoint/2010/main" val="1708556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381000"/>
            <a:ext cx="7772400" cy="1143000"/>
          </a:xfrm>
        </p:spPr>
        <p:txBody>
          <a:bodyPr/>
          <a:lstStyle/>
          <a:p>
            <a:r>
              <a:rPr lang="zh-CN" altLang="en-US"/>
              <a:t>单击此处编辑母版标题样式</a:t>
            </a:r>
            <a:endParaRPr lang="en-US"/>
          </a:p>
        </p:txBody>
      </p:sp>
      <p:sp>
        <p:nvSpPr>
          <p:cNvPr id="3" name="表格占位符 2"/>
          <p:cNvSpPr>
            <a:spLocks noGrp="1"/>
          </p:cNvSpPr>
          <p:nvPr>
            <p:ph type="tbl" idx="1"/>
          </p:nvPr>
        </p:nvSpPr>
        <p:spPr>
          <a:xfrm>
            <a:off x="685800" y="2057400"/>
            <a:ext cx="7772400" cy="4114800"/>
          </a:xfrm>
        </p:spPr>
        <p:txBody>
          <a:bodyPr/>
          <a:lstStyle/>
          <a:p>
            <a:pPr lvl="0"/>
            <a:endParaRPr lang="en-US" noProof="0"/>
          </a:p>
        </p:txBody>
      </p:sp>
      <p:sp>
        <p:nvSpPr>
          <p:cNvPr id="4" name="Rectangle 9"/>
          <p:cNvSpPr>
            <a:spLocks noGrp="1" noChangeArrowheads="1"/>
          </p:cNvSpPr>
          <p:nvPr>
            <p:ph type="dt" sz="half" idx="10"/>
          </p:nvPr>
        </p:nvSpPr>
        <p:spPr>
          <a:ln/>
        </p:spPr>
        <p:txBody>
          <a:bodyPr/>
          <a:lstStyle>
            <a:lvl1pPr>
              <a:defRPr/>
            </a:lvl1pPr>
          </a:lstStyle>
          <a:p>
            <a:pPr>
              <a:defRPr/>
            </a:pPr>
            <a:fld id="{666A97A7-4872-4486-91E4-76CF284107BE}" type="datetime1">
              <a:rPr lang="zh-CN" altLang="en-US"/>
              <a:pPr>
                <a:defRPr/>
              </a:pPr>
              <a:t>2025/11/5</a:t>
            </a:fld>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E1DC1F77-93A4-4C56-BB32-893640EE08F2}" type="slidenum">
              <a:rPr lang="en-US" altLang="zh-CN"/>
              <a:pPr>
                <a:defRPr/>
              </a:pPr>
              <a:t>‹#›</a:t>
            </a:fld>
            <a:endParaRPr lang="en-US" altLang="zh-CN"/>
          </a:p>
        </p:txBody>
      </p:sp>
    </p:spTree>
    <p:extLst>
      <p:ext uri="{BB962C8B-B14F-4D97-AF65-F5344CB8AC3E}">
        <p14:creationId xmlns:p14="http://schemas.microsoft.com/office/powerpoint/2010/main" val="639769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457200" y="992188"/>
            <a:ext cx="8153400" cy="1600200"/>
            <a:chOff x="288" y="625"/>
            <a:chExt cx="5136" cy="1008"/>
          </a:xfrm>
        </p:grpSpPr>
        <p:sp>
          <p:nvSpPr>
            <p:cNvPr id="3075" name="Arc 3"/>
            <p:cNvSpPr>
              <a:spLocks/>
            </p:cNvSpPr>
            <p:nvPr/>
          </p:nvSpPr>
          <p:spPr bwMode="invGray">
            <a:xfrm>
              <a:off x="3595" y="625"/>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path>
                <a:path w="21912" h="43200" stroke="0" extrusionOk="0">
                  <a:moveTo>
                    <a:pt x="300" y="0"/>
                  </a:moveTo>
                  <a:cubicBezTo>
                    <a:pt x="304" y="0"/>
                    <a:pt x="308" y="-1"/>
                    <a:pt x="312" y="0"/>
                  </a:cubicBezTo>
                  <a:cubicBezTo>
                    <a:pt x="12241" y="0"/>
                    <a:pt x="21912" y="9670"/>
                    <a:pt x="21912" y="21600"/>
                  </a:cubicBezTo>
                  <a:cubicBezTo>
                    <a:pt x="21912" y="33529"/>
                    <a:pt x="12241" y="43200"/>
                    <a:pt x="312" y="43200"/>
                  </a:cubicBezTo>
                  <a:cubicBezTo>
                    <a:pt x="207" y="43200"/>
                    <a:pt x="103" y="43199"/>
                    <a:pt x="0" y="43197"/>
                  </a:cubicBezTo>
                  <a:lnTo>
                    <a:pt x="312" y="21600"/>
                  </a:lnTo>
                  <a:close/>
                </a:path>
              </a:pathLst>
            </a:custGeom>
            <a:gradFill rotWithShape="0">
              <a:gsLst>
                <a:gs pos="0">
                  <a:schemeClr val="bg1"/>
                </a:gs>
                <a:gs pos="100000">
                  <a:srgbClr val="663300"/>
                </a:gs>
              </a:gsLst>
              <a:lin ang="0" scaled="1"/>
            </a:gradFill>
            <a:ln w="9525" cap="rnd">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3076" name="Arc 4"/>
            <p:cNvSpPr>
              <a:spLocks/>
            </p:cNvSpPr>
            <p:nvPr/>
          </p:nvSpPr>
          <p:spPr bwMode="invGray">
            <a:xfrm>
              <a:off x="3548" y="729"/>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path>
                <a:path w="21924" h="43200" stroke="0" extrusionOk="0">
                  <a:moveTo>
                    <a:pt x="312" y="0"/>
                  </a:moveTo>
                  <a:cubicBezTo>
                    <a:pt x="316" y="0"/>
                    <a:pt x="320" y="-1"/>
                    <a:pt x="324" y="0"/>
                  </a:cubicBezTo>
                  <a:cubicBezTo>
                    <a:pt x="12253" y="0"/>
                    <a:pt x="21924" y="9670"/>
                    <a:pt x="21924" y="21600"/>
                  </a:cubicBezTo>
                  <a:cubicBezTo>
                    <a:pt x="21924" y="33529"/>
                    <a:pt x="12253" y="43200"/>
                    <a:pt x="324" y="43200"/>
                  </a:cubicBezTo>
                  <a:cubicBezTo>
                    <a:pt x="215" y="43200"/>
                    <a:pt x="107" y="43199"/>
                    <a:pt x="0" y="43197"/>
                  </a:cubicBezTo>
                  <a:lnTo>
                    <a:pt x="324" y="21600"/>
                  </a:lnTo>
                  <a:close/>
                </a:path>
              </a:pathLst>
            </a:custGeom>
            <a:gradFill rotWithShape="0">
              <a:gsLst>
                <a:gs pos="0">
                  <a:schemeClr val="bg1"/>
                </a:gs>
                <a:gs pos="100000">
                  <a:srgbClr val="894400"/>
                </a:gs>
              </a:gsLst>
              <a:lin ang="0" scaled="1"/>
            </a:gradFill>
            <a:ln w="9525" cap="rnd">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3077" name="Arc 5"/>
            <p:cNvSpPr>
              <a:spLocks/>
            </p:cNvSpPr>
            <p:nvPr/>
          </p:nvSpPr>
          <p:spPr bwMode="invGray">
            <a:xfrm>
              <a:off x="3521" y="868"/>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path>
                <a:path w="21925" h="43200" stroke="0" extrusionOk="0">
                  <a:moveTo>
                    <a:pt x="313" y="0"/>
                  </a:moveTo>
                  <a:cubicBezTo>
                    <a:pt x="317" y="0"/>
                    <a:pt x="321" y="-1"/>
                    <a:pt x="325" y="0"/>
                  </a:cubicBezTo>
                  <a:cubicBezTo>
                    <a:pt x="12254" y="0"/>
                    <a:pt x="21925" y="9670"/>
                    <a:pt x="21925" y="21600"/>
                  </a:cubicBezTo>
                  <a:cubicBezTo>
                    <a:pt x="21925" y="33529"/>
                    <a:pt x="12254" y="43200"/>
                    <a:pt x="325" y="43200"/>
                  </a:cubicBezTo>
                  <a:cubicBezTo>
                    <a:pt x="216" y="43200"/>
                    <a:pt x="108" y="43199"/>
                    <a:pt x="0" y="43197"/>
                  </a:cubicBezTo>
                  <a:lnTo>
                    <a:pt x="325" y="21600"/>
                  </a:lnTo>
                  <a:close/>
                </a:path>
              </a:pathLst>
            </a:custGeom>
            <a:gradFill rotWithShape="0">
              <a:gsLst>
                <a:gs pos="0">
                  <a:schemeClr val="bg1"/>
                </a:gs>
                <a:gs pos="100000">
                  <a:srgbClr val="B75B00"/>
                </a:gs>
              </a:gsLst>
              <a:lin ang="0" scaled="1"/>
            </a:gradFill>
            <a:ln w="9525" cap="rnd">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3078" name="AutoShape 6"/>
            <p:cNvSpPr>
              <a:spLocks noChangeArrowheads="1"/>
            </p:cNvSpPr>
            <p:nvPr/>
          </p:nvSpPr>
          <p:spPr bwMode="invGray">
            <a:xfrm>
              <a:off x="288" y="1076"/>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sp>
        <p:nvSpPr>
          <p:cNvPr id="1027" name="Rectangle 7"/>
          <p:cNvSpPr>
            <a:spLocks noGrp="1" noChangeArrowheads="1"/>
          </p:cNvSpPr>
          <p:nvPr>
            <p:ph type="title"/>
          </p:nvPr>
        </p:nvSpPr>
        <p:spPr bwMode="auto">
          <a:xfrm>
            <a:off x="685800" y="3810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p>
            <a:pPr lvl="0"/>
            <a:r>
              <a:rPr lang="zh-CN" altLang="en-US"/>
              <a:t>单击此处编辑母版标题样式</a:t>
            </a:r>
          </a:p>
        </p:txBody>
      </p:sp>
      <p:sp>
        <p:nvSpPr>
          <p:cNvPr id="1028" name="Rectangle 8"/>
          <p:cNvSpPr>
            <a:spLocks noGrp="1" noChangeArrowheads="1"/>
          </p:cNvSpPr>
          <p:nvPr>
            <p:ph type="body" idx="1"/>
          </p:nvPr>
        </p:nvSpPr>
        <p:spPr bwMode="auto">
          <a:xfrm>
            <a:off x="685800" y="20574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1" name="Rectangle 9"/>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eaLnBrk="1" hangingPunct="1">
              <a:defRPr kumimoji="0" sz="1400">
                <a:effectLst/>
                <a:latin typeface="Arial" charset="0"/>
                <a:cs typeface="+mn-cs"/>
              </a:defRPr>
            </a:lvl1pPr>
          </a:lstStyle>
          <a:p>
            <a:pPr>
              <a:defRPr/>
            </a:pPr>
            <a:fld id="{ED25D086-8C92-4F4A-8161-6DD2981816A5}" type="datetime1">
              <a:rPr lang="zh-CN" altLang="en-US"/>
              <a:pPr>
                <a:defRPr/>
              </a:pPr>
              <a:t>2025/11/5</a:t>
            </a:fld>
            <a:endParaRPr lang="en-US" altLang="zh-CN"/>
          </a:p>
        </p:txBody>
      </p:sp>
      <p:sp>
        <p:nvSpPr>
          <p:cNvPr id="3082" name="Rectangle 10"/>
          <p:cNvSpPr>
            <a:spLocks noGrp="1" noChangeArrowheads="1"/>
          </p:cNvSpPr>
          <p:nvPr>
            <p:ph type="ftr" sz="quarter" idx="3"/>
          </p:nvPr>
        </p:nvSpPr>
        <p:spPr bwMode="auto">
          <a:xfrm>
            <a:off x="3124200" y="6324600"/>
            <a:ext cx="28956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ctr" eaLnBrk="1" hangingPunct="1">
              <a:defRPr kumimoji="0" sz="1400">
                <a:effectLst/>
                <a:latin typeface="Arial" charset="0"/>
                <a:cs typeface="+mn-cs"/>
              </a:defRPr>
            </a:lvl1pPr>
          </a:lstStyle>
          <a:p>
            <a:pPr>
              <a:defRPr/>
            </a:pPr>
            <a:endParaRPr lang="en-US" altLang="zh-CN"/>
          </a:p>
        </p:txBody>
      </p:sp>
      <p:sp>
        <p:nvSpPr>
          <p:cNvPr id="3083" name="Rectangle 11"/>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eaLnBrk="1" hangingPunct="1">
              <a:defRPr kumimoji="0" sz="1400">
                <a:latin typeface="Arial" panose="020B0604020202020204" pitchFamily="34" charset="0"/>
                <a:cs typeface="Arial" panose="020B0604020202020204" pitchFamily="34" charset="0"/>
              </a:defRPr>
            </a:lvl1pPr>
          </a:lstStyle>
          <a:p>
            <a:pPr>
              <a:defRPr/>
            </a:pPr>
            <a:fld id="{753FC1C8-3B14-4164-BBB7-CA297280EC1E}" type="slidenum">
              <a:rPr lang="en-US" altLang="zh-CN"/>
              <a:pPr>
                <a:defRPr/>
              </a:pPr>
              <a:t>‹#›</a:t>
            </a:fld>
            <a:endParaRPr lang="en-US" altLang="zh-CN"/>
          </a:p>
        </p:txBody>
      </p:sp>
    </p:spTree>
  </p:cSld>
  <p:clrMap bg1="dk2" tx1="lt1" bg2="dk1" tx2="lt2" accent1="accent1" accent2="accent2" accent3="accent3" accent4="accent4" accent5="accent5" accent6="accent6" hlink="hlink" folHlink="folHlink"/>
  <p:sldLayoutIdLst>
    <p:sldLayoutId id="2147484259" r:id="rId1"/>
    <p:sldLayoutId id="2147484248" r:id="rId2"/>
    <p:sldLayoutId id="2147484249" r:id="rId3"/>
    <p:sldLayoutId id="2147484250" r:id="rId4"/>
    <p:sldLayoutId id="2147484251" r:id="rId5"/>
    <p:sldLayoutId id="2147484252" r:id="rId6"/>
    <p:sldLayoutId id="2147484253" r:id="rId7"/>
    <p:sldLayoutId id="2147484254" r:id="rId8"/>
    <p:sldLayoutId id="2147484255" r:id="rId9"/>
    <p:sldLayoutId id="2147484256" r:id="rId10"/>
    <p:sldLayoutId id="2147484257" r:id="rId11"/>
    <p:sldLayoutId id="2147484258" r:id="rId12"/>
  </p:sldLayoutIdLst>
  <p:hf hdr="0" ftr="0" dt="0"/>
  <p:txStyles>
    <p:titleStyle>
      <a:lvl1pPr algn="r" rtl="0" eaLnBrk="0" fontAlgn="base" hangingPunct="0">
        <a:spcBef>
          <a:spcPct val="0"/>
        </a:spcBef>
        <a:spcAft>
          <a:spcPct val="0"/>
        </a:spcAft>
        <a:defRPr kumimoji="1" sz="4400" i="1">
          <a:solidFill>
            <a:schemeClr val="tx2"/>
          </a:solidFill>
          <a:latin typeface="+mj-lt"/>
          <a:ea typeface="+mj-ea"/>
          <a:cs typeface="+mj-cs"/>
        </a:defRPr>
      </a:lvl1pPr>
      <a:lvl2pPr algn="r" rtl="0" eaLnBrk="0" fontAlgn="base" hangingPunct="0">
        <a:spcBef>
          <a:spcPct val="0"/>
        </a:spcBef>
        <a:spcAft>
          <a:spcPct val="0"/>
        </a:spcAft>
        <a:defRPr kumimoji="1" sz="4400" i="1">
          <a:solidFill>
            <a:schemeClr val="tx2"/>
          </a:solidFill>
          <a:latin typeface="Times New Roman" pitchFamily="18" charset="0"/>
          <a:ea typeface="宋体" pitchFamily="2" charset="-122"/>
        </a:defRPr>
      </a:lvl2pPr>
      <a:lvl3pPr algn="r" rtl="0" eaLnBrk="0" fontAlgn="base" hangingPunct="0">
        <a:spcBef>
          <a:spcPct val="0"/>
        </a:spcBef>
        <a:spcAft>
          <a:spcPct val="0"/>
        </a:spcAft>
        <a:defRPr kumimoji="1" sz="4400" i="1">
          <a:solidFill>
            <a:schemeClr val="tx2"/>
          </a:solidFill>
          <a:latin typeface="Times New Roman" pitchFamily="18" charset="0"/>
          <a:ea typeface="宋体" pitchFamily="2" charset="-122"/>
        </a:defRPr>
      </a:lvl3pPr>
      <a:lvl4pPr algn="r" rtl="0" eaLnBrk="0" fontAlgn="base" hangingPunct="0">
        <a:spcBef>
          <a:spcPct val="0"/>
        </a:spcBef>
        <a:spcAft>
          <a:spcPct val="0"/>
        </a:spcAft>
        <a:defRPr kumimoji="1" sz="4400" i="1">
          <a:solidFill>
            <a:schemeClr val="tx2"/>
          </a:solidFill>
          <a:latin typeface="Times New Roman" pitchFamily="18" charset="0"/>
          <a:ea typeface="宋体" pitchFamily="2" charset="-122"/>
        </a:defRPr>
      </a:lvl4pPr>
      <a:lvl5pPr algn="r" rtl="0" eaLnBrk="0" fontAlgn="base" hangingPunct="0">
        <a:spcBef>
          <a:spcPct val="0"/>
        </a:spcBef>
        <a:spcAft>
          <a:spcPct val="0"/>
        </a:spcAft>
        <a:defRPr kumimoji="1" sz="4400" i="1">
          <a:solidFill>
            <a:schemeClr val="tx2"/>
          </a:solidFill>
          <a:latin typeface="Times New Roman" pitchFamily="18" charset="0"/>
          <a:ea typeface="宋体" pitchFamily="2" charset="-122"/>
        </a:defRPr>
      </a:lvl5pPr>
      <a:lvl6pPr marL="457200" algn="r" rtl="0" fontAlgn="base">
        <a:spcBef>
          <a:spcPct val="0"/>
        </a:spcBef>
        <a:spcAft>
          <a:spcPct val="0"/>
        </a:spcAft>
        <a:defRPr kumimoji="1" sz="4400" i="1">
          <a:solidFill>
            <a:schemeClr val="tx2"/>
          </a:solidFill>
          <a:latin typeface="Times New Roman" pitchFamily="18" charset="0"/>
          <a:ea typeface="宋体" pitchFamily="2" charset="-122"/>
        </a:defRPr>
      </a:lvl6pPr>
      <a:lvl7pPr marL="914400" algn="r" rtl="0" fontAlgn="base">
        <a:spcBef>
          <a:spcPct val="0"/>
        </a:spcBef>
        <a:spcAft>
          <a:spcPct val="0"/>
        </a:spcAft>
        <a:defRPr kumimoji="1" sz="4400" i="1">
          <a:solidFill>
            <a:schemeClr val="tx2"/>
          </a:solidFill>
          <a:latin typeface="Times New Roman" pitchFamily="18" charset="0"/>
          <a:ea typeface="宋体" pitchFamily="2" charset="-122"/>
        </a:defRPr>
      </a:lvl7pPr>
      <a:lvl8pPr marL="1371600" algn="r" rtl="0" fontAlgn="base">
        <a:spcBef>
          <a:spcPct val="0"/>
        </a:spcBef>
        <a:spcAft>
          <a:spcPct val="0"/>
        </a:spcAft>
        <a:defRPr kumimoji="1" sz="4400" i="1">
          <a:solidFill>
            <a:schemeClr val="tx2"/>
          </a:solidFill>
          <a:latin typeface="Times New Roman" pitchFamily="18" charset="0"/>
          <a:ea typeface="宋体" pitchFamily="2" charset="-122"/>
        </a:defRPr>
      </a:lvl8pPr>
      <a:lvl9pPr marL="1828800" algn="r" rtl="0" fontAlgn="base">
        <a:spcBef>
          <a:spcPct val="0"/>
        </a:spcBef>
        <a:spcAft>
          <a:spcPct val="0"/>
        </a:spcAft>
        <a:defRPr kumimoji="1" sz="4400" i="1">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tx2"/>
        </a:buClr>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2"/>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tx2"/>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tx2"/>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tx2"/>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tx2"/>
        </a:buClr>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wmf"/><Relationship Id="rId3" Type="http://schemas.openxmlformats.org/officeDocument/2006/relationships/audio" Target="../media/audio1.wav"/><Relationship Id="rId7" Type="http://schemas.openxmlformats.org/officeDocument/2006/relationships/image" Target="../media/image2.wmf"/><Relationship Id="rId12" Type="http://schemas.openxmlformats.org/officeDocument/2006/relationships/oleObject" Target="../embeddings/oleObject5.bin"/><Relationship Id="rId17" Type="http://schemas.openxmlformats.org/officeDocument/2006/relationships/image" Target="../media/image7.wmf"/><Relationship Id="rId2" Type="http://schemas.openxmlformats.org/officeDocument/2006/relationships/slideLayout" Target="../slideLayouts/slideLayout7.xml"/><Relationship Id="rId16" Type="http://schemas.openxmlformats.org/officeDocument/2006/relationships/oleObject" Target="../embeddings/oleObject7.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wmf"/><Relationship Id="rId5" Type="http://schemas.openxmlformats.org/officeDocument/2006/relationships/image" Target="../media/image1.wmf"/><Relationship Id="rId15" Type="http://schemas.openxmlformats.org/officeDocument/2006/relationships/image" Target="../media/image6.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wmf"/><Relationship Id="rId1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hyperlink" Target="http://en.wikipedia.org/wiki/Hermann_von_Helmholtz" TargetMode="External"/><Relationship Id="rId13" Type="http://schemas.openxmlformats.org/officeDocument/2006/relationships/image" Target="../media/image14.jpeg"/><Relationship Id="rId3" Type="http://schemas.openxmlformats.org/officeDocument/2006/relationships/hyperlink" Target="http://en.wikipedia.org/wiki/Styria" TargetMode="External"/><Relationship Id="rId7" Type="http://schemas.openxmlformats.org/officeDocument/2006/relationships/hyperlink" Target="http://en.wikipedia.org/wiki/Gustav_Kirchhoff" TargetMode="External"/><Relationship Id="rId12" Type="http://schemas.openxmlformats.org/officeDocument/2006/relationships/image" Target="../media/image13.jpeg"/><Relationship Id="rId2" Type="http://schemas.openxmlformats.org/officeDocument/2006/relationships/hyperlink" Target="http://en.wikipedia.org/wiki/University_of_Graz" TargetMode="External"/><Relationship Id="rId1" Type="http://schemas.openxmlformats.org/officeDocument/2006/relationships/slideLayout" Target="../slideLayouts/slideLayout2.xml"/><Relationship Id="rId6" Type="http://schemas.openxmlformats.org/officeDocument/2006/relationships/hyperlink" Target="http://en.wikipedia.org/wiki/Leo_K%C3%B6nigsberger" TargetMode="External"/><Relationship Id="rId11" Type="http://schemas.openxmlformats.org/officeDocument/2006/relationships/image" Target="../media/image12.jpeg"/><Relationship Id="rId5" Type="http://schemas.openxmlformats.org/officeDocument/2006/relationships/hyperlink" Target="http://en.wikipedia.org/wiki/Robert_Bunsen" TargetMode="External"/><Relationship Id="rId10" Type="http://schemas.openxmlformats.org/officeDocument/2006/relationships/hyperlink" Target="http://upload.wikimedia.org/wikipedia/commons/f/f9/Boltzmann-grp.jpg" TargetMode="External"/><Relationship Id="rId4" Type="http://schemas.openxmlformats.org/officeDocument/2006/relationships/hyperlink" Target="http://en.wikipedia.org/wiki/Heidelberg" TargetMode="External"/><Relationship Id="rId9" Type="http://schemas.openxmlformats.org/officeDocument/2006/relationships/hyperlink" Target="http://en.wikipedia.org/wiki/University_of_Vienna" TargetMode="External"/><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hyperlink" Target="http://nobelprize.org/physics/laureates/1943/index.html"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hyperlink" Target="http://www.hudong.com/wiki/%E6%AD%A6%E6%B1%89%E5%A4%A7%E5%AD%A6" TargetMode="External"/><Relationship Id="rId3" Type="http://schemas.openxmlformats.org/officeDocument/2006/relationships/hyperlink" Target="http://www.hudong.com/wiki/%E9%BA%A6%E5%85%8B%E6%96%AF%E9%9F%A6%E9%80%9F%E5%BA%A6%E5%88%86%E5%B8%83%E5%BE%8B" TargetMode="External"/><Relationship Id="rId7" Type="http://schemas.openxmlformats.org/officeDocument/2006/relationships/hyperlink" Target="http://www.hudong.com/wiki/%E6%B4%9B%E6%9D%89%E7%9F%B6" TargetMode="External"/><Relationship Id="rId2" Type="http://schemas.openxmlformats.org/officeDocument/2006/relationships/hyperlink" Target="http://www.hudong.com/wiki/%E7%89%A9%E7%90%86%E5%AD%A6" TargetMode="External"/><Relationship Id="rId1" Type="http://schemas.openxmlformats.org/officeDocument/2006/relationships/slideLayout" Target="../slideLayouts/slideLayout2.xml"/><Relationship Id="rId6" Type="http://schemas.openxmlformats.org/officeDocument/2006/relationships/hyperlink" Target="http://www.hudong.com/wiki/%E5%8E%A6%E9%97%A8%E5%A4%A7%E5%AD%A6" TargetMode="External"/><Relationship Id="rId5" Type="http://schemas.openxmlformats.org/officeDocument/2006/relationships/hyperlink" Target="http://www.hudong.com/wiki/%E6%B5%99%E6%B1%9F%E7%9C%81" TargetMode="External"/><Relationship Id="rId4" Type="http://schemas.openxmlformats.org/officeDocument/2006/relationships/image" Target="../media/image18.png"/><Relationship Id="rId9" Type="http://schemas.openxmlformats.org/officeDocument/2006/relationships/hyperlink" Target="http://www.hudong.com/wiki/%E4%B8%8A%E6%B5%B7"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www.hudong.com/wiki/%E5%88%98%E6%A0%91%E6%9D%9E" TargetMode="External"/><Relationship Id="rId13" Type="http://schemas.openxmlformats.org/officeDocument/2006/relationships/hyperlink" Target="http://www.hudong.com/wiki/%E4%BC%AF%E5%85%8B%E5%88%A9%E5%8A%A0%E5%B7%9E%E5%A4%A7%E5%AD%A6" TargetMode="External"/><Relationship Id="rId18" Type="http://schemas.openxmlformats.org/officeDocument/2006/relationships/hyperlink" Target="http://www.hudong.com/wiki/%E9%9D%92%E5%B2%9B" TargetMode="External"/><Relationship Id="rId3" Type="http://schemas.openxmlformats.org/officeDocument/2006/relationships/hyperlink" Target="http://www.hudong.com/wiki/%E5%8E%A6%E9%97%A8%E5%A4%A7%E5%AD%A6" TargetMode="External"/><Relationship Id="rId7" Type="http://schemas.openxmlformats.org/officeDocument/2006/relationships/hyperlink" Target="http://www.hudong.com/wiki/%E5%8D%97%E6%B4%8B" TargetMode="External"/><Relationship Id="rId12" Type="http://schemas.openxmlformats.org/officeDocument/2006/relationships/hyperlink" Target="http://www.hudong.com/wiki/%E5%8D%97%E5%8A%A0%E5%B7%9E%E5%A4%A7%E5%AD%A6" TargetMode="External"/><Relationship Id="rId17" Type="http://schemas.openxmlformats.org/officeDocument/2006/relationships/hyperlink" Target="http://www.hudong.com/wiki/%E4%B8%8A%E6%B5%B7" TargetMode="External"/><Relationship Id="rId2" Type="http://schemas.openxmlformats.org/officeDocument/2006/relationships/hyperlink" Target="http://www.hudong.com/wiki/%E5%8D%97%E4%BA%AC" TargetMode="External"/><Relationship Id="rId16" Type="http://schemas.openxmlformats.org/officeDocument/2006/relationships/hyperlink" Target="http://www.hudong.com/wiki/%E9%87%8D%E5%BA%86" TargetMode="External"/><Relationship Id="rId1" Type="http://schemas.openxmlformats.org/officeDocument/2006/relationships/slideLayout" Target="../slideLayouts/slideLayout2.xml"/><Relationship Id="rId6" Type="http://schemas.openxmlformats.org/officeDocument/2006/relationships/hyperlink" Target="http://www.hudong.com/wiki/%E9%99%88%E5%98%89%E5%BA%9A" TargetMode="External"/><Relationship Id="rId11" Type="http://schemas.openxmlformats.org/officeDocument/2006/relationships/hyperlink" Target="http://www.hudong.com/wiki/%E6%B4%9B%E6%9D%89%E7%9F%B6" TargetMode="External"/><Relationship Id="rId5" Type="http://schemas.openxmlformats.org/officeDocument/2006/relationships/hyperlink" Target="http://www.hudong.com/wiki/%E6%96%B0%E5%8A%A0%E5%9D%A1" TargetMode="External"/><Relationship Id="rId15" Type="http://schemas.openxmlformats.org/officeDocument/2006/relationships/hyperlink" Target="http://www.hudong.com/wiki/%E6%97%A5%E6%9C%AC" TargetMode="External"/><Relationship Id="rId10" Type="http://schemas.openxmlformats.org/officeDocument/2006/relationships/hyperlink" Target="http://www.hudong.com/wiki/%E5%A4%AA%E5%B9%B3%E6%B4%8B" TargetMode="External"/><Relationship Id="rId19" Type="http://schemas.openxmlformats.org/officeDocument/2006/relationships/hyperlink" Target="http://www.hudong.com/wiki/%E5%8F%B0%E6%B9%BE" TargetMode="External"/><Relationship Id="rId4" Type="http://schemas.openxmlformats.org/officeDocument/2006/relationships/hyperlink" Target="http://www.hudong.com/wiki/%E6%9E%97%E6%96%87%E5%BA%86" TargetMode="External"/><Relationship Id="rId9" Type="http://schemas.openxmlformats.org/officeDocument/2006/relationships/hyperlink" Target="http://www.hudong.com/wiki/%E7%BE%8E%E5%9B%BD" TargetMode="External"/><Relationship Id="rId14" Type="http://schemas.openxmlformats.org/officeDocument/2006/relationships/hyperlink" Target="http://www.hudong.com/wiki/%E6%AD%A6%E6%B1%89%E5%A4%A7%E5%AD%A6" TargetMode="Externa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20.jpeg"/><Relationship Id="rId4" Type="http://schemas.openxmlformats.org/officeDocument/2006/relationships/image" Target="../media/image19.wmf"/></Relationships>
</file>

<file path=ppt/slides/_rels/slide1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1.jpg"/><Relationship Id="rId4" Type="http://schemas.openxmlformats.org/officeDocument/2006/relationships/image" Target="../media/image2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hyperlink" Target="https://www.sciencedirect.com/journal/journal-of-the-franklin-institute/vol/217/issue/2" TargetMode="Externa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hyperlink" Target="https://www.sciencedirect.com/journal/journal-of-the-franklin-institute" TargetMode="External"/><Relationship Id="rId5" Type="http://schemas.openxmlformats.org/officeDocument/2006/relationships/hyperlink" Target="https://sci-hub.wf/10.1016/s0016-0032(34)91029-2" TargetMode="External"/><Relationship Id="rId4" Type="http://schemas.openxmlformats.org/officeDocument/2006/relationships/image" Target="../media/image23.wmf"/></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4.xml"/><Relationship Id="rId7"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2.bin"/><Relationship Id="rId5" Type="http://schemas.openxmlformats.org/officeDocument/2006/relationships/image" Target="../media/image23.w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hyperlink" Target="../wujing%20college/miller_exp.gif" TargetMode="External"/><Relationship Id="rId2" Type="http://schemas.openxmlformats.org/officeDocument/2006/relationships/hyperlink" Target="http://cai.tongji.edu.cn/pcai/P02/CH01/bbbb/bbbbrz01.html#h45" TargetMode="Externa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8.wmf"/><Relationship Id="rId5" Type="http://schemas.openxmlformats.org/officeDocument/2006/relationships/oleObject" Target="../embeddings/oleObject14.bin"/><Relationship Id="rId4" Type="http://schemas.openxmlformats.org/officeDocument/2006/relationships/image" Target="../media/image27.wmf"/></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17.bin"/><Relationship Id="rId5" Type="http://schemas.openxmlformats.org/officeDocument/2006/relationships/image" Target="../media/image29.wmf"/><Relationship Id="rId4"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9.bin"/><Relationship Id="rId5" Type="http://schemas.openxmlformats.org/officeDocument/2006/relationships/image" Target="../media/image32.png"/><Relationship Id="rId4" Type="http://schemas.openxmlformats.org/officeDocument/2006/relationships/image" Target="../media/image30.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9.wmf"/><Relationship Id="rId5" Type="http://schemas.openxmlformats.org/officeDocument/2006/relationships/oleObject" Target="../embeddings/oleObject21.bin"/><Relationship Id="rId4" Type="http://schemas.openxmlformats.org/officeDocument/2006/relationships/image" Target="../media/image33.wmf"/></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32.png"/><Relationship Id="rId3" Type="http://schemas.openxmlformats.org/officeDocument/2006/relationships/oleObject" Target="../embeddings/oleObject22.bin"/><Relationship Id="rId7" Type="http://schemas.openxmlformats.org/officeDocument/2006/relationships/oleObject" Target="../embeddings/oleObject24.bin"/><Relationship Id="rId12"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7.wmf"/><Relationship Id="rId11" Type="http://schemas.openxmlformats.org/officeDocument/2006/relationships/oleObject" Target="../embeddings/oleObject26.bin"/><Relationship Id="rId5" Type="http://schemas.openxmlformats.org/officeDocument/2006/relationships/oleObject" Target="../embeddings/oleObject23.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25.bin"/></Relationships>
</file>

<file path=ppt/slides/_rels/slide22.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5.wmf"/><Relationship Id="rId17" Type="http://schemas.openxmlformats.org/officeDocument/2006/relationships/image" Target="../media/image32.png"/><Relationship Id="rId2" Type="http://schemas.openxmlformats.org/officeDocument/2006/relationships/slideLayout" Target="../slideLayouts/slideLayout7.xml"/><Relationship Id="rId16" Type="http://schemas.openxmlformats.org/officeDocument/2006/relationships/image" Target="../media/image46.wmf"/><Relationship Id="rId1" Type="http://schemas.openxmlformats.org/officeDocument/2006/relationships/vmlDrawing" Target="../drawings/vmlDrawing11.vml"/><Relationship Id="rId6" Type="http://schemas.openxmlformats.org/officeDocument/2006/relationships/image" Target="../media/image42.wmf"/><Relationship Id="rId11" Type="http://schemas.openxmlformats.org/officeDocument/2006/relationships/oleObject" Target="../embeddings/oleObject31.bin"/><Relationship Id="rId5" Type="http://schemas.openxmlformats.org/officeDocument/2006/relationships/oleObject" Target="../embeddings/oleObject28.bin"/><Relationship Id="rId15" Type="http://schemas.openxmlformats.org/officeDocument/2006/relationships/oleObject" Target="../embeddings/oleObject33.bin"/><Relationship Id="rId10" Type="http://schemas.openxmlformats.org/officeDocument/2006/relationships/image" Target="../media/image44.wmf"/><Relationship Id="rId4" Type="http://schemas.openxmlformats.org/officeDocument/2006/relationships/image" Target="../media/image41.wmf"/><Relationship Id="rId9" Type="http://schemas.openxmlformats.org/officeDocument/2006/relationships/oleObject" Target="../embeddings/oleObject30.bin"/><Relationship Id="rId14" Type="http://schemas.openxmlformats.org/officeDocument/2006/relationships/image" Target="../media/image19.wmf"/></Relationships>
</file>

<file path=ppt/slides/_rels/slide23.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4.bin"/><Relationship Id="rId7" Type="http://schemas.openxmlformats.org/officeDocument/2006/relationships/oleObject" Target="../embeddings/oleObject36.bin"/><Relationship Id="rId12" Type="http://schemas.openxmlformats.org/officeDocument/2006/relationships/image" Target="../media/image51.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8.wmf"/><Relationship Id="rId11" Type="http://schemas.openxmlformats.org/officeDocument/2006/relationships/oleObject" Target="../embeddings/oleObject38.bin"/><Relationship Id="rId5" Type="http://schemas.openxmlformats.org/officeDocument/2006/relationships/oleObject" Target="../embeddings/oleObject35.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37.bin"/></Relationships>
</file>

<file path=ppt/slides/_rels/slide24.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3.wmf"/><Relationship Id="rId5" Type="http://schemas.openxmlformats.org/officeDocument/2006/relationships/oleObject" Target="../embeddings/oleObject40.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42.bin"/></Relationships>
</file>

<file path=ppt/slides/_rels/slide25.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60.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7.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59.wmf"/><Relationship Id="rId4" Type="http://schemas.openxmlformats.org/officeDocument/2006/relationships/image" Target="../media/image56.wmf"/><Relationship Id="rId9" Type="http://schemas.openxmlformats.org/officeDocument/2006/relationships/oleObject" Target="../embeddings/oleObject46.bin"/><Relationship Id="rId14" Type="http://schemas.openxmlformats.org/officeDocument/2006/relationships/image" Target="../media/image61.png"/></Relationships>
</file>

<file path=ppt/slides/_rels/slide26.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oleObject" Target="../embeddings/oleObject54.bin"/><Relationship Id="rId18" Type="http://schemas.openxmlformats.org/officeDocument/2006/relationships/image" Target="../media/image69.wmf"/><Relationship Id="rId3" Type="http://schemas.openxmlformats.org/officeDocument/2006/relationships/oleObject" Target="../embeddings/oleObject49.bin"/><Relationship Id="rId21" Type="http://schemas.openxmlformats.org/officeDocument/2006/relationships/oleObject" Target="../embeddings/oleObject59.bin"/><Relationship Id="rId7" Type="http://schemas.openxmlformats.org/officeDocument/2006/relationships/oleObject" Target="../embeddings/oleObject51.bin"/><Relationship Id="rId12" Type="http://schemas.openxmlformats.org/officeDocument/2006/relationships/image" Target="../media/image66.wmf"/><Relationship Id="rId17" Type="http://schemas.openxmlformats.org/officeDocument/2006/relationships/oleObject" Target="../embeddings/oleObject56.bin"/><Relationship Id="rId25" Type="http://schemas.openxmlformats.org/officeDocument/2006/relationships/image" Target="../media/image32.png"/><Relationship Id="rId2" Type="http://schemas.openxmlformats.org/officeDocument/2006/relationships/slideLayout" Target="../slideLayouts/slideLayout7.xml"/><Relationship Id="rId16" Type="http://schemas.openxmlformats.org/officeDocument/2006/relationships/image" Target="../media/image68.wmf"/><Relationship Id="rId20" Type="http://schemas.openxmlformats.org/officeDocument/2006/relationships/oleObject" Target="../embeddings/oleObject58.bin"/><Relationship Id="rId1" Type="http://schemas.openxmlformats.org/officeDocument/2006/relationships/vmlDrawing" Target="../drawings/vmlDrawing15.vml"/><Relationship Id="rId6" Type="http://schemas.openxmlformats.org/officeDocument/2006/relationships/image" Target="../media/image63.wmf"/><Relationship Id="rId11" Type="http://schemas.openxmlformats.org/officeDocument/2006/relationships/oleObject" Target="../embeddings/oleObject53.bin"/><Relationship Id="rId24" Type="http://schemas.openxmlformats.org/officeDocument/2006/relationships/oleObject" Target="../embeddings/oleObject61.bin"/><Relationship Id="rId5" Type="http://schemas.openxmlformats.org/officeDocument/2006/relationships/oleObject" Target="../embeddings/oleObject50.bin"/><Relationship Id="rId15" Type="http://schemas.openxmlformats.org/officeDocument/2006/relationships/oleObject" Target="../embeddings/oleObject55.bin"/><Relationship Id="rId23" Type="http://schemas.openxmlformats.org/officeDocument/2006/relationships/image" Target="../media/image70.wmf"/><Relationship Id="rId10" Type="http://schemas.openxmlformats.org/officeDocument/2006/relationships/image" Target="../media/image65.wmf"/><Relationship Id="rId19" Type="http://schemas.openxmlformats.org/officeDocument/2006/relationships/oleObject" Target="../embeddings/oleObject57.bin"/><Relationship Id="rId4" Type="http://schemas.openxmlformats.org/officeDocument/2006/relationships/image" Target="../media/image62.wmf"/><Relationship Id="rId9" Type="http://schemas.openxmlformats.org/officeDocument/2006/relationships/oleObject" Target="../embeddings/oleObject52.bin"/><Relationship Id="rId14" Type="http://schemas.openxmlformats.org/officeDocument/2006/relationships/image" Target="../media/image67.wmf"/><Relationship Id="rId22" Type="http://schemas.openxmlformats.org/officeDocument/2006/relationships/oleObject" Target="../embeddings/oleObject60.bin"/></Relationships>
</file>

<file path=ppt/slides/_rels/slide27.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oleObject" Target="../embeddings/oleObject48.bin"/><Relationship Id="rId7" Type="http://schemas.openxmlformats.org/officeDocument/2006/relationships/oleObject" Target="../embeddings/oleObject63.bin"/><Relationship Id="rId12"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0.wmf"/><Relationship Id="rId11" Type="http://schemas.openxmlformats.org/officeDocument/2006/relationships/oleObject" Target="../embeddings/oleObject65.bin"/><Relationship Id="rId5" Type="http://schemas.openxmlformats.org/officeDocument/2006/relationships/oleObject" Target="../embeddings/oleObject62.bin"/><Relationship Id="rId10" Type="http://schemas.openxmlformats.org/officeDocument/2006/relationships/image" Target="../media/image72.wmf"/><Relationship Id="rId4" Type="http://schemas.openxmlformats.org/officeDocument/2006/relationships/image" Target="../media/image61.png"/><Relationship Id="rId9" Type="http://schemas.openxmlformats.org/officeDocument/2006/relationships/oleObject" Target="../embeddings/oleObject64.bin"/></Relationships>
</file>

<file path=ppt/slides/_rels/slide2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66.bin"/><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75.wmf"/><Relationship Id="rId5" Type="http://schemas.openxmlformats.org/officeDocument/2006/relationships/oleObject" Target="../embeddings/oleObject67.bin"/><Relationship Id="rId4" Type="http://schemas.openxmlformats.org/officeDocument/2006/relationships/image" Target="../media/image74.wmf"/><Relationship Id="rId9" Type="http://schemas.openxmlformats.org/officeDocument/2006/relationships/image" Target="../media/image73.png"/></Relationships>
</file>

<file path=ppt/slides/_rels/slide30.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78.wmf"/><Relationship Id="rId11" Type="http://schemas.openxmlformats.org/officeDocument/2006/relationships/image" Target="../media/image73.png"/><Relationship Id="rId5" Type="http://schemas.openxmlformats.org/officeDocument/2006/relationships/oleObject" Target="../embeddings/oleObject70.bin"/><Relationship Id="rId10" Type="http://schemas.openxmlformats.org/officeDocument/2006/relationships/image" Target="../media/image80.wmf"/><Relationship Id="rId4" Type="http://schemas.openxmlformats.org/officeDocument/2006/relationships/image" Target="../media/image77.wmf"/><Relationship Id="rId9" Type="http://schemas.openxmlformats.org/officeDocument/2006/relationships/oleObject" Target="../embeddings/oleObject72.bin"/></Relationships>
</file>

<file path=ppt/slides/_rels/slide31.x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oleObject" Target="../embeddings/oleObject73.bin"/><Relationship Id="rId7"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82.wmf"/><Relationship Id="rId5" Type="http://schemas.openxmlformats.org/officeDocument/2006/relationships/oleObject" Target="../embeddings/oleObject74.bin"/><Relationship Id="rId4" Type="http://schemas.openxmlformats.org/officeDocument/2006/relationships/image" Target="../media/image81.wmf"/><Relationship Id="rId9"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6.bin"/><Relationship Id="rId7" Type="http://schemas.openxmlformats.org/officeDocument/2006/relationships/image" Target="../media/image86.png"/><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85.wmf"/><Relationship Id="rId5" Type="http://schemas.openxmlformats.org/officeDocument/2006/relationships/oleObject" Target="../embeddings/oleObject77.bin"/><Relationship Id="rId4" Type="http://schemas.openxmlformats.org/officeDocument/2006/relationships/image" Target="../media/image84.wmf"/></Relationships>
</file>

<file path=ppt/slides/_rels/slide33.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88.wmf"/><Relationship Id="rId5" Type="http://schemas.openxmlformats.org/officeDocument/2006/relationships/oleObject" Target="../embeddings/oleObject79.bin"/><Relationship Id="rId4" Type="http://schemas.openxmlformats.org/officeDocument/2006/relationships/image" Target="../media/image87.wmf"/></Relationships>
</file>

<file path=ppt/slides/_rels/slide34.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86.bin"/><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93.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8.wmf"/><Relationship Id="rId11" Type="http://schemas.openxmlformats.org/officeDocument/2006/relationships/oleObject" Target="../embeddings/oleObject85.bin"/><Relationship Id="rId5" Type="http://schemas.openxmlformats.org/officeDocument/2006/relationships/oleObject" Target="../embeddings/oleObject82.bin"/><Relationship Id="rId10" Type="http://schemas.openxmlformats.org/officeDocument/2006/relationships/image" Target="../media/image92.wmf"/><Relationship Id="rId4" Type="http://schemas.openxmlformats.org/officeDocument/2006/relationships/image" Target="../media/image90.wmf"/><Relationship Id="rId9" Type="http://schemas.openxmlformats.org/officeDocument/2006/relationships/oleObject" Target="../embeddings/oleObject84.bin"/><Relationship Id="rId14" Type="http://schemas.openxmlformats.org/officeDocument/2006/relationships/image" Target="../media/image19.wmf"/></Relationships>
</file>

<file path=ppt/slides/_rels/slide35.xml.rels><?xml version="1.0" encoding="UTF-8" standalone="yes"?>
<Relationships xmlns="http://schemas.openxmlformats.org/package/2006/relationships"><Relationship Id="rId8" Type="http://schemas.openxmlformats.org/officeDocument/2006/relationships/image" Target="../media/image96.wmf"/><Relationship Id="rId13" Type="http://schemas.openxmlformats.org/officeDocument/2006/relationships/oleObject" Target="../embeddings/oleObject92.bin"/><Relationship Id="rId18" Type="http://schemas.openxmlformats.org/officeDocument/2006/relationships/image" Target="../media/image101.wmf"/><Relationship Id="rId3" Type="http://schemas.openxmlformats.org/officeDocument/2006/relationships/oleObject" Target="../embeddings/oleObject87.bin"/><Relationship Id="rId21" Type="http://schemas.openxmlformats.org/officeDocument/2006/relationships/oleObject" Target="../embeddings/oleObject96.bin"/><Relationship Id="rId7" Type="http://schemas.openxmlformats.org/officeDocument/2006/relationships/oleObject" Target="../embeddings/oleObject89.bin"/><Relationship Id="rId12" Type="http://schemas.openxmlformats.org/officeDocument/2006/relationships/image" Target="../media/image98.wmf"/><Relationship Id="rId17" Type="http://schemas.openxmlformats.org/officeDocument/2006/relationships/oleObject" Target="../embeddings/oleObject94.bin"/><Relationship Id="rId2" Type="http://schemas.openxmlformats.org/officeDocument/2006/relationships/slideLayout" Target="../slideLayouts/slideLayout7.xml"/><Relationship Id="rId16" Type="http://schemas.openxmlformats.org/officeDocument/2006/relationships/image" Target="../media/image100.wmf"/><Relationship Id="rId20" Type="http://schemas.openxmlformats.org/officeDocument/2006/relationships/image" Target="../media/image102.wmf"/><Relationship Id="rId1" Type="http://schemas.openxmlformats.org/officeDocument/2006/relationships/vmlDrawing" Target="../drawings/vmlDrawing23.vml"/><Relationship Id="rId6" Type="http://schemas.openxmlformats.org/officeDocument/2006/relationships/image" Target="../media/image95.wmf"/><Relationship Id="rId11" Type="http://schemas.openxmlformats.org/officeDocument/2006/relationships/oleObject" Target="../embeddings/oleObject91.bin"/><Relationship Id="rId24" Type="http://schemas.openxmlformats.org/officeDocument/2006/relationships/image" Target="../media/image104.wmf"/><Relationship Id="rId5" Type="http://schemas.openxmlformats.org/officeDocument/2006/relationships/oleObject" Target="../embeddings/oleObject88.bin"/><Relationship Id="rId15" Type="http://schemas.openxmlformats.org/officeDocument/2006/relationships/oleObject" Target="../embeddings/oleObject93.bin"/><Relationship Id="rId23" Type="http://schemas.openxmlformats.org/officeDocument/2006/relationships/oleObject" Target="../embeddings/oleObject97.bin"/><Relationship Id="rId10" Type="http://schemas.openxmlformats.org/officeDocument/2006/relationships/image" Target="../media/image97.wmf"/><Relationship Id="rId19" Type="http://schemas.openxmlformats.org/officeDocument/2006/relationships/oleObject" Target="../embeddings/oleObject95.bin"/><Relationship Id="rId4" Type="http://schemas.openxmlformats.org/officeDocument/2006/relationships/image" Target="../media/image94.wmf"/><Relationship Id="rId9" Type="http://schemas.openxmlformats.org/officeDocument/2006/relationships/oleObject" Target="../embeddings/oleObject90.bin"/><Relationship Id="rId14" Type="http://schemas.openxmlformats.org/officeDocument/2006/relationships/image" Target="../media/image99.wmf"/><Relationship Id="rId22" Type="http://schemas.openxmlformats.org/officeDocument/2006/relationships/image" Target="../media/image103.wmf"/></Relationships>
</file>

<file path=ppt/slides/_rels/slide36.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06.wmf"/><Relationship Id="rId5" Type="http://schemas.openxmlformats.org/officeDocument/2006/relationships/oleObject" Target="../embeddings/oleObject99.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101.bin"/></Relationships>
</file>

<file path=ppt/slides/_rels/slide37.xml.rels><?xml version="1.0" encoding="UTF-8" standalone="yes"?>
<Relationships xmlns="http://schemas.openxmlformats.org/package/2006/relationships"><Relationship Id="rId8" Type="http://schemas.openxmlformats.org/officeDocument/2006/relationships/image" Target="../media/image111.wmf"/><Relationship Id="rId13" Type="http://schemas.openxmlformats.org/officeDocument/2006/relationships/oleObject" Target="../embeddings/oleObject107.bin"/><Relationship Id="rId3" Type="http://schemas.openxmlformats.org/officeDocument/2006/relationships/oleObject" Target="../embeddings/oleObject102.bin"/><Relationship Id="rId7" Type="http://schemas.openxmlformats.org/officeDocument/2006/relationships/oleObject" Target="../embeddings/oleObject104.bin"/><Relationship Id="rId12" Type="http://schemas.openxmlformats.org/officeDocument/2006/relationships/image" Target="../media/image113.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10.wmf"/><Relationship Id="rId11" Type="http://schemas.openxmlformats.org/officeDocument/2006/relationships/oleObject" Target="../embeddings/oleObject106.bin"/><Relationship Id="rId5" Type="http://schemas.openxmlformats.org/officeDocument/2006/relationships/oleObject" Target="../embeddings/oleObject103.bin"/><Relationship Id="rId10" Type="http://schemas.openxmlformats.org/officeDocument/2006/relationships/image" Target="../media/image112.wmf"/><Relationship Id="rId4" Type="http://schemas.openxmlformats.org/officeDocument/2006/relationships/image" Target="../media/image109.wmf"/><Relationship Id="rId9" Type="http://schemas.openxmlformats.org/officeDocument/2006/relationships/oleObject" Target="../embeddings/oleObject105.bin"/><Relationship Id="rId14" Type="http://schemas.openxmlformats.org/officeDocument/2006/relationships/image" Target="../media/image114.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image" Target="../media/image115.emf"/></Relationships>
</file>

<file path=ppt/slides/_rels/slide39.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oleObject" Target="../embeddings/oleObject109.bin"/><Relationship Id="rId7"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117.wmf"/><Relationship Id="rId5" Type="http://schemas.openxmlformats.org/officeDocument/2006/relationships/oleObject" Target="../embeddings/oleObject110.bin"/><Relationship Id="rId10" Type="http://schemas.openxmlformats.org/officeDocument/2006/relationships/image" Target="../media/image119.wmf"/><Relationship Id="rId4" Type="http://schemas.openxmlformats.org/officeDocument/2006/relationships/image" Target="../media/image116.wmf"/><Relationship Id="rId9" Type="http://schemas.openxmlformats.org/officeDocument/2006/relationships/oleObject" Target="../embeddings/oleObject112.bin"/></Relationships>
</file>

<file path=ppt/slides/_rels/slide4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hyperlink" Target="file:///D:\2014college%20physics\ppt\gongshi','','show" TargetMode="External"/><Relationship Id="rId1" Type="http://schemas.openxmlformats.org/officeDocument/2006/relationships/slideLayout" Target="../slideLayouts/slideLayout7.xml"/><Relationship Id="rId4" Type="http://schemas.openxmlformats.org/officeDocument/2006/relationships/image" Target="../media/image121.png"/></Relationships>
</file>

<file path=ppt/slides/_rels/slide4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15.bin"/><Relationship Id="rId3" Type="http://schemas.openxmlformats.org/officeDocument/2006/relationships/image" Target="../media/image127.gif"/><Relationship Id="rId7" Type="http://schemas.openxmlformats.org/officeDocument/2006/relationships/image" Target="../media/image124.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14.bin"/><Relationship Id="rId11" Type="http://schemas.openxmlformats.org/officeDocument/2006/relationships/image" Target="../media/image126.wmf"/><Relationship Id="rId5" Type="http://schemas.openxmlformats.org/officeDocument/2006/relationships/image" Target="../media/image123.w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25.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129.emf"/><Relationship Id="rId3" Type="http://schemas.openxmlformats.org/officeDocument/2006/relationships/image" Target="../media/image132.png"/><Relationship Id="rId7" Type="http://schemas.openxmlformats.org/officeDocument/2006/relationships/oleObject" Target="../embeddings/oleObject118.bin"/><Relationship Id="rId12" Type="http://schemas.openxmlformats.org/officeDocument/2006/relationships/image" Target="../media/image131.wmf"/><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33.png"/><Relationship Id="rId11" Type="http://schemas.openxmlformats.org/officeDocument/2006/relationships/oleObject" Target="../embeddings/oleObject120.bin"/><Relationship Id="rId5" Type="http://schemas.openxmlformats.org/officeDocument/2006/relationships/image" Target="../media/image128.emf"/><Relationship Id="rId10" Type="http://schemas.openxmlformats.org/officeDocument/2006/relationships/image" Target="../media/image130.emf"/><Relationship Id="rId4" Type="http://schemas.openxmlformats.org/officeDocument/2006/relationships/oleObject" Target="../embeddings/oleObject117.bin"/><Relationship Id="rId9" Type="http://schemas.openxmlformats.org/officeDocument/2006/relationships/oleObject" Target="../embeddings/oleObject119.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23.bin"/><Relationship Id="rId3" Type="http://schemas.openxmlformats.org/officeDocument/2006/relationships/notesSlide" Target="../notesSlides/notesSlide6.xml"/><Relationship Id="rId7" Type="http://schemas.openxmlformats.org/officeDocument/2006/relationships/image" Target="../media/image135.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122.bin"/><Relationship Id="rId11" Type="http://schemas.openxmlformats.org/officeDocument/2006/relationships/image" Target="../media/image137.wmf"/><Relationship Id="rId5" Type="http://schemas.openxmlformats.org/officeDocument/2006/relationships/image" Target="../media/image134.wmf"/><Relationship Id="rId10" Type="http://schemas.openxmlformats.org/officeDocument/2006/relationships/oleObject" Target="../embeddings/oleObject124.bin"/><Relationship Id="rId4" Type="http://schemas.openxmlformats.org/officeDocument/2006/relationships/oleObject" Target="../embeddings/oleObject121.bin"/><Relationship Id="rId9" Type="http://schemas.openxmlformats.org/officeDocument/2006/relationships/image" Target="../media/image136.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39.wmf"/><Relationship Id="rId5" Type="http://schemas.openxmlformats.org/officeDocument/2006/relationships/oleObject" Target="../embeddings/oleObject126.bin"/><Relationship Id="rId4" Type="http://schemas.openxmlformats.org/officeDocument/2006/relationships/image" Target="../media/image138.wmf"/></Relationships>
</file>

<file path=ppt/slides/_rels/slide47.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image" Target="../media/image140.png"/><Relationship Id="rId1" Type="http://schemas.openxmlformats.org/officeDocument/2006/relationships/slideLayout" Target="../slideLayouts/slideLayout7.xml"/><Relationship Id="rId4" Type="http://schemas.openxmlformats.org/officeDocument/2006/relationships/image" Target="../media/image142.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5.wmf"/><Relationship Id="rId18" Type="http://schemas.openxmlformats.org/officeDocument/2006/relationships/oleObject" Target="../embeddings/oleObject134.bin"/><Relationship Id="rId26" Type="http://schemas.openxmlformats.org/officeDocument/2006/relationships/oleObject" Target="../embeddings/oleObject137.bin"/><Relationship Id="rId3" Type="http://schemas.openxmlformats.org/officeDocument/2006/relationships/audio" Target="../media/audio1.wav"/><Relationship Id="rId21" Type="http://schemas.openxmlformats.org/officeDocument/2006/relationships/image" Target="../media/image7.wmf"/><Relationship Id="rId7" Type="http://schemas.openxmlformats.org/officeDocument/2006/relationships/image" Target="../media/image2.wmf"/><Relationship Id="rId12" Type="http://schemas.openxmlformats.org/officeDocument/2006/relationships/oleObject" Target="../embeddings/oleObject131.bin"/><Relationship Id="rId17" Type="http://schemas.openxmlformats.org/officeDocument/2006/relationships/image" Target="../media/image71.wmf"/><Relationship Id="rId25" Type="http://schemas.openxmlformats.org/officeDocument/2006/relationships/image" Target="../media/image130.emf"/><Relationship Id="rId2" Type="http://schemas.openxmlformats.org/officeDocument/2006/relationships/slideLayout" Target="../slideLayouts/slideLayout7.xml"/><Relationship Id="rId16" Type="http://schemas.openxmlformats.org/officeDocument/2006/relationships/oleObject" Target="../embeddings/oleObject133.bin"/><Relationship Id="rId20" Type="http://schemas.openxmlformats.org/officeDocument/2006/relationships/oleObject" Target="../embeddings/oleObject7.bin"/><Relationship Id="rId1" Type="http://schemas.openxmlformats.org/officeDocument/2006/relationships/vmlDrawing" Target="../drawings/vmlDrawing32.vml"/><Relationship Id="rId6" Type="http://schemas.openxmlformats.org/officeDocument/2006/relationships/oleObject" Target="../embeddings/oleObject128.bin"/><Relationship Id="rId11" Type="http://schemas.openxmlformats.org/officeDocument/2006/relationships/image" Target="../media/image4.wmf"/><Relationship Id="rId24" Type="http://schemas.openxmlformats.org/officeDocument/2006/relationships/oleObject" Target="../embeddings/oleObject136.bin"/><Relationship Id="rId5" Type="http://schemas.openxmlformats.org/officeDocument/2006/relationships/image" Target="../media/image1.wmf"/><Relationship Id="rId15" Type="http://schemas.openxmlformats.org/officeDocument/2006/relationships/image" Target="../media/image19.wmf"/><Relationship Id="rId23" Type="http://schemas.openxmlformats.org/officeDocument/2006/relationships/image" Target="../media/image129.emf"/><Relationship Id="rId10" Type="http://schemas.openxmlformats.org/officeDocument/2006/relationships/oleObject" Target="../embeddings/oleObject130.bin"/><Relationship Id="rId19" Type="http://schemas.openxmlformats.org/officeDocument/2006/relationships/image" Target="../media/image72.wmf"/><Relationship Id="rId4" Type="http://schemas.openxmlformats.org/officeDocument/2006/relationships/oleObject" Target="../embeddings/oleObject127.bin"/><Relationship Id="rId9" Type="http://schemas.openxmlformats.org/officeDocument/2006/relationships/image" Target="../media/image3.wmf"/><Relationship Id="rId14" Type="http://schemas.openxmlformats.org/officeDocument/2006/relationships/oleObject" Target="../embeddings/oleObject132.bin"/><Relationship Id="rId22" Type="http://schemas.openxmlformats.org/officeDocument/2006/relationships/oleObject" Target="../embeddings/oleObject135.bin"/><Relationship Id="rId27" Type="http://schemas.openxmlformats.org/officeDocument/2006/relationships/image" Target="../media/image14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1295400" y="304800"/>
            <a:ext cx="6553200" cy="914400"/>
          </a:xfrm>
          <a:prstGeom prst="rect">
            <a:avLst/>
          </a:prstGeom>
          <a:noFill/>
          <a:ln w="12700">
            <a:noFill/>
            <a:miter lim="800000"/>
            <a:headEnd type="none" w="sm" len="sm"/>
            <a:tailEnd type="none" w="sm" len="sm"/>
          </a:ln>
          <a:effectLst/>
        </p:spPr>
        <p:txBody>
          <a:bodyPr>
            <a:spAutoFit/>
          </a:bodyPr>
          <a:lstStyle/>
          <a:p>
            <a:pPr algn="ctr" eaLnBrk="1" hangingPunct="1">
              <a:spcBef>
                <a:spcPct val="50000"/>
              </a:spcBef>
              <a:defRPr/>
            </a:pPr>
            <a:r>
              <a:rPr lang="zh-CN" altLang="en-US" sz="5400" dirty="0">
                <a:solidFill>
                  <a:srgbClr val="FF3300"/>
                </a:solidFill>
                <a:effectLst>
                  <a:outerShdw blurRad="38100" dist="38100" dir="2700000" algn="tl">
                    <a:srgbClr val="FFFFFF"/>
                  </a:outerShdw>
                </a:effectLst>
                <a:ea typeface="华文行楷" pitchFamily="2" charset="-122"/>
              </a:rPr>
              <a:t>本章主要内容回顾</a:t>
            </a:r>
          </a:p>
        </p:txBody>
      </p:sp>
      <p:sp>
        <p:nvSpPr>
          <p:cNvPr id="59395" name="Text Box 3"/>
          <p:cNvSpPr txBox="1">
            <a:spLocks noChangeArrowheads="1"/>
          </p:cNvSpPr>
          <p:nvPr/>
        </p:nvSpPr>
        <p:spPr bwMode="auto">
          <a:xfrm>
            <a:off x="-71438" y="1295400"/>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cs typeface="Arial" panose="020B0604020202020204" pitchFamily="34" charset="0"/>
              </a:rPr>
              <a:t>1</a:t>
            </a:r>
            <a:r>
              <a:rPr lang="zh-CN" altLang="en-US" sz="2400" b="1">
                <a:cs typeface="Arial" panose="020B0604020202020204" pitchFamily="34" charset="0"/>
              </a:rPr>
              <a:t>、理想气体状态方程：</a:t>
            </a:r>
          </a:p>
        </p:txBody>
      </p:sp>
      <p:graphicFrame>
        <p:nvGraphicFramePr>
          <p:cNvPr id="61484" name="Object 44"/>
          <p:cNvGraphicFramePr>
            <a:graphicFrameLocks noChangeAspect="1"/>
          </p:cNvGraphicFramePr>
          <p:nvPr/>
        </p:nvGraphicFramePr>
        <p:xfrm>
          <a:off x="3419872" y="1220495"/>
          <a:ext cx="1735125" cy="545725"/>
        </p:xfrm>
        <a:graphic>
          <a:graphicData uri="http://schemas.openxmlformats.org/presentationml/2006/ole">
            <mc:AlternateContent xmlns:mc="http://schemas.openxmlformats.org/markup-compatibility/2006">
              <mc:Choice xmlns:v="urn:schemas-microsoft-com:vml" Requires="v">
                <p:oleObj spid="_x0000_s59680" name="Equation" r:id="rId4" imgW="1231366" imgH="393529" progId="Equation.DSMT4">
                  <p:embed/>
                </p:oleObj>
              </mc:Choice>
              <mc:Fallback>
                <p:oleObj name="Equation" r:id="rId4" imgW="1231366" imgH="393529" progId="Equation.DSMT4">
                  <p:embed/>
                  <p:pic>
                    <p:nvPicPr>
                      <p:cNvPr id="61484"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872" y="1220495"/>
                        <a:ext cx="1735125" cy="545725"/>
                      </a:xfrm>
                      <a:prstGeom prst="rect">
                        <a:avLst/>
                      </a:prstGeom>
                      <a:solidFill>
                        <a:schemeClr val="tx1"/>
                      </a:solidFill>
                      <a:ln>
                        <a:noFill/>
                      </a:ln>
                      <a:extLst/>
                    </p:spPr>
                  </p:pic>
                </p:oleObj>
              </mc:Fallback>
            </mc:AlternateContent>
          </a:graphicData>
        </a:graphic>
      </p:graphicFrame>
      <p:graphicFrame>
        <p:nvGraphicFramePr>
          <p:cNvPr id="61485" name="Object 45"/>
          <p:cNvGraphicFramePr>
            <a:graphicFrameLocks noChangeAspect="1"/>
          </p:cNvGraphicFramePr>
          <p:nvPr/>
        </p:nvGraphicFramePr>
        <p:xfrm>
          <a:off x="5321936" y="1233413"/>
          <a:ext cx="1070927" cy="581174"/>
        </p:xfrm>
        <a:graphic>
          <a:graphicData uri="http://schemas.openxmlformats.org/presentationml/2006/ole">
            <mc:AlternateContent xmlns:mc="http://schemas.openxmlformats.org/markup-compatibility/2006">
              <mc:Choice xmlns:v="urn:schemas-microsoft-com:vml" Requires="v">
                <p:oleObj spid="_x0000_s59681" name="公式" r:id="rId6" imgW="748975" imgH="406224" progId="Equation.3">
                  <p:embed/>
                </p:oleObj>
              </mc:Choice>
              <mc:Fallback>
                <p:oleObj name="公式" r:id="rId6" imgW="748975" imgH="406224" progId="Equation.3">
                  <p:embed/>
                  <p:pic>
                    <p:nvPicPr>
                      <p:cNvPr id="61485" name="Object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1936" y="1233413"/>
                        <a:ext cx="1070927" cy="581174"/>
                      </a:xfrm>
                      <a:prstGeom prst="rect">
                        <a:avLst/>
                      </a:prstGeom>
                      <a:solidFill>
                        <a:schemeClr val="tx1"/>
                      </a:solidFill>
                      <a:ln>
                        <a:noFill/>
                      </a:ln>
                      <a:extLst/>
                    </p:spPr>
                  </p:pic>
                </p:oleObj>
              </mc:Fallback>
            </mc:AlternateContent>
          </a:graphicData>
        </a:graphic>
      </p:graphicFrame>
      <p:sp>
        <p:nvSpPr>
          <p:cNvPr id="59398" name="Text Box 6"/>
          <p:cNvSpPr txBox="1">
            <a:spLocks noChangeArrowheads="1"/>
          </p:cNvSpPr>
          <p:nvPr/>
        </p:nvSpPr>
        <p:spPr bwMode="auto">
          <a:xfrm>
            <a:off x="-71438" y="1916832"/>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cs typeface="Arial" panose="020B0604020202020204" pitchFamily="34" charset="0"/>
              </a:rPr>
              <a:t>2</a:t>
            </a:r>
            <a:r>
              <a:rPr lang="zh-CN" altLang="en-US" sz="2400" b="1">
                <a:cs typeface="Arial" panose="020B0604020202020204" pitchFamily="34" charset="0"/>
              </a:rPr>
              <a:t>、理想气体压强公式：</a:t>
            </a:r>
          </a:p>
        </p:txBody>
      </p:sp>
      <p:graphicFrame>
        <p:nvGraphicFramePr>
          <p:cNvPr id="61486" name="Object 46"/>
          <p:cNvGraphicFramePr>
            <a:graphicFrameLocks noChangeAspect="1"/>
          </p:cNvGraphicFramePr>
          <p:nvPr>
            <p:extLst>
              <p:ext uri="{D42A27DB-BD31-4B8C-83A1-F6EECF244321}">
                <p14:modId xmlns:p14="http://schemas.microsoft.com/office/powerpoint/2010/main" val="1627815294"/>
              </p:ext>
            </p:extLst>
          </p:nvPr>
        </p:nvGraphicFramePr>
        <p:xfrm>
          <a:off x="3445586" y="1882018"/>
          <a:ext cx="2749550" cy="911225"/>
        </p:xfrm>
        <a:graphic>
          <a:graphicData uri="http://schemas.openxmlformats.org/presentationml/2006/ole">
            <mc:AlternateContent xmlns:mc="http://schemas.openxmlformats.org/markup-compatibility/2006">
              <mc:Choice xmlns:v="urn:schemas-microsoft-com:vml" Requires="v">
                <p:oleObj spid="_x0000_s59682" name="Equation" r:id="rId8" imgW="1180588" imgH="393529" progId="Equation.DSMT4">
                  <p:embed/>
                </p:oleObj>
              </mc:Choice>
              <mc:Fallback>
                <p:oleObj name="Equation" r:id="rId8" imgW="1180588" imgH="393529" progId="Equation.DSMT4">
                  <p:embed/>
                  <p:pic>
                    <p:nvPicPr>
                      <p:cNvPr id="61486"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45586" y="1882018"/>
                        <a:ext cx="2749550" cy="911225"/>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1" name="Text Box 9"/>
          <p:cNvSpPr txBox="1">
            <a:spLocks noChangeArrowheads="1"/>
          </p:cNvSpPr>
          <p:nvPr/>
        </p:nvSpPr>
        <p:spPr bwMode="auto">
          <a:xfrm>
            <a:off x="990600" y="2526432"/>
            <a:ext cx="2286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FontTx/>
              <a:buNone/>
            </a:pPr>
            <a:r>
              <a:rPr kumimoji="0" lang="en-US" altLang="zh-CN" b="1" i="1">
                <a:cs typeface="Arial" panose="020B0604020202020204" pitchFamily="34" charset="0"/>
              </a:rPr>
              <a:t>p= n kT</a:t>
            </a:r>
          </a:p>
        </p:txBody>
      </p:sp>
      <p:sp>
        <p:nvSpPr>
          <p:cNvPr id="59402" name="Text Box 10"/>
          <p:cNvSpPr txBox="1">
            <a:spLocks noChangeArrowheads="1"/>
          </p:cNvSpPr>
          <p:nvPr/>
        </p:nvSpPr>
        <p:spPr bwMode="auto">
          <a:xfrm>
            <a:off x="42549" y="3186062"/>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cs typeface="Arial" panose="020B0604020202020204" pitchFamily="34" charset="0"/>
              </a:rPr>
              <a:t>3</a:t>
            </a:r>
            <a:r>
              <a:rPr lang="zh-CN" altLang="en-US" sz="2400" b="1">
                <a:cs typeface="Arial" panose="020B0604020202020204" pitchFamily="34" charset="0"/>
              </a:rPr>
              <a:t>、理想气体温度公式：</a:t>
            </a:r>
          </a:p>
        </p:txBody>
      </p:sp>
      <p:graphicFrame>
        <p:nvGraphicFramePr>
          <p:cNvPr id="61487" name="Object 47"/>
          <p:cNvGraphicFramePr>
            <a:graphicFrameLocks noChangeAspect="1"/>
          </p:cNvGraphicFramePr>
          <p:nvPr>
            <p:extLst>
              <p:ext uri="{D42A27DB-BD31-4B8C-83A1-F6EECF244321}">
                <p14:modId xmlns:p14="http://schemas.microsoft.com/office/powerpoint/2010/main" val="2197747958"/>
              </p:ext>
            </p:extLst>
          </p:nvPr>
        </p:nvGraphicFramePr>
        <p:xfrm>
          <a:off x="3472232" y="2912736"/>
          <a:ext cx="2199535" cy="758460"/>
        </p:xfrm>
        <a:graphic>
          <a:graphicData uri="http://schemas.openxmlformats.org/presentationml/2006/ole">
            <mc:AlternateContent xmlns:mc="http://schemas.openxmlformats.org/markup-compatibility/2006">
              <mc:Choice xmlns:v="urn:schemas-microsoft-com:vml" Requires="v">
                <p:oleObj spid="_x0000_s59683" name="Equation" r:id="rId10" imgW="1143000" imgH="393700" progId="Equation.DSMT4">
                  <p:embed/>
                </p:oleObj>
              </mc:Choice>
              <mc:Fallback>
                <p:oleObj name="Equation" r:id="rId10" imgW="1143000" imgH="393700" progId="Equation.DSMT4">
                  <p:embed/>
                  <p:pic>
                    <p:nvPicPr>
                      <p:cNvPr id="61487" name="Object 4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2232" y="2912736"/>
                        <a:ext cx="2199535" cy="758460"/>
                      </a:xfrm>
                      <a:prstGeom prst="rect">
                        <a:avLst/>
                      </a:prstGeom>
                      <a:solidFill>
                        <a:schemeClr val="tx1"/>
                      </a:solidFill>
                      <a:ln>
                        <a:noFill/>
                      </a:ln>
                      <a:extLst/>
                    </p:spPr>
                  </p:pic>
                </p:oleObj>
              </mc:Fallback>
            </mc:AlternateContent>
          </a:graphicData>
        </a:graphic>
      </p:graphicFrame>
      <p:sp>
        <p:nvSpPr>
          <p:cNvPr id="59411" name="Text Box 19"/>
          <p:cNvSpPr txBox="1">
            <a:spLocks noChangeArrowheads="1"/>
          </p:cNvSpPr>
          <p:nvPr/>
        </p:nvSpPr>
        <p:spPr bwMode="auto">
          <a:xfrm>
            <a:off x="52575" y="6237312"/>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cs typeface="Arial" panose="020B0604020202020204" pitchFamily="34" charset="0"/>
              </a:rPr>
              <a:t>5</a:t>
            </a:r>
            <a:r>
              <a:rPr lang="zh-CN" altLang="en-US" sz="2400" b="1">
                <a:cs typeface="Arial" panose="020B0604020202020204" pitchFamily="34" charset="0"/>
              </a:rPr>
              <a:t>、理想气体内能：</a:t>
            </a:r>
          </a:p>
        </p:txBody>
      </p:sp>
      <p:graphicFrame>
        <p:nvGraphicFramePr>
          <p:cNvPr id="61488" name="Object 48"/>
          <p:cNvGraphicFramePr>
            <a:graphicFrameLocks noChangeAspect="1"/>
          </p:cNvGraphicFramePr>
          <p:nvPr>
            <p:extLst>
              <p:ext uri="{D42A27DB-BD31-4B8C-83A1-F6EECF244321}">
                <p14:modId xmlns:p14="http://schemas.microsoft.com/office/powerpoint/2010/main" val="3816338653"/>
              </p:ext>
            </p:extLst>
          </p:nvPr>
        </p:nvGraphicFramePr>
        <p:xfrm>
          <a:off x="3131840" y="5995988"/>
          <a:ext cx="1917700" cy="862012"/>
        </p:xfrm>
        <a:graphic>
          <a:graphicData uri="http://schemas.openxmlformats.org/presentationml/2006/ole">
            <mc:AlternateContent xmlns:mc="http://schemas.openxmlformats.org/markup-compatibility/2006">
              <mc:Choice xmlns:v="urn:schemas-microsoft-com:vml" Requires="v">
                <p:oleObj spid="_x0000_s59684" name="Equation" r:id="rId12" imgW="875920" imgH="393529" progId="Equation.DSMT4">
                  <p:embed/>
                </p:oleObj>
              </mc:Choice>
              <mc:Fallback>
                <p:oleObj name="Equation" r:id="rId12" imgW="875920" imgH="393529" progId="Equation.DSMT4">
                  <p:embed/>
                  <p:pic>
                    <p:nvPicPr>
                      <p:cNvPr id="61488" name="Object 4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31840" y="5995988"/>
                        <a:ext cx="1917700" cy="862012"/>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9"/>
          <p:cNvSpPr txBox="1">
            <a:spLocks noChangeArrowheads="1"/>
          </p:cNvSpPr>
          <p:nvPr/>
        </p:nvSpPr>
        <p:spPr bwMode="auto">
          <a:xfrm>
            <a:off x="52574" y="4280681"/>
            <a:ext cx="85518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cs typeface="Arial" panose="020B0604020202020204" pitchFamily="34" charset="0"/>
              </a:rPr>
              <a:t>4</a:t>
            </a:r>
            <a:r>
              <a:rPr lang="zh-CN" altLang="en-US" sz="2400" b="1">
                <a:cs typeface="Arial" panose="020B0604020202020204" pitchFamily="34" charset="0"/>
              </a:rPr>
              <a:t>、能均分定理及单个分子的平均总动能：</a:t>
            </a:r>
          </a:p>
        </p:txBody>
      </p:sp>
      <p:graphicFrame>
        <p:nvGraphicFramePr>
          <p:cNvPr id="17" name="Object 3">
            <a:extLst>
              <a:ext uri="{FF2B5EF4-FFF2-40B4-BE49-F238E27FC236}">
                <a16:creationId xmlns:a16="http://schemas.microsoft.com/office/drawing/2014/main" id="{C184487C-D2D8-4EFF-A0CA-DE4287B3205F}"/>
              </a:ext>
            </a:extLst>
          </p:cNvPr>
          <p:cNvGraphicFramePr>
            <a:graphicFrameLocks noChangeAspect="1"/>
          </p:cNvGraphicFramePr>
          <p:nvPr>
            <p:extLst>
              <p:ext uri="{D42A27DB-BD31-4B8C-83A1-F6EECF244321}">
                <p14:modId xmlns:p14="http://schemas.microsoft.com/office/powerpoint/2010/main" val="1095944794"/>
              </p:ext>
            </p:extLst>
          </p:nvPr>
        </p:nvGraphicFramePr>
        <p:xfrm>
          <a:off x="214437" y="4809584"/>
          <a:ext cx="3451225" cy="1055688"/>
        </p:xfrm>
        <a:graphic>
          <a:graphicData uri="http://schemas.openxmlformats.org/presentationml/2006/ole">
            <mc:AlternateContent xmlns:mc="http://schemas.openxmlformats.org/markup-compatibility/2006">
              <mc:Choice xmlns:v="urn:schemas-microsoft-com:vml" Requires="v">
                <p:oleObj spid="_x0000_s59685" name="Equation" r:id="rId14" imgW="1269449" imgH="406224" progId="Equation.DSMT4">
                  <p:embed/>
                </p:oleObj>
              </mc:Choice>
              <mc:Fallback>
                <p:oleObj name="Equation" r:id="rId14" imgW="1269449" imgH="406224" progId="Equation.DSMT4">
                  <p:embed/>
                  <p:pic>
                    <p:nvPicPr>
                      <p:cNvPr id="7" name="Object 3">
                        <a:extLst>
                          <a:ext uri="{FF2B5EF4-FFF2-40B4-BE49-F238E27FC236}">
                            <a16:creationId xmlns:a16="http://schemas.microsoft.com/office/drawing/2014/main" id="{9B8C882A-26CD-4F10-8383-D658CF9C5F0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4437" y="4809584"/>
                        <a:ext cx="3451225" cy="10556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矩形 17">
            <a:extLst>
              <a:ext uri="{FF2B5EF4-FFF2-40B4-BE49-F238E27FC236}">
                <a16:creationId xmlns:a16="http://schemas.microsoft.com/office/drawing/2014/main" id="{C1655948-958A-4FC0-A5EF-0A6038CD2631}"/>
              </a:ext>
            </a:extLst>
          </p:cNvPr>
          <p:cNvSpPr>
            <a:spLocks noChangeArrowheads="1"/>
          </p:cNvSpPr>
          <p:nvPr/>
        </p:nvSpPr>
        <p:spPr bwMode="auto">
          <a:xfrm>
            <a:off x="3665663" y="4703901"/>
            <a:ext cx="5586858"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500" b="1"/>
              <a:t>单原子分子 </a:t>
            </a:r>
            <a:r>
              <a:rPr lang="en-US" altLang="zh-CN" sz="2400" b="1" i="1"/>
              <a:t>t</a:t>
            </a:r>
            <a:r>
              <a:rPr lang="en-US" altLang="zh-CN" sz="2400" b="1"/>
              <a:t>=3 </a:t>
            </a:r>
            <a:r>
              <a:rPr lang="en-US" altLang="zh-CN" sz="2400" b="1" i="1"/>
              <a:t>ε</a:t>
            </a:r>
            <a:r>
              <a:rPr lang="en-US" altLang="zh-CN" sz="2400" b="1"/>
              <a:t>=3</a:t>
            </a:r>
            <a:r>
              <a:rPr lang="en-US" altLang="zh-CN" sz="2400" b="1" i="1"/>
              <a:t>kT</a:t>
            </a:r>
            <a:r>
              <a:rPr lang="en-US" altLang="zh-CN" sz="2400" b="1"/>
              <a:t>/2  </a:t>
            </a:r>
          </a:p>
          <a:p>
            <a:pPr eaLnBrk="1" hangingPunct="1">
              <a:spcBef>
                <a:spcPct val="0"/>
              </a:spcBef>
              <a:buClrTx/>
              <a:buFontTx/>
              <a:buNone/>
            </a:pPr>
            <a:r>
              <a:rPr lang="zh-CN" altLang="en-US" sz="2500" b="1"/>
              <a:t>双原子分子</a:t>
            </a:r>
            <a:r>
              <a:rPr lang="en-US" altLang="zh-CN" sz="2400" b="1" i="1"/>
              <a:t>t</a:t>
            </a:r>
            <a:r>
              <a:rPr lang="en-US" altLang="zh-CN" sz="2400" b="1"/>
              <a:t>=3,r=2,s=1</a:t>
            </a:r>
            <a:r>
              <a:rPr lang="en-US" altLang="zh-CN" sz="2400" b="1">
                <a:solidFill>
                  <a:srgbClr val="FFFF00"/>
                </a:solidFill>
              </a:rPr>
              <a:t>(0)</a:t>
            </a:r>
            <a:r>
              <a:rPr lang="zh-CN" altLang="en-US" sz="2400" b="1">
                <a:solidFill>
                  <a:srgbClr val="FFFF00"/>
                </a:solidFill>
              </a:rPr>
              <a:t>，</a:t>
            </a:r>
            <a:r>
              <a:rPr lang="en-US" altLang="zh-CN" sz="2400" b="1" i="1"/>
              <a:t>ε</a:t>
            </a:r>
            <a:r>
              <a:rPr lang="en-US" altLang="zh-CN" sz="2400" b="1"/>
              <a:t>=7</a:t>
            </a:r>
            <a:r>
              <a:rPr lang="en-US" altLang="zh-CN" sz="2400" b="1">
                <a:solidFill>
                  <a:srgbClr val="FFFF00"/>
                </a:solidFill>
              </a:rPr>
              <a:t>(</a:t>
            </a:r>
            <a:r>
              <a:rPr lang="en-US" altLang="zh-CN" sz="2400" b="1" i="1">
                <a:solidFill>
                  <a:srgbClr val="FFFF00"/>
                </a:solidFill>
              </a:rPr>
              <a:t>5)</a:t>
            </a:r>
            <a:r>
              <a:rPr lang="en-US" altLang="zh-CN" sz="2400" b="1" i="1"/>
              <a:t>kT</a:t>
            </a:r>
            <a:r>
              <a:rPr lang="en-US" altLang="zh-CN" sz="2400" b="1"/>
              <a:t>/2</a:t>
            </a:r>
          </a:p>
          <a:p>
            <a:pPr eaLnBrk="1" hangingPunct="1">
              <a:spcBef>
                <a:spcPct val="0"/>
              </a:spcBef>
              <a:buClrTx/>
              <a:buFontTx/>
              <a:buNone/>
            </a:pPr>
            <a:r>
              <a:rPr lang="zh-CN" altLang="en-US" sz="2500" b="1"/>
              <a:t>三原子分子</a:t>
            </a:r>
            <a:r>
              <a:rPr lang="en-US" altLang="zh-CN" sz="2400" b="1" i="1"/>
              <a:t>t</a:t>
            </a:r>
            <a:r>
              <a:rPr lang="en-US" altLang="zh-CN" sz="2400" b="1"/>
              <a:t>=3,r=3,s=3</a:t>
            </a:r>
            <a:r>
              <a:rPr lang="en-US" altLang="zh-CN" sz="2400" b="1">
                <a:solidFill>
                  <a:srgbClr val="FFFF00"/>
                </a:solidFill>
              </a:rPr>
              <a:t>(0)</a:t>
            </a:r>
            <a:r>
              <a:rPr lang="zh-CN" altLang="en-US" sz="2400" b="1">
                <a:solidFill>
                  <a:srgbClr val="FFFF00"/>
                </a:solidFill>
              </a:rPr>
              <a:t>，</a:t>
            </a:r>
            <a:r>
              <a:rPr lang="en-US" altLang="zh-CN" sz="2400" b="1" i="1"/>
              <a:t>ε</a:t>
            </a:r>
            <a:r>
              <a:rPr lang="en-US" altLang="zh-CN" sz="2400" b="1"/>
              <a:t>=12</a:t>
            </a:r>
            <a:r>
              <a:rPr lang="en-US" altLang="zh-CN" sz="2400" b="1">
                <a:solidFill>
                  <a:srgbClr val="FFFF00"/>
                </a:solidFill>
              </a:rPr>
              <a:t>(</a:t>
            </a:r>
            <a:r>
              <a:rPr lang="en-US" altLang="zh-CN" sz="2400" b="1" i="1">
                <a:solidFill>
                  <a:srgbClr val="FFFF00"/>
                </a:solidFill>
              </a:rPr>
              <a:t>6)</a:t>
            </a:r>
            <a:r>
              <a:rPr lang="en-US" altLang="zh-CN" sz="2400" b="1" i="1"/>
              <a:t>kT</a:t>
            </a:r>
            <a:r>
              <a:rPr lang="en-US" altLang="zh-CN" sz="2400" b="1"/>
              <a:t>/2</a:t>
            </a:r>
            <a:endParaRPr lang="en-US" altLang="zh-CN" sz="2000" b="1">
              <a:solidFill>
                <a:srgbClr val="3333FF"/>
              </a:solidFill>
              <a:latin typeface="楷体_GB2312" pitchFamily="49" charset="-122"/>
              <a:ea typeface="楷体_GB2312" pitchFamily="49" charset="-122"/>
            </a:endParaRPr>
          </a:p>
        </p:txBody>
      </p:sp>
      <p:sp>
        <p:nvSpPr>
          <p:cNvPr id="16" name="Text Box 10">
            <a:extLst>
              <a:ext uri="{FF2B5EF4-FFF2-40B4-BE49-F238E27FC236}">
                <a16:creationId xmlns:a16="http://schemas.microsoft.com/office/drawing/2014/main" id="{BF91260D-B951-4DEF-B5DB-28FD40115709}"/>
              </a:ext>
            </a:extLst>
          </p:cNvPr>
          <p:cNvSpPr txBox="1">
            <a:spLocks noChangeArrowheads="1"/>
          </p:cNvSpPr>
          <p:nvPr/>
        </p:nvSpPr>
        <p:spPr bwMode="auto">
          <a:xfrm>
            <a:off x="42549" y="3717095"/>
            <a:ext cx="38862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cs typeface="Arial" panose="020B0604020202020204" pitchFamily="34" charset="0"/>
              </a:rPr>
              <a:t>4</a:t>
            </a:r>
            <a:r>
              <a:rPr lang="zh-CN" altLang="en-US" sz="2400" b="1">
                <a:cs typeface="Arial" panose="020B0604020202020204" pitchFamily="34" charset="0"/>
              </a:rPr>
              <a:t>方均根速率：</a:t>
            </a:r>
          </a:p>
        </p:txBody>
      </p:sp>
      <p:graphicFrame>
        <p:nvGraphicFramePr>
          <p:cNvPr id="19" name="Object 1050">
            <a:extLst>
              <a:ext uri="{FF2B5EF4-FFF2-40B4-BE49-F238E27FC236}">
                <a16:creationId xmlns:a16="http://schemas.microsoft.com/office/drawing/2014/main" id="{99C2D748-6DCF-4255-8A54-3E79D66E8D4A}"/>
              </a:ext>
            </a:extLst>
          </p:cNvPr>
          <p:cNvGraphicFramePr>
            <a:graphicFrameLocks noChangeAspect="1"/>
          </p:cNvGraphicFramePr>
          <p:nvPr>
            <p:extLst>
              <p:ext uri="{D42A27DB-BD31-4B8C-83A1-F6EECF244321}">
                <p14:modId xmlns:p14="http://schemas.microsoft.com/office/powerpoint/2010/main" val="1834884377"/>
              </p:ext>
            </p:extLst>
          </p:nvPr>
        </p:nvGraphicFramePr>
        <p:xfrm>
          <a:off x="3110705" y="3662341"/>
          <a:ext cx="2922587" cy="660400"/>
        </p:xfrm>
        <a:graphic>
          <a:graphicData uri="http://schemas.openxmlformats.org/presentationml/2006/ole">
            <mc:AlternateContent xmlns:mc="http://schemas.openxmlformats.org/markup-compatibility/2006">
              <mc:Choice xmlns:v="urn:schemas-microsoft-com:vml" Requires="v">
                <p:oleObj spid="_x0000_s59686" name="Equation" r:id="rId16" imgW="2133600" imgH="482600" progId="Equation.DSMT4">
                  <p:embed/>
                </p:oleObj>
              </mc:Choice>
              <mc:Fallback>
                <p:oleObj name="Equation" r:id="rId16" imgW="2133600" imgH="482600" progId="Equation.DSMT4">
                  <p:embed/>
                  <p:pic>
                    <p:nvPicPr>
                      <p:cNvPr id="20" name="Object 1050">
                        <a:extLst>
                          <a:ext uri="{FF2B5EF4-FFF2-40B4-BE49-F238E27FC236}">
                            <a16:creationId xmlns:a16="http://schemas.microsoft.com/office/drawing/2014/main" id="{81809A1F-71B0-444B-9A13-8C0D271BEC8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10705" y="3662341"/>
                        <a:ext cx="2922587" cy="66040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52012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additive="base">
                                        <p:cTn id="7" dur="500" fill="hold"/>
                                        <p:tgtEl>
                                          <p:spTgt spid="59394"/>
                                        </p:tgtEl>
                                        <p:attrNameLst>
                                          <p:attrName>ppt_x</p:attrName>
                                        </p:attrNameLst>
                                      </p:cBhvr>
                                      <p:tavLst>
                                        <p:tav tm="0">
                                          <p:val>
                                            <p:strVal val="0-#ppt_w/2"/>
                                          </p:val>
                                        </p:tav>
                                        <p:tav tm="100000">
                                          <p:val>
                                            <p:strVal val="#ppt_x"/>
                                          </p:val>
                                        </p:tav>
                                      </p:tavLst>
                                    </p:anim>
                                    <p:anim calcmode="lin" valueType="num">
                                      <p:cBhvr additive="base">
                                        <p:cTn id="8" dur="500" fill="hold"/>
                                        <p:tgtEl>
                                          <p:spTgt spid="593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5"/>
                                        </p:tgtEl>
                                        <p:attrNameLst>
                                          <p:attrName>style.visibility</p:attrName>
                                        </p:attrNameLst>
                                      </p:cBhvr>
                                      <p:to>
                                        <p:strVal val="visible"/>
                                      </p:to>
                                    </p:set>
                                    <p:anim calcmode="lin" valueType="num">
                                      <p:cBhvr additive="base">
                                        <p:cTn id="13" dur="500" fill="hold"/>
                                        <p:tgtEl>
                                          <p:spTgt spid="59395"/>
                                        </p:tgtEl>
                                        <p:attrNameLst>
                                          <p:attrName>ppt_x</p:attrName>
                                        </p:attrNameLst>
                                      </p:cBhvr>
                                      <p:tavLst>
                                        <p:tav tm="0">
                                          <p:val>
                                            <p:strVal val="0-#ppt_w/2"/>
                                          </p:val>
                                        </p:tav>
                                        <p:tav tm="100000">
                                          <p:val>
                                            <p:strVal val="#ppt_x"/>
                                          </p:val>
                                        </p:tav>
                                      </p:tavLst>
                                    </p:anim>
                                    <p:anim calcmode="lin" valueType="num">
                                      <p:cBhvr additive="base">
                                        <p:cTn id="14"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1484"/>
                                        </p:tgtEl>
                                        <p:attrNameLst>
                                          <p:attrName>style.visibility</p:attrName>
                                        </p:attrNameLst>
                                      </p:cBhvr>
                                      <p:to>
                                        <p:strVal val="visible"/>
                                      </p:to>
                                    </p:set>
                                    <p:anim calcmode="lin" valueType="num">
                                      <p:cBhvr additive="base">
                                        <p:cTn id="19" dur="500" fill="hold"/>
                                        <p:tgtEl>
                                          <p:spTgt spid="61484"/>
                                        </p:tgtEl>
                                        <p:attrNameLst>
                                          <p:attrName>ppt_x</p:attrName>
                                        </p:attrNameLst>
                                      </p:cBhvr>
                                      <p:tavLst>
                                        <p:tav tm="0">
                                          <p:val>
                                            <p:strVal val="0-#ppt_w/2"/>
                                          </p:val>
                                        </p:tav>
                                        <p:tav tm="100000">
                                          <p:val>
                                            <p:strVal val="#ppt_x"/>
                                          </p:val>
                                        </p:tav>
                                      </p:tavLst>
                                    </p:anim>
                                    <p:anim calcmode="lin" valueType="num">
                                      <p:cBhvr additive="base">
                                        <p:cTn id="20" dur="500" fill="hold"/>
                                        <p:tgtEl>
                                          <p:spTgt spid="6148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61485"/>
                                        </p:tgtEl>
                                        <p:attrNameLst>
                                          <p:attrName>style.visibility</p:attrName>
                                        </p:attrNameLst>
                                      </p:cBhvr>
                                      <p:to>
                                        <p:strVal val="visible"/>
                                      </p:to>
                                    </p:set>
                                    <p:anim calcmode="lin" valueType="num">
                                      <p:cBhvr additive="base">
                                        <p:cTn id="25" dur="500" fill="hold"/>
                                        <p:tgtEl>
                                          <p:spTgt spid="61485"/>
                                        </p:tgtEl>
                                        <p:attrNameLst>
                                          <p:attrName>ppt_x</p:attrName>
                                        </p:attrNameLst>
                                      </p:cBhvr>
                                      <p:tavLst>
                                        <p:tav tm="0">
                                          <p:val>
                                            <p:strVal val="1+#ppt_w/2"/>
                                          </p:val>
                                        </p:tav>
                                        <p:tav tm="100000">
                                          <p:val>
                                            <p:strVal val="#ppt_x"/>
                                          </p:val>
                                        </p:tav>
                                      </p:tavLst>
                                    </p:anim>
                                    <p:anim calcmode="lin" valueType="num">
                                      <p:cBhvr additive="base">
                                        <p:cTn id="26" dur="500" fill="hold"/>
                                        <p:tgtEl>
                                          <p:spTgt spid="6148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398"/>
                                        </p:tgtEl>
                                        <p:attrNameLst>
                                          <p:attrName>style.visibility</p:attrName>
                                        </p:attrNameLst>
                                      </p:cBhvr>
                                      <p:to>
                                        <p:strVal val="visible"/>
                                      </p:to>
                                    </p:set>
                                    <p:anim calcmode="lin" valueType="num">
                                      <p:cBhvr additive="base">
                                        <p:cTn id="31" dur="500" fill="hold"/>
                                        <p:tgtEl>
                                          <p:spTgt spid="59398"/>
                                        </p:tgtEl>
                                        <p:attrNameLst>
                                          <p:attrName>ppt_x</p:attrName>
                                        </p:attrNameLst>
                                      </p:cBhvr>
                                      <p:tavLst>
                                        <p:tav tm="0">
                                          <p:val>
                                            <p:strVal val="0-#ppt_w/2"/>
                                          </p:val>
                                        </p:tav>
                                        <p:tav tm="100000">
                                          <p:val>
                                            <p:strVal val="#ppt_x"/>
                                          </p:val>
                                        </p:tav>
                                      </p:tavLst>
                                    </p:anim>
                                    <p:anim calcmode="lin" valueType="num">
                                      <p:cBhvr additive="base">
                                        <p:cTn id="32" dur="500" fill="hold"/>
                                        <p:tgtEl>
                                          <p:spTgt spid="5939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61486"/>
                                        </p:tgtEl>
                                        <p:attrNameLst>
                                          <p:attrName>style.visibility</p:attrName>
                                        </p:attrNameLst>
                                      </p:cBhvr>
                                      <p:to>
                                        <p:strVal val="visible"/>
                                      </p:to>
                                    </p:set>
                                    <p:anim calcmode="lin" valueType="num">
                                      <p:cBhvr additive="base">
                                        <p:cTn id="37" dur="500" fill="hold"/>
                                        <p:tgtEl>
                                          <p:spTgt spid="61486"/>
                                        </p:tgtEl>
                                        <p:attrNameLst>
                                          <p:attrName>ppt_x</p:attrName>
                                        </p:attrNameLst>
                                      </p:cBhvr>
                                      <p:tavLst>
                                        <p:tav tm="0">
                                          <p:val>
                                            <p:strVal val="0-#ppt_w/2"/>
                                          </p:val>
                                        </p:tav>
                                        <p:tav tm="100000">
                                          <p:val>
                                            <p:strVal val="#ppt_x"/>
                                          </p:val>
                                        </p:tav>
                                      </p:tavLst>
                                    </p:anim>
                                    <p:anim calcmode="lin" valueType="num">
                                      <p:cBhvr additive="base">
                                        <p:cTn id="38" dur="500" fill="hold"/>
                                        <p:tgtEl>
                                          <p:spTgt spid="6148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9401"/>
                                        </p:tgtEl>
                                        <p:attrNameLst>
                                          <p:attrName>style.visibility</p:attrName>
                                        </p:attrNameLst>
                                      </p:cBhvr>
                                      <p:to>
                                        <p:strVal val="visible"/>
                                      </p:to>
                                    </p:set>
                                    <p:anim calcmode="lin" valueType="num">
                                      <p:cBhvr additive="base">
                                        <p:cTn id="43" dur="500" fill="hold"/>
                                        <p:tgtEl>
                                          <p:spTgt spid="59401"/>
                                        </p:tgtEl>
                                        <p:attrNameLst>
                                          <p:attrName>ppt_x</p:attrName>
                                        </p:attrNameLst>
                                      </p:cBhvr>
                                      <p:tavLst>
                                        <p:tav tm="0">
                                          <p:val>
                                            <p:strVal val="1+#ppt_w/2"/>
                                          </p:val>
                                        </p:tav>
                                        <p:tav tm="100000">
                                          <p:val>
                                            <p:strVal val="#ppt_x"/>
                                          </p:val>
                                        </p:tav>
                                      </p:tavLst>
                                    </p:anim>
                                    <p:anim calcmode="lin" valueType="num">
                                      <p:cBhvr additive="base">
                                        <p:cTn id="44" dur="500" fill="hold"/>
                                        <p:tgtEl>
                                          <p:spTgt spid="5940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9402"/>
                                        </p:tgtEl>
                                        <p:attrNameLst>
                                          <p:attrName>style.visibility</p:attrName>
                                        </p:attrNameLst>
                                      </p:cBhvr>
                                      <p:to>
                                        <p:strVal val="visible"/>
                                      </p:to>
                                    </p:set>
                                    <p:anim calcmode="lin" valueType="num">
                                      <p:cBhvr additive="base">
                                        <p:cTn id="49" dur="500" fill="hold"/>
                                        <p:tgtEl>
                                          <p:spTgt spid="59402"/>
                                        </p:tgtEl>
                                        <p:attrNameLst>
                                          <p:attrName>ppt_x</p:attrName>
                                        </p:attrNameLst>
                                      </p:cBhvr>
                                      <p:tavLst>
                                        <p:tav tm="0">
                                          <p:val>
                                            <p:strVal val="0-#ppt_w/2"/>
                                          </p:val>
                                        </p:tav>
                                        <p:tav tm="100000">
                                          <p:val>
                                            <p:strVal val="#ppt_x"/>
                                          </p:val>
                                        </p:tav>
                                      </p:tavLst>
                                    </p:anim>
                                    <p:anim calcmode="lin" valueType="num">
                                      <p:cBhvr additive="base">
                                        <p:cTn id="50" dur="500" fill="hold"/>
                                        <p:tgtEl>
                                          <p:spTgt spid="5940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61487"/>
                                        </p:tgtEl>
                                        <p:attrNameLst>
                                          <p:attrName>style.visibility</p:attrName>
                                        </p:attrNameLst>
                                      </p:cBhvr>
                                      <p:to>
                                        <p:strVal val="visible"/>
                                      </p:to>
                                    </p:set>
                                    <p:anim calcmode="lin" valueType="num">
                                      <p:cBhvr additive="base">
                                        <p:cTn id="55" dur="500" fill="hold"/>
                                        <p:tgtEl>
                                          <p:spTgt spid="61487"/>
                                        </p:tgtEl>
                                        <p:attrNameLst>
                                          <p:attrName>ppt_x</p:attrName>
                                        </p:attrNameLst>
                                      </p:cBhvr>
                                      <p:tavLst>
                                        <p:tav tm="0">
                                          <p:val>
                                            <p:strVal val="1+#ppt_w/2"/>
                                          </p:val>
                                        </p:tav>
                                        <p:tav tm="100000">
                                          <p:val>
                                            <p:strVal val="#ppt_x"/>
                                          </p:val>
                                        </p:tav>
                                      </p:tavLst>
                                    </p:anim>
                                    <p:anim calcmode="lin" valueType="num">
                                      <p:cBhvr additive="base">
                                        <p:cTn id="56" dur="500" fill="hold"/>
                                        <p:tgtEl>
                                          <p:spTgt spid="6148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0-#ppt_w/2"/>
                                          </p:val>
                                        </p:tav>
                                        <p:tav tm="100000">
                                          <p:val>
                                            <p:strVal val="#ppt_x"/>
                                          </p:val>
                                        </p:tav>
                                      </p:tavLst>
                                    </p:anim>
                                    <p:anim calcmode="lin" valueType="num">
                                      <p:cBhvr additive="base">
                                        <p:cTn id="6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13"/>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18"/>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 presetClass="entr" presetSubtype="8" fill="hold" grpId="0" nodeType="clickEffect">
                                  <p:stCondLst>
                                    <p:cond delay="0"/>
                                  </p:stCondLst>
                                  <p:childTnLst>
                                    <p:set>
                                      <p:cBhvr>
                                        <p:cTn id="81" dur="1" fill="hold">
                                          <p:stCondLst>
                                            <p:cond delay="0"/>
                                          </p:stCondLst>
                                        </p:cTn>
                                        <p:tgtEl>
                                          <p:spTgt spid="59411"/>
                                        </p:tgtEl>
                                        <p:attrNameLst>
                                          <p:attrName>style.visibility</p:attrName>
                                        </p:attrNameLst>
                                      </p:cBhvr>
                                      <p:to>
                                        <p:strVal val="visible"/>
                                      </p:to>
                                    </p:set>
                                    <p:anim calcmode="lin" valueType="num">
                                      <p:cBhvr additive="base">
                                        <p:cTn id="82" dur="500" fill="hold"/>
                                        <p:tgtEl>
                                          <p:spTgt spid="59411"/>
                                        </p:tgtEl>
                                        <p:attrNameLst>
                                          <p:attrName>ppt_x</p:attrName>
                                        </p:attrNameLst>
                                      </p:cBhvr>
                                      <p:tavLst>
                                        <p:tav tm="0">
                                          <p:val>
                                            <p:strVal val="0-#ppt_w/2"/>
                                          </p:val>
                                        </p:tav>
                                        <p:tav tm="100000">
                                          <p:val>
                                            <p:strVal val="#ppt_x"/>
                                          </p:val>
                                        </p:tav>
                                      </p:tavLst>
                                    </p:anim>
                                    <p:anim calcmode="lin" valueType="num">
                                      <p:cBhvr additive="base">
                                        <p:cTn id="83" dur="500" fill="hold"/>
                                        <p:tgtEl>
                                          <p:spTgt spid="59411"/>
                                        </p:tgtEl>
                                        <p:attrNameLst>
                                          <p:attrName>ppt_y</p:attrName>
                                        </p:attrNameLst>
                                      </p:cBhvr>
                                      <p:tavLst>
                                        <p:tav tm="0">
                                          <p:val>
                                            <p:strVal val="#ppt_y"/>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2" fill="hold" nodeType="clickEffect">
                                  <p:stCondLst>
                                    <p:cond delay="0"/>
                                  </p:stCondLst>
                                  <p:childTnLst>
                                    <p:set>
                                      <p:cBhvr>
                                        <p:cTn id="87" dur="1" fill="hold">
                                          <p:stCondLst>
                                            <p:cond delay="0"/>
                                          </p:stCondLst>
                                        </p:cTn>
                                        <p:tgtEl>
                                          <p:spTgt spid="61488"/>
                                        </p:tgtEl>
                                        <p:attrNameLst>
                                          <p:attrName>style.visibility</p:attrName>
                                        </p:attrNameLst>
                                      </p:cBhvr>
                                      <p:to>
                                        <p:strVal val="visible"/>
                                      </p:to>
                                    </p:set>
                                    <p:anim calcmode="lin" valueType="num">
                                      <p:cBhvr additive="base">
                                        <p:cTn id="88" dur="500" fill="hold"/>
                                        <p:tgtEl>
                                          <p:spTgt spid="61488"/>
                                        </p:tgtEl>
                                        <p:attrNameLst>
                                          <p:attrName>ppt_x</p:attrName>
                                        </p:attrNameLst>
                                      </p:cBhvr>
                                      <p:tavLst>
                                        <p:tav tm="0">
                                          <p:val>
                                            <p:strVal val="1+#ppt_w/2"/>
                                          </p:val>
                                        </p:tav>
                                        <p:tav tm="100000">
                                          <p:val>
                                            <p:strVal val="#ppt_x"/>
                                          </p:val>
                                        </p:tav>
                                      </p:tavLst>
                                    </p:anim>
                                    <p:anim calcmode="lin" valueType="num">
                                      <p:cBhvr additive="base">
                                        <p:cTn id="89" dur="500" fill="hold"/>
                                        <p:tgtEl>
                                          <p:spTgt spid="614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395" grpId="0" autoUpdateAnimBg="0"/>
      <p:bldP spid="59398" grpId="0" autoUpdateAnimBg="0"/>
      <p:bldP spid="59401" grpId="0" autoUpdateAnimBg="0"/>
      <p:bldP spid="59402" grpId="0" autoUpdateAnimBg="0"/>
      <p:bldP spid="59411" grpId="0" autoUpdateAnimBg="0"/>
      <p:bldP spid="13" grpId="0"/>
      <p:bldP spid="18" grpId="0"/>
      <p:bldP spid="1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Text Box 2"/>
          <p:cNvSpPr txBox="1">
            <a:spLocks noChangeArrowheads="1"/>
          </p:cNvSpPr>
          <p:nvPr/>
        </p:nvSpPr>
        <p:spPr bwMode="auto">
          <a:xfrm>
            <a:off x="1733550" y="155575"/>
            <a:ext cx="70866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b="1">
                <a:solidFill>
                  <a:srgbClr val="FF0000"/>
                </a:solidFill>
                <a:ea typeface="楷体_GB2312"/>
                <a:cs typeface="楷体_GB2312"/>
              </a:rPr>
              <a:t>5</a:t>
            </a:r>
            <a:r>
              <a:rPr lang="zh-CN" altLang="en-US" sz="3600" b="1">
                <a:solidFill>
                  <a:srgbClr val="FF0000"/>
                </a:solidFill>
                <a:ea typeface="楷体_GB2312"/>
                <a:cs typeface="楷体_GB2312"/>
              </a:rPr>
              <a:t>－</a:t>
            </a:r>
            <a:r>
              <a:rPr lang="en-US" altLang="zh-CN" sz="3600" b="1">
                <a:solidFill>
                  <a:srgbClr val="FF0000"/>
                </a:solidFill>
                <a:ea typeface="楷体_GB2312"/>
                <a:cs typeface="楷体_GB2312"/>
              </a:rPr>
              <a:t>5  </a:t>
            </a:r>
            <a:r>
              <a:rPr lang="zh-CN" altLang="en-US" sz="3600" b="1">
                <a:solidFill>
                  <a:srgbClr val="FF0000"/>
                </a:solidFill>
                <a:ea typeface="楷体_GB2312"/>
                <a:cs typeface="楷体_GB2312"/>
              </a:rPr>
              <a:t>麦克斯韦速率分布律</a:t>
            </a:r>
            <a:endParaRPr lang="en-US" altLang="zh-CN" sz="3600" b="1">
              <a:solidFill>
                <a:srgbClr val="FF0000"/>
              </a:solidFill>
              <a:ea typeface="楷体_GB2312"/>
              <a:cs typeface="楷体_GB2312"/>
            </a:endParaRPr>
          </a:p>
          <a:p>
            <a:pPr eaLnBrk="1" hangingPunct="1">
              <a:spcBef>
                <a:spcPct val="0"/>
              </a:spcBef>
              <a:buClrTx/>
              <a:buFontTx/>
              <a:buNone/>
            </a:pPr>
            <a:r>
              <a:rPr lang="en-US" altLang="zh-TW" b="1">
                <a:ea typeface="PMingLiU" pitchFamily="18" charset="-120"/>
                <a:cs typeface="Arial" panose="020B0604020202020204" pitchFamily="34" charset="0"/>
              </a:rPr>
              <a:t>Maxwell’s speed distribution law</a:t>
            </a:r>
            <a:endParaRPr lang="zh-CN" altLang="en-US" b="1">
              <a:solidFill>
                <a:srgbClr val="0000FF"/>
              </a:solidFill>
              <a:latin typeface="楷体_GB2312"/>
              <a:ea typeface="楷体_GB2312"/>
              <a:cs typeface="楷体_GB2312"/>
            </a:endParaRPr>
          </a:p>
        </p:txBody>
      </p:sp>
      <p:sp>
        <p:nvSpPr>
          <p:cNvPr id="128003" name="Text Box 3"/>
          <p:cNvSpPr txBox="1">
            <a:spLocks noChangeArrowheads="1"/>
          </p:cNvSpPr>
          <p:nvPr/>
        </p:nvSpPr>
        <p:spPr bwMode="auto">
          <a:xfrm>
            <a:off x="517525" y="990600"/>
            <a:ext cx="8245475"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b="1">
                <a:solidFill>
                  <a:srgbClr val="FF0000"/>
                </a:solidFill>
                <a:ea typeface="楷体_GB2312"/>
                <a:cs typeface="楷体_GB2312"/>
              </a:rPr>
              <a:t>引言：</a:t>
            </a:r>
          </a:p>
          <a:p>
            <a:pPr lvl="1" eaLnBrk="1" hangingPunct="1">
              <a:spcBef>
                <a:spcPct val="0"/>
              </a:spcBef>
              <a:buClrTx/>
              <a:buFontTx/>
              <a:buNone/>
            </a:pPr>
            <a:r>
              <a:rPr lang="zh-CN" altLang="en-US" sz="2400" b="1">
                <a:cs typeface="Arial" panose="020B0604020202020204" pitchFamily="34" charset="0"/>
              </a:rPr>
              <a:t>气体分子处于无规则的热运动之中，由于碰撞，每个分子的速度都在不断地改变，所以在某一时刻，对某个分子来说，其速度的大小和方向完全是偶然的。然而就大量分子整体而言，在一定条件下，分子的速率分布遵守一定的统计规律</a:t>
            </a:r>
            <a:r>
              <a:rPr lang="en-US" altLang="zh-CN" sz="2400" b="1">
                <a:cs typeface="Arial" panose="020B0604020202020204" pitchFamily="34" charset="0"/>
              </a:rPr>
              <a:t>——</a:t>
            </a:r>
            <a:r>
              <a:rPr lang="zh-CN" altLang="en-US" sz="3200" b="1">
                <a:solidFill>
                  <a:srgbClr val="FF0000"/>
                </a:solidFill>
                <a:ea typeface="楷体_GB2312"/>
                <a:cs typeface="楷体_GB2312"/>
              </a:rPr>
              <a:t>气体速率分布律</a:t>
            </a:r>
            <a:r>
              <a:rPr lang="zh-CN" altLang="en-US" sz="2400" b="1">
                <a:solidFill>
                  <a:srgbClr val="FF0000"/>
                </a:solidFill>
                <a:cs typeface="Arial" panose="020B0604020202020204" pitchFamily="34" charset="0"/>
              </a:rPr>
              <a:t>。 </a:t>
            </a:r>
            <a:endParaRPr lang="en-US" altLang="zh-CN" sz="2400" b="1">
              <a:solidFill>
                <a:srgbClr val="FF0000"/>
              </a:solidFill>
              <a:cs typeface="Arial" panose="020B0604020202020204" pitchFamily="34" charset="0"/>
            </a:endParaRPr>
          </a:p>
          <a:p>
            <a:pPr lvl="1" eaLnBrk="1" hangingPunct="1">
              <a:spcBef>
                <a:spcPct val="0"/>
              </a:spcBef>
              <a:buClrTx/>
              <a:buFontTx/>
              <a:buNone/>
            </a:pPr>
            <a:r>
              <a:rPr lang="en-US" altLang="zh-TW" sz="2000" b="1">
                <a:solidFill>
                  <a:srgbClr val="FF0000"/>
                </a:solidFill>
                <a:ea typeface="PMingLiU" pitchFamily="18" charset="-120"/>
                <a:cs typeface="Arial" panose="020B0604020202020204" pitchFamily="34" charset="0"/>
              </a:rPr>
              <a:t>                                         The distribution of molecular speeds</a:t>
            </a:r>
          </a:p>
          <a:p>
            <a:pPr lvl="1" eaLnBrk="1" hangingPunct="1">
              <a:spcBef>
                <a:spcPct val="0"/>
              </a:spcBef>
              <a:buClrTx/>
              <a:buFontTx/>
              <a:buNone/>
            </a:pPr>
            <a:endParaRPr lang="zh-CN" altLang="en-US" b="1">
              <a:solidFill>
                <a:srgbClr val="0000FF"/>
              </a:solidFill>
              <a:cs typeface="Arial" panose="020B0604020202020204" pitchFamily="34" charset="0"/>
            </a:endParaRPr>
          </a:p>
        </p:txBody>
      </p:sp>
      <p:sp>
        <p:nvSpPr>
          <p:cNvPr id="128004" name="Text Box 4"/>
          <p:cNvSpPr txBox="1">
            <a:spLocks noChangeArrowheads="1"/>
          </p:cNvSpPr>
          <p:nvPr/>
        </p:nvSpPr>
        <p:spPr bwMode="auto">
          <a:xfrm>
            <a:off x="228600" y="4076700"/>
            <a:ext cx="8915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400" b="1">
                <a:cs typeface="Arial" panose="020B0604020202020204" pitchFamily="34" charset="0"/>
              </a:rPr>
              <a:t>气体分子按速率分布的统计规律最早是有</a:t>
            </a:r>
            <a:r>
              <a:rPr lang="zh-CN" altLang="en-US" sz="2400" b="1">
                <a:solidFill>
                  <a:schemeClr val="accent1"/>
                </a:solidFill>
                <a:ea typeface="楷体_GB2312"/>
                <a:cs typeface="楷体_GB2312"/>
              </a:rPr>
              <a:t>麦克斯韦</a:t>
            </a:r>
            <a:r>
              <a:rPr lang="zh-CN" altLang="en-US" sz="2400" b="1">
                <a:cs typeface="Arial" panose="020B0604020202020204" pitchFamily="34" charset="0"/>
              </a:rPr>
              <a:t>于</a:t>
            </a:r>
            <a:r>
              <a:rPr lang="en-US" altLang="zh-CN" sz="2400" b="1">
                <a:cs typeface="Arial" panose="020B0604020202020204" pitchFamily="34" charset="0"/>
              </a:rPr>
              <a:t>1859</a:t>
            </a:r>
            <a:r>
              <a:rPr lang="zh-CN" altLang="en-US" sz="2400" b="1">
                <a:cs typeface="Arial" panose="020B0604020202020204" pitchFamily="34" charset="0"/>
              </a:rPr>
              <a:t>年在概率论的基础上导出的，</a:t>
            </a:r>
            <a:r>
              <a:rPr lang="en-US" altLang="zh-CN" sz="2400" b="1">
                <a:cs typeface="Arial" panose="020B0604020202020204" pitchFamily="34" charset="0"/>
              </a:rPr>
              <a:t>1877</a:t>
            </a:r>
            <a:r>
              <a:rPr lang="zh-CN" altLang="en-US" sz="2400" b="1">
                <a:cs typeface="Arial" panose="020B0604020202020204" pitchFamily="34" charset="0"/>
              </a:rPr>
              <a:t>年</a:t>
            </a:r>
            <a:r>
              <a:rPr lang="zh-CN" altLang="en-US" sz="2400" b="1">
                <a:solidFill>
                  <a:schemeClr val="accent1"/>
                </a:solidFill>
                <a:ea typeface="楷体_GB2312"/>
                <a:cs typeface="楷体_GB2312"/>
              </a:rPr>
              <a:t>玻耳兹曼</a:t>
            </a:r>
            <a:r>
              <a:rPr lang="zh-CN" altLang="en-US" sz="2400" b="1">
                <a:cs typeface="Arial" panose="020B0604020202020204" pitchFamily="34" charset="0"/>
              </a:rPr>
              <a:t>由经典统计力学中导出，</a:t>
            </a:r>
            <a:r>
              <a:rPr lang="zh-CN" altLang="en-US" sz="2400" b="1">
                <a:ea typeface="楷体_GB2312"/>
                <a:cs typeface="楷体_GB2312"/>
              </a:rPr>
              <a:t>由于技术条件的限制，测定气体分子速率分布的实验，直到上世纪二十年代才实现。</a:t>
            </a:r>
            <a:r>
              <a:rPr lang="en-US" altLang="zh-CN" sz="2400" b="1">
                <a:ea typeface="楷体_GB2312"/>
                <a:cs typeface="楷体_GB2312"/>
              </a:rPr>
              <a:t>1920</a:t>
            </a:r>
            <a:r>
              <a:rPr lang="zh-CN" altLang="en-US" sz="2400" b="1">
                <a:ea typeface="楷体_GB2312"/>
                <a:cs typeface="楷体_GB2312"/>
              </a:rPr>
              <a:t>年</a:t>
            </a:r>
            <a:r>
              <a:rPr lang="zh-CN" altLang="en-US" sz="2400" b="1">
                <a:solidFill>
                  <a:schemeClr val="accent1"/>
                </a:solidFill>
                <a:ea typeface="楷体_GB2312"/>
                <a:cs typeface="楷体_GB2312"/>
              </a:rPr>
              <a:t>斯特恩</a:t>
            </a:r>
            <a:r>
              <a:rPr lang="zh-CN" altLang="en-US" sz="2400" b="1">
                <a:ea typeface="楷体_GB2312"/>
                <a:cs typeface="楷体_GB2312"/>
              </a:rPr>
              <a:t>（</a:t>
            </a:r>
            <a:r>
              <a:rPr lang="en-US" altLang="zh-CN" sz="2400" b="1">
                <a:ea typeface="楷体_GB2312"/>
                <a:cs typeface="楷体_GB2312"/>
              </a:rPr>
              <a:t>O.Stern)</a:t>
            </a:r>
            <a:r>
              <a:rPr lang="zh-CN" altLang="en-US" sz="2400" b="1">
                <a:ea typeface="楷体_GB2312"/>
                <a:cs typeface="楷体_GB2312"/>
              </a:rPr>
              <a:t>首先测出银蒸汽分子的速率分布；</a:t>
            </a:r>
            <a:r>
              <a:rPr lang="en-US" altLang="zh-CN" sz="2400" b="1">
                <a:ea typeface="楷体_GB2312"/>
                <a:cs typeface="楷体_GB2312"/>
              </a:rPr>
              <a:t>1934</a:t>
            </a:r>
            <a:r>
              <a:rPr lang="zh-CN" altLang="en-US" sz="2400" b="1">
                <a:ea typeface="楷体_GB2312"/>
                <a:cs typeface="楷体_GB2312"/>
              </a:rPr>
              <a:t>年我国物理学家</a:t>
            </a:r>
            <a:r>
              <a:rPr lang="zh-CN" altLang="en-US" sz="2400" b="1">
                <a:solidFill>
                  <a:schemeClr val="accent1"/>
                </a:solidFill>
                <a:ea typeface="楷体_GB2312"/>
                <a:cs typeface="楷体_GB2312"/>
              </a:rPr>
              <a:t>葛正权</a:t>
            </a:r>
            <a:r>
              <a:rPr lang="zh-CN" altLang="en-US" sz="2400" b="1">
                <a:ea typeface="楷体_GB2312"/>
                <a:cs typeface="楷体_GB2312"/>
              </a:rPr>
              <a:t>测出铋蒸汽分子的速率分布；</a:t>
            </a:r>
            <a:r>
              <a:rPr lang="en-US" altLang="zh-CN" sz="2400" b="1">
                <a:ea typeface="楷体_GB2312"/>
                <a:cs typeface="楷体_GB2312"/>
              </a:rPr>
              <a:t>1955</a:t>
            </a:r>
            <a:r>
              <a:rPr lang="zh-CN" altLang="en-US" sz="2400" b="1">
                <a:ea typeface="楷体_GB2312"/>
                <a:cs typeface="楷体_GB2312"/>
              </a:rPr>
              <a:t>年</a:t>
            </a:r>
            <a:r>
              <a:rPr lang="zh-CN" altLang="en-US" sz="2400" b="1">
                <a:solidFill>
                  <a:schemeClr val="accent1"/>
                </a:solidFill>
                <a:ea typeface="楷体_GB2312"/>
                <a:cs typeface="楷体_GB2312"/>
              </a:rPr>
              <a:t>密勒（</a:t>
            </a:r>
            <a:r>
              <a:rPr lang="en-US" altLang="zh-CN" sz="2400" b="1">
                <a:solidFill>
                  <a:schemeClr val="accent1"/>
                </a:solidFill>
                <a:ea typeface="楷体_GB2312"/>
                <a:cs typeface="楷体_GB2312"/>
              </a:rPr>
              <a:t>Mlier)</a:t>
            </a:r>
            <a:r>
              <a:rPr lang="zh-CN" altLang="en-US" sz="2400" b="1">
                <a:solidFill>
                  <a:schemeClr val="accent1"/>
                </a:solidFill>
                <a:ea typeface="楷体_GB2312"/>
                <a:cs typeface="楷体_GB2312"/>
              </a:rPr>
              <a:t>和库士</a:t>
            </a:r>
            <a:r>
              <a:rPr lang="zh-CN" altLang="en-US" sz="2400" b="1">
                <a:ea typeface="楷体_GB2312"/>
                <a:cs typeface="楷体_GB2312"/>
              </a:rPr>
              <a:t>（</a:t>
            </a:r>
            <a:r>
              <a:rPr lang="en-US" altLang="zh-CN" sz="2400" b="1">
                <a:ea typeface="楷体_GB2312"/>
                <a:cs typeface="楷体_GB2312"/>
              </a:rPr>
              <a:t>Kusch)</a:t>
            </a:r>
            <a:r>
              <a:rPr lang="zh-CN" altLang="en-US" sz="2400" b="1">
                <a:ea typeface="楷体_GB2312"/>
                <a:cs typeface="楷体_GB2312"/>
              </a:rPr>
              <a:t>测出钍蒸汽分子的速率分布。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2"/>
                                        </p:tgtEl>
                                        <p:attrNameLst>
                                          <p:attrName>style.visibility</p:attrName>
                                        </p:attrNameLst>
                                      </p:cBhvr>
                                      <p:to>
                                        <p:strVal val="visible"/>
                                      </p:to>
                                    </p:set>
                                    <p:animEffect transition="in" filter="wipe(left)">
                                      <p:cBhvr>
                                        <p:cTn id="7" dur="500"/>
                                        <p:tgtEl>
                                          <p:spTgt spid="1280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8003">
                                            <p:txEl>
                                              <p:pRg st="0" end="0"/>
                                            </p:txEl>
                                          </p:spTgt>
                                        </p:tgtEl>
                                        <p:attrNameLst>
                                          <p:attrName>style.visibility</p:attrName>
                                        </p:attrNameLst>
                                      </p:cBhvr>
                                      <p:to>
                                        <p:strVal val="visible"/>
                                      </p:to>
                                    </p:set>
                                    <p:animEffect transition="in" filter="wipe(left)">
                                      <p:cBhvr>
                                        <p:cTn id="12" dur="500"/>
                                        <p:tgtEl>
                                          <p:spTgt spid="12800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8003">
                                            <p:txEl>
                                              <p:pRg st="1" end="1"/>
                                            </p:txEl>
                                          </p:spTgt>
                                        </p:tgtEl>
                                        <p:attrNameLst>
                                          <p:attrName>style.visibility</p:attrName>
                                        </p:attrNameLst>
                                      </p:cBhvr>
                                      <p:to>
                                        <p:strVal val="visible"/>
                                      </p:to>
                                    </p:set>
                                    <p:animEffect transition="in" filter="wipe(left)">
                                      <p:cBhvr>
                                        <p:cTn id="17" dur="500"/>
                                        <p:tgtEl>
                                          <p:spTgt spid="12800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8003">
                                            <p:txEl>
                                              <p:pRg st="2" end="2"/>
                                            </p:txEl>
                                          </p:spTgt>
                                        </p:tgtEl>
                                        <p:attrNameLst>
                                          <p:attrName>style.visibility</p:attrName>
                                        </p:attrNameLst>
                                      </p:cBhvr>
                                      <p:to>
                                        <p:strVal val="visible"/>
                                      </p:to>
                                    </p:set>
                                    <p:animEffect transition="in" filter="wipe(left)">
                                      <p:cBhvr>
                                        <p:cTn id="22" dur="500"/>
                                        <p:tgtEl>
                                          <p:spTgt spid="12800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8004"/>
                                        </p:tgtEl>
                                        <p:attrNameLst>
                                          <p:attrName>style.visibility</p:attrName>
                                        </p:attrNameLst>
                                      </p:cBhvr>
                                      <p:to>
                                        <p:strVal val="visible"/>
                                      </p:to>
                                    </p:set>
                                    <p:animEffect transition="in" filter="wipe(left)">
                                      <p:cBhvr>
                                        <p:cTn id="27" dur="500"/>
                                        <p:tgtEl>
                                          <p:spTgt spid="128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autoUpdateAnimBg="0"/>
      <p:bldP spid="128003" grpId="0" build="p" bldLvl="2" autoUpdateAnimBg="0"/>
      <p:bldP spid="128004"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1050925" y="115888"/>
            <a:ext cx="76073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solidFill>
                  <a:srgbClr val="FF0000"/>
                </a:solidFill>
                <a:ea typeface="楷体_GB2312"/>
                <a:cs typeface="楷体_GB2312"/>
              </a:rPr>
              <a:t>麦克斯韦（</a:t>
            </a:r>
            <a:r>
              <a:rPr lang="en-US" altLang="zh-CN" sz="2800" b="1">
                <a:solidFill>
                  <a:srgbClr val="FF0000"/>
                </a:solidFill>
                <a:ea typeface="楷体_GB2312"/>
                <a:cs typeface="楷体_GB2312"/>
              </a:rPr>
              <a:t>James Clerk Maxwell 1831——1879)</a:t>
            </a:r>
          </a:p>
        </p:txBody>
      </p:sp>
      <p:pic>
        <p:nvPicPr>
          <p:cNvPr id="129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908050"/>
            <a:ext cx="2124075"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Text Box 4"/>
          <p:cNvSpPr txBox="1">
            <a:spLocks noChangeArrowheads="1"/>
          </p:cNvSpPr>
          <p:nvPr/>
        </p:nvSpPr>
        <p:spPr bwMode="auto">
          <a:xfrm>
            <a:off x="2555875" y="825500"/>
            <a:ext cx="6804025"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1800" b="1">
                <a:cs typeface="Arial" panose="020B0604020202020204" pitchFamily="34" charset="0"/>
              </a:rPr>
              <a:t>19</a:t>
            </a:r>
            <a:r>
              <a:rPr lang="zh-CN" altLang="en-US" sz="1800" b="1">
                <a:cs typeface="Arial" panose="020B0604020202020204" pitchFamily="34" charset="0"/>
              </a:rPr>
              <a:t>世纪英国伟大的物理学家、数学家。经典电磁理论的奠基人，气体动理论的创始人之一。</a:t>
            </a:r>
            <a:r>
              <a:rPr lang="zh-CN" altLang="en-US" sz="2400" b="1">
                <a:cs typeface="Arial" panose="020B0604020202020204" pitchFamily="34" charset="0"/>
              </a:rPr>
              <a:t> </a:t>
            </a:r>
          </a:p>
        </p:txBody>
      </p:sp>
      <p:sp>
        <p:nvSpPr>
          <p:cNvPr id="129029" name="Text Box 5"/>
          <p:cNvSpPr txBox="1">
            <a:spLocks noChangeArrowheads="1"/>
          </p:cNvSpPr>
          <p:nvPr/>
        </p:nvSpPr>
        <p:spPr bwMode="auto">
          <a:xfrm>
            <a:off x="2627313" y="1630363"/>
            <a:ext cx="6443662"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pPr>
            <a:r>
              <a:rPr lang="zh-CN" altLang="en-US" sz="1800" b="1">
                <a:solidFill>
                  <a:schemeClr val="accent1"/>
                </a:solidFill>
                <a:ea typeface="楷体_GB2312"/>
                <a:cs typeface="楷体_GB2312"/>
              </a:rPr>
              <a:t>麦克斯韦 </a:t>
            </a:r>
            <a:r>
              <a:rPr lang="en-US" altLang="zh-CN" sz="1800" b="1">
                <a:solidFill>
                  <a:schemeClr val="accent1"/>
                </a:solidFill>
                <a:ea typeface="楷体_GB2312"/>
                <a:cs typeface="楷体_GB2312"/>
              </a:rPr>
              <a:t>(1831-1879)</a:t>
            </a:r>
            <a:r>
              <a:rPr lang="zh-CN" altLang="en-US" sz="1800" b="1">
                <a:solidFill>
                  <a:schemeClr val="accent1"/>
                </a:solidFill>
                <a:ea typeface="楷体_GB2312"/>
                <a:cs typeface="楷体_GB2312"/>
              </a:rPr>
              <a:t>。麦克斯韦是继法拉第之后，集电磁学大成的伟大科学家。他依据库仑、高斯、欧姆、安培、毕奥、萨伐尔、法拉第等前人的一系列发现和实验成果，建立了第一个完整的电磁理论体系，不仅科学地预言了电磁波的存在，而且揭示了光、电、磁现象的本质的统一性，完成了物理学的又一次大综合。这一理论自然科学的成果，奠定了现代的电力工业、电子工业和无线电工业的基础。</a:t>
            </a:r>
          </a:p>
        </p:txBody>
      </p:sp>
      <p:sp>
        <p:nvSpPr>
          <p:cNvPr id="129030" name="Line 6"/>
          <p:cNvSpPr>
            <a:spLocks noChangeShapeType="1"/>
          </p:cNvSpPr>
          <p:nvPr/>
        </p:nvSpPr>
        <p:spPr bwMode="auto">
          <a:xfrm>
            <a:off x="0" y="838200"/>
            <a:ext cx="9144000" cy="0"/>
          </a:xfrm>
          <a:prstGeom prst="line">
            <a:avLst/>
          </a:prstGeom>
          <a:noFill/>
          <a:ln w="38100">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129031" name="Rectangle 7"/>
          <p:cNvSpPr>
            <a:spLocks noChangeArrowheads="1"/>
          </p:cNvSpPr>
          <p:nvPr/>
        </p:nvSpPr>
        <p:spPr bwMode="auto">
          <a:xfrm>
            <a:off x="107950" y="3759200"/>
            <a:ext cx="903605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pPr>
            <a:r>
              <a:rPr lang="en-US" altLang="zh-CN" sz="1800" b="1">
                <a:solidFill>
                  <a:schemeClr val="accent1"/>
                </a:solidFill>
                <a:ea typeface="楷体_GB2312"/>
                <a:cs typeface="楷体_GB2312"/>
              </a:rPr>
              <a:t>       </a:t>
            </a:r>
            <a:r>
              <a:rPr lang="zh-CN" altLang="en-US" sz="1800" b="1">
                <a:solidFill>
                  <a:schemeClr val="accent1"/>
                </a:solidFill>
                <a:ea typeface="楷体_GB2312"/>
                <a:cs typeface="楷体_GB2312"/>
              </a:rPr>
              <a:t>麦克斯韦</a:t>
            </a:r>
            <a:r>
              <a:rPr lang="en-US" altLang="zh-CN" sz="1800" b="1">
                <a:solidFill>
                  <a:schemeClr val="accent1"/>
                </a:solidFill>
                <a:ea typeface="楷体_GB2312"/>
                <a:cs typeface="楷体_GB2312"/>
              </a:rPr>
              <a:t>1831</a:t>
            </a:r>
            <a:r>
              <a:rPr lang="zh-CN" altLang="en-US" sz="1800" b="1">
                <a:solidFill>
                  <a:schemeClr val="accent1"/>
                </a:solidFill>
                <a:ea typeface="楷体_GB2312"/>
                <a:cs typeface="楷体_GB2312"/>
              </a:rPr>
              <a:t>年</a:t>
            </a:r>
            <a:r>
              <a:rPr lang="en-US" altLang="zh-CN" sz="1800" b="1">
                <a:solidFill>
                  <a:schemeClr val="accent1"/>
                </a:solidFill>
                <a:ea typeface="楷体_GB2312"/>
                <a:cs typeface="楷体_GB2312"/>
              </a:rPr>
              <a:t>6</a:t>
            </a:r>
            <a:r>
              <a:rPr lang="zh-CN" altLang="en-US" sz="1800" b="1">
                <a:solidFill>
                  <a:schemeClr val="accent1"/>
                </a:solidFill>
                <a:ea typeface="楷体_GB2312"/>
                <a:cs typeface="楷体_GB2312"/>
              </a:rPr>
              <a:t>月出生于英国爱丁堡。</a:t>
            </a:r>
            <a:r>
              <a:rPr lang="en-US" altLang="zh-CN" sz="1800" b="1">
                <a:solidFill>
                  <a:schemeClr val="accent1"/>
                </a:solidFill>
                <a:ea typeface="楷体_GB2312"/>
                <a:cs typeface="楷体_GB2312"/>
              </a:rPr>
              <a:t>14</a:t>
            </a:r>
            <a:r>
              <a:rPr lang="zh-CN" altLang="en-US" sz="1800" b="1">
                <a:solidFill>
                  <a:schemeClr val="accent1"/>
                </a:solidFill>
                <a:ea typeface="楷体_GB2312"/>
                <a:cs typeface="楷体_GB2312"/>
              </a:rPr>
              <a:t>岁在中学时期就发表了第一篇科学论文</a:t>
            </a:r>
            <a:r>
              <a:rPr lang="en-US" altLang="zh-CN" sz="1800" b="1">
                <a:ea typeface="楷体_GB2312"/>
                <a:cs typeface="楷体_GB2312"/>
              </a:rPr>
              <a:t>《</a:t>
            </a:r>
            <a:r>
              <a:rPr lang="zh-CN" altLang="en-US" sz="1800" b="1">
                <a:ea typeface="楷体_GB2312"/>
                <a:cs typeface="楷体_GB2312"/>
              </a:rPr>
              <a:t>论卵形曲线的机械画法</a:t>
            </a:r>
            <a:r>
              <a:rPr lang="en-US" altLang="zh-CN" sz="1800" b="1">
                <a:ea typeface="楷体_GB2312"/>
                <a:cs typeface="楷体_GB2312"/>
              </a:rPr>
              <a:t>》</a:t>
            </a:r>
            <a:r>
              <a:rPr lang="zh-CN" altLang="en-US" sz="1800" b="1">
                <a:solidFill>
                  <a:schemeClr val="accent1"/>
                </a:solidFill>
                <a:ea typeface="楷体_GB2312"/>
                <a:cs typeface="楷体_GB2312"/>
              </a:rPr>
              <a:t>，发表在</a:t>
            </a:r>
            <a:r>
              <a:rPr lang="en-US" altLang="zh-CN" sz="1800" b="1">
                <a:solidFill>
                  <a:schemeClr val="accent1"/>
                </a:solidFill>
                <a:ea typeface="楷体_GB2312"/>
                <a:cs typeface="楷体_GB2312"/>
              </a:rPr>
              <a:t>《</a:t>
            </a:r>
            <a:r>
              <a:rPr lang="zh-CN" altLang="en-US" sz="1800" b="1">
                <a:solidFill>
                  <a:schemeClr val="accent1"/>
                </a:solidFill>
                <a:ea typeface="楷体_GB2312"/>
                <a:cs typeface="楷体_GB2312"/>
              </a:rPr>
              <a:t>爱丁堡皇家学会学报</a:t>
            </a:r>
            <a:r>
              <a:rPr lang="en-US" altLang="zh-CN" sz="1800" b="1">
                <a:solidFill>
                  <a:schemeClr val="accent1"/>
                </a:solidFill>
                <a:ea typeface="楷体_GB2312"/>
                <a:cs typeface="楷体_GB2312"/>
              </a:rPr>
              <a:t>》</a:t>
            </a:r>
            <a:r>
              <a:rPr lang="zh-CN" altLang="en-US" sz="1800" b="1">
                <a:solidFill>
                  <a:schemeClr val="accent1"/>
                </a:solidFill>
                <a:ea typeface="楷体_GB2312"/>
                <a:cs typeface="楷体_GB2312"/>
              </a:rPr>
              <a:t>上。</a:t>
            </a:r>
            <a:r>
              <a:rPr lang="en-US" altLang="zh-CN" sz="1800" b="1">
                <a:solidFill>
                  <a:schemeClr val="accent1"/>
                </a:solidFill>
                <a:ea typeface="楷体_GB2312"/>
                <a:cs typeface="楷体_GB2312"/>
              </a:rPr>
              <a:t>16</a:t>
            </a:r>
            <a:r>
              <a:rPr lang="zh-CN" altLang="en-US" sz="1800" b="1">
                <a:solidFill>
                  <a:schemeClr val="accent1"/>
                </a:solidFill>
                <a:ea typeface="楷体_GB2312"/>
                <a:cs typeface="楷体_GB2312"/>
              </a:rPr>
              <a:t>岁考进爱丁堡大学学习数学，后又转入剑桥大学，毕业后对电磁学产生了浓厚的兴趣。第二年就发表了第一篇电磁学</a:t>
            </a:r>
            <a:r>
              <a:rPr lang="en-US" altLang="zh-CN" sz="1800" b="1">
                <a:ea typeface="楷体_GB2312"/>
                <a:cs typeface="楷体_GB2312"/>
              </a:rPr>
              <a:t>《</a:t>
            </a:r>
            <a:r>
              <a:rPr lang="zh-CN" altLang="en-US" sz="1800" b="1">
                <a:ea typeface="楷体_GB2312"/>
                <a:cs typeface="楷体_GB2312"/>
              </a:rPr>
              <a:t>论法拉第的力线</a:t>
            </a:r>
            <a:r>
              <a:rPr lang="en-US" altLang="zh-CN" sz="1800" b="1">
                <a:ea typeface="楷体_GB2312"/>
                <a:cs typeface="楷体_GB2312"/>
              </a:rPr>
              <a:t>》</a:t>
            </a:r>
            <a:r>
              <a:rPr lang="zh-CN" altLang="en-US" sz="1800" b="1">
                <a:solidFill>
                  <a:schemeClr val="accent1"/>
                </a:solidFill>
                <a:ea typeface="楷体_GB2312"/>
                <a:cs typeface="楷体_GB2312"/>
              </a:rPr>
              <a:t>。  </a:t>
            </a:r>
            <a:r>
              <a:rPr lang="en-US" altLang="zh-CN" sz="1800" b="1">
                <a:solidFill>
                  <a:schemeClr val="accent1"/>
                </a:solidFill>
                <a:ea typeface="楷体_GB2312"/>
                <a:cs typeface="楷体_GB2312"/>
              </a:rPr>
              <a:t>1862</a:t>
            </a:r>
            <a:r>
              <a:rPr lang="zh-CN" altLang="en-US" sz="1800" b="1">
                <a:solidFill>
                  <a:schemeClr val="accent1"/>
                </a:solidFill>
                <a:ea typeface="楷体_GB2312"/>
                <a:cs typeface="楷体_GB2312"/>
              </a:rPr>
              <a:t>年他发表了第二篇电磁学论文</a:t>
            </a:r>
            <a:r>
              <a:rPr lang="en-US" altLang="zh-CN" sz="1800" b="1">
                <a:ea typeface="楷体_GB2312"/>
                <a:cs typeface="楷体_GB2312"/>
              </a:rPr>
              <a:t>《</a:t>
            </a:r>
            <a:r>
              <a:rPr lang="zh-CN" altLang="en-US" sz="1800" b="1">
                <a:ea typeface="楷体_GB2312"/>
                <a:cs typeface="楷体_GB2312"/>
              </a:rPr>
              <a:t>论物理力线</a:t>
            </a:r>
            <a:r>
              <a:rPr lang="en-US" altLang="zh-CN" sz="1800" b="1">
                <a:solidFill>
                  <a:schemeClr val="accent1"/>
                </a:solidFill>
                <a:ea typeface="楷体_GB2312"/>
                <a:cs typeface="楷体_GB2312"/>
              </a:rPr>
              <a:t>》</a:t>
            </a:r>
            <a:r>
              <a:rPr lang="zh-CN" altLang="en-US" sz="1800" b="1">
                <a:solidFill>
                  <a:schemeClr val="accent1"/>
                </a:solidFill>
                <a:ea typeface="楷体_GB2312"/>
                <a:cs typeface="楷体_GB2312"/>
              </a:rPr>
              <a:t>，预言了电磁波的存在，并证明了这种波的速度等于光速，揭示了光的电磁本质。这篇文章包括了麦克斯韦研究电磁理论达到的主要结果。</a:t>
            </a:r>
            <a:r>
              <a:rPr lang="en-US" altLang="zh-CN" sz="1800" b="1">
                <a:solidFill>
                  <a:schemeClr val="accent1"/>
                </a:solidFill>
                <a:ea typeface="楷体_GB2312"/>
                <a:cs typeface="楷体_GB2312"/>
              </a:rPr>
              <a:t>1864</a:t>
            </a:r>
            <a:r>
              <a:rPr lang="zh-CN" altLang="en-US" sz="1800" b="1">
                <a:solidFill>
                  <a:schemeClr val="accent1"/>
                </a:solidFill>
                <a:ea typeface="楷体_GB2312"/>
                <a:cs typeface="楷体_GB2312"/>
              </a:rPr>
              <a:t>年他的第三篇论文</a:t>
            </a:r>
            <a:r>
              <a:rPr lang="en-US" altLang="zh-CN" sz="1800" b="1">
                <a:ea typeface="楷体_GB2312"/>
                <a:cs typeface="楷体_GB2312"/>
              </a:rPr>
              <a:t>《</a:t>
            </a:r>
            <a:r>
              <a:rPr lang="zh-CN" altLang="en-US" sz="1800" b="1">
                <a:ea typeface="楷体_GB2312"/>
                <a:cs typeface="楷体_GB2312"/>
              </a:rPr>
              <a:t>电磁场的动力学理论</a:t>
            </a:r>
            <a:r>
              <a:rPr lang="en-US" altLang="zh-CN" sz="1800" b="1">
                <a:ea typeface="楷体_GB2312"/>
                <a:cs typeface="楷体_GB2312"/>
              </a:rPr>
              <a:t>》</a:t>
            </a:r>
            <a:r>
              <a:rPr lang="zh-CN" altLang="en-US" sz="1800" b="1">
                <a:solidFill>
                  <a:schemeClr val="accent1"/>
                </a:solidFill>
                <a:ea typeface="楷体_GB2312"/>
                <a:cs typeface="楷体_GB2312"/>
              </a:rPr>
              <a:t>。</a:t>
            </a:r>
            <a:r>
              <a:rPr lang="en-US" altLang="zh-CN" sz="1800" b="1">
                <a:solidFill>
                  <a:schemeClr val="accent1"/>
                </a:solidFill>
                <a:ea typeface="楷体_GB2312"/>
                <a:cs typeface="楷体_GB2312"/>
              </a:rPr>
              <a:t>1873</a:t>
            </a:r>
            <a:r>
              <a:rPr lang="zh-CN" altLang="en-US" sz="1800" b="1">
                <a:solidFill>
                  <a:schemeClr val="accent1"/>
                </a:solidFill>
                <a:ea typeface="楷体_GB2312"/>
                <a:cs typeface="楷体_GB2312"/>
              </a:rPr>
              <a:t>年出版的</a:t>
            </a:r>
            <a:r>
              <a:rPr lang="en-US" altLang="zh-CN" sz="1800" b="1">
                <a:ea typeface="楷体_GB2312"/>
                <a:cs typeface="楷体_GB2312"/>
              </a:rPr>
              <a:t>《</a:t>
            </a:r>
            <a:r>
              <a:rPr lang="zh-CN" altLang="en-US" sz="1800" b="1">
                <a:ea typeface="楷体_GB2312"/>
                <a:cs typeface="楷体_GB2312"/>
              </a:rPr>
              <a:t>电学和磁学论</a:t>
            </a:r>
            <a:r>
              <a:rPr lang="en-US" altLang="zh-CN" sz="1800" b="1">
                <a:ea typeface="楷体_GB2312"/>
                <a:cs typeface="楷体_GB2312"/>
              </a:rPr>
              <a:t>》</a:t>
            </a:r>
            <a:r>
              <a:rPr lang="zh-CN" altLang="en-US" sz="1800" b="1">
                <a:solidFill>
                  <a:schemeClr val="accent1"/>
                </a:solidFill>
                <a:ea typeface="楷体_GB2312"/>
                <a:cs typeface="楷体_GB2312"/>
              </a:rPr>
              <a:t>一书是集电磁学大成的划时代著作，全面地总结了</a:t>
            </a:r>
            <a:r>
              <a:rPr lang="en-US" altLang="zh-CN" sz="1800" b="1">
                <a:solidFill>
                  <a:schemeClr val="accent1"/>
                </a:solidFill>
                <a:ea typeface="楷体_GB2312"/>
                <a:cs typeface="楷体_GB2312"/>
              </a:rPr>
              <a:t>19</a:t>
            </a:r>
            <a:r>
              <a:rPr lang="zh-CN" altLang="en-US" sz="1800" b="1">
                <a:solidFill>
                  <a:schemeClr val="accent1"/>
                </a:solidFill>
                <a:ea typeface="楷体_GB2312"/>
                <a:cs typeface="楷体_GB2312"/>
              </a:rPr>
              <a:t>世纪中叶以前对电磁现象的研究成果，建立了完整的电磁理论体系。这是一部可以同牛顿的</a:t>
            </a:r>
            <a:r>
              <a:rPr lang="en-US" altLang="zh-CN" sz="1800" b="1">
                <a:solidFill>
                  <a:srgbClr val="0000FF"/>
                </a:solidFill>
                <a:ea typeface="楷体_GB2312"/>
                <a:cs typeface="楷体_GB2312"/>
              </a:rPr>
              <a:t>《</a:t>
            </a:r>
            <a:r>
              <a:rPr lang="zh-CN" altLang="en-US" sz="1800" b="1">
                <a:ea typeface="楷体_GB2312"/>
                <a:cs typeface="楷体_GB2312"/>
              </a:rPr>
              <a:t>自然哲学的数学原理</a:t>
            </a:r>
            <a:r>
              <a:rPr lang="en-US" altLang="zh-CN" sz="1800" b="1">
                <a:solidFill>
                  <a:srgbClr val="0000FF"/>
                </a:solidFill>
                <a:ea typeface="楷体_GB2312"/>
                <a:cs typeface="楷体_GB2312"/>
              </a:rPr>
              <a:t>》</a:t>
            </a:r>
            <a:r>
              <a:rPr lang="zh-CN" altLang="en-US" sz="1800" b="1">
                <a:solidFill>
                  <a:schemeClr val="accent1"/>
                </a:solidFill>
                <a:ea typeface="楷体_GB2312"/>
                <a:cs typeface="楷体_GB2312"/>
              </a:rPr>
              <a:t>、达尔文的</a:t>
            </a:r>
            <a:r>
              <a:rPr lang="en-US" altLang="zh-CN" sz="1800" b="1">
                <a:solidFill>
                  <a:srgbClr val="0000FF"/>
                </a:solidFill>
                <a:ea typeface="楷体_GB2312"/>
                <a:cs typeface="楷体_GB2312"/>
              </a:rPr>
              <a:t>《</a:t>
            </a:r>
            <a:r>
              <a:rPr lang="zh-CN" altLang="en-US" sz="1800" b="1">
                <a:ea typeface="楷体_GB2312"/>
                <a:cs typeface="楷体_GB2312"/>
              </a:rPr>
              <a:t>物种起源</a:t>
            </a:r>
            <a:r>
              <a:rPr lang="en-US" altLang="zh-CN" sz="1800" b="1">
                <a:solidFill>
                  <a:srgbClr val="0000FF"/>
                </a:solidFill>
                <a:ea typeface="楷体_GB2312"/>
                <a:cs typeface="楷体_GB2312"/>
              </a:rPr>
              <a:t>》</a:t>
            </a:r>
            <a:r>
              <a:rPr lang="zh-CN" altLang="en-US" sz="1800" b="1">
                <a:solidFill>
                  <a:schemeClr val="accent1"/>
                </a:solidFill>
                <a:ea typeface="楷体_GB2312"/>
                <a:cs typeface="楷体_GB2312"/>
              </a:rPr>
              <a:t>和赖尔的</a:t>
            </a:r>
            <a:r>
              <a:rPr lang="en-US" altLang="zh-CN" sz="1800" b="1">
                <a:solidFill>
                  <a:srgbClr val="0000FF"/>
                </a:solidFill>
                <a:ea typeface="楷体_GB2312"/>
                <a:cs typeface="楷体_GB2312"/>
              </a:rPr>
              <a:t>《</a:t>
            </a:r>
            <a:r>
              <a:rPr lang="zh-CN" altLang="en-US" sz="1800" b="1">
                <a:ea typeface="楷体_GB2312"/>
                <a:cs typeface="楷体_GB2312"/>
              </a:rPr>
              <a:t>地质学原理</a:t>
            </a:r>
            <a:r>
              <a:rPr lang="en-US" altLang="zh-CN" sz="1800" b="1">
                <a:solidFill>
                  <a:srgbClr val="0000FF"/>
                </a:solidFill>
                <a:ea typeface="楷体_GB2312"/>
                <a:cs typeface="楷体_GB2312"/>
              </a:rPr>
              <a:t>》</a:t>
            </a:r>
            <a:r>
              <a:rPr lang="zh-CN" altLang="en-US" sz="1800" b="1">
                <a:solidFill>
                  <a:schemeClr val="accent1"/>
                </a:solidFill>
                <a:ea typeface="楷体_GB2312"/>
                <a:cs typeface="楷体_GB2312"/>
              </a:rPr>
              <a:t>相媲美的里程碑式的著作。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6">
                                            <p:txEl>
                                              <p:pRg st="0" end="0"/>
                                            </p:txEl>
                                          </p:spTgt>
                                        </p:tgtEl>
                                        <p:attrNameLst>
                                          <p:attrName>style.visibility</p:attrName>
                                        </p:attrNameLst>
                                      </p:cBhvr>
                                      <p:to>
                                        <p:strVal val="visible"/>
                                      </p:to>
                                    </p:set>
                                    <p:animEffect transition="in" filter="wipe(left)">
                                      <p:cBhvr>
                                        <p:cTn id="7" dur="500"/>
                                        <p:tgtEl>
                                          <p:spTgt spid="1290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9030"/>
                                        </p:tgtEl>
                                        <p:attrNameLst>
                                          <p:attrName>style.visibility</p:attrName>
                                        </p:attrNameLst>
                                      </p:cBhvr>
                                      <p:to>
                                        <p:strVal val="visible"/>
                                      </p:to>
                                    </p:set>
                                    <p:animEffect transition="in" filter="wipe(left)">
                                      <p:cBhvr>
                                        <p:cTn id="12" dur="500"/>
                                        <p:tgtEl>
                                          <p:spTgt spid="1290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29027"/>
                                        </p:tgtEl>
                                        <p:attrNameLst>
                                          <p:attrName>style.visibility</p:attrName>
                                        </p:attrNameLst>
                                      </p:cBhvr>
                                      <p:to>
                                        <p:strVal val="visible"/>
                                      </p:to>
                                    </p:set>
                                    <p:animEffect transition="in" filter="box(out)">
                                      <p:cBhvr>
                                        <p:cTn id="17" dur="500"/>
                                        <p:tgtEl>
                                          <p:spTgt spid="1290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lt">
                                    <p:tmPct val="100000"/>
                                  </p:iterate>
                                  <p:childTnLst>
                                    <p:set>
                                      <p:cBhvr>
                                        <p:cTn id="21" dur="1" fill="hold">
                                          <p:stCondLst>
                                            <p:cond delay="0"/>
                                          </p:stCondLst>
                                        </p:cTn>
                                        <p:tgtEl>
                                          <p:spTgt spid="129028">
                                            <p:txEl>
                                              <p:pRg st="0" end="0"/>
                                            </p:txEl>
                                          </p:spTgt>
                                        </p:tgtEl>
                                        <p:attrNameLst>
                                          <p:attrName>style.visibility</p:attrName>
                                        </p:attrNameLst>
                                      </p:cBhvr>
                                      <p:to>
                                        <p:strVal val="visible"/>
                                      </p:to>
                                    </p:set>
                                    <p:animEffect transition="in" filter="wipe(left)">
                                      <p:cBhvr>
                                        <p:cTn id="22" dur="75"/>
                                        <p:tgtEl>
                                          <p:spTgt spid="12902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iterate type="lt">
                                    <p:tmPct val="100000"/>
                                  </p:iterate>
                                  <p:childTnLst>
                                    <p:set>
                                      <p:cBhvr>
                                        <p:cTn id="26" dur="1" fill="hold">
                                          <p:stCondLst>
                                            <p:cond delay="0"/>
                                          </p:stCondLst>
                                        </p:cTn>
                                        <p:tgtEl>
                                          <p:spTgt spid="129029">
                                            <p:txEl>
                                              <p:pRg st="0" end="0"/>
                                            </p:txEl>
                                          </p:spTgt>
                                        </p:tgtEl>
                                        <p:attrNameLst>
                                          <p:attrName>style.visibility</p:attrName>
                                        </p:attrNameLst>
                                      </p:cBhvr>
                                      <p:to>
                                        <p:strVal val="visible"/>
                                      </p:to>
                                    </p:set>
                                    <p:animEffect transition="in" filter="wipe(left)">
                                      <p:cBhvr>
                                        <p:cTn id="27" dur="75"/>
                                        <p:tgtEl>
                                          <p:spTgt spid="12902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9031"/>
                                        </p:tgtEl>
                                        <p:attrNameLst>
                                          <p:attrName>style.visibility</p:attrName>
                                        </p:attrNameLst>
                                      </p:cBhvr>
                                      <p:to>
                                        <p:strVal val="visible"/>
                                      </p:to>
                                    </p:set>
                                    <p:animEffect transition="in" filter="wipe(down)">
                                      <p:cBhvr>
                                        <p:cTn id="32" dur="500"/>
                                        <p:tgtEl>
                                          <p:spTgt spid="129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autoUpdateAnimBg="0"/>
      <p:bldP spid="129028" grpId="0" build="p" autoUpdateAnimBg="0"/>
      <p:bldP spid="129029" grpId="0" build="p" autoUpdateAnimBg="0"/>
      <p:bldP spid="129031"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0" name="Text Box 2"/>
          <p:cNvSpPr txBox="1">
            <a:spLocks noChangeArrowheads="1"/>
          </p:cNvSpPr>
          <p:nvPr/>
        </p:nvSpPr>
        <p:spPr bwMode="auto">
          <a:xfrm>
            <a:off x="539750" y="692150"/>
            <a:ext cx="8353425" cy="555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pPr>
            <a:r>
              <a:rPr lang="zh-CN" altLang="en-US" sz="2400" b="1">
                <a:solidFill>
                  <a:schemeClr val="accent1"/>
                </a:solidFill>
                <a:ea typeface="楷体_GB2312"/>
                <a:cs typeface="楷体_GB2312"/>
              </a:rPr>
              <a:t>麦克斯韦的主要科学贡献在电磁学方面，同时在天体物理学、气体分子运动论、热力学、统计物理学等方面，都作出了卓越的成绩。</a:t>
            </a:r>
          </a:p>
          <a:p>
            <a:pPr eaLnBrk="1" hangingPunct="1">
              <a:buClrTx/>
            </a:pPr>
            <a:endParaRPr lang="zh-CN" altLang="en-US" sz="2400" b="1">
              <a:solidFill>
                <a:schemeClr val="accent1"/>
              </a:solidFill>
              <a:ea typeface="楷体_GB2312"/>
              <a:cs typeface="楷体_GB2312"/>
            </a:endParaRPr>
          </a:p>
          <a:p>
            <a:pPr eaLnBrk="1" hangingPunct="1">
              <a:buClrTx/>
            </a:pPr>
            <a:r>
              <a:rPr lang="zh-CN" altLang="en-US" sz="2400" b="1">
                <a:solidFill>
                  <a:schemeClr val="accent1"/>
                </a:solidFill>
                <a:ea typeface="楷体_GB2312"/>
                <a:cs typeface="楷体_GB2312"/>
              </a:rPr>
              <a:t>麦克斯韦认识到并非所有的气体分子都按同一速度运动。有些分子运动慢，有些分子运动快，有些以极高速度运动。麦克斯韦推导出了求已知气体中的分子按某一速率运动的百分比公式，这个公式叫做“</a:t>
            </a:r>
            <a:r>
              <a:rPr lang="zh-CN" altLang="en-US" sz="2400" b="1">
                <a:solidFill>
                  <a:srgbClr val="FF0000"/>
                </a:solidFill>
                <a:ea typeface="楷体_GB2312"/>
                <a:cs typeface="楷体_GB2312"/>
              </a:rPr>
              <a:t>麦克斯韦分布率</a:t>
            </a:r>
            <a:r>
              <a:rPr lang="zh-CN" altLang="en-US" sz="2400" b="1">
                <a:solidFill>
                  <a:schemeClr val="accent1"/>
                </a:solidFill>
                <a:ea typeface="楷体_GB2312"/>
                <a:cs typeface="楷体_GB2312"/>
              </a:rPr>
              <a:t>”，是应用最广泛的科学公式之一，在许多物理分支中起着重要的作用。</a:t>
            </a:r>
            <a:r>
              <a:rPr lang="zh-CN" altLang="en-US" sz="2400" b="1">
                <a:solidFill>
                  <a:srgbClr val="FF3300"/>
                </a:solidFill>
                <a:ea typeface="楷体_GB2312"/>
                <a:cs typeface="楷体_GB2312"/>
              </a:rPr>
              <a:t> </a:t>
            </a:r>
          </a:p>
          <a:p>
            <a:pPr eaLnBrk="1" hangingPunct="1">
              <a:buClrTx/>
              <a:buFontTx/>
              <a:buNone/>
            </a:pPr>
            <a:endParaRPr lang="zh-CN" altLang="en-US" sz="2400" b="1">
              <a:solidFill>
                <a:srgbClr val="FF3300"/>
              </a:solidFill>
              <a:ea typeface="楷体_GB2312"/>
              <a:cs typeface="楷体_GB2312"/>
            </a:endParaRPr>
          </a:p>
          <a:p>
            <a:pPr eaLnBrk="1" hangingPunct="1">
              <a:buClrTx/>
              <a:buFontTx/>
              <a:buNone/>
            </a:pPr>
            <a:r>
              <a:rPr lang="zh-CN" altLang="en-US" sz="2400" b="1">
                <a:ea typeface="楷体_GB2312"/>
                <a:cs typeface="楷体_GB2312"/>
              </a:rPr>
              <a:t>量子论的创立者普朗克（</a:t>
            </a:r>
            <a:r>
              <a:rPr lang="en-US" altLang="zh-CN" sz="2400" b="1">
                <a:ea typeface="楷体_GB2312"/>
                <a:cs typeface="楷体_GB2312"/>
              </a:rPr>
              <a:t>Max Plank l858—1947</a:t>
            </a:r>
            <a:r>
              <a:rPr lang="zh-CN" altLang="en-US" sz="2400" b="1">
                <a:ea typeface="楷体_GB2312"/>
                <a:cs typeface="楷体_GB2312"/>
              </a:rPr>
              <a:t>）曾这样评价麦克斯韦：“麦克斯韦的光辉名字将永远镌刻在经典物理学家的门扉上，永放光芒。从生地来说，他属于爱丁堡；从个性来说，他属于剑桥大学；从功绩来说，他属于全世界”。</a:t>
            </a:r>
          </a:p>
        </p:txBody>
      </p:sp>
      <p:pic>
        <p:nvPicPr>
          <p:cNvPr id="79876" name="Picture 4" descr="https://bkimg.cdn.bcebos.com/pic/e824b899a9014c08d9074297027b02087bf4f4c0?x-bce-process=image/format,f_auto/watermark,image_d2F0ZXIvYmFpa2UyNzI,g_7,xp_5,yp_5,P_20/resize,m_lfit,limit_1,h_1080">
            <a:extLst>
              <a:ext uri="{FF2B5EF4-FFF2-40B4-BE49-F238E27FC236}">
                <a16:creationId xmlns:a16="http://schemas.microsoft.com/office/drawing/2014/main" id="{A239760A-9F2B-405A-8E75-D451E603C82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29" b="48551"/>
          <a:stretch/>
        </p:blipFill>
        <p:spPr bwMode="auto">
          <a:xfrm>
            <a:off x="-6896" y="177383"/>
            <a:ext cx="9116000" cy="6203945"/>
          </a:xfrm>
          <a:prstGeom prst="rect">
            <a:avLst/>
          </a:prstGeom>
          <a:noFill/>
          <a:extLst>
            <a:ext uri="{909E8E84-426E-40DD-AFC4-6F175D3DCCD1}">
              <a14:hiddenFill xmlns:a14="http://schemas.microsoft.com/office/drawing/2010/main">
                <a:solidFill>
                  <a:srgbClr val="FFFFFF"/>
                </a:solidFill>
              </a14:hiddenFill>
            </a:ext>
          </a:extLst>
        </p:spPr>
      </p:pic>
      <p:pic>
        <p:nvPicPr>
          <p:cNvPr id="79878" name="Picture 6" descr="http://static.mianbaoban-assets.eet-china.com/xinyu-images/MBXY-CR-d20461d88fab386f97e58a36d8aa6336.png">
            <a:extLst>
              <a:ext uri="{FF2B5EF4-FFF2-40B4-BE49-F238E27FC236}">
                <a16:creationId xmlns:a16="http://schemas.microsoft.com/office/drawing/2014/main" id="{3A4D851E-6EBC-4930-9A10-472BE9B097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986" y="164807"/>
            <a:ext cx="8743189" cy="34095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30050">
                                            <p:txEl>
                                              <p:pRg st="0" end="0"/>
                                            </p:txEl>
                                          </p:spTgt>
                                        </p:tgtEl>
                                        <p:attrNameLst>
                                          <p:attrName>style.visibility</p:attrName>
                                        </p:attrNameLst>
                                      </p:cBhvr>
                                      <p:to>
                                        <p:strVal val="visible"/>
                                      </p:to>
                                    </p:set>
                                    <p:animEffect transition="in" filter="wipe(left)">
                                      <p:cBhvr>
                                        <p:cTn id="7" dur="75"/>
                                        <p:tgtEl>
                                          <p:spTgt spid="1300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130050">
                                            <p:txEl>
                                              <p:pRg st="2" end="2"/>
                                            </p:txEl>
                                          </p:spTgt>
                                        </p:tgtEl>
                                        <p:attrNameLst>
                                          <p:attrName>style.visibility</p:attrName>
                                        </p:attrNameLst>
                                      </p:cBhvr>
                                      <p:to>
                                        <p:strVal val="visible"/>
                                      </p:to>
                                    </p:set>
                                    <p:animEffect transition="in" filter="wipe(left)">
                                      <p:cBhvr>
                                        <p:cTn id="12" dur="75"/>
                                        <p:tgtEl>
                                          <p:spTgt spid="13005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130050">
                                            <p:txEl>
                                              <p:pRg st="4" end="4"/>
                                            </p:txEl>
                                          </p:spTgt>
                                        </p:tgtEl>
                                        <p:attrNameLst>
                                          <p:attrName>style.visibility</p:attrName>
                                        </p:attrNameLst>
                                      </p:cBhvr>
                                      <p:to>
                                        <p:strVal val="visible"/>
                                      </p:to>
                                    </p:set>
                                    <p:animEffect transition="in" filter="wipe(left)">
                                      <p:cBhvr>
                                        <p:cTn id="17" dur="75"/>
                                        <p:tgtEl>
                                          <p:spTgt spid="13005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987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98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827088" y="188913"/>
            <a:ext cx="7772400" cy="484187"/>
          </a:xfrm>
        </p:spPr>
        <p:txBody>
          <a:bodyPr/>
          <a:lstStyle/>
          <a:p>
            <a:pPr eaLnBrk="1" hangingPunct="1"/>
            <a:r>
              <a:rPr lang="zh-CN" altLang="en-US" sz="2400" b="1">
                <a:solidFill>
                  <a:schemeClr val="accent1"/>
                </a:solidFill>
              </a:rPr>
              <a:t>玻耳兹曼（</a:t>
            </a:r>
            <a:r>
              <a:rPr lang="en-US" altLang="zh-CN" sz="2400" b="1">
                <a:solidFill>
                  <a:schemeClr val="accent1"/>
                </a:solidFill>
              </a:rPr>
              <a:t>Boltzmann L E </a:t>
            </a:r>
            <a:r>
              <a:rPr lang="zh-CN" altLang="en-US" sz="2400" b="1">
                <a:solidFill>
                  <a:schemeClr val="accent1"/>
                </a:solidFill>
              </a:rPr>
              <a:t>） </a:t>
            </a:r>
            <a:r>
              <a:rPr lang="en-US" altLang="zh-CN" sz="2400" b="1">
                <a:solidFill>
                  <a:schemeClr val="accent1"/>
                </a:solidFill>
              </a:rPr>
              <a:t>(1844-1906</a:t>
            </a:r>
            <a:r>
              <a:rPr lang="zh-CN" altLang="en-US" sz="2400" b="1">
                <a:solidFill>
                  <a:schemeClr val="accent1"/>
                </a:solidFill>
              </a:rPr>
              <a:t>）</a:t>
            </a:r>
          </a:p>
        </p:txBody>
      </p:sp>
      <p:pic>
        <p:nvPicPr>
          <p:cNvPr id="131075" name="Picture 3" descr="boltzm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5175"/>
            <a:ext cx="2403475" cy="254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6" name="Line 4"/>
          <p:cNvSpPr>
            <a:spLocks noChangeShapeType="1"/>
          </p:cNvSpPr>
          <p:nvPr/>
        </p:nvSpPr>
        <p:spPr bwMode="auto">
          <a:xfrm>
            <a:off x="0" y="692150"/>
            <a:ext cx="9144000" cy="0"/>
          </a:xfrm>
          <a:prstGeom prst="line">
            <a:avLst/>
          </a:prstGeom>
          <a:noFill/>
          <a:ln w="38100">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131077" name="Rectangle 5"/>
          <p:cNvSpPr>
            <a:spLocks noChangeArrowheads="1"/>
          </p:cNvSpPr>
          <p:nvPr/>
        </p:nvSpPr>
        <p:spPr bwMode="auto">
          <a:xfrm>
            <a:off x="2339975" y="750888"/>
            <a:ext cx="6516688"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1">
                <a:ea typeface="楷体_GB2312"/>
                <a:cs typeface="楷体_GB2312"/>
              </a:rPr>
              <a:t>    </a:t>
            </a:r>
            <a:r>
              <a:rPr lang="zh-CN" altLang="en-US" sz="2000" b="1">
                <a:ea typeface="楷体_GB2312"/>
                <a:cs typeface="楷体_GB2312"/>
              </a:rPr>
              <a:t>玻耳兹曼是德裔奥地利物理学家。</a:t>
            </a:r>
            <a:r>
              <a:rPr lang="en-US" altLang="zh-CN" sz="2000" b="1">
                <a:ea typeface="楷体_GB2312"/>
                <a:cs typeface="楷体_GB2312"/>
              </a:rPr>
              <a:t>1844</a:t>
            </a:r>
            <a:r>
              <a:rPr lang="zh-CN" altLang="en-US" sz="2000" b="1">
                <a:ea typeface="楷体_GB2312"/>
                <a:cs typeface="楷体_GB2312"/>
              </a:rPr>
              <a:t>年</a:t>
            </a:r>
            <a:r>
              <a:rPr lang="en-US" altLang="zh-CN" sz="2000" b="1">
                <a:ea typeface="楷体_GB2312"/>
                <a:cs typeface="楷体_GB2312"/>
              </a:rPr>
              <a:t>2</a:t>
            </a:r>
            <a:r>
              <a:rPr lang="zh-CN" altLang="en-US" sz="2000" b="1">
                <a:ea typeface="楷体_GB2312"/>
                <a:cs typeface="楷体_GB2312"/>
              </a:rPr>
              <a:t>月</a:t>
            </a:r>
            <a:r>
              <a:rPr lang="en-US" altLang="zh-CN" sz="2000" b="1">
                <a:ea typeface="楷体_GB2312"/>
                <a:cs typeface="楷体_GB2312"/>
              </a:rPr>
              <a:t>20</a:t>
            </a:r>
            <a:r>
              <a:rPr lang="zh-CN" altLang="en-US" sz="2000" b="1">
                <a:ea typeface="楷体_GB2312"/>
                <a:cs typeface="楷体_GB2312"/>
              </a:rPr>
              <a:t>日生于“音乐之都”维也纳。</a:t>
            </a:r>
            <a:r>
              <a:rPr lang="en-US" altLang="zh-CN" sz="2000" b="1">
                <a:solidFill>
                  <a:schemeClr val="accent1"/>
                </a:solidFill>
                <a:ea typeface="楷体_GB2312"/>
                <a:cs typeface="楷体_GB2312"/>
              </a:rPr>
              <a:t>1863</a:t>
            </a:r>
            <a:r>
              <a:rPr lang="zh-CN" altLang="en-US" sz="2000" b="1">
                <a:solidFill>
                  <a:schemeClr val="accent1"/>
                </a:solidFill>
                <a:ea typeface="楷体_GB2312"/>
                <a:cs typeface="楷体_GB2312"/>
              </a:rPr>
              <a:t>年，进入著名的维也纳大学学习物理学和数学专业。大学毕业后，继续攻读博士学位。</a:t>
            </a:r>
            <a:r>
              <a:rPr lang="en-US" altLang="zh-CN" sz="2000" b="1">
                <a:solidFill>
                  <a:schemeClr val="accent1"/>
                </a:solidFill>
                <a:ea typeface="楷体_GB2312"/>
                <a:cs typeface="楷体_GB2312"/>
              </a:rPr>
              <a:t>1866</a:t>
            </a:r>
            <a:r>
              <a:rPr lang="zh-CN" altLang="en-US" sz="2000" b="1">
                <a:solidFill>
                  <a:schemeClr val="accent1"/>
                </a:solidFill>
                <a:ea typeface="楷体_GB2312"/>
                <a:cs typeface="楷体_GB2312"/>
              </a:rPr>
              <a:t>年</a:t>
            </a:r>
            <a:r>
              <a:rPr lang="en-US" altLang="zh-CN" sz="2000" b="1">
                <a:solidFill>
                  <a:schemeClr val="accent1"/>
                </a:solidFill>
                <a:ea typeface="楷体_GB2312"/>
                <a:cs typeface="楷体_GB2312"/>
              </a:rPr>
              <a:t>2</a:t>
            </a:r>
            <a:r>
              <a:rPr lang="zh-CN" altLang="en-US" sz="2000" b="1">
                <a:solidFill>
                  <a:schemeClr val="accent1"/>
                </a:solidFill>
                <a:ea typeface="楷体_GB2312"/>
                <a:cs typeface="楷体_GB2312"/>
              </a:rPr>
              <a:t>月</a:t>
            </a:r>
            <a:r>
              <a:rPr lang="en-US" altLang="zh-CN" sz="2000" b="1">
                <a:solidFill>
                  <a:schemeClr val="accent1"/>
                </a:solidFill>
                <a:ea typeface="楷体_GB2312"/>
                <a:cs typeface="楷体_GB2312"/>
              </a:rPr>
              <a:t>6</a:t>
            </a:r>
            <a:r>
              <a:rPr lang="zh-CN" altLang="en-US" sz="2000" b="1">
                <a:solidFill>
                  <a:schemeClr val="accent1"/>
                </a:solidFill>
                <a:ea typeface="楷体_GB2312"/>
                <a:cs typeface="楷体_GB2312"/>
              </a:rPr>
              <a:t>日，不满</a:t>
            </a:r>
            <a:r>
              <a:rPr lang="en-US" altLang="zh-CN" sz="2000" b="1">
                <a:solidFill>
                  <a:schemeClr val="accent1"/>
                </a:solidFill>
                <a:ea typeface="楷体_GB2312"/>
                <a:cs typeface="楷体_GB2312"/>
              </a:rPr>
              <a:t>22</a:t>
            </a:r>
            <a:r>
              <a:rPr lang="zh-CN" altLang="en-US" sz="2000" b="1">
                <a:solidFill>
                  <a:schemeClr val="accent1"/>
                </a:solidFill>
                <a:ea typeface="楷体_GB2312"/>
                <a:cs typeface="楷体_GB2312"/>
              </a:rPr>
              <a:t>岁</a:t>
            </a:r>
            <a:r>
              <a:rPr lang="zh-CN" altLang="en-US" sz="2000" b="1">
                <a:ea typeface="楷体_GB2312"/>
                <a:cs typeface="楷体_GB2312"/>
              </a:rPr>
              <a:t>的玻尔茲曼完成了他的博士论文：“</a:t>
            </a:r>
            <a:r>
              <a:rPr lang="zh-CN" altLang="en-US" sz="2000" b="1">
                <a:solidFill>
                  <a:srgbClr val="FF0000"/>
                </a:solidFill>
                <a:ea typeface="楷体_GB2312"/>
                <a:cs typeface="楷体_GB2312"/>
              </a:rPr>
              <a:t>力学在热力学第二定律中的地位和作用</a:t>
            </a:r>
            <a:r>
              <a:rPr lang="zh-CN" altLang="en-US" sz="2000" b="1">
                <a:ea typeface="楷体_GB2312"/>
                <a:cs typeface="楷体_GB2312"/>
              </a:rPr>
              <a:t>”。在论文中，他利用原子运动轨道闭合的假设，将熵的表示与力学的最小作用原理直接联系起来，试图从纯力学的角度证明热力学第二定律。</a:t>
            </a:r>
            <a:r>
              <a:rPr lang="zh-CN" altLang="en-US" sz="2000" b="1">
                <a:solidFill>
                  <a:schemeClr val="accent1"/>
                </a:solidFill>
                <a:ea typeface="楷体_GB2312"/>
                <a:cs typeface="楷体_GB2312"/>
              </a:rPr>
              <a:t>但他在博士论文中所提出的假设是难以令人置信的；证明也没有得到同行的认可。 </a:t>
            </a:r>
          </a:p>
        </p:txBody>
      </p:sp>
      <p:sp>
        <p:nvSpPr>
          <p:cNvPr id="131078" name="Rectangle 6"/>
          <p:cNvSpPr>
            <a:spLocks noChangeArrowheads="1"/>
          </p:cNvSpPr>
          <p:nvPr/>
        </p:nvSpPr>
        <p:spPr bwMode="auto">
          <a:xfrm>
            <a:off x="323850" y="3657600"/>
            <a:ext cx="88201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200" b="1">
                <a:ea typeface="楷体_GB2312"/>
                <a:cs typeface="楷体_GB2312"/>
              </a:rPr>
              <a:t>玻耳兹曼的主要贡献有： </a:t>
            </a:r>
            <a:r>
              <a:rPr lang="en-US" altLang="zh-CN" sz="2200" b="1">
                <a:ea typeface="楷体_GB2312"/>
                <a:cs typeface="楷体_GB2312"/>
              </a:rPr>
              <a:t>1869</a:t>
            </a:r>
            <a:r>
              <a:rPr lang="zh-CN" altLang="en-US" sz="2200" b="1">
                <a:ea typeface="楷体_GB2312"/>
                <a:cs typeface="楷体_GB2312"/>
              </a:rPr>
              <a:t>年，将麦克斯韦速度分布律推广到保守力场作用下的情况，得到了玻耳兹曼分布律； </a:t>
            </a:r>
            <a:r>
              <a:rPr lang="en-US" altLang="zh-CN" sz="2200" b="1">
                <a:ea typeface="楷体_GB2312"/>
                <a:cs typeface="楷体_GB2312"/>
              </a:rPr>
              <a:t>1872</a:t>
            </a:r>
            <a:r>
              <a:rPr lang="zh-CN" altLang="en-US" sz="2200" b="1">
                <a:ea typeface="楷体_GB2312"/>
                <a:cs typeface="楷体_GB2312"/>
              </a:rPr>
              <a:t>年，建立了玻耳兹曼方程（又称输运方程），描述气体从非平衡态到平衡态过渡的过程； </a:t>
            </a:r>
            <a:r>
              <a:rPr lang="en-US" altLang="zh-CN" sz="2200" b="1">
                <a:ea typeface="楷体_GB2312"/>
                <a:cs typeface="楷体_GB2312"/>
              </a:rPr>
              <a:t>1877</a:t>
            </a:r>
            <a:r>
              <a:rPr lang="zh-CN" altLang="en-US" sz="2200" b="1">
                <a:ea typeface="楷体_GB2312"/>
                <a:cs typeface="楷体_GB2312"/>
              </a:rPr>
              <a:t>年，提出了著名的玻耳兹曼熵公式</a:t>
            </a:r>
            <a:r>
              <a:rPr lang="en-US" altLang="zh-CN" sz="2200" b="1">
                <a:ea typeface="楷体_GB2312"/>
                <a:cs typeface="楷体_GB2312"/>
              </a:rPr>
              <a:t>S∝ln</a:t>
            </a:r>
            <a:r>
              <a:rPr lang="en-US" altLang="zh-CN" sz="2200" b="1" i="1">
                <a:ea typeface="楷体_GB2312"/>
                <a:cs typeface="楷体_GB2312"/>
              </a:rPr>
              <a:t>W</a:t>
            </a:r>
            <a:r>
              <a:rPr lang="zh-CN" altLang="en-US" sz="2200" b="1">
                <a:ea typeface="楷体_GB2312"/>
                <a:cs typeface="楷体_GB2312"/>
              </a:rPr>
              <a:t>，后普朗克将其改写为</a:t>
            </a:r>
            <a:r>
              <a:rPr lang="en-US" altLang="zh-CN" sz="2200" b="1" i="1">
                <a:ea typeface="楷体_GB2312"/>
                <a:cs typeface="楷体_GB2312"/>
              </a:rPr>
              <a:t>S</a:t>
            </a:r>
            <a:r>
              <a:rPr lang="en-US" altLang="zh-CN" sz="2200" b="1">
                <a:ea typeface="楷体_GB2312"/>
                <a:cs typeface="楷体_GB2312"/>
              </a:rPr>
              <a:t>=</a:t>
            </a:r>
            <a:r>
              <a:rPr lang="en-US" altLang="zh-CN" sz="2200" b="1" i="1">
                <a:ea typeface="楷体_GB2312"/>
                <a:cs typeface="楷体_GB2312"/>
              </a:rPr>
              <a:t>k</a:t>
            </a:r>
            <a:r>
              <a:rPr lang="en-US" altLang="zh-CN" sz="2200" b="1">
                <a:ea typeface="楷体_GB2312"/>
                <a:cs typeface="楷体_GB2312"/>
              </a:rPr>
              <a:t>ln</a:t>
            </a:r>
            <a:r>
              <a:rPr lang="en-US" altLang="zh-CN" sz="2200" b="1" i="1">
                <a:ea typeface="楷体_GB2312"/>
                <a:cs typeface="楷体_GB2312"/>
              </a:rPr>
              <a:t>W</a:t>
            </a:r>
            <a:r>
              <a:rPr lang="zh-CN" altLang="en-US" sz="2200" b="1">
                <a:ea typeface="楷体_GB2312"/>
                <a:cs typeface="楷体_GB2312"/>
              </a:rPr>
              <a:t>，</a:t>
            </a:r>
            <a:r>
              <a:rPr lang="en-US" altLang="zh-CN" sz="2200" b="1" i="1">
                <a:ea typeface="楷体_GB2312"/>
                <a:cs typeface="楷体_GB2312"/>
              </a:rPr>
              <a:t>k</a:t>
            </a:r>
            <a:r>
              <a:rPr lang="zh-CN" altLang="en-US" sz="2200" b="1">
                <a:ea typeface="楷体_GB2312"/>
                <a:cs typeface="楷体_GB2312"/>
              </a:rPr>
              <a:t>叫做玻耳兹曼常数； </a:t>
            </a:r>
            <a:r>
              <a:rPr lang="en-US" altLang="zh-CN" sz="2200" b="1">
                <a:ea typeface="楷体_GB2312"/>
                <a:cs typeface="楷体_GB2312"/>
              </a:rPr>
              <a:t>19</a:t>
            </a:r>
            <a:r>
              <a:rPr lang="zh-CN" altLang="en-US" sz="2200" b="1">
                <a:ea typeface="楷体_GB2312"/>
                <a:cs typeface="楷体_GB2312"/>
              </a:rPr>
              <a:t>世纪末期与斯忒藩一起建立了斯忒藩－玻耳兹曼定律。 后期在与马赫的经验主义和奥斯特瓦尔德的唯能论论战中身心俱疲，于</a:t>
            </a:r>
            <a:r>
              <a:rPr lang="en-US" altLang="zh-CN" sz="2200" b="1">
                <a:ea typeface="楷体_GB2312"/>
                <a:cs typeface="楷体_GB2312"/>
              </a:rPr>
              <a:t>1906</a:t>
            </a:r>
            <a:r>
              <a:rPr lang="zh-CN" altLang="en-US" sz="2200" b="1">
                <a:ea typeface="楷体_GB2312"/>
                <a:cs typeface="楷体_GB2312"/>
              </a:rPr>
              <a:t>年</a:t>
            </a:r>
            <a:r>
              <a:rPr lang="en-US" altLang="zh-CN" sz="2200" b="1">
                <a:ea typeface="楷体_GB2312"/>
                <a:cs typeface="楷体_GB2312"/>
              </a:rPr>
              <a:t>9</a:t>
            </a:r>
            <a:r>
              <a:rPr lang="zh-CN" altLang="en-US" sz="2200" b="1">
                <a:ea typeface="楷体_GB2312"/>
                <a:cs typeface="楷体_GB2312"/>
              </a:rPr>
              <a:t>月</a:t>
            </a:r>
            <a:r>
              <a:rPr lang="en-US" altLang="zh-CN" sz="2200" b="1">
                <a:ea typeface="楷体_GB2312"/>
                <a:cs typeface="楷体_GB2312"/>
              </a:rPr>
              <a:t>5</a:t>
            </a:r>
            <a:r>
              <a:rPr lang="zh-CN" altLang="en-US" sz="2200" b="1">
                <a:ea typeface="楷体_GB2312"/>
                <a:cs typeface="楷体_GB2312"/>
              </a:rPr>
              <a:t>日自杀身亡。此人们将公式 </a:t>
            </a:r>
          </a:p>
          <a:p>
            <a:pPr eaLnBrk="1" hangingPunct="1">
              <a:buClrTx/>
              <a:buFontTx/>
              <a:buNone/>
            </a:pPr>
            <a:r>
              <a:rPr lang="zh-CN" altLang="en-US" sz="2200" b="1">
                <a:ea typeface="楷体_GB2312"/>
                <a:cs typeface="楷体_GB2312"/>
              </a:rPr>
              <a:t> </a:t>
            </a:r>
            <a:r>
              <a:rPr lang="en-US" altLang="zh-CN" sz="2200" b="1">
                <a:solidFill>
                  <a:schemeClr val="accent1"/>
                </a:solidFill>
                <a:ea typeface="楷体_GB2312"/>
                <a:cs typeface="楷体_GB2312"/>
              </a:rPr>
              <a:t>S</a:t>
            </a:r>
            <a:r>
              <a:rPr lang="zh-CN" altLang="en-US" sz="2200" b="1">
                <a:solidFill>
                  <a:schemeClr val="accent1"/>
                </a:solidFill>
                <a:ea typeface="楷体_GB2312"/>
                <a:cs typeface="楷体_GB2312"/>
              </a:rPr>
              <a:t>＝</a:t>
            </a:r>
            <a:r>
              <a:rPr lang="en-US" altLang="zh-CN" sz="2200" b="1" i="1">
                <a:solidFill>
                  <a:schemeClr val="accent1"/>
                </a:solidFill>
                <a:ea typeface="楷体_GB2312"/>
                <a:cs typeface="楷体_GB2312"/>
              </a:rPr>
              <a:t>k</a:t>
            </a:r>
            <a:r>
              <a:rPr lang="en-US" altLang="zh-CN" sz="2200" b="1">
                <a:solidFill>
                  <a:schemeClr val="accent1"/>
                </a:solidFill>
                <a:ea typeface="楷体_GB2312"/>
                <a:cs typeface="楷体_GB2312"/>
              </a:rPr>
              <a:t>log</a:t>
            </a:r>
            <a:r>
              <a:rPr lang="en-US" altLang="zh-CN" sz="2200" b="1" i="1">
                <a:solidFill>
                  <a:schemeClr val="accent1"/>
                </a:solidFill>
                <a:ea typeface="楷体_GB2312"/>
                <a:cs typeface="楷体_GB2312"/>
              </a:rPr>
              <a:t>W</a:t>
            </a:r>
            <a:r>
              <a:rPr lang="zh-CN" altLang="en-US" sz="2200" b="1">
                <a:ea typeface="楷体_GB2312"/>
                <a:cs typeface="楷体_GB2312"/>
              </a:rPr>
              <a:t>铭刻在他的墓碑上，以纪念他科学上的不朽功绩</a:t>
            </a:r>
            <a:r>
              <a:rPr lang="en-US" altLang="zh-CN" sz="2200" b="1">
                <a:solidFill>
                  <a:srgbClr val="FF3300"/>
                </a:solidFill>
                <a:ea typeface="楷体_GB2312"/>
                <a:cs typeface="楷体_GB2312"/>
              </a:rPr>
              <a:t>.</a:t>
            </a:r>
          </a:p>
          <a:p>
            <a:pPr eaLnBrk="1" hangingPunct="1">
              <a:buClrTx/>
              <a:buFontTx/>
              <a:buNone/>
            </a:pPr>
            <a:r>
              <a:rPr lang="zh-CN" altLang="en-US" sz="2200" b="1">
                <a:ea typeface="楷体_GB2312"/>
                <a:cs typeface="楷体_GB2312"/>
              </a:rPr>
              <a:t>其经典名著</a:t>
            </a:r>
            <a:r>
              <a:rPr lang="en-US" altLang="zh-CN" sz="2200" b="1">
                <a:ea typeface="楷体_GB2312"/>
                <a:cs typeface="楷体_GB2312"/>
              </a:rPr>
              <a:t>:《</a:t>
            </a:r>
            <a:r>
              <a:rPr lang="zh-CN" altLang="en-US" sz="2200" b="1">
                <a:solidFill>
                  <a:schemeClr val="accent1"/>
                </a:solidFill>
                <a:ea typeface="楷体_GB2312"/>
                <a:cs typeface="楷体_GB2312"/>
              </a:rPr>
              <a:t>气体理论讲义</a:t>
            </a:r>
            <a:r>
              <a:rPr lang="en-US" altLang="zh-CN" sz="2200" b="1">
                <a:ea typeface="楷体_GB2312"/>
                <a:cs typeface="楷体_GB2312"/>
              </a:rPr>
              <a:t>》</a:t>
            </a:r>
            <a:r>
              <a:rPr lang="zh-CN" altLang="en-US" sz="2200" b="1">
                <a:ea typeface="楷体_GB2312"/>
                <a:cs typeface="楷体_GB231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1074"/>
                                        </p:tgtEl>
                                        <p:attrNameLst>
                                          <p:attrName>style.visibility</p:attrName>
                                        </p:attrNameLst>
                                      </p:cBhvr>
                                      <p:to>
                                        <p:strVal val="visible"/>
                                      </p:to>
                                    </p:set>
                                    <p:animEffect transition="in" filter="wipe(down)">
                                      <p:cBhvr>
                                        <p:cTn id="7" dur="500"/>
                                        <p:tgtEl>
                                          <p:spTgt spid="1310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1076"/>
                                        </p:tgtEl>
                                        <p:attrNameLst>
                                          <p:attrName>style.visibility</p:attrName>
                                        </p:attrNameLst>
                                      </p:cBhvr>
                                      <p:to>
                                        <p:strVal val="visible"/>
                                      </p:to>
                                    </p:set>
                                    <p:animEffect transition="in" filter="wipe(left)">
                                      <p:cBhvr>
                                        <p:cTn id="12" dur="500"/>
                                        <p:tgtEl>
                                          <p:spTgt spid="1310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31075"/>
                                        </p:tgtEl>
                                        <p:attrNameLst>
                                          <p:attrName>style.visibility</p:attrName>
                                        </p:attrNameLst>
                                      </p:cBhvr>
                                      <p:to>
                                        <p:strVal val="visible"/>
                                      </p:to>
                                    </p:set>
                                    <p:animEffect transition="in" filter="wipe(down)">
                                      <p:cBhvr>
                                        <p:cTn id="17" dur="500"/>
                                        <p:tgtEl>
                                          <p:spTgt spid="1310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1077"/>
                                        </p:tgtEl>
                                        <p:attrNameLst>
                                          <p:attrName>style.visibility</p:attrName>
                                        </p:attrNameLst>
                                      </p:cBhvr>
                                      <p:to>
                                        <p:strVal val="visible"/>
                                      </p:to>
                                    </p:set>
                                    <p:animEffect transition="in" filter="wipe(down)">
                                      <p:cBhvr>
                                        <p:cTn id="22" dur="500"/>
                                        <p:tgtEl>
                                          <p:spTgt spid="13107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31078"/>
                                        </p:tgtEl>
                                        <p:attrNameLst>
                                          <p:attrName>style.visibility</p:attrName>
                                        </p:attrNameLst>
                                      </p:cBhvr>
                                      <p:to>
                                        <p:strVal val="visible"/>
                                      </p:to>
                                    </p:set>
                                    <p:animEffect transition="in" filter="wipe(down)">
                                      <p:cBhvr>
                                        <p:cTn id="25" dur="500"/>
                                        <p:tgtEl>
                                          <p:spTgt spid="13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p:bldP spid="131077" grpId="0"/>
      <p:bldP spid="13107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B773E152-C48D-45D4-9E0F-74A14071EC83}" type="slidenum">
              <a:rPr kumimoji="0" lang="en-US" altLang="zh-CN" sz="1400" smtClean="0">
                <a:latin typeface="Arial" panose="020B0604020202020204" pitchFamily="34" charset="0"/>
              </a:rPr>
              <a:pPr>
                <a:spcBef>
                  <a:spcPct val="0"/>
                </a:spcBef>
                <a:buClrTx/>
                <a:buFontTx/>
                <a:buNone/>
              </a:pPr>
              <a:t>6</a:t>
            </a:fld>
            <a:endParaRPr kumimoji="0" lang="en-US" altLang="zh-CN" sz="1400">
              <a:latin typeface="Arial" panose="020B0604020202020204" pitchFamily="34" charset="0"/>
            </a:endParaRPr>
          </a:p>
        </p:txBody>
      </p:sp>
      <p:sp>
        <p:nvSpPr>
          <p:cNvPr id="14339" name="Rectangle 2"/>
          <p:cNvSpPr>
            <a:spLocks noGrp="1" noChangeArrowheads="1"/>
          </p:cNvSpPr>
          <p:nvPr>
            <p:ph type="title"/>
          </p:nvPr>
        </p:nvSpPr>
        <p:spPr/>
        <p:txBody>
          <a:bodyPr/>
          <a:lstStyle/>
          <a:p>
            <a:pPr eaLnBrk="1" hangingPunct="1"/>
            <a:endParaRPr lang="en-US" altLang="zh-CN"/>
          </a:p>
        </p:txBody>
      </p:sp>
      <p:sp>
        <p:nvSpPr>
          <p:cNvPr id="14340" name="Rectangle 3"/>
          <p:cNvSpPr>
            <a:spLocks noGrp="1" noChangeArrowheads="1"/>
          </p:cNvSpPr>
          <p:nvPr>
            <p:ph type="body" idx="1"/>
          </p:nvPr>
        </p:nvSpPr>
        <p:spPr>
          <a:xfrm>
            <a:off x="-323850" y="3284538"/>
            <a:ext cx="9467850" cy="5229225"/>
          </a:xfrm>
        </p:spPr>
        <p:txBody>
          <a:bodyPr/>
          <a:lstStyle/>
          <a:p>
            <a:pPr eaLnBrk="1" hangingPunct="1">
              <a:lnSpc>
                <a:spcPct val="80000"/>
              </a:lnSpc>
            </a:pPr>
            <a:r>
              <a:rPr lang="en-US" altLang="zh-CN"/>
              <a:t>In 1869, at age 25, he was appointed full Professor of Mathematical Physics at the </a:t>
            </a:r>
            <a:r>
              <a:rPr lang="en-US" altLang="zh-CN">
                <a:hlinkClick r:id="rId2" tooltip="University of Graz"/>
              </a:rPr>
              <a:t>University of Graz</a:t>
            </a:r>
            <a:r>
              <a:rPr lang="en-US" altLang="zh-CN"/>
              <a:t> in the province of </a:t>
            </a:r>
            <a:r>
              <a:rPr lang="en-US" altLang="zh-CN">
                <a:hlinkClick r:id="rId3" tooltip="Styria"/>
              </a:rPr>
              <a:t>Styria</a:t>
            </a:r>
            <a:r>
              <a:rPr lang="en-US" altLang="zh-CN"/>
              <a:t>. In 1869 he spent several months in </a:t>
            </a:r>
            <a:r>
              <a:rPr lang="en-US" altLang="zh-CN">
                <a:hlinkClick r:id="rId4" tooltip="Heidelberg"/>
              </a:rPr>
              <a:t>Heidelberg</a:t>
            </a:r>
            <a:r>
              <a:rPr lang="en-US" altLang="zh-CN"/>
              <a:t> working with </a:t>
            </a:r>
            <a:r>
              <a:rPr lang="en-US" altLang="zh-CN">
                <a:hlinkClick r:id="rId5" tooltip="Robert Bunsen"/>
              </a:rPr>
              <a:t>Robert Bunsen</a:t>
            </a:r>
            <a:r>
              <a:rPr lang="en-US" altLang="zh-CN"/>
              <a:t> and </a:t>
            </a:r>
            <a:r>
              <a:rPr lang="en-US" altLang="zh-CN">
                <a:hlinkClick r:id="rId6" tooltip="Leo Königsberger"/>
              </a:rPr>
              <a:t>Leo Königsberger</a:t>
            </a:r>
            <a:r>
              <a:rPr lang="en-US" altLang="zh-CN"/>
              <a:t> and then in 1871 he was with </a:t>
            </a:r>
            <a:r>
              <a:rPr lang="en-US" altLang="zh-CN">
                <a:hlinkClick r:id="rId7" tooltip="Gustav Kirchhoff"/>
              </a:rPr>
              <a:t>Gustav Kirchhoff</a:t>
            </a:r>
            <a:r>
              <a:rPr lang="en-US" altLang="zh-CN"/>
              <a:t> and </a:t>
            </a:r>
            <a:r>
              <a:rPr lang="en-US" altLang="zh-CN">
                <a:hlinkClick r:id="rId8" tooltip="Hermann von Helmholtz"/>
              </a:rPr>
              <a:t>Hermann von Helmholtz</a:t>
            </a:r>
            <a:r>
              <a:rPr lang="en-US" altLang="zh-CN"/>
              <a:t> in Berlin. In 1873 Boltzmann joined the </a:t>
            </a:r>
            <a:r>
              <a:rPr lang="en-US" altLang="zh-CN">
                <a:hlinkClick r:id="rId9" tooltip="University of Vienna"/>
              </a:rPr>
              <a:t>University of Vienna</a:t>
            </a:r>
            <a:r>
              <a:rPr lang="en-US" altLang="zh-CN"/>
              <a:t> as Professor of Mathematics and there he stayed until 1876.</a:t>
            </a:r>
          </a:p>
        </p:txBody>
      </p:sp>
      <p:pic>
        <p:nvPicPr>
          <p:cNvPr id="14341" name="Picture 5" descr="Image:Boltzmann-grp.jpg">
            <a:hlinkClick r:id="rId10"/>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92613" y="0"/>
            <a:ext cx="4751387" cy="308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5" name="AutoShape 7"/>
          <p:cNvSpPr>
            <a:spLocks noChangeArrowheads="1"/>
          </p:cNvSpPr>
          <p:nvPr/>
        </p:nvSpPr>
        <p:spPr bwMode="auto">
          <a:xfrm>
            <a:off x="5292725" y="192088"/>
            <a:ext cx="720725" cy="431800"/>
          </a:xfrm>
          <a:prstGeom prst="rightArrow">
            <a:avLst>
              <a:gd name="adj1" fmla="val 50000"/>
              <a:gd name="adj2" fmla="val 41728"/>
            </a:avLst>
          </a:prstGeom>
          <a:solidFill>
            <a:schemeClr val="accent1"/>
          </a:solidFill>
          <a:ln w="12700">
            <a:solidFill>
              <a:schemeClr val="tx1"/>
            </a:solidFill>
            <a:miter lim="800000"/>
            <a:headEnd type="none" w="sm" len="sm"/>
            <a:tailEnd type="none" w="sm" len="sm"/>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pic>
        <p:nvPicPr>
          <p:cNvPr id="14343" name="Picture 8" descr="http://against-the-day.pynchonwiki.com/wiki/images/thumb/9/97/Boltzmann.jpg/200px-Boltzmann.jp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5288" y="0"/>
            <a:ext cx="3367087"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0" name="Picture 2" descr="VASP">
            <a:extLst>
              <a:ext uri="{FF2B5EF4-FFF2-40B4-BE49-F238E27FC236}">
                <a16:creationId xmlns:a16="http://schemas.microsoft.com/office/drawing/2014/main" id="{F7DB171E-6D2C-4A19-9110-F8824E403F0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08568" y="-27384"/>
            <a:ext cx="4063223" cy="2850321"/>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8AD80162-AB95-494B-8B94-AD739BF01C0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805004" y="2867387"/>
            <a:ext cx="4032448" cy="3652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2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 y="1550988"/>
            <a:ext cx="5219700"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sp>
        <p:nvSpPr>
          <p:cNvPr id="15363" name="Rectangle 3"/>
          <p:cNvSpPr>
            <a:spLocks noGrp="1" noChangeArrowheads="1"/>
          </p:cNvSpPr>
          <p:nvPr>
            <p:ph type="title"/>
          </p:nvPr>
        </p:nvSpPr>
        <p:spPr>
          <a:xfrm>
            <a:off x="684213" y="260350"/>
            <a:ext cx="7772400" cy="882650"/>
          </a:xfrm>
        </p:spPr>
        <p:txBody>
          <a:bodyPr/>
          <a:lstStyle/>
          <a:p>
            <a:pPr eaLnBrk="1" hangingPunct="1"/>
            <a:r>
              <a:rPr lang="zh-CN" altLang="en-US" sz="3600"/>
              <a:t>奥托．斯特恩</a:t>
            </a:r>
            <a:r>
              <a:rPr lang="en-US" altLang="zh-CN" sz="3600">
                <a:solidFill>
                  <a:schemeClr val="accent1"/>
                </a:solidFill>
                <a:hlinkClick r:id="rId3"/>
              </a:rPr>
              <a:t>Otto Stern</a:t>
            </a:r>
            <a:r>
              <a:rPr lang="en-US" altLang="zh-CN" sz="3600">
                <a:solidFill>
                  <a:schemeClr val="accent1"/>
                </a:solidFill>
              </a:rPr>
              <a:t>(1888-1969</a:t>
            </a:r>
            <a:r>
              <a:rPr lang="en-US" altLang="zh-CN" sz="3600"/>
              <a:t> )</a:t>
            </a:r>
            <a:r>
              <a:rPr lang="en-US" altLang="zh-CN" sz="4000"/>
              <a:t> </a:t>
            </a:r>
          </a:p>
        </p:txBody>
      </p:sp>
      <p:sp>
        <p:nvSpPr>
          <p:cNvPr id="132100" name="Rectangle 4"/>
          <p:cNvSpPr>
            <a:spLocks noGrp="1" noChangeArrowheads="1"/>
          </p:cNvSpPr>
          <p:nvPr>
            <p:ph type="body" idx="1"/>
          </p:nvPr>
        </p:nvSpPr>
        <p:spPr>
          <a:xfrm>
            <a:off x="5076825" y="1412875"/>
            <a:ext cx="3814763" cy="5256213"/>
          </a:xfrm>
        </p:spPr>
        <p:txBody>
          <a:bodyPr/>
          <a:lstStyle/>
          <a:p>
            <a:pPr eaLnBrk="1" hangingPunct="1">
              <a:lnSpc>
                <a:spcPct val="90000"/>
              </a:lnSpc>
              <a:buFontTx/>
              <a:buNone/>
            </a:pPr>
            <a:r>
              <a:rPr lang="en-US" altLang="zh-CN" sz="2400">
                <a:latin typeface="华文新魏" panose="02010800040101010101" pitchFamily="2" charset="-122"/>
                <a:ea typeface="华文新魏" panose="02010800040101010101" pitchFamily="2" charset="-122"/>
              </a:rPr>
              <a:t>     </a:t>
            </a:r>
            <a:r>
              <a:rPr lang="zh-CN" altLang="en-US" sz="2400">
                <a:latin typeface="华文新魏" panose="02010800040101010101" pitchFamily="2" charset="-122"/>
                <a:ea typeface="华文新魏" panose="02010800040101010101" pitchFamily="2" charset="-122"/>
              </a:rPr>
              <a:t>美国籍德国物理学家奥托．斯特恩出生于波兰的兰扎里（后划归德国）。斯特恩发展了研究原子和原子核性质的分子束方法，证实了原子磁矩的存在，并于</a:t>
            </a:r>
            <a:r>
              <a:rPr lang="en-US" altLang="zh-CN" sz="2400">
                <a:latin typeface="华文新魏" panose="02010800040101010101" pitchFamily="2" charset="-122"/>
                <a:ea typeface="华文新魏" panose="02010800040101010101" pitchFamily="2" charset="-122"/>
              </a:rPr>
              <a:t>1937</a:t>
            </a:r>
            <a:r>
              <a:rPr lang="zh-CN" altLang="en-US" sz="2400">
                <a:latin typeface="华文新魏" panose="02010800040101010101" pitchFamily="2" charset="-122"/>
                <a:ea typeface="华文新魏" panose="02010800040101010101" pitchFamily="2" charset="-122"/>
              </a:rPr>
              <a:t>年找出了测量原子磁矩的方法。由于在原子核研究中做出的重大贡献，斯特恩荣获了</a:t>
            </a:r>
            <a:r>
              <a:rPr lang="en-US" altLang="zh-CN" sz="2400">
                <a:solidFill>
                  <a:srgbClr val="FF0000"/>
                </a:solidFill>
                <a:latin typeface="华文新魏" panose="02010800040101010101" pitchFamily="2" charset="-122"/>
                <a:ea typeface="华文新魏" panose="02010800040101010101" pitchFamily="2" charset="-122"/>
              </a:rPr>
              <a:t>1943</a:t>
            </a:r>
            <a:r>
              <a:rPr lang="zh-CN" altLang="en-US" sz="2400">
                <a:solidFill>
                  <a:srgbClr val="FF0000"/>
                </a:solidFill>
                <a:latin typeface="华文新魏" panose="02010800040101010101" pitchFamily="2" charset="-122"/>
                <a:ea typeface="华文新魏" panose="02010800040101010101" pitchFamily="2" charset="-122"/>
              </a:rPr>
              <a:t>年度的诺贝尔物理学奖</a:t>
            </a:r>
            <a:r>
              <a:rPr lang="zh-CN" altLang="en-US" sz="2400">
                <a:latin typeface="华文新魏" panose="02010800040101010101" pitchFamily="2" charset="-122"/>
                <a:ea typeface="华文新魏" panose="02010800040101010101" pitchFamily="2" charset="-122"/>
              </a:rPr>
              <a:t>。斯特恩（</a:t>
            </a:r>
            <a:r>
              <a:rPr lang="en-US" altLang="zh-CN" sz="2400">
                <a:latin typeface="华文新魏" panose="02010800040101010101" pitchFamily="2" charset="-122"/>
                <a:ea typeface="华文新魏" panose="02010800040101010101" pitchFamily="2" charset="-122"/>
              </a:rPr>
              <a:t>O.Stern)</a:t>
            </a:r>
            <a:r>
              <a:rPr lang="zh-CN" altLang="en-US" sz="2400">
                <a:latin typeface="华文新魏" panose="02010800040101010101" pitchFamily="2" charset="-122"/>
                <a:ea typeface="华文新魏" panose="02010800040101010101" pitchFamily="2" charset="-122"/>
              </a:rPr>
              <a:t>在</a:t>
            </a:r>
            <a:r>
              <a:rPr lang="en-US" altLang="zh-CN" sz="2400">
                <a:latin typeface="华文新魏" panose="02010800040101010101" pitchFamily="2" charset="-122"/>
                <a:ea typeface="华文新魏" panose="02010800040101010101" pitchFamily="2" charset="-122"/>
              </a:rPr>
              <a:t>1920</a:t>
            </a:r>
            <a:r>
              <a:rPr lang="zh-CN" altLang="en-US" sz="2400">
                <a:latin typeface="华文新魏" panose="02010800040101010101" pitchFamily="2" charset="-122"/>
                <a:ea typeface="华文新魏" panose="02010800040101010101" pitchFamily="2" charset="-122"/>
              </a:rPr>
              <a:t>年首先测出银蒸汽分子的速率分布</a:t>
            </a:r>
          </a:p>
        </p:txBody>
      </p:sp>
      <p:sp>
        <p:nvSpPr>
          <p:cNvPr id="132101" name="Rectangle 5"/>
          <p:cNvSpPr>
            <a:spLocks noChangeArrowheads="1"/>
          </p:cNvSpPr>
          <p:nvPr/>
        </p:nvSpPr>
        <p:spPr bwMode="auto">
          <a:xfrm>
            <a:off x="827088" y="188913"/>
            <a:ext cx="77724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ClrTx/>
              <a:buFontTx/>
              <a:buNone/>
            </a:pPr>
            <a:endParaRPr lang="en-US" altLang="zh-CN" sz="2400" b="1" i="1">
              <a:solidFill>
                <a:srgbClr val="FF3300"/>
              </a:solidFill>
              <a:cs typeface="Arial" panose="020B0604020202020204" pitchFamily="34" charset="0"/>
            </a:endParaRPr>
          </a:p>
        </p:txBody>
      </p:sp>
      <p:sp>
        <p:nvSpPr>
          <p:cNvPr id="132102" name="Line 6"/>
          <p:cNvSpPr>
            <a:spLocks noChangeShapeType="1"/>
          </p:cNvSpPr>
          <p:nvPr/>
        </p:nvSpPr>
        <p:spPr bwMode="auto">
          <a:xfrm>
            <a:off x="0" y="1052513"/>
            <a:ext cx="9144000" cy="0"/>
          </a:xfrm>
          <a:prstGeom prst="line">
            <a:avLst/>
          </a:prstGeom>
          <a:noFill/>
          <a:ln w="38100">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132103" name="AutoShape 7" descr="Otto Stern"/>
          <p:cNvSpPr>
            <a:spLocks noChangeAspect="1" noChangeArrowheads="1"/>
          </p:cNvSpPr>
          <p:nvPr/>
        </p:nvSpPr>
        <p:spPr bwMode="auto">
          <a:xfrm>
            <a:off x="-4451350" y="2881313"/>
            <a:ext cx="304800" cy="304800"/>
          </a:xfrm>
          <a:prstGeom prst="rect">
            <a:avLst/>
          </a:prstGeom>
          <a:noFill/>
        </p:spPr>
        <p:txBody>
          <a:bodyPr/>
          <a:lstStyle/>
          <a:p>
            <a:pPr eaLnBrk="1" hangingPunct="1">
              <a:defRPr/>
            </a:pPr>
            <a:endParaRPr lang="en-US">
              <a:effectLst>
                <a:outerShdw blurRad="38100" dist="38100" dir="2700000" algn="tl">
                  <a:srgbClr val="000000">
                    <a:alpha val="43137"/>
                  </a:srgbClr>
                </a:outerShdw>
              </a:effectLst>
            </a:endParaRPr>
          </a:p>
        </p:txBody>
      </p:sp>
      <p:sp>
        <p:nvSpPr>
          <p:cNvPr id="132104" name="AutoShape 8" descr="Otto Stern"/>
          <p:cNvSpPr>
            <a:spLocks noChangeAspect="1" noChangeArrowheads="1"/>
          </p:cNvSpPr>
          <p:nvPr/>
        </p:nvSpPr>
        <p:spPr bwMode="auto">
          <a:xfrm>
            <a:off x="4419600" y="3276600"/>
            <a:ext cx="304800" cy="304800"/>
          </a:xfrm>
          <a:prstGeom prst="rect">
            <a:avLst/>
          </a:prstGeom>
          <a:noFill/>
        </p:spPr>
        <p:txBody>
          <a:bodyPr/>
          <a:lstStyle/>
          <a:p>
            <a:pPr eaLnBrk="1" hangingPunct="1">
              <a:defRPr/>
            </a:pPr>
            <a:endParaRPr lang="en-US">
              <a:effectLst>
                <a:outerShdw blurRad="38100" dist="38100" dir="2700000" algn="tl">
                  <a:srgbClr val="000000">
                    <a:alpha val="43137"/>
                  </a:srgbClr>
                </a:outerShdw>
              </a:effectLst>
            </a:endParaRPr>
          </a:p>
        </p:txBody>
      </p:sp>
      <p:pic>
        <p:nvPicPr>
          <p:cNvPr id="132105" name="Picture 9" descr="otto ster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1627188"/>
            <a:ext cx="2190750"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nodePh="1">
                                  <p:stCondLst>
                                    <p:cond delay="0"/>
                                  </p:stCondLst>
                                  <p:endCondLst>
                                    <p:cond evt="begin" delay="0">
                                      <p:tn val="5"/>
                                    </p:cond>
                                  </p:endCondLst>
                                  <p:childTnLst>
                                    <p:set>
                                      <p:cBhvr>
                                        <p:cTn id="6" dur="1" fill="hold">
                                          <p:stCondLst>
                                            <p:cond delay="0"/>
                                          </p:stCondLst>
                                        </p:cTn>
                                        <p:tgtEl>
                                          <p:spTgt spid="132101"/>
                                        </p:tgtEl>
                                        <p:attrNameLst>
                                          <p:attrName>style.visibility</p:attrName>
                                        </p:attrNameLst>
                                      </p:cBhvr>
                                      <p:to>
                                        <p:strVal val="visible"/>
                                      </p:to>
                                    </p:set>
                                    <p:animEffect transition="in" filter="wipe(down)">
                                      <p:cBhvr>
                                        <p:cTn id="7" dur="500"/>
                                        <p:tgtEl>
                                          <p:spTgt spid="1321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2102"/>
                                        </p:tgtEl>
                                        <p:attrNameLst>
                                          <p:attrName>style.visibility</p:attrName>
                                        </p:attrNameLst>
                                      </p:cBhvr>
                                      <p:to>
                                        <p:strVal val="visible"/>
                                      </p:to>
                                    </p:set>
                                    <p:animEffect transition="in" filter="wipe(left)">
                                      <p:cBhvr>
                                        <p:cTn id="12" dur="500"/>
                                        <p:tgtEl>
                                          <p:spTgt spid="1321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32105"/>
                                        </p:tgtEl>
                                        <p:attrNameLst>
                                          <p:attrName>style.visibility</p:attrName>
                                        </p:attrNameLst>
                                      </p:cBhvr>
                                      <p:to>
                                        <p:strVal val="visible"/>
                                      </p:to>
                                    </p:set>
                                    <p:animEffect transition="in" filter="wipe(down)">
                                      <p:cBhvr>
                                        <p:cTn id="17" dur="500"/>
                                        <p:tgtEl>
                                          <p:spTgt spid="1321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2100">
                                            <p:txEl>
                                              <p:pRg st="0" end="0"/>
                                            </p:txEl>
                                          </p:spTgt>
                                        </p:tgtEl>
                                        <p:attrNameLst>
                                          <p:attrName>style.visibility</p:attrName>
                                        </p:attrNameLst>
                                      </p:cBhvr>
                                      <p:to>
                                        <p:strVal val="visible"/>
                                      </p:to>
                                    </p:set>
                                    <p:animEffect transition="in" filter="wipe(down)">
                                      <p:cBhvr>
                                        <p:cTn id="22" dur="500"/>
                                        <p:tgtEl>
                                          <p:spTgt spid="13210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132098"/>
                                        </p:tgtEl>
                                        <p:attrNameLst>
                                          <p:attrName>style.visibility</p:attrName>
                                        </p:attrNameLst>
                                      </p:cBhvr>
                                      <p:to>
                                        <p:strVal val="visible"/>
                                      </p:to>
                                    </p:set>
                                    <p:animEffect transition="in" filter="wipe(down)">
                                      <p:cBhvr>
                                        <p:cTn id="27" dur="500"/>
                                        <p:tgtEl>
                                          <p:spTgt spid="132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build="p"/>
      <p:bldP spid="132101"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2844800" y="830263"/>
            <a:ext cx="604837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葛正权，</a:t>
            </a:r>
            <a:r>
              <a:rPr lang="zh-CN" altLang="en-US" sz="2400" b="1">
                <a:cs typeface="Arial" panose="020B0604020202020204" pitchFamily="34" charset="0"/>
                <a:hlinkClick r:id="rId2" tooltip="物理学"/>
              </a:rPr>
              <a:t>物理学</a:t>
            </a:r>
            <a:r>
              <a:rPr lang="zh-CN" altLang="en-US" sz="2400" b="1">
                <a:cs typeface="Arial" panose="020B0604020202020204" pitchFamily="34" charset="0"/>
              </a:rPr>
              <a:t>家。在精确验证</a:t>
            </a:r>
            <a:r>
              <a:rPr lang="zh-CN" altLang="en-US" sz="2400" b="1">
                <a:cs typeface="Arial" panose="020B0604020202020204" pitchFamily="34" charset="0"/>
                <a:hlinkClick r:id="rId3" tooltip="麦克斯韦速度分布律"/>
              </a:rPr>
              <a:t>麦克斯韦速度分布律</a:t>
            </a:r>
            <a:r>
              <a:rPr lang="zh-CN" altLang="en-US" sz="2400" b="1">
                <a:cs typeface="Arial" panose="020B0604020202020204" pitchFamily="34" charset="0"/>
              </a:rPr>
              <a:t>方面取得国际公认的重大成就；是中国制氧工业先驱，为国内制氧工业奠定了基础；创建中国第一个雷达研究所，开拓了中国雷达的研究和应用；在物理学教学和应用方面培养了许多人才。</a:t>
            </a:r>
            <a:endParaRPr lang="zh-CN" altLang="en-US" sz="2000" b="1">
              <a:solidFill>
                <a:schemeClr val="accent1"/>
              </a:solidFill>
              <a:latin typeface="华文新魏" panose="02010800040101010101" pitchFamily="2" charset="-122"/>
              <a:ea typeface="华文新魏" panose="02010800040101010101" pitchFamily="2" charset="-122"/>
              <a:cs typeface="Times New Roman" panose="02020603050405020304" pitchFamily="18" charset="0"/>
            </a:endParaRPr>
          </a:p>
        </p:txBody>
      </p:sp>
      <p:pic>
        <p:nvPicPr>
          <p:cNvPr id="133123" name="Picture 3" descr="gzq.gif (9254 byt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363" y="44450"/>
            <a:ext cx="22510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Rectangle 4"/>
          <p:cNvSpPr>
            <a:spLocks noGrp="1" noChangeArrowheads="1"/>
          </p:cNvSpPr>
          <p:nvPr>
            <p:ph type="title"/>
          </p:nvPr>
        </p:nvSpPr>
        <p:spPr>
          <a:xfrm>
            <a:off x="827088" y="188913"/>
            <a:ext cx="7772400" cy="484187"/>
          </a:xfrm>
        </p:spPr>
        <p:txBody>
          <a:bodyPr anchor="ctr"/>
          <a:lstStyle/>
          <a:p>
            <a:pPr eaLnBrk="1" hangingPunct="1"/>
            <a:r>
              <a:rPr lang="zh-CN" altLang="en-US" b="1"/>
              <a:t>葛正权   </a:t>
            </a:r>
            <a:r>
              <a:rPr lang="en-US" altLang="zh-CN" b="1"/>
              <a:t>(1896-1988</a:t>
            </a:r>
            <a:r>
              <a:rPr lang="zh-CN" altLang="en-US" b="1"/>
              <a:t>）</a:t>
            </a:r>
          </a:p>
        </p:txBody>
      </p:sp>
      <p:sp>
        <p:nvSpPr>
          <p:cNvPr id="133125" name="Line 5"/>
          <p:cNvSpPr>
            <a:spLocks noChangeShapeType="1"/>
          </p:cNvSpPr>
          <p:nvPr/>
        </p:nvSpPr>
        <p:spPr bwMode="auto">
          <a:xfrm>
            <a:off x="2844800" y="692150"/>
            <a:ext cx="6299200" cy="0"/>
          </a:xfrm>
          <a:prstGeom prst="line">
            <a:avLst/>
          </a:prstGeom>
          <a:noFill/>
          <a:ln w="38100">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81926" name="矩形 5"/>
          <p:cNvSpPr>
            <a:spLocks noChangeArrowheads="1"/>
          </p:cNvSpPr>
          <p:nvPr/>
        </p:nvSpPr>
        <p:spPr bwMode="auto">
          <a:xfrm>
            <a:off x="428625" y="3143250"/>
            <a:ext cx="9144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en-US" altLang="zh-CN" sz="2000" b="1">
              <a:cs typeface="Arial" panose="020B0604020202020204" pitchFamily="34" charset="0"/>
            </a:endParaRPr>
          </a:p>
          <a:p>
            <a:pPr eaLnBrk="1" hangingPunct="1">
              <a:spcBef>
                <a:spcPct val="0"/>
              </a:spcBef>
              <a:buClrTx/>
              <a:buFontTx/>
              <a:buNone/>
            </a:pPr>
            <a:r>
              <a:rPr lang="en-US" altLang="zh-CN" sz="2000" b="1">
                <a:cs typeface="Arial" panose="020B0604020202020204" pitchFamily="34" charset="0"/>
              </a:rPr>
              <a:t>1896</a:t>
            </a:r>
            <a:r>
              <a:rPr lang="zh-CN" altLang="en-US" sz="2000" b="1">
                <a:cs typeface="Arial" panose="020B0604020202020204" pitchFamily="34" charset="0"/>
              </a:rPr>
              <a:t>年</a:t>
            </a:r>
            <a:r>
              <a:rPr lang="en-US" altLang="zh-CN" sz="2000" b="1">
                <a:cs typeface="Arial" panose="020B0604020202020204" pitchFamily="34" charset="0"/>
              </a:rPr>
              <a:t>1</a:t>
            </a:r>
            <a:r>
              <a:rPr lang="zh-CN" altLang="en-US" sz="2000" b="1">
                <a:cs typeface="Arial" panose="020B0604020202020204" pitchFamily="34" charset="0"/>
              </a:rPr>
              <a:t>月</a:t>
            </a:r>
            <a:r>
              <a:rPr lang="en-US" altLang="zh-CN" sz="2000" b="1">
                <a:cs typeface="Arial" panose="020B0604020202020204" pitchFamily="34" charset="0"/>
              </a:rPr>
              <a:t>18</a:t>
            </a:r>
            <a:r>
              <a:rPr lang="zh-CN" altLang="en-US" sz="2000" b="1">
                <a:cs typeface="Arial" panose="020B0604020202020204" pitchFamily="34" charset="0"/>
              </a:rPr>
              <a:t>日　出生于</a:t>
            </a:r>
            <a:r>
              <a:rPr lang="zh-CN" altLang="en-US" sz="2000" b="1">
                <a:cs typeface="Arial" panose="020B0604020202020204" pitchFamily="34" charset="0"/>
                <a:hlinkClick r:id="rId5" tooltip="浙江省"/>
              </a:rPr>
              <a:t>浙江省</a:t>
            </a:r>
            <a:r>
              <a:rPr lang="zh-CN" altLang="en-US" sz="2000" b="1">
                <a:cs typeface="Arial" panose="020B0604020202020204" pitchFamily="34" charset="0"/>
              </a:rPr>
              <a:t>东阳县。</a:t>
            </a:r>
            <a:br>
              <a:rPr lang="zh-CN" altLang="en-US" sz="2000" b="1">
                <a:cs typeface="Arial" panose="020B0604020202020204" pitchFamily="34" charset="0"/>
              </a:rPr>
            </a:br>
            <a:r>
              <a:rPr lang="en-US" altLang="zh-CN" sz="2000" b="1">
                <a:cs typeface="Arial" panose="020B0604020202020204" pitchFamily="34" charset="0"/>
              </a:rPr>
              <a:t>1917—1920</a:t>
            </a:r>
            <a:r>
              <a:rPr lang="zh-CN" altLang="en-US" sz="2000" b="1">
                <a:cs typeface="Arial" panose="020B0604020202020204" pitchFamily="34" charset="0"/>
              </a:rPr>
              <a:t>年　在南京高等师范学校学习。</a:t>
            </a:r>
            <a:br>
              <a:rPr lang="zh-CN" altLang="en-US" sz="2000" b="1">
                <a:cs typeface="Arial" panose="020B0604020202020204" pitchFamily="34" charset="0"/>
              </a:rPr>
            </a:br>
            <a:r>
              <a:rPr lang="en-US" altLang="zh-CN" sz="2000" b="1">
                <a:cs typeface="Arial" panose="020B0604020202020204" pitchFamily="34" charset="0"/>
              </a:rPr>
              <a:t>1920—1923</a:t>
            </a:r>
            <a:r>
              <a:rPr lang="zh-CN" altLang="en-US" sz="2000" b="1">
                <a:cs typeface="Arial" panose="020B0604020202020204" pitchFamily="34" charset="0"/>
              </a:rPr>
              <a:t>年　任南京高等师范学校助教。</a:t>
            </a:r>
            <a:br>
              <a:rPr lang="zh-CN" altLang="en-US" sz="2000" b="1">
                <a:cs typeface="Arial" panose="020B0604020202020204" pitchFamily="34" charset="0"/>
              </a:rPr>
            </a:br>
            <a:r>
              <a:rPr lang="en-US" altLang="zh-CN" sz="2000" b="1">
                <a:cs typeface="Arial" panose="020B0604020202020204" pitchFamily="34" charset="0"/>
              </a:rPr>
              <a:t>1923—1927</a:t>
            </a:r>
            <a:r>
              <a:rPr lang="zh-CN" altLang="en-US" sz="2000" b="1">
                <a:cs typeface="Arial" panose="020B0604020202020204" pitchFamily="34" charset="0"/>
              </a:rPr>
              <a:t>年　任</a:t>
            </a:r>
            <a:r>
              <a:rPr lang="zh-CN" altLang="en-US" sz="2000" b="1">
                <a:cs typeface="Arial" panose="020B0604020202020204" pitchFamily="34" charset="0"/>
                <a:hlinkClick r:id="rId6" tooltip="厦门大学"/>
              </a:rPr>
              <a:t>厦门大学</a:t>
            </a:r>
            <a:r>
              <a:rPr lang="zh-CN" altLang="en-US" sz="2000" b="1">
                <a:cs typeface="Arial" panose="020B0604020202020204" pitchFamily="34" charset="0"/>
              </a:rPr>
              <a:t>物理系助教。</a:t>
            </a:r>
            <a:br>
              <a:rPr lang="zh-CN" altLang="en-US" sz="2000" b="1">
                <a:cs typeface="Arial" panose="020B0604020202020204" pitchFamily="34" charset="0"/>
              </a:rPr>
            </a:br>
            <a:r>
              <a:rPr lang="en-US" altLang="zh-CN" sz="2000" b="1">
                <a:cs typeface="Arial" panose="020B0604020202020204" pitchFamily="34" charset="0"/>
              </a:rPr>
              <a:t>1929—1930</a:t>
            </a:r>
            <a:r>
              <a:rPr lang="zh-CN" altLang="en-US" sz="2000" b="1">
                <a:cs typeface="Arial" panose="020B0604020202020204" pitchFamily="34" charset="0"/>
              </a:rPr>
              <a:t>年　在</a:t>
            </a:r>
            <a:r>
              <a:rPr lang="zh-CN" altLang="en-US" sz="2000" b="1">
                <a:cs typeface="Arial" panose="020B0604020202020204" pitchFamily="34" charset="0"/>
                <a:hlinkClick r:id="rId7" tooltip="洛杉矶"/>
              </a:rPr>
              <a:t>洛杉矶</a:t>
            </a:r>
            <a:r>
              <a:rPr lang="zh-CN" altLang="en-US" sz="2000" b="1">
                <a:cs typeface="Arial" panose="020B0604020202020204" pitchFamily="34" charset="0"/>
              </a:rPr>
              <a:t>南加州大学物理系学习，获硕士学位。</a:t>
            </a:r>
            <a:br>
              <a:rPr lang="zh-CN" altLang="en-US" sz="2000" b="1">
                <a:cs typeface="Arial" panose="020B0604020202020204" pitchFamily="34" charset="0"/>
              </a:rPr>
            </a:br>
            <a:r>
              <a:rPr lang="en-US" altLang="zh-CN" sz="2000" b="1">
                <a:cs typeface="Arial" panose="020B0604020202020204" pitchFamily="34" charset="0"/>
              </a:rPr>
              <a:t>1931—1933</a:t>
            </a:r>
            <a:r>
              <a:rPr lang="zh-CN" altLang="en-US" sz="2000" b="1">
                <a:cs typeface="Arial" panose="020B0604020202020204" pitchFamily="34" charset="0"/>
              </a:rPr>
              <a:t>年　在伯克利加州大学学习，获哲学博士学位。</a:t>
            </a:r>
            <a:br>
              <a:rPr lang="zh-CN" altLang="en-US" sz="2000" b="1">
                <a:cs typeface="Arial" panose="020B0604020202020204" pitchFamily="34" charset="0"/>
              </a:rPr>
            </a:br>
            <a:r>
              <a:rPr lang="en-US" altLang="zh-CN" sz="2000" b="1">
                <a:cs typeface="Arial" panose="020B0604020202020204" pitchFamily="34" charset="0"/>
              </a:rPr>
              <a:t>1934—1938</a:t>
            </a:r>
            <a:r>
              <a:rPr lang="zh-CN" altLang="en-US" sz="2000" b="1">
                <a:cs typeface="Arial" panose="020B0604020202020204" pitchFamily="34" charset="0"/>
              </a:rPr>
              <a:t>年　任</a:t>
            </a:r>
            <a:r>
              <a:rPr lang="zh-CN" altLang="en-US" sz="2000" b="1">
                <a:cs typeface="Arial" panose="020B0604020202020204" pitchFamily="34" charset="0"/>
                <a:hlinkClick r:id="rId8" tooltip="武汉大学"/>
              </a:rPr>
              <a:t>武汉大学</a:t>
            </a:r>
            <a:r>
              <a:rPr lang="zh-CN" altLang="en-US" sz="2000" b="1">
                <a:cs typeface="Arial" panose="020B0604020202020204" pitchFamily="34" charset="0"/>
              </a:rPr>
              <a:t>物理系教授。</a:t>
            </a:r>
            <a:br>
              <a:rPr lang="zh-CN" altLang="en-US" sz="2000" b="1">
                <a:cs typeface="Arial" panose="020B0604020202020204" pitchFamily="34" charset="0"/>
              </a:rPr>
            </a:br>
            <a:r>
              <a:rPr lang="en-US" altLang="zh-CN" sz="2000" b="1">
                <a:cs typeface="Arial" panose="020B0604020202020204" pitchFamily="34" charset="0"/>
              </a:rPr>
              <a:t>1938—1946</a:t>
            </a:r>
            <a:r>
              <a:rPr lang="zh-CN" altLang="en-US" sz="2000" b="1">
                <a:cs typeface="Arial" panose="020B0604020202020204" pitchFamily="34" charset="0"/>
              </a:rPr>
              <a:t>年　任航空委员会第一气体制造所所长，空军氧气制造总厂厂长。</a:t>
            </a:r>
            <a:br>
              <a:rPr lang="zh-CN" altLang="en-US" sz="2000" b="1">
                <a:cs typeface="Arial" panose="020B0604020202020204" pitchFamily="34" charset="0"/>
              </a:rPr>
            </a:br>
            <a:r>
              <a:rPr lang="en-US" altLang="zh-CN" sz="2000" b="1">
                <a:cs typeface="Arial" panose="020B0604020202020204" pitchFamily="34" charset="0"/>
              </a:rPr>
              <a:t>1946—1949</a:t>
            </a:r>
            <a:r>
              <a:rPr lang="zh-CN" altLang="en-US" sz="2000" b="1">
                <a:cs typeface="Arial" panose="020B0604020202020204" pitchFamily="34" charset="0"/>
              </a:rPr>
              <a:t>年　任国防科学研究发展厅设计处处长兼雷达研究所所长。</a:t>
            </a:r>
            <a:br>
              <a:rPr lang="zh-CN" altLang="en-US" sz="2000" b="1">
                <a:cs typeface="Arial" panose="020B0604020202020204" pitchFamily="34" charset="0"/>
              </a:rPr>
            </a:br>
            <a:r>
              <a:rPr lang="en-US" altLang="zh-CN" sz="2000" b="1">
                <a:cs typeface="Arial" panose="020B0604020202020204" pitchFamily="34" charset="0"/>
              </a:rPr>
              <a:t>1951—1988</a:t>
            </a:r>
            <a:r>
              <a:rPr lang="zh-CN" altLang="en-US" sz="2000" b="1">
                <a:cs typeface="Arial" panose="020B0604020202020204" pitchFamily="34" charset="0"/>
              </a:rPr>
              <a:t>年　任上海第二军医大学教授兼数理教研室主任。</a:t>
            </a:r>
            <a:br>
              <a:rPr lang="zh-CN" altLang="en-US" sz="2000" b="1">
                <a:cs typeface="Arial" panose="020B0604020202020204" pitchFamily="34" charset="0"/>
              </a:rPr>
            </a:br>
            <a:r>
              <a:rPr lang="en-US" altLang="zh-CN" sz="2000" b="1">
                <a:cs typeface="Arial" panose="020B0604020202020204" pitchFamily="34" charset="0"/>
              </a:rPr>
              <a:t>1988</a:t>
            </a:r>
            <a:r>
              <a:rPr lang="zh-CN" altLang="en-US" sz="2000" b="1">
                <a:cs typeface="Arial" panose="020B0604020202020204" pitchFamily="34" charset="0"/>
              </a:rPr>
              <a:t>年</a:t>
            </a:r>
            <a:r>
              <a:rPr lang="en-US" altLang="zh-CN" sz="2000" b="1">
                <a:cs typeface="Arial" panose="020B0604020202020204" pitchFamily="34" charset="0"/>
              </a:rPr>
              <a:t>3</a:t>
            </a:r>
            <a:r>
              <a:rPr lang="zh-CN" altLang="en-US" sz="2000" b="1">
                <a:cs typeface="Arial" panose="020B0604020202020204" pitchFamily="34" charset="0"/>
              </a:rPr>
              <a:t>月</a:t>
            </a:r>
            <a:r>
              <a:rPr lang="en-US" altLang="zh-CN" sz="2000" b="1">
                <a:cs typeface="Arial" panose="020B0604020202020204" pitchFamily="34" charset="0"/>
              </a:rPr>
              <a:t>22</a:t>
            </a:r>
            <a:r>
              <a:rPr lang="zh-CN" altLang="en-US" sz="2000" b="1">
                <a:cs typeface="Arial" panose="020B0604020202020204" pitchFamily="34" charset="0"/>
              </a:rPr>
              <a:t>日　逝世于</a:t>
            </a:r>
            <a:r>
              <a:rPr lang="zh-CN" altLang="en-US" sz="2000" b="1">
                <a:cs typeface="Arial" panose="020B0604020202020204" pitchFamily="34" charset="0"/>
                <a:hlinkClick r:id="rId9" tooltip="上海"/>
              </a:rPr>
              <a:t>上海</a:t>
            </a:r>
            <a:r>
              <a:rPr lang="zh-CN" altLang="en-US" sz="2000" b="1">
                <a:cs typeface="Arial" panose="020B0604020202020204" pitchFamily="34" charset="0"/>
              </a:rPr>
              <a:t>。</a:t>
            </a:r>
            <a:endParaRPr lang="zh-CN" altLang="en-US" sz="2000" b="1">
              <a:solidFill>
                <a:schemeClr val="accent1"/>
              </a:solidFill>
              <a:latin typeface="华文新魏" panose="02010800040101010101" pitchFamily="2" charset="-122"/>
              <a:ea typeface="华文新魏" panose="0201080004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3125"/>
                                        </p:tgtEl>
                                        <p:attrNameLst>
                                          <p:attrName>style.visibility</p:attrName>
                                        </p:attrNameLst>
                                      </p:cBhvr>
                                      <p:to>
                                        <p:strVal val="visible"/>
                                      </p:to>
                                    </p:set>
                                    <p:animEffect transition="in" filter="wipe(left)">
                                      <p:cBhvr>
                                        <p:cTn id="7" dur="500"/>
                                        <p:tgtEl>
                                          <p:spTgt spid="1331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3124"/>
                                        </p:tgtEl>
                                        <p:attrNameLst>
                                          <p:attrName>style.visibility</p:attrName>
                                        </p:attrNameLst>
                                      </p:cBhvr>
                                      <p:to>
                                        <p:strVal val="visible"/>
                                      </p:to>
                                    </p:set>
                                    <p:animEffect transition="in" filter="wipe(down)">
                                      <p:cBhvr>
                                        <p:cTn id="12" dur="500"/>
                                        <p:tgtEl>
                                          <p:spTgt spid="1331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33123"/>
                                        </p:tgtEl>
                                        <p:attrNameLst>
                                          <p:attrName>style.visibility</p:attrName>
                                        </p:attrNameLst>
                                      </p:cBhvr>
                                      <p:to>
                                        <p:strVal val="visible"/>
                                      </p:to>
                                    </p:set>
                                    <p:animEffect transition="in" filter="wipe(down)">
                                      <p:cBhvr>
                                        <p:cTn id="17" dur="500"/>
                                        <p:tgtEl>
                                          <p:spTgt spid="1331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3122"/>
                                        </p:tgtEl>
                                        <p:attrNameLst>
                                          <p:attrName>style.visibility</p:attrName>
                                        </p:attrNameLst>
                                      </p:cBhvr>
                                      <p:to>
                                        <p:strVal val="visible"/>
                                      </p:to>
                                    </p:set>
                                    <p:animEffect transition="in" filter="wipe(down)">
                                      <p:cBhvr>
                                        <p:cTn id="22" dur="500"/>
                                        <p:tgtEl>
                                          <p:spTgt spid="1331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p:bldP spid="133124" grpId="0"/>
      <p:bldP spid="819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1071563" y="0"/>
            <a:ext cx="6886575" cy="833438"/>
          </a:xfrm>
        </p:spPr>
        <p:txBody>
          <a:bodyPr/>
          <a:lstStyle/>
          <a:p>
            <a:r>
              <a:rPr lang="zh-CN" altLang="en-US" b="1"/>
              <a:t>葛正权</a:t>
            </a:r>
            <a:r>
              <a:rPr lang="en-US" altLang="zh-CN" b="1"/>
              <a:t>-</a:t>
            </a:r>
            <a:r>
              <a:rPr lang="zh-CN" altLang="en-US" b="1"/>
              <a:t>生平概况</a:t>
            </a:r>
            <a:endParaRPr lang="en-US" altLang="zh-CN"/>
          </a:p>
        </p:txBody>
      </p:sp>
      <p:sp>
        <p:nvSpPr>
          <p:cNvPr id="17411" name="内容占位符 2"/>
          <p:cNvSpPr>
            <a:spLocks noGrp="1"/>
          </p:cNvSpPr>
          <p:nvPr>
            <p:ph idx="1"/>
          </p:nvPr>
        </p:nvSpPr>
        <p:spPr>
          <a:xfrm>
            <a:off x="-142875" y="928688"/>
            <a:ext cx="9144000" cy="4114800"/>
          </a:xfrm>
        </p:spPr>
        <p:txBody>
          <a:bodyPr/>
          <a:lstStyle/>
          <a:p>
            <a:r>
              <a:rPr lang="en-US" altLang="zh-CN" sz="1500"/>
              <a:t>1917</a:t>
            </a:r>
            <a:r>
              <a:rPr lang="zh-CN" altLang="en-US" sz="1500"/>
              <a:t>年葛正权高中毕业，到</a:t>
            </a:r>
            <a:r>
              <a:rPr lang="zh-CN" altLang="en-US" sz="1500">
                <a:hlinkClick r:id="rId2" tooltip="南京"/>
              </a:rPr>
              <a:t>南京</a:t>
            </a:r>
            <a:r>
              <a:rPr lang="zh-CN" altLang="en-US" sz="1500"/>
              <a:t>考取河海工程学校。一年后转到收费较低的南京高等师范工科。</a:t>
            </a:r>
            <a:r>
              <a:rPr lang="en-US" altLang="zh-CN" sz="1500"/>
              <a:t>1920</a:t>
            </a:r>
            <a:r>
              <a:rPr lang="zh-CN" altLang="en-US" sz="1500"/>
              <a:t>年毕业后留校任工科助教，课余兼工厂实习课。其间他学会车、钳、铸造等多种工艺，打下了既能动脑又能动手的良好基础。</a:t>
            </a:r>
            <a:r>
              <a:rPr lang="en-US" altLang="zh-CN" sz="1500"/>
              <a:t>3</a:t>
            </a:r>
            <a:r>
              <a:rPr lang="zh-CN" altLang="en-US" sz="1500"/>
              <a:t>年后，受聘于</a:t>
            </a:r>
            <a:r>
              <a:rPr lang="zh-CN" altLang="en-US" sz="1500">
                <a:hlinkClick r:id="rId3" tooltip="厦门大学"/>
              </a:rPr>
              <a:t>厦门大学</a:t>
            </a:r>
            <a:r>
              <a:rPr lang="zh-CN" altLang="en-US" sz="1500"/>
              <a:t>，任物理课助教。由于工作勤奋，为校长</a:t>
            </a:r>
            <a:r>
              <a:rPr lang="zh-CN" altLang="en-US" sz="1500">
                <a:hlinkClick r:id="rId4" tooltip="林文庆"/>
              </a:rPr>
              <a:t>林文庆</a:t>
            </a:r>
            <a:r>
              <a:rPr lang="zh-CN" altLang="en-US" sz="1500"/>
              <a:t>器重，被委以私人秘书，陪同前往</a:t>
            </a:r>
            <a:r>
              <a:rPr lang="zh-CN" altLang="en-US" sz="1500">
                <a:hlinkClick r:id="rId5" tooltip="新加坡"/>
              </a:rPr>
              <a:t>新加坡</a:t>
            </a:r>
            <a:r>
              <a:rPr lang="zh-CN" altLang="en-US" sz="1500"/>
              <a:t>，与董事长</a:t>
            </a:r>
            <a:r>
              <a:rPr lang="zh-CN" altLang="en-US" sz="1500">
                <a:hlinkClick r:id="rId6" tooltip="陈嘉庚"/>
              </a:rPr>
              <a:t>陈嘉庚</a:t>
            </a:r>
            <a:r>
              <a:rPr lang="zh-CN" altLang="en-US" sz="1500"/>
              <a:t>先生商量校务。事毕，他在</a:t>
            </a:r>
            <a:r>
              <a:rPr lang="zh-CN" altLang="en-US" sz="1500">
                <a:hlinkClick r:id="rId7" tooltip="南洋"/>
              </a:rPr>
              <a:t>南洋</a:t>
            </a:r>
            <a:r>
              <a:rPr lang="zh-CN" altLang="en-US" sz="1500"/>
              <a:t>当了一年教员，趁暑假漫游了南洋群岛及马来西亚等</a:t>
            </a:r>
            <a:r>
              <a:rPr lang="en-US" altLang="zh-CN" sz="1500"/>
              <a:t>13</a:t>
            </a:r>
            <a:r>
              <a:rPr lang="zh-CN" altLang="en-US" sz="1500"/>
              <a:t>个岛国。回国后适逢友人</a:t>
            </a:r>
            <a:r>
              <a:rPr lang="zh-CN" altLang="en-US" sz="1500">
                <a:hlinkClick r:id="rId8" tooltip="刘树杞"/>
              </a:rPr>
              <a:t>刘树杞</a:t>
            </a:r>
            <a:r>
              <a:rPr lang="zh-CN" altLang="en-US" sz="1500"/>
              <a:t>出任湖北省教育厅长，应邀在教育厅任省督学一年多，走遍了湖北各县、区。这使他视野大开。眼见中国社会落后，灾荒频仍，几无工业可言，从此萌生“教育救国”、“工业救国”之志。在这期间，他勤奋地工作，节衣缩食，凑齐了去</a:t>
            </a:r>
            <a:r>
              <a:rPr lang="zh-CN" altLang="en-US" sz="1500">
                <a:hlinkClick r:id="rId9" tooltip="美国"/>
              </a:rPr>
              <a:t>美国</a:t>
            </a:r>
            <a:r>
              <a:rPr lang="zh-CN" altLang="en-US" sz="1500"/>
              <a:t>的船票钱及一学年的最低学费。</a:t>
            </a:r>
            <a:r>
              <a:rPr lang="en-US" altLang="zh-CN" sz="1500"/>
              <a:t>1929</a:t>
            </a:r>
            <a:r>
              <a:rPr lang="zh-CN" altLang="en-US" sz="1500"/>
              <a:t>年辞去国内职务，登上海轮，历</a:t>
            </a:r>
            <a:r>
              <a:rPr lang="en-US" altLang="zh-CN" sz="1500"/>
              <a:t>18</a:t>
            </a:r>
            <a:r>
              <a:rPr lang="zh-CN" altLang="en-US" sz="1500"/>
              <a:t>昼夜，横渡</a:t>
            </a:r>
            <a:r>
              <a:rPr lang="zh-CN" altLang="en-US" sz="1500">
                <a:hlinkClick r:id="rId10" tooltip="太平洋"/>
              </a:rPr>
              <a:t>太平洋</a:t>
            </a:r>
            <a:r>
              <a:rPr lang="zh-CN" altLang="en-US" sz="1500"/>
              <a:t>到了美国</a:t>
            </a:r>
            <a:r>
              <a:rPr lang="zh-CN" altLang="en-US" sz="1500">
                <a:hlinkClick r:id="rId11" tooltip="洛杉矶"/>
              </a:rPr>
              <a:t>洛杉矶</a:t>
            </a:r>
            <a:r>
              <a:rPr lang="zh-CN" altLang="en-US" sz="1500"/>
              <a:t>。一个山村普通农民家庭的子弟，没有任何社会背景，以其自强不息的毅力，一步步地走向了成功之路。</a:t>
            </a:r>
          </a:p>
          <a:p>
            <a:r>
              <a:rPr lang="zh-CN" altLang="en-US" sz="1600"/>
              <a:t>去美国当年即考入洛杉矶</a:t>
            </a:r>
            <a:r>
              <a:rPr lang="zh-CN" altLang="en-US" sz="1600">
                <a:hlinkClick r:id="rId12" tooltip="南加州大学"/>
              </a:rPr>
              <a:t>南加州大学</a:t>
            </a:r>
            <a:r>
              <a:rPr lang="zh-CN" altLang="en-US" sz="1600"/>
              <a:t>物理系，完成论文</a:t>
            </a:r>
            <a:r>
              <a:rPr lang="en-US" altLang="zh-CN" sz="1600"/>
              <a:t>《</a:t>
            </a:r>
            <a:r>
              <a:rPr lang="zh-CN" altLang="en-US" sz="1600"/>
              <a:t>短波干涉仪</a:t>
            </a:r>
            <a:r>
              <a:rPr lang="en-US" altLang="zh-CN" sz="1600"/>
              <a:t>》 </a:t>
            </a:r>
            <a:r>
              <a:rPr lang="zh-CN" altLang="en-US" sz="1600"/>
              <a:t>，</a:t>
            </a:r>
            <a:r>
              <a:rPr lang="en-US" altLang="zh-CN" sz="1600"/>
              <a:t>1930</a:t>
            </a:r>
            <a:r>
              <a:rPr lang="zh-CN" altLang="en-US" sz="1600"/>
              <a:t>年获硕士学位。该课题原是指导教师在</a:t>
            </a:r>
            <a:r>
              <a:rPr lang="zh-CN" altLang="en-US" sz="1600">
                <a:hlinkClick r:id="rId13" tooltip="伯克利加州大学"/>
              </a:rPr>
              <a:t>伯克利加州大学</a:t>
            </a:r>
            <a:r>
              <a:rPr lang="zh-CN" altLang="en-US" sz="1600"/>
              <a:t>没完成的课题，一个不显眼的中国年轻人，居然只用一年时间就完成了。这使指导教师异常惊奇，也使葛正权攻克科学的信心倍增。第二年他考入伯克利加州大学，申请到洛氏基金奖学金，结束了替人洗碗、打扫房间、摘水果等等以工助学的生活，得以专心致志地从事学习和研究。经过</a:t>
            </a:r>
            <a:r>
              <a:rPr lang="en-US" altLang="zh-CN" sz="1600"/>
              <a:t>3</a:t>
            </a:r>
            <a:r>
              <a:rPr lang="zh-CN" altLang="en-US" sz="1600"/>
              <a:t>年艰苦不懈的努力，他用分子束测定Ｂｉ</a:t>
            </a:r>
            <a:r>
              <a:rPr lang="en-US" altLang="zh-CN" sz="1600"/>
              <a:t>2</a:t>
            </a:r>
            <a:r>
              <a:rPr lang="zh-CN" altLang="en-US" sz="1600"/>
              <a:t>分解热和验证</a:t>
            </a:r>
            <a:r>
              <a:rPr lang="zh-CN" altLang="en-US" sz="1600">
                <a:solidFill>
                  <a:schemeClr val="accent1"/>
                </a:solidFill>
              </a:rPr>
              <a:t>麦克斯韦速度分布律成功</a:t>
            </a:r>
            <a:r>
              <a:rPr lang="zh-CN" altLang="en-US" sz="1600"/>
              <a:t>，取得国际上领先的成果，获得了哲学博士学位。</a:t>
            </a:r>
          </a:p>
          <a:p>
            <a:r>
              <a:rPr lang="en-US" altLang="zh-CN" sz="1600"/>
              <a:t>1933</a:t>
            </a:r>
            <a:r>
              <a:rPr lang="zh-CN" altLang="en-US" sz="1600"/>
              <a:t>年，他学成回国，受聘为</a:t>
            </a:r>
            <a:r>
              <a:rPr lang="zh-CN" altLang="en-US" sz="1600">
                <a:hlinkClick r:id="rId14" tooltip="武汉大学"/>
              </a:rPr>
              <a:t>武汉大学</a:t>
            </a:r>
            <a:r>
              <a:rPr lang="zh-CN" altLang="en-US" sz="1600"/>
              <a:t>物理学教授。不久</a:t>
            </a:r>
            <a:r>
              <a:rPr lang="zh-CN" altLang="en-US" sz="1600">
                <a:hlinkClick r:id="rId15" tooltip="日本"/>
              </a:rPr>
              <a:t>日本</a:t>
            </a:r>
            <a:r>
              <a:rPr lang="zh-CN" altLang="en-US" sz="1600"/>
              <a:t>侵略军践踏中国土，他深感民族存亡问题重大，于</a:t>
            </a:r>
            <a:r>
              <a:rPr lang="en-US" altLang="zh-CN" sz="1600"/>
              <a:t>1938</a:t>
            </a:r>
            <a:r>
              <a:rPr lang="zh-CN" altLang="en-US" sz="1600"/>
              <a:t>年投笔从戎，受聘任航空委员会第一气体制造所所长。抗日战争胜利后，任重庆国民政府空军制氧总厂厂长。后辞去总厂职务，任</a:t>
            </a:r>
            <a:r>
              <a:rPr lang="zh-CN" altLang="en-US" sz="1600">
                <a:hlinkClick r:id="rId16" tooltip="重庆"/>
              </a:rPr>
              <a:t>重庆</a:t>
            </a:r>
            <a:r>
              <a:rPr lang="zh-CN" altLang="en-US" sz="1600"/>
              <a:t>政府国防部第六厅设计处处长。在设计处长任内，曾赴</a:t>
            </a:r>
            <a:r>
              <a:rPr lang="zh-CN" altLang="en-US" sz="1600">
                <a:hlinkClick r:id="rId17" tooltip="上海"/>
              </a:rPr>
              <a:t>上海</a:t>
            </a:r>
            <a:r>
              <a:rPr lang="zh-CN" altLang="en-US" sz="1600"/>
              <a:t>、</a:t>
            </a:r>
            <a:r>
              <a:rPr lang="zh-CN" altLang="en-US" sz="1600">
                <a:hlinkClick r:id="rId18" tooltip="青岛"/>
              </a:rPr>
              <a:t>青岛</a:t>
            </a:r>
            <a:r>
              <a:rPr lang="zh-CN" altLang="en-US" sz="1600"/>
              <a:t>等地接管美军剩余军用物资。其间他深有远见地意识到雷达对中国国防的重要性，便于</a:t>
            </a:r>
            <a:r>
              <a:rPr lang="en-US" altLang="zh-CN" sz="1600"/>
              <a:t>1947</a:t>
            </a:r>
            <a:r>
              <a:rPr lang="zh-CN" altLang="en-US" sz="1600"/>
              <a:t>年办起了雷达修理所，随后又办起雷达研究所。</a:t>
            </a:r>
            <a:r>
              <a:rPr lang="en-US" altLang="zh-CN" sz="1600"/>
              <a:t>1949</a:t>
            </a:r>
            <a:r>
              <a:rPr lang="zh-CN" altLang="en-US" sz="1600"/>
              <a:t>年当南京政府溃败逃往</a:t>
            </a:r>
            <a:r>
              <a:rPr lang="zh-CN" altLang="en-US" sz="1600">
                <a:hlinkClick r:id="rId19" tooltip="台湾"/>
              </a:rPr>
              <a:t>台湾</a:t>
            </a:r>
            <a:r>
              <a:rPr lang="zh-CN" altLang="en-US" sz="1600"/>
              <a:t>时，葛正权在战乱中把全部雷达设备完整地保留下来，迎来了中华人民共和国成立。</a:t>
            </a:r>
            <a:r>
              <a:rPr lang="en-US" altLang="zh-CN" sz="1600"/>
              <a:t>1950</a:t>
            </a:r>
            <a:r>
              <a:rPr lang="zh-CN" altLang="en-US" sz="1600"/>
              <a:t>年他因病辞去雷达研究所所长职务，病愈后应聘为上海第二军医大学教授兼数理教研室主任，直至</a:t>
            </a:r>
            <a:r>
              <a:rPr lang="en-US" altLang="zh-CN" sz="1600"/>
              <a:t>1988</a:t>
            </a:r>
            <a:r>
              <a:rPr lang="zh-CN" altLang="en-US" sz="1600"/>
              <a:t>年逝世。</a:t>
            </a:r>
          </a:p>
          <a:p>
            <a:endParaRPr lang="en-US" altLang="zh-CN" sz="1500"/>
          </a:p>
        </p:txBody>
      </p:sp>
      <p:sp>
        <p:nvSpPr>
          <p:cNvPr id="1741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F02D0AD7-4AB1-4AD5-BD1D-1CEE9F13671D}" type="slidenum">
              <a:rPr kumimoji="0" lang="en-US" altLang="zh-CN" sz="1400" smtClean="0">
                <a:latin typeface="Arial" panose="020B0604020202020204" pitchFamily="34" charset="0"/>
              </a:rPr>
              <a:pPr>
                <a:spcBef>
                  <a:spcPct val="0"/>
                </a:spcBef>
                <a:buClrTx/>
                <a:buFontTx/>
                <a:buNone/>
              </a:pPr>
              <a:t>9</a:t>
            </a:fld>
            <a:endParaRPr kumimoji="0" lang="en-US" altLang="zh-CN" sz="1400">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304800" y="731838"/>
            <a:ext cx="830580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00FFFF"/>
                </a:solidFill>
                <a:cs typeface="Arial" panose="020B0604020202020204" pitchFamily="34" charset="0"/>
              </a:rPr>
              <a:t> </a:t>
            </a:r>
            <a:r>
              <a:rPr lang="zh-CN" altLang="en-US" sz="2400" b="1">
                <a:solidFill>
                  <a:srgbClr val="00FFFF"/>
                </a:solidFill>
                <a:cs typeface="Arial" panose="020B0604020202020204" pitchFamily="34" charset="0"/>
              </a:rPr>
              <a:t>实验和理论都表明：气体分子的速率服从确定的分布规律。</a:t>
            </a:r>
          </a:p>
          <a:p>
            <a:pPr eaLnBrk="1" hangingPunct="1">
              <a:lnSpc>
                <a:spcPct val="120000"/>
              </a:lnSpc>
              <a:spcBef>
                <a:spcPct val="0"/>
              </a:spcBef>
              <a:buClrTx/>
              <a:buFontTx/>
              <a:buNone/>
            </a:pPr>
            <a:r>
              <a:rPr lang="zh-CN" altLang="en-US" sz="2800" b="1">
                <a:solidFill>
                  <a:schemeClr val="folHlink"/>
                </a:solidFill>
                <a:cs typeface="Arial" panose="020B0604020202020204" pitchFamily="34" charset="0"/>
              </a:rPr>
              <a:t>一、分布的概念</a:t>
            </a:r>
          </a:p>
        </p:txBody>
      </p:sp>
      <p:sp>
        <p:nvSpPr>
          <p:cNvPr id="39942" name="Text Box 6"/>
          <p:cNvSpPr txBox="1">
            <a:spLocks noChangeArrowheads="1"/>
          </p:cNvSpPr>
          <p:nvPr/>
        </p:nvSpPr>
        <p:spPr bwMode="auto">
          <a:xfrm>
            <a:off x="250825" y="1844675"/>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00FFFF"/>
                </a:solidFill>
                <a:cs typeface="Arial" panose="020B0604020202020204" pitchFamily="34" charset="0"/>
              </a:rPr>
              <a:t> </a:t>
            </a:r>
            <a:r>
              <a:rPr lang="zh-CN" altLang="en-US" sz="2400" b="1">
                <a:solidFill>
                  <a:srgbClr val="00FFFF"/>
                </a:solidFill>
                <a:cs typeface="Arial" panose="020B0604020202020204" pitchFamily="34" charset="0"/>
              </a:rPr>
              <a:t>分子数按速率的分布</a:t>
            </a:r>
          </a:p>
        </p:txBody>
      </p:sp>
      <p:sp>
        <p:nvSpPr>
          <p:cNvPr id="39944" name="Text Box 8"/>
          <p:cNvSpPr txBox="1">
            <a:spLocks noChangeArrowheads="1"/>
          </p:cNvSpPr>
          <p:nvPr/>
        </p:nvSpPr>
        <p:spPr bwMode="auto">
          <a:xfrm>
            <a:off x="285750" y="2643188"/>
            <a:ext cx="41148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cs typeface="Arial" panose="020B0604020202020204" pitchFamily="34" charset="0"/>
              </a:rPr>
              <a:t>        </a:t>
            </a:r>
            <a:r>
              <a:rPr lang="zh-CN" altLang="en-US" sz="2400" b="1">
                <a:cs typeface="Arial" panose="020B0604020202020204" pitchFamily="34" charset="0"/>
              </a:rPr>
              <a:t>按统计假设分子速率通过碰撞不断改变，不好说正处于哪个速率的分子数多少，但用某一速率区间内分子数占总分子数的比例为多少的概念比较合适，这就是分子按速率的分布。</a:t>
            </a:r>
          </a:p>
        </p:txBody>
      </p:sp>
      <p:sp>
        <p:nvSpPr>
          <p:cNvPr id="18437" name="Rectangle 1048"/>
          <p:cNvSpPr>
            <a:spLocks noChangeArrowheads="1"/>
          </p:cNvSpPr>
          <p:nvPr/>
        </p:nvSpPr>
        <p:spPr bwMode="auto">
          <a:xfrm>
            <a:off x="1691680" y="269875"/>
            <a:ext cx="3121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marL="342900" indent="-342900">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spcBef>
                <a:spcPct val="0"/>
              </a:spcBef>
              <a:buClrTx/>
              <a:buFontTx/>
              <a:buNone/>
            </a:pPr>
            <a:r>
              <a:rPr lang="zh-CN" altLang="en-US" sz="2400" b="1">
                <a:solidFill>
                  <a:srgbClr val="FF0000"/>
                </a:solidFill>
                <a:cs typeface="Arial" panose="020B0604020202020204" pitchFamily="34" charset="0"/>
              </a:rPr>
              <a:t>气体速率分布律。</a:t>
            </a:r>
          </a:p>
        </p:txBody>
      </p:sp>
      <p:graphicFrame>
        <p:nvGraphicFramePr>
          <p:cNvPr id="140295" name="Object 7"/>
          <p:cNvGraphicFramePr>
            <a:graphicFrameLocks noChangeAspect="1"/>
          </p:cNvGraphicFramePr>
          <p:nvPr/>
        </p:nvGraphicFramePr>
        <p:xfrm>
          <a:off x="1209675" y="5445125"/>
          <a:ext cx="2209800" cy="1119188"/>
        </p:xfrm>
        <a:graphic>
          <a:graphicData uri="http://schemas.openxmlformats.org/presentationml/2006/ole">
            <mc:AlternateContent xmlns:mc="http://schemas.openxmlformats.org/markup-compatibility/2006">
              <mc:Choice xmlns:v="urn:schemas-microsoft-com:vml" Requires="v">
                <p:oleObj spid="_x0000_s18504" name="公式" r:id="rId3" imgW="799753" imgH="406224" progId="Equation.3">
                  <p:embed/>
                </p:oleObj>
              </mc:Choice>
              <mc:Fallback>
                <p:oleObj name="公式" r:id="rId3" imgW="799753" imgH="406224"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9675" y="5445125"/>
                        <a:ext cx="2209800" cy="11191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2" descr="t6_8"/>
          <p:cNvPicPr>
            <a:picLocks noChangeAspect="1" noChangeArrowheads="1"/>
          </p:cNvPicPr>
          <p:nvPr/>
        </p:nvPicPr>
        <p:blipFill>
          <a:blip r:embed="rId5">
            <a:lum bright="24000" contrast="70000"/>
            <a:extLst>
              <a:ext uri="{28A0092B-C50C-407E-A947-70E740481C1C}">
                <a14:useLocalDpi xmlns:a14="http://schemas.microsoft.com/office/drawing/2010/main" val="0"/>
              </a:ext>
            </a:extLst>
          </a:blip>
          <a:srcRect/>
          <a:stretch>
            <a:fillRect/>
          </a:stretch>
        </p:blipFill>
        <p:spPr bwMode="auto">
          <a:xfrm>
            <a:off x="4286250" y="2500313"/>
            <a:ext cx="4857750" cy="332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vertical)">
                                      <p:cBhvr>
                                        <p:cTn id="7" dur="500"/>
                                        <p:tgtEl>
                                          <p:spTgt spid="3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39939">
                                            <p:txEl>
                                              <p:pRg st="1" end="1"/>
                                            </p:txEl>
                                          </p:spTgt>
                                        </p:tgtEl>
                                        <p:attrNameLst>
                                          <p:attrName>style.visibility</p:attrName>
                                        </p:attrNameLst>
                                      </p:cBhvr>
                                      <p:to>
                                        <p:strVal val="visible"/>
                                      </p:to>
                                    </p:set>
                                    <p:animEffect transition="in" filter="blinds(vertical)">
                                      <p:cBhvr>
                                        <p:cTn id="12" dur="500"/>
                                        <p:tgtEl>
                                          <p:spTgt spid="399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39942"/>
                                        </p:tgtEl>
                                        <p:attrNameLst>
                                          <p:attrName>style.visibility</p:attrName>
                                        </p:attrNameLst>
                                      </p:cBhvr>
                                      <p:to>
                                        <p:strVal val="visible"/>
                                      </p:to>
                                    </p:set>
                                    <p:anim calcmode="lin" valueType="num">
                                      <p:cBhvr additive="base">
                                        <p:cTn id="17" dur="500" fill="hold"/>
                                        <p:tgtEl>
                                          <p:spTgt spid="39942"/>
                                        </p:tgtEl>
                                        <p:attrNameLst>
                                          <p:attrName>ppt_x</p:attrName>
                                        </p:attrNameLst>
                                      </p:cBhvr>
                                      <p:tavLst>
                                        <p:tav tm="0">
                                          <p:val>
                                            <p:strVal val="0-#ppt_w/2"/>
                                          </p:val>
                                        </p:tav>
                                        <p:tav tm="100000">
                                          <p:val>
                                            <p:strVal val="#ppt_x"/>
                                          </p:val>
                                        </p:tav>
                                      </p:tavLst>
                                    </p:anim>
                                    <p:anim calcmode="lin" valueType="num">
                                      <p:cBhvr additive="base">
                                        <p:cTn id="18" dur="500" fill="hold"/>
                                        <p:tgtEl>
                                          <p:spTgt spid="3994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5" fill="hold" grpId="0" nodeType="clickEffect">
                                  <p:stCondLst>
                                    <p:cond delay="0"/>
                                  </p:stCondLst>
                                  <p:iterate type="wd">
                                    <p:tmPct val="100000"/>
                                  </p:iterate>
                                  <p:childTnLst>
                                    <p:set>
                                      <p:cBhvr>
                                        <p:cTn id="22" dur="1" fill="hold">
                                          <p:stCondLst>
                                            <p:cond delay="0"/>
                                          </p:stCondLst>
                                        </p:cTn>
                                        <p:tgtEl>
                                          <p:spTgt spid="39944"/>
                                        </p:tgtEl>
                                        <p:attrNameLst>
                                          <p:attrName>style.visibility</p:attrName>
                                        </p:attrNameLst>
                                      </p:cBhvr>
                                      <p:to>
                                        <p:strVal val="visible"/>
                                      </p:to>
                                    </p:set>
                                    <p:animEffect transition="in" filter="blinds(vertical)">
                                      <p:cBhvr>
                                        <p:cTn id="23" dur="300"/>
                                        <p:tgtEl>
                                          <p:spTgt spid="3994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140295"/>
                                        </p:tgtEl>
                                        <p:attrNameLst>
                                          <p:attrName>style.visibility</p:attrName>
                                        </p:attrNameLst>
                                      </p:cBhvr>
                                      <p:to>
                                        <p:strVal val="visible"/>
                                      </p:to>
                                    </p:set>
                                    <p:animEffect transition="in" filter="wipe(left)">
                                      <p:cBhvr>
                                        <p:cTn id="28" dur="500"/>
                                        <p:tgtEl>
                                          <p:spTgt spid="140295"/>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autoUpdateAnimBg="0"/>
      <p:bldP spid="39942" grpId="0" autoUpdateAnimBg="0"/>
      <p:bldP spid="39944"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B1DD84B-203E-4857-8CDD-243EFC3B2683}" type="slidenum">
              <a:rPr lang="en-US" altLang="zh-CN" smtClean="0"/>
              <a:pPr>
                <a:defRPr/>
              </a:pPr>
              <a:t>11</a:t>
            </a:fld>
            <a:endParaRPr lang="en-US" altLang="zh-CN"/>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文本框 3"/>
          <p:cNvSpPr txBox="1"/>
          <p:nvPr/>
        </p:nvSpPr>
        <p:spPr>
          <a:xfrm>
            <a:off x="323528" y="0"/>
            <a:ext cx="647934" cy="646331"/>
          </a:xfrm>
          <a:prstGeom prst="rect">
            <a:avLst/>
          </a:prstGeom>
          <a:solidFill>
            <a:schemeClr val="tx1"/>
          </a:solidFill>
        </p:spPr>
        <p:txBody>
          <a:bodyPr wrap="none" rtlCol="0">
            <a:spAutoFit/>
          </a:bodyPr>
          <a:lstStyle/>
          <a:p>
            <a:r>
              <a:rPr lang="zh-CN" altLang="en-US" sz="3600" b="1">
                <a:solidFill>
                  <a:srgbClr val="FF0000"/>
                </a:solidFill>
                <a:latin typeface="黑体" panose="02010609060101010101" pitchFamily="49" charset="-122"/>
                <a:ea typeface="黑体" panose="02010609060101010101" pitchFamily="49" charset="-122"/>
              </a:rPr>
              <a:t>二</a:t>
            </a:r>
          </a:p>
        </p:txBody>
      </p:sp>
      <p:sp>
        <p:nvSpPr>
          <p:cNvPr id="5" name="矩形 4"/>
          <p:cNvSpPr/>
          <p:nvPr/>
        </p:nvSpPr>
        <p:spPr>
          <a:xfrm>
            <a:off x="6722986" y="199073"/>
            <a:ext cx="1731564" cy="461665"/>
          </a:xfrm>
          <a:prstGeom prst="rect">
            <a:avLst/>
          </a:prstGeom>
        </p:spPr>
        <p:txBody>
          <a:bodyPr wrap="none">
            <a:spAutoFit/>
          </a:bodyPr>
          <a:lstStyle/>
          <a:p>
            <a:pPr eaLnBrk="1" hangingPunct="1">
              <a:buClrTx/>
              <a:buFontTx/>
              <a:buNone/>
            </a:pPr>
            <a:r>
              <a:rPr lang="zh-CN" altLang="en-US" b="1">
                <a:solidFill>
                  <a:srgbClr val="FF0000"/>
                </a:solidFill>
                <a:latin typeface="黑体" panose="02010609060101010101" pitchFamily="49" charset="-122"/>
                <a:ea typeface="黑体" panose="02010609060101010101" pitchFamily="49" charset="-122"/>
                <a:cs typeface="楷体_GB2312"/>
              </a:rPr>
              <a:t>（斯特恩）</a:t>
            </a:r>
            <a:endParaRPr lang="en-US" altLang="zh-CN" sz="3600" b="1">
              <a:solidFill>
                <a:srgbClr val="FF0000"/>
              </a:solidFill>
              <a:latin typeface="黑体" panose="02010609060101010101" pitchFamily="49" charset="-122"/>
              <a:ea typeface="黑体" panose="02010609060101010101" pitchFamily="49" charset="-122"/>
              <a:cs typeface="楷体_GB2312"/>
            </a:endParaRPr>
          </a:p>
        </p:txBody>
      </p:sp>
    </p:spTree>
    <p:extLst>
      <p:ext uri="{BB962C8B-B14F-4D97-AF65-F5344CB8AC3E}">
        <p14:creationId xmlns:p14="http://schemas.microsoft.com/office/powerpoint/2010/main" val="169158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59566C93-056D-4D12-BEC2-E9D793E0A4CF}" type="slidenum">
              <a:rPr kumimoji="0" lang="en-US" altLang="zh-CN" sz="1400" smtClean="0">
                <a:latin typeface="Arial" panose="020B0604020202020204" pitchFamily="34" charset="0"/>
              </a:rPr>
              <a:pPr>
                <a:spcBef>
                  <a:spcPct val="0"/>
                </a:spcBef>
                <a:buClrTx/>
                <a:buFontTx/>
                <a:buNone/>
              </a:pPr>
              <a:t>12</a:t>
            </a:fld>
            <a:endParaRPr kumimoji="0" lang="en-US" altLang="zh-CN" sz="1400">
              <a:latin typeface="Arial" panose="020B0604020202020204" pitchFamily="34" charset="0"/>
            </a:endParaRPr>
          </a:p>
        </p:txBody>
      </p:sp>
      <p:graphicFrame>
        <p:nvGraphicFramePr>
          <p:cNvPr id="135197" name="Object 29"/>
          <p:cNvGraphicFramePr>
            <a:graphicFrameLocks noChangeAspect="1"/>
          </p:cNvGraphicFramePr>
          <p:nvPr>
            <p:extLst>
              <p:ext uri="{D42A27DB-BD31-4B8C-83A1-F6EECF244321}">
                <p14:modId xmlns:p14="http://schemas.microsoft.com/office/powerpoint/2010/main" val="1777634388"/>
              </p:ext>
            </p:extLst>
          </p:nvPr>
        </p:nvGraphicFramePr>
        <p:xfrm>
          <a:off x="543718" y="5751513"/>
          <a:ext cx="4332288" cy="941387"/>
        </p:xfrm>
        <a:graphic>
          <a:graphicData uri="http://schemas.openxmlformats.org/presentationml/2006/ole">
            <mc:AlternateContent xmlns:mc="http://schemas.openxmlformats.org/markup-compatibility/2006">
              <mc:Choice xmlns:v="urn:schemas-microsoft-com:vml" Requires="v">
                <p:oleObj spid="_x0000_s20669" name="Equation" r:id="rId3" imgW="2095500" imgH="457200" progId="Equation.DSMT4">
                  <p:embed/>
                </p:oleObj>
              </mc:Choice>
              <mc:Fallback>
                <p:oleObj name="Equation" r:id="rId3" imgW="2095500" imgH="457200"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718" y="5751513"/>
                        <a:ext cx="4332288" cy="941387"/>
                      </a:xfrm>
                      <a:prstGeom prst="rect">
                        <a:avLst/>
                      </a:prstGeom>
                      <a:solidFill>
                        <a:srgbClr val="FFFF00"/>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98" name="AutoShape 30"/>
          <p:cNvSpPr>
            <a:spLocks noChangeArrowheads="1"/>
          </p:cNvSpPr>
          <p:nvPr/>
        </p:nvSpPr>
        <p:spPr bwMode="auto">
          <a:xfrm>
            <a:off x="5670550" y="4833700"/>
            <a:ext cx="1371600" cy="762000"/>
          </a:xfrm>
          <a:prstGeom prst="rightArrow">
            <a:avLst>
              <a:gd name="adj1" fmla="val 50000"/>
              <a:gd name="adj2" fmla="val 45000"/>
            </a:avLst>
          </a:prstGeom>
          <a:solidFill>
            <a:srgbClr val="FF3399"/>
          </a:solidFill>
          <a:ln w="38100">
            <a:solidFill>
              <a:srgbClr val="FF0000"/>
            </a:solidFill>
            <a:miter lim="800000"/>
            <a:headEnd/>
            <a:tailEnd/>
          </a:ln>
          <a:effectLst>
            <a:outerShdw dist="107763" dir="18900000" algn="ctr" rotWithShape="0">
              <a:srgbClr val="808080"/>
            </a:outerShdw>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135199" name="Text Box 31"/>
          <p:cNvSpPr txBox="1">
            <a:spLocks noChangeArrowheads="1"/>
          </p:cNvSpPr>
          <p:nvPr/>
        </p:nvSpPr>
        <p:spPr bwMode="auto">
          <a:xfrm>
            <a:off x="8106145" y="3861048"/>
            <a:ext cx="854075" cy="3200400"/>
          </a:xfrm>
          <a:prstGeom prst="rect">
            <a:avLst/>
          </a:prstGeom>
          <a:noFill/>
          <a:ln w="9525">
            <a:noFill/>
            <a:miter lim="800000"/>
            <a:headEnd/>
            <a:tailEnd/>
          </a:ln>
          <a:effectLst/>
        </p:spPr>
        <p:txBody>
          <a:bodyPr vert="eaVert">
            <a:spAutoFit/>
          </a:bodyPr>
          <a:lstStyle/>
          <a:p>
            <a:pPr eaLnBrk="1" hangingPunct="1">
              <a:spcBef>
                <a:spcPct val="50000"/>
              </a:spcBef>
              <a:defRPr/>
            </a:pPr>
            <a:r>
              <a:rPr lang="zh-CN" altLang="en-US" sz="4400" b="1" dirty="0">
                <a:solidFill>
                  <a:srgbClr val="FF0000"/>
                </a:solidFill>
                <a:effectLst>
                  <a:outerShdw blurRad="38100" dist="38100" dir="2700000" algn="tl">
                    <a:srgbClr val="FFFFFF"/>
                  </a:outerShdw>
                </a:effectLst>
              </a:rPr>
              <a:t>相对分子数</a:t>
            </a:r>
            <a:endParaRPr lang="zh-CN" altLang="en-US" sz="2800" b="1" dirty="0">
              <a:solidFill>
                <a:schemeClr val="accent2"/>
              </a:solidFill>
            </a:endParaRPr>
          </a:p>
        </p:txBody>
      </p:sp>
      <p:pic>
        <p:nvPicPr>
          <p:cNvPr id="33" name="图片 32"/>
          <p:cNvPicPr>
            <a:picLocks noChangeAspect="1"/>
          </p:cNvPicPr>
          <p:nvPr/>
        </p:nvPicPr>
        <p:blipFill rotWithShape="1">
          <a:blip r:embed="rId5">
            <a:extLst>
              <a:ext uri="{28A0092B-C50C-407E-A947-70E740481C1C}">
                <a14:useLocalDpi xmlns:a14="http://schemas.microsoft.com/office/drawing/2010/main" val="0"/>
              </a:ext>
            </a:extLst>
          </a:blip>
          <a:srcRect l="26376" t="22700" r="2749" b="19550"/>
          <a:stretch/>
        </p:blipFill>
        <p:spPr>
          <a:xfrm>
            <a:off x="1809478" y="140073"/>
            <a:ext cx="6480720" cy="3960440"/>
          </a:xfrm>
          <a:prstGeom prst="rect">
            <a:avLst/>
          </a:prstGeom>
        </p:spPr>
      </p:pic>
      <p:sp>
        <p:nvSpPr>
          <p:cNvPr id="2" name="文本框 1"/>
          <p:cNvSpPr txBox="1"/>
          <p:nvPr/>
        </p:nvSpPr>
        <p:spPr>
          <a:xfrm>
            <a:off x="633812" y="4448959"/>
            <a:ext cx="4152099" cy="954107"/>
          </a:xfrm>
          <a:prstGeom prst="rect">
            <a:avLst/>
          </a:prstGeom>
          <a:noFill/>
        </p:spPr>
        <p:txBody>
          <a:bodyPr wrap="none" rtlCol="0">
            <a:spAutoFit/>
          </a:bodyPr>
          <a:lstStyle/>
          <a:p>
            <a:r>
              <a:rPr lang="zh-CN" altLang="en-US" sz="2800" b="1">
                <a:latin typeface="黑体" panose="02010609060101010101" pitchFamily="49" charset="-122"/>
                <a:ea typeface="黑体" panose="02010609060101010101" pitchFamily="49" charset="-122"/>
              </a:rPr>
              <a:t>通过小扇形的粒子的速率</a:t>
            </a:r>
            <a:endParaRPr lang="en-US" altLang="zh-CN" sz="2800" b="1">
              <a:latin typeface="黑体" panose="02010609060101010101" pitchFamily="49" charset="-122"/>
              <a:ea typeface="黑体" panose="02010609060101010101" pitchFamily="49" charset="-122"/>
            </a:endParaRPr>
          </a:p>
          <a:p>
            <a:r>
              <a:rPr lang="zh-CN" altLang="en-US" sz="2800" b="1" i="1">
                <a:latin typeface="黑体" panose="02010609060101010101" pitchFamily="49" charset="-122"/>
                <a:ea typeface="黑体" panose="02010609060101010101" pitchFamily="49" charset="-122"/>
              </a:rPr>
              <a:t>在</a:t>
            </a:r>
            <a:r>
              <a:rPr lang="en-US" altLang="zh-CN" sz="2800" b="1" i="1">
                <a:latin typeface="+mn-lt"/>
                <a:ea typeface="+mj-ea"/>
              </a:rPr>
              <a:t>v-v+</a:t>
            </a:r>
            <a:r>
              <a:rPr lang="en-US" altLang="zh-CN" sz="2800" b="1" i="1">
                <a:latin typeface="+mn-lt"/>
                <a:ea typeface="+mj-ea"/>
                <a:sym typeface="Symbol" panose="05050102010706020507" pitchFamily="18" charset="2"/>
              </a:rPr>
              <a:t>v, </a:t>
            </a:r>
            <a:r>
              <a:rPr lang="zh-CN" altLang="en-US" sz="2800" b="1">
                <a:latin typeface="黑体" panose="02010609060101010101" pitchFamily="49" charset="-122"/>
                <a:ea typeface="黑体" panose="02010609060101010101" pitchFamily="49" charset="-122"/>
                <a:sym typeface="Symbol" panose="05050102010706020507" pitchFamily="18" charset="2"/>
              </a:rPr>
              <a:t>与</a:t>
            </a:r>
            <a:r>
              <a:rPr lang="en-US" altLang="zh-CN" sz="2800" b="1" i="1">
                <a:latin typeface="+mn-lt"/>
                <a:ea typeface="+mj-ea"/>
                <a:sym typeface="Symbol" panose="05050102010706020507" pitchFamily="18" charset="2"/>
              </a:rPr>
              <a:t></a:t>
            </a:r>
            <a:r>
              <a:rPr lang="zh-CN" altLang="en-US" sz="2800" b="1">
                <a:latin typeface="黑体" panose="02010609060101010101" pitchFamily="49" charset="-122"/>
                <a:ea typeface="黑体" panose="02010609060101010101" pitchFamily="49" charset="-122"/>
                <a:sym typeface="Symbol" panose="05050102010706020507" pitchFamily="18" charset="2"/>
              </a:rPr>
              <a:t>相关</a:t>
            </a:r>
            <a:endParaRPr lang="zh-CN" altLang="en-US" sz="2800" b="1">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4" presetClass="entr" presetSubtype="0" fill="hold" nodeType="clickEffect">
                                  <p:stCondLst>
                                    <p:cond delay="0"/>
                                  </p:stCondLst>
                                  <p:childTnLst>
                                    <p:set>
                                      <p:cBhvr>
                                        <p:cTn id="10" dur="1" fill="hold">
                                          <p:stCondLst>
                                            <p:cond delay="499"/>
                                          </p:stCondLst>
                                        </p:cTn>
                                        <p:tgtEl>
                                          <p:spTgt spid="135197"/>
                                        </p:tgtEl>
                                        <p:attrNameLst>
                                          <p:attrName>style.visibility</p:attrName>
                                        </p:attrNameLst>
                                      </p:cBhvr>
                                      <p:to>
                                        <p:strVal val="visible"/>
                                      </p:to>
                                    </p:set>
                                    <p:anim to="" calcmode="lin" valueType="num">
                                      <p:cBhvr>
                                        <p:cTn id="11" dur="1" fill="hold"/>
                                        <p:tgtEl>
                                          <p:spTgt spid="135197"/>
                                        </p:tgtEl>
                                        <p:attrNameLst>
                                          <p:attrName/>
                                        </p:attrNameLst>
                                      </p:cBhvr>
                                    </p:anim>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135198"/>
                                        </p:tgtEl>
                                        <p:attrNameLst>
                                          <p:attrName>style.visibility</p:attrName>
                                        </p:attrNameLst>
                                      </p:cBhvr>
                                      <p:to>
                                        <p:strVal val="visible"/>
                                      </p:to>
                                    </p:set>
                                    <p:anim calcmode="lin" valueType="num">
                                      <p:cBhvr additive="base">
                                        <p:cTn id="16" dur="500" fill="hold"/>
                                        <p:tgtEl>
                                          <p:spTgt spid="135198"/>
                                        </p:tgtEl>
                                        <p:attrNameLst>
                                          <p:attrName>ppt_x</p:attrName>
                                        </p:attrNameLst>
                                      </p:cBhvr>
                                      <p:tavLst>
                                        <p:tav tm="0">
                                          <p:val>
                                            <p:strVal val="0-#ppt_w/2"/>
                                          </p:val>
                                        </p:tav>
                                        <p:tav tm="100000">
                                          <p:val>
                                            <p:strVal val="#ppt_x"/>
                                          </p:val>
                                        </p:tav>
                                      </p:tavLst>
                                    </p:anim>
                                    <p:anim calcmode="lin" valueType="num">
                                      <p:cBhvr additive="base">
                                        <p:cTn id="17" dur="500" fill="hold"/>
                                        <p:tgtEl>
                                          <p:spTgt spid="135198"/>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5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98" grpId="0" animBg="1"/>
      <p:bldP spid="135199"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7D19BA71-3E49-43C0-98C9-751A387A56AF}" type="slidenum">
              <a:rPr kumimoji="0" lang="en-US" altLang="zh-CN" sz="1400" smtClean="0">
                <a:latin typeface="Arial" panose="020B0604020202020204" pitchFamily="34" charset="0"/>
              </a:rPr>
              <a:pPr>
                <a:spcBef>
                  <a:spcPct val="0"/>
                </a:spcBef>
                <a:buClrTx/>
                <a:buFontTx/>
                <a:buNone/>
              </a:pPr>
              <a:t>13</a:t>
            </a:fld>
            <a:endParaRPr kumimoji="0" lang="en-US" altLang="zh-CN" sz="1400">
              <a:latin typeface="Arial" panose="020B0604020202020204" pitchFamily="34" charset="0"/>
            </a:endParaRPr>
          </a:p>
        </p:txBody>
      </p:sp>
      <p:sp>
        <p:nvSpPr>
          <p:cNvPr id="136194" name="Text Box 2"/>
          <p:cNvSpPr txBox="1">
            <a:spLocks noChangeArrowheads="1"/>
          </p:cNvSpPr>
          <p:nvPr/>
        </p:nvSpPr>
        <p:spPr bwMode="auto">
          <a:xfrm>
            <a:off x="251520" y="1381274"/>
            <a:ext cx="16494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solidFill>
                  <a:srgbClr val="FF0000"/>
                </a:solidFill>
                <a:ea typeface="楷体_GB2312"/>
                <a:cs typeface="楷体_GB2312"/>
              </a:rPr>
              <a:t>1.</a:t>
            </a:r>
            <a:r>
              <a:rPr lang="zh-CN" altLang="en-US" sz="2400" b="1">
                <a:solidFill>
                  <a:srgbClr val="FF0000"/>
                </a:solidFill>
                <a:ea typeface="楷体_GB2312"/>
                <a:cs typeface="楷体_GB2312"/>
              </a:rPr>
              <a:t>实验装置</a:t>
            </a:r>
          </a:p>
        </p:txBody>
      </p:sp>
      <p:graphicFrame>
        <p:nvGraphicFramePr>
          <p:cNvPr id="136195" name="Object 3"/>
          <p:cNvGraphicFramePr>
            <a:graphicFrameLocks noChangeAspect="1"/>
          </p:cNvGraphicFramePr>
          <p:nvPr>
            <p:extLst>
              <p:ext uri="{D42A27DB-BD31-4B8C-83A1-F6EECF244321}">
                <p14:modId xmlns:p14="http://schemas.microsoft.com/office/powerpoint/2010/main" val="869223219"/>
              </p:ext>
            </p:extLst>
          </p:nvPr>
        </p:nvGraphicFramePr>
        <p:xfrm>
          <a:off x="3923928" y="3429000"/>
          <a:ext cx="4933950" cy="2809875"/>
        </p:xfrm>
        <a:graphic>
          <a:graphicData uri="http://schemas.openxmlformats.org/presentationml/2006/ole">
            <mc:AlternateContent xmlns:mc="http://schemas.openxmlformats.org/markup-compatibility/2006">
              <mc:Choice xmlns:v="urn:schemas-microsoft-com:vml" Requires="v">
                <p:oleObj spid="_x0000_s21578" name="Picture" r:id="rId3" imgW="3009900" imgH="1638300" progId="Word.Picture.8">
                  <p:embed/>
                </p:oleObj>
              </mc:Choice>
              <mc:Fallback>
                <p:oleObj name="Picture" r:id="rId3" imgW="3009900" imgH="163830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3928" y="3429000"/>
                        <a:ext cx="4933950" cy="2809875"/>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6196" name="Text Box 4"/>
          <p:cNvSpPr txBox="1">
            <a:spLocks noChangeArrowheads="1"/>
          </p:cNvSpPr>
          <p:nvPr/>
        </p:nvSpPr>
        <p:spPr bwMode="auto">
          <a:xfrm>
            <a:off x="495300" y="1844824"/>
            <a:ext cx="796448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ea typeface="楷体_GB2312"/>
                <a:cs typeface="楷体_GB2312"/>
              </a:rPr>
              <a:t>O</a:t>
            </a:r>
            <a:r>
              <a:rPr lang="zh-CN" altLang="en-US" sz="2400" b="1">
                <a:ea typeface="楷体_GB2312"/>
                <a:cs typeface="楷体_GB2312"/>
              </a:rPr>
              <a:t>：铋蒸汽源，蒸汽压</a:t>
            </a:r>
            <a:r>
              <a:rPr lang="en-US" altLang="zh-CN" sz="2400" b="1">
                <a:ea typeface="楷体_GB2312"/>
                <a:cs typeface="楷体_GB2312"/>
              </a:rPr>
              <a:t>100Pa</a:t>
            </a:r>
            <a:r>
              <a:rPr lang="zh-CN" altLang="en-US" sz="2400" b="1">
                <a:ea typeface="楷体_GB2312"/>
                <a:cs typeface="楷体_GB2312"/>
              </a:rPr>
              <a:t>，温度可测</a:t>
            </a:r>
          </a:p>
          <a:p>
            <a:pPr eaLnBrk="1" hangingPunct="1">
              <a:spcBef>
                <a:spcPct val="50000"/>
              </a:spcBef>
              <a:buClrTx/>
              <a:buFontTx/>
              <a:buNone/>
            </a:pPr>
            <a:r>
              <a:rPr lang="en-US" altLang="zh-CN" sz="2400" b="1">
                <a:ea typeface="楷体_GB2312"/>
                <a:cs typeface="楷体_GB2312"/>
              </a:rPr>
              <a:t>C</a:t>
            </a:r>
            <a:r>
              <a:rPr lang="zh-CN" altLang="en-US" sz="2400" b="1">
                <a:ea typeface="楷体_GB2312"/>
                <a:cs typeface="楷体_GB2312"/>
              </a:rPr>
              <a:t>：有固定转轴的滚筒，半径</a:t>
            </a:r>
            <a:r>
              <a:rPr lang="en-US" altLang="zh-CN" sz="2400" b="1" i="1">
                <a:ea typeface="楷体_GB2312"/>
                <a:cs typeface="楷体_GB2312"/>
              </a:rPr>
              <a:t>r</a:t>
            </a:r>
            <a:r>
              <a:rPr lang="en-US" altLang="zh-CN" sz="2400" b="1">
                <a:ea typeface="楷体_GB2312"/>
                <a:cs typeface="楷体_GB2312"/>
              </a:rPr>
              <a:t>=9.4cm</a:t>
            </a:r>
            <a:r>
              <a:rPr lang="zh-CN" altLang="en-US" sz="2400" b="1">
                <a:ea typeface="楷体_GB2312"/>
                <a:cs typeface="楷体_GB2312"/>
              </a:rPr>
              <a:t>，</a:t>
            </a:r>
            <a:r>
              <a:rPr lang="zh-CN" altLang="en-US" sz="2400" b="1" i="1">
                <a:ea typeface="楷体_GB2312"/>
                <a:cs typeface="楷体_GB2312"/>
                <a:sym typeface="Symbol" panose="05050102010706020507" pitchFamily="18" charset="2"/>
              </a:rPr>
              <a:t></a:t>
            </a:r>
            <a:r>
              <a:rPr lang="en-US" altLang="zh-CN" sz="2400" b="1">
                <a:ea typeface="楷体_GB2312"/>
                <a:cs typeface="楷体_GB2312"/>
              </a:rPr>
              <a:t>=500</a:t>
            </a:r>
            <a:r>
              <a:rPr lang="zh-CN" altLang="en-US" sz="2400" b="1">
                <a:ea typeface="楷体_GB2312"/>
                <a:cs typeface="楷体_GB2312"/>
              </a:rPr>
              <a:t>转</a:t>
            </a:r>
            <a:r>
              <a:rPr lang="en-US" altLang="zh-CN" sz="2400" b="1">
                <a:ea typeface="楷体_GB2312"/>
                <a:cs typeface="楷体_GB2312"/>
              </a:rPr>
              <a:t>/</a:t>
            </a:r>
            <a:r>
              <a:rPr lang="zh-CN" altLang="en-US" sz="2400" b="1">
                <a:ea typeface="楷体_GB2312"/>
                <a:cs typeface="楷体_GB2312"/>
              </a:rPr>
              <a:t>分</a:t>
            </a:r>
          </a:p>
          <a:p>
            <a:pPr eaLnBrk="1" hangingPunct="1">
              <a:spcBef>
                <a:spcPct val="50000"/>
              </a:spcBef>
              <a:buClrTx/>
              <a:buFontTx/>
              <a:buNone/>
            </a:pPr>
            <a:r>
              <a:rPr lang="zh-CN" altLang="en-US" sz="2400" b="1">
                <a:ea typeface="楷体_GB2312"/>
                <a:cs typeface="楷体_GB2312"/>
              </a:rPr>
              <a:t>　　装置处于气压为</a:t>
            </a:r>
            <a:r>
              <a:rPr lang="en-US" altLang="zh-CN" sz="2400" b="1">
                <a:ea typeface="楷体_GB2312"/>
                <a:cs typeface="楷体_GB2312"/>
              </a:rPr>
              <a:t>10</a:t>
            </a:r>
            <a:r>
              <a:rPr lang="en-US" altLang="zh-CN" sz="2400" b="1" baseline="30000">
                <a:ea typeface="楷体_GB2312"/>
                <a:cs typeface="楷体_GB2312"/>
              </a:rPr>
              <a:t>-3</a:t>
            </a:r>
            <a:r>
              <a:rPr lang="en-US" altLang="zh-CN" sz="2400" b="1">
                <a:ea typeface="楷体_GB2312"/>
                <a:cs typeface="楷体_GB2312"/>
              </a:rPr>
              <a:t>Pa</a:t>
            </a:r>
            <a:r>
              <a:rPr lang="zh-CN" altLang="en-US" sz="2400" b="1">
                <a:ea typeface="楷体_GB2312"/>
                <a:cs typeface="楷体_GB2312"/>
              </a:rPr>
              <a:t>的真空环境中</a:t>
            </a:r>
          </a:p>
        </p:txBody>
      </p:sp>
      <p:sp>
        <p:nvSpPr>
          <p:cNvPr id="136197" name="Text Box 5"/>
          <p:cNvSpPr txBox="1">
            <a:spLocks noChangeArrowheads="1"/>
          </p:cNvSpPr>
          <p:nvPr/>
        </p:nvSpPr>
        <p:spPr bwMode="auto">
          <a:xfrm>
            <a:off x="419100" y="3445024"/>
            <a:ext cx="16494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solidFill>
                  <a:srgbClr val="FF0000"/>
                </a:solidFill>
                <a:ea typeface="楷体_GB2312"/>
                <a:cs typeface="楷体_GB2312"/>
              </a:rPr>
              <a:t>2.</a:t>
            </a:r>
            <a:r>
              <a:rPr lang="zh-CN" altLang="en-US" sz="2400" b="1">
                <a:solidFill>
                  <a:srgbClr val="FF0000"/>
                </a:solidFill>
                <a:ea typeface="楷体_GB2312"/>
                <a:cs typeface="楷体_GB2312"/>
              </a:rPr>
              <a:t>实验原理</a:t>
            </a:r>
          </a:p>
        </p:txBody>
      </p:sp>
      <p:sp>
        <p:nvSpPr>
          <p:cNvPr id="136198" name="Text Box 6"/>
          <p:cNvSpPr txBox="1">
            <a:spLocks noChangeArrowheads="1"/>
          </p:cNvSpPr>
          <p:nvPr/>
        </p:nvSpPr>
        <p:spPr bwMode="auto">
          <a:xfrm>
            <a:off x="395288" y="3902224"/>
            <a:ext cx="3365500" cy="267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ea typeface="楷体_GB2312"/>
                <a:cs typeface="楷体_GB2312"/>
              </a:rPr>
              <a:t>A. </a:t>
            </a:r>
            <a:r>
              <a:rPr lang="zh-CN" altLang="en-US" sz="2400" b="1">
                <a:ea typeface="楷体_GB2312"/>
                <a:cs typeface="楷体_GB2312"/>
              </a:rPr>
              <a:t>当</a:t>
            </a:r>
            <a:r>
              <a:rPr lang="en-US" altLang="zh-CN" sz="2400" b="1">
                <a:ea typeface="楷体_GB2312"/>
                <a:cs typeface="楷体_GB2312"/>
              </a:rPr>
              <a:t>C</a:t>
            </a:r>
            <a:r>
              <a:rPr lang="zh-CN" altLang="en-US" sz="2400" b="1">
                <a:ea typeface="楷体_GB2312"/>
                <a:cs typeface="楷体_GB2312"/>
              </a:rPr>
              <a:t>不转动时，铋蒸</a:t>
            </a:r>
          </a:p>
          <a:p>
            <a:pPr eaLnBrk="1" hangingPunct="1">
              <a:spcBef>
                <a:spcPct val="50000"/>
              </a:spcBef>
              <a:buClrTx/>
              <a:buFontTx/>
              <a:buNone/>
            </a:pPr>
            <a:r>
              <a:rPr lang="zh-CN" altLang="en-US" sz="2400" b="1">
                <a:ea typeface="楷体_GB2312"/>
                <a:cs typeface="楷体_GB2312"/>
              </a:rPr>
              <a:t>　汽沉积在</a:t>
            </a:r>
            <a:r>
              <a:rPr lang="en-US" altLang="zh-CN" sz="2400" b="1">
                <a:ea typeface="楷体_GB2312"/>
                <a:cs typeface="楷体_GB2312"/>
              </a:rPr>
              <a:t>P</a:t>
            </a:r>
            <a:r>
              <a:rPr lang="zh-CN" altLang="en-US" sz="2400" b="1">
                <a:ea typeface="楷体_GB2312"/>
                <a:cs typeface="楷体_GB2312"/>
              </a:rPr>
              <a:t>处</a:t>
            </a:r>
          </a:p>
          <a:p>
            <a:pPr eaLnBrk="1" hangingPunct="1">
              <a:spcBef>
                <a:spcPct val="50000"/>
              </a:spcBef>
              <a:buClrTx/>
              <a:buFontTx/>
              <a:buNone/>
            </a:pPr>
            <a:r>
              <a:rPr lang="en-US" altLang="zh-CN" sz="2400" b="1">
                <a:ea typeface="楷体_GB2312"/>
                <a:cs typeface="楷体_GB2312"/>
              </a:rPr>
              <a:t>B. C</a:t>
            </a:r>
            <a:r>
              <a:rPr lang="zh-CN" altLang="en-US" sz="2400" b="1">
                <a:ea typeface="楷体_GB2312"/>
                <a:cs typeface="楷体_GB2312"/>
              </a:rPr>
              <a:t>转动时，通过</a:t>
            </a:r>
            <a:r>
              <a:rPr lang="en-US" altLang="zh-CN" sz="2400" b="1">
                <a:ea typeface="楷体_GB2312"/>
                <a:cs typeface="楷体_GB2312"/>
              </a:rPr>
              <a:t>s</a:t>
            </a:r>
            <a:r>
              <a:rPr lang="en-US" altLang="zh-CN" sz="2400" b="1" baseline="-25000">
                <a:ea typeface="楷体_GB2312"/>
                <a:cs typeface="楷体_GB2312"/>
              </a:rPr>
              <a:t>3</a:t>
            </a:r>
            <a:r>
              <a:rPr lang="zh-CN" altLang="en-US" sz="2400" b="1">
                <a:ea typeface="楷体_GB2312"/>
                <a:cs typeface="楷体_GB2312"/>
              </a:rPr>
              <a:t>的</a:t>
            </a:r>
          </a:p>
          <a:p>
            <a:pPr eaLnBrk="1" hangingPunct="1">
              <a:spcBef>
                <a:spcPct val="50000"/>
              </a:spcBef>
              <a:buClrTx/>
              <a:buFontTx/>
              <a:buNone/>
            </a:pPr>
            <a:r>
              <a:rPr lang="zh-CN" altLang="en-US" sz="2400" b="1">
                <a:ea typeface="楷体_GB2312"/>
                <a:cs typeface="楷体_GB2312"/>
              </a:rPr>
              <a:t>　铋蒸汽沿直线到达</a:t>
            </a:r>
            <a:r>
              <a:rPr lang="en-US" altLang="zh-CN" sz="2400" b="1">
                <a:ea typeface="楷体_GB2312"/>
                <a:cs typeface="楷体_GB2312"/>
              </a:rPr>
              <a:t>G</a:t>
            </a:r>
          </a:p>
          <a:p>
            <a:pPr eaLnBrk="1" hangingPunct="1">
              <a:spcBef>
                <a:spcPct val="50000"/>
              </a:spcBef>
              <a:buClrTx/>
              <a:buFontTx/>
              <a:buNone/>
            </a:pPr>
            <a:r>
              <a:rPr lang="zh-CN" altLang="en-US" sz="2400" b="1">
                <a:ea typeface="楷体_GB2312"/>
                <a:cs typeface="楷体_GB2312"/>
              </a:rPr>
              <a:t>　需要一定时间，所</a:t>
            </a:r>
            <a:endParaRPr lang="zh-CN" altLang="en-US" sz="2400">
              <a:cs typeface="Arial" panose="020B0604020202020204" pitchFamily="34" charset="0"/>
            </a:endParaRPr>
          </a:p>
        </p:txBody>
      </p:sp>
      <p:sp>
        <p:nvSpPr>
          <p:cNvPr id="21512" name="Rectangle 7"/>
          <p:cNvSpPr>
            <a:spLocks noChangeArrowheads="1"/>
          </p:cNvSpPr>
          <p:nvPr/>
        </p:nvSpPr>
        <p:spPr bwMode="auto">
          <a:xfrm>
            <a:off x="1676528" y="107848"/>
            <a:ext cx="7007665" cy="1941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000" b="1">
                <a:solidFill>
                  <a:srgbClr val="FF3300"/>
                </a:solidFill>
                <a:ea typeface="楷体_GB2312"/>
                <a:cs typeface="楷体_GB2312"/>
              </a:rPr>
              <a:t>葛正权实验原理（</a:t>
            </a:r>
            <a:r>
              <a:rPr lang="en-US" altLang="zh-CN" sz="3000" b="1">
                <a:solidFill>
                  <a:srgbClr val="FF3300"/>
                </a:solidFill>
                <a:ea typeface="楷体_GB2312"/>
                <a:cs typeface="楷体_GB2312"/>
              </a:rPr>
              <a:t>1933</a:t>
            </a:r>
            <a:r>
              <a:rPr lang="zh-CN" altLang="en-US" sz="3000" b="1">
                <a:solidFill>
                  <a:srgbClr val="FF3300"/>
                </a:solidFill>
                <a:ea typeface="楷体_GB2312"/>
                <a:cs typeface="楷体_GB2312"/>
              </a:rPr>
              <a:t>年），</a:t>
            </a:r>
            <a:endParaRPr lang="en-US" altLang="zh-CN" sz="3000" b="1">
              <a:solidFill>
                <a:srgbClr val="FF3300"/>
              </a:solidFill>
              <a:ea typeface="楷体_GB2312"/>
              <a:cs typeface="楷体_GB2312"/>
            </a:endParaRPr>
          </a:p>
          <a:p>
            <a:r>
              <a:rPr lang="zh-CN" altLang="en-US" sz="2500" b="1">
                <a:solidFill>
                  <a:srgbClr val="FF3300"/>
                </a:solidFill>
                <a:ea typeface="楷体_GB2312"/>
                <a:cs typeface="楷体_GB2312"/>
                <a:hlinkClick r:id="rId5"/>
              </a:rPr>
              <a:t>发表的文章 </a:t>
            </a:r>
            <a:r>
              <a:rPr lang="en-US" altLang="zh-CN" sz="2500">
                <a:hlinkClick r:id="rId6" tooltip="Go to Journal of the Franklin Institute on ScienceDirect"/>
              </a:rPr>
              <a:t>Journal of the Franklin Institute</a:t>
            </a:r>
            <a:endParaRPr lang="en-US" altLang="zh-CN" sz="2500" b="1"/>
          </a:p>
          <a:p>
            <a:r>
              <a:rPr lang="en-US" altLang="zh-CN" sz="2500">
                <a:hlinkClick r:id="rId7" tooltip="Go to table of contents for this volume/issue"/>
              </a:rPr>
              <a:t>Volume 217, Issue 2</a:t>
            </a:r>
            <a:r>
              <a:rPr lang="en-US" altLang="zh-CN" sz="2500"/>
              <a:t>, February 1934, Pages 173-199</a:t>
            </a:r>
          </a:p>
          <a:p>
            <a:pPr eaLnBrk="1" hangingPunct="1">
              <a:spcBef>
                <a:spcPct val="0"/>
              </a:spcBef>
              <a:buClrTx/>
              <a:buFontTx/>
              <a:buNone/>
            </a:pPr>
            <a:endParaRPr lang="zh-CN" altLang="en-US" sz="3000" b="1">
              <a:solidFill>
                <a:srgbClr val="FF3300"/>
              </a:solidFill>
              <a:ea typeface="楷体_GB2312"/>
              <a:cs typeface="楷体_GB2312"/>
            </a:endParaRPr>
          </a:p>
        </p:txBody>
      </p:sp>
      <p:sp>
        <p:nvSpPr>
          <p:cNvPr id="33801" name="Rectangle 8"/>
          <p:cNvSpPr>
            <a:spLocks noChangeArrowheads="1"/>
          </p:cNvSpPr>
          <p:nvPr/>
        </p:nvSpPr>
        <p:spPr bwMode="auto">
          <a:xfrm>
            <a:off x="4311650" y="4292600"/>
            <a:ext cx="120808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000" b="1">
                <a:solidFill>
                  <a:srgbClr val="0000FF"/>
                </a:solidFill>
                <a:ea typeface="楷体_GB2312"/>
                <a:cs typeface="楷体_GB2312"/>
              </a:rPr>
              <a:t>铋蒸汽源</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136194"/>
                                        </p:tgtEl>
                                        <p:attrNameLst>
                                          <p:attrName>style.visibility</p:attrName>
                                        </p:attrNameLst>
                                      </p:cBhvr>
                                      <p:to>
                                        <p:strVal val="visible"/>
                                      </p:to>
                                    </p:set>
                                    <p:anim to="" calcmode="lin" valueType="num">
                                      <p:cBhvr>
                                        <p:cTn id="7" dur="1" fill="hold"/>
                                        <p:tgtEl>
                                          <p:spTgt spid="136194"/>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nodeType="clickEffect">
                                  <p:stCondLst>
                                    <p:cond delay="0"/>
                                  </p:stCondLst>
                                  <p:childTnLst>
                                    <p:set>
                                      <p:cBhvr>
                                        <p:cTn id="11" dur="1" fill="hold">
                                          <p:stCondLst>
                                            <p:cond delay="499"/>
                                          </p:stCondLst>
                                        </p:cTn>
                                        <p:tgtEl>
                                          <p:spTgt spid="136195"/>
                                        </p:tgtEl>
                                        <p:attrNameLst>
                                          <p:attrName>style.visibility</p:attrName>
                                        </p:attrNameLst>
                                      </p:cBhvr>
                                      <p:to>
                                        <p:strVal val="visible"/>
                                      </p:to>
                                    </p:set>
                                    <p:anim to="" calcmode="lin" valueType="num">
                                      <p:cBhvr>
                                        <p:cTn id="12" dur="1" fill="hold"/>
                                        <p:tgtEl>
                                          <p:spTgt spid="136195"/>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801"/>
                                        </p:tgtEl>
                                        <p:attrNameLst>
                                          <p:attrName>style.visibility</p:attrName>
                                        </p:attrNameLst>
                                      </p:cBhvr>
                                      <p:to>
                                        <p:strVal val="visible"/>
                                      </p:to>
                                    </p:set>
                                    <p:animEffect transition="in" filter="blinds(horizontal)">
                                      <p:cBhvr>
                                        <p:cTn id="17" dur="500"/>
                                        <p:tgtEl>
                                          <p:spTgt spid="338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136196"/>
                                        </p:tgtEl>
                                        <p:attrNameLst>
                                          <p:attrName>style.visibility</p:attrName>
                                        </p:attrNameLst>
                                      </p:cBhvr>
                                      <p:to>
                                        <p:strVal val="visible"/>
                                      </p:to>
                                    </p:set>
                                    <p:anim to="" calcmode="lin" valueType="num">
                                      <p:cBhvr>
                                        <p:cTn id="22" dur="1" fill="hold"/>
                                        <p:tgtEl>
                                          <p:spTgt spid="136196"/>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grpId="0" nodeType="clickEffect">
                                  <p:stCondLst>
                                    <p:cond delay="0"/>
                                  </p:stCondLst>
                                  <p:childTnLst>
                                    <p:set>
                                      <p:cBhvr>
                                        <p:cTn id="26" dur="1" fill="hold">
                                          <p:stCondLst>
                                            <p:cond delay="499"/>
                                          </p:stCondLst>
                                        </p:cTn>
                                        <p:tgtEl>
                                          <p:spTgt spid="136197"/>
                                        </p:tgtEl>
                                        <p:attrNameLst>
                                          <p:attrName>style.visibility</p:attrName>
                                        </p:attrNameLst>
                                      </p:cBhvr>
                                      <p:to>
                                        <p:strVal val="visible"/>
                                      </p:to>
                                    </p:set>
                                    <p:anim to="" calcmode="lin" valueType="num">
                                      <p:cBhvr>
                                        <p:cTn id="27" dur="1" fill="hold"/>
                                        <p:tgtEl>
                                          <p:spTgt spid="136197"/>
                                        </p:tgtEl>
                                        <p:attrNameLst>
                                          <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4" presetClass="entr" presetSubtype="0" fill="hold" grpId="0" nodeType="clickEffect">
                                  <p:stCondLst>
                                    <p:cond delay="0"/>
                                  </p:stCondLst>
                                  <p:childTnLst>
                                    <p:set>
                                      <p:cBhvr>
                                        <p:cTn id="31" dur="1" fill="hold">
                                          <p:stCondLst>
                                            <p:cond delay="499"/>
                                          </p:stCondLst>
                                        </p:cTn>
                                        <p:tgtEl>
                                          <p:spTgt spid="136198"/>
                                        </p:tgtEl>
                                        <p:attrNameLst>
                                          <p:attrName>style.visibility</p:attrName>
                                        </p:attrNameLst>
                                      </p:cBhvr>
                                      <p:to>
                                        <p:strVal val="visible"/>
                                      </p:to>
                                    </p:set>
                                    <p:anim to="" calcmode="lin" valueType="num">
                                      <p:cBhvr>
                                        <p:cTn id="32" dur="1" fill="hold"/>
                                        <p:tgtEl>
                                          <p:spTgt spid="13619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utoUpdateAnimBg="0"/>
      <p:bldP spid="136196" grpId="0" autoUpdateAnimBg="0"/>
      <p:bldP spid="136197" grpId="0" autoUpdateAnimBg="0"/>
      <p:bldP spid="136198" grpId="0" autoUpdateAnimBg="0"/>
      <p:bldP spid="3380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FA7EBD99-F303-4D69-A814-42943CEE8981}" type="slidenum">
              <a:rPr kumimoji="0" lang="en-US" altLang="zh-CN" sz="1400" smtClean="0">
                <a:latin typeface="Arial" panose="020B0604020202020204" pitchFamily="34" charset="0"/>
              </a:rPr>
              <a:pPr>
                <a:spcBef>
                  <a:spcPct val="0"/>
                </a:spcBef>
                <a:buClrTx/>
                <a:buFontTx/>
                <a:buNone/>
              </a:pPr>
              <a:t>14</a:t>
            </a:fld>
            <a:endParaRPr kumimoji="0" lang="en-US" altLang="zh-CN" sz="1400">
              <a:latin typeface="Arial" panose="020B0604020202020204" pitchFamily="34" charset="0"/>
            </a:endParaRPr>
          </a:p>
        </p:txBody>
      </p:sp>
      <p:sp>
        <p:nvSpPr>
          <p:cNvPr id="137218" name="Text Box 2"/>
          <p:cNvSpPr txBox="1">
            <a:spLocks noChangeArrowheads="1"/>
          </p:cNvSpPr>
          <p:nvPr/>
        </p:nvSpPr>
        <p:spPr bwMode="auto">
          <a:xfrm>
            <a:off x="1014413" y="373063"/>
            <a:ext cx="372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ea typeface="楷体_GB2312"/>
                <a:cs typeface="楷体_GB2312"/>
              </a:rPr>
              <a:t>到达的位置与</a:t>
            </a:r>
            <a:r>
              <a:rPr lang="en-US" altLang="zh-CN" sz="2400" b="1" i="1">
                <a:ea typeface="楷体_GB2312"/>
                <a:cs typeface="楷体_GB2312"/>
              </a:rPr>
              <a:t>r</a:t>
            </a:r>
            <a:r>
              <a:rPr lang="zh-CN" altLang="en-US" sz="2400" b="1">
                <a:ea typeface="楷体_GB2312"/>
                <a:cs typeface="楷体_GB2312"/>
              </a:rPr>
              <a:t>、</a:t>
            </a:r>
            <a:r>
              <a:rPr lang="en-US" altLang="zh-CN" sz="2400" b="1" i="1">
                <a:ea typeface="楷体_GB2312"/>
                <a:cs typeface="楷体_GB2312"/>
              </a:rPr>
              <a:t>v</a:t>
            </a:r>
            <a:r>
              <a:rPr lang="zh-CN" altLang="en-US" sz="2400" b="1">
                <a:ea typeface="楷体_GB2312"/>
                <a:cs typeface="楷体_GB2312"/>
              </a:rPr>
              <a:t>、</a:t>
            </a:r>
            <a:r>
              <a:rPr lang="zh-CN" altLang="en-US" sz="2400" b="1" i="1">
                <a:ea typeface="楷体_GB2312"/>
                <a:cs typeface="楷体_GB2312"/>
                <a:sym typeface="Symbol" panose="05050102010706020507" pitchFamily="18" charset="2"/>
              </a:rPr>
              <a:t></a:t>
            </a:r>
            <a:r>
              <a:rPr lang="zh-CN" altLang="en-US" sz="2400" b="1">
                <a:ea typeface="楷体_GB2312"/>
                <a:cs typeface="楷体_GB2312"/>
              </a:rPr>
              <a:t>有关</a:t>
            </a:r>
          </a:p>
        </p:txBody>
      </p:sp>
      <p:sp>
        <p:nvSpPr>
          <p:cNvPr id="137219" name="Text Box 3"/>
          <p:cNvSpPr txBox="1">
            <a:spLocks noChangeArrowheads="1"/>
          </p:cNvSpPr>
          <p:nvPr/>
        </p:nvSpPr>
        <p:spPr bwMode="auto">
          <a:xfrm>
            <a:off x="709613" y="990600"/>
            <a:ext cx="75787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ea typeface="楷体_GB2312"/>
                <a:cs typeface="楷体_GB2312"/>
              </a:rPr>
              <a:t>C.  </a:t>
            </a:r>
            <a:r>
              <a:rPr lang="en-US" altLang="zh-CN" sz="2400" b="1" i="1">
                <a:ea typeface="楷体_GB2312"/>
                <a:cs typeface="楷体_GB2312"/>
              </a:rPr>
              <a:t>P</a:t>
            </a:r>
            <a:r>
              <a:rPr lang="en-US" altLang="zh-CN" sz="2400" b="1">
                <a:ea typeface="楷体_GB2312"/>
                <a:cs typeface="楷体_GB2312"/>
              </a:rPr>
              <a:t>’</a:t>
            </a:r>
            <a:r>
              <a:rPr lang="zh-CN" altLang="en-US" sz="2400" b="1">
                <a:ea typeface="楷体_GB2312"/>
                <a:cs typeface="楷体_GB2312"/>
              </a:rPr>
              <a:t>的位置计算。设滚筒的直径为</a:t>
            </a:r>
            <a:r>
              <a:rPr lang="en-US" altLang="zh-CN" sz="2400" b="1">
                <a:ea typeface="楷体_GB2312"/>
                <a:cs typeface="楷体_GB2312"/>
              </a:rPr>
              <a:t>D</a:t>
            </a:r>
            <a:r>
              <a:rPr lang="zh-CN" altLang="en-US" sz="2400" b="1">
                <a:ea typeface="楷体_GB2312"/>
                <a:cs typeface="楷体_GB2312"/>
              </a:rPr>
              <a:t>，则</a:t>
            </a:r>
            <a:r>
              <a:rPr lang="en-US" altLang="zh-CN" sz="2400" b="1" i="1">
                <a:ea typeface="楷体_GB2312"/>
                <a:cs typeface="楷体_GB2312"/>
              </a:rPr>
              <a:t>P</a:t>
            </a:r>
            <a:r>
              <a:rPr lang="en-US" altLang="zh-CN" sz="2400" b="1">
                <a:ea typeface="楷体_GB2312"/>
                <a:cs typeface="楷体_GB2312"/>
              </a:rPr>
              <a:t>’</a:t>
            </a:r>
            <a:r>
              <a:rPr lang="zh-CN" altLang="en-US" sz="2400" b="1">
                <a:ea typeface="楷体_GB2312"/>
                <a:cs typeface="楷体_GB2312"/>
              </a:rPr>
              <a:t>的位置满足</a:t>
            </a:r>
          </a:p>
        </p:txBody>
      </p:sp>
      <p:graphicFrame>
        <p:nvGraphicFramePr>
          <p:cNvPr id="137220" name="Object 4"/>
          <p:cNvGraphicFramePr>
            <a:graphicFrameLocks noChangeAspect="1"/>
          </p:cNvGraphicFramePr>
          <p:nvPr/>
        </p:nvGraphicFramePr>
        <p:xfrm>
          <a:off x="4210050" y="4048125"/>
          <a:ext cx="4933950" cy="2809875"/>
        </p:xfrm>
        <a:graphic>
          <a:graphicData uri="http://schemas.openxmlformats.org/presentationml/2006/ole">
            <mc:AlternateContent xmlns:mc="http://schemas.openxmlformats.org/markup-compatibility/2006">
              <mc:Choice xmlns:v="urn:schemas-microsoft-com:vml" Requires="v">
                <p:oleObj spid="_x0000_s22668" name="Picture" r:id="rId4" imgW="3009900" imgH="1638300" progId="Word.Picture.8">
                  <p:embed/>
                </p:oleObj>
              </mc:Choice>
              <mc:Fallback>
                <p:oleObj name="Picture" r:id="rId4" imgW="3009900" imgH="1638300"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0050" y="4048125"/>
                        <a:ext cx="4933950" cy="2809875"/>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7221" name="Object 5"/>
          <p:cNvGraphicFramePr>
            <a:graphicFrameLocks noChangeAspect="1"/>
          </p:cNvGraphicFramePr>
          <p:nvPr>
            <p:extLst>
              <p:ext uri="{D42A27DB-BD31-4B8C-83A1-F6EECF244321}">
                <p14:modId xmlns:p14="http://schemas.microsoft.com/office/powerpoint/2010/main" val="1448662077"/>
              </p:ext>
            </p:extLst>
          </p:nvPr>
        </p:nvGraphicFramePr>
        <p:xfrm>
          <a:off x="1704975" y="1697038"/>
          <a:ext cx="5835650" cy="1017587"/>
        </p:xfrm>
        <a:graphic>
          <a:graphicData uri="http://schemas.openxmlformats.org/presentationml/2006/ole">
            <mc:AlternateContent xmlns:mc="http://schemas.openxmlformats.org/markup-compatibility/2006">
              <mc:Choice xmlns:v="urn:schemas-microsoft-com:vml" Requires="v">
                <p:oleObj spid="_x0000_s22669" name="Equation" r:id="rId6" imgW="3784600" imgH="660400" progId="Equation.DSMT4">
                  <p:embed/>
                </p:oleObj>
              </mc:Choice>
              <mc:Fallback>
                <p:oleObj name="Equation" r:id="rId6" imgW="3784600" imgH="6604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4975" y="1697038"/>
                        <a:ext cx="5835650" cy="1017587"/>
                      </a:xfrm>
                      <a:prstGeom prst="rect">
                        <a:avLst/>
                      </a:prstGeom>
                      <a:solidFill>
                        <a:schemeClr val="tx1"/>
                      </a:solidFill>
                      <a:ln>
                        <a:noFill/>
                      </a:ln>
                      <a:effectLst/>
                      <a:extLst>
                        <a:ext uri="{91240B29-F687-4F45-9708-019B960494DF}">
                          <a14:hiddenLine xmlns:a14="http://schemas.microsoft.com/office/drawing/2010/main" w="38100">
                            <a:solidFill>
                              <a:srgbClr val="0000CC"/>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7222" name="Text Box 6"/>
          <p:cNvSpPr txBox="1">
            <a:spLocks noChangeArrowheads="1"/>
          </p:cNvSpPr>
          <p:nvPr/>
        </p:nvSpPr>
        <p:spPr bwMode="auto">
          <a:xfrm>
            <a:off x="685800" y="2819400"/>
            <a:ext cx="8177213"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ea typeface="楷体_GB2312"/>
                <a:cs typeface="楷体_GB2312"/>
              </a:rPr>
              <a:t>D.</a:t>
            </a:r>
            <a:r>
              <a:rPr lang="zh-CN" altLang="en-US" sz="2400" b="1">
                <a:ea typeface="楷体_GB2312"/>
                <a:cs typeface="楷体_GB2312"/>
              </a:rPr>
              <a:t>实验分析方法：铋蒸汽成带状分布，取等宽窄带，则每一</a:t>
            </a:r>
          </a:p>
          <a:p>
            <a:pPr eaLnBrk="1" hangingPunct="1">
              <a:spcBef>
                <a:spcPct val="50000"/>
              </a:spcBef>
              <a:buClrTx/>
              <a:buFontTx/>
              <a:buNone/>
            </a:pPr>
            <a:r>
              <a:rPr lang="zh-CN" altLang="en-US" sz="2400" b="1">
                <a:ea typeface="楷体_GB2312"/>
                <a:cs typeface="楷体_GB2312"/>
              </a:rPr>
              <a:t>　窄带的厚度比表示相应速率区间的分子数比</a:t>
            </a:r>
          </a:p>
        </p:txBody>
      </p:sp>
      <p:sp>
        <p:nvSpPr>
          <p:cNvPr id="137223" name="Text Box 7"/>
          <p:cNvSpPr txBox="1">
            <a:spLocks noChangeArrowheads="1"/>
          </p:cNvSpPr>
          <p:nvPr/>
        </p:nvSpPr>
        <p:spPr bwMode="auto">
          <a:xfrm>
            <a:off x="685800" y="3886200"/>
            <a:ext cx="1649413"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a:solidFill>
                  <a:srgbClr val="FF0000"/>
                </a:solidFill>
                <a:ea typeface="楷体_GB2312"/>
                <a:cs typeface="楷体_GB2312"/>
              </a:rPr>
              <a:t>3.</a:t>
            </a:r>
            <a:r>
              <a:rPr lang="zh-CN" altLang="en-US" sz="2400" b="1">
                <a:solidFill>
                  <a:srgbClr val="FF0000"/>
                </a:solidFill>
                <a:ea typeface="楷体_GB2312"/>
                <a:cs typeface="楷体_GB2312"/>
              </a:rPr>
              <a:t>实验结论</a:t>
            </a:r>
          </a:p>
        </p:txBody>
      </p:sp>
      <p:sp>
        <p:nvSpPr>
          <p:cNvPr id="137224" name="Text Box 8"/>
          <p:cNvSpPr txBox="1">
            <a:spLocks noChangeArrowheads="1"/>
          </p:cNvSpPr>
          <p:nvPr/>
        </p:nvSpPr>
        <p:spPr bwMode="auto">
          <a:xfrm>
            <a:off x="685800" y="4419600"/>
            <a:ext cx="326072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wrap="none"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ea typeface="楷体_GB2312"/>
                <a:cs typeface="楷体_GB2312"/>
              </a:rPr>
              <a:t>在确定实验条件下，分</a:t>
            </a:r>
          </a:p>
          <a:p>
            <a:pPr eaLnBrk="1" hangingPunct="1">
              <a:spcBef>
                <a:spcPct val="50000"/>
              </a:spcBef>
              <a:buClrTx/>
              <a:buFontTx/>
              <a:buNone/>
            </a:pPr>
            <a:r>
              <a:rPr lang="zh-CN" altLang="en-US" sz="2400" b="1">
                <a:ea typeface="楷体_GB2312"/>
                <a:cs typeface="楷体_GB2312"/>
              </a:rPr>
              <a:t>布在任一速率区间的分</a:t>
            </a:r>
          </a:p>
          <a:p>
            <a:pPr eaLnBrk="1" hangingPunct="1">
              <a:spcBef>
                <a:spcPct val="50000"/>
              </a:spcBef>
              <a:buClrTx/>
              <a:buFontTx/>
              <a:buNone/>
            </a:pPr>
            <a:r>
              <a:rPr lang="zh-CN" altLang="en-US" sz="2400" b="1">
                <a:ea typeface="楷体_GB2312"/>
                <a:cs typeface="楷体_GB2312"/>
              </a:rPr>
              <a:t>子数与总分子数的比值</a:t>
            </a:r>
          </a:p>
          <a:p>
            <a:pPr eaLnBrk="1" hangingPunct="1">
              <a:spcBef>
                <a:spcPct val="50000"/>
              </a:spcBef>
              <a:buClrTx/>
              <a:buFontTx/>
              <a:buNone/>
            </a:pPr>
            <a:r>
              <a:rPr lang="zh-CN" altLang="en-US" sz="2400" b="1">
                <a:ea typeface="楷体_GB2312"/>
                <a:cs typeface="楷体_GB2312"/>
              </a:rPr>
              <a:t>是确定的</a:t>
            </a:r>
          </a:p>
        </p:txBody>
      </p:sp>
      <p:cxnSp>
        <p:nvCxnSpPr>
          <p:cNvPr id="3" name="直接箭头连接符 2"/>
          <p:cNvCxnSpPr>
            <a:cxnSpLocks/>
          </p:cNvCxnSpPr>
          <p:nvPr/>
        </p:nvCxnSpPr>
        <p:spPr bwMode="auto">
          <a:xfrm flipV="1">
            <a:off x="8082642" y="5020867"/>
            <a:ext cx="610748" cy="72562"/>
          </a:xfrm>
          <a:prstGeom prst="straightConnector1">
            <a:avLst/>
          </a:prstGeom>
          <a:solidFill>
            <a:schemeClr val="accent1"/>
          </a:solidFill>
          <a:ln w="12700" cap="flat" cmpd="sng" algn="ctr">
            <a:solidFill>
              <a:srgbClr val="FF0000"/>
            </a:solidFill>
            <a:prstDash val="solid"/>
            <a:round/>
            <a:headEnd type="none" w="sm" len="sm"/>
            <a:tailEnd type="triangle"/>
          </a:ln>
          <a:effectLst/>
        </p:spPr>
      </p:cxnSp>
      <p:cxnSp>
        <p:nvCxnSpPr>
          <p:cNvPr id="8" name="直接箭头连接符 7"/>
          <p:cNvCxnSpPr>
            <a:cxnSpLocks/>
          </p:cNvCxnSpPr>
          <p:nvPr/>
        </p:nvCxnSpPr>
        <p:spPr bwMode="auto">
          <a:xfrm>
            <a:off x="8082642" y="5093429"/>
            <a:ext cx="607605" cy="63763"/>
          </a:xfrm>
          <a:prstGeom prst="straightConnector1">
            <a:avLst/>
          </a:prstGeom>
          <a:solidFill>
            <a:schemeClr val="accent1"/>
          </a:solidFill>
          <a:ln w="12700" cap="flat" cmpd="sng" algn="ctr">
            <a:solidFill>
              <a:srgbClr val="FF0000"/>
            </a:solidFill>
            <a:prstDash val="solid"/>
            <a:round/>
            <a:headEnd type="none" w="sm" len="sm"/>
            <a:tailEnd type="triangle"/>
          </a:ln>
          <a:effectLst/>
        </p:spPr>
      </p:cxn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C6AFFFA-3046-413C-8F08-6398C391ED9E}"/>
                  </a:ext>
                </a:extLst>
              </p:cNvPr>
              <p:cNvSpPr/>
              <p:nvPr/>
            </p:nvSpPr>
            <p:spPr>
              <a:xfrm>
                <a:off x="8288338" y="4824626"/>
                <a:ext cx="4437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accent2"/>
                          </a:solidFill>
                          <a:latin typeface="Cambria Math" panose="02040503050406030204" pitchFamily="18" charset="0"/>
                        </a:rPr>
                        <m:t>𝜃</m:t>
                      </m:r>
                    </m:oMath>
                  </m:oMathPara>
                </a14:m>
                <a:endParaRPr lang="zh-CN" altLang="en-US"/>
              </a:p>
            </p:txBody>
          </p:sp>
        </mc:Choice>
        <mc:Fallback xmlns="">
          <p:sp>
            <p:nvSpPr>
              <p:cNvPr id="6" name="矩形 5">
                <a:extLst>
                  <a:ext uri="{FF2B5EF4-FFF2-40B4-BE49-F238E27FC236}">
                    <a16:creationId xmlns:a16="http://schemas.microsoft.com/office/drawing/2014/main" id="{1C6AFFFA-3046-413C-8F08-6398C391ED9E}"/>
                  </a:ext>
                </a:extLst>
              </p:cNvPr>
              <p:cNvSpPr>
                <a:spLocks noRot="1" noChangeAspect="1" noMove="1" noResize="1" noEditPoints="1" noAdjustHandles="1" noChangeArrowheads="1" noChangeShapeType="1" noTextEdit="1"/>
              </p:cNvSpPr>
              <p:nvPr/>
            </p:nvSpPr>
            <p:spPr>
              <a:xfrm>
                <a:off x="8288338" y="4824626"/>
                <a:ext cx="443775" cy="461665"/>
              </a:xfrm>
              <a:prstGeom prst="rect">
                <a:avLst/>
              </a:prstGeom>
              <a:blipFill>
                <a:blip r:embed="rId8"/>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499"/>
                                          </p:stCondLst>
                                        </p:cTn>
                                        <p:tgtEl>
                                          <p:spTgt spid="137220"/>
                                        </p:tgtEl>
                                        <p:attrNameLst>
                                          <p:attrName>style.visibility</p:attrName>
                                        </p:attrNameLst>
                                      </p:cBhvr>
                                      <p:to>
                                        <p:strVal val="visible"/>
                                      </p:to>
                                    </p:set>
                                    <p:anim to="" calcmode="lin" valueType="num">
                                      <p:cBhvr>
                                        <p:cTn id="7" dur="1" fill="hold"/>
                                        <p:tgtEl>
                                          <p:spTgt spid="137220"/>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137218"/>
                                        </p:tgtEl>
                                        <p:attrNameLst>
                                          <p:attrName>style.visibility</p:attrName>
                                        </p:attrNameLst>
                                      </p:cBhvr>
                                      <p:to>
                                        <p:strVal val="visible"/>
                                      </p:to>
                                    </p:set>
                                    <p:anim to="" calcmode="lin" valueType="num">
                                      <p:cBhvr>
                                        <p:cTn id="12" dur="1" fill="hold"/>
                                        <p:tgtEl>
                                          <p:spTgt spid="137218"/>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137219"/>
                                        </p:tgtEl>
                                        <p:attrNameLst>
                                          <p:attrName>style.visibility</p:attrName>
                                        </p:attrNameLst>
                                      </p:cBhvr>
                                      <p:to>
                                        <p:strVal val="visible"/>
                                      </p:to>
                                    </p:set>
                                    <p:anim to="" calcmode="lin" valueType="num">
                                      <p:cBhvr>
                                        <p:cTn id="17" dur="1" fill="hold"/>
                                        <p:tgtEl>
                                          <p:spTgt spid="137219"/>
                                        </p:tgtEl>
                                        <p:attrNameLst>
                                          <p:attrName/>
                                        </p:attrNameLst>
                                      </p:cBhvr>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4" presetClass="entr" presetSubtype="0" fill="hold" nodeType="clickEffect">
                                  <p:stCondLst>
                                    <p:cond delay="0"/>
                                  </p:stCondLst>
                                  <p:childTnLst>
                                    <p:set>
                                      <p:cBhvr>
                                        <p:cTn id="21" dur="1" fill="hold">
                                          <p:stCondLst>
                                            <p:cond delay="499"/>
                                          </p:stCondLst>
                                        </p:cTn>
                                        <p:tgtEl>
                                          <p:spTgt spid="137221"/>
                                        </p:tgtEl>
                                        <p:attrNameLst>
                                          <p:attrName>style.visibility</p:attrName>
                                        </p:attrNameLst>
                                      </p:cBhvr>
                                      <p:to>
                                        <p:strVal val="visible"/>
                                      </p:to>
                                    </p:set>
                                    <p:anim to="" calcmode="lin" valueType="num">
                                      <p:cBhvr>
                                        <p:cTn id="22" dur="1" fill="hold"/>
                                        <p:tgtEl>
                                          <p:spTgt spid="137221"/>
                                        </p:tgtEl>
                                        <p:attrNameLst>
                                          <p:attrName/>
                                        </p:attrNameLst>
                                      </p:cBhvr>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4" presetClass="entr" presetSubtype="0" fill="hold" grpId="0" nodeType="clickEffect">
                                  <p:stCondLst>
                                    <p:cond delay="0"/>
                                  </p:stCondLst>
                                  <p:childTnLst>
                                    <p:set>
                                      <p:cBhvr>
                                        <p:cTn id="26" dur="1" fill="hold">
                                          <p:stCondLst>
                                            <p:cond delay="499"/>
                                          </p:stCondLst>
                                        </p:cTn>
                                        <p:tgtEl>
                                          <p:spTgt spid="137222"/>
                                        </p:tgtEl>
                                        <p:attrNameLst>
                                          <p:attrName>style.visibility</p:attrName>
                                        </p:attrNameLst>
                                      </p:cBhvr>
                                      <p:to>
                                        <p:strVal val="visible"/>
                                      </p:to>
                                    </p:set>
                                    <p:anim to="" calcmode="lin" valueType="num">
                                      <p:cBhvr>
                                        <p:cTn id="27" dur="1" fill="hold"/>
                                        <p:tgtEl>
                                          <p:spTgt spid="137222"/>
                                        </p:tgtEl>
                                        <p:attrNameLst>
                                          <p:attrName/>
                                        </p:attrNameLst>
                                      </p:cBhvr>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4" presetClass="entr" presetSubtype="0" fill="hold" grpId="0" nodeType="clickEffect">
                                  <p:stCondLst>
                                    <p:cond delay="0"/>
                                  </p:stCondLst>
                                  <p:childTnLst>
                                    <p:set>
                                      <p:cBhvr>
                                        <p:cTn id="31" dur="1" fill="hold">
                                          <p:stCondLst>
                                            <p:cond delay="499"/>
                                          </p:stCondLst>
                                        </p:cTn>
                                        <p:tgtEl>
                                          <p:spTgt spid="137223"/>
                                        </p:tgtEl>
                                        <p:attrNameLst>
                                          <p:attrName>style.visibility</p:attrName>
                                        </p:attrNameLst>
                                      </p:cBhvr>
                                      <p:to>
                                        <p:strVal val="visible"/>
                                      </p:to>
                                    </p:set>
                                    <p:anim to="" calcmode="lin" valueType="num">
                                      <p:cBhvr>
                                        <p:cTn id="32" dur="1" fill="hold"/>
                                        <p:tgtEl>
                                          <p:spTgt spid="137223"/>
                                        </p:tgtEl>
                                        <p:attrNameLst>
                                          <p:attrName/>
                                        </p:attrNameLst>
                                      </p:cBhvr>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4" presetClass="entr" presetSubtype="0" fill="hold" grpId="0" nodeType="clickEffect">
                                  <p:stCondLst>
                                    <p:cond delay="0"/>
                                  </p:stCondLst>
                                  <p:childTnLst>
                                    <p:set>
                                      <p:cBhvr>
                                        <p:cTn id="36" dur="1" fill="hold">
                                          <p:stCondLst>
                                            <p:cond delay="499"/>
                                          </p:stCondLst>
                                        </p:cTn>
                                        <p:tgtEl>
                                          <p:spTgt spid="137224"/>
                                        </p:tgtEl>
                                        <p:attrNameLst>
                                          <p:attrName>style.visibility</p:attrName>
                                        </p:attrNameLst>
                                      </p:cBhvr>
                                      <p:to>
                                        <p:strVal val="visible"/>
                                      </p:to>
                                    </p:set>
                                    <p:anim to="" calcmode="lin" valueType="num">
                                      <p:cBhvr>
                                        <p:cTn id="37" dur="1" fill="hold"/>
                                        <p:tgtEl>
                                          <p:spTgt spid="13722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utoUpdateAnimBg="0"/>
      <p:bldP spid="137219" grpId="0" autoUpdateAnimBg="0"/>
      <p:bldP spid="137222" grpId="0" autoUpdateAnimBg="0"/>
      <p:bldP spid="137223" grpId="0" autoUpdateAnimBg="0"/>
      <p:bldP spid="13722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847A8D08-0616-4FE7-BBC0-ED13A6209B00}" type="slidenum">
              <a:rPr kumimoji="0" lang="en-US" altLang="zh-CN" sz="1400" smtClean="0">
                <a:latin typeface="Arial" panose="020B0604020202020204" pitchFamily="34" charset="0"/>
              </a:rPr>
              <a:pPr>
                <a:spcBef>
                  <a:spcPct val="0"/>
                </a:spcBef>
                <a:buClrTx/>
                <a:buFontTx/>
                <a:buNone/>
              </a:pPr>
              <a:t>15</a:t>
            </a:fld>
            <a:endParaRPr kumimoji="0" lang="en-US" altLang="zh-CN" sz="1400">
              <a:latin typeface="Arial" panose="020B0604020202020204" pitchFamily="34" charset="0"/>
            </a:endParaRPr>
          </a:p>
        </p:txBody>
      </p:sp>
      <p:sp>
        <p:nvSpPr>
          <p:cNvPr id="138242" name="Text Box 2"/>
          <p:cNvSpPr txBox="1">
            <a:spLocks noChangeArrowheads="1"/>
          </p:cNvSpPr>
          <p:nvPr/>
        </p:nvSpPr>
        <p:spPr bwMode="auto">
          <a:xfrm>
            <a:off x="0" y="188913"/>
            <a:ext cx="9144000" cy="1301750"/>
          </a:xfrm>
          <a:prstGeom prst="rect">
            <a:avLst/>
          </a:prstGeom>
          <a:gradFill rotWithShape="0">
            <a:gsLst>
              <a:gs pos="0">
                <a:srgbClr val="ADB044">
                  <a:alpha val="60001"/>
                </a:srgbClr>
              </a:gs>
              <a:gs pos="50000">
                <a:srgbClr val="ADB044">
                  <a:gamma/>
                  <a:tint val="0"/>
                  <a:invGamma/>
                </a:srgbClr>
              </a:gs>
              <a:gs pos="100000">
                <a:srgbClr val="ADB044">
                  <a:alpha val="60001"/>
                </a:srgbClr>
              </a:gs>
            </a:gsLst>
            <a:lin ang="5400000" scaled="1"/>
          </a:gradFill>
          <a:ln w="9525">
            <a:noFill/>
            <a:miter lim="800000"/>
            <a:headEnd/>
            <a:tailEnd/>
          </a:ln>
          <a:effectLst>
            <a:outerShdw dist="162639" dir="18519588" algn="ctr" rotWithShape="0">
              <a:srgbClr val="D9FB9D"/>
            </a:outerShdw>
          </a:effectLst>
        </p:spPr>
        <p:txBody>
          <a:bodyPr lIns="92075" tIns="46038" rIns="92075" bIns="46038" anchor="ctr"/>
          <a:lstStyle/>
          <a:p>
            <a:pPr>
              <a:defRPr/>
            </a:pPr>
            <a:r>
              <a:rPr lang="en-US" altLang="zh-CN" sz="2000" b="1">
                <a:solidFill>
                  <a:srgbClr val="FF3300"/>
                </a:solidFill>
                <a:ea typeface="楷体_GB2312"/>
                <a:cs typeface="楷体_GB2312"/>
              </a:rPr>
              <a:t>1955</a:t>
            </a:r>
            <a:r>
              <a:rPr lang="zh-CN" altLang="en-US" sz="2000" b="1">
                <a:solidFill>
                  <a:srgbClr val="FF3300"/>
                </a:solidFill>
                <a:ea typeface="楷体_GB2312"/>
                <a:cs typeface="楷体_GB2312"/>
              </a:rPr>
              <a:t>年</a:t>
            </a:r>
            <a:r>
              <a:rPr lang="en-US" altLang="zh-CN" sz="2000" b="1">
                <a:solidFill>
                  <a:srgbClr val="FF3300"/>
                </a:solidFill>
                <a:ea typeface="楷体_GB2312"/>
                <a:cs typeface="楷体_GB2312"/>
              </a:rPr>
              <a:t>,</a:t>
            </a:r>
            <a:r>
              <a:rPr lang="zh-CN" altLang="en-US" sz="2000" b="1">
                <a:solidFill>
                  <a:srgbClr val="FF3300"/>
                </a:solidFill>
                <a:ea typeface="楷体_GB2312"/>
                <a:cs typeface="楷体_GB2312"/>
              </a:rPr>
              <a:t>利用已经相当成熟的分子束实验技术</a:t>
            </a:r>
            <a:r>
              <a:rPr lang="en-US" altLang="zh-CN" sz="2000" b="1">
                <a:solidFill>
                  <a:srgbClr val="FF3300"/>
                </a:solidFill>
                <a:ea typeface="楷体_GB2312"/>
                <a:cs typeface="楷体_GB2312"/>
              </a:rPr>
              <a:t>,</a:t>
            </a:r>
            <a:r>
              <a:rPr lang="zh-CN" altLang="en-US" sz="2000" b="1">
                <a:solidFill>
                  <a:srgbClr val="FF3300"/>
                </a:solidFill>
                <a:ea typeface="楷体_GB2312"/>
                <a:cs typeface="楷体_GB2312"/>
              </a:rPr>
              <a:t>美国哥伦比亚大学的密勒</a:t>
            </a:r>
            <a:r>
              <a:rPr lang="en-US" altLang="zh-CN" sz="2000" b="1">
                <a:solidFill>
                  <a:srgbClr val="FF3300"/>
                </a:solidFill>
                <a:ea typeface="楷体_GB2312"/>
                <a:cs typeface="楷体_GB2312"/>
              </a:rPr>
              <a:t>(R.C.Miller)</a:t>
            </a:r>
            <a:r>
              <a:rPr lang="zh-CN" altLang="en-US" sz="2000" b="1">
                <a:solidFill>
                  <a:srgbClr val="FF3300"/>
                </a:solidFill>
                <a:ea typeface="楷体_GB2312"/>
                <a:cs typeface="楷体_GB2312"/>
              </a:rPr>
              <a:t>和库什</a:t>
            </a:r>
            <a:r>
              <a:rPr lang="en-US" altLang="zh-CN" sz="2000" b="1">
                <a:solidFill>
                  <a:srgbClr val="FF3300"/>
                </a:solidFill>
                <a:ea typeface="楷体_GB2312"/>
                <a:cs typeface="楷体_GB2312"/>
              </a:rPr>
              <a:t>(P.Kusch)</a:t>
            </a:r>
            <a:r>
              <a:rPr lang="zh-CN" altLang="en-US" sz="2000" b="1">
                <a:solidFill>
                  <a:srgbClr val="FF3300"/>
                </a:solidFill>
                <a:ea typeface="楷体_GB2312"/>
                <a:cs typeface="楷体_GB2312"/>
              </a:rPr>
              <a:t>以更高的分辨率，更强的分子射束和</a:t>
            </a:r>
            <a:r>
              <a:rPr lang="zh-CN" altLang="en-US" sz="2000" b="1">
                <a:solidFill>
                  <a:srgbClr val="FF3300"/>
                </a:solidFill>
                <a:ea typeface="楷体_GB2312"/>
                <a:cs typeface="楷体_GB2312"/>
                <a:hlinkClick r:id="rId2"/>
              </a:rPr>
              <a:t>螺旋槽速度选择器</a:t>
            </a:r>
            <a:r>
              <a:rPr lang="zh-CN" altLang="en-US" sz="2000" b="1">
                <a:solidFill>
                  <a:srgbClr val="FF3300"/>
                </a:solidFill>
                <a:ea typeface="楷体_GB2312"/>
                <a:cs typeface="楷体_GB2312"/>
              </a:rPr>
              <a:t>，测量了钾和铊的蒸汽分子的速率分布</a:t>
            </a:r>
            <a:r>
              <a:rPr lang="en-US" altLang="zh-CN" sz="2000" b="1">
                <a:solidFill>
                  <a:srgbClr val="FF3300"/>
                </a:solidFill>
                <a:ea typeface="楷体_GB2312"/>
                <a:cs typeface="楷体_GB2312"/>
              </a:rPr>
              <a:t>,</a:t>
            </a:r>
            <a:r>
              <a:rPr lang="zh-CN" altLang="en-US" sz="2000" b="1">
                <a:solidFill>
                  <a:srgbClr val="FF3300"/>
                </a:solidFill>
                <a:ea typeface="楷体_GB2312"/>
                <a:cs typeface="楷体_GB2312"/>
              </a:rPr>
              <a:t>所得实验数据与理论曲线符合的极好。 </a:t>
            </a:r>
            <a:endParaRPr lang="zh-CN" altLang="en-US" sz="2000" b="1" dirty="0">
              <a:solidFill>
                <a:srgbClr val="FF3300"/>
              </a:solidFill>
              <a:ea typeface="楷体_GB2312"/>
              <a:cs typeface="楷体_GB2312"/>
            </a:endParaRPr>
          </a:p>
        </p:txBody>
      </p:sp>
      <p:sp>
        <p:nvSpPr>
          <p:cNvPr id="138243" name="Text Box 3"/>
          <p:cNvSpPr txBox="1">
            <a:spLocks noChangeArrowheads="1"/>
          </p:cNvSpPr>
          <p:nvPr/>
        </p:nvSpPr>
        <p:spPr bwMode="auto">
          <a:xfrm>
            <a:off x="0" y="1628775"/>
            <a:ext cx="370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000" b="1">
                <a:solidFill>
                  <a:srgbClr val="FF0000"/>
                </a:solidFill>
                <a:ea typeface="楷体_GB2312"/>
                <a:cs typeface="楷体_GB2312"/>
              </a:rPr>
              <a:t>1</a:t>
            </a:r>
            <a:r>
              <a:rPr lang="zh-CN" altLang="en-US" sz="2000" b="1">
                <a:solidFill>
                  <a:srgbClr val="FF0000"/>
                </a:solidFill>
                <a:ea typeface="楷体_GB2312"/>
                <a:cs typeface="楷体_GB2312"/>
              </a:rPr>
              <a:t>、实验装置</a:t>
            </a:r>
          </a:p>
        </p:txBody>
      </p:sp>
      <p:pic>
        <p:nvPicPr>
          <p:cNvPr id="138244" name="Picture 4">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63" y="1663700"/>
            <a:ext cx="2514600" cy="2011363"/>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138245" name="Text Box 5"/>
          <p:cNvSpPr txBox="1">
            <a:spLocks noChangeArrowheads="1"/>
          </p:cNvSpPr>
          <p:nvPr/>
        </p:nvSpPr>
        <p:spPr bwMode="auto">
          <a:xfrm>
            <a:off x="4251325" y="1436688"/>
            <a:ext cx="48926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1">
                <a:cs typeface="Arial" panose="020B0604020202020204" pitchFamily="34" charset="0"/>
              </a:rPr>
              <a:t>O——</a:t>
            </a:r>
            <a:r>
              <a:rPr lang="zh-CN" altLang="en-US" sz="2000" b="1">
                <a:cs typeface="Arial" panose="020B0604020202020204" pitchFamily="34" charset="0"/>
              </a:rPr>
              <a:t>蒸汽源</a:t>
            </a:r>
            <a:r>
              <a:rPr lang="en-US" altLang="zh-CN" sz="2000" b="1">
                <a:cs typeface="Arial" panose="020B0604020202020204" pitchFamily="34" charset="0"/>
              </a:rPr>
              <a:t>; S ——</a:t>
            </a:r>
            <a:r>
              <a:rPr lang="zh-CN" altLang="en-US" sz="2000" b="1">
                <a:cs typeface="Arial" panose="020B0604020202020204" pitchFamily="34" charset="0"/>
              </a:rPr>
              <a:t>分子束射出方向孔</a:t>
            </a:r>
          </a:p>
          <a:p>
            <a:pPr eaLnBrk="1" hangingPunct="1">
              <a:spcBef>
                <a:spcPct val="0"/>
              </a:spcBef>
              <a:buClrTx/>
              <a:buFontTx/>
              <a:buNone/>
            </a:pPr>
            <a:r>
              <a:rPr lang="en-US" altLang="zh-CN" sz="2000" b="1">
                <a:cs typeface="Arial" panose="020B0604020202020204" pitchFamily="34" charset="0"/>
              </a:rPr>
              <a:t>R ——</a:t>
            </a:r>
            <a:r>
              <a:rPr lang="zh-CN" altLang="en-US" sz="2000" b="1">
                <a:cs typeface="Arial" panose="020B0604020202020204" pitchFamily="34" charset="0"/>
              </a:rPr>
              <a:t>长为 </a:t>
            </a:r>
            <a:r>
              <a:rPr lang="en-US" altLang="zh-CN" sz="2000" b="1" i="1">
                <a:cs typeface="Arial" panose="020B0604020202020204" pitchFamily="34" charset="0"/>
              </a:rPr>
              <a:t>l </a:t>
            </a:r>
            <a:r>
              <a:rPr lang="zh-CN" altLang="en-US" sz="2000" b="1">
                <a:cs typeface="Arial" panose="020B0604020202020204" pitchFamily="34" charset="0"/>
              </a:rPr>
              <a:t>、刻有螺旋形细槽的铝钢滚筒</a:t>
            </a:r>
            <a:r>
              <a:rPr lang="en-US" altLang="zh-CN" sz="2000" b="1">
                <a:cs typeface="Arial" panose="020B0604020202020204" pitchFamily="34" charset="0"/>
              </a:rPr>
              <a:t>;D ——</a:t>
            </a:r>
            <a:r>
              <a:rPr lang="zh-CN" altLang="en-US" sz="2000" b="1">
                <a:cs typeface="Arial" panose="020B0604020202020204" pitchFamily="34" charset="0"/>
              </a:rPr>
              <a:t>检测器，测定通过细槽的分子射线强度</a:t>
            </a:r>
          </a:p>
        </p:txBody>
      </p:sp>
      <p:sp>
        <p:nvSpPr>
          <p:cNvPr id="138246" name="Text Box 6"/>
          <p:cNvSpPr txBox="1">
            <a:spLocks noChangeArrowheads="1"/>
          </p:cNvSpPr>
          <p:nvPr/>
        </p:nvSpPr>
        <p:spPr bwMode="auto">
          <a:xfrm>
            <a:off x="0" y="3716338"/>
            <a:ext cx="3059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1">
                <a:solidFill>
                  <a:srgbClr val="FF0000"/>
                </a:solidFill>
                <a:ea typeface="楷体_GB2312"/>
                <a:cs typeface="楷体_GB2312"/>
              </a:rPr>
              <a:t>2</a:t>
            </a:r>
            <a:r>
              <a:rPr lang="zh-CN" altLang="en-US" sz="2000" b="1">
                <a:solidFill>
                  <a:srgbClr val="FF0000"/>
                </a:solidFill>
                <a:ea typeface="楷体_GB2312"/>
                <a:cs typeface="楷体_GB2312"/>
              </a:rPr>
              <a:t>、实验原理</a:t>
            </a:r>
          </a:p>
        </p:txBody>
      </p:sp>
      <p:sp>
        <p:nvSpPr>
          <p:cNvPr id="27658" name="Text Box 8"/>
          <p:cNvSpPr txBox="1">
            <a:spLocks noChangeArrowheads="1"/>
          </p:cNvSpPr>
          <p:nvPr/>
        </p:nvSpPr>
        <p:spPr bwMode="auto">
          <a:xfrm>
            <a:off x="5580063" y="2708275"/>
            <a:ext cx="3563937"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sz="2400" b="1">
                <a:solidFill>
                  <a:srgbClr val="FF3300"/>
                </a:solidFill>
                <a:ea typeface="楷体_GB2312"/>
                <a:cs typeface="楷体_GB2312"/>
              </a:rPr>
              <a:t> </a:t>
            </a:r>
            <a:r>
              <a:rPr lang="zh-CN" altLang="en-US" sz="2400" b="1">
                <a:solidFill>
                  <a:schemeClr val="accent1"/>
                </a:solidFill>
                <a:ea typeface="楷体_GB2312"/>
                <a:cs typeface="楷体_GB2312"/>
              </a:rPr>
              <a:t>旋转滚筒</a:t>
            </a:r>
            <a:r>
              <a:rPr lang="en-US" altLang="zh-CN" sz="2400" b="1">
                <a:solidFill>
                  <a:schemeClr val="accent1"/>
                </a:solidFill>
                <a:ea typeface="楷体_GB2312"/>
                <a:cs typeface="楷体_GB2312"/>
              </a:rPr>
              <a:t>R</a:t>
            </a:r>
            <a:r>
              <a:rPr lang="zh-CN" altLang="en-US" sz="2400" b="1">
                <a:solidFill>
                  <a:schemeClr val="accent1"/>
                </a:solidFill>
                <a:ea typeface="楷体_GB2312"/>
                <a:cs typeface="楷体_GB2312"/>
              </a:rPr>
              <a:t>，</a:t>
            </a:r>
            <a:r>
              <a:rPr lang="en-US" altLang="zh-CN" sz="2400" b="1">
                <a:solidFill>
                  <a:schemeClr val="accent1"/>
                </a:solidFill>
                <a:ea typeface="楷体_GB2312"/>
                <a:cs typeface="楷体_GB2312"/>
              </a:rPr>
              <a:t>R</a:t>
            </a:r>
            <a:r>
              <a:rPr lang="zh-CN" altLang="en-US" sz="2400" b="1">
                <a:solidFill>
                  <a:schemeClr val="accent1"/>
                </a:solidFill>
                <a:ea typeface="楷体_GB2312"/>
                <a:cs typeface="楷体_GB2312"/>
              </a:rPr>
              <a:t>上的螺旋形沟槽，只允许速率</a:t>
            </a:r>
            <a:r>
              <a:rPr lang="zh-CN" altLang="en-US" sz="2400" b="1" i="1">
                <a:solidFill>
                  <a:schemeClr val="accent1"/>
                </a:solidFill>
                <a:ea typeface="楷体_GB2312"/>
                <a:cs typeface="楷体_GB2312"/>
              </a:rPr>
              <a:t> </a:t>
            </a:r>
            <a:r>
              <a:rPr lang="en-US" altLang="zh-CN" sz="2400" b="1" i="1">
                <a:ea typeface="楷体_GB2312"/>
                <a:cs typeface="楷体_GB2312"/>
              </a:rPr>
              <a:t>v=l</a:t>
            </a:r>
            <a:r>
              <a:rPr lang="en-US" altLang="zh-CN" sz="2400" b="1" i="1">
                <a:ea typeface="楷体_GB2312"/>
                <a:cs typeface="楷体_GB2312"/>
                <a:sym typeface="Symbol" panose="05050102010706020507" pitchFamily="18" charset="2"/>
              </a:rPr>
              <a:t>/</a:t>
            </a:r>
            <a:r>
              <a:rPr lang="en-US" altLang="zh-CN" sz="2400" b="1" i="1">
                <a:solidFill>
                  <a:schemeClr val="accent1"/>
                </a:solidFill>
                <a:ea typeface="楷体_GB2312"/>
                <a:cs typeface="楷体_GB2312"/>
              </a:rPr>
              <a:t> </a:t>
            </a:r>
            <a:r>
              <a:rPr lang="en-US" altLang="zh-CN" sz="2400" b="1">
                <a:solidFill>
                  <a:schemeClr val="accent1"/>
                </a:solidFill>
                <a:ea typeface="楷体_GB2312"/>
                <a:cs typeface="楷体_GB2312"/>
              </a:rPr>
              <a:t>  </a:t>
            </a:r>
            <a:r>
              <a:rPr lang="zh-CN" altLang="en-US" sz="2400" b="1">
                <a:solidFill>
                  <a:schemeClr val="accent1"/>
                </a:solidFill>
                <a:ea typeface="楷体_GB2312"/>
                <a:cs typeface="楷体_GB2312"/>
              </a:rPr>
              <a:t>严格被限定的分子通过这些沟槽而不和沟槽壁碰撞，该速率与滚筒</a:t>
            </a:r>
            <a:r>
              <a:rPr lang="en-US" altLang="zh-CN" sz="2400" b="1">
                <a:solidFill>
                  <a:schemeClr val="accent1"/>
                </a:solidFill>
                <a:ea typeface="楷体_GB2312"/>
                <a:cs typeface="楷体_GB2312"/>
              </a:rPr>
              <a:t>R</a:t>
            </a:r>
            <a:r>
              <a:rPr lang="zh-CN" altLang="en-US" sz="2400" b="1">
                <a:solidFill>
                  <a:schemeClr val="accent1"/>
                </a:solidFill>
                <a:ea typeface="楷体_GB2312"/>
                <a:cs typeface="楷体_GB2312"/>
              </a:rPr>
              <a:t>的旋转角速率</a:t>
            </a:r>
            <a:r>
              <a:rPr lang="en-US" altLang="zh-CN" sz="2400" b="1" i="1">
                <a:solidFill>
                  <a:schemeClr val="accent1"/>
                </a:solidFill>
                <a:ea typeface="楷体_GB2312"/>
                <a:cs typeface="楷体_GB2312"/>
              </a:rPr>
              <a:t>ω</a:t>
            </a:r>
            <a:r>
              <a:rPr lang="zh-CN" altLang="en-US" sz="2400" b="1">
                <a:solidFill>
                  <a:schemeClr val="accent1"/>
                </a:solidFill>
                <a:ea typeface="楷体_GB2312"/>
                <a:cs typeface="楷体_GB2312"/>
              </a:rPr>
              <a:t>成正比</a:t>
            </a:r>
            <a:r>
              <a:rPr lang="en-US" altLang="zh-CN" sz="2400" b="1">
                <a:solidFill>
                  <a:schemeClr val="accent1"/>
                </a:solidFill>
                <a:ea typeface="楷体_GB2312"/>
                <a:cs typeface="楷体_GB2312"/>
              </a:rPr>
              <a:t>,</a:t>
            </a:r>
            <a:r>
              <a:rPr lang="zh-CN" altLang="en-US" sz="2400" b="1">
                <a:solidFill>
                  <a:schemeClr val="accent1"/>
                </a:solidFill>
                <a:ea typeface="楷体_GB2312"/>
                <a:cs typeface="楷体_GB2312"/>
              </a:rPr>
              <a:t>，改变</a:t>
            </a:r>
            <a:r>
              <a:rPr lang="en-US" altLang="zh-CN" sz="2400" b="1" i="1">
                <a:solidFill>
                  <a:schemeClr val="accent1"/>
                </a:solidFill>
                <a:ea typeface="楷体_GB2312"/>
                <a:cs typeface="楷体_GB2312"/>
              </a:rPr>
              <a:t>ω</a:t>
            </a:r>
            <a:r>
              <a:rPr lang="zh-CN" altLang="en-US" sz="2400" b="1">
                <a:solidFill>
                  <a:schemeClr val="accent1"/>
                </a:solidFill>
                <a:ea typeface="楷体_GB2312"/>
                <a:cs typeface="楷体_GB2312"/>
              </a:rPr>
              <a:t>就可以让不同速率的分子通过。</a:t>
            </a:r>
          </a:p>
          <a:p>
            <a:pPr eaLnBrk="1" hangingPunct="1">
              <a:buClrTx/>
              <a:buFontTx/>
              <a:buNone/>
            </a:pPr>
            <a:r>
              <a:rPr lang="en-US" altLang="zh-CN" sz="2400" b="1" i="1">
                <a:solidFill>
                  <a:schemeClr val="accent1"/>
                </a:solidFill>
                <a:ea typeface="楷体_GB2312"/>
                <a:cs typeface="楷体_GB2312"/>
              </a:rPr>
              <a:t>φ</a:t>
            </a:r>
            <a:r>
              <a:rPr lang="zh-CN" altLang="en-US" sz="2400" b="1">
                <a:solidFill>
                  <a:schemeClr val="accent1"/>
                </a:solidFill>
                <a:ea typeface="楷体_GB2312"/>
                <a:cs typeface="楷体_GB2312"/>
              </a:rPr>
              <a:t>为</a:t>
            </a:r>
            <a:r>
              <a:rPr lang="zh-CN" altLang="en-US" sz="2400" b="1" i="1">
                <a:solidFill>
                  <a:schemeClr val="accent1"/>
                </a:solidFill>
                <a:ea typeface="楷体_GB2312"/>
                <a:cs typeface="楷体_GB2312"/>
              </a:rPr>
              <a:t>一</a:t>
            </a:r>
            <a:r>
              <a:rPr lang="zh-CN" altLang="en-US" sz="2400" b="1">
                <a:solidFill>
                  <a:schemeClr val="accent1"/>
                </a:solidFill>
                <a:ea typeface="楷体_GB2312"/>
                <a:cs typeface="楷体_GB2312"/>
              </a:rPr>
              <a:t>条螺旋沟槽进口与出口之间的角位移。</a:t>
            </a:r>
          </a:p>
        </p:txBody>
      </p:sp>
      <p:pic>
        <p:nvPicPr>
          <p:cNvPr id="13825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4221163"/>
            <a:ext cx="5486400" cy="243205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24588" name="Rectangle 11"/>
          <p:cNvSpPr>
            <a:spLocks noChangeArrowheads="1"/>
          </p:cNvSpPr>
          <p:nvPr/>
        </p:nvSpPr>
        <p:spPr bwMode="auto">
          <a:xfrm>
            <a:off x="1643063" y="6186488"/>
            <a:ext cx="269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solidFill>
                  <a:srgbClr val="FF3300"/>
                </a:solidFill>
                <a:ea typeface="楷体_GB2312"/>
                <a:cs typeface="楷体_GB2312"/>
              </a:rPr>
              <a:t>螺旋槽速度选择器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8242"/>
                                        </p:tgtEl>
                                        <p:attrNameLst>
                                          <p:attrName>style.visibility</p:attrName>
                                        </p:attrNameLst>
                                      </p:cBhvr>
                                      <p:to>
                                        <p:strVal val="visible"/>
                                      </p:to>
                                    </p:set>
                                    <p:animEffect transition="in" filter="wipe(left)">
                                      <p:cBhvr>
                                        <p:cTn id="7" dur="500"/>
                                        <p:tgtEl>
                                          <p:spTgt spid="138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8243"/>
                                        </p:tgtEl>
                                        <p:attrNameLst>
                                          <p:attrName>style.visibility</p:attrName>
                                        </p:attrNameLst>
                                      </p:cBhvr>
                                      <p:to>
                                        <p:strVal val="visible"/>
                                      </p:to>
                                    </p:set>
                                    <p:animEffect transition="in" filter="wipe(left)">
                                      <p:cBhvr>
                                        <p:cTn id="12" dur="500"/>
                                        <p:tgtEl>
                                          <p:spTgt spid="1382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8244"/>
                                        </p:tgtEl>
                                        <p:attrNameLst>
                                          <p:attrName>style.visibility</p:attrName>
                                        </p:attrNameLst>
                                      </p:cBhvr>
                                      <p:to>
                                        <p:strVal val="visible"/>
                                      </p:to>
                                    </p:set>
                                    <p:animEffect transition="in" filter="wipe(left)">
                                      <p:cBhvr>
                                        <p:cTn id="17" dur="500"/>
                                        <p:tgtEl>
                                          <p:spTgt spid="1382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8245">
                                            <p:txEl>
                                              <p:pRg st="0" end="0"/>
                                            </p:txEl>
                                          </p:spTgt>
                                        </p:tgtEl>
                                        <p:attrNameLst>
                                          <p:attrName>style.visibility</p:attrName>
                                        </p:attrNameLst>
                                      </p:cBhvr>
                                      <p:to>
                                        <p:strVal val="visible"/>
                                      </p:to>
                                    </p:set>
                                    <p:animEffect transition="in" filter="wipe(left)">
                                      <p:cBhvr>
                                        <p:cTn id="22" dur="500"/>
                                        <p:tgtEl>
                                          <p:spTgt spid="13824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45">
                                            <p:txEl>
                                              <p:pRg st="1" end="1"/>
                                            </p:txEl>
                                          </p:spTgt>
                                        </p:tgtEl>
                                        <p:attrNameLst>
                                          <p:attrName>style.visibility</p:attrName>
                                        </p:attrNameLst>
                                      </p:cBhvr>
                                      <p:to>
                                        <p:strVal val="visible"/>
                                      </p:to>
                                    </p:set>
                                    <p:animEffect transition="in" filter="wipe(left)">
                                      <p:cBhvr>
                                        <p:cTn id="27" dur="500"/>
                                        <p:tgtEl>
                                          <p:spTgt spid="13824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8246"/>
                                        </p:tgtEl>
                                        <p:attrNameLst>
                                          <p:attrName>style.visibility</p:attrName>
                                        </p:attrNameLst>
                                      </p:cBhvr>
                                      <p:to>
                                        <p:strVal val="visible"/>
                                      </p:to>
                                    </p:set>
                                    <p:animEffect transition="in" filter="wipe(left)">
                                      <p:cBhvr>
                                        <p:cTn id="32" dur="500"/>
                                        <p:tgtEl>
                                          <p:spTgt spid="13824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38250"/>
                                        </p:tgtEl>
                                        <p:attrNameLst>
                                          <p:attrName>style.visibility</p:attrName>
                                        </p:attrNameLst>
                                      </p:cBhvr>
                                      <p:to>
                                        <p:strVal val="visible"/>
                                      </p:to>
                                    </p:set>
                                    <p:animEffect transition="in" filter="wipe(left)">
                                      <p:cBhvr>
                                        <p:cTn id="37" dur="500"/>
                                        <p:tgtEl>
                                          <p:spTgt spid="1382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7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autoUpdateAnimBg="0"/>
      <p:bldP spid="138245" grpId="0" build="p" autoUpdateAnimBg="0"/>
      <p:bldP spid="138246" grpId="0" autoUpdateAnimBg="0"/>
      <p:bldP spid="2765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FA86EECA-7EF8-439E-910D-C6C48EF236CE}" type="slidenum">
              <a:rPr kumimoji="0" lang="en-US" altLang="zh-CN" sz="1400" smtClean="0">
                <a:latin typeface="Arial" panose="020B0604020202020204" pitchFamily="34" charset="0"/>
              </a:rPr>
              <a:pPr>
                <a:spcBef>
                  <a:spcPct val="0"/>
                </a:spcBef>
                <a:buClrTx/>
                <a:buFontTx/>
                <a:buNone/>
              </a:pPr>
              <a:t>16</a:t>
            </a:fld>
            <a:endParaRPr kumimoji="0" lang="en-US" altLang="zh-CN" sz="1400">
              <a:latin typeface="Arial" panose="020B0604020202020204" pitchFamily="34" charset="0"/>
            </a:endParaRPr>
          </a:p>
        </p:txBody>
      </p:sp>
      <p:sp>
        <p:nvSpPr>
          <p:cNvPr id="139266" name="Text Box 2"/>
          <p:cNvSpPr txBox="1">
            <a:spLocks noChangeArrowheads="1"/>
          </p:cNvSpPr>
          <p:nvPr/>
        </p:nvSpPr>
        <p:spPr bwMode="auto">
          <a:xfrm>
            <a:off x="212725" y="323850"/>
            <a:ext cx="8216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b="1">
                <a:solidFill>
                  <a:schemeClr val="accent1"/>
                </a:solidFill>
                <a:ea typeface="楷体_GB2312"/>
                <a:cs typeface="楷体_GB2312"/>
              </a:rPr>
              <a:t>三、三种测量装置的实验结果</a:t>
            </a:r>
            <a:endParaRPr lang="zh-CN" altLang="en-US" sz="3600" b="1">
              <a:solidFill>
                <a:schemeClr val="accent1"/>
              </a:solidFill>
              <a:ea typeface="楷体_GB2312"/>
              <a:cs typeface="楷体_GB2312"/>
            </a:endParaRPr>
          </a:p>
        </p:txBody>
      </p:sp>
      <p:sp>
        <p:nvSpPr>
          <p:cNvPr id="139267" name="Text Box 3"/>
          <p:cNvSpPr txBox="1">
            <a:spLocks noChangeArrowheads="1"/>
          </p:cNvSpPr>
          <p:nvPr/>
        </p:nvSpPr>
        <p:spPr bwMode="auto">
          <a:xfrm>
            <a:off x="468313" y="4149725"/>
            <a:ext cx="8496300" cy="2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Tx/>
            </a:pPr>
            <a:r>
              <a:rPr lang="zh-CN" altLang="en-US" sz="2300" b="1">
                <a:cs typeface="Arial" panose="020B0604020202020204" pitchFamily="34" charset="0"/>
              </a:rPr>
              <a:t>分子数在总分子数中所占的比率与速率和速率间隔的大小有关</a:t>
            </a:r>
            <a:r>
              <a:rPr lang="en-US" altLang="zh-CN" sz="2300" b="1">
                <a:cs typeface="Arial" panose="020B0604020202020204" pitchFamily="34" charset="0"/>
              </a:rPr>
              <a:t>;</a:t>
            </a:r>
          </a:p>
          <a:p>
            <a:pPr eaLnBrk="1" hangingPunct="1">
              <a:lnSpc>
                <a:spcPct val="120000"/>
              </a:lnSpc>
              <a:spcBef>
                <a:spcPct val="0"/>
              </a:spcBef>
              <a:buClrTx/>
            </a:pPr>
            <a:r>
              <a:rPr lang="zh-CN" altLang="en-US" sz="2300" b="1">
                <a:cs typeface="Arial" panose="020B0604020202020204" pitchFamily="34" charset="0"/>
              </a:rPr>
              <a:t>速率特别大和特别小的分子数的比率非常小；</a:t>
            </a:r>
          </a:p>
          <a:p>
            <a:pPr eaLnBrk="1" hangingPunct="1">
              <a:lnSpc>
                <a:spcPct val="120000"/>
              </a:lnSpc>
              <a:spcBef>
                <a:spcPct val="0"/>
              </a:spcBef>
              <a:buClrTx/>
            </a:pPr>
            <a:r>
              <a:rPr lang="zh-CN" altLang="en-US" sz="2300" b="1">
                <a:cs typeface="Arial" panose="020B0604020202020204" pitchFamily="34" charset="0"/>
              </a:rPr>
              <a:t>在某一速率附近的分子数的比率最大；</a:t>
            </a:r>
          </a:p>
          <a:p>
            <a:pPr eaLnBrk="1" hangingPunct="1">
              <a:lnSpc>
                <a:spcPct val="120000"/>
              </a:lnSpc>
              <a:spcBef>
                <a:spcPct val="0"/>
              </a:spcBef>
              <a:buClrTx/>
            </a:pPr>
            <a:r>
              <a:rPr lang="zh-CN" altLang="en-US" sz="2300" b="1">
                <a:cs typeface="Arial" panose="020B0604020202020204" pitchFamily="34" charset="0"/>
              </a:rPr>
              <a:t>改变气体的种类或气体的温度时，上述分布情况有所差别，但都具有上述特点</a:t>
            </a:r>
            <a:r>
              <a:rPr lang="zh-CN" altLang="en-US" sz="2400" b="1">
                <a:cs typeface="Arial" panose="020B0604020202020204" pitchFamily="34" charset="0"/>
              </a:rPr>
              <a:t>。</a:t>
            </a:r>
          </a:p>
        </p:txBody>
      </p:sp>
      <p:grpSp>
        <p:nvGrpSpPr>
          <p:cNvPr id="2" name="Group 4"/>
          <p:cNvGrpSpPr>
            <a:grpSpLocks/>
          </p:cNvGrpSpPr>
          <p:nvPr/>
        </p:nvGrpSpPr>
        <p:grpSpPr bwMode="auto">
          <a:xfrm>
            <a:off x="3132138" y="982663"/>
            <a:ext cx="4887912" cy="2760662"/>
            <a:chOff x="2496" y="2476"/>
            <a:chExt cx="3079" cy="1739"/>
          </a:xfrm>
        </p:grpSpPr>
        <p:sp>
          <p:nvSpPr>
            <p:cNvPr id="139269" name="Line 5"/>
            <p:cNvSpPr>
              <a:spLocks noChangeShapeType="1"/>
            </p:cNvSpPr>
            <p:nvPr/>
          </p:nvSpPr>
          <p:spPr bwMode="auto">
            <a:xfrm flipV="1">
              <a:off x="2640" y="2476"/>
              <a:ext cx="0" cy="1440"/>
            </a:xfrm>
            <a:prstGeom prst="line">
              <a:avLst/>
            </a:prstGeom>
            <a:noFill/>
            <a:ln w="38100">
              <a:solidFill>
                <a:schemeClr val="tx1"/>
              </a:solidFill>
              <a:round/>
              <a:headEnd type="none" w="med" len="lg"/>
              <a:tailEnd type="stealth" w="med" len="lg"/>
            </a:ln>
            <a:effectLst/>
          </p:spPr>
          <p:txBody>
            <a:bodyPr wrap="none"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70" name="Line 6"/>
            <p:cNvSpPr>
              <a:spLocks noChangeShapeType="1"/>
            </p:cNvSpPr>
            <p:nvPr/>
          </p:nvSpPr>
          <p:spPr bwMode="auto">
            <a:xfrm>
              <a:off x="2640" y="3916"/>
              <a:ext cx="2736" cy="0"/>
            </a:xfrm>
            <a:prstGeom prst="line">
              <a:avLst/>
            </a:prstGeom>
            <a:noFill/>
            <a:ln w="38100">
              <a:solidFill>
                <a:schemeClr val="tx1"/>
              </a:solidFill>
              <a:round/>
              <a:headEnd type="none" w="med" len="lg"/>
              <a:tailEnd type="stealth"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graphicFrame>
          <p:nvGraphicFramePr>
            <p:cNvPr id="25632" name="Object 7"/>
            <p:cNvGraphicFramePr>
              <a:graphicFrameLocks noChangeAspect="1"/>
            </p:cNvGraphicFramePr>
            <p:nvPr/>
          </p:nvGraphicFramePr>
          <p:xfrm>
            <a:off x="2496" y="4032"/>
            <a:ext cx="159" cy="183"/>
          </p:xfrm>
          <a:graphic>
            <a:graphicData uri="http://schemas.openxmlformats.org/presentationml/2006/ole">
              <mc:AlternateContent xmlns:mc="http://schemas.openxmlformats.org/markup-compatibility/2006">
                <mc:Choice xmlns:v="urn:schemas-microsoft-com:vml" Requires="v">
                  <p:oleObj spid="_x0000_s25827" name="公式" r:id="rId3" imgW="253890" imgH="291973" progId="Equation.3">
                    <p:embed/>
                  </p:oleObj>
                </mc:Choice>
                <mc:Fallback>
                  <p:oleObj name="公式" r:id="rId3" imgW="253890" imgH="291973"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6" y="4032"/>
                          <a:ext cx="15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33" name="Object 8"/>
            <p:cNvGraphicFramePr>
              <a:graphicFrameLocks noChangeAspect="1"/>
            </p:cNvGraphicFramePr>
            <p:nvPr/>
          </p:nvGraphicFramePr>
          <p:xfrm>
            <a:off x="5424" y="3820"/>
            <a:ext cx="151" cy="183"/>
          </p:xfrm>
          <a:graphic>
            <a:graphicData uri="http://schemas.openxmlformats.org/presentationml/2006/ole">
              <mc:AlternateContent xmlns:mc="http://schemas.openxmlformats.org/markup-compatibility/2006">
                <mc:Choice xmlns:v="urn:schemas-microsoft-com:vml" Requires="v">
                  <p:oleObj spid="_x0000_s25828" name="公式" r:id="rId5" imgW="241195" imgH="291973" progId="Equation.3">
                    <p:embed/>
                  </p:oleObj>
                </mc:Choice>
                <mc:Fallback>
                  <p:oleObj name="公式" r:id="rId5" imgW="241195" imgH="291973"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4" y="3820"/>
                          <a:ext cx="151"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9274" name="Freeform 10"/>
            <p:cNvSpPr>
              <a:spLocks/>
            </p:cNvSpPr>
            <p:nvPr/>
          </p:nvSpPr>
          <p:spPr bwMode="auto">
            <a:xfrm>
              <a:off x="2640" y="2768"/>
              <a:ext cx="2400" cy="1168"/>
            </a:xfrm>
            <a:custGeom>
              <a:avLst/>
              <a:gdLst/>
              <a:ahLst/>
              <a:cxnLst>
                <a:cxn ang="0">
                  <a:pos x="0" y="1168"/>
                </a:cxn>
                <a:cxn ang="0">
                  <a:pos x="288" y="784"/>
                </a:cxn>
                <a:cxn ang="0">
                  <a:pos x="480" y="208"/>
                </a:cxn>
                <a:cxn ang="0">
                  <a:pos x="624" y="16"/>
                </a:cxn>
                <a:cxn ang="0">
                  <a:pos x="768" y="112"/>
                </a:cxn>
                <a:cxn ang="0">
                  <a:pos x="1008" y="496"/>
                </a:cxn>
                <a:cxn ang="0">
                  <a:pos x="1296" y="784"/>
                </a:cxn>
                <a:cxn ang="0">
                  <a:pos x="1632" y="928"/>
                </a:cxn>
                <a:cxn ang="0">
                  <a:pos x="2016" y="1024"/>
                </a:cxn>
                <a:cxn ang="0">
                  <a:pos x="2400" y="1072"/>
                </a:cxn>
              </a:cxnLst>
              <a:rect l="0" t="0" r="r" b="b"/>
              <a:pathLst>
                <a:path w="2400" h="1168">
                  <a:moveTo>
                    <a:pt x="0" y="1168"/>
                  </a:moveTo>
                  <a:cubicBezTo>
                    <a:pt x="104" y="1056"/>
                    <a:pt x="208" y="944"/>
                    <a:pt x="288" y="784"/>
                  </a:cubicBezTo>
                  <a:cubicBezTo>
                    <a:pt x="368" y="624"/>
                    <a:pt x="424" y="336"/>
                    <a:pt x="480" y="208"/>
                  </a:cubicBezTo>
                  <a:cubicBezTo>
                    <a:pt x="536" y="80"/>
                    <a:pt x="576" y="32"/>
                    <a:pt x="624" y="16"/>
                  </a:cubicBezTo>
                  <a:cubicBezTo>
                    <a:pt x="672" y="0"/>
                    <a:pt x="704" y="32"/>
                    <a:pt x="768" y="112"/>
                  </a:cubicBezTo>
                  <a:cubicBezTo>
                    <a:pt x="832" y="192"/>
                    <a:pt x="920" y="384"/>
                    <a:pt x="1008" y="496"/>
                  </a:cubicBezTo>
                  <a:cubicBezTo>
                    <a:pt x="1096" y="608"/>
                    <a:pt x="1192" y="712"/>
                    <a:pt x="1296" y="784"/>
                  </a:cubicBezTo>
                  <a:cubicBezTo>
                    <a:pt x="1400" y="856"/>
                    <a:pt x="1512" y="888"/>
                    <a:pt x="1632" y="928"/>
                  </a:cubicBezTo>
                  <a:cubicBezTo>
                    <a:pt x="1752" y="968"/>
                    <a:pt x="1888" y="1000"/>
                    <a:pt x="2016" y="1024"/>
                  </a:cubicBezTo>
                  <a:cubicBezTo>
                    <a:pt x="2144" y="1048"/>
                    <a:pt x="2336" y="1064"/>
                    <a:pt x="2400" y="1072"/>
                  </a:cubicBezTo>
                </a:path>
              </a:pathLst>
            </a:custGeom>
            <a:noFill/>
            <a:ln w="19050" cap="flat" cmpd="sng">
              <a:solidFill>
                <a:schemeClr val="accent1"/>
              </a:solidFill>
              <a:prstDash val="solid"/>
              <a:round/>
              <a:headEnd type="none" w="med" len="lg"/>
              <a:tailEnd type="none" w="med" len="lg"/>
            </a:ln>
            <a:effectLst/>
          </p:spPr>
          <p:txBody>
            <a:bodyPr wrap="none"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grpSp>
      <p:grpSp>
        <p:nvGrpSpPr>
          <p:cNvPr id="3" name="Group 11"/>
          <p:cNvGrpSpPr>
            <a:grpSpLocks/>
          </p:cNvGrpSpPr>
          <p:nvPr/>
        </p:nvGrpSpPr>
        <p:grpSpPr bwMode="auto">
          <a:xfrm>
            <a:off x="3521075" y="1509713"/>
            <a:ext cx="2895600" cy="1752600"/>
            <a:chOff x="1728" y="2736"/>
            <a:chExt cx="1824" cy="1104"/>
          </a:xfrm>
        </p:grpSpPr>
        <p:sp>
          <p:nvSpPr>
            <p:cNvPr id="139276" name="Rectangle 12" descr="宽上对角线"/>
            <p:cNvSpPr>
              <a:spLocks noChangeArrowheads="1"/>
            </p:cNvSpPr>
            <p:nvPr/>
          </p:nvSpPr>
          <p:spPr bwMode="auto">
            <a:xfrm>
              <a:off x="1728" y="3696"/>
              <a:ext cx="96" cy="144"/>
            </a:xfrm>
            <a:prstGeom prst="rect">
              <a:avLst/>
            </a:prstGeom>
            <a:pattFill prst="wdUpDiag">
              <a:fgClr>
                <a:srgbClr val="FF00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77" name="Rectangle 13" descr="宽上对角线"/>
            <p:cNvSpPr>
              <a:spLocks noChangeArrowheads="1"/>
            </p:cNvSpPr>
            <p:nvPr/>
          </p:nvSpPr>
          <p:spPr bwMode="auto">
            <a:xfrm>
              <a:off x="1824" y="3552"/>
              <a:ext cx="96" cy="288"/>
            </a:xfrm>
            <a:prstGeom prst="rect">
              <a:avLst/>
            </a:prstGeom>
            <a:pattFill prst="wdUpDiag">
              <a:fgClr>
                <a:srgbClr val="FFFF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78" name="Rectangle 14" descr="宽上对角线"/>
            <p:cNvSpPr>
              <a:spLocks noChangeArrowheads="1"/>
            </p:cNvSpPr>
            <p:nvPr/>
          </p:nvSpPr>
          <p:spPr bwMode="auto">
            <a:xfrm>
              <a:off x="1920" y="3360"/>
              <a:ext cx="96" cy="480"/>
            </a:xfrm>
            <a:prstGeom prst="rect">
              <a:avLst/>
            </a:prstGeom>
            <a:pattFill prst="wdUpDiag">
              <a:fgClr>
                <a:schemeClr val="accent2"/>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79" name="Rectangle 15" descr="宽上对角线"/>
            <p:cNvSpPr>
              <a:spLocks noChangeArrowheads="1"/>
            </p:cNvSpPr>
            <p:nvPr/>
          </p:nvSpPr>
          <p:spPr bwMode="auto">
            <a:xfrm>
              <a:off x="2016" y="3024"/>
              <a:ext cx="96" cy="816"/>
            </a:xfrm>
            <a:prstGeom prst="rect">
              <a:avLst/>
            </a:prstGeom>
            <a:pattFill prst="wdUpDiag">
              <a:fgClr>
                <a:schemeClr val="accent1"/>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0" name="Rectangle 16" descr="宽上对角线"/>
            <p:cNvSpPr>
              <a:spLocks noChangeArrowheads="1"/>
            </p:cNvSpPr>
            <p:nvPr/>
          </p:nvSpPr>
          <p:spPr bwMode="auto">
            <a:xfrm>
              <a:off x="2112" y="2784"/>
              <a:ext cx="96" cy="1056"/>
            </a:xfrm>
            <a:prstGeom prst="rect">
              <a:avLst/>
            </a:prstGeom>
            <a:pattFill prst="wdUpDiag">
              <a:fgClr>
                <a:srgbClr val="00FFFF"/>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1" name="Rectangle 17" descr="宽上对角线"/>
            <p:cNvSpPr>
              <a:spLocks noChangeArrowheads="1"/>
            </p:cNvSpPr>
            <p:nvPr/>
          </p:nvSpPr>
          <p:spPr bwMode="auto">
            <a:xfrm>
              <a:off x="2208" y="2736"/>
              <a:ext cx="96" cy="1104"/>
            </a:xfrm>
            <a:prstGeom prst="rect">
              <a:avLst/>
            </a:prstGeom>
            <a:pattFill prst="wdUpDiag">
              <a:fgClr>
                <a:srgbClr val="00008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2" name="Rectangle 18" descr="宽上对角线"/>
            <p:cNvSpPr>
              <a:spLocks noChangeArrowheads="1"/>
            </p:cNvSpPr>
            <p:nvPr/>
          </p:nvSpPr>
          <p:spPr bwMode="auto">
            <a:xfrm>
              <a:off x="2304" y="2736"/>
              <a:ext cx="96" cy="1104"/>
            </a:xfrm>
            <a:prstGeom prst="rect">
              <a:avLst/>
            </a:prstGeom>
            <a:pattFill prst="wdUpDiag">
              <a:fgClr>
                <a:srgbClr val="FFCC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3" name="Rectangle 19" descr="宽上对角线"/>
            <p:cNvSpPr>
              <a:spLocks noChangeArrowheads="1"/>
            </p:cNvSpPr>
            <p:nvPr/>
          </p:nvSpPr>
          <p:spPr bwMode="auto">
            <a:xfrm flipH="1">
              <a:off x="2880" y="3504"/>
              <a:ext cx="96" cy="336"/>
            </a:xfrm>
            <a:prstGeom prst="rect">
              <a:avLst/>
            </a:prstGeom>
            <a:pattFill prst="wdUpDiag">
              <a:fgClr>
                <a:srgbClr val="FF00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4" name="Rectangle 20" descr="宽上对角线"/>
            <p:cNvSpPr>
              <a:spLocks noChangeArrowheads="1"/>
            </p:cNvSpPr>
            <p:nvPr/>
          </p:nvSpPr>
          <p:spPr bwMode="auto">
            <a:xfrm flipH="1">
              <a:off x="2784" y="3408"/>
              <a:ext cx="96" cy="432"/>
            </a:xfrm>
            <a:prstGeom prst="rect">
              <a:avLst/>
            </a:prstGeom>
            <a:pattFill prst="wdUpDiag">
              <a:fgClr>
                <a:srgbClr val="FFFF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5" name="Rectangle 21" descr="宽上对角线"/>
            <p:cNvSpPr>
              <a:spLocks noChangeArrowheads="1"/>
            </p:cNvSpPr>
            <p:nvPr/>
          </p:nvSpPr>
          <p:spPr bwMode="auto">
            <a:xfrm flipH="1">
              <a:off x="2688" y="3312"/>
              <a:ext cx="96" cy="528"/>
            </a:xfrm>
            <a:prstGeom prst="rect">
              <a:avLst/>
            </a:prstGeom>
            <a:pattFill prst="wdUpDiag">
              <a:fgClr>
                <a:schemeClr val="accent2"/>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6" name="Rectangle 22" descr="宽上对角线"/>
            <p:cNvSpPr>
              <a:spLocks noChangeArrowheads="1"/>
            </p:cNvSpPr>
            <p:nvPr/>
          </p:nvSpPr>
          <p:spPr bwMode="auto">
            <a:xfrm flipH="1">
              <a:off x="2592" y="3168"/>
              <a:ext cx="96" cy="672"/>
            </a:xfrm>
            <a:prstGeom prst="rect">
              <a:avLst/>
            </a:prstGeom>
            <a:pattFill prst="wdUpDiag">
              <a:fgClr>
                <a:schemeClr val="accent1"/>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7" name="Rectangle 23" descr="宽上对角线"/>
            <p:cNvSpPr>
              <a:spLocks noChangeArrowheads="1"/>
            </p:cNvSpPr>
            <p:nvPr/>
          </p:nvSpPr>
          <p:spPr bwMode="auto">
            <a:xfrm flipH="1">
              <a:off x="2496" y="3024"/>
              <a:ext cx="96" cy="816"/>
            </a:xfrm>
            <a:prstGeom prst="rect">
              <a:avLst/>
            </a:prstGeom>
            <a:pattFill prst="wdUpDiag">
              <a:fgClr>
                <a:srgbClr val="00FFFF"/>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8" name="Rectangle 24" descr="宽上对角线"/>
            <p:cNvSpPr>
              <a:spLocks noChangeArrowheads="1"/>
            </p:cNvSpPr>
            <p:nvPr/>
          </p:nvSpPr>
          <p:spPr bwMode="auto">
            <a:xfrm flipH="1">
              <a:off x="2400" y="2880"/>
              <a:ext cx="96" cy="960"/>
            </a:xfrm>
            <a:prstGeom prst="rect">
              <a:avLst/>
            </a:prstGeom>
            <a:pattFill prst="wdUpDiag">
              <a:fgClr>
                <a:srgbClr val="00008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89" name="Rectangle 25" descr="宽上对角线"/>
            <p:cNvSpPr>
              <a:spLocks noChangeArrowheads="1"/>
            </p:cNvSpPr>
            <p:nvPr/>
          </p:nvSpPr>
          <p:spPr bwMode="auto">
            <a:xfrm>
              <a:off x="3456" y="3696"/>
              <a:ext cx="96" cy="144"/>
            </a:xfrm>
            <a:prstGeom prst="rect">
              <a:avLst/>
            </a:prstGeom>
            <a:pattFill prst="wdUpDiag">
              <a:fgClr>
                <a:srgbClr val="FF00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90" name="Rectangle 26" descr="宽上对角线"/>
            <p:cNvSpPr>
              <a:spLocks noChangeArrowheads="1"/>
            </p:cNvSpPr>
            <p:nvPr/>
          </p:nvSpPr>
          <p:spPr bwMode="auto">
            <a:xfrm>
              <a:off x="3360" y="3648"/>
              <a:ext cx="96" cy="192"/>
            </a:xfrm>
            <a:prstGeom prst="rect">
              <a:avLst/>
            </a:prstGeom>
            <a:pattFill prst="wdUpDiag">
              <a:fgClr>
                <a:srgbClr val="FFFF0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91" name="Rectangle 27" descr="宽上对角线"/>
            <p:cNvSpPr>
              <a:spLocks noChangeArrowheads="1"/>
            </p:cNvSpPr>
            <p:nvPr/>
          </p:nvSpPr>
          <p:spPr bwMode="auto">
            <a:xfrm>
              <a:off x="3264" y="3648"/>
              <a:ext cx="96" cy="192"/>
            </a:xfrm>
            <a:prstGeom prst="rect">
              <a:avLst/>
            </a:prstGeom>
            <a:pattFill prst="wdUpDiag">
              <a:fgClr>
                <a:schemeClr val="accent2"/>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92" name="Rectangle 28" descr="宽上对角线"/>
            <p:cNvSpPr>
              <a:spLocks noChangeArrowheads="1"/>
            </p:cNvSpPr>
            <p:nvPr/>
          </p:nvSpPr>
          <p:spPr bwMode="auto">
            <a:xfrm>
              <a:off x="3168" y="3600"/>
              <a:ext cx="96" cy="240"/>
            </a:xfrm>
            <a:prstGeom prst="rect">
              <a:avLst/>
            </a:prstGeom>
            <a:pattFill prst="wdUpDiag">
              <a:fgClr>
                <a:schemeClr val="accent1"/>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93" name="Rectangle 29" descr="宽上对角线"/>
            <p:cNvSpPr>
              <a:spLocks noChangeArrowheads="1"/>
            </p:cNvSpPr>
            <p:nvPr/>
          </p:nvSpPr>
          <p:spPr bwMode="auto">
            <a:xfrm>
              <a:off x="3072" y="3600"/>
              <a:ext cx="96" cy="240"/>
            </a:xfrm>
            <a:prstGeom prst="rect">
              <a:avLst/>
            </a:prstGeom>
            <a:pattFill prst="wdUpDiag">
              <a:fgClr>
                <a:srgbClr val="00FFFF"/>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sp>
          <p:nvSpPr>
            <p:cNvPr id="139294" name="Rectangle 30" descr="宽上对角线"/>
            <p:cNvSpPr>
              <a:spLocks noChangeArrowheads="1"/>
            </p:cNvSpPr>
            <p:nvPr/>
          </p:nvSpPr>
          <p:spPr bwMode="auto">
            <a:xfrm>
              <a:off x="2976" y="3552"/>
              <a:ext cx="96" cy="288"/>
            </a:xfrm>
            <a:prstGeom prst="rect">
              <a:avLst/>
            </a:prstGeom>
            <a:pattFill prst="wdUpDiag">
              <a:fgClr>
                <a:srgbClr val="000080"/>
              </a:fgClr>
              <a:bgClr>
                <a:schemeClr val="bg1"/>
              </a:bgClr>
            </a:pattFill>
            <a:ln w="19050">
              <a:solidFill>
                <a:schemeClr val="tx1"/>
              </a:solidFill>
              <a:miter lim="800000"/>
              <a:headEnd type="none" w="med" len="lg"/>
              <a:tailEnd type="none" w="med" len="lg"/>
            </a:ln>
            <a:effectLst/>
          </p:spPr>
          <p:txBody>
            <a:bodyPr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grpSp>
      <p:sp>
        <p:nvSpPr>
          <p:cNvPr id="32" name="TextBox 31"/>
          <p:cNvSpPr txBox="1">
            <a:spLocks noChangeArrowheads="1"/>
          </p:cNvSpPr>
          <p:nvPr/>
        </p:nvSpPr>
        <p:spPr bwMode="auto">
          <a:xfrm>
            <a:off x="2643188" y="1071563"/>
            <a:ext cx="77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f</a:t>
            </a:r>
            <a:r>
              <a:rPr lang="en-US" altLang="zh-CN" sz="2400" b="1">
                <a:cs typeface="Arial" panose="020B0604020202020204" pitchFamily="34" charset="0"/>
              </a:rPr>
              <a:t>(</a:t>
            </a:r>
            <a:r>
              <a:rPr lang="en-US" altLang="zh-CN" sz="2400" b="1" i="1">
                <a:cs typeface="Arial" panose="020B0604020202020204" pitchFamily="34" charset="0"/>
              </a:rPr>
              <a:t>v</a:t>
            </a:r>
            <a:r>
              <a:rPr lang="en-US" altLang="zh-CN" sz="2400" b="1">
                <a:cs typeface="Arial" panose="020B0604020202020204" pitchFamily="34" charset="0"/>
              </a:rPr>
              <a:t>)</a:t>
            </a:r>
          </a:p>
        </p:txBody>
      </p:sp>
      <p:sp>
        <p:nvSpPr>
          <p:cNvPr id="25608" name="TextBox 32"/>
          <p:cNvSpPr txBox="1">
            <a:spLocks noChangeArrowheads="1"/>
          </p:cNvSpPr>
          <p:nvPr/>
        </p:nvSpPr>
        <p:spPr bwMode="auto">
          <a:xfrm>
            <a:off x="7358063" y="3252788"/>
            <a:ext cx="77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v</a:t>
            </a:r>
            <a:endParaRPr lang="en-US" altLang="zh-CN" sz="2400" b="1">
              <a:cs typeface="Arial" panose="020B0604020202020204" pitchFamily="34" charset="0"/>
            </a:endParaRPr>
          </a:p>
        </p:txBody>
      </p:sp>
      <p:sp>
        <p:nvSpPr>
          <p:cNvPr id="34" name="TextBox 33"/>
          <p:cNvSpPr txBox="1">
            <a:spLocks noChangeArrowheads="1"/>
          </p:cNvSpPr>
          <p:nvPr/>
        </p:nvSpPr>
        <p:spPr bwMode="auto">
          <a:xfrm>
            <a:off x="3014663" y="3214688"/>
            <a:ext cx="77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cs typeface="Arial" panose="020B0604020202020204" pitchFamily="34" charset="0"/>
              </a:rPr>
              <a:t>O</a:t>
            </a:r>
          </a:p>
        </p:txBody>
      </p:sp>
      <p:graphicFrame>
        <p:nvGraphicFramePr>
          <p:cNvPr id="4" name="对象 3"/>
          <p:cNvGraphicFramePr>
            <a:graphicFrameLocks noChangeAspect="1"/>
          </p:cNvGraphicFramePr>
          <p:nvPr/>
        </p:nvGraphicFramePr>
        <p:xfrm>
          <a:off x="6416675" y="946150"/>
          <a:ext cx="2209800" cy="1119188"/>
        </p:xfrm>
        <a:graphic>
          <a:graphicData uri="http://schemas.openxmlformats.org/presentationml/2006/ole">
            <mc:AlternateContent xmlns:mc="http://schemas.openxmlformats.org/markup-compatibility/2006">
              <mc:Choice xmlns:v="urn:schemas-microsoft-com:vml" Requires="v">
                <p:oleObj spid="_x0000_s25829" name="公式" r:id="rId7" imgW="799753" imgH="406224" progId="Equation.3">
                  <p:embed/>
                </p:oleObj>
              </mc:Choice>
              <mc:Fallback>
                <p:oleObj name="公式" r:id="rId7" imgW="799753" imgH="406224" progId="Equation.3">
                  <p:embed/>
                  <p:pic>
                    <p:nvPicPr>
                      <p:cNvPr id="0" name="对象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16675" y="946150"/>
                        <a:ext cx="2209800" cy="11191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6">
                                            <p:txEl>
                                              <p:pRg st="0" end="0"/>
                                            </p:txEl>
                                          </p:spTgt>
                                        </p:tgtEl>
                                        <p:attrNameLst>
                                          <p:attrName>style.visibility</p:attrName>
                                        </p:attrNameLst>
                                      </p:cBhvr>
                                      <p:to>
                                        <p:strVal val="visible"/>
                                      </p:to>
                                    </p:set>
                                    <p:animEffect transition="in" filter="wipe(left)">
                                      <p:cBhvr>
                                        <p:cTn id="7" dur="500"/>
                                        <p:tgtEl>
                                          <p:spTgt spid="1392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linds(horizontal)">
                                      <p:cBhvr>
                                        <p:cTn id="27" dur="500"/>
                                        <p:tgtEl>
                                          <p:spTgt spid="32"/>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blinds(horizontal)">
                                      <p:cBhvr>
                                        <p:cTn id="30" dur="500"/>
                                        <p:tgtEl>
                                          <p:spTgt spid="3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39267">
                                            <p:txEl>
                                              <p:pRg st="0" end="0"/>
                                            </p:txEl>
                                          </p:spTgt>
                                        </p:tgtEl>
                                        <p:attrNameLst>
                                          <p:attrName>style.visibility</p:attrName>
                                        </p:attrNameLst>
                                      </p:cBhvr>
                                      <p:to>
                                        <p:strVal val="visible"/>
                                      </p:to>
                                    </p:set>
                                    <p:animEffect transition="in" filter="wipe(left)">
                                      <p:cBhvr>
                                        <p:cTn id="35" dur="500"/>
                                        <p:tgtEl>
                                          <p:spTgt spid="139267">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9267">
                                            <p:txEl>
                                              <p:pRg st="1" end="1"/>
                                            </p:txEl>
                                          </p:spTgt>
                                        </p:tgtEl>
                                        <p:attrNameLst>
                                          <p:attrName>style.visibility</p:attrName>
                                        </p:attrNameLst>
                                      </p:cBhvr>
                                      <p:to>
                                        <p:strVal val="visible"/>
                                      </p:to>
                                    </p:set>
                                    <p:animEffect transition="in" filter="wipe(left)">
                                      <p:cBhvr>
                                        <p:cTn id="40" dur="500"/>
                                        <p:tgtEl>
                                          <p:spTgt spid="139267">
                                            <p:txEl>
                                              <p:pRg st="1" end="1"/>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39267">
                                            <p:txEl>
                                              <p:pRg st="2" end="2"/>
                                            </p:txEl>
                                          </p:spTgt>
                                        </p:tgtEl>
                                        <p:attrNameLst>
                                          <p:attrName>style.visibility</p:attrName>
                                        </p:attrNameLst>
                                      </p:cBhvr>
                                      <p:to>
                                        <p:strVal val="visible"/>
                                      </p:to>
                                    </p:set>
                                    <p:animEffect transition="in" filter="wipe(left)">
                                      <p:cBhvr>
                                        <p:cTn id="45" dur="500"/>
                                        <p:tgtEl>
                                          <p:spTgt spid="139267">
                                            <p:txEl>
                                              <p:pRg st="2" end="2"/>
                                            </p:txEl>
                                          </p:spTgt>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39267">
                                            <p:txEl>
                                              <p:pRg st="3" end="3"/>
                                            </p:txEl>
                                          </p:spTgt>
                                        </p:tgtEl>
                                        <p:attrNameLst>
                                          <p:attrName>style.visibility</p:attrName>
                                        </p:attrNameLst>
                                      </p:cBhvr>
                                      <p:to>
                                        <p:strVal val="visible"/>
                                      </p:to>
                                    </p:set>
                                    <p:animEffect transition="in" filter="wipe(left)">
                                      <p:cBhvr>
                                        <p:cTn id="50" dur="500"/>
                                        <p:tgtEl>
                                          <p:spTgt spid="139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build="p" autoUpdateAnimBg="0"/>
      <p:bldP spid="139267" grpId="0" build="p" autoUpdateAnimBg="0"/>
      <p:bldP spid="32" grpId="0"/>
      <p:bldP spid="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EC09C491-BB2D-4B3A-9021-F9330E56ACB0}" type="slidenum">
              <a:rPr kumimoji="0" lang="en-US" altLang="zh-CN" sz="1400" smtClean="0">
                <a:latin typeface="Arial" panose="020B0604020202020204" pitchFamily="34" charset="0"/>
              </a:rPr>
              <a:pPr>
                <a:spcBef>
                  <a:spcPct val="0"/>
                </a:spcBef>
                <a:buClrTx/>
                <a:buFontTx/>
                <a:buNone/>
              </a:pPr>
              <a:t>17</a:t>
            </a:fld>
            <a:endParaRPr kumimoji="0" lang="en-US" altLang="zh-CN" sz="1400">
              <a:latin typeface="Arial" panose="020B0604020202020204" pitchFamily="34" charset="0"/>
            </a:endParaRPr>
          </a:p>
        </p:txBody>
      </p:sp>
      <p:pic>
        <p:nvPicPr>
          <p:cNvPr id="140290" name="Picture 2" descr="t6_8"/>
          <p:cNvPicPr>
            <a:picLocks noChangeAspect="1" noChangeArrowheads="1"/>
          </p:cNvPicPr>
          <p:nvPr/>
        </p:nvPicPr>
        <p:blipFill>
          <a:blip r:embed="rId3">
            <a:lum bright="24000" contrast="70000"/>
            <a:extLst>
              <a:ext uri="{28A0092B-C50C-407E-A947-70E740481C1C}">
                <a14:useLocalDpi xmlns:a14="http://schemas.microsoft.com/office/drawing/2010/main" val="0"/>
              </a:ext>
            </a:extLst>
          </a:blip>
          <a:srcRect/>
          <a:stretch>
            <a:fillRect/>
          </a:stretch>
        </p:blipFill>
        <p:spPr bwMode="auto">
          <a:xfrm>
            <a:off x="5003800" y="3086100"/>
            <a:ext cx="3887788" cy="26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1" name="Text Box 3"/>
          <p:cNvSpPr txBox="1">
            <a:spLocks noChangeArrowheads="1"/>
          </p:cNvSpPr>
          <p:nvPr/>
        </p:nvSpPr>
        <p:spPr bwMode="auto">
          <a:xfrm>
            <a:off x="0" y="152400"/>
            <a:ext cx="6553200"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b="1">
                <a:solidFill>
                  <a:srgbClr val="FF0000"/>
                </a:solidFill>
                <a:latin typeface="Arial" panose="020B0604020202020204" pitchFamily="34" charset="0"/>
                <a:ea typeface="楷体_GB2312"/>
                <a:cs typeface="楷体_GB2312"/>
              </a:rPr>
              <a:t>四、麦克斯韦气体速率分布律</a:t>
            </a:r>
          </a:p>
        </p:txBody>
      </p:sp>
      <p:sp>
        <p:nvSpPr>
          <p:cNvPr id="140292" name="Text Box 4"/>
          <p:cNvSpPr txBox="1">
            <a:spLocks noChangeArrowheads="1"/>
          </p:cNvSpPr>
          <p:nvPr/>
        </p:nvSpPr>
        <p:spPr bwMode="auto">
          <a:xfrm>
            <a:off x="179388" y="1125538"/>
            <a:ext cx="885666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FF9900"/>
              </a:buClr>
              <a:buFont typeface="Wingdings" panose="05000000000000000000" pitchFamily="2" charset="2"/>
              <a:buChar char="l"/>
            </a:pPr>
            <a:r>
              <a:rPr lang="en-US" altLang="zh-CN" sz="2800" b="1">
                <a:solidFill>
                  <a:srgbClr val="FFFF00"/>
                </a:solidFill>
                <a:ea typeface="楷体_GB2312"/>
                <a:cs typeface="楷体_GB2312"/>
              </a:rPr>
              <a:t>1)</a:t>
            </a:r>
            <a:r>
              <a:rPr lang="zh-CN" altLang="en-US" sz="2800" b="1">
                <a:solidFill>
                  <a:srgbClr val="FFFF00"/>
                </a:solidFill>
                <a:ea typeface="楷体_GB2312"/>
                <a:cs typeface="楷体_GB2312"/>
              </a:rPr>
              <a:t>、速率分布函数的定义：</a:t>
            </a:r>
          </a:p>
          <a:p>
            <a:pPr lvl="1" eaLnBrk="1" hangingPunct="1">
              <a:spcBef>
                <a:spcPct val="0"/>
              </a:spcBef>
              <a:buClr>
                <a:srgbClr val="FF9900"/>
              </a:buClr>
              <a:buFont typeface="Wingdings" panose="05000000000000000000" pitchFamily="2" charset="2"/>
              <a:buNone/>
            </a:pPr>
            <a:r>
              <a:rPr lang="zh-CN" altLang="en-US" sz="2400" b="1">
                <a:cs typeface="Arial" panose="020B0604020202020204" pitchFamily="34" charset="0"/>
              </a:rPr>
              <a:t>实验规律：</a:t>
            </a:r>
          </a:p>
          <a:p>
            <a:pPr lvl="2" eaLnBrk="1" hangingPunct="1">
              <a:spcBef>
                <a:spcPct val="0"/>
              </a:spcBef>
              <a:buClr>
                <a:schemeClr val="accent1"/>
              </a:buClr>
            </a:pPr>
            <a:r>
              <a:rPr lang="en-US" altLang="zh-CN" sz="2800" b="1">
                <a:ea typeface="楷体_GB2312"/>
                <a:cs typeface="楷体_GB2312"/>
              </a:rPr>
              <a:t>d</a:t>
            </a:r>
            <a:r>
              <a:rPr lang="en-US" altLang="zh-CN" sz="2800" b="1" i="1">
                <a:ea typeface="楷体_GB2312"/>
                <a:cs typeface="楷体_GB2312"/>
              </a:rPr>
              <a:t>N/N</a:t>
            </a:r>
            <a:r>
              <a:rPr lang="en-US" altLang="zh-CN" sz="2800" b="1">
                <a:ea typeface="楷体_GB2312"/>
                <a:cs typeface="楷体_GB2312"/>
              </a:rPr>
              <a:t> </a:t>
            </a:r>
            <a:r>
              <a:rPr lang="zh-CN" altLang="en-US" b="1">
                <a:cs typeface="Arial" panose="020B0604020202020204" pitchFamily="34" charset="0"/>
              </a:rPr>
              <a:t>是</a:t>
            </a:r>
            <a:r>
              <a:rPr lang="zh-CN" altLang="en-US" sz="2800" b="1" i="1">
                <a:ea typeface="楷体_GB2312"/>
                <a:cs typeface="楷体_GB2312"/>
              </a:rPr>
              <a:t> </a:t>
            </a:r>
            <a:r>
              <a:rPr lang="en-US" altLang="zh-CN" sz="2800" b="1" i="1">
                <a:ea typeface="楷体_GB2312"/>
                <a:cs typeface="楷体_GB2312"/>
              </a:rPr>
              <a:t>v</a:t>
            </a:r>
            <a:r>
              <a:rPr lang="en-US" altLang="zh-CN" sz="2800" b="1">
                <a:ea typeface="楷体_GB2312"/>
                <a:cs typeface="楷体_GB2312"/>
              </a:rPr>
              <a:t> </a:t>
            </a:r>
            <a:r>
              <a:rPr lang="zh-CN" altLang="en-US" b="1">
                <a:cs typeface="Arial" panose="020B0604020202020204" pitchFamily="34" charset="0"/>
              </a:rPr>
              <a:t>的函数；</a:t>
            </a:r>
          </a:p>
          <a:p>
            <a:pPr lvl="2" eaLnBrk="1" hangingPunct="1">
              <a:spcBef>
                <a:spcPct val="0"/>
              </a:spcBef>
              <a:buClr>
                <a:schemeClr val="accent1"/>
              </a:buClr>
            </a:pPr>
            <a:r>
              <a:rPr lang="zh-CN" altLang="en-US" b="1">
                <a:cs typeface="Arial" panose="020B0604020202020204" pitchFamily="34" charset="0"/>
              </a:rPr>
              <a:t>当速率区间足够小时</a:t>
            </a:r>
            <a:r>
              <a:rPr lang="en-US" altLang="zh-CN" b="1">
                <a:cs typeface="Arial" panose="020B0604020202020204" pitchFamily="34" charset="0"/>
              </a:rPr>
              <a:t>(</a:t>
            </a:r>
            <a:r>
              <a:rPr lang="zh-CN" altLang="en-US" b="1">
                <a:cs typeface="Arial" panose="020B0604020202020204" pitchFamily="34" charset="0"/>
              </a:rPr>
              <a:t>宏观小，微观大</a:t>
            </a:r>
            <a:r>
              <a:rPr lang="en-US" altLang="zh-CN" b="1">
                <a:cs typeface="Arial" panose="020B0604020202020204" pitchFamily="34" charset="0"/>
              </a:rPr>
              <a:t>)</a:t>
            </a:r>
            <a:r>
              <a:rPr lang="zh-CN" altLang="en-US" b="1">
                <a:cs typeface="Arial" panose="020B0604020202020204" pitchFamily="34" charset="0"/>
              </a:rPr>
              <a:t>，</a:t>
            </a:r>
            <a:r>
              <a:rPr lang="zh-CN" altLang="en-US" sz="2800" b="1">
                <a:ea typeface="楷体_GB2312"/>
                <a:cs typeface="楷体_GB2312"/>
              </a:rPr>
              <a:t> </a:t>
            </a:r>
            <a:r>
              <a:rPr lang="en-US" altLang="zh-CN" sz="2800" b="1">
                <a:ea typeface="楷体_GB2312"/>
                <a:cs typeface="楷体_GB2312"/>
              </a:rPr>
              <a:t>d</a:t>
            </a:r>
            <a:r>
              <a:rPr lang="en-US" altLang="zh-CN" sz="2800" b="1" i="1">
                <a:ea typeface="楷体_GB2312"/>
                <a:cs typeface="楷体_GB2312"/>
              </a:rPr>
              <a:t>N/N</a:t>
            </a:r>
            <a:r>
              <a:rPr lang="zh-CN" altLang="en-US" b="1">
                <a:cs typeface="Arial" panose="020B0604020202020204" pitchFamily="34" charset="0"/>
              </a:rPr>
              <a:t>还应与区间大小成正比。</a:t>
            </a:r>
          </a:p>
        </p:txBody>
      </p:sp>
      <p:sp>
        <p:nvSpPr>
          <p:cNvPr id="140293" name="Text Box 5"/>
          <p:cNvSpPr txBox="1">
            <a:spLocks noChangeArrowheads="1"/>
          </p:cNvSpPr>
          <p:nvPr/>
        </p:nvSpPr>
        <p:spPr bwMode="auto">
          <a:xfrm>
            <a:off x="212725" y="639763"/>
            <a:ext cx="8391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b="1">
                <a:solidFill>
                  <a:srgbClr val="FF0000"/>
                </a:solidFill>
                <a:ea typeface="楷体_GB2312"/>
                <a:cs typeface="楷体_GB2312"/>
              </a:rPr>
              <a:t>1</a:t>
            </a:r>
            <a:r>
              <a:rPr lang="zh-CN" altLang="en-US" b="1">
                <a:solidFill>
                  <a:srgbClr val="FF0000"/>
                </a:solidFill>
                <a:ea typeface="楷体_GB2312"/>
                <a:cs typeface="楷体_GB2312"/>
              </a:rPr>
              <a:t>、速率分布函数</a:t>
            </a:r>
            <a:r>
              <a:rPr lang="en-US" altLang="zh-CN" sz="2800" b="1">
                <a:solidFill>
                  <a:schemeClr val="accent2"/>
                </a:solidFill>
                <a:cs typeface="Arial" panose="020B0604020202020204" pitchFamily="34" charset="0"/>
              </a:rPr>
              <a:t>speed</a:t>
            </a:r>
            <a:r>
              <a:rPr lang="en-US" altLang="zh-CN" sz="2800" b="1">
                <a:solidFill>
                  <a:schemeClr val="folHlink"/>
                </a:solidFill>
                <a:cs typeface="Arial" panose="020B0604020202020204" pitchFamily="34" charset="0"/>
              </a:rPr>
              <a:t> </a:t>
            </a:r>
            <a:r>
              <a:rPr lang="en-US" altLang="zh-CN" sz="2800" b="1">
                <a:solidFill>
                  <a:schemeClr val="accent2"/>
                </a:solidFill>
                <a:cs typeface="Arial" panose="020B0604020202020204" pitchFamily="34" charset="0"/>
              </a:rPr>
              <a:t>distribution function </a:t>
            </a:r>
            <a:endParaRPr lang="zh-CN" altLang="en-US" sz="2800" b="1">
              <a:solidFill>
                <a:srgbClr val="FF0000"/>
              </a:solidFill>
              <a:ea typeface="楷体_GB2312"/>
              <a:cs typeface="楷体_GB2312"/>
            </a:endParaRPr>
          </a:p>
        </p:txBody>
      </p:sp>
      <p:graphicFrame>
        <p:nvGraphicFramePr>
          <p:cNvPr id="140294" name="Object 6"/>
          <p:cNvGraphicFramePr>
            <a:graphicFrameLocks noChangeAspect="1"/>
          </p:cNvGraphicFramePr>
          <p:nvPr/>
        </p:nvGraphicFramePr>
        <p:xfrm>
          <a:off x="755650" y="3462338"/>
          <a:ext cx="2057400" cy="936625"/>
        </p:xfrm>
        <a:graphic>
          <a:graphicData uri="http://schemas.openxmlformats.org/presentationml/2006/ole">
            <mc:AlternateContent xmlns:mc="http://schemas.openxmlformats.org/markup-compatibility/2006">
              <mc:Choice xmlns:v="urn:schemas-microsoft-com:vml" Requires="v">
                <p:oleObj spid="_x0000_s26763" name="Equation" r:id="rId4" imgW="888614" imgH="406224" progId="Equation.DSMT4">
                  <p:embed/>
                </p:oleObj>
              </mc:Choice>
              <mc:Fallback>
                <p:oleObj name="Equation" r:id="rId4" imgW="888614" imgH="406224"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3462338"/>
                        <a:ext cx="2057400" cy="9366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 Box 20"/>
          <p:cNvSpPr txBox="1">
            <a:spLocks noChangeArrowheads="1"/>
          </p:cNvSpPr>
          <p:nvPr/>
        </p:nvSpPr>
        <p:spPr bwMode="auto">
          <a:xfrm>
            <a:off x="417513" y="4589463"/>
            <a:ext cx="41671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分布在不同速率附近相等速率间隔中的分子数是速率的函数，它又与间隔的大小成正比。</a:t>
            </a:r>
          </a:p>
        </p:txBody>
      </p:sp>
      <p:graphicFrame>
        <p:nvGraphicFramePr>
          <p:cNvPr id="9" name="Object 14"/>
          <p:cNvGraphicFramePr>
            <a:graphicFrameLocks noChangeAspect="1"/>
          </p:cNvGraphicFramePr>
          <p:nvPr/>
        </p:nvGraphicFramePr>
        <p:xfrm>
          <a:off x="3924300" y="5978525"/>
          <a:ext cx="1543050" cy="782638"/>
        </p:xfrm>
        <a:graphic>
          <a:graphicData uri="http://schemas.openxmlformats.org/presentationml/2006/ole">
            <mc:AlternateContent xmlns:mc="http://schemas.openxmlformats.org/markup-compatibility/2006">
              <mc:Choice xmlns:v="urn:schemas-microsoft-com:vml" Requires="v">
                <p:oleObj spid="_x0000_s26764" name="公式" r:id="rId6" imgW="799753" imgH="406224" progId="Equation.3">
                  <p:embed/>
                </p:oleObj>
              </mc:Choice>
              <mc:Fallback>
                <p:oleObj name="公式" r:id="rId6" imgW="799753" imgH="406224"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4300" y="5978525"/>
                        <a:ext cx="1543050" cy="782638"/>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a:spLocks noChangeArrowheads="1"/>
          </p:cNvSpPr>
          <p:nvPr/>
        </p:nvSpPr>
        <p:spPr bwMode="auto">
          <a:xfrm>
            <a:off x="796925" y="6138863"/>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400" b="1">
                <a:solidFill>
                  <a:srgbClr val="FFFF00"/>
                </a:solidFill>
                <a:ea typeface="楷体_GB2312"/>
                <a:cs typeface="楷体_GB2312"/>
              </a:rPr>
              <a:t>速率分布函数</a:t>
            </a:r>
            <a:endParaRPr lang="zh-CN" altLang="en-US" sz="24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1"/>
                                        </p:tgtEl>
                                        <p:attrNameLst>
                                          <p:attrName>style.visibility</p:attrName>
                                        </p:attrNameLst>
                                      </p:cBhvr>
                                      <p:to>
                                        <p:strVal val="visible"/>
                                      </p:to>
                                    </p:set>
                                    <p:animEffect transition="in" filter="wipe(left)">
                                      <p:cBhvr>
                                        <p:cTn id="7" dur="500"/>
                                        <p:tgtEl>
                                          <p:spTgt spid="1402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3"/>
                                        </p:tgtEl>
                                        <p:attrNameLst>
                                          <p:attrName>style.visibility</p:attrName>
                                        </p:attrNameLst>
                                      </p:cBhvr>
                                      <p:to>
                                        <p:strVal val="visible"/>
                                      </p:to>
                                    </p:set>
                                    <p:animEffect transition="in" filter="wipe(left)">
                                      <p:cBhvr>
                                        <p:cTn id="12" dur="500"/>
                                        <p:tgtEl>
                                          <p:spTgt spid="1402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140290"/>
                                        </p:tgtEl>
                                        <p:attrNameLst>
                                          <p:attrName>style.visibility</p:attrName>
                                        </p:attrNameLst>
                                      </p:cBhvr>
                                      <p:to>
                                        <p:strVal val="visible"/>
                                      </p:to>
                                    </p:set>
                                    <p:animEffect transition="in" filter="wipe(down)">
                                      <p:cBhvr>
                                        <p:cTn id="17" dur="500"/>
                                        <p:tgtEl>
                                          <p:spTgt spid="1402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0292">
                                            <p:txEl>
                                              <p:pRg st="0" end="0"/>
                                            </p:txEl>
                                          </p:spTgt>
                                        </p:tgtEl>
                                        <p:attrNameLst>
                                          <p:attrName>style.visibility</p:attrName>
                                        </p:attrNameLst>
                                      </p:cBhvr>
                                      <p:to>
                                        <p:strVal val="visible"/>
                                      </p:to>
                                    </p:set>
                                    <p:animEffect transition="in" filter="wipe(left)">
                                      <p:cBhvr>
                                        <p:cTn id="22" dur="500"/>
                                        <p:tgtEl>
                                          <p:spTgt spid="140292">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0292">
                                            <p:txEl>
                                              <p:pRg st="1" end="1"/>
                                            </p:txEl>
                                          </p:spTgt>
                                        </p:tgtEl>
                                        <p:attrNameLst>
                                          <p:attrName>style.visibility</p:attrName>
                                        </p:attrNameLst>
                                      </p:cBhvr>
                                      <p:to>
                                        <p:strVal val="visible"/>
                                      </p:to>
                                    </p:set>
                                    <p:animEffect transition="in" filter="wipe(left)">
                                      <p:cBhvr>
                                        <p:cTn id="27" dur="500"/>
                                        <p:tgtEl>
                                          <p:spTgt spid="140292">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292">
                                            <p:txEl>
                                              <p:pRg st="2" end="2"/>
                                            </p:txEl>
                                          </p:spTgt>
                                        </p:tgtEl>
                                        <p:attrNameLst>
                                          <p:attrName>style.visibility</p:attrName>
                                        </p:attrNameLst>
                                      </p:cBhvr>
                                      <p:to>
                                        <p:strVal val="visible"/>
                                      </p:to>
                                    </p:set>
                                    <p:animEffect transition="in" filter="wipe(left)">
                                      <p:cBhvr>
                                        <p:cTn id="32" dur="500"/>
                                        <p:tgtEl>
                                          <p:spTgt spid="140292">
                                            <p:txEl>
                                              <p:pRg st="2" end="2"/>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0292">
                                            <p:txEl>
                                              <p:pRg st="3" end="3"/>
                                            </p:txEl>
                                          </p:spTgt>
                                        </p:tgtEl>
                                        <p:attrNameLst>
                                          <p:attrName>style.visibility</p:attrName>
                                        </p:attrNameLst>
                                      </p:cBhvr>
                                      <p:to>
                                        <p:strVal val="visible"/>
                                      </p:to>
                                    </p:set>
                                    <p:animEffect transition="in" filter="wipe(left)">
                                      <p:cBhvr>
                                        <p:cTn id="37" dur="500"/>
                                        <p:tgtEl>
                                          <p:spTgt spid="140292">
                                            <p:txEl>
                                              <p:pRg st="3" end="3"/>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40294"/>
                                        </p:tgtEl>
                                        <p:attrNameLst>
                                          <p:attrName>style.visibility</p:attrName>
                                        </p:attrNameLst>
                                      </p:cBhvr>
                                      <p:to>
                                        <p:strVal val="visible"/>
                                      </p:to>
                                    </p:set>
                                    <p:animEffect transition="in" filter="wipe(left)">
                                      <p:cBhvr>
                                        <p:cTn id="42" dur="500"/>
                                        <p:tgtEl>
                                          <p:spTgt spid="14029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 calcmode="lin" valueType="num">
                                      <p:cBhvr additive="base">
                                        <p:cTn id="47"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animBg="1" autoUpdateAnimBg="0"/>
      <p:bldP spid="140292" grpId="0" build="p" bldLvl="3" autoUpdateAnimBg="0"/>
      <p:bldP spid="140293" grpId="0" autoUpdateAnimBg="0"/>
      <p:bldP spid="8" grpId="0" build="p" autoUpdateAnimBg="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aphicFrame>
        <p:nvGraphicFramePr>
          <p:cNvPr id="161795" name="Object 3"/>
          <p:cNvGraphicFramePr>
            <a:graphicFrameLocks noChangeAspect="1"/>
          </p:cNvGraphicFramePr>
          <p:nvPr/>
        </p:nvGraphicFramePr>
        <p:xfrm>
          <a:off x="468313" y="2322513"/>
          <a:ext cx="3889375" cy="1027112"/>
        </p:xfrm>
        <a:graphic>
          <a:graphicData uri="http://schemas.openxmlformats.org/presentationml/2006/ole">
            <mc:AlternateContent xmlns:mc="http://schemas.openxmlformats.org/markup-compatibility/2006">
              <mc:Choice xmlns:v="urn:schemas-microsoft-com:vml" Requires="v">
                <p:oleObj spid="_x0000_s27783" name="公式" r:id="rId3" imgW="1434477" imgH="406224" progId="Equation.3">
                  <p:embed/>
                </p:oleObj>
              </mc:Choice>
              <mc:Fallback>
                <p:oleObj name="公式" r:id="rId3" imgW="1434477" imgH="4062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322513"/>
                        <a:ext cx="3889375" cy="1027112"/>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1802" name="Text Box 10"/>
          <p:cNvSpPr txBox="1">
            <a:spLocks noChangeArrowheads="1"/>
          </p:cNvSpPr>
          <p:nvPr/>
        </p:nvSpPr>
        <p:spPr bwMode="auto">
          <a:xfrm>
            <a:off x="250825" y="4797425"/>
            <a:ext cx="2868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FF9900"/>
              </a:buClr>
              <a:buFont typeface="Wingdings" panose="05000000000000000000" pitchFamily="2" charset="2"/>
              <a:buChar char="l"/>
            </a:pPr>
            <a:r>
              <a:rPr lang="zh-CN" altLang="en-US" sz="2800" b="1">
                <a:solidFill>
                  <a:srgbClr val="FF3300"/>
                </a:solidFill>
                <a:ea typeface="楷体_GB2312"/>
                <a:cs typeface="楷体_GB2312"/>
              </a:rPr>
              <a:t>速率分布曲线</a:t>
            </a:r>
            <a:endParaRPr lang="zh-CN" altLang="en-US" sz="3600" b="1">
              <a:solidFill>
                <a:srgbClr val="FF3300"/>
              </a:solidFill>
              <a:ea typeface="楷体_GB2312"/>
              <a:cs typeface="楷体_GB2312"/>
            </a:endParaRPr>
          </a:p>
        </p:txBody>
      </p:sp>
      <p:pic>
        <p:nvPicPr>
          <p:cNvPr id="161803"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4038600"/>
            <a:ext cx="4114800" cy="2732088"/>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
        <p:nvSpPr>
          <p:cNvPr id="161804" name="AutoShape 12"/>
          <p:cNvSpPr>
            <a:spLocks noChangeArrowheads="1"/>
          </p:cNvSpPr>
          <p:nvPr/>
        </p:nvSpPr>
        <p:spPr bwMode="auto">
          <a:xfrm>
            <a:off x="4918075" y="2492375"/>
            <a:ext cx="1739900" cy="687388"/>
          </a:xfrm>
          <a:prstGeom prst="wedgeRoundRectCallout">
            <a:avLst>
              <a:gd name="adj1" fmla="val -60949"/>
              <a:gd name="adj2" fmla="val -12315"/>
              <a:gd name="adj3" fmla="val 16667"/>
            </a:avLst>
          </a:prstGeom>
          <a:solidFill>
            <a:srgbClr val="FFFF66"/>
          </a:solidFill>
          <a:ln w="9525">
            <a:solidFill>
              <a:srgbClr val="FF00FF"/>
            </a:solidFill>
            <a:miter lim="800000"/>
            <a:headEnd/>
            <a:tailEnd/>
          </a:ln>
        </p:spPr>
        <p:txBody>
          <a:bodyPr wrap="none" lIns="90000" tIns="46800" rIns="90000" bIns="46800"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buFontTx/>
              <a:buNone/>
            </a:pPr>
            <a:r>
              <a:rPr lang="zh-CN" altLang="en-US" sz="2400" b="1">
                <a:solidFill>
                  <a:srgbClr val="FF3300"/>
                </a:solidFill>
                <a:ea typeface="楷体_GB2312"/>
                <a:cs typeface="楷体_GB2312"/>
              </a:rPr>
              <a:t>归一化条件</a:t>
            </a:r>
            <a:endParaRPr lang="zh-CN" altLang="en-US" sz="2400" b="1">
              <a:cs typeface="Arial" panose="020B0604020202020204" pitchFamily="34" charset="0"/>
            </a:endParaRPr>
          </a:p>
        </p:txBody>
      </p:sp>
      <p:sp>
        <p:nvSpPr>
          <p:cNvPr id="161805" name="AutoShape 13"/>
          <p:cNvSpPr>
            <a:spLocks noChangeArrowheads="1"/>
          </p:cNvSpPr>
          <p:nvPr/>
        </p:nvSpPr>
        <p:spPr bwMode="auto">
          <a:xfrm>
            <a:off x="3348038" y="4860925"/>
            <a:ext cx="1150937" cy="503238"/>
          </a:xfrm>
          <a:prstGeom prst="notchedRightArrow">
            <a:avLst>
              <a:gd name="adj1" fmla="val 50000"/>
              <a:gd name="adj2" fmla="val 57177"/>
            </a:avLst>
          </a:prstGeom>
          <a:solidFill>
            <a:srgbClr val="FFFF00"/>
          </a:solidFill>
          <a:ln w="28575">
            <a:solidFill>
              <a:srgbClr val="FF00FF"/>
            </a:solidFill>
            <a:miter lim="800000"/>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21" name="Text Box 2"/>
          <p:cNvSpPr txBox="1">
            <a:spLocks noChangeArrowheads="1"/>
          </p:cNvSpPr>
          <p:nvPr/>
        </p:nvSpPr>
        <p:spPr bwMode="auto">
          <a:xfrm>
            <a:off x="2339975" y="188913"/>
            <a:ext cx="626427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FF9900"/>
              </a:buClr>
              <a:buFont typeface="Wingdings" panose="05000000000000000000" pitchFamily="2" charset="2"/>
              <a:buChar char="l"/>
            </a:pPr>
            <a:r>
              <a:rPr lang="zh-CN" altLang="en-US" sz="2800" b="1">
                <a:solidFill>
                  <a:srgbClr val="FF0000"/>
                </a:solidFill>
                <a:ea typeface="楷体_GB2312"/>
                <a:cs typeface="楷体_GB2312"/>
              </a:rPr>
              <a:t>物理意义</a:t>
            </a:r>
            <a:r>
              <a:rPr lang="zh-CN" altLang="en-US" sz="2800" b="1">
                <a:solidFill>
                  <a:schemeClr val="bg1"/>
                </a:solidFill>
                <a:ea typeface="楷体_GB2312"/>
                <a:cs typeface="楷体_GB2312"/>
              </a:rPr>
              <a:t>：</a:t>
            </a:r>
          </a:p>
          <a:p>
            <a:pPr lvl="1" eaLnBrk="1" hangingPunct="1">
              <a:spcBef>
                <a:spcPct val="0"/>
              </a:spcBef>
              <a:buClrTx/>
              <a:buFontTx/>
              <a:buNone/>
            </a:pPr>
            <a:r>
              <a:rPr lang="zh-CN" altLang="en-US" sz="2400" b="1">
                <a:solidFill>
                  <a:schemeClr val="bg1"/>
                </a:solidFill>
                <a:cs typeface="Arial" panose="020B0604020202020204" pitchFamily="34" charset="0"/>
              </a:rPr>
              <a:t>速率在</a:t>
            </a:r>
            <a:r>
              <a:rPr lang="zh-CN" altLang="en-US" b="1">
                <a:solidFill>
                  <a:schemeClr val="bg1"/>
                </a:solidFill>
                <a:ea typeface="楷体_GB2312"/>
                <a:cs typeface="楷体_GB2312"/>
              </a:rPr>
              <a:t> </a:t>
            </a:r>
            <a:r>
              <a:rPr lang="en-US" altLang="zh-CN" b="1" i="1">
                <a:solidFill>
                  <a:schemeClr val="bg1"/>
                </a:solidFill>
                <a:ea typeface="楷体_GB2312"/>
                <a:cs typeface="楷体_GB2312"/>
              </a:rPr>
              <a:t>v </a:t>
            </a:r>
            <a:r>
              <a:rPr lang="zh-CN" altLang="en-US" sz="2400" b="1">
                <a:solidFill>
                  <a:schemeClr val="bg1"/>
                </a:solidFill>
                <a:cs typeface="Arial" panose="020B0604020202020204" pitchFamily="34" charset="0"/>
              </a:rPr>
              <a:t>附近，单位速率区间的分子数占总分子数的概率，或概率密度。</a:t>
            </a:r>
          </a:p>
        </p:txBody>
      </p:sp>
      <p:graphicFrame>
        <p:nvGraphicFramePr>
          <p:cNvPr id="22" name="Object 14"/>
          <p:cNvGraphicFramePr>
            <a:graphicFrameLocks noChangeAspect="1"/>
          </p:cNvGraphicFramePr>
          <p:nvPr/>
        </p:nvGraphicFramePr>
        <p:xfrm>
          <a:off x="0" y="260350"/>
          <a:ext cx="2160588" cy="1093788"/>
        </p:xfrm>
        <a:graphic>
          <a:graphicData uri="http://schemas.openxmlformats.org/presentationml/2006/ole">
            <mc:AlternateContent xmlns:mc="http://schemas.openxmlformats.org/markup-compatibility/2006">
              <mc:Choice xmlns:v="urn:schemas-microsoft-com:vml" Requires="v">
                <p:oleObj spid="_x0000_s27784" name="公式" r:id="rId6" imgW="799753" imgH="406224" progId="Equation.3">
                  <p:embed/>
                </p:oleObj>
              </mc:Choice>
              <mc:Fallback>
                <p:oleObj name="公式" r:id="rId6" imgW="799753" imgH="406224"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60350"/>
                        <a:ext cx="2160588" cy="10937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wipe(left)">
                                      <p:cBhvr>
                                        <p:cTn id="12" dur="500"/>
                                        <p:tgtEl>
                                          <p:spTgt spid="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animEffect transition="in" filter="wipe(left)">
                                      <p:cBhvr>
                                        <p:cTn id="17" dur="500"/>
                                        <p:tgtEl>
                                          <p:spTgt spid="2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1795"/>
                                        </p:tgtEl>
                                        <p:attrNameLst>
                                          <p:attrName>style.visibility</p:attrName>
                                        </p:attrNameLst>
                                      </p:cBhvr>
                                      <p:to>
                                        <p:strVal val="visible"/>
                                      </p:to>
                                    </p:set>
                                    <p:animEffect transition="in" filter="wipe(left)">
                                      <p:cBhvr>
                                        <p:cTn id="22" dur="500"/>
                                        <p:tgtEl>
                                          <p:spTgt spid="1617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1804"/>
                                        </p:tgtEl>
                                        <p:attrNameLst>
                                          <p:attrName>style.visibility</p:attrName>
                                        </p:attrNameLst>
                                      </p:cBhvr>
                                      <p:to>
                                        <p:strVal val="visible"/>
                                      </p:to>
                                    </p:set>
                                    <p:animEffect transition="in" filter="wipe(left)">
                                      <p:cBhvr>
                                        <p:cTn id="27" dur="500"/>
                                        <p:tgtEl>
                                          <p:spTgt spid="1618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1802"/>
                                        </p:tgtEl>
                                        <p:attrNameLst>
                                          <p:attrName>style.visibility</p:attrName>
                                        </p:attrNameLst>
                                      </p:cBhvr>
                                      <p:to>
                                        <p:strVal val="visible"/>
                                      </p:to>
                                    </p:set>
                                    <p:animEffect transition="in" filter="wipe(left)">
                                      <p:cBhvr>
                                        <p:cTn id="32" dur="500"/>
                                        <p:tgtEl>
                                          <p:spTgt spid="1618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61805"/>
                                        </p:tgtEl>
                                        <p:attrNameLst>
                                          <p:attrName>style.visibility</p:attrName>
                                        </p:attrNameLst>
                                      </p:cBhvr>
                                      <p:to>
                                        <p:strVal val="visible"/>
                                      </p:to>
                                    </p:set>
                                    <p:animEffect transition="in" filter="wipe(down)">
                                      <p:cBhvr>
                                        <p:cTn id="37" dur="500"/>
                                        <p:tgtEl>
                                          <p:spTgt spid="16180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61803"/>
                                        </p:tgtEl>
                                        <p:attrNameLst>
                                          <p:attrName>style.visibility</p:attrName>
                                        </p:attrNameLst>
                                      </p:cBhvr>
                                      <p:to>
                                        <p:strVal val="visible"/>
                                      </p:to>
                                    </p:set>
                                    <p:animEffect transition="in" filter="wipe(left)">
                                      <p:cBhvr>
                                        <p:cTn id="42" dur="500"/>
                                        <p:tgtEl>
                                          <p:spTgt spid="1618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02" grpId="0" autoUpdateAnimBg="0"/>
      <p:bldP spid="161804" grpId="0" animBg="1" autoUpdateAnimBg="0"/>
      <p:bldP spid="161805" grpId="0" animBg="1"/>
      <p:bldP spid="21"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1000" y="304800"/>
            <a:ext cx="8229600" cy="173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800" b="1">
                <a:solidFill>
                  <a:schemeClr val="folHlink"/>
                </a:solidFill>
                <a:cs typeface="Arial" panose="020B0604020202020204" pitchFamily="34" charset="0"/>
              </a:rPr>
              <a:t>2</a:t>
            </a:r>
            <a:r>
              <a:rPr lang="zh-CN" altLang="en-US" sz="2800" b="1">
                <a:solidFill>
                  <a:schemeClr val="folHlink"/>
                </a:solidFill>
                <a:cs typeface="Arial" panose="020B0604020202020204" pitchFamily="34" charset="0"/>
              </a:rPr>
              <a:t>、麦克斯韦速率分布函数</a:t>
            </a:r>
          </a:p>
          <a:p>
            <a:pPr algn="just" eaLnBrk="1" hangingPunct="1">
              <a:spcBef>
                <a:spcPct val="0"/>
              </a:spcBef>
              <a:buClrTx/>
              <a:buFontTx/>
              <a:buNone/>
            </a:pPr>
            <a:r>
              <a:rPr lang="en-US" altLang="zh-CN" sz="2800" b="1">
                <a:solidFill>
                  <a:schemeClr val="accent2"/>
                </a:solidFill>
                <a:cs typeface="Arial" panose="020B0604020202020204" pitchFamily="34" charset="0"/>
              </a:rPr>
              <a:t>Maxwell speed distribution function </a:t>
            </a:r>
            <a:endParaRPr lang="en-US" altLang="zh-CN" sz="2800" b="1">
              <a:solidFill>
                <a:schemeClr val="folHlink"/>
              </a:solidFill>
              <a:cs typeface="Arial" panose="020B0604020202020204" pitchFamily="34" charset="0"/>
            </a:endParaRPr>
          </a:p>
          <a:p>
            <a:pPr algn="just" eaLnBrk="1" hangingPunct="1">
              <a:spcBef>
                <a:spcPct val="0"/>
              </a:spcBef>
              <a:buClrTx/>
              <a:buFontTx/>
              <a:buNone/>
            </a:pPr>
            <a:r>
              <a:rPr lang="en-US" altLang="zh-CN" sz="2800" b="1">
                <a:solidFill>
                  <a:schemeClr val="folHlink"/>
                </a:solidFill>
                <a:cs typeface="Arial" panose="020B0604020202020204" pitchFamily="34" charset="0"/>
              </a:rPr>
              <a:t>        </a:t>
            </a:r>
            <a:r>
              <a:rPr lang="zh-CN" altLang="en-US" sz="2400" b="1">
                <a:cs typeface="Arial" panose="020B0604020202020204" pitchFamily="34" charset="0"/>
              </a:rPr>
              <a:t>麦克斯韦</a:t>
            </a:r>
            <a:r>
              <a:rPr lang="en-US" altLang="zh-CN" sz="2400" b="1">
                <a:cs typeface="Arial" panose="020B0604020202020204" pitchFamily="34" charset="0"/>
              </a:rPr>
              <a:t>1859</a:t>
            </a:r>
            <a:r>
              <a:rPr lang="zh-CN" altLang="en-US" sz="2400" b="1">
                <a:cs typeface="Arial" panose="020B0604020202020204" pitchFamily="34" charset="0"/>
              </a:rPr>
              <a:t>，从理论上导出理想气体在平衡态下分子的速率分布函数 </a:t>
            </a:r>
          </a:p>
        </p:txBody>
      </p:sp>
      <p:grpSp>
        <p:nvGrpSpPr>
          <p:cNvPr id="2" name="Group 3"/>
          <p:cNvGrpSpPr>
            <a:grpSpLocks/>
          </p:cNvGrpSpPr>
          <p:nvPr/>
        </p:nvGrpSpPr>
        <p:grpSpPr bwMode="auto">
          <a:xfrm>
            <a:off x="-27323" y="3707516"/>
            <a:ext cx="5580063" cy="2895600"/>
            <a:chOff x="192" y="1632"/>
            <a:chExt cx="4896" cy="1824"/>
          </a:xfrm>
        </p:grpSpPr>
        <p:sp>
          <p:nvSpPr>
            <p:cNvPr id="41988" name="Line 4"/>
            <p:cNvSpPr>
              <a:spLocks noChangeShapeType="1"/>
            </p:cNvSpPr>
            <p:nvPr/>
          </p:nvSpPr>
          <p:spPr bwMode="auto">
            <a:xfrm flipV="1">
              <a:off x="816" y="1680"/>
              <a:ext cx="0" cy="1440"/>
            </a:xfrm>
            <a:prstGeom prst="line">
              <a:avLst/>
            </a:prstGeom>
            <a:noFill/>
            <a:ln w="38100">
              <a:solidFill>
                <a:srgbClr val="FFFF00"/>
              </a:solidFill>
              <a:round/>
              <a:headEn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41989" name="Line 5"/>
            <p:cNvSpPr>
              <a:spLocks noChangeShapeType="1"/>
            </p:cNvSpPr>
            <p:nvPr/>
          </p:nvSpPr>
          <p:spPr bwMode="auto">
            <a:xfrm>
              <a:off x="816" y="3120"/>
              <a:ext cx="4272" cy="0"/>
            </a:xfrm>
            <a:prstGeom prst="line">
              <a:avLst/>
            </a:prstGeom>
            <a:noFill/>
            <a:ln w="38100">
              <a:solidFill>
                <a:srgbClr val="FFFF00"/>
              </a:solidFill>
              <a:round/>
              <a:headEn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28683" name="Text Box 6"/>
            <p:cNvSpPr txBox="1">
              <a:spLocks noChangeArrowheads="1"/>
            </p:cNvSpPr>
            <p:nvPr/>
          </p:nvSpPr>
          <p:spPr bwMode="auto">
            <a:xfrm>
              <a:off x="902" y="1632"/>
              <a:ext cx="4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f(v</a:t>
              </a:r>
              <a:r>
                <a:rPr lang="en-US" altLang="zh-CN" sz="2400" b="1">
                  <a:cs typeface="Arial" panose="020B0604020202020204" pitchFamily="34" charset="0"/>
                </a:rPr>
                <a:t>)</a:t>
              </a:r>
              <a:endParaRPr lang="en-US" altLang="zh-CN" sz="2400" b="1" i="1">
                <a:cs typeface="Arial" panose="020B0604020202020204" pitchFamily="34" charset="0"/>
              </a:endParaRPr>
            </a:p>
          </p:txBody>
        </p:sp>
        <p:sp>
          <p:nvSpPr>
            <p:cNvPr id="41991" name="Freeform 7"/>
            <p:cNvSpPr>
              <a:spLocks/>
            </p:cNvSpPr>
            <p:nvPr/>
          </p:nvSpPr>
          <p:spPr bwMode="auto">
            <a:xfrm>
              <a:off x="816" y="1968"/>
              <a:ext cx="3924" cy="1144"/>
            </a:xfrm>
            <a:custGeom>
              <a:avLst/>
              <a:gdLst/>
              <a:ahLst/>
              <a:cxnLst>
                <a:cxn ang="0">
                  <a:pos x="0" y="1128"/>
                </a:cxn>
                <a:cxn ang="0">
                  <a:pos x="72" y="1080"/>
                </a:cxn>
                <a:cxn ang="0">
                  <a:pos x="180" y="1008"/>
                </a:cxn>
                <a:cxn ang="0">
                  <a:pos x="252" y="960"/>
                </a:cxn>
                <a:cxn ang="0">
                  <a:pos x="288" y="936"/>
                </a:cxn>
                <a:cxn ang="0">
                  <a:pos x="444" y="756"/>
                </a:cxn>
                <a:cxn ang="0">
                  <a:pos x="480" y="720"/>
                </a:cxn>
                <a:cxn ang="0">
                  <a:pos x="516" y="684"/>
                </a:cxn>
                <a:cxn ang="0">
                  <a:pos x="564" y="624"/>
                </a:cxn>
                <a:cxn ang="0">
                  <a:pos x="576" y="588"/>
                </a:cxn>
                <a:cxn ang="0">
                  <a:pos x="612" y="552"/>
                </a:cxn>
                <a:cxn ang="0">
                  <a:pos x="696" y="456"/>
                </a:cxn>
                <a:cxn ang="0">
                  <a:pos x="744" y="384"/>
                </a:cxn>
                <a:cxn ang="0">
                  <a:pos x="756" y="348"/>
                </a:cxn>
                <a:cxn ang="0">
                  <a:pos x="792" y="324"/>
                </a:cxn>
                <a:cxn ang="0">
                  <a:pos x="876" y="216"/>
                </a:cxn>
                <a:cxn ang="0">
                  <a:pos x="948" y="156"/>
                </a:cxn>
                <a:cxn ang="0">
                  <a:pos x="1044" y="72"/>
                </a:cxn>
                <a:cxn ang="0">
                  <a:pos x="1080" y="36"/>
                </a:cxn>
                <a:cxn ang="0">
                  <a:pos x="1152" y="0"/>
                </a:cxn>
                <a:cxn ang="0">
                  <a:pos x="1488" y="60"/>
                </a:cxn>
                <a:cxn ang="0">
                  <a:pos x="1596" y="132"/>
                </a:cxn>
                <a:cxn ang="0">
                  <a:pos x="1812" y="288"/>
                </a:cxn>
                <a:cxn ang="0">
                  <a:pos x="1920" y="372"/>
                </a:cxn>
                <a:cxn ang="0">
                  <a:pos x="2208" y="576"/>
                </a:cxn>
                <a:cxn ang="0">
                  <a:pos x="2244" y="588"/>
                </a:cxn>
                <a:cxn ang="0">
                  <a:pos x="2400" y="660"/>
                </a:cxn>
                <a:cxn ang="0">
                  <a:pos x="2484" y="708"/>
                </a:cxn>
                <a:cxn ang="0">
                  <a:pos x="2568" y="744"/>
                </a:cxn>
                <a:cxn ang="0">
                  <a:pos x="2640" y="792"/>
                </a:cxn>
                <a:cxn ang="0">
                  <a:pos x="2760" y="852"/>
                </a:cxn>
                <a:cxn ang="0">
                  <a:pos x="2808" y="864"/>
                </a:cxn>
                <a:cxn ang="0">
                  <a:pos x="2892" y="912"/>
                </a:cxn>
                <a:cxn ang="0">
                  <a:pos x="3000" y="948"/>
                </a:cxn>
                <a:cxn ang="0">
                  <a:pos x="3036" y="972"/>
                </a:cxn>
                <a:cxn ang="0">
                  <a:pos x="3612" y="1092"/>
                </a:cxn>
                <a:cxn ang="0">
                  <a:pos x="3924" y="1128"/>
                </a:cxn>
              </a:cxnLst>
              <a:rect l="0" t="0" r="r" b="b"/>
              <a:pathLst>
                <a:path w="3924" h="1132">
                  <a:moveTo>
                    <a:pt x="0" y="1128"/>
                  </a:moveTo>
                  <a:cubicBezTo>
                    <a:pt x="69" y="1105"/>
                    <a:pt x="5" y="1132"/>
                    <a:pt x="72" y="1080"/>
                  </a:cubicBezTo>
                  <a:cubicBezTo>
                    <a:pt x="106" y="1053"/>
                    <a:pt x="144" y="1032"/>
                    <a:pt x="180" y="1008"/>
                  </a:cubicBezTo>
                  <a:cubicBezTo>
                    <a:pt x="204" y="992"/>
                    <a:pt x="228" y="976"/>
                    <a:pt x="252" y="960"/>
                  </a:cubicBezTo>
                  <a:cubicBezTo>
                    <a:pt x="264" y="952"/>
                    <a:pt x="288" y="936"/>
                    <a:pt x="288" y="936"/>
                  </a:cubicBezTo>
                  <a:cubicBezTo>
                    <a:pt x="335" y="866"/>
                    <a:pt x="384" y="816"/>
                    <a:pt x="444" y="756"/>
                  </a:cubicBezTo>
                  <a:cubicBezTo>
                    <a:pt x="456" y="744"/>
                    <a:pt x="468" y="732"/>
                    <a:pt x="480" y="720"/>
                  </a:cubicBezTo>
                  <a:cubicBezTo>
                    <a:pt x="492" y="708"/>
                    <a:pt x="516" y="684"/>
                    <a:pt x="516" y="684"/>
                  </a:cubicBezTo>
                  <a:cubicBezTo>
                    <a:pt x="546" y="594"/>
                    <a:pt x="502" y="702"/>
                    <a:pt x="564" y="624"/>
                  </a:cubicBezTo>
                  <a:cubicBezTo>
                    <a:pt x="572" y="614"/>
                    <a:pt x="569" y="599"/>
                    <a:pt x="576" y="588"/>
                  </a:cubicBezTo>
                  <a:cubicBezTo>
                    <a:pt x="585" y="574"/>
                    <a:pt x="602" y="565"/>
                    <a:pt x="612" y="552"/>
                  </a:cubicBezTo>
                  <a:cubicBezTo>
                    <a:pt x="687" y="455"/>
                    <a:pt x="626" y="502"/>
                    <a:pt x="696" y="456"/>
                  </a:cubicBezTo>
                  <a:cubicBezTo>
                    <a:pt x="712" y="432"/>
                    <a:pt x="728" y="408"/>
                    <a:pt x="744" y="384"/>
                  </a:cubicBezTo>
                  <a:cubicBezTo>
                    <a:pt x="751" y="373"/>
                    <a:pt x="748" y="358"/>
                    <a:pt x="756" y="348"/>
                  </a:cubicBezTo>
                  <a:cubicBezTo>
                    <a:pt x="765" y="337"/>
                    <a:pt x="780" y="332"/>
                    <a:pt x="792" y="324"/>
                  </a:cubicBezTo>
                  <a:cubicBezTo>
                    <a:pt x="816" y="288"/>
                    <a:pt x="846" y="246"/>
                    <a:pt x="876" y="216"/>
                  </a:cubicBezTo>
                  <a:cubicBezTo>
                    <a:pt x="970" y="122"/>
                    <a:pt x="850" y="274"/>
                    <a:pt x="948" y="156"/>
                  </a:cubicBezTo>
                  <a:cubicBezTo>
                    <a:pt x="1010" y="81"/>
                    <a:pt x="915" y="158"/>
                    <a:pt x="1044" y="72"/>
                  </a:cubicBezTo>
                  <a:cubicBezTo>
                    <a:pt x="1058" y="63"/>
                    <a:pt x="1066" y="45"/>
                    <a:pt x="1080" y="36"/>
                  </a:cubicBezTo>
                  <a:cubicBezTo>
                    <a:pt x="1102" y="21"/>
                    <a:pt x="1130" y="15"/>
                    <a:pt x="1152" y="0"/>
                  </a:cubicBezTo>
                  <a:cubicBezTo>
                    <a:pt x="1227" y="5"/>
                    <a:pt x="1407" y="6"/>
                    <a:pt x="1488" y="60"/>
                  </a:cubicBezTo>
                  <a:cubicBezTo>
                    <a:pt x="1527" y="86"/>
                    <a:pt x="1551" y="117"/>
                    <a:pt x="1596" y="132"/>
                  </a:cubicBezTo>
                  <a:cubicBezTo>
                    <a:pt x="1659" y="195"/>
                    <a:pt x="1750" y="226"/>
                    <a:pt x="1812" y="288"/>
                  </a:cubicBezTo>
                  <a:cubicBezTo>
                    <a:pt x="1844" y="320"/>
                    <a:pt x="1888" y="340"/>
                    <a:pt x="1920" y="372"/>
                  </a:cubicBezTo>
                  <a:cubicBezTo>
                    <a:pt x="2001" y="453"/>
                    <a:pt x="2112" y="512"/>
                    <a:pt x="2208" y="576"/>
                  </a:cubicBezTo>
                  <a:cubicBezTo>
                    <a:pt x="2219" y="583"/>
                    <a:pt x="2233" y="582"/>
                    <a:pt x="2244" y="588"/>
                  </a:cubicBezTo>
                  <a:cubicBezTo>
                    <a:pt x="2295" y="613"/>
                    <a:pt x="2349" y="635"/>
                    <a:pt x="2400" y="660"/>
                  </a:cubicBezTo>
                  <a:cubicBezTo>
                    <a:pt x="2521" y="720"/>
                    <a:pt x="2337" y="645"/>
                    <a:pt x="2484" y="708"/>
                  </a:cubicBezTo>
                  <a:cubicBezTo>
                    <a:pt x="2542" y="733"/>
                    <a:pt x="2502" y="704"/>
                    <a:pt x="2568" y="744"/>
                  </a:cubicBezTo>
                  <a:cubicBezTo>
                    <a:pt x="2593" y="759"/>
                    <a:pt x="2613" y="783"/>
                    <a:pt x="2640" y="792"/>
                  </a:cubicBezTo>
                  <a:cubicBezTo>
                    <a:pt x="2684" y="807"/>
                    <a:pt x="2719" y="834"/>
                    <a:pt x="2760" y="852"/>
                  </a:cubicBezTo>
                  <a:cubicBezTo>
                    <a:pt x="2775" y="858"/>
                    <a:pt x="2793" y="858"/>
                    <a:pt x="2808" y="864"/>
                  </a:cubicBezTo>
                  <a:cubicBezTo>
                    <a:pt x="2961" y="921"/>
                    <a:pt x="2767" y="856"/>
                    <a:pt x="2892" y="912"/>
                  </a:cubicBezTo>
                  <a:cubicBezTo>
                    <a:pt x="2927" y="927"/>
                    <a:pt x="2964" y="936"/>
                    <a:pt x="3000" y="948"/>
                  </a:cubicBezTo>
                  <a:cubicBezTo>
                    <a:pt x="3014" y="953"/>
                    <a:pt x="3023" y="966"/>
                    <a:pt x="3036" y="972"/>
                  </a:cubicBezTo>
                  <a:cubicBezTo>
                    <a:pt x="3215" y="1051"/>
                    <a:pt x="3421" y="1068"/>
                    <a:pt x="3612" y="1092"/>
                  </a:cubicBezTo>
                  <a:cubicBezTo>
                    <a:pt x="3715" y="1105"/>
                    <a:pt x="3821" y="1128"/>
                    <a:pt x="3924" y="1128"/>
                  </a:cubicBezTo>
                </a:path>
              </a:pathLst>
            </a:custGeom>
            <a:noFill/>
            <a:ln w="38100" cap="flat" cmpd="sng">
              <a:solidFill>
                <a:srgbClr val="FFFF00"/>
              </a:solidFill>
              <a:prstDash val="solid"/>
              <a:round/>
              <a:headEnd type="none" w="med" len="med"/>
              <a:tailEnd type="non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41992" name="Line 8"/>
            <p:cNvSpPr>
              <a:spLocks noChangeShapeType="1"/>
            </p:cNvSpPr>
            <p:nvPr/>
          </p:nvSpPr>
          <p:spPr bwMode="auto">
            <a:xfrm>
              <a:off x="816" y="1968"/>
              <a:ext cx="1344" cy="0"/>
            </a:xfrm>
            <a:prstGeom prst="line">
              <a:avLst/>
            </a:prstGeom>
            <a:noFill/>
            <a:ln w="28575">
              <a:solidFill>
                <a:schemeClr val="tx2"/>
              </a:solidFill>
              <a:prstDash val="dash"/>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41993" name="Line 9"/>
            <p:cNvSpPr>
              <a:spLocks noChangeShapeType="1"/>
            </p:cNvSpPr>
            <p:nvPr/>
          </p:nvSpPr>
          <p:spPr bwMode="auto">
            <a:xfrm>
              <a:off x="2064" y="1968"/>
              <a:ext cx="0" cy="1152"/>
            </a:xfrm>
            <a:prstGeom prst="line">
              <a:avLst/>
            </a:prstGeom>
            <a:noFill/>
            <a:ln w="28575">
              <a:solidFill>
                <a:schemeClr val="tx2"/>
              </a:solidFill>
              <a:prstDash val="dash"/>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28687" name="Text Box 10"/>
            <p:cNvSpPr txBox="1">
              <a:spLocks noChangeArrowheads="1"/>
            </p:cNvSpPr>
            <p:nvPr/>
          </p:nvSpPr>
          <p:spPr bwMode="auto">
            <a:xfrm>
              <a:off x="192" y="1954"/>
              <a:ext cx="4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b="1" i="1">
                  <a:cs typeface="Arial" panose="020B0604020202020204" pitchFamily="34" charset="0"/>
                </a:rPr>
                <a:t>f(v</a:t>
              </a:r>
              <a:r>
                <a:rPr lang="en-US" altLang="zh-CN" sz="1800" b="1" i="1" baseline="-25000">
                  <a:cs typeface="Arial" panose="020B0604020202020204" pitchFamily="34" charset="0"/>
                </a:rPr>
                <a:t>p</a:t>
              </a:r>
              <a:r>
                <a:rPr lang="en-US" altLang="zh-CN" sz="1800" b="1">
                  <a:cs typeface="Arial" panose="020B0604020202020204" pitchFamily="34" charset="0"/>
                </a:rPr>
                <a:t>)</a:t>
              </a:r>
              <a:endParaRPr lang="en-US" altLang="zh-CN" sz="1800" b="1" i="1">
                <a:cs typeface="Arial" panose="020B0604020202020204" pitchFamily="34" charset="0"/>
              </a:endParaRPr>
            </a:p>
          </p:txBody>
        </p:sp>
        <p:sp>
          <p:nvSpPr>
            <p:cNvPr id="28688" name="Text Box 11"/>
            <p:cNvSpPr txBox="1">
              <a:spLocks noChangeArrowheads="1"/>
            </p:cNvSpPr>
            <p:nvPr/>
          </p:nvSpPr>
          <p:spPr bwMode="auto">
            <a:xfrm>
              <a:off x="4755" y="3168"/>
              <a:ext cx="2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rPr>
                <a:t>v</a:t>
              </a:r>
              <a:endParaRPr lang="en-US" altLang="zh-CN" sz="2400" b="1">
                <a:cs typeface="Arial" panose="020B0604020202020204" pitchFamily="34" charset="0"/>
              </a:endParaRPr>
            </a:p>
          </p:txBody>
        </p:sp>
        <p:sp>
          <p:nvSpPr>
            <p:cNvPr id="28689" name="Text Box 12"/>
            <p:cNvSpPr txBox="1">
              <a:spLocks noChangeArrowheads="1"/>
            </p:cNvSpPr>
            <p:nvPr/>
          </p:nvSpPr>
          <p:spPr bwMode="auto">
            <a:xfrm>
              <a:off x="1879" y="3148"/>
              <a:ext cx="27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en-US" altLang="zh-CN" sz="1800" b="1">
                <a:cs typeface="Arial" panose="020B0604020202020204" pitchFamily="34" charset="0"/>
              </a:endParaRPr>
            </a:p>
          </p:txBody>
        </p:sp>
        <p:sp>
          <p:nvSpPr>
            <p:cNvPr id="41997" name="Rectangle 13" descr="浅色上对角线"/>
            <p:cNvSpPr>
              <a:spLocks noChangeArrowheads="1"/>
            </p:cNvSpPr>
            <p:nvPr/>
          </p:nvSpPr>
          <p:spPr bwMode="auto">
            <a:xfrm>
              <a:off x="2496" y="2208"/>
              <a:ext cx="96" cy="912"/>
            </a:xfrm>
            <a:prstGeom prst="rect">
              <a:avLst/>
            </a:prstGeom>
            <a:solidFill>
              <a:srgbClr val="FFC000"/>
            </a:solidFill>
            <a:ln w="9525">
              <a:solidFill>
                <a:schemeClr val="tx1"/>
              </a:solidFill>
              <a:miter lim="800000"/>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28691" name="Text Box 14"/>
            <p:cNvSpPr txBox="1">
              <a:spLocks noChangeArrowheads="1"/>
            </p:cNvSpPr>
            <p:nvPr/>
          </p:nvSpPr>
          <p:spPr bwMode="auto">
            <a:xfrm>
              <a:off x="2331" y="3120"/>
              <a:ext cx="2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v</a:t>
              </a:r>
              <a:endParaRPr lang="en-US" altLang="zh-CN" sz="2400" b="1">
                <a:cs typeface="Arial" panose="020B0604020202020204" pitchFamily="34" charset="0"/>
              </a:endParaRPr>
            </a:p>
          </p:txBody>
        </p:sp>
        <p:sp>
          <p:nvSpPr>
            <p:cNvPr id="28692" name="Text Box 15"/>
            <p:cNvSpPr txBox="1">
              <a:spLocks noChangeArrowheads="1"/>
            </p:cNvSpPr>
            <p:nvPr/>
          </p:nvSpPr>
          <p:spPr bwMode="auto">
            <a:xfrm>
              <a:off x="2582" y="3119"/>
              <a:ext cx="705" cy="291"/>
            </a:xfrm>
            <a:prstGeom prst="rect">
              <a:avLst/>
            </a:prstGeom>
            <a:noFill/>
            <a:ln w="9525">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v+</a:t>
              </a:r>
              <a:r>
                <a:rPr lang="en-US" altLang="zh-CN" sz="2400" b="1">
                  <a:cs typeface="Arial" panose="020B0604020202020204" pitchFamily="34" charset="0"/>
                </a:rPr>
                <a:t>d</a:t>
              </a:r>
              <a:r>
                <a:rPr lang="en-US" altLang="zh-CN" sz="2400" b="1" i="1">
                  <a:cs typeface="Arial" panose="020B0604020202020204" pitchFamily="34" charset="0"/>
                </a:rPr>
                <a:t>v</a:t>
              </a:r>
              <a:endParaRPr lang="en-US" altLang="zh-CN" sz="2400" b="1">
                <a:cs typeface="Arial" panose="020B0604020202020204" pitchFamily="34" charset="0"/>
              </a:endParaRPr>
            </a:p>
          </p:txBody>
        </p:sp>
        <p:sp>
          <p:nvSpPr>
            <p:cNvPr id="4" name="Line 16"/>
            <p:cNvSpPr>
              <a:spLocks noChangeShapeType="1"/>
            </p:cNvSpPr>
            <p:nvPr/>
          </p:nvSpPr>
          <p:spPr bwMode="auto">
            <a:xfrm flipH="1">
              <a:off x="2592" y="2160"/>
              <a:ext cx="384" cy="672"/>
            </a:xfrm>
            <a:prstGeom prst="line">
              <a:avLst/>
            </a:prstGeom>
            <a:noFill/>
            <a:ln w="9525">
              <a:solidFill>
                <a:schemeClr val="tx1"/>
              </a:solidFill>
              <a:round/>
              <a:headEn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nvGrpSpPr>
            <p:cNvPr id="28694" name="Group 17"/>
            <p:cNvGrpSpPr>
              <a:grpSpLocks/>
            </p:cNvGrpSpPr>
            <p:nvPr/>
          </p:nvGrpSpPr>
          <p:grpSpPr bwMode="auto">
            <a:xfrm>
              <a:off x="2870" y="1679"/>
              <a:ext cx="1285" cy="673"/>
              <a:chOff x="2870" y="1679"/>
              <a:chExt cx="1285" cy="673"/>
            </a:xfrm>
          </p:grpSpPr>
          <p:sp>
            <p:nvSpPr>
              <p:cNvPr id="28695" name="Text Box 18"/>
              <p:cNvSpPr txBox="1">
                <a:spLocks noChangeArrowheads="1"/>
              </p:cNvSpPr>
              <p:nvPr/>
            </p:nvSpPr>
            <p:spPr bwMode="auto">
              <a:xfrm>
                <a:off x="2870" y="1872"/>
                <a:ext cx="8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000" b="1">
                    <a:cs typeface="Arial" panose="020B0604020202020204" pitchFamily="34" charset="0"/>
                  </a:rPr>
                  <a:t>面积</a:t>
                </a:r>
                <a:r>
                  <a:rPr lang="en-US" altLang="zh-CN" sz="2400" b="1">
                    <a:cs typeface="Arial" panose="020B0604020202020204" pitchFamily="34" charset="0"/>
                  </a:rPr>
                  <a:t>= </a:t>
                </a:r>
              </a:p>
            </p:txBody>
          </p:sp>
          <p:sp>
            <p:nvSpPr>
              <p:cNvPr id="28696" name="Text Box 19"/>
              <p:cNvSpPr txBox="1">
                <a:spLocks noChangeArrowheads="1"/>
              </p:cNvSpPr>
              <p:nvPr/>
            </p:nvSpPr>
            <p:spPr bwMode="auto">
              <a:xfrm>
                <a:off x="3647" y="1679"/>
                <a:ext cx="5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cs typeface="Arial" panose="020B0604020202020204" pitchFamily="34" charset="0"/>
                  </a:rPr>
                  <a:t>d</a:t>
                </a:r>
                <a:r>
                  <a:rPr lang="en-US" altLang="zh-CN" sz="2400" b="1" i="1">
                    <a:cs typeface="Arial" panose="020B0604020202020204" pitchFamily="34" charset="0"/>
                  </a:rPr>
                  <a:t>N</a:t>
                </a:r>
                <a:endParaRPr lang="en-US" altLang="zh-CN" sz="2400" b="1">
                  <a:cs typeface="Arial" panose="020B0604020202020204" pitchFamily="34" charset="0"/>
                </a:endParaRPr>
              </a:p>
            </p:txBody>
          </p:sp>
          <p:sp>
            <p:nvSpPr>
              <p:cNvPr id="5" name="Line 20"/>
              <p:cNvSpPr>
                <a:spLocks noChangeShapeType="1"/>
              </p:cNvSpPr>
              <p:nvPr/>
            </p:nvSpPr>
            <p:spPr bwMode="auto">
              <a:xfrm>
                <a:off x="3660" y="2016"/>
                <a:ext cx="478"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28698" name="Text Box 21"/>
              <p:cNvSpPr txBox="1">
                <a:spLocks noChangeArrowheads="1"/>
              </p:cNvSpPr>
              <p:nvPr/>
            </p:nvSpPr>
            <p:spPr bwMode="auto">
              <a:xfrm>
                <a:off x="3660" y="2064"/>
                <a:ext cx="3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cs typeface="Arial" panose="020B0604020202020204" pitchFamily="34" charset="0"/>
                  </a:rPr>
                  <a:t>N</a:t>
                </a:r>
              </a:p>
            </p:txBody>
          </p:sp>
        </p:grpSp>
      </p:grpSp>
      <p:graphicFrame>
        <p:nvGraphicFramePr>
          <p:cNvPr id="163844" name="Object 4"/>
          <p:cNvGraphicFramePr>
            <a:graphicFrameLocks noChangeAspect="1"/>
          </p:cNvGraphicFramePr>
          <p:nvPr/>
        </p:nvGraphicFramePr>
        <p:xfrm>
          <a:off x="1244600" y="2041525"/>
          <a:ext cx="5819775" cy="1308100"/>
        </p:xfrm>
        <a:graphic>
          <a:graphicData uri="http://schemas.openxmlformats.org/presentationml/2006/ole">
            <mc:AlternateContent xmlns:mc="http://schemas.openxmlformats.org/markup-compatibility/2006">
              <mc:Choice xmlns:v="urn:schemas-microsoft-com:vml" Requires="v">
                <p:oleObj spid="_x0000_s28831" name="Equation" r:id="rId3" imgW="1968500" imgH="444500" progId="Equation.DSMT4">
                  <p:embed/>
                </p:oleObj>
              </mc:Choice>
              <mc:Fallback>
                <p:oleObj name="Equation" r:id="rId3" imgW="1968500" imgH="4445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4600" y="2041525"/>
                        <a:ext cx="5819775" cy="13081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40" name="Text Box 0"/>
          <p:cNvSpPr txBox="1">
            <a:spLocks noChangeArrowheads="1"/>
          </p:cNvSpPr>
          <p:nvPr/>
        </p:nvSpPr>
        <p:spPr bwMode="auto">
          <a:xfrm>
            <a:off x="6353175" y="3729038"/>
            <a:ext cx="2781300" cy="1196975"/>
          </a:xfrm>
          <a:prstGeom prst="rect">
            <a:avLst/>
          </a:prstGeom>
          <a:solidFill>
            <a:schemeClr val="bg1"/>
          </a:solidFill>
          <a:ln w="9525">
            <a:solidFill>
              <a:srgbClr val="FF00FF"/>
            </a:solidFill>
            <a:miter lim="800000"/>
            <a:headEnd/>
            <a:tailEnd/>
          </a:ln>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m</a:t>
            </a:r>
            <a:r>
              <a:rPr lang="en-US" altLang="zh-CN" sz="1000" b="1">
                <a:cs typeface="Arial" panose="020B0604020202020204" pitchFamily="34" charset="0"/>
              </a:rPr>
              <a:t>0</a:t>
            </a:r>
            <a:r>
              <a:rPr lang="en-US" altLang="zh-CN" sz="2400" b="1">
                <a:cs typeface="Arial" panose="020B0604020202020204" pitchFamily="34" charset="0"/>
              </a:rPr>
              <a:t>——</a:t>
            </a:r>
            <a:r>
              <a:rPr lang="zh-CN" altLang="en-US" sz="2400" b="1">
                <a:cs typeface="Arial" panose="020B0604020202020204" pitchFamily="34" charset="0"/>
              </a:rPr>
              <a:t>分子的质量</a:t>
            </a:r>
          </a:p>
          <a:p>
            <a:pPr eaLnBrk="1" hangingPunct="1">
              <a:spcBef>
                <a:spcPct val="0"/>
              </a:spcBef>
              <a:buClrTx/>
              <a:buFontTx/>
              <a:buNone/>
            </a:pPr>
            <a:r>
              <a:rPr lang="en-US" altLang="zh-CN" sz="2400" b="1" i="1">
                <a:cs typeface="Arial" panose="020B0604020202020204" pitchFamily="34" charset="0"/>
              </a:rPr>
              <a:t>T</a:t>
            </a:r>
            <a:r>
              <a:rPr lang="en-US" altLang="zh-CN" sz="2400" b="1">
                <a:cs typeface="Arial" panose="020B0604020202020204" pitchFamily="34" charset="0"/>
              </a:rPr>
              <a:t>——</a:t>
            </a:r>
            <a:r>
              <a:rPr lang="zh-CN" altLang="en-US" sz="2400" b="1">
                <a:cs typeface="Arial" panose="020B0604020202020204" pitchFamily="34" charset="0"/>
              </a:rPr>
              <a:t>热力学温度</a:t>
            </a:r>
          </a:p>
          <a:p>
            <a:pPr eaLnBrk="1" hangingPunct="1">
              <a:spcBef>
                <a:spcPct val="0"/>
              </a:spcBef>
              <a:buClrTx/>
              <a:buFontTx/>
              <a:buNone/>
            </a:pPr>
            <a:r>
              <a:rPr lang="en-US" altLang="zh-CN" sz="2400" b="1" i="1">
                <a:cs typeface="Arial" panose="020B0604020202020204" pitchFamily="34" charset="0"/>
              </a:rPr>
              <a:t>k</a:t>
            </a:r>
            <a:r>
              <a:rPr lang="en-US" altLang="zh-CN" sz="2400" b="1">
                <a:cs typeface="Arial" panose="020B0604020202020204" pitchFamily="34" charset="0"/>
              </a:rPr>
              <a:t>——</a:t>
            </a:r>
            <a:r>
              <a:rPr lang="zh-CN" altLang="en-US" sz="2400" b="1">
                <a:cs typeface="Arial" panose="020B0604020202020204" pitchFamily="34" charset="0"/>
              </a:rPr>
              <a:t>玻耳兹曼常量</a:t>
            </a:r>
            <a:endParaRPr lang="zh-CN" altLang="en-US" sz="3600" b="1">
              <a:ea typeface="楷体_GB2312"/>
              <a:cs typeface="楷体_GB2312"/>
            </a:endParaRPr>
          </a:p>
        </p:txBody>
      </p:sp>
      <p:sp>
        <p:nvSpPr>
          <p:cNvPr id="163842" name="Text Box 2"/>
          <p:cNvSpPr txBox="1">
            <a:spLocks noChangeArrowheads="1"/>
          </p:cNvSpPr>
          <p:nvPr/>
        </p:nvSpPr>
        <p:spPr bwMode="auto">
          <a:xfrm>
            <a:off x="5791200" y="4953000"/>
            <a:ext cx="3352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spcBef>
                <a:spcPct val="0"/>
              </a:spcBef>
              <a:buClrTx/>
              <a:buFontTx/>
              <a:buNone/>
            </a:pPr>
            <a:r>
              <a:rPr lang="zh-CN" altLang="en-US" sz="2400" b="1">
                <a:cs typeface="Arial" panose="020B0604020202020204" pitchFamily="34" charset="0"/>
              </a:rPr>
              <a:t>曲线下面宽度为 </a:t>
            </a:r>
            <a:r>
              <a:rPr lang="en-US" altLang="zh-CN" sz="2400" b="1">
                <a:cs typeface="Arial" panose="020B0604020202020204" pitchFamily="34" charset="0"/>
              </a:rPr>
              <a:t>d</a:t>
            </a:r>
            <a:r>
              <a:rPr lang="en-US" altLang="zh-CN" sz="2400" b="1" i="1">
                <a:cs typeface="Arial" panose="020B0604020202020204" pitchFamily="34" charset="0"/>
              </a:rPr>
              <a:t>v</a:t>
            </a:r>
            <a:r>
              <a:rPr lang="en-US" altLang="zh-CN" sz="2400" b="1">
                <a:cs typeface="Arial" panose="020B0604020202020204" pitchFamily="34" charset="0"/>
              </a:rPr>
              <a:t> </a:t>
            </a:r>
            <a:r>
              <a:rPr lang="zh-CN" altLang="en-US" sz="2400" b="1">
                <a:cs typeface="Arial" panose="020B0604020202020204" pitchFamily="34" charset="0"/>
              </a:rPr>
              <a:t>的小窄条面积等于分布在此速率区间内的分子数占总分子数的概率</a:t>
            </a:r>
            <a:r>
              <a:rPr lang="en-US" altLang="zh-CN" sz="2400" b="1">
                <a:cs typeface="Arial" panose="020B0604020202020204" pitchFamily="34" charset="0"/>
              </a:rPr>
              <a:t>d</a:t>
            </a:r>
            <a:r>
              <a:rPr lang="en-US" altLang="zh-CN" sz="2400" b="1" i="1">
                <a:cs typeface="Arial" panose="020B0604020202020204" pitchFamily="34" charset="0"/>
              </a:rPr>
              <a:t>N</a:t>
            </a:r>
            <a:r>
              <a:rPr lang="en-US" altLang="zh-CN" sz="2400" b="1">
                <a:cs typeface="Arial" panose="020B0604020202020204" pitchFamily="34" charset="0"/>
              </a:rPr>
              <a:t>/N </a:t>
            </a:r>
            <a:r>
              <a:rPr lang="zh-CN" altLang="en-US" sz="2400" b="1">
                <a:cs typeface="Arial" panose="020B0604020202020204" pitchFamily="34" charset="0"/>
              </a:rPr>
              <a:t>。</a:t>
            </a:r>
          </a:p>
        </p:txBody>
      </p:sp>
      <p:sp>
        <p:nvSpPr>
          <p:cNvPr id="163843" name="Text Box 3"/>
          <p:cNvSpPr txBox="1">
            <a:spLocks noChangeArrowheads="1"/>
          </p:cNvSpPr>
          <p:nvPr/>
        </p:nvSpPr>
        <p:spPr bwMode="auto">
          <a:xfrm>
            <a:off x="1887538" y="5969000"/>
            <a:ext cx="420687" cy="457200"/>
          </a:xfrm>
          <a:prstGeom prst="rect">
            <a:avLst/>
          </a:prstGeom>
          <a:noFill/>
          <a:ln w="12700">
            <a:noFill/>
            <a:miter lim="800000"/>
            <a:headEnd type="none" w="sm" len="sm"/>
            <a:tailEnd type="none" w="sm" len="sm"/>
          </a:ln>
          <a:effectLst/>
        </p:spPr>
        <p:txBody>
          <a:bodyPr wrap="none">
            <a:spAutoFit/>
          </a:bodyPr>
          <a:lstStyle/>
          <a:p>
            <a:pPr eaLnBrk="1" hangingPunct="1">
              <a:defRPr/>
            </a:pPr>
            <a:r>
              <a:rPr lang="en-US" altLang="zh-CN" i="1">
                <a:effectLst>
                  <a:outerShdw blurRad="38100" dist="38100" dir="2700000" algn="tl">
                    <a:srgbClr val="CC9900"/>
                  </a:outerShdw>
                </a:effectLst>
              </a:rPr>
              <a:t>v</a:t>
            </a:r>
            <a:r>
              <a:rPr lang="en-US" altLang="zh-CN" baseline="-25000">
                <a:effectLst>
                  <a:outerShdw blurRad="38100" dist="38100" dir="2700000" algn="tl">
                    <a:srgbClr val="CC9900"/>
                  </a:outerShdw>
                </a:effectLst>
              </a:rPr>
              <a:t>p</a:t>
            </a:r>
          </a:p>
        </p:txBody>
      </p:sp>
      <p:graphicFrame>
        <p:nvGraphicFramePr>
          <p:cNvPr id="3" name="对象 2"/>
          <p:cNvGraphicFramePr>
            <a:graphicFrameLocks noChangeAspect="1"/>
          </p:cNvGraphicFramePr>
          <p:nvPr/>
        </p:nvGraphicFramePr>
        <p:xfrm>
          <a:off x="6408738" y="53975"/>
          <a:ext cx="2209800" cy="1119188"/>
        </p:xfrm>
        <a:graphic>
          <a:graphicData uri="http://schemas.openxmlformats.org/presentationml/2006/ole">
            <mc:AlternateContent xmlns:mc="http://schemas.openxmlformats.org/markup-compatibility/2006">
              <mc:Choice xmlns:v="urn:schemas-microsoft-com:vml" Requires="v">
                <p:oleObj spid="_x0000_s28832" name="公式" r:id="rId5" imgW="799753" imgH="406224" progId="Equation.3">
                  <p:embed/>
                </p:oleObj>
              </mc:Choice>
              <mc:Fallback>
                <p:oleObj name="公式" r:id="rId5" imgW="799753" imgH="406224" progId="Equation.3">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8738" y="53975"/>
                        <a:ext cx="2209800" cy="1119188"/>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blinds(horizontal)">
                                      <p:cBhvr>
                                        <p:cTn id="7" dur="500"/>
                                        <p:tgtEl>
                                          <p:spTgt spid="419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box(in)">
                                      <p:cBhvr>
                                        <p:cTn id="17" dur="500"/>
                                        <p:tgtEl>
                                          <p:spTgt spid="1638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3840"/>
                                        </p:tgtEl>
                                        <p:attrNameLst>
                                          <p:attrName>style.visibility</p:attrName>
                                        </p:attrNameLst>
                                      </p:cBhvr>
                                      <p:to>
                                        <p:strVal val="visible"/>
                                      </p:to>
                                    </p:set>
                                    <p:animEffect transition="in" filter="wipe(left)">
                                      <p:cBhvr>
                                        <p:cTn id="27" dur="500"/>
                                        <p:tgtEl>
                                          <p:spTgt spid="1638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3842">
                                            <p:txEl>
                                              <p:pRg st="0" end="0"/>
                                            </p:txEl>
                                          </p:spTgt>
                                        </p:tgtEl>
                                        <p:attrNameLst>
                                          <p:attrName>style.visibility</p:attrName>
                                        </p:attrNameLst>
                                      </p:cBhvr>
                                      <p:to>
                                        <p:strVal val="visible"/>
                                      </p:to>
                                    </p:set>
                                    <p:animEffect transition="in" filter="wipe(left)">
                                      <p:cBhvr>
                                        <p:cTn id="32" dur="500"/>
                                        <p:tgtEl>
                                          <p:spTgt spid="1638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163840" grpId="0" animBg="1" autoUpdateAnimBg="0"/>
      <p:bldP spid="163842" grpId="0"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0B1DD84B-203E-4857-8CDD-243EFC3B2683}" type="slidenum">
              <a:rPr lang="en-US" altLang="zh-CN" smtClean="0"/>
              <a:pPr>
                <a:defRPr/>
              </a:pPr>
              <a:t>20</a:t>
            </a:fld>
            <a:endParaRPr lang="en-US" altLang="zh-CN"/>
          </a:p>
        </p:txBody>
      </p:sp>
      <p:pic>
        <p:nvPicPr>
          <p:cNvPr id="4" name="图片 3"/>
          <p:cNvPicPr>
            <a:picLocks noChangeAspect="1"/>
          </p:cNvPicPr>
          <p:nvPr/>
        </p:nvPicPr>
        <p:blipFill rotWithShape="1">
          <a:blip r:embed="rId3"/>
          <a:srcRect l="6793" t="36750" r="24701" b="31041"/>
          <a:stretch/>
        </p:blipFill>
        <p:spPr>
          <a:xfrm>
            <a:off x="827584" y="5274096"/>
            <a:ext cx="7056784" cy="1866257"/>
          </a:xfrm>
          <a:prstGeom prst="rect">
            <a:avLst/>
          </a:prstGeom>
        </p:spPr>
      </p:pic>
      <p:sp>
        <p:nvSpPr>
          <p:cNvPr id="5" name="矩形 4"/>
          <p:cNvSpPr/>
          <p:nvPr/>
        </p:nvSpPr>
        <p:spPr>
          <a:xfrm>
            <a:off x="26221" y="4812431"/>
            <a:ext cx="8568952" cy="461665"/>
          </a:xfrm>
          <a:prstGeom prst="rect">
            <a:avLst/>
          </a:prstGeom>
        </p:spPr>
        <p:txBody>
          <a:bodyPr wrap="square">
            <a:spAutoFit/>
          </a:bodyPr>
          <a:lstStyle/>
          <a:p>
            <a:r>
              <a:rPr lang="zh-CN" altLang="en-US"/>
              <a:t>https://wenku.baidu.com/view/3c729bccda38376baf1fae17.html</a:t>
            </a:r>
          </a:p>
        </p:txBody>
      </p:sp>
      <p:pic>
        <p:nvPicPr>
          <p:cNvPr id="6" name="图片 5"/>
          <p:cNvPicPr>
            <a:picLocks noChangeAspect="1"/>
          </p:cNvPicPr>
          <p:nvPr/>
        </p:nvPicPr>
        <p:blipFill rotWithShape="1">
          <a:blip r:embed="rId4"/>
          <a:srcRect l="5906" t="27794" r="24992" b="13432"/>
          <a:stretch/>
        </p:blipFill>
        <p:spPr>
          <a:xfrm>
            <a:off x="546908" y="1006764"/>
            <a:ext cx="7945767" cy="3801491"/>
          </a:xfrm>
          <a:prstGeom prst="rect">
            <a:avLst/>
          </a:prstGeom>
        </p:spPr>
      </p:pic>
      <p:sp>
        <p:nvSpPr>
          <p:cNvPr id="7" name="矩形 6"/>
          <p:cNvSpPr/>
          <p:nvPr/>
        </p:nvSpPr>
        <p:spPr>
          <a:xfrm>
            <a:off x="179512" y="188640"/>
            <a:ext cx="8856984" cy="830997"/>
          </a:xfrm>
          <a:prstGeom prst="rect">
            <a:avLst/>
          </a:prstGeom>
        </p:spPr>
        <p:txBody>
          <a:bodyPr wrap="square">
            <a:spAutoFit/>
          </a:bodyPr>
          <a:lstStyle/>
          <a:p>
            <a:r>
              <a:rPr lang="zh-CN" altLang="en-US" b="1">
                <a:solidFill>
                  <a:schemeClr val="accent1"/>
                </a:solidFill>
                <a:latin typeface="宋体" panose="02010600030101010101" pitchFamily="2" charset="-122"/>
              </a:rPr>
              <a:t>麦克斯韦速率分布对理想气体、非理想气体、固体及液体均成立，是平衡状态下大量分子速率分布的统计规律。</a:t>
            </a:r>
            <a:endParaRPr lang="zh-CN" altLang="en-US" b="1">
              <a:solidFill>
                <a:schemeClr val="accent1"/>
              </a:solidFill>
            </a:endParaRPr>
          </a:p>
        </p:txBody>
      </p:sp>
    </p:spTree>
    <p:extLst>
      <p:ext uri="{BB962C8B-B14F-4D97-AF65-F5344CB8AC3E}">
        <p14:creationId xmlns:p14="http://schemas.microsoft.com/office/powerpoint/2010/main" val="4253237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050A9CBF-9E90-4DCC-B549-B38A1DCF8A91}" type="slidenum">
              <a:rPr kumimoji="0" lang="en-US" altLang="zh-CN" sz="1400" smtClean="0">
                <a:latin typeface="Arial" panose="020B0604020202020204" pitchFamily="34" charset="0"/>
              </a:rPr>
              <a:pPr>
                <a:spcBef>
                  <a:spcPct val="0"/>
                </a:spcBef>
                <a:buClrTx/>
                <a:buFontTx/>
                <a:buNone/>
              </a:pPr>
              <a:t>21</a:t>
            </a:fld>
            <a:endParaRPr kumimoji="0" lang="en-US" altLang="zh-CN" sz="1400">
              <a:latin typeface="Arial" panose="020B0604020202020204" pitchFamily="34" charset="0"/>
            </a:endParaRPr>
          </a:p>
        </p:txBody>
      </p:sp>
      <p:sp>
        <p:nvSpPr>
          <p:cNvPr id="164866" name="Text Box 2"/>
          <p:cNvSpPr txBox="1">
            <a:spLocks noChangeArrowheads="1"/>
          </p:cNvSpPr>
          <p:nvPr/>
        </p:nvSpPr>
        <p:spPr bwMode="auto">
          <a:xfrm>
            <a:off x="593725" y="1309688"/>
            <a:ext cx="8550275"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spcBef>
                <a:spcPct val="0"/>
              </a:spcBef>
              <a:buClr>
                <a:srgbClr val="3333FF"/>
              </a:buClr>
              <a:buFont typeface="Symbol" panose="05050102010706020507" pitchFamily="18" charset="2"/>
              <a:buChar char="·"/>
            </a:pPr>
            <a:r>
              <a:rPr lang="zh-CN" altLang="en-US" b="1">
                <a:solidFill>
                  <a:schemeClr val="accent1"/>
                </a:solidFill>
                <a:ea typeface="楷体_GB2312"/>
                <a:cs typeface="楷体_GB2312"/>
              </a:rPr>
              <a:t>定义：</a:t>
            </a:r>
            <a:r>
              <a:rPr lang="zh-CN" altLang="en-US" sz="2400" b="1">
                <a:latin typeface="宋体" panose="02010600030101010101" pitchFamily="2" charset="-122"/>
                <a:cs typeface="Arial" panose="020B0604020202020204" pitchFamily="34" charset="0"/>
              </a:rPr>
              <a:t>与 </a:t>
            </a:r>
            <a:r>
              <a:rPr lang="en-US" altLang="zh-CN" sz="2400" b="1" i="1">
                <a:cs typeface="Arial" panose="020B0604020202020204" pitchFamily="34" charset="0"/>
              </a:rPr>
              <a:t>f</a:t>
            </a:r>
            <a:r>
              <a:rPr lang="en-US" altLang="zh-CN" sz="2400" b="1">
                <a:latin typeface="宋体" panose="02010600030101010101" pitchFamily="2" charset="-122"/>
                <a:cs typeface="Arial" panose="020B0604020202020204" pitchFamily="34" charset="0"/>
              </a:rPr>
              <a:t>(</a:t>
            </a:r>
            <a:r>
              <a:rPr lang="en-US" altLang="zh-CN" sz="2400" b="1" i="1">
                <a:cs typeface="Arial" panose="020B0604020202020204" pitchFamily="34" charset="0"/>
              </a:rPr>
              <a:t>v</a:t>
            </a:r>
            <a:r>
              <a:rPr lang="en-US" altLang="zh-CN" sz="2400" b="1">
                <a:latin typeface="宋体" panose="02010600030101010101" pitchFamily="2" charset="-122"/>
                <a:cs typeface="Arial" panose="020B0604020202020204" pitchFamily="34" charset="0"/>
              </a:rPr>
              <a:t>)</a:t>
            </a:r>
            <a:r>
              <a:rPr lang="zh-CN" altLang="en-US" sz="2400" b="1">
                <a:latin typeface="宋体" panose="02010600030101010101" pitchFamily="2" charset="-122"/>
                <a:cs typeface="Arial" panose="020B0604020202020204" pitchFamily="34" charset="0"/>
              </a:rPr>
              <a:t>极大值相对应的速率，称为最概然速率。</a:t>
            </a:r>
            <a:endParaRPr lang="zh-CN" altLang="en-US" b="1">
              <a:ea typeface="楷体_GB2312"/>
              <a:cs typeface="楷体_GB2312"/>
            </a:endParaRPr>
          </a:p>
          <a:p>
            <a:pPr lvl="1" eaLnBrk="1" hangingPunct="1">
              <a:spcBef>
                <a:spcPct val="0"/>
              </a:spcBef>
              <a:buClr>
                <a:srgbClr val="3333FF"/>
              </a:buClr>
              <a:buFontTx/>
              <a:buChar char="•"/>
            </a:pPr>
            <a:r>
              <a:rPr lang="zh-CN" altLang="en-US" b="1">
                <a:solidFill>
                  <a:schemeClr val="accent1"/>
                </a:solidFill>
                <a:ea typeface="楷体_GB2312"/>
                <a:cs typeface="楷体_GB2312"/>
              </a:rPr>
              <a:t>物理意义：</a:t>
            </a:r>
            <a:r>
              <a:rPr lang="zh-CN" altLang="en-US" sz="2400" b="1">
                <a:latin typeface="宋体" panose="02010600030101010101" pitchFamily="2" charset="-122"/>
                <a:cs typeface="Arial" panose="020B0604020202020204" pitchFamily="34" charset="0"/>
              </a:rPr>
              <a:t>若把整个速率范围划分为许多相等的小区间，则分布在</a:t>
            </a:r>
            <a:r>
              <a:rPr lang="en-US" altLang="zh-CN" b="1" i="1">
                <a:cs typeface="Arial" panose="020B0604020202020204" pitchFamily="34" charset="0"/>
              </a:rPr>
              <a:t>v</a:t>
            </a:r>
            <a:r>
              <a:rPr lang="en-US" altLang="zh-CN" b="1" baseline="-25000">
                <a:cs typeface="Arial" panose="020B0604020202020204" pitchFamily="34" charset="0"/>
              </a:rPr>
              <a:t>P</a:t>
            </a:r>
            <a:r>
              <a:rPr lang="zh-CN" altLang="zh-CN" sz="2400" b="1">
                <a:latin typeface="宋体" panose="02010600030101010101" pitchFamily="2" charset="-122"/>
                <a:cs typeface="Arial" panose="020B0604020202020204" pitchFamily="34" charset="0"/>
              </a:rPr>
              <a:t>所在</a:t>
            </a:r>
            <a:r>
              <a:rPr lang="zh-CN" altLang="en-US" sz="2400" b="1">
                <a:latin typeface="宋体" panose="02010600030101010101" pitchFamily="2" charset="-122"/>
                <a:cs typeface="Arial" panose="020B0604020202020204" pitchFamily="34" charset="0"/>
              </a:rPr>
              <a:t>区间的分子数比率最大。</a:t>
            </a:r>
            <a:endParaRPr lang="zh-CN" altLang="en-US" b="1">
              <a:ea typeface="楷体_GB2312"/>
              <a:cs typeface="楷体_GB2312"/>
            </a:endParaRPr>
          </a:p>
        </p:txBody>
      </p:sp>
      <p:graphicFrame>
        <p:nvGraphicFramePr>
          <p:cNvPr id="164867" name="Object 3"/>
          <p:cNvGraphicFramePr>
            <a:graphicFrameLocks noChangeAspect="1"/>
          </p:cNvGraphicFramePr>
          <p:nvPr/>
        </p:nvGraphicFramePr>
        <p:xfrm>
          <a:off x="3681413" y="5842000"/>
          <a:ext cx="3759200" cy="1058863"/>
        </p:xfrm>
        <a:graphic>
          <a:graphicData uri="http://schemas.openxmlformats.org/presentationml/2006/ole">
            <mc:AlternateContent xmlns:mc="http://schemas.openxmlformats.org/markup-compatibility/2006">
              <mc:Choice xmlns:v="urn:schemas-microsoft-com:vml" Requires="v">
                <p:oleObj spid="_x0000_s30037" name="Equation" r:id="rId3" imgW="2082800" imgH="482600" progId="Equation.DSMT4">
                  <p:embed/>
                </p:oleObj>
              </mc:Choice>
              <mc:Fallback>
                <p:oleObj name="Equation" r:id="rId3" imgW="2082800" imgH="482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1413" y="5842000"/>
                        <a:ext cx="3759200" cy="105886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868" name="Text Box 4"/>
          <p:cNvSpPr txBox="1">
            <a:spLocks noChangeArrowheads="1"/>
          </p:cNvSpPr>
          <p:nvPr/>
        </p:nvSpPr>
        <p:spPr bwMode="auto">
          <a:xfrm>
            <a:off x="76200" y="152400"/>
            <a:ext cx="4397375" cy="579438"/>
          </a:xfrm>
          <a:prstGeom prst="rect">
            <a:avLst/>
          </a:prstGeom>
          <a:gradFill rotWithShape="0">
            <a:gsLst>
              <a:gs pos="0">
                <a:srgbClr val="ADB044"/>
              </a:gs>
              <a:gs pos="50000">
                <a:srgbClr val="FFFFFF"/>
              </a:gs>
              <a:gs pos="100000">
                <a:srgbClr val="ADB044"/>
              </a:gs>
            </a:gsLst>
            <a:lin ang="5400000" scaled="1"/>
          </a:gradFill>
          <a:ln>
            <a:noFill/>
          </a:ln>
          <a:effectLst>
            <a:outerShdw dist="162639" dir="18519588" algn="ctr" rotWithShape="0">
              <a:srgbClr val="D9FB9D"/>
            </a:outerShdw>
          </a:effectLst>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en-US" altLang="zh-CN" b="1">
                <a:solidFill>
                  <a:srgbClr val="FF3300"/>
                </a:solidFill>
                <a:latin typeface="Arial" panose="020B0604020202020204" pitchFamily="34" charset="0"/>
                <a:ea typeface="楷体_GB2312"/>
                <a:cs typeface="楷体_GB2312"/>
              </a:rPr>
              <a:t>3</a:t>
            </a:r>
            <a:r>
              <a:rPr lang="zh-CN" altLang="en-US" b="1">
                <a:solidFill>
                  <a:srgbClr val="FF3300"/>
                </a:solidFill>
                <a:latin typeface="Arial" panose="020B0604020202020204" pitchFamily="34" charset="0"/>
                <a:ea typeface="楷体_GB2312"/>
                <a:cs typeface="楷体_GB2312"/>
              </a:rPr>
              <a:t>、三种统计速率</a:t>
            </a:r>
          </a:p>
        </p:txBody>
      </p:sp>
      <p:sp>
        <p:nvSpPr>
          <p:cNvPr id="164869" name="Text Box 5"/>
          <p:cNvSpPr txBox="1">
            <a:spLocks noChangeArrowheads="1"/>
          </p:cNvSpPr>
          <p:nvPr/>
        </p:nvSpPr>
        <p:spPr bwMode="auto">
          <a:xfrm>
            <a:off x="358775" y="787400"/>
            <a:ext cx="59420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buFontTx/>
              <a:buNone/>
            </a:pPr>
            <a:r>
              <a:rPr lang="en-US" altLang="zh-CN" b="1">
                <a:solidFill>
                  <a:srgbClr val="FF0000"/>
                </a:solidFill>
                <a:ea typeface="楷体_GB2312"/>
                <a:cs typeface="楷体_GB2312"/>
              </a:rPr>
              <a:t>1)</a:t>
            </a:r>
            <a:r>
              <a:rPr lang="zh-CN" altLang="en-US" b="1">
                <a:solidFill>
                  <a:srgbClr val="FF0000"/>
                </a:solidFill>
                <a:ea typeface="楷体_GB2312"/>
                <a:cs typeface="楷体_GB2312"/>
              </a:rPr>
              <a:t>、最概然速率</a:t>
            </a:r>
            <a:r>
              <a:rPr lang="en-US" altLang="zh-CN" b="1">
                <a:solidFill>
                  <a:srgbClr val="FF0000"/>
                </a:solidFill>
                <a:ea typeface="楷体_GB2312"/>
                <a:cs typeface="楷体_GB2312"/>
              </a:rPr>
              <a:t>(</a:t>
            </a:r>
            <a:r>
              <a:rPr lang="zh-CN" altLang="en-US" b="1">
                <a:solidFill>
                  <a:srgbClr val="FF0000"/>
                </a:solidFill>
                <a:ea typeface="楷体_GB2312"/>
                <a:cs typeface="楷体_GB2312"/>
              </a:rPr>
              <a:t>最可几速率</a:t>
            </a:r>
            <a:r>
              <a:rPr lang="en-US" altLang="zh-CN" b="1">
                <a:solidFill>
                  <a:srgbClr val="FF0000"/>
                </a:solidFill>
                <a:ea typeface="楷体_GB2312"/>
                <a:cs typeface="楷体_GB2312"/>
              </a:rPr>
              <a:t>)</a:t>
            </a:r>
          </a:p>
        </p:txBody>
      </p:sp>
      <p:graphicFrame>
        <p:nvGraphicFramePr>
          <p:cNvPr id="99335" name="Object 6"/>
          <p:cNvGraphicFramePr>
            <a:graphicFrameLocks noChangeAspect="1"/>
          </p:cNvGraphicFramePr>
          <p:nvPr/>
        </p:nvGraphicFramePr>
        <p:xfrm>
          <a:off x="6659563" y="3968750"/>
          <a:ext cx="1550987" cy="900113"/>
        </p:xfrm>
        <a:graphic>
          <a:graphicData uri="http://schemas.openxmlformats.org/presentationml/2006/ole">
            <mc:AlternateContent xmlns:mc="http://schemas.openxmlformats.org/markup-compatibility/2006">
              <mc:Choice xmlns:v="urn:schemas-microsoft-com:vml" Requires="v">
                <p:oleObj spid="_x0000_s30038" name="公式" r:id="rId5" imgW="1816100" imgH="1054100" progId="Equation.3">
                  <p:embed/>
                </p:oleObj>
              </mc:Choice>
              <mc:Fallback>
                <p:oleObj name="公式" r:id="rId5" imgW="1816100" imgH="10541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9563" y="3968750"/>
                        <a:ext cx="1550987" cy="9001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871" name="Object 7"/>
          <p:cNvGraphicFramePr>
            <a:graphicFrameLocks noChangeAspect="1"/>
          </p:cNvGraphicFramePr>
          <p:nvPr/>
        </p:nvGraphicFramePr>
        <p:xfrm>
          <a:off x="1403350" y="2863850"/>
          <a:ext cx="3816350" cy="852488"/>
        </p:xfrm>
        <a:graphic>
          <a:graphicData uri="http://schemas.openxmlformats.org/presentationml/2006/ole">
            <mc:AlternateContent xmlns:mc="http://schemas.openxmlformats.org/markup-compatibility/2006">
              <mc:Choice xmlns:v="urn:schemas-microsoft-com:vml" Requires="v">
                <p:oleObj spid="_x0000_s30039" name="Equation" r:id="rId7" imgW="1854200" imgH="469900" progId="Equation.DSMT4">
                  <p:embed/>
                </p:oleObj>
              </mc:Choice>
              <mc:Fallback>
                <p:oleObj name="Equation" r:id="rId7" imgW="1854200" imgH="4699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863850"/>
                        <a:ext cx="3816350" cy="852488"/>
                      </a:xfrm>
                      <a:prstGeom prst="rect">
                        <a:avLst/>
                      </a:prstGeom>
                      <a:solidFill>
                        <a:schemeClr val="accent1"/>
                      </a:solidFill>
                      <a:ln w="9525">
                        <a:solidFill>
                          <a:srgbClr val="FF0000"/>
                        </a:solidFill>
                        <a:miter lim="800000"/>
                        <a:headEnd/>
                        <a:tailEnd/>
                      </a:ln>
                    </p:spPr>
                  </p:pic>
                </p:oleObj>
              </mc:Fallback>
            </mc:AlternateContent>
          </a:graphicData>
        </a:graphic>
      </p:graphicFrame>
      <p:graphicFrame>
        <p:nvGraphicFramePr>
          <p:cNvPr id="164872" name="Object 8"/>
          <p:cNvGraphicFramePr>
            <a:graphicFrameLocks noChangeAspect="1"/>
          </p:cNvGraphicFramePr>
          <p:nvPr/>
        </p:nvGraphicFramePr>
        <p:xfrm>
          <a:off x="1619250" y="4868863"/>
          <a:ext cx="5256213" cy="874712"/>
        </p:xfrm>
        <a:graphic>
          <a:graphicData uri="http://schemas.openxmlformats.org/presentationml/2006/ole">
            <mc:AlternateContent xmlns:mc="http://schemas.openxmlformats.org/markup-compatibility/2006">
              <mc:Choice xmlns:v="urn:schemas-microsoft-com:vml" Requires="v">
                <p:oleObj spid="_x0000_s30040" name="Equation" r:id="rId9" imgW="2298700" imgH="457200" progId="Equation.DSMT4">
                  <p:embed/>
                </p:oleObj>
              </mc:Choice>
              <mc:Fallback>
                <p:oleObj name="Equation" r:id="rId9" imgW="2298700" imgH="4572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19250" y="4868863"/>
                        <a:ext cx="5256213" cy="874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873" name="Line 9"/>
          <p:cNvSpPr>
            <a:spLocks noChangeShapeType="1"/>
          </p:cNvSpPr>
          <p:nvPr/>
        </p:nvSpPr>
        <p:spPr bwMode="auto">
          <a:xfrm flipV="1">
            <a:off x="1319213" y="4941888"/>
            <a:ext cx="1524000" cy="762000"/>
          </a:xfrm>
          <a:prstGeom prst="line">
            <a:avLst/>
          </a:prstGeom>
          <a:noFill/>
          <a:ln w="19050">
            <a:solidFill>
              <a:srgbClr val="FF0000"/>
            </a:solidFill>
            <a:round/>
            <a:headEnd type="none" w="med" len="lg"/>
            <a:tailEnd type="none" w="med" len="lg"/>
          </a:ln>
          <a:effectLst/>
        </p:spPr>
        <p:txBody>
          <a:bodyPr wrap="none"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graphicFrame>
        <p:nvGraphicFramePr>
          <p:cNvPr id="164876" name="Object 12"/>
          <p:cNvGraphicFramePr>
            <a:graphicFrameLocks noChangeAspect="1"/>
          </p:cNvGraphicFramePr>
          <p:nvPr/>
        </p:nvGraphicFramePr>
        <p:xfrm>
          <a:off x="684213" y="5957888"/>
          <a:ext cx="1874837" cy="900112"/>
        </p:xfrm>
        <a:graphic>
          <a:graphicData uri="http://schemas.openxmlformats.org/presentationml/2006/ole">
            <mc:AlternateContent xmlns:mc="http://schemas.openxmlformats.org/markup-compatibility/2006">
              <mc:Choice xmlns:v="urn:schemas-microsoft-com:vml" Requires="v">
                <p:oleObj spid="_x0000_s30041" name="公式" r:id="rId11" imgW="2273300" imgH="1092200" progId="Equation.3">
                  <p:embed/>
                </p:oleObj>
              </mc:Choice>
              <mc:Fallback>
                <p:oleObj name="公式" r:id="rId11" imgW="2273300" imgH="10922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4213" y="5957888"/>
                        <a:ext cx="1874837" cy="9001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4877" name="Text Box 13"/>
          <p:cNvSpPr txBox="1">
            <a:spLocks noChangeArrowheads="1"/>
          </p:cNvSpPr>
          <p:nvPr/>
        </p:nvSpPr>
        <p:spPr bwMode="auto">
          <a:xfrm>
            <a:off x="323850" y="4127500"/>
            <a:ext cx="83820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solidFill>
                  <a:schemeClr val="accent2"/>
                </a:solidFill>
                <a:latin typeface="Century Schoolbook" panose="02040604050505020304" pitchFamily="18" charset="0"/>
                <a:cs typeface="Arial" panose="020B0604020202020204" pitchFamily="34" charset="0"/>
              </a:rPr>
              <a:t>将 </a:t>
            </a:r>
            <a:r>
              <a:rPr lang="en-US" altLang="zh-CN" sz="2800" i="1">
                <a:solidFill>
                  <a:schemeClr val="accent2"/>
                </a:solidFill>
                <a:latin typeface="Century Schoolbook" panose="02040604050505020304" pitchFamily="18" charset="0"/>
                <a:cs typeface="Arial" panose="020B0604020202020204" pitchFamily="34" charset="0"/>
              </a:rPr>
              <a:t>f</a:t>
            </a:r>
            <a:r>
              <a:rPr lang="en-US" altLang="zh-CN" sz="2800">
                <a:solidFill>
                  <a:schemeClr val="accent2"/>
                </a:solidFill>
                <a:latin typeface="Century Schoolbook" panose="02040604050505020304" pitchFamily="18" charset="0"/>
                <a:cs typeface="Arial" panose="020B0604020202020204" pitchFamily="34" charset="0"/>
              </a:rPr>
              <a:t>(</a:t>
            </a:r>
            <a:r>
              <a:rPr lang="en-US" altLang="zh-CN" sz="2800" i="1">
                <a:solidFill>
                  <a:schemeClr val="accent2"/>
                </a:solidFill>
                <a:latin typeface="Century Schoolbook" panose="02040604050505020304" pitchFamily="18" charset="0"/>
                <a:cs typeface="Arial" panose="020B0604020202020204" pitchFamily="34" charset="0"/>
              </a:rPr>
              <a:t>v</a:t>
            </a:r>
            <a:r>
              <a:rPr lang="en-US" altLang="zh-CN" sz="2800">
                <a:solidFill>
                  <a:schemeClr val="accent2"/>
                </a:solidFill>
                <a:latin typeface="Century Schoolbook" panose="02040604050505020304" pitchFamily="18" charset="0"/>
                <a:cs typeface="Arial" panose="020B0604020202020204" pitchFamily="34" charset="0"/>
              </a:rPr>
              <a:t>) </a:t>
            </a:r>
            <a:r>
              <a:rPr lang="zh-CN" altLang="en-US" sz="2800" b="1">
                <a:solidFill>
                  <a:schemeClr val="accent2"/>
                </a:solidFill>
                <a:latin typeface="Century Schoolbook" panose="02040604050505020304" pitchFamily="18" charset="0"/>
                <a:cs typeface="Arial" panose="020B0604020202020204" pitchFamily="34" charset="0"/>
              </a:rPr>
              <a:t>对 </a:t>
            </a:r>
            <a:r>
              <a:rPr lang="en-US" altLang="zh-CN" sz="2800" i="1">
                <a:solidFill>
                  <a:schemeClr val="accent2"/>
                </a:solidFill>
                <a:latin typeface="Century Schoolbook" panose="02040604050505020304" pitchFamily="18" charset="0"/>
                <a:cs typeface="Arial" panose="020B0604020202020204" pitchFamily="34" charset="0"/>
              </a:rPr>
              <a:t>v </a:t>
            </a:r>
            <a:r>
              <a:rPr lang="zh-CN" altLang="en-US" sz="2800" b="1">
                <a:solidFill>
                  <a:schemeClr val="accent2"/>
                </a:solidFill>
                <a:latin typeface="Century Schoolbook" panose="02040604050505020304" pitchFamily="18" charset="0"/>
                <a:cs typeface="Arial" panose="020B0604020202020204" pitchFamily="34" charset="0"/>
              </a:rPr>
              <a:t>求导，令一阶导数为 </a:t>
            </a:r>
            <a:r>
              <a:rPr lang="en-US" altLang="zh-CN" sz="2800">
                <a:solidFill>
                  <a:schemeClr val="accent2"/>
                </a:solidFill>
                <a:latin typeface="Century Schoolbook" panose="02040604050505020304" pitchFamily="18" charset="0"/>
                <a:cs typeface="Arial" panose="020B0604020202020204" pitchFamily="34" charset="0"/>
              </a:rPr>
              <a:t>0,</a:t>
            </a:r>
            <a:r>
              <a:rPr lang="zh-CN" altLang="en-US" sz="2800">
                <a:solidFill>
                  <a:schemeClr val="accent2"/>
                </a:solidFill>
                <a:latin typeface="Century Schoolbook" panose="02040604050505020304" pitchFamily="18" charset="0"/>
                <a:cs typeface="Arial" panose="020B0604020202020204" pitchFamily="34" charset="0"/>
              </a:rPr>
              <a:t>即</a:t>
            </a:r>
            <a:endParaRPr lang="zh-CN" altLang="en-US" sz="2800" b="1">
              <a:solidFill>
                <a:schemeClr val="accent2"/>
              </a:solidFill>
              <a:latin typeface="Century Schoolbook" panose="02040604050505020304" pitchFamily="18" charset="0"/>
              <a:cs typeface="Arial" panose="020B0604020202020204" pitchFamily="34" charset="0"/>
            </a:endParaRPr>
          </a:p>
        </p:txBody>
      </p:sp>
      <p:sp>
        <p:nvSpPr>
          <p:cNvPr id="164878" name="AutoShape 14"/>
          <p:cNvSpPr>
            <a:spLocks noChangeArrowheads="1"/>
          </p:cNvSpPr>
          <p:nvPr/>
        </p:nvSpPr>
        <p:spPr bwMode="auto">
          <a:xfrm>
            <a:off x="2771775" y="6237288"/>
            <a:ext cx="576263" cy="476250"/>
          </a:xfrm>
          <a:prstGeom prst="rightArrow">
            <a:avLst>
              <a:gd name="adj1" fmla="val 50000"/>
              <a:gd name="adj2" fmla="val 30250"/>
            </a:avLst>
          </a:prstGeom>
          <a:noFill/>
          <a:ln w="28575">
            <a:solidFill>
              <a:srgbClr val="FF00FF"/>
            </a:solidFill>
            <a:miter lim="800000"/>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164879" name="Line 15"/>
          <p:cNvSpPr>
            <a:spLocks noChangeShapeType="1"/>
          </p:cNvSpPr>
          <p:nvPr/>
        </p:nvSpPr>
        <p:spPr bwMode="auto">
          <a:xfrm flipV="1">
            <a:off x="3911600" y="4868863"/>
            <a:ext cx="1524000" cy="762000"/>
          </a:xfrm>
          <a:prstGeom prst="line">
            <a:avLst/>
          </a:prstGeom>
          <a:noFill/>
          <a:ln w="19050">
            <a:solidFill>
              <a:srgbClr val="FF0000"/>
            </a:solidFill>
            <a:round/>
            <a:headEnd type="none" w="med" len="lg"/>
            <a:tailEnd type="none" w="med" len="lg"/>
          </a:ln>
          <a:effectLst/>
        </p:spPr>
        <p:txBody>
          <a:bodyPr wrap="none" lIns="90000" tIns="46800" rIns="90000" bIns="46800" anchor="ctr">
            <a:spAutoFit/>
          </a:bodyPr>
          <a:lstStyle/>
          <a:p>
            <a:pPr eaLnBrk="1" hangingPunct="1">
              <a:defRPr/>
            </a:pPr>
            <a:endParaRPr lang="en-US">
              <a:effectLst>
                <a:outerShdw blurRad="38100" dist="38100" dir="2700000" algn="tl">
                  <a:srgbClr val="000000">
                    <a:alpha val="43137"/>
                  </a:srgbClr>
                </a:outerShdw>
              </a:effectLst>
            </a:endParaRPr>
          </a:p>
        </p:txBody>
      </p:sp>
      <p:pic>
        <p:nvPicPr>
          <p:cNvPr id="15" name="Picture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88125" y="2205038"/>
            <a:ext cx="2497138" cy="165735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68"/>
                                        </p:tgtEl>
                                        <p:attrNameLst>
                                          <p:attrName>style.visibility</p:attrName>
                                        </p:attrNameLst>
                                      </p:cBhvr>
                                      <p:to>
                                        <p:strVal val="visible"/>
                                      </p:to>
                                    </p:set>
                                    <p:animEffect transition="in" filter="wipe(left)">
                                      <p:cBhvr>
                                        <p:cTn id="7" dur="500"/>
                                        <p:tgtEl>
                                          <p:spTgt spid="1648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869"/>
                                        </p:tgtEl>
                                        <p:attrNameLst>
                                          <p:attrName>style.visibility</p:attrName>
                                        </p:attrNameLst>
                                      </p:cBhvr>
                                      <p:to>
                                        <p:strVal val="visible"/>
                                      </p:to>
                                    </p:set>
                                    <p:animEffect transition="in" filter="wipe(left)">
                                      <p:cBhvr>
                                        <p:cTn id="12" dur="500"/>
                                        <p:tgtEl>
                                          <p:spTgt spid="1648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4866">
                                            <p:txEl>
                                              <p:pRg st="0" end="0"/>
                                            </p:txEl>
                                          </p:spTgt>
                                        </p:tgtEl>
                                        <p:attrNameLst>
                                          <p:attrName>style.visibility</p:attrName>
                                        </p:attrNameLst>
                                      </p:cBhvr>
                                      <p:to>
                                        <p:strVal val="visible"/>
                                      </p:to>
                                    </p:set>
                                    <p:animEffect transition="in" filter="wipe(left)">
                                      <p:cBhvr>
                                        <p:cTn id="22" dur="500"/>
                                        <p:tgtEl>
                                          <p:spTgt spid="16486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4866">
                                            <p:txEl>
                                              <p:pRg st="1" end="1"/>
                                            </p:txEl>
                                          </p:spTgt>
                                        </p:tgtEl>
                                        <p:attrNameLst>
                                          <p:attrName>style.visibility</p:attrName>
                                        </p:attrNameLst>
                                      </p:cBhvr>
                                      <p:to>
                                        <p:strVal val="visible"/>
                                      </p:to>
                                    </p:set>
                                    <p:animEffect transition="in" filter="wipe(left)">
                                      <p:cBhvr>
                                        <p:cTn id="27" dur="500"/>
                                        <p:tgtEl>
                                          <p:spTgt spid="164866">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64871"/>
                                        </p:tgtEl>
                                        <p:attrNameLst>
                                          <p:attrName>style.visibility</p:attrName>
                                        </p:attrNameLst>
                                      </p:cBhvr>
                                      <p:to>
                                        <p:strVal val="visible"/>
                                      </p:to>
                                    </p:set>
                                    <p:animEffect transition="in" filter="wipe(left)">
                                      <p:cBhvr>
                                        <p:cTn id="32" dur="500"/>
                                        <p:tgtEl>
                                          <p:spTgt spid="1648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487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9933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164872"/>
                                        </p:tgtEl>
                                        <p:attrNameLst>
                                          <p:attrName>style.visibility</p:attrName>
                                        </p:attrNameLst>
                                      </p:cBhvr>
                                      <p:to>
                                        <p:strVal val="visible"/>
                                      </p:to>
                                    </p:set>
                                    <p:animEffect transition="in" filter="wipe(left)">
                                      <p:cBhvr>
                                        <p:cTn id="45" dur="500"/>
                                        <p:tgtEl>
                                          <p:spTgt spid="16487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2" fill="hold" nodeType="clickEffect">
                                  <p:stCondLst>
                                    <p:cond delay="0"/>
                                  </p:stCondLst>
                                  <p:childTnLst>
                                    <p:set>
                                      <p:cBhvr>
                                        <p:cTn id="49" dur="1" fill="hold">
                                          <p:stCondLst>
                                            <p:cond delay="0"/>
                                          </p:stCondLst>
                                        </p:cTn>
                                        <p:tgtEl>
                                          <p:spTgt spid="164873"/>
                                        </p:tgtEl>
                                        <p:attrNameLst>
                                          <p:attrName>style.visibility</p:attrName>
                                        </p:attrNameLst>
                                      </p:cBhvr>
                                      <p:to>
                                        <p:strVal val="visible"/>
                                      </p:to>
                                    </p:set>
                                    <p:animEffect transition="in" filter="wipe(right)">
                                      <p:cBhvr>
                                        <p:cTn id="50" dur="500"/>
                                        <p:tgtEl>
                                          <p:spTgt spid="16487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nodeType="clickEffect">
                                  <p:stCondLst>
                                    <p:cond delay="0"/>
                                  </p:stCondLst>
                                  <p:childTnLst>
                                    <p:set>
                                      <p:cBhvr>
                                        <p:cTn id="54" dur="1" fill="hold">
                                          <p:stCondLst>
                                            <p:cond delay="0"/>
                                          </p:stCondLst>
                                        </p:cTn>
                                        <p:tgtEl>
                                          <p:spTgt spid="164879"/>
                                        </p:tgtEl>
                                        <p:attrNameLst>
                                          <p:attrName>style.visibility</p:attrName>
                                        </p:attrNameLst>
                                      </p:cBhvr>
                                      <p:to>
                                        <p:strVal val="visible"/>
                                      </p:to>
                                    </p:set>
                                    <p:animEffect transition="in" filter="wipe(right)">
                                      <p:cBhvr>
                                        <p:cTn id="55" dur="500"/>
                                        <p:tgtEl>
                                          <p:spTgt spid="16487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64876"/>
                                        </p:tgtEl>
                                        <p:attrNameLst>
                                          <p:attrName>style.visibility</p:attrName>
                                        </p:attrNameLst>
                                      </p:cBhvr>
                                      <p:to>
                                        <p:strVal val="visible"/>
                                      </p:to>
                                    </p:set>
                                    <p:animEffect transition="in" filter="wipe(left)">
                                      <p:cBhvr>
                                        <p:cTn id="60" dur="500"/>
                                        <p:tgtEl>
                                          <p:spTgt spid="16487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164878"/>
                                        </p:tgtEl>
                                        <p:attrNameLst>
                                          <p:attrName>style.visibility</p:attrName>
                                        </p:attrNameLst>
                                      </p:cBhvr>
                                      <p:to>
                                        <p:strVal val="visible"/>
                                      </p:to>
                                    </p:set>
                                    <p:animEffect transition="in" filter="wipe(down)">
                                      <p:cBhvr>
                                        <p:cTn id="65" dur="500"/>
                                        <p:tgtEl>
                                          <p:spTgt spid="164878"/>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164867"/>
                                        </p:tgtEl>
                                        <p:attrNameLst>
                                          <p:attrName>style.visibility</p:attrName>
                                        </p:attrNameLst>
                                      </p:cBhvr>
                                      <p:to>
                                        <p:strVal val="visible"/>
                                      </p:to>
                                    </p:set>
                                    <p:animEffect transition="in" filter="wipe(left)">
                                      <p:cBhvr>
                                        <p:cTn id="70" dur="500"/>
                                        <p:tgtEl>
                                          <p:spTgt spid="164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6" grpId="0" build="p" bldLvl="2" autoUpdateAnimBg="0"/>
      <p:bldP spid="164868" grpId="0" animBg="1" autoUpdateAnimBg="0"/>
      <p:bldP spid="164869" grpId="0" autoUpdateAnimBg="0"/>
      <p:bldP spid="164877" grpId="0"/>
      <p:bldP spid="16487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1A4E4E77-E769-4746-8A17-FB54ACEF8D39}" type="slidenum">
              <a:rPr kumimoji="0" lang="en-US" altLang="zh-CN" sz="1400" smtClean="0">
                <a:latin typeface="Arial" panose="020B0604020202020204" pitchFamily="34" charset="0"/>
              </a:rPr>
              <a:pPr>
                <a:spcBef>
                  <a:spcPct val="0"/>
                </a:spcBef>
                <a:buClrTx/>
                <a:buFontTx/>
                <a:buNone/>
              </a:pPr>
              <a:t>22</a:t>
            </a:fld>
            <a:endParaRPr kumimoji="0" lang="en-US" altLang="zh-CN" sz="1400">
              <a:latin typeface="Arial" panose="020B0604020202020204" pitchFamily="34" charset="0"/>
            </a:endParaRPr>
          </a:p>
        </p:txBody>
      </p:sp>
      <p:sp>
        <p:nvSpPr>
          <p:cNvPr id="165890" name="Text Box 2"/>
          <p:cNvSpPr txBox="1">
            <a:spLocks noChangeArrowheads="1"/>
          </p:cNvSpPr>
          <p:nvPr/>
        </p:nvSpPr>
        <p:spPr bwMode="auto">
          <a:xfrm>
            <a:off x="152400" y="149225"/>
            <a:ext cx="29067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b="1">
                <a:solidFill>
                  <a:srgbClr val="FF0000"/>
                </a:solidFill>
                <a:ea typeface="楷体_GB2312"/>
                <a:cs typeface="楷体_GB2312"/>
              </a:rPr>
              <a:t>2)</a:t>
            </a:r>
            <a:r>
              <a:rPr lang="zh-CN" altLang="en-US" b="1">
                <a:solidFill>
                  <a:srgbClr val="FF0000"/>
                </a:solidFill>
                <a:ea typeface="楷体_GB2312"/>
                <a:cs typeface="楷体_GB2312"/>
              </a:rPr>
              <a:t>、平均速率</a:t>
            </a:r>
            <a:endParaRPr lang="zh-CN" altLang="en-US" sz="2400">
              <a:solidFill>
                <a:srgbClr val="FF0000"/>
              </a:solidFill>
              <a:cs typeface="Arial" panose="020B0604020202020204" pitchFamily="34" charset="0"/>
            </a:endParaRPr>
          </a:p>
        </p:txBody>
      </p:sp>
      <p:sp>
        <p:nvSpPr>
          <p:cNvPr id="165891" name="Text Box 3"/>
          <p:cNvSpPr txBox="1">
            <a:spLocks noChangeArrowheads="1"/>
          </p:cNvSpPr>
          <p:nvPr/>
        </p:nvSpPr>
        <p:spPr bwMode="auto">
          <a:xfrm>
            <a:off x="533400" y="823913"/>
            <a:ext cx="7038975"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pPr>
            <a:r>
              <a:rPr lang="zh-CN" altLang="en-US" sz="2800" b="1">
                <a:solidFill>
                  <a:srgbClr val="FFFF00"/>
                </a:solidFill>
                <a:ea typeface="楷体_GB2312"/>
                <a:cs typeface="楷体_GB2312"/>
              </a:rPr>
              <a:t>定义：</a:t>
            </a:r>
            <a:endParaRPr lang="zh-CN" altLang="en-US" sz="2400" b="1">
              <a:solidFill>
                <a:srgbClr val="FFFF00"/>
              </a:solidFill>
              <a:cs typeface="Arial" panose="020B0604020202020204" pitchFamily="34" charset="0"/>
            </a:endParaRPr>
          </a:p>
          <a:p>
            <a:pPr lvl="1" eaLnBrk="1" hangingPunct="1">
              <a:spcBef>
                <a:spcPct val="0"/>
              </a:spcBef>
              <a:buClrTx/>
              <a:buFontTx/>
              <a:buNone/>
            </a:pPr>
            <a:r>
              <a:rPr lang="zh-CN" altLang="en-US" sz="2400" b="1">
                <a:cs typeface="Arial" panose="020B0604020202020204" pitchFamily="34" charset="0"/>
              </a:rPr>
              <a:t>大量气体分子速率的算术平均值叫做平均速率。</a:t>
            </a:r>
            <a:endParaRPr lang="zh-CN" altLang="en-US" sz="3600" b="1">
              <a:ea typeface="楷体_GB2312"/>
              <a:cs typeface="楷体_GB2312"/>
            </a:endParaRPr>
          </a:p>
        </p:txBody>
      </p:sp>
      <p:graphicFrame>
        <p:nvGraphicFramePr>
          <p:cNvPr id="165892" name="Object 4"/>
          <p:cNvGraphicFramePr>
            <a:graphicFrameLocks noChangeAspect="1"/>
          </p:cNvGraphicFramePr>
          <p:nvPr>
            <p:extLst>
              <p:ext uri="{D42A27DB-BD31-4B8C-83A1-F6EECF244321}">
                <p14:modId xmlns:p14="http://schemas.microsoft.com/office/powerpoint/2010/main" val="1948370959"/>
              </p:ext>
            </p:extLst>
          </p:nvPr>
        </p:nvGraphicFramePr>
        <p:xfrm>
          <a:off x="2743200" y="1828800"/>
          <a:ext cx="3124200" cy="1038225"/>
        </p:xfrm>
        <a:graphic>
          <a:graphicData uri="http://schemas.openxmlformats.org/presentationml/2006/ole">
            <mc:AlternateContent xmlns:mc="http://schemas.openxmlformats.org/markup-compatibility/2006">
              <mc:Choice xmlns:v="urn:schemas-microsoft-com:vml" Requires="v">
                <p:oleObj spid="_x0000_s31188" name="Equation" r:id="rId3" imgW="1447172" imgH="482391" progId="Equation.DSMT4">
                  <p:embed/>
                </p:oleObj>
              </mc:Choice>
              <mc:Fallback>
                <p:oleObj name="Equation" r:id="rId3" imgW="1447172" imgH="48239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1828800"/>
                        <a:ext cx="3124200" cy="1038225"/>
                      </a:xfrm>
                      <a:prstGeom prst="rect">
                        <a:avLst/>
                      </a:prstGeom>
                      <a:solidFill>
                        <a:schemeClr val="accent1"/>
                      </a:solidFill>
                      <a:ln>
                        <a:noFill/>
                      </a:ln>
                      <a:effectLst/>
                      <a:extLs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5893" name="Text Box 5"/>
          <p:cNvSpPr txBox="1">
            <a:spLocks noChangeArrowheads="1"/>
          </p:cNvSpPr>
          <p:nvPr/>
        </p:nvSpPr>
        <p:spPr bwMode="auto">
          <a:xfrm>
            <a:off x="146050" y="3027363"/>
            <a:ext cx="2471738"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pPr>
            <a:r>
              <a:rPr lang="zh-CN" altLang="en-US" sz="2800" b="1">
                <a:solidFill>
                  <a:srgbClr val="FFFF00"/>
                </a:solidFill>
                <a:ea typeface="楷体_GB2312"/>
                <a:cs typeface="楷体_GB2312"/>
              </a:rPr>
              <a:t>统计平均值：</a:t>
            </a:r>
          </a:p>
        </p:txBody>
      </p:sp>
      <p:graphicFrame>
        <p:nvGraphicFramePr>
          <p:cNvPr id="165894" name="Object 6"/>
          <p:cNvGraphicFramePr>
            <a:graphicFrameLocks noChangeAspect="1"/>
          </p:cNvGraphicFramePr>
          <p:nvPr/>
        </p:nvGraphicFramePr>
        <p:xfrm>
          <a:off x="2417763" y="3028950"/>
          <a:ext cx="1581150" cy="1071563"/>
        </p:xfrm>
        <a:graphic>
          <a:graphicData uri="http://schemas.openxmlformats.org/presentationml/2006/ole">
            <mc:AlternateContent xmlns:mc="http://schemas.openxmlformats.org/markup-compatibility/2006">
              <mc:Choice xmlns:v="urn:schemas-microsoft-com:vml" Requires="v">
                <p:oleObj spid="_x0000_s31189" name="公式" r:id="rId5" imgW="749300" imgH="508000" progId="Equation.3">
                  <p:embed/>
                </p:oleObj>
              </mc:Choice>
              <mc:Fallback>
                <p:oleObj name="公式" r:id="rId5" imgW="749300" imgH="5080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7763" y="3028950"/>
                        <a:ext cx="1581150" cy="1071563"/>
                      </a:xfrm>
                      <a:prstGeom prst="rect">
                        <a:avLst/>
                      </a:prstGeom>
                      <a:solidFill>
                        <a:schemeClr val="accent1"/>
                      </a:solidFill>
                      <a:ln>
                        <a:noFill/>
                      </a:ln>
                      <a:effectLst/>
                      <a:extLs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5895" name="Object 7"/>
          <p:cNvGraphicFramePr>
            <a:graphicFrameLocks noChangeAspect="1"/>
          </p:cNvGraphicFramePr>
          <p:nvPr/>
        </p:nvGraphicFramePr>
        <p:xfrm>
          <a:off x="6011863" y="3238500"/>
          <a:ext cx="2590800" cy="549275"/>
        </p:xfrm>
        <a:graphic>
          <a:graphicData uri="http://schemas.openxmlformats.org/presentationml/2006/ole">
            <mc:AlternateContent xmlns:mc="http://schemas.openxmlformats.org/markup-compatibility/2006">
              <mc:Choice xmlns:v="urn:schemas-microsoft-com:vml" Requires="v">
                <p:oleObj spid="_x0000_s31190" name="公式" r:id="rId7" imgW="952087" imgH="203112" progId="Equation.3">
                  <p:embed/>
                </p:oleObj>
              </mc:Choice>
              <mc:Fallback>
                <p:oleObj name="公式" r:id="rId7" imgW="952087" imgH="203112"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1863" y="3238500"/>
                        <a:ext cx="2590800" cy="549275"/>
                      </a:xfrm>
                      <a:prstGeom prst="rect">
                        <a:avLst/>
                      </a:prstGeom>
                      <a:solidFill>
                        <a:schemeClr val="accent1"/>
                      </a:solidFill>
                      <a:ln>
                        <a:noFill/>
                      </a:ln>
                      <a:effectLst/>
                      <a:extLs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5896" name="Object 8"/>
          <p:cNvGraphicFramePr>
            <a:graphicFrameLocks noChangeAspect="1"/>
          </p:cNvGraphicFramePr>
          <p:nvPr/>
        </p:nvGraphicFramePr>
        <p:xfrm>
          <a:off x="323850" y="4149725"/>
          <a:ext cx="8531225" cy="1030288"/>
        </p:xfrm>
        <a:graphic>
          <a:graphicData uri="http://schemas.openxmlformats.org/presentationml/2006/ole">
            <mc:AlternateContent xmlns:mc="http://schemas.openxmlformats.org/markup-compatibility/2006">
              <mc:Choice xmlns:v="urn:schemas-microsoft-com:vml" Requires="v">
                <p:oleObj spid="_x0000_s31191" name="公式" r:id="rId9" imgW="4203700" imgH="508000" progId="Equation.3">
                  <p:embed/>
                </p:oleObj>
              </mc:Choice>
              <mc:Fallback>
                <p:oleObj name="公式" r:id="rId9" imgW="4203700" imgH="5080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3850" y="4149725"/>
                        <a:ext cx="8531225" cy="10302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5897" name="Object 9"/>
          <p:cNvGraphicFramePr>
            <a:graphicFrameLocks noChangeAspect="1"/>
          </p:cNvGraphicFramePr>
          <p:nvPr/>
        </p:nvGraphicFramePr>
        <p:xfrm>
          <a:off x="4427538" y="5589588"/>
          <a:ext cx="4492625" cy="1050925"/>
        </p:xfrm>
        <a:graphic>
          <a:graphicData uri="http://schemas.openxmlformats.org/presentationml/2006/ole">
            <mc:AlternateContent xmlns:mc="http://schemas.openxmlformats.org/markup-compatibility/2006">
              <mc:Choice xmlns:v="urn:schemas-microsoft-com:vml" Requires="v">
                <p:oleObj spid="_x0000_s31192" name="Equation" r:id="rId11" imgW="2057400" imgH="482600" progId="Equation.DSMT4">
                  <p:embed/>
                </p:oleObj>
              </mc:Choice>
              <mc:Fallback>
                <p:oleObj name="Equation" r:id="rId11" imgW="2057400" imgH="482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27538" y="5589588"/>
                        <a:ext cx="4492625" cy="10509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对象 1"/>
          <p:cNvGraphicFramePr>
            <a:graphicFrameLocks noChangeAspect="1"/>
          </p:cNvGraphicFramePr>
          <p:nvPr/>
        </p:nvGraphicFramePr>
        <p:xfrm>
          <a:off x="4356100" y="3141663"/>
          <a:ext cx="1473200" cy="746125"/>
        </p:xfrm>
        <a:graphic>
          <a:graphicData uri="http://schemas.openxmlformats.org/presentationml/2006/ole">
            <mc:AlternateContent xmlns:mc="http://schemas.openxmlformats.org/markup-compatibility/2006">
              <mc:Choice xmlns:v="urn:schemas-microsoft-com:vml" Requires="v">
                <p:oleObj spid="_x0000_s31193" name="公式" r:id="rId13" imgW="799753" imgH="406224" progId="Equation.3">
                  <p:embed/>
                </p:oleObj>
              </mc:Choice>
              <mc:Fallback>
                <p:oleObj name="公式" r:id="rId13" imgW="799753" imgH="406224" progId="Equation.3">
                  <p:embed/>
                  <p:pic>
                    <p:nvPicPr>
                      <p:cNvPr id="0" name="对象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56100" y="3141663"/>
                        <a:ext cx="1473200" cy="746125"/>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p:cNvGraphicFramePr>
            <a:graphicFrameLocks noChangeAspect="1"/>
          </p:cNvGraphicFramePr>
          <p:nvPr/>
        </p:nvGraphicFramePr>
        <p:xfrm>
          <a:off x="393700" y="5516563"/>
          <a:ext cx="3449638" cy="1087437"/>
        </p:xfrm>
        <a:graphic>
          <a:graphicData uri="http://schemas.openxmlformats.org/presentationml/2006/ole">
            <mc:AlternateContent xmlns:mc="http://schemas.openxmlformats.org/markup-compatibility/2006">
              <mc:Choice xmlns:v="urn:schemas-microsoft-com:vml" Requires="v">
                <p:oleObj spid="_x0000_s31194" name="公式" r:id="rId15" imgW="1244600" imgH="393700" progId="Equation.3">
                  <p:embed/>
                </p:oleObj>
              </mc:Choice>
              <mc:Fallback>
                <p:oleObj name="公式" r:id="rId15" imgW="1244600" imgH="393700" progId="Equation.3">
                  <p:embed/>
                  <p:pic>
                    <p:nvPicPr>
                      <p:cNvPr id="0" name="Object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3700" y="5516563"/>
                        <a:ext cx="3449638" cy="1087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3" name="Picture 11">
            <a:extLst>
              <a:ext uri="{FF2B5EF4-FFF2-40B4-BE49-F238E27FC236}">
                <a16:creationId xmlns:a16="http://schemas.microsoft.com/office/drawing/2014/main" id="{CD77C71A-6FBA-49BB-8C50-9D9F81A719AD}"/>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554507" y="1714609"/>
            <a:ext cx="2048156" cy="1359361"/>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5890"/>
                                        </p:tgtEl>
                                        <p:attrNameLst>
                                          <p:attrName>style.visibility</p:attrName>
                                        </p:attrNameLst>
                                      </p:cBhvr>
                                      <p:to>
                                        <p:strVal val="visible"/>
                                      </p:to>
                                    </p:set>
                                    <p:animEffect transition="in" filter="wipe(left)">
                                      <p:cBhvr>
                                        <p:cTn id="7" dur="500"/>
                                        <p:tgtEl>
                                          <p:spTgt spid="1658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5891">
                                            <p:txEl>
                                              <p:pRg st="0" end="0"/>
                                            </p:txEl>
                                          </p:spTgt>
                                        </p:tgtEl>
                                        <p:attrNameLst>
                                          <p:attrName>style.visibility</p:attrName>
                                        </p:attrNameLst>
                                      </p:cBhvr>
                                      <p:to>
                                        <p:strVal val="visible"/>
                                      </p:to>
                                    </p:set>
                                    <p:animEffect transition="in" filter="wipe(left)">
                                      <p:cBhvr>
                                        <p:cTn id="12" dur="500"/>
                                        <p:tgtEl>
                                          <p:spTgt spid="16589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5891">
                                            <p:txEl>
                                              <p:pRg st="1" end="1"/>
                                            </p:txEl>
                                          </p:spTgt>
                                        </p:tgtEl>
                                        <p:attrNameLst>
                                          <p:attrName>style.visibility</p:attrName>
                                        </p:attrNameLst>
                                      </p:cBhvr>
                                      <p:to>
                                        <p:strVal val="visible"/>
                                      </p:to>
                                    </p:set>
                                    <p:animEffect transition="in" filter="wipe(left)">
                                      <p:cBhvr>
                                        <p:cTn id="17" dur="500"/>
                                        <p:tgtEl>
                                          <p:spTgt spid="16589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5892"/>
                                        </p:tgtEl>
                                        <p:attrNameLst>
                                          <p:attrName>style.visibility</p:attrName>
                                        </p:attrNameLst>
                                      </p:cBhvr>
                                      <p:to>
                                        <p:strVal val="visible"/>
                                      </p:to>
                                    </p:set>
                                    <p:animEffect transition="in" filter="wipe(left)">
                                      <p:cBhvr>
                                        <p:cTn id="22" dur="500"/>
                                        <p:tgtEl>
                                          <p:spTgt spid="16589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5893"/>
                                        </p:tgtEl>
                                        <p:attrNameLst>
                                          <p:attrName>style.visibility</p:attrName>
                                        </p:attrNameLst>
                                      </p:cBhvr>
                                      <p:to>
                                        <p:strVal val="visible"/>
                                      </p:to>
                                    </p:set>
                                    <p:animEffect transition="in" filter="wipe(left)">
                                      <p:cBhvr>
                                        <p:cTn id="27" dur="500"/>
                                        <p:tgtEl>
                                          <p:spTgt spid="16589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5894"/>
                                        </p:tgtEl>
                                        <p:attrNameLst>
                                          <p:attrName>style.visibility</p:attrName>
                                        </p:attrNameLst>
                                      </p:cBhvr>
                                      <p:to>
                                        <p:strVal val="visible"/>
                                      </p:to>
                                    </p:set>
                                    <p:animEffect transition="in" filter="wipe(left)">
                                      <p:cBhvr>
                                        <p:cTn id="37" dur="500"/>
                                        <p:tgtEl>
                                          <p:spTgt spid="16589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65895"/>
                                        </p:tgtEl>
                                        <p:attrNameLst>
                                          <p:attrName>style.visibility</p:attrName>
                                        </p:attrNameLst>
                                      </p:cBhvr>
                                      <p:to>
                                        <p:strVal val="visible"/>
                                      </p:to>
                                    </p:set>
                                    <p:animEffect transition="in" filter="wipe(left)">
                                      <p:cBhvr>
                                        <p:cTn id="46" dur="500"/>
                                        <p:tgtEl>
                                          <p:spTgt spid="16589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65896"/>
                                        </p:tgtEl>
                                        <p:attrNameLst>
                                          <p:attrName>style.visibility</p:attrName>
                                        </p:attrNameLst>
                                      </p:cBhvr>
                                      <p:to>
                                        <p:strVal val="visible"/>
                                      </p:to>
                                    </p:set>
                                    <p:animEffect transition="in" filter="wipe(left)">
                                      <p:cBhvr>
                                        <p:cTn id="51" dur="500"/>
                                        <p:tgtEl>
                                          <p:spTgt spid="16589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65897"/>
                                        </p:tgtEl>
                                        <p:attrNameLst>
                                          <p:attrName>style.visibility</p:attrName>
                                        </p:attrNameLst>
                                      </p:cBhvr>
                                      <p:to>
                                        <p:strVal val="visible"/>
                                      </p:to>
                                    </p:set>
                                    <p:animEffect transition="in" filter="wipe(left)">
                                      <p:cBhvr>
                                        <p:cTn id="60" dur="500"/>
                                        <p:tgtEl>
                                          <p:spTgt spid="165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autoUpdateAnimBg="0"/>
      <p:bldP spid="165891" grpId="0" build="p" bldLvl="2" autoUpdateAnimBg="0"/>
      <p:bldP spid="16589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sp>
        <p:nvSpPr>
          <p:cNvPr id="3174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BA5D6294-13E2-4223-A403-151867EBE456}" type="slidenum">
              <a:rPr kumimoji="0" lang="en-US" altLang="zh-CN" sz="1400" smtClean="0">
                <a:latin typeface="Arial" panose="020B0604020202020204" pitchFamily="34" charset="0"/>
              </a:rPr>
              <a:pPr>
                <a:spcBef>
                  <a:spcPct val="0"/>
                </a:spcBef>
                <a:buClrTx/>
                <a:buFontTx/>
                <a:buNone/>
              </a:pPr>
              <a:t>23</a:t>
            </a:fld>
            <a:endParaRPr kumimoji="0" lang="en-US" altLang="zh-CN" sz="1400">
              <a:latin typeface="Arial" panose="020B0604020202020204" pitchFamily="34" charset="0"/>
            </a:endParaRPr>
          </a:p>
        </p:txBody>
      </p:sp>
      <p:grpSp>
        <p:nvGrpSpPr>
          <p:cNvPr id="31747" name="Group 17"/>
          <p:cNvGrpSpPr>
            <a:grpSpLocks/>
          </p:cNvGrpSpPr>
          <p:nvPr/>
        </p:nvGrpSpPr>
        <p:grpSpPr bwMode="auto">
          <a:xfrm>
            <a:off x="793750" y="390525"/>
            <a:ext cx="5743575" cy="6086475"/>
            <a:chOff x="500" y="246"/>
            <a:chExt cx="3618" cy="3834"/>
          </a:xfrm>
        </p:grpSpPr>
        <p:graphicFrame>
          <p:nvGraphicFramePr>
            <p:cNvPr id="31748" name="Object 2"/>
            <p:cNvGraphicFramePr>
              <a:graphicFrameLocks noChangeAspect="1"/>
            </p:cNvGraphicFramePr>
            <p:nvPr/>
          </p:nvGraphicFramePr>
          <p:xfrm>
            <a:off x="1673" y="1885"/>
            <a:ext cx="2391" cy="751"/>
          </p:xfrm>
          <a:graphic>
            <a:graphicData uri="http://schemas.openxmlformats.org/presentationml/2006/ole">
              <mc:AlternateContent xmlns:mc="http://schemas.openxmlformats.org/markup-compatibility/2006">
                <mc:Choice xmlns:v="urn:schemas-microsoft-com:vml" Requires="v">
                  <p:oleObj spid="_x0000_s32069" name="公式" r:id="rId3" imgW="1371600" imgH="431800" progId="Equation.3">
                    <p:embed/>
                  </p:oleObj>
                </mc:Choice>
                <mc:Fallback>
                  <p:oleObj name="公式" r:id="rId3" imgW="1371600" imgH="431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 y="1885"/>
                          <a:ext cx="2391" cy="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749" name="Rectangle 8"/>
            <p:cNvSpPr>
              <a:spLocks noChangeArrowheads="1"/>
            </p:cNvSpPr>
            <p:nvPr/>
          </p:nvSpPr>
          <p:spPr bwMode="auto">
            <a:xfrm>
              <a:off x="500" y="246"/>
              <a:ext cx="108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a:solidFill>
                    <a:srgbClr val="FF0000"/>
                  </a:solidFill>
                  <a:cs typeface="Arial" panose="020B0604020202020204" pitchFamily="34" charset="0"/>
                </a:rPr>
                <a:t>高斯积分：</a:t>
              </a:r>
            </a:p>
          </p:txBody>
        </p:sp>
        <p:graphicFrame>
          <p:nvGraphicFramePr>
            <p:cNvPr id="31750" name="Object 3"/>
            <p:cNvGraphicFramePr>
              <a:graphicFrameLocks noChangeAspect="1"/>
            </p:cNvGraphicFramePr>
            <p:nvPr/>
          </p:nvGraphicFramePr>
          <p:xfrm>
            <a:off x="1620" y="1236"/>
            <a:ext cx="2223" cy="715"/>
          </p:xfrm>
          <a:graphic>
            <a:graphicData uri="http://schemas.openxmlformats.org/presentationml/2006/ole">
              <mc:AlternateContent xmlns:mc="http://schemas.openxmlformats.org/markup-compatibility/2006">
                <mc:Choice xmlns:v="urn:schemas-microsoft-com:vml" Requires="v">
                  <p:oleObj spid="_x0000_s32070" name="公式" r:id="rId5" imgW="1218671" imgH="393529" progId="Equation.3">
                    <p:embed/>
                  </p:oleObj>
                </mc:Choice>
                <mc:Fallback>
                  <p:oleObj name="公式" r:id="rId5" imgW="1218671" imgH="393529"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0" y="1236"/>
                          <a:ext cx="2223"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1" name="Object 4"/>
            <p:cNvGraphicFramePr>
              <a:graphicFrameLocks noChangeAspect="1"/>
            </p:cNvGraphicFramePr>
            <p:nvPr/>
          </p:nvGraphicFramePr>
          <p:xfrm>
            <a:off x="1628" y="455"/>
            <a:ext cx="2162" cy="763"/>
          </p:xfrm>
          <a:graphic>
            <a:graphicData uri="http://schemas.openxmlformats.org/presentationml/2006/ole">
              <mc:AlternateContent xmlns:mc="http://schemas.openxmlformats.org/markup-compatibility/2006">
                <mc:Choice xmlns:v="urn:schemas-microsoft-com:vml" Requires="v">
                  <p:oleObj spid="_x0000_s32071" name="公式" r:id="rId7" imgW="1218671" imgH="431613" progId="Equation.3">
                    <p:embed/>
                  </p:oleObj>
                </mc:Choice>
                <mc:Fallback>
                  <p:oleObj name="公式" r:id="rId7" imgW="1218671" imgH="431613"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28" y="455"/>
                          <a:ext cx="2162" cy="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2" name="Object 5"/>
            <p:cNvGraphicFramePr>
              <a:graphicFrameLocks noChangeAspect="1"/>
            </p:cNvGraphicFramePr>
            <p:nvPr/>
          </p:nvGraphicFramePr>
          <p:xfrm>
            <a:off x="1669" y="2653"/>
            <a:ext cx="2262" cy="685"/>
          </p:xfrm>
          <a:graphic>
            <a:graphicData uri="http://schemas.openxmlformats.org/presentationml/2006/ole">
              <mc:AlternateContent xmlns:mc="http://schemas.openxmlformats.org/markup-compatibility/2006">
                <mc:Choice xmlns:v="urn:schemas-microsoft-com:vml" Requires="v">
                  <p:oleObj spid="_x0000_s32072" name="公式" r:id="rId9" imgW="1295400" imgH="393700" progId="Equation.3">
                    <p:embed/>
                  </p:oleObj>
                </mc:Choice>
                <mc:Fallback>
                  <p:oleObj name="公式" r:id="rId9" imgW="1295400" imgH="393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69" y="2653"/>
                          <a:ext cx="2262" cy="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1753" name="Object 6"/>
            <p:cNvGraphicFramePr>
              <a:graphicFrameLocks noChangeAspect="1"/>
            </p:cNvGraphicFramePr>
            <p:nvPr/>
          </p:nvGraphicFramePr>
          <p:xfrm>
            <a:off x="1700" y="3321"/>
            <a:ext cx="2418" cy="759"/>
          </p:xfrm>
          <a:graphic>
            <a:graphicData uri="http://schemas.openxmlformats.org/presentationml/2006/ole">
              <mc:AlternateContent xmlns:mc="http://schemas.openxmlformats.org/markup-compatibility/2006">
                <mc:Choice xmlns:v="urn:schemas-microsoft-com:vml" Requires="v">
                  <p:oleObj spid="_x0000_s32073" name="公式" r:id="rId11" imgW="1371600" imgH="431800" progId="Equation.3">
                    <p:embed/>
                  </p:oleObj>
                </mc:Choice>
                <mc:Fallback>
                  <p:oleObj name="公式" r:id="rId11" imgW="1371600" imgH="4318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00" y="3321"/>
                          <a:ext cx="2418" cy="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0DA9DABC-30B3-4CBF-9878-4B2AFCFF66F2}" type="slidenum">
              <a:rPr kumimoji="0" lang="en-US" altLang="zh-CN" sz="1400" smtClean="0">
                <a:latin typeface="Arial" panose="020B0604020202020204" pitchFamily="34" charset="0"/>
              </a:rPr>
              <a:pPr>
                <a:spcBef>
                  <a:spcPct val="0"/>
                </a:spcBef>
                <a:buClrTx/>
                <a:buFontTx/>
                <a:buNone/>
              </a:pPr>
              <a:t>24</a:t>
            </a:fld>
            <a:endParaRPr kumimoji="0" lang="en-US" altLang="zh-CN" sz="1400">
              <a:latin typeface="Arial" panose="020B0604020202020204" pitchFamily="34" charset="0"/>
            </a:endParaRPr>
          </a:p>
        </p:txBody>
      </p:sp>
      <p:sp>
        <p:nvSpPr>
          <p:cNvPr id="166914" name="Text Box 2"/>
          <p:cNvSpPr txBox="1">
            <a:spLocks noChangeArrowheads="1"/>
          </p:cNvSpPr>
          <p:nvPr/>
        </p:nvSpPr>
        <p:spPr bwMode="auto">
          <a:xfrm>
            <a:off x="290513" y="239713"/>
            <a:ext cx="334486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b="1">
                <a:solidFill>
                  <a:srgbClr val="FF0000"/>
                </a:solidFill>
                <a:ea typeface="楷体_GB2312"/>
                <a:cs typeface="楷体_GB2312"/>
              </a:rPr>
              <a:t>3)</a:t>
            </a:r>
            <a:r>
              <a:rPr lang="zh-CN" altLang="en-US" b="1">
                <a:solidFill>
                  <a:srgbClr val="FF0000"/>
                </a:solidFill>
                <a:ea typeface="楷体_GB2312"/>
                <a:cs typeface="楷体_GB2312"/>
              </a:rPr>
              <a:t>、方均根速率</a:t>
            </a:r>
            <a:endParaRPr lang="zh-CN" altLang="en-US" sz="2400">
              <a:solidFill>
                <a:srgbClr val="FF0000"/>
              </a:solidFill>
              <a:cs typeface="Arial" panose="020B0604020202020204" pitchFamily="34" charset="0"/>
            </a:endParaRPr>
          </a:p>
        </p:txBody>
      </p:sp>
      <p:sp>
        <p:nvSpPr>
          <p:cNvPr id="166915" name="Text Box 3"/>
          <p:cNvSpPr txBox="1">
            <a:spLocks noChangeArrowheads="1"/>
          </p:cNvSpPr>
          <p:nvPr/>
        </p:nvSpPr>
        <p:spPr bwMode="auto">
          <a:xfrm>
            <a:off x="381000" y="823913"/>
            <a:ext cx="8562975"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pPr>
            <a:r>
              <a:rPr lang="zh-CN" altLang="en-US" sz="2800" b="1">
                <a:solidFill>
                  <a:srgbClr val="FFFF00"/>
                </a:solidFill>
                <a:ea typeface="楷体_GB2312"/>
                <a:cs typeface="楷体_GB2312"/>
              </a:rPr>
              <a:t>定义：</a:t>
            </a:r>
            <a:endParaRPr lang="zh-CN" altLang="en-US" sz="2400" b="1">
              <a:solidFill>
                <a:srgbClr val="FFFF00"/>
              </a:solidFill>
              <a:cs typeface="Arial" panose="020B0604020202020204" pitchFamily="34" charset="0"/>
            </a:endParaRPr>
          </a:p>
          <a:p>
            <a:pPr lvl="1" eaLnBrk="1" hangingPunct="1">
              <a:spcBef>
                <a:spcPct val="0"/>
              </a:spcBef>
              <a:buClrTx/>
              <a:buFontTx/>
              <a:buNone/>
            </a:pPr>
            <a:r>
              <a:rPr lang="zh-CN" altLang="en-US" sz="2400" b="1">
                <a:cs typeface="Arial" panose="020B0604020202020204" pitchFamily="34" charset="0"/>
              </a:rPr>
              <a:t>大量气体分子速率的平方平均值的平方根叫做方均根速率。</a:t>
            </a:r>
          </a:p>
        </p:txBody>
      </p:sp>
      <p:graphicFrame>
        <p:nvGraphicFramePr>
          <p:cNvPr id="166916" name="Object 4"/>
          <p:cNvGraphicFramePr>
            <a:graphicFrameLocks noChangeAspect="1"/>
          </p:cNvGraphicFramePr>
          <p:nvPr/>
        </p:nvGraphicFramePr>
        <p:xfrm>
          <a:off x="2438400" y="1905000"/>
          <a:ext cx="4114800" cy="1147763"/>
        </p:xfrm>
        <a:graphic>
          <a:graphicData uri="http://schemas.openxmlformats.org/presentationml/2006/ole">
            <mc:AlternateContent xmlns:mc="http://schemas.openxmlformats.org/markup-compatibility/2006">
              <mc:Choice xmlns:v="urn:schemas-microsoft-com:vml" Requires="v">
                <p:oleObj spid="_x0000_s33030" name="公式" r:id="rId3" imgW="1905000" imgH="533400" progId="Equation.3">
                  <p:embed/>
                </p:oleObj>
              </mc:Choice>
              <mc:Fallback>
                <p:oleObj name="公式" r:id="rId3" imgW="1905000" imgH="533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905000"/>
                        <a:ext cx="4114800" cy="1147763"/>
                      </a:xfrm>
                      <a:prstGeom prst="rect">
                        <a:avLst/>
                      </a:prstGeom>
                      <a:solidFill>
                        <a:schemeClr val="accent1"/>
                      </a:solidFill>
                      <a:ln>
                        <a:noFill/>
                      </a:ln>
                      <a:effectLst/>
                      <a:extLst>
                        <a:ext uri="{91240B29-F687-4F45-9708-019B960494DF}">
                          <a14:hiddenLine xmlns:a14="http://schemas.microsoft.com/office/drawing/2010/main" w="9525">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6917" name="Text Box 5"/>
          <p:cNvSpPr txBox="1">
            <a:spLocks noChangeArrowheads="1"/>
          </p:cNvSpPr>
          <p:nvPr/>
        </p:nvSpPr>
        <p:spPr bwMode="auto">
          <a:xfrm>
            <a:off x="385763" y="2743200"/>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ClrTx/>
            </a:pPr>
            <a:r>
              <a:rPr lang="zh-CN" altLang="en-US" sz="2800" b="1">
                <a:solidFill>
                  <a:srgbClr val="FFFF00"/>
                </a:solidFill>
                <a:ea typeface="楷体_GB2312"/>
                <a:cs typeface="楷体_GB2312"/>
              </a:rPr>
              <a:t>计算：</a:t>
            </a:r>
          </a:p>
        </p:txBody>
      </p:sp>
      <p:graphicFrame>
        <p:nvGraphicFramePr>
          <p:cNvPr id="166919" name="Object 7"/>
          <p:cNvGraphicFramePr>
            <a:graphicFrameLocks noChangeAspect="1"/>
          </p:cNvGraphicFramePr>
          <p:nvPr/>
        </p:nvGraphicFramePr>
        <p:xfrm>
          <a:off x="684213" y="5516563"/>
          <a:ext cx="6418262" cy="1190625"/>
        </p:xfrm>
        <a:graphic>
          <a:graphicData uri="http://schemas.openxmlformats.org/presentationml/2006/ole">
            <mc:AlternateContent xmlns:mc="http://schemas.openxmlformats.org/markup-compatibility/2006">
              <mc:Choice xmlns:v="urn:schemas-microsoft-com:vml" Requires="v">
                <p:oleObj spid="_x0000_s33031" name="Equation" r:id="rId5" imgW="2590800" imgH="482600" progId="Equation.DSMT4">
                  <p:embed/>
                </p:oleObj>
              </mc:Choice>
              <mc:Fallback>
                <p:oleObj name="Equation" r:id="rId5" imgW="2590800" imgH="4826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5516563"/>
                        <a:ext cx="6418262" cy="1190625"/>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对象 1"/>
          <p:cNvGraphicFramePr>
            <a:graphicFrameLocks noChangeAspect="1"/>
          </p:cNvGraphicFramePr>
          <p:nvPr/>
        </p:nvGraphicFramePr>
        <p:xfrm>
          <a:off x="446088" y="3262313"/>
          <a:ext cx="8432800" cy="952500"/>
        </p:xfrm>
        <a:graphic>
          <a:graphicData uri="http://schemas.openxmlformats.org/presentationml/2006/ole">
            <mc:AlternateContent xmlns:mc="http://schemas.openxmlformats.org/markup-compatibility/2006">
              <mc:Choice xmlns:v="urn:schemas-microsoft-com:vml" Requires="v">
                <p:oleObj spid="_x0000_s33032" name="公式" r:id="rId7" imgW="4495800" imgH="508000" progId="Equation.3">
                  <p:embed/>
                </p:oleObj>
              </mc:Choice>
              <mc:Fallback>
                <p:oleObj name="公式" r:id="rId7" imgW="4495800" imgH="508000" progId="Equation.3">
                  <p:embed/>
                  <p:pic>
                    <p:nvPicPr>
                      <p:cNvPr id="0" name="对象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088" y="3262313"/>
                        <a:ext cx="8432800" cy="9525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nvGraphicFramePr>
        <p:xfrm>
          <a:off x="3132138" y="4365625"/>
          <a:ext cx="2795587" cy="911225"/>
        </p:xfrm>
        <a:graphic>
          <a:graphicData uri="http://schemas.openxmlformats.org/presentationml/2006/ole">
            <mc:AlternateContent xmlns:mc="http://schemas.openxmlformats.org/markup-compatibility/2006">
              <mc:Choice xmlns:v="urn:schemas-microsoft-com:vml" Requires="v">
                <p:oleObj spid="_x0000_s33033" name="公式" r:id="rId9" imgW="1320227" imgH="431613" progId="Equation.3">
                  <p:embed/>
                </p:oleObj>
              </mc:Choice>
              <mc:Fallback>
                <p:oleObj name="公式" r:id="rId9" imgW="1320227" imgH="431613"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2138" y="4365625"/>
                        <a:ext cx="2795587" cy="9112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6914"/>
                                        </p:tgtEl>
                                        <p:attrNameLst>
                                          <p:attrName>style.visibility</p:attrName>
                                        </p:attrNameLst>
                                      </p:cBhvr>
                                      <p:to>
                                        <p:strVal val="visible"/>
                                      </p:to>
                                    </p:set>
                                    <p:animEffect transition="in" filter="wipe(left)">
                                      <p:cBhvr>
                                        <p:cTn id="7" dur="500"/>
                                        <p:tgtEl>
                                          <p:spTgt spid="1669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6915">
                                            <p:txEl>
                                              <p:pRg st="0" end="0"/>
                                            </p:txEl>
                                          </p:spTgt>
                                        </p:tgtEl>
                                        <p:attrNameLst>
                                          <p:attrName>style.visibility</p:attrName>
                                        </p:attrNameLst>
                                      </p:cBhvr>
                                      <p:to>
                                        <p:strVal val="visible"/>
                                      </p:to>
                                    </p:set>
                                    <p:animEffect transition="in" filter="wipe(left)">
                                      <p:cBhvr>
                                        <p:cTn id="12" dur="500"/>
                                        <p:tgtEl>
                                          <p:spTgt spid="16691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6915">
                                            <p:txEl>
                                              <p:pRg st="1" end="1"/>
                                            </p:txEl>
                                          </p:spTgt>
                                        </p:tgtEl>
                                        <p:attrNameLst>
                                          <p:attrName>style.visibility</p:attrName>
                                        </p:attrNameLst>
                                      </p:cBhvr>
                                      <p:to>
                                        <p:strVal val="visible"/>
                                      </p:to>
                                    </p:set>
                                    <p:animEffect transition="in" filter="wipe(left)">
                                      <p:cBhvr>
                                        <p:cTn id="17" dur="500"/>
                                        <p:tgtEl>
                                          <p:spTgt spid="166915">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66916"/>
                                        </p:tgtEl>
                                        <p:attrNameLst>
                                          <p:attrName>style.visibility</p:attrName>
                                        </p:attrNameLst>
                                      </p:cBhvr>
                                      <p:to>
                                        <p:strVal val="visible"/>
                                      </p:to>
                                    </p:set>
                                    <p:animEffect transition="in" filter="wipe(left)">
                                      <p:cBhvr>
                                        <p:cTn id="22" dur="500"/>
                                        <p:tgtEl>
                                          <p:spTgt spid="1669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6917"/>
                                        </p:tgtEl>
                                        <p:attrNameLst>
                                          <p:attrName>style.visibility</p:attrName>
                                        </p:attrNameLst>
                                      </p:cBhvr>
                                      <p:to>
                                        <p:strVal val="visible"/>
                                      </p:to>
                                    </p:set>
                                    <p:animEffect transition="in" filter="wipe(left)">
                                      <p:cBhvr>
                                        <p:cTn id="27" dur="500"/>
                                        <p:tgtEl>
                                          <p:spTgt spid="16691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66919"/>
                                        </p:tgtEl>
                                        <p:attrNameLst>
                                          <p:attrName>style.visibility</p:attrName>
                                        </p:attrNameLst>
                                      </p:cBhvr>
                                      <p:to>
                                        <p:strVal val="visible"/>
                                      </p:to>
                                    </p:set>
                                    <p:animEffect transition="in" filter="wipe(left)">
                                      <p:cBhvr>
                                        <p:cTn id="41" dur="500"/>
                                        <p:tgtEl>
                                          <p:spTgt spid="166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4" grpId="0" autoUpdateAnimBg="0"/>
      <p:bldP spid="166915" grpId="0" build="p" bldLvl="2" autoUpdateAnimBg="0"/>
      <p:bldP spid="16691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Text Box 5"/>
          <p:cNvSpPr txBox="1">
            <a:spLocks noChangeArrowheads="1"/>
          </p:cNvSpPr>
          <p:nvPr/>
        </p:nvSpPr>
        <p:spPr bwMode="auto">
          <a:xfrm>
            <a:off x="257175" y="165251"/>
            <a:ext cx="38862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kumimoji="0" lang="en-US" altLang="zh-CN" sz="3000" b="1">
                <a:solidFill>
                  <a:srgbClr val="FF0000"/>
                </a:solidFill>
                <a:latin typeface="微软雅黑" panose="020B0503020204020204" pitchFamily="34" charset="-122"/>
                <a:ea typeface="微软雅黑" panose="020B0503020204020204" pitchFamily="34" charset="-122"/>
                <a:cs typeface="Arial" panose="020B0604020202020204" pitchFamily="34" charset="0"/>
              </a:rPr>
              <a:t>4</a:t>
            </a:r>
            <a:r>
              <a:rPr kumimoji="0" lang="zh-CN" altLang="en-US" sz="3000" b="1">
                <a:solidFill>
                  <a:srgbClr val="FF0000"/>
                </a:solidFill>
                <a:latin typeface="微软雅黑" panose="020B0503020204020204" pitchFamily="34" charset="-122"/>
                <a:ea typeface="微软雅黑" panose="020B0503020204020204" pitchFamily="34" charset="-122"/>
                <a:cs typeface="Arial" panose="020B0604020202020204" pitchFamily="34" charset="0"/>
              </a:rPr>
              <a:t>）、三种速率比较：</a:t>
            </a:r>
          </a:p>
        </p:txBody>
      </p:sp>
      <p:graphicFrame>
        <p:nvGraphicFramePr>
          <p:cNvPr id="64546" name="Object 34"/>
          <p:cNvGraphicFramePr>
            <a:graphicFrameLocks noChangeAspect="1"/>
          </p:cNvGraphicFramePr>
          <p:nvPr>
            <p:extLst>
              <p:ext uri="{D42A27DB-BD31-4B8C-83A1-F6EECF244321}">
                <p14:modId xmlns:p14="http://schemas.microsoft.com/office/powerpoint/2010/main" val="2087954772"/>
              </p:ext>
            </p:extLst>
          </p:nvPr>
        </p:nvGraphicFramePr>
        <p:xfrm>
          <a:off x="2665266" y="798425"/>
          <a:ext cx="5938838" cy="1277938"/>
        </p:xfrm>
        <a:graphic>
          <a:graphicData uri="http://schemas.openxmlformats.org/presentationml/2006/ole">
            <mc:AlternateContent xmlns:mc="http://schemas.openxmlformats.org/markup-compatibility/2006">
              <mc:Choice xmlns:v="urn:schemas-microsoft-com:vml" Requires="v">
                <p:oleObj spid="_x0000_s60669" name="公式" r:id="rId3" imgW="3822700" imgH="825500" progId="Equation.3">
                  <p:embed/>
                </p:oleObj>
              </mc:Choice>
              <mc:Fallback>
                <p:oleObj name="公式" r:id="rId3" imgW="3822700" imgH="825500" progId="Equation.3">
                  <p:embed/>
                  <p:pic>
                    <p:nvPicPr>
                      <p:cNvPr id="64546"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266" y="798425"/>
                        <a:ext cx="5938838" cy="127793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47" name="Object 35"/>
          <p:cNvGraphicFramePr>
            <a:graphicFrameLocks noChangeAspect="1"/>
          </p:cNvGraphicFramePr>
          <p:nvPr/>
        </p:nvGraphicFramePr>
        <p:xfrm>
          <a:off x="3086100" y="2286000"/>
          <a:ext cx="5486400" cy="1146175"/>
        </p:xfrm>
        <a:graphic>
          <a:graphicData uri="http://schemas.openxmlformats.org/presentationml/2006/ole">
            <mc:AlternateContent xmlns:mc="http://schemas.openxmlformats.org/markup-compatibility/2006">
              <mc:Choice xmlns:v="urn:schemas-microsoft-com:vml" Requires="v">
                <p:oleObj spid="_x0000_s60670" name="公式" r:id="rId5" imgW="2324100" imgH="482600" progId="Equation.3">
                  <p:embed/>
                </p:oleObj>
              </mc:Choice>
              <mc:Fallback>
                <p:oleObj name="公式" r:id="rId5" imgW="2324100" imgH="482600" progId="Equation.3">
                  <p:embed/>
                  <p:pic>
                    <p:nvPicPr>
                      <p:cNvPr id="64547"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6100" y="2286000"/>
                        <a:ext cx="5486400" cy="11461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48" name="Object 36"/>
          <p:cNvGraphicFramePr>
            <a:graphicFrameLocks noChangeAspect="1"/>
          </p:cNvGraphicFramePr>
          <p:nvPr/>
        </p:nvGraphicFramePr>
        <p:xfrm>
          <a:off x="3086100" y="3657600"/>
          <a:ext cx="5486400" cy="1096963"/>
        </p:xfrm>
        <a:graphic>
          <a:graphicData uri="http://schemas.openxmlformats.org/presentationml/2006/ole">
            <mc:AlternateContent xmlns:mc="http://schemas.openxmlformats.org/markup-compatibility/2006">
              <mc:Choice xmlns:v="urn:schemas-microsoft-com:vml" Requires="v">
                <p:oleObj spid="_x0000_s60671" name="公式" r:id="rId7" imgW="2400300" imgH="482600" progId="Equation.3">
                  <p:embed/>
                </p:oleObj>
              </mc:Choice>
              <mc:Fallback>
                <p:oleObj name="公式" r:id="rId7" imgW="2400300" imgH="482600" progId="Equation.3">
                  <p:embed/>
                  <p:pic>
                    <p:nvPicPr>
                      <p:cNvPr id="64548"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6100" y="3657600"/>
                        <a:ext cx="5486400" cy="10969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4549" name="Object 37"/>
          <p:cNvGraphicFramePr>
            <a:graphicFrameLocks noChangeAspect="1"/>
          </p:cNvGraphicFramePr>
          <p:nvPr/>
        </p:nvGraphicFramePr>
        <p:xfrm>
          <a:off x="3086100" y="5029200"/>
          <a:ext cx="5486400" cy="1049338"/>
        </p:xfrm>
        <a:graphic>
          <a:graphicData uri="http://schemas.openxmlformats.org/presentationml/2006/ole">
            <mc:AlternateContent xmlns:mc="http://schemas.openxmlformats.org/markup-compatibility/2006">
              <mc:Choice xmlns:v="urn:schemas-microsoft-com:vml" Requires="v">
                <p:oleObj spid="_x0000_s60672" name="公式" r:id="rId9" imgW="4406900" imgH="850900" progId="Equation.3">
                  <p:embed/>
                </p:oleObj>
              </mc:Choice>
              <mc:Fallback>
                <p:oleObj name="公式" r:id="rId9" imgW="4406900" imgH="850900" progId="Equation.3">
                  <p:embed/>
                  <p:pic>
                    <p:nvPicPr>
                      <p:cNvPr id="64549"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86100" y="5029200"/>
                        <a:ext cx="5486400" cy="104933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33" name="矩形 7"/>
          <p:cNvSpPr>
            <a:spLocks noChangeArrowheads="1"/>
          </p:cNvSpPr>
          <p:nvPr/>
        </p:nvSpPr>
        <p:spPr bwMode="auto">
          <a:xfrm>
            <a:off x="514350" y="2859087"/>
            <a:ext cx="257175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b="1">
                <a:solidFill>
                  <a:schemeClr val="folHlink"/>
                </a:solidFill>
                <a:cs typeface="Arial" panose="020B0604020202020204" pitchFamily="34" charset="0"/>
              </a:rPr>
              <a:t>平均速率</a:t>
            </a:r>
            <a:endParaRPr lang="en-US" altLang="zh-CN" sz="3600" b="1">
              <a:solidFill>
                <a:schemeClr val="folHlink"/>
              </a:solidFill>
              <a:cs typeface="Arial" panose="020B0604020202020204" pitchFamily="34" charset="0"/>
            </a:endParaRPr>
          </a:p>
          <a:p>
            <a:pPr eaLnBrk="1" hangingPunct="1">
              <a:spcBef>
                <a:spcPct val="0"/>
              </a:spcBef>
              <a:buClrTx/>
              <a:buFontTx/>
              <a:buNone/>
            </a:pPr>
            <a:endParaRPr lang="zh-CN" altLang="en-US" sz="3600" b="1">
              <a:cs typeface="Arial" panose="020B0604020202020204" pitchFamily="34" charset="0"/>
            </a:endParaRPr>
          </a:p>
          <a:p>
            <a:pPr eaLnBrk="1" hangingPunct="1">
              <a:spcBef>
                <a:spcPct val="0"/>
              </a:spcBef>
              <a:buClrTx/>
              <a:buFontTx/>
              <a:buNone/>
            </a:pPr>
            <a:r>
              <a:rPr lang="zh-CN" altLang="en-US" sz="3600" b="1">
                <a:solidFill>
                  <a:schemeClr val="folHlink"/>
                </a:solidFill>
                <a:cs typeface="Arial" panose="020B0604020202020204" pitchFamily="34" charset="0"/>
              </a:rPr>
              <a:t>方均根速率</a:t>
            </a:r>
            <a:endParaRPr lang="en-US" altLang="zh-CN" sz="3600" b="1">
              <a:solidFill>
                <a:schemeClr val="folHlink"/>
              </a:solidFill>
              <a:cs typeface="Arial" panose="020B0604020202020204" pitchFamily="34" charset="0"/>
            </a:endParaRPr>
          </a:p>
          <a:p>
            <a:pPr eaLnBrk="1" hangingPunct="1">
              <a:spcBef>
                <a:spcPct val="0"/>
              </a:spcBef>
              <a:buClrTx/>
              <a:buNone/>
            </a:pPr>
            <a:endParaRPr lang="en-US" altLang="zh-CN" sz="3600" b="1">
              <a:solidFill>
                <a:schemeClr val="folHlink"/>
              </a:solidFill>
              <a:cs typeface="Arial" panose="020B0604020202020204" pitchFamily="34" charset="0"/>
            </a:endParaRPr>
          </a:p>
          <a:p>
            <a:pPr eaLnBrk="1" hangingPunct="1">
              <a:spcBef>
                <a:spcPct val="0"/>
              </a:spcBef>
              <a:buClrTx/>
              <a:buNone/>
            </a:pPr>
            <a:r>
              <a:rPr lang="zh-CN" altLang="en-US" sz="3600" b="1">
                <a:solidFill>
                  <a:schemeClr val="folHlink"/>
                </a:solidFill>
                <a:cs typeface="Arial" panose="020B0604020202020204" pitchFamily="34" charset="0"/>
              </a:rPr>
              <a:t>最概然速率</a:t>
            </a:r>
            <a:endParaRPr lang="zh-CN" altLang="en-US" sz="3600" b="1">
              <a:cs typeface="Arial" panose="020B0604020202020204" pitchFamily="34" charset="0"/>
            </a:endParaRPr>
          </a:p>
        </p:txBody>
      </p:sp>
      <p:graphicFrame>
        <p:nvGraphicFramePr>
          <p:cNvPr id="46084" name="Object 4"/>
          <p:cNvGraphicFramePr>
            <a:graphicFrameLocks noChangeAspect="1"/>
          </p:cNvGraphicFramePr>
          <p:nvPr/>
        </p:nvGraphicFramePr>
        <p:xfrm>
          <a:off x="4143375" y="6080125"/>
          <a:ext cx="2428875" cy="777875"/>
        </p:xfrm>
        <a:graphic>
          <a:graphicData uri="http://schemas.openxmlformats.org/presentationml/2006/ole">
            <mc:AlternateContent xmlns:mc="http://schemas.openxmlformats.org/markup-compatibility/2006">
              <mc:Choice xmlns:v="urn:schemas-microsoft-com:vml" Requires="v">
                <p:oleObj spid="_x0000_s60673" name="公式" r:id="rId11" imgW="1625600" imgH="520700" progId="Equation.3">
                  <p:embed/>
                </p:oleObj>
              </mc:Choice>
              <mc:Fallback>
                <p:oleObj name="公式" r:id="rId11" imgW="1625600" imgH="520700" progId="Equation.3">
                  <p:embed/>
                  <p:pic>
                    <p:nvPicPr>
                      <p:cNvPr id="46084"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43375" y="6080125"/>
                        <a:ext cx="2428875" cy="777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3">
            <a:extLst>
              <a:ext uri="{FF2B5EF4-FFF2-40B4-BE49-F238E27FC236}">
                <a16:creationId xmlns:a16="http://schemas.microsoft.com/office/drawing/2014/main" id="{3929EA66-365C-45D5-8FC2-B1E1CD9B56F4}"/>
              </a:ext>
            </a:extLst>
          </p:cNvPr>
          <p:cNvGraphicFramePr>
            <a:graphicFrameLocks noChangeAspect="1"/>
          </p:cNvGraphicFramePr>
          <p:nvPr>
            <p:extLst>
              <p:ext uri="{D42A27DB-BD31-4B8C-83A1-F6EECF244321}">
                <p14:modId xmlns:p14="http://schemas.microsoft.com/office/powerpoint/2010/main" val="2515286253"/>
              </p:ext>
            </p:extLst>
          </p:nvPr>
        </p:nvGraphicFramePr>
        <p:xfrm>
          <a:off x="493522" y="5721409"/>
          <a:ext cx="2024542" cy="1049656"/>
        </p:xfrm>
        <a:graphic>
          <a:graphicData uri="http://schemas.openxmlformats.org/presentationml/2006/ole">
            <mc:AlternateContent xmlns:mc="http://schemas.openxmlformats.org/markup-compatibility/2006">
              <mc:Choice xmlns:v="urn:schemas-microsoft-com:vml" Requires="v">
                <p:oleObj spid="_x0000_s60674" name="BMP 图像" r:id="rId13" imgW="4715533" imgH="3038095" progId="Paint.Picture">
                  <p:embed/>
                </p:oleObj>
              </mc:Choice>
              <mc:Fallback>
                <p:oleObj name="BMP 图像" r:id="rId13" imgW="4715533" imgH="3038095" progId="Paint.Picture">
                  <p:embed/>
                  <p:pic>
                    <p:nvPicPr>
                      <p:cNvPr id="46083"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ltGray">
                      <a:xfrm>
                        <a:off x="493522" y="5721409"/>
                        <a:ext cx="2024542" cy="1049656"/>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477166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4546"/>
                                        </p:tgtEl>
                                        <p:attrNameLst>
                                          <p:attrName>style.visibility</p:attrName>
                                        </p:attrNameLst>
                                      </p:cBhvr>
                                      <p:to>
                                        <p:strVal val="visible"/>
                                      </p:to>
                                    </p:set>
                                    <p:animEffect transition="in" filter="box(in)">
                                      <p:cBhvr>
                                        <p:cTn id="7" dur="500"/>
                                        <p:tgtEl>
                                          <p:spTgt spid="64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0421"/>
                                        </p:tgtEl>
                                        <p:attrNameLst>
                                          <p:attrName>style.visibility</p:attrName>
                                        </p:attrNameLst>
                                      </p:cBhvr>
                                      <p:to>
                                        <p:strVal val="visible"/>
                                      </p:to>
                                    </p:set>
                                    <p:anim calcmode="lin" valueType="num">
                                      <p:cBhvr additive="base">
                                        <p:cTn id="12" dur="500" fill="hold"/>
                                        <p:tgtEl>
                                          <p:spTgt spid="60421"/>
                                        </p:tgtEl>
                                        <p:attrNameLst>
                                          <p:attrName>ppt_x</p:attrName>
                                        </p:attrNameLst>
                                      </p:cBhvr>
                                      <p:tavLst>
                                        <p:tav tm="0">
                                          <p:val>
                                            <p:strVal val="0-#ppt_w/2"/>
                                          </p:val>
                                        </p:tav>
                                        <p:tav tm="100000">
                                          <p:val>
                                            <p:strVal val="#ppt_x"/>
                                          </p:val>
                                        </p:tav>
                                      </p:tavLst>
                                    </p:anim>
                                    <p:anim calcmode="lin" valueType="num">
                                      <p:cBhvr additive="base">
                                        <p:cTn id="13" dur="500" fill="hold"/>
                                        <p:tgtEl>
                                          <p:spTgt spid="6042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6" fill="hold" nodeType="clickEffect">
                                  <p:stCondLst>
                                    <p:cond delay="0"/>
                                  </p:stCondLst>
                                  <p:childTnLst>
                                    <p:set>
                                      <p:cBhvr>
                                        <p:cTn id="17" dur="1" fill="hold">
                                          <p:stCondLst>
                                            <p:cond delay="0"/>
                                          </p:stCondLst>
                                        </p:cTn>
                                        <p:tgtEl>
                                          <p:spTgt spid="64547"/>
                                        </p:tgtEl>
                                        <p:attrNameLst>
                                          <p:attrName>style.visibility</p:attrName>
                                        </p:attrNameLst>
                                      </p:cBhvr>
                                      <p:to>
                                        <p:strVal val="visible"/>
                                      </p:to>
                                    </p:set>
                                    <p:animEffect transition="in" filter="barn(inHorizontal)">
                                      <p:cBhvr>
                                        <p:cTn id="18" dur="500"/>
                                        <p:tgtEl>
                                          <p:spTgt spid="64547"/>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6" fill="hold" nodeType="clickEffect">
                                  <p:stCondLst>
                                    <p:cond delay="0"/>
                                  </p:stCondLst>
                                  <p:childTnLst>
                                    <p:set>
                                      <p:cBhvr>
                                        <p:cTn id="22" dur="1" fill="hold">
                                          <p:stCondLst>
                                            <p:cond delay="0"/>
                                          </p:stCondLst>
                                        </p:cTn>
                                        <p:tgtEl>
                                          <p:spTgt spid="64548"/>
                                        </p:tgtEl>
                                        <p:attrNameLst>
                                          <p:attrName>style.visibility</p:attrName>
                                        </p:attrNameLst>
                                      </p:cBhvr>
                                      <p:to>
                                        <p:strVal val="visible"/>
                                      </p:to>
                                    </p:set>
                                    <p:animEffect transition="in" filter="barn(inHorizontal)">
                                      <p:cBhvr>
                                        <p:cTn id="23" dur="500"/>
                                        <p:tgtEl>
                                          <p:spTgt spid="64548"/>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4549"/>
                                        </p:tgtEl>
                                        <p:attrNameLst>
                                          <p:attrName>style.visibility</p:attrName>
                                        </p:attrNameLst>
                                      </p:cBhvr>
                                      <p:to>
                                        <p:strVal val="visible"/>
                                      </p:to>
                                    </p:set>
                                    <p:animEffect transition="in" filter="barn(inVertical)">
                                      <p:cBhvr>
                                        <p:cTn id="28" dur="500"/>
                                        <p:tgtEl>
                                          <p:spTgt spid="64549"/>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2233"/>
                                        </p:tgtEl>
                                        <p:attrNameLst>
                                          <p:attrName>style.visibility</p:attrName>
                                        </p:attrNameLst>
                                      </p:cBhvr>
                                      <p:to>
                                        <p:strVal val="visible"/>
                                      </p:to>
                                    </p:set>
                                    <p:animEffect transition="in" filter="blinds(horizontal)">
                                      <p:cBhvr>
                                        <p:cTn id="33" dur="500"/>
                                        <p:tgtEl>
                                          <p:spTgt spid="5223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0-#ppt_w/2"/>
                                          </p:val>
                                        </p:tav>
                                        <p:tav tm="100000">
                                          <p:val>
                                            <p:strVal val="#ppt_x"/>
                                          </p:val>
                                        </p:tav>
                                      </p:tavLst>
                                    </p:anim>
                                    <p:anim calcmode="lin" valueType="num">
                                      <p:cBhvr additive="base">
                                        <p:cTn id="39"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8" fill="hold" nodeType="clickEffect">
                                  <p:stCondLst>
                                    <p:cond delay="0"/>
                                  </p:stCondLst>
                                  <p:childTnLst>
                                    <p:set>
                                      <p:cBhvr>
                                        <p:cTn id="43" dur="1" fill="hold">
                                          <p:stCondLst>
                                            <p:cond delay="0"/>
                                          </p:stCondLst>
                                        </p:cTn>
                                        <p:tgtEl>
                                          <p:spTgt spid="46084"/>
                                        </p:tgtEl>
                                        <p:attrNameLst>
                                          <p:attrName>style.visibility</p:attrName>
                                        </p:attrNameLst>
                                      </p:cBhvr>
                                      <p:to>
                                        <p:strVal val="visible"/>
                                      </p:to>
                                    </p:set>
                                    <p:anim calcmode="lin" valueType="num">
                                      <p:cBhvr additive="base">
                                        <p:cTn id="44" dur="500" fill="hold"/>
                                        <p:tgtEl>
                                          <p:spTgt spid="46084"/>
                                        </p:tgtEl>
                                        <p:attrNameLst>
                                          <p:attrName>ppt_x</p:attrName>
                                        </p:attrNameLst>
                                      </p:cBhvr>
                                      <p:tavLst>
                                        <p:tav tm="0">
                                          <p:val>
                                            <p:strVal val="0-#ppt_w/2"/>
                                          </p:val>
                                        </p:tav>
                                        <p:tav tm="100000">
                                          <p:val>
                                            <p:strVal val="#ppt_x"/>
                                          </p:val>
                                        </p:tav>
                                      </p:tavLst>
                                    </p:anim>
                                    <p:anim calcmode="lin" valueType="num">
                                      <p:cBhvr additive="base">
                                        <p:cTn id="45" dur="500" fill="hold"/>
                                        <p:tgtEl>
                                          <p:spTgt spid="460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1" grpId="0" autoUpdateAnimBg="0"/>
      <p:bldP spid="52233"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167938" name="Text Box 2"/>
          <p:cNvSpPr txBox="1">
            <a:spLocks noChangeArrowheads="1"/>
          </p:cNvSpPr>
          <p:nvPr/>
        </p:nvSpPr>
        <p:spPr bwMode="auto">
          <a:xfrm>
            <a:off x="228600" y="224841"/>
            <a:ext cx="1822450"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en-US" altLang="zh-CN" b="1">
                <a:solidFill>
                  <a:srgbClr val="3333FF"/>
                </a:solidFill>
                <a:ea typeface="楷体_GB2312"/>
                <a:cs typeface="楷体_GB2312"/>
              </a:rPr>
              <a:t>5)</a:t>
            </a:r>
            <a:r>
              <a:rPr lang="zh-CN" altLang="en-US" b="1">
                <a:solidFill>
                  <a:srgbClr val="3333FF"/>
                </a:solidFill>
                <a:ea typeface="楷体_GB2312"/>
                <a:cs typeface="楷体_GB2312"/>
              </a:rPr>
              <a:t>、讨论</a:t>
            </a:r>
            <a:endParaRPr lang="zh-CN" altLang="en-US" sz="3600" b="1">
              <a:solidFill>
                <a:srgbClr val="FF3300"/>
              </a:solidFill>
              <a:ea typeface="楷体_GB2312"/>
              <a:cs typeface="楷体_GB2312"/>
            </a:endParaRPr>
          </a:p>
        </p:txBody>
      </p:sp>
      <p:sp>
        <p:nvSpPr>
          <p:cNvPr id="167939" name="Text Box 3"/>
          <p:cNvSpPr txBox="1">
            <a:spLocks noChangeArrowheads="1"/>
          </p:cNvSpPr>
          <p:nvPr/>
        </p:nvSpPr>
        <p:spPr bwMode="auto">
          <a:xfrm>
            <a:off x="250825" y="1876425"/>
            <a:ext cx="46085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lvl="1" eaLnBrk="1" hangingPunct="1">
              <a:spcBef>
                <a:spcPct val="0"/>
              </a:spcBef>
              <a:buClr>
                <a:srgbClr val="3333FF"/>
              </a:buClr>
              <a:buFont typeface="Wingdings" panose="05000000000000000000" pitchFamily="2" charset="2"/>
              <a:buNone/>
            </a:pPr>
            <a:r>
              <a:rPr lang="en-US" altLang="zh-CN" sz="2400" b="1" i="1">
                <a:solidFill>
                  <a:schemeClr val="bg1"/>
                </a:solidFill>
                <a:ea typeface="楷体_GB2312"/>
                <a:cs typeface="楷体_GB2312"/>
              </a:rPr>
              <a:t>v</a:t>
            </a:r>
            <a:r>
              <a:rPr lang="en-US" altLang="zh-CN" sz="2400" b="1" i="1" baseline="-25000">
                <a:solidFill>
                  <a:schemeClr val="bg1"/>
                </a:solidFill>
                <a:ea typeface="楷体_GB2312"/>
                <a:cs typeface="楷体_GB2312"/>
              </a:rPr>
              <a:t>p</a:t>
            </a:r>
            <a:r>
              <a:rPr lang="en-US" altLang="zh-CN" sz="2400" b="1">
                <a:solidFill>
                  <a:schemeClr val="bg1"/>
                </a:solidFill>
                <a:ea typeface="楷体_GB2312"/>
                <a:cs typeface="楷体_GB2312"/>
              </a:rPr>
              <a:t> </a:t>
            </a:r>
            <a:r>
              <a:rPr lang="zh-CN" altLang="en-US" sz="2400" b="1">
                <a:solidFill>
                  <a:schemeClr val="bg1"/>
                </a:solidFill>
                <a:cs typeface="Arial" panose="020B0604020202020204" pitchFamily="34" charset="0"/>
              </a:rPr>
              <a:t>随</a:t>
            </a:r>
            <a:r>
              <a:rPr lang="zh-CN" altLang="en-US" sz="2400" b="1">
                <a:solidFill>
                  <a:schemeClr val="bg1"/>
                </a:solidFill>
                <a:ea typeface="楷体_GB2312"/>
                <a:cs typeface="楷体_GB2312"/>
              </a:rPr>
              <a:t> </a:t>
            </a:r>
            <a:r>
              <a:rPr lang="en-US" altLang="zh-CN" sz="2400" b="1" i="1">
                <a:solidFill>
                  <a:schemeClr val="bg1"/>
                </a:solidFill>
                <a:ea typeface="楷体_GB2312"/>
                <a:cs typeface="楷体_GB2312"/>
              </a:rPr>
              <a:t>T </a:t>
            </a:r>
            <a:r>
              <a:rPr lang="zh-CN" altLang="en-US" sz="2400" b="1">
                <a:solidFill>
                  <a:schemeClr val="bg1"/>
                </a:solidFill>
                <a:cs typeface="Arial" panose="020B0604020202020204" pitchFamily="34" charset="0"/>
              </a:rPr>
              <a:t>升高而增大，</a:t>
            </a:r>
            <a:r>
              <a:rPr lang="zh-CN" altLang="en-US" sz="2400" b="1">
                <a:solidFill>
                  <a:srgbClr val="FF3300"/>
                </a:solidFill>
                <a:ea typeface="楷体_GB2312"/>
                <a:cs typeface="楷体_GB2312"/>
              </a:rPr>
              <a:t>速率大的分子数越多</a:t>
            </a:r>
            <a:r>
              <a:rPr lang="en-US" altLang="zh-CN" sz="2400" b="1">
                <a:solidFill>
                  <a:schemeClr val="bg1"/>
                </a:solidFill>
                <a:ea typeface="楷体_GB2312"/>
                <a:cs typeface="楷体_GB2312"/>
              </a:rPr>
              <a:t>,</a:t>
            </a:r>
            <a:r>
              <a:rPr lang="zh-CN" altLang="en-US" sz="2400" b="1">
                <a:solidFill>
                  <a:schemeClr val="bg1"/>
                </a:solidFill>
                <a:ea typeface="楷体_GB2312"/>
                <a:cs typeface="楷体_GB2312"/>
              </a:rPr>
              <a:t>曲线的峰值右移</a:t>
            </a:r>
            <a:r>
              <a:rPr lang="en-US" altLang="zh-CN" sz="2400" b="1">
                <a:solidFill>
                  <a:schemeClr val="bg1"/>
                </a:solidFill>
                <a:ea typeface="楷体_GB2312"/>
                <a:cs typeface="楷体_GB2312"/>
              </a:rPr>
              <a:t>,</a:t>
            </a:r>
            <a:r>
              <a:rPr lang="zh-CN" altLang="en-US" sz="2400" b="1">
                <a:solidFill>
                  <a:schemeClr val="bg1"/>
                </a:solidFill>
                <a:ea typeface="楷体_GB2312"/>
                <a:cs typeface="楷体_GB2312"/>
              </a:rPr>
              <a:t>由于曲线下面积为</a:t>
            </a:r>
            <a:r>
              <a:rPr lang="en-US" altLang="zh-CN" sz="2400">
                <a:solidFill>
                  <a:schemeClr val="bg1"/>
                </a:solidFill>
                <a:ea typeface="楷体_GB2312"/>
                <a:cs typeface="楷体_GB2312"/>
              </a:rPr>
              <a:t>1</a:t>
            </a:r>
            <a:r>
              <a:rPr lang="zh-CN" altLang="en-US" sz="2400" b="1">
                <a:solidFill>
                  <a:schemeClr val="bg1"/>
                </a:solidFill>
                <a:ea typeface="楷体_GB2312"/>
                <a:cs typeface="楷体_GB2312"/>
              </a:rPr>
              <a:t>不变，所以峰值降低 。</a:t>
            </a:r>
          </a:p>
        </p:txBody>
      </p:sp>
      <p:graphicFrame>
        <p:nvGraphicFramePr>
          <p:cNvPr id="167940" name="Object 4"/>
          <p:cNvGraphicFramePr>
            <a:graphicFrameLocks noChangeAspect="1"/>
          </p:cNvGraphicFramePr>
          <p:nvPr/>
        </p:nvGraphicFramePr>
        <p:xfrm>
          <a:off x="2368550" y="39688"/>
          <a:ext cx="3800475" cy="958850"/>
        </p:xfrm>
        <a:graphic>
          <a:graphicData uri="http://schemas.openxmlformats.org/presentationml/2006/ole">
            <mc:AlternateContent xmlns:mc="http://schemas.openxmlformats.org/markup-compatibility/2006">
              <mc:Choice xmlns:v="urn:schemas-microsoft-com:vml" Requires="v">
                <p:oleObj spid="_x0000_s34698" name="Equation" r:id="rId3" imgW="2082800" imgH="482600" progId="Equation.DSMT4">
                  <p:embed/>
                </p:oleObj>
              </mc:Choice>
              <mc:Fallback>
                <p:oleObj name="Equation" r:id="rId3" imgW="2082800" imgH="4826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8550" y="39688"/>
                        <a:ext cx="3800475" cy="95885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7941" name="Object 5"/>
          <p:cNvGraphicFramePr>
            <a:graphicFrameLocks noChangeAspect="1"/>
          </p:cNvGraphicFramePr>
          <p:nvPr/>
        </p:nvGraphicFramePr>
        <p:xfrm>
          <a:off x="6732588" y="3859213"/>
          <a:ext cx="1169987" cy="433387"/>
        </p:xfrm>
        <a:graphic>
          <a:graphicData uri="http://schemas.openxmlformats.org/presentationml/2006/ole">
            <mc:AlternateContent xmlns:mc="http://schemas.openxmlformats.org/markup-compatibility/2006">
              <mc:Choice xmlns:v="urn:schemas-microsoft-com:vml" Requires="v">
                <p:oleObj spid="_x0000_s34699" name="公式" r:id="rId5" imgW="545626" imgH="215713" progId="Equation.3">
                  <p:embed/>
                </p:oleObj>
              </mc:Choice>
              <mc:Fallback>
                <p:oleObj name="公式" r:id="rId5" imgW="545626" imgH="215713"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2588" y="3859213"/>
                        <a:ext cx="1169987"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6"/>
          <p:cNvGrpSpPr>
            <a:grpSpLocks/>
          </p:cNvGrpSpPr>
          <p:nvPr/>
        </p:nvGrpSpPr>
        <p:grpSpPr bwMode="auto">
          <a:xfrm>
            <a:off x="4197350" y="3954463"/>
            <a:ext cx="4759325" cy="2570162"/>
            <a:chOff x="2554" y="2491"/>
            <a:chExt cx="2998" cy="1619"/>
          </a:xfrm>
        </p:grpSpPr>
        <p:grpSp>
          <p:nvGrpSpPr>
            <p:cNvPr id="33822" name="Group 7"/>
            <p:cNvGrpSpPr>
              <a:grpSpLocks/>
            </p:cNvGrpSpPr>
            <p:nvPr/>
          </p:nvGrpSpPr>
          <p:grpSpPr bwMode="auto">
            <a:xfrm>
              <a:off x="3152" y="2491"/>
              <a:ext cx="2400" cy="1619"/>
              <a:chOff x="3338" y="2296"/>
              <a:chExt cx="2400" cy="1619"/>
            </a:xfrm>
          </p:grpSpPr>
          <p:sp>
            <p:nvSpPr>
              <p:cNvPr id="167944" name="Freeform 8"/>
              <p:cNvSpPr>
                <a:spLocks/>
              </p:cNvSpPr>
              <p:nvPr/>
            </p:nvSpPr>
            <p:spPr bwMode="auto">
              <a:xfrm>
                <a:off x="3338" y="2667"/>
                <a:ext cx="1728" cy="973"/>
              </a:xfrm>
              <a:custGeom>
                <a:avLst/>
                <a:gdLst/>
                <a:ahLst/>
                <a:cxnLst>
                  <a:cxn ang="0">
                    <a:pos x="0" y="3768"/>
                  </a:cxn>
                  <a:cxn ang="0">
                    <a:pos x="672" y="2760"/>
                  </a:cxn>
                  <a:cxn ang="0">
                    <a:pos x="1152" y="1896"/>
                  </a:cxn>
                  <a:cxn ang="0">
                    <a:pos x="1392" y="1368"/>
                  </a:cxn>
                  <a:cxn ang="0">
                    <a:pos x="1584" y="840"/>
                  </a:cxn>
                  <a:cxn ang="0">
                    <a:pos x="1872" y="264"/>
                  </a:cxn>
                  <a:cxn ang="0">
                    <a:pos x="2160" y="24"/>
                  </a:cxn>
                  <a:cxn ang="0">
                    <a:pos x="2496" y="120"/>
                  </a:cxn>
                  <a:cxn ang="0">
                    <a:pos x="2736" y="408"/>
                  </a:cxn>
                  <a:cxn ang="0">
                    <a:pos x="2976" y="888"/>
                  </a:cxn>
                  <a:cxn ang="0">
                    <a:pos x="3216" y="1272"/>
                  </a:cxn>
                  <a:cxn ang="0">
                    <a:pos x="3456" y="1608"/>
                  </a:cxn>
                  <a:cxn ang="0">
                    <a:pos x="3792" y="2040"/>
                  </a:cxn>
                  <a:cxn ang="0">
                    <a:pos x="4224" y="2568"/>
                  </a:cxn>
                  <a:cxn ang="0">
                    <a:pos x="4800" y="2952"/>
                  </a:cxn>
                  <a:cxn ang="0">
                    <a:pos x="5232" y="3144"/>
                  </a:cxn>
                  <a:cxn ang="0">
                    <a:pos x="5664" y="3288"/>
                  </a:cxn>
                  <a:cxn ang="0">
                    <a:pos x="5952" y="3336"/>
                  </a:cxn>
                </a:cxnLst>
                <a:rect l="0" t="0" r="r" b="b"/>
                <a:pathLst>
                  <a:path w="5952" h="3768">
                    <a:moveTo>
                      <a:pt x="0" y="3768"/>
                    </a:moveTo>
                    <a:cubicBezTo>
                      <a:pt x="240" y="3420"/>
                      <a:pt x="480" y="3072"/>
                      <a:pt x="672" y="2760"/>
                    </a:cubicBezTo>
                    <a:cubicBezTo>
                      <a:pt x="864" y="2448"/>
                      <a:pt x="1032" y="2128"/>
                      <a:pt x="1152" y="1896"/>
                    </a:cubicBezTo>
                    <a:cubicBezTo>
                      <a:pt x="1272" y="1664"/>
                      <a:pt x="1320" y="1544"/>
                      <a:pt x="1392" y="1368"/>
                    </a:cubicBezTo>
                    <a:cubicBezTo>
                      <a:pt x="1464" y="1192"/>
                      <a:pt x="1504" y="1024"/>
                      <a:pt x="1584" y="840"/>
                    </a:cubicBezTo>
                    <a:cubicBezTo>
                      <a:pt x="1664" y="656"/>
                      <a:pt x="1776" y="400"/>
                      <a:pt x="1872" y="264"/>
                    </a:cubicBezTo>
                    <a:cubicBezTo>
                      <a:pt x="1968" y="128"/>
                      <a:pt x="2056" y="48"/>
                      <a:pt x="2160" y="24"/>
                    </a:cubicBezTo>
                    <a:cubicBezTo>
                      <a:pt x="2264" y="0"/>
                      <a:pt x="2400" y="56"/>
                      <a:pt x="2496" y="120"/>
                    </a:cubicBezTo>
                    <a:cubicBezTo>
                      <a:pt x="2592" y="184"/>
                      <a:pt x="2656" y="280"/>
                      <a:pt x="2736" y="408"/>
                    </a:cubicBezTo>
                    <a:cubicBezTo>
                      <a:pt x="2816" y="536"/>
                      <a:pt x="2896" y="744"/>
                      <a:pt x="2976" y="888"/>
                    </a:cubicBezTo>
                    <a:cubicBezTo>
                      <a:pt x="3056" y="1032"/>
                      <a:pt x="3136" y="1152"/>
                      <a:pt x="3216" y="1272"/>
                    </a:cubicBezTo>
                    <a:cubicBezTo>
                      <a:pt x="3296" y="1392"/>
                      <a:pt x="3360" y="1480"/>
                      <a:pt x="3456" y="1608"/>
                    </a:cubicBezTo>
                    <a:cubicBezTo>
                      <a:pt x="3552" y="1736"/>
                      <a:pt x="3664" y="1880"/>
                      <a:pt x="3792" y="2040"/>
                    </a:cubicBezTo>
                    <a:cubicBezTo>
                      <a:pt x="3920" y="2200"/>
                      <a:pt x="4056" y="2416"/>
                      <a:pt x="4224" y="2568"/>
                    </a:cubicBezTo>
                    <a:cubicBezTo>
                      <a:pt x="4392" y="2720"/>
                      <a:pt x="4632" y="2856"/>
                      <a:pt x="4800" y="2952"/>
                    </a:cubicBezTo>
                    <a:cubicBezTo>
                      <a:pt x="4968" y="3048"/>
                      <a:pt x="5088" y="3088"/>
                      <a:pt x="5232" y="3144"/>
                    </a:cubicBezTo>
                    <a:cubicBezTo>
                      <a:pt x="5376" y="3200"/>
                      <a:pt x="5544" y="3256"/>
                      <a:pt x="5664" y="3288"/>
                    </a:cubicBezTo>
                    <a:cubicBezTo>
                      <a:pt x="5784" y="3320"/>
                      <a:pt x="5904" y="3328"/>
                      <a:pt x="5952" y="3336"/>
                    </a:cubicBezTo>
                  </a:path>
                </a:pathLst>
              </a:custGeom>
              <a:noFill/>
              <a:ln w="28575" cmpd="sng">
                <a:solidFill>
                  <a:schemeClr val="accent2"/>
                </a:solidFill>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pSp>
            <p:nvGrpSpPr>
              <p:cNvPr id="33825" name="Group 9"/>
              <p:cNvGrpSpPr>
                <a:grpSpLocks/>
              </p:cNvGrpSpPr>
              <p:nvPr/>
            </p:nvGrpSpPr>
            <p:grpSpPr bwMode="auto">
              <a:xfrm>
                <a:off x="3338" y="2296"/>
                <a:ext cx="1920" cy="1619"/>
                <a:chOff x="3552" y="432"/>
                <a:chExt cx="1920" cy="1619"/>
              </a:xfrm>
            </p:grpSpPr>
            <p:graphicFrame>
              <p:nvGraphicFramePr>
                <p:cNvPr id="33834" name="Object 10"/>
                <p:cNvGraphicFramePr>
                  <a:graphicFrameLocks noChangeAspect="1"/>
                </p:cNvGraphicFramePr>
                <p:nvPr/>
              </p:nvGraphicFramePr>
              <p:xfrm>
                <a:off x="3600" y="1776"/>
                <a:ext cx="175" cy="192"/>
              </p:xfrm>
              <a:graphic>
                <a:graphicData uri="http://schemas.openxmlformats.org/presentationml/2006/ole">
                  <mc:AlternateContent xmlns:mc="http://schemas.openxmlformats.org/markup-compatibility/2006">
                    <mc:Choice xmlns:v="urn:schemas-microsoft-com:vml" Requires="v">
                      <p:oleObj spid="_x0000_s34700" name="公式" r:id="rId7" imgW="126835" imgH="139518" progId="Equation.3">
                        <p:embed/>
                      </p:oleObj>
                    </mc:Choice>
                    <mc:Fallback>
                      <p:oleObj name="公式" r:id="rId7" imgW="126835" imgH="139518"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 y="1776"/>
                              <a:ext cx="17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3835" name="Group 11"/>
                <p:cNvGrpSpPr>
                  <a:grpSpLocks/>
                </p:cNvGrpSpPr>
                <p:nvPr/>
              </p:nvGrpSpPr>
              <p:grpSpPr bwMode="auto">
                <a:xfrm>
                  <a:off x="3552" y="432"/>
                  <a:ext cx="1920" cy="1619"/>
                  <a:chOff x="3552" y="432"/>
                  <a:chExt cx="1920" cy="1619"/>
                </a:xfrm>
              </p:grpSpPr>
              <p:sp>
                <p:nvSpPr>
                  <p:cNvPr id="167948" name="Line 12"/>
                  <p:cNvSpPr>
                    <a:spLocks noChangeShapeType="1"/>
                  </p:cNvSpPr>
                  <p:nvPr/>
                </p:nvSpPr>
                <p:spPr bwMode="auto">
                  <a:xfrm>
                    <a:off x="3552" y="1776"/>
                    <a:ext cx="1920" cy="0"/>
                  </a:xfrm>
                  <a:prstGeom prst="line">
                    <a:avLst/>
                  </a:prstGeom>
                  <a:noFill/>
                  <a:ln w="19050">
                    <a:solidFill>
                      <a:srgbClr val="51A755"/>
                    </a:solidFill>
                    <a:round/>
                    <a:headEnd/>
                    <a:tailEnd type="triangle" w="med" len="med"/>
                  </a:ln>
                  <a:effectLst/>
                </p:spPr>
                <p:txBody>
                  <a:bodyPr/>
                  <a:lstStyle/>
                  <a:p>
                    <a:pPr eaLnBrk="1" hangingPunct="1">
                      <a:defRPr/>
                    </a:pPr>
                    <a:endParaRPr lang="en-US">
                      <a:effectLst>
                        <a:outerShdw blurRad="38100" dist="38100" dir="2700000" algn="tl">
                          <a:srgbClr val="000000">
                            <a:alpha val="43137"/>
                          </a:srgbClr>
                        </a:outerShdw>
                      </a:effectLst>
                    </a:endParaRPr>
                  </a:p>
                </p:txBody>
              </p:sp>
              <p:sp>
                <p:nvSpPr>
                  <p:cNvPr id="167949" name="Line 13"/>
                  <p:cNvSpPr>
                    <a:spLocks noChangeShapeType="1"/>
                  </p:cNvSpPr>
                  <p:nvPr/>
                </p:nvSpPr>
                <p:spPr bwMode="auto">
                  <a:xfrm flipV="1">
                    <a:off x="3552" y="480"/>
                    <a:ext cx="0" cy="1296"/>
                  </a:xfrm>
                  <a:prstGeom prst="line">
                    <a:avLst/>
                  </a:prstGeom>
                  <a:noFill/>
                  <a:ln w="19050">
                    <a:solidFill>
                      <a:srgbClr val="51A755"/>
                    </a:solidFill>
                    <a:round/>
                    <a:headEnd/>
                    <a:tailEnd type="triangle" w="med" len="med"/>
                  </a:ln>
                  <a:effectLst/>
                </p:spPr>
                <p:txBody>
                  <a:bodyPr/>
                  <a:lstStyle/>
                  <a:p>
                    <a:pPr eaLnBrk="1" hangingPunct="1">
                      <a:defRPr/>
                    </a:pPr>
                    <a:endParaRPr lang="en-US">
                      <a:effectLst>
                        <a:outerShdw blurRad="38100" dist="38100" dir="2700000" algn="tl">
                          <a:srgbClr val="000000">
                            <a:alpha val="43137"/>
                          </a:srgbClr>
                        </a:outerShdw>
                      </a:effectLst>
                    </a:endParaRPr>
                  </a:p>
                </p:txBody>
              </p:sp>
              <p:graphicFrame>
                <p:nvGraphicFramePr>
                  <p:cNvPr id="33838" name="Object 14"/>
                  <p:cNvGraphicFramePr>
                    <a:graphicFrameLocks noChangeAspect="1"/>
                  </p:cNvGraphicFramePr>
                  <p:nvPr/>
                </p:nvGraphicFramePr>
                <p:xfrm>
                  <a:off x="5232" y="1828"/>
                  <a:ext cx="182" cy="223"/>
                </p:xfrm>
                <a:graphic>
                  <a:graphicData uri="http://schemas.openxmlformats.org/presentationml/2006/ole">
                    <mc:AlternateContent xmlns:mc="http://schemas.openxmlformats.org/markup-compatibility/2006">
                      <mc:Choice xmlns:v="urn:schemas-microsoft-com:vml" Requires="v">
                        <p:oleObj spid="_x0000_s34701" name="公式" r:id="rId9" imgW="114201" imgH="139579" progId="Equation.3">
                          <p:embed/>
                        </p:oleObj>
                      </mc:Choice>
                      <mc:Fallback>
                        <p:oleObj name="公式" r:id="rId9" imgW="114201" imgH="139579"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2" y="1828"/>
                                <a:ext cx="18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39" name="Object 15"/>
                  <p:cNvGraphicFramePr>
                    <a:graphicFrameLocks noChangeAspect="1"/>
                  </p:cNvGraphicFramePr>
                  <p:nvPr/>
                </p:nvGraphicFramePr>
                <p:xfrm>
                  <a:off x="3552" y="432"/>
                  <a:ext cx="448" cy="298"/>
                </p:xfrm>
                <a:graphic>
                  <a:graphicData uri="http://schemas.openxmlformats.org/presentationml/2006/ole">
                    <mc:AlternateContent xmlns:mc="http://schemas.openxmlformats.org/markup-compatibility/2006">
                      <mc:Choice xmlns:v="urn:schemas-microsoft-com:vml" Requires="v">
                        <p:oleObj spid="_x0000_s34702" name="公式" r:id="rId11" imgW="330057" imgH="203112" progId="Equation.3">
                          <p:embed/>
                        </p:oleObj>
                      </mc:Choice>
                      <mc:Fallback>
                        <p:oleObj name="公式" r:id="rId11" imgW="330057" imgH="203112"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2" y="432"/>
                                <a:ext cx="4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33826" name="Group 16"/>
              <p:cNvGrpSpPr>
                <a:grpSpLocks/>
              </p:cNvGrpSpPr>
              <p:nvPr/>
            </p:nvGrpSpPr>
            <p:grpSpPr bwMode="auto">
              <a:xfrm>
                <a:off x="3928" y="2667"/>
                <a:ext cx="227" cy="1186"/>
                <a:chOff x="1310" y="2064"/>
                <a:chExt cx="227" cy="1186"/>
              </a:xfrm>
            </p:grpSpPr>
            <p:sp>
              <p:nvSpPr>
                <p:cNvPr id="167953" name="Line 17"/>
                <p:cNvSpPr>
                  <a:spLocks noChangeShapeType="1"/>
                </p:cNvSpPr>
                <p:nvPr/>
              </p:nvSpPr>
              <p:spPr bwMode="auto">
                <a:xfrm>
                  <a:off x="1364" y="2064"/>
                  <a:ext cx="0" cy="987"/>
                </a:xfrm>
                <a:prstGeom prst="line">
                  <a:avLst/>
                </a:prstGeom>
                <a:noFill/>
                <a:ln w="19050">
                  <a:solidFill>
                    <a:srgbClr val="594BAD"/>
                  </a:solidFill>
                  <a:prstDash val="dash"/>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aphicFrame>
              <p:nvGraphicFramePr>
                <p:cNvPr id="33833" name="Object 18"/>
                <p:cNvGraphicFramePr>
                  <a:graphicFrameLocks noChangeAspect="1"/>
                </p:cNvGraphicFramePr>
                <p:nvPr/>
              </p:nvGraphicFramePr>
              <p:xfrm>
                <a:off x="1310" y="2995"/>
                <a:ext cx="227" cy="255"/>
              </p:xfrm>
              <a:graphic>
                <a:graphicData uri="http://schemas.openxmlformats.org/presentationml/2006/ole">
                  <mc:AlternateContent xmlns:mc="http://schemas.openxmlformats.org/markup-compatibility/2006">
                    <mc:Choice xmlns:v="urn:schemas-microsoft-com:vml" Requires="v">
                      <p:oleObj spid="_x0000_s34703" name="公式" r:id="rId13" imgW="215806" imgH="228501" progId="Equation.3">
                        <p:embed/>
                      </p:oleObj>
                    </mc:Choice>
                    <mc:Fallback>
                      <p:oleObj name="公式" r:id="rId13" imgW="215806" imgH="228501" progId="Equation.3">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10" y="2995"/>
                              <a:ext cx="22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7955" name="Freeform 19"/>
              <p:cNvSpPr>
                <a:spLocks/>
              </p:cNvSpPr>
              <p:nvPr/>
            </p:nvSpPr>
            <p:spPr bwMode="auto">
              <a:xfrm>
                <a:off x="3338" y="2811"/>
                <a:ext cx="2400" cy="829"/>
              </a:xfrm>
              <a:custGeom>
                <a:avLst/>
                <a:gdLst/>
                <a:ahLst/>
                <a:cxnLst>
                  <a:cxn ang="0">
                    <a:pos x="0" y="3768"/>
                  </a:cxn>
                  <a:cxn ang="0">
                    <a:pos x="672" y="2760"/>
                  </a:cxn>
                  <a:cxn ang="0">
                    <a:pos x="1152" y="1896"/>
                  </a:cxn>
                  <a:cxn ang="0">
                    <a:pos x="1392" y="1368"/>
                  </a:cxn>
                  <a:cxn ang="0">
                    <a:pos x="1584" y="840"/>
                  </a:cxn>
                  <a:cxn ang="0">
                    <a:pos x="1872" y="264"/>
                  </a:cxn>
                  <a:cxn ang="0">
                    <a:pos x="2160" y="24"/>
                  </a:cxn>
                  <a:cxn ang="0">
                    <a:pos x="2496" y="120"/>
                  </a:cxn>
                  <a:cxn ang="0">
                    <a:pos x="2736" y="408"/>
                  </a:cxn>
                  <a:cxn ang="0">
                    <a:pos x="2976" y="888"/>
                  </a:cxn>
                  <a:cxn ang="0">
                    <a:pos x="3216" y="1272"/>
                  </a:cxn>
                  <a:cxn ang="0">
                    <a:pos x="3456" y="1608"/>
                  </a:cxn>
                  <a:cxn ang="0">
                    <a:pos x="3792" y="2040"/>
                  </a:cxn>
                  <a:cxn ang="0">
                    <a:pos x="4224" y="2568"/>
                  </a:cxn>
                  <a:cxn ang="0">
                    <a:pos x="4800" y="2952"/>
                  </a:cxn>
                  <a:cxn ang="0">
                    <a:pos x="5232" y="3144"/>
                  </a:cxn>
                  <a:cxn ang="0">
                    <a:pos x="5664" y="3288"/>
                  </a:cxn>
                  <a:cxn ang="0">
                    <a:pos x="5952" y="3336"/>
                  </a:cxn>
                </a:cxnLst>
                <a:rect l="0" t="0" r="r" b="b"/>
                <a:pathLst>
                  <a:path w="5952" h="3768">
                    <a:moveTo>
                      <a:pt x="0" y="3768"/>
                    </a:moveTo>
                    <a:cubicBezTo>
                      <a:pt x="240" y="3420"/>
                      <a:pt x="480" y="3072"/>
                      <a:pt x="672" y="2760"/>
                    </a:cubicBezTo>
                    <a:cubicBezTo>
                      <a:pt x="864" y="2448"/>
                      <a:pt x="1032" y="2128"/>
                      <a:pt x="1152" y="1896"/>
                    </a:cubicBezTo>
                    <a:cubicBezTo>
                      <a:pt x="1272" y="1664"/>
                      <a:pt x="1320" y="1544"/>
                      <a:pt x="1392" y="1368"/>
                    </a:cubicBezTo>
                    <a:cubicBezTo>
                      <a:pt x="1464" y="1192"/>
                      <a:pt x="1504" y="1024"/>
                      <a:pt x="1584" y="840"/>
                    </a:cubicBezTo>
                    <a:cubicBezTo>
                      <a:pt x="1664" y="656"/>
                      <a:pt x="1776" y="400"/>
                      <a:pt x="1872" y="264"/>
                    </a:cubicBezTo>
                    <a:cubicBezTo>
                      <a:pt x="1968" y="128"/>
                      <a:pt x="2056" y="48"/>
                      <a:pt x="2160" y="24"/>
                    </a:cubicBezTo>
                    <a:cubicBezTo>
                      <a:pt x="2264" y="0"/>
                      <a:pt x="2400" y="56"/>
                      <a:pt x="2496" y="120"/>
                    </a:cubicBezTo>
                    <a:cubicBezTo>
                      <a:pt x="2592" y="184"/>
                      <a:pt x="2656" y="280"/>
                      <a:pt x="2736" y="408"/>
                    </a:cubicBezTo>
                    <a:cubicBezTo>
                      <a:pt x="2816" y="536"/>
                      <a:pt x="2896" y="744"/>
                      <a:pt x="2976" y="888"/>
                    </a:cubicBezTo>
                    <a:cubicBezTo>
                      <a:pt x="3056" y="1032"/>
                      <a:pt x="3136" y="1152"/>
                      <a:pt x="3216" y="1272"/>
                    </a:cubicBezTo>
                    <a:cubicBezTo>
                      <a:pt x="3296" y="1392"/>
                      <a:pt x="3360" y="1480"/>
                      <a:pt x="3456" y="1608"/>
                    </a:cubicBezTo>
                    <a:cubicBezTo>
                      <a:pt x="3552" y="1736"/>
                      <a:pt x="3664" y="1880"/>
                      <a:pt x="3792" y="2040"/>
                    </a:cubicBezTo>
                    <a:cubicBezTo>
                      <a:pt x="3920" y="2200"/>
                      <a:pt x="4056" y="2416"/>
                      <a:pt x="4224" y="2568"/>
                    </a:cubicBezTo>
                    <a:cubicBezTo>
                      <a:pt x="4392" y="2720"/>
                      <a:pt x="4632" y="2856"/>
                      <a:pt x="4800" y="2952"/>
                    </a:cubicBezTo>
                    <a:cubicBezTo>
                      <a:pt x="4968" y="3048"/>
                      <a:pt x="5088" y="3088"/>
                      <a:pt x="5232" y="3144"/>
                    </a:cubicBezTo>
                    <a:cubicBezTo>
                      <a:pt x="5376" y="3200"/>
                      <a:pt x="5544" y="3256"/>
                      <a:pt x="5664" y="3288"/>
                    </a:cubicBezTo>
                    <a:cubicBezTo>
                      <a:pt x="5784" y="3320"/>
                      <a:pt x="5904" y="3328"/>
                      <a:pt x="5952" y="3336"/>
                    </a:cubicBezTo>
                  </a:path>
                </a:pathLst>
              </a:custGeom>
              <a:noFill/>
              <a:ln w="28575" cap="flat" cmpd="sng">
                <a:solidFill>
                  <a:schemeClr val="accent2"/>
                </a:solidFill>
                <a:prstDash val="dash"/>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pSp>
            <p:nvGrpSpPr>
              <p:cNvPr id="33828" name="Group 20"/>
              <p:cNvGrpSpPr>
                <a:grpSpLocks/>
              </p:cNvGrpSpPr>
              <p:nvPr/>
            </p:nvGrpSpPr>
            <p:grpSpPr bwMode="auto">
              <a:xfrm>
                <a:off x="4250" y="2799"/>
                <a:ext cx="264" cy="1116"/>
                <a:chOff x="1632" y="2196"/>
                <a:chExt cx="264" cy="1116"/>
              </a:xfrm>
            </p:grpSpPr>
            <p:graphicFrame>
              <p:nvGraphicFramePr>
                <p:cNvPr id="33830" name="Object 21"/>
                <p:cNvGraphicFramePr>
                  <a:graphicFrameLocks noChangeAspect="1"/>
                </p:cNvGraphicFramePr>
                <p:nvPr/>
              </p:nvGraphicFramePr>
              <p:xfrm>
                <a:off x="1632" y="2976"/>
                <a:ext cx="264" cy="336"/>
              </p:xfrm>
              <a:graphic>
                <a:graphicData uri="http://schemas.openxmlformats.org/presentationml/2006/ole">
                  <mc:AlternateContent xmlns:mc="http://schemas.openxmlformats.org/markup-compatibility/2006">
                    <mc:Choice xmlns:v="urn:schemas-microsoft-com:vml" Requires="v">
                      <p:oleObj spid="_x0000_s34704" name="公式" r:id="rId15" imgW="228600" imgH="228600" progId="Equation.3">
                        <p:embed/>
                      </p:oleObj>
                    </mc:Choice>
                    <mc:Fallback>
                      <p:oleObj name="公式" r:id="rId15" imgW="228600" imgH="228600"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32" y="2976"/>
                              <a:ext cx="26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7958" name="Line 22"/>
                <p:cNvSpPr>
                  <a:spLocks noChangeShapeType="1"/>
                </p:cNvSpPr>
                <p:nvPr/>
              </p:nvSpPr>
              <p:spPr bwMode="auto">
                <a:xfrm>
                  <a:off x="1646" y="2196"/>
                  <a:ext cx="0" cy="864"/>
                </a:xfrm>
                <a:prstGeom prst="line">
                  <a:avLst/>
                </a:prstGeom>
                <a:noFill/>
                <a:ln w="19050">
                  <a:solidFill>
                    <a:srgbClr val="594BAD"/>
                  </a:solidFill>
                  <a:prstDash val="dash"/>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pSp>
          <p:sp>
            <p:nvSpPr>
              <p:cNvPr id="33829" name="AutoShape 23"/>
              <p:cNvSpPr>
                <a:spLocks noChangeArrowheads="1"/>
              </p:cNvSpPr>
              <p:nvPr/>
            </p:nvSpPr>
            <p:spPr bwMode="auto">
              <a:xfrm>
                <a:off x="4922" y="2667"/>
                <a:ext cx="432" cy="288"/>
              </a:xfrm>
              <a:prstGeom prst="wedgeRoundRectCallout">
                <a:avLst>
                  <a:gd name="adj1" fmla="val -107176"/>
                  <a:gd name="adj2" fmla="val 100694"/>
                  <a:gd name="adj3" fmla="val 16667"/>
                </a:avLst>
              </a:prstGeom>
              <a:gradFill rotWithShape="0">
                <a:gsLst>
                  <a:gs pos="0">
                    <a:srgbClr val="836EFE"/>
                  </a:gs>
                  <a:gs pos="100000">
                    <a:srgbClr val="FFFFFF"/>
                  </a:gs>
                </a:gsLst>
                <a:path path="rect">
                  <a:fillToRect t="100000" r="10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a:solidFill>
                      <a:srgbClr val="FF3300"/>
                    </a:solidFill>
                    <a:cs typeface="Arial" panose="020B0604020202020204" pitchFamily="34" charset="0"/>
                  </a:rPr>
                  <a:t>m</a:t>
                </a:r>
                <a:r>
                  <a:rPr lang="en-US" altLang="zh-CN" sz="2400" baseline="-25000">
                    <a:solidFill>
                      <a:srgbClr val="FF3300"/>
                    </a:solidFill>
                    <a:cs typeface="Arial" panose="020B0604020202020204" pitchFamily="34" charset="0"/>
                  </a:rPr>
                  <a:t> 2</a:t>
                </a:r>
              </a:p>
            </p:txBody>
          </p:sp>
        </p:grpSp>
        <p:sp>
          <p:nvSpPr>
            <p:cNvPr id="33823" name="AutoShape 24"/>
            <p:cNvSpPr>
              <a:spLocks noChangeArrowheads="1"/>
            </p:cNvSpPr>
            <p:nvPr/>
          </p:nvSpPr>
          <p:spPr bwMode="auto">
            <a:xfrm>
              <a:off x="2554" y="2571"/>
              <a:ext cx="529" cy="288"/>
            </a:xfrm>
            <a:prstGeom prst="wedgeRoundRectCallout">
              <a:avLst>
                <a:gd name="adj1" fmla="val 154616"/>
                <a:gd name="adj2" fmla="val 81796"/>
                <a:gd name="adj3" fmla="val 16667"/>
              </a:avLst>
            </a:prstGeom>
            <a:gradFill rotWithShape="0">
              <a:gsLst>
                <a:gs pos="0">
                  <a:srgbClr val="5951FF"/>
                </a:gs>
                <a:gs pos="100000">
                  <a:srgbClr val="FAFAFF"/>
                </a:gs>
              </a:gsLst>
              <a:path path="rect">
                <a:fillToRect l="100000" t="10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a:solidFill>
                    <a:srgbClr val="FF3300"/>
                  </a:solidFill>
                  <a:cs typeface="Arial" panose="020B0604020202020204" pitchFamily="34" charset="0"/>
                </a:rPr>
                <a:t>m</a:t>
              </a:r>
              <a:r>
                <a:rPr lang="en-US" altLang="zh-CN" sz="2400" baseline="-25000">
                  <a:solidFill>
                    <a:srgbClr val="FF3300"/>
                  </a:solidFill>
                  <a:cs typeface="Arial" panose="020B0604020202020204" pitchFamily="34" charset="0"/>
                </a:rPr>
                <a:t> 1</a:t>
              </a:r>
            </a:p>
          </p:txBody>
        </p:sp>
      </p:grpSp>
      <p:graphicFrame>
        <p:nvGraphicFramePr>
          <p:cNvPr id="167961" name="Object 25"/>
          <p:cNvGraphicFramePr>
            <a:graphicFrameLocks noChangeAspect="1"/>
          </p:cNvGraphicFramePr>
          <p:nvPr/>
        </p:nvGraphicFramePr>
        <p:xfrm>
          <a:off x="6759575" y="1181100"/>
          <a:ext cx="1065213" cy="381000"/>
        </p:xfrm>
        <a:graphic>
          <a:graphicData uri="http://schemas.openxmlformats.org/presentationml/2006/ole">
            <mc:AlternateContent xmlns:mc="http://schemas.openxmlformats.org/markup-compatibility/2006">
              <mc:Choice xmlns:v="urn:schemas-microsoft-com:vml" Requires="v">
                <p:oleObj spid="_x0000_s34705" name="公式" r:id="rId17" imgW="457002" imgH="215806" progId="Equation.3">
                  <p:embed/>
                </p:oleObj>
              </mc:Choice>
              <mc:Fallback>
                <p:oleObj name="公式" r:id="rId17" imgW="457002" imgH="215806" progId="Equation.3">
                  <p:embed/>
                  <p:pic>
                    <p:nvPicPr>
                      <p:cNvPr id="0" name="Object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759575" y="1181100"/>
                        <a:ext cx="10652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 name="Group 26"/>
          <p:cNvGrpSpPr>
            <a:grpSpLocks/>
          </p:cNvGrpSpPr>
          <p:nvPr/>
        </p:nvGrpSpPr>
        <p:grpSpPr bwMode="auto">
          <a:xfrm>
            <a:off x="5364163" y="1196975"/>
            <a:ext cx="3657600" cy="2587626"/>
            <a:chOff x="3470" y="709"/>
            <a:chExt cx="2304" cy="1630"/>
          </a:xfrm>
        </p:grpSpPr>
        <p:sp>
          <p:nvSpPr>
            <p:cNvPr id="167963" name="Freeform 27"/>
            <p:cNvSpPr>
              <a:spLocks/>
            </p:cNvSpPr>
            <p:nvPr/>
          </p:nvSpPr>
          <p:spPr bwMode="auto">
            <a:xfrm>
              <a:off x="3470" y="1224"/>
              <a:ext cx="2245" cy="829"/>
            </a:xfrm>
            <a:custGeom>
              <a:avLst/>
              <a:gdLst/>
              <a:ahLst/>
              <a:cxnLst>
                <a:cxn ang="0">
                  <a:pos x="0" y="3768"/>
                </a:cxn>
                <a:cxn ang="0">
                  <a:pos x="672" y="2760"/>
                </a:cxn>
                <a:cxn ang="0">
                  <a:pos x="1152" y="1896"/>
                </a:cxn>
                <a:cxn ang="0">
                  <a:pos x="1392" y="1368"/>
                </a:cxn>
                <a:cxn ang="0">
                  <a:pos x="1584" y="840"/>
                </a:cxn>
                <a:cxn ang="0">
                  <a:pos x="1872" y="264"/>
                </a:cxn>
                <a:cxn ang="0">
                  <a:pos x="2160" y="24"/>
                </a:cxn>
                <a:cxn ang="0">
                  <a:pos x="2496" y="120"/>
                </a:cxn>
                <a:cxn ang="0">
                  <a:pos x="2736" y="408"/>
                </a:cxn>
                <a:cxn ang="0">
                  <a:pos x="2976" y="888"/>
                </a:cxn>
                <a:cxn ang="0">
                  <a:pos x="3216" y="1272"/>
                </a:cxn>
                <a:cxn ang="0">
                  <a:pos x="3456" y="1608"/>
                </a:cxn>
                <a:cxn ang="0">
                  <a:pos x="3792" y="2040"/>
                </a:cxn>
                <a:cxn ang="0">
                  <a:pos x="4224" y="2568"/>
                </a:cxn>
                <a:cxn ang="0">
                  <a:pos x="4800" y="2952"/>
                </a:cxn>
                <a:cxn ang="0">
                  <a:pos x="5232" y="3144"/>
                </a:cxn>
                <a:cxn ang="0">
                  <a:pos x="5664" y="3288"/>
                </a:cxn>
                <a:cxn ang="0">
                  <a:pos x="5952" y="3336"/>
                </a:cxn>
              </a:cxnLst>
              <a:rect l="0" t="0" r="r" b="b"/>
              <a:pathLst>
                <a:path w="5952" h="3768">
                  <a:moveTo>
                    <a:pt x="0" y="3768"/>
                  </a:moveTo>
                  <a:cubicBezTo>
                    <a:pt x="240" y="3420"/>
                    <a:pt x="480" y="3072"/>
                    <a:pt x="672" y="2760"/>
                  </a:cubicBezTo>
                  <a:cubicBezTo>
                    <a:pt x="864" y="2448"/>
                    <a:pt x="1032" y="2128"/>
                    <a:pt x="1152" y="1896"/>
                  </a:cubicBezTo>
                  <a:cubicBezTo>
                    <a:pt x="1272" y="1664"/>
                    <a:pt x="1320" y="1544"/>
                    <a:pt x="1392" y="1368"/>
                  </a:cubicBezTo>
                  <a:cubicBezTo>
                    <a:pt x="1464" y="1192"/>
                    <a:pt x="1504" y="1024"/>
                    <a:pt x="1584" y="840"/>
                  </a:cubicBezTo>
                  <a:cubicBezTo>
                    <a:pt x="1664" y="656"/>
                    <a:pt x="1776" y="400"/>
                    <a:pt x="1872" y="264"/>
                  </a:cubicBezTo>
                  <a:cubicBezTo>
                    <a:pt x="1968" y="128"/>
                    <a:pt x="2056" y="48"/>
                    <a:pt x="2160" y="24"/>
                  </a:cubicBezTo>
                  <a:cubicBezTo>
                    <a:pt x="2264" y="0"/>
                    <a:pt x="2400" y="56"/>
                    <a:pt x="2496" y="120"/>
                  </a:cubicBezTo>
                  <a:cubicBezTo>
                    <a:pt x="2592" y="184"/>
                    <a:pt x="2656" y="280"/>
                    <a:pt x="2736" y="408"/>
                  </a:cubicBezTo>
                  <a:cubicBezTo>
                    <a:pt x="2816" y="536"/>
                    <a:pt x="2896" y="744"/>
                    <a:pt x="2976" y="888"/>
                  </a:cubicBezTo>
                  <a:cubicBezTo>
                    <a:pt x="3056" y="1032"/>
                    <a:pt x="3136" y="1152"/>
                    <a:pt x="3216" y="1272"/>
                  </a:cubicBezTo>
                  <a:cubicBezTo>
                    <a:pt x="3296" y="1392"/>
                    <a:pt x="3360" y="1480"/>
                    <a:pt x="3456" y="1608"/>
                  </a:cubicBezTo>
                  <a:cubicBezTo>
                    <a:pt x="3552" y="1736"/>
                    <a:pt x="3664" y="1880"/>
                    <a:pt x="3792" y="2040"/>
                  </a:cubicBezTo>
                  <a:cubicBezTo>
                    <a:pt x="3920" y="2200"/>
                    <a:pt x="4056" y="2416"/>
                    <a:pt x="4224" y="2568"/>
                  </a:cubicBezTo>
                  <a:cubicBezTo>
                    <a:pt x="4392" y="2720"/>
                    <a:pt x="4632" y="2856"/>
                    <a:pt x="4800" y="2952"/>
                  </a:cubicBezTo>
                  <a:cubicBezTo>
                    <a:pt x="4968" y="3048"/>
                    <a:pt x="5088" y="3088"/>
                    <a:pt x="5232" y="3144"/>
                  </a:cubicBezTo>
                  <a:cubicBezTo>
                    <a:pt x="5376" y="3200"/>
                    <a:pt x="5544" y="3256"/>
                    <a:pt x="5664" y="3288"/>
                  </a:cubicBezTo>
                  <a:cubicBezTo>
                    <a:pt x="5784" y="3320"/>
                    <a:pt x="5904" y="3328"/>
                    <a:pt x="5952" y="3336"/>
                  </a:cubicBezTo>
                </a:path>
              </a:pathLst>
            </a:custGeom>
            <a:noFill/>
            <a:ln w="28575" cap="flat" cmpd="sng">
              <a:solidFill>
                <a:srgbClr val="51A755"/>
              </a:solidFill>
              <a:prstDash val="dash"/>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pSp>
          <p:nvGrpSpPr>
            <p:cNvPr id="33805" name="Group 28"/>
            <p:cNvGrpSpPr>
              <a:grpSpLocks/>
            </p:cNvGrpSpPr>
            <p:nvPr/>
          </p:nvGrpSpPr>
          <p:grpSpPr bwMode="auto">
            <a:xfrm>
              <a:off x="3470" y="709"/>
              <a:ext cx="2304" cy="1630"/>
              <a:chOff x="3470" y="709"/>
              <a:chExt cx="2304" cy="1630"/>
            </a:xfrm>
          </p:grpSpPr>
          <p:sp>
            <p:nvSpPr>
              <p:cNvPr id="33806" name="AutoShape 29"/>
              <p:cNvSpPr>
                <a:spLocks noChangeArrowheads="1"/>
              </p:cNvSpPr>
              <p:nvPr/>
            </p:nvSpPr>
            <p:spPr bwMode="auto">
              <a:xfrm>
                <a:off x="5390" y="1368"/>
                <a:ext cx="384" cy="288"/>
              </a:xfrm>
              <a:prstGeom prst="wedgeRoundRectCallout">
                <a:avLst>
                  <a:gd name="adj1" fmla="val -157292"/>
                  <a:gd name="adj2" fmla="val 138889"/>
                  <a:gd name="adj3" fmla="val 16667"/>
                </a:avLst>
              </a:prstGeom>
              <a:gradFill rotWithShape="0">
                <a:gsLst>
                  <a:gs pos="0">
                    <a:srgbClr val="00F400"/>
                  </a:gs>
                  <a:gs pos="100000">
                    <a:srgbClr val="006000"/>
                  </a:gs>
                </a:gsLst>
                <a:path path="rect">
                  <a:fillToRect t="100000" r="10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a:solidFill>
                      <a:schemeClr val="accent1"/>
                    </a:solidFill>
                    <a:cs typeface="Arial" panose="020B0604020202020204" pitchFamily="34" charset="0"/>
                  </a:rPr>
                  <a:t>T</a:t>
                </a:r>
                <a:r>
                  <a:rPr lang="en-US" altLang="zh-CN" sz="2400" baseline="-25000">
                    <a:solidFill>
                      <a:schemeClr val="accent1"/>
                    </a:solidFill>
                    <a:cs typeface="Arial" panose="020B0604020202020204" pitchFamily="34" charset="0"/>
                  </a:rPr>
                  <a:t> 1</a:t>
                </a:r>
              </a:p>
            </p:txBody>
          </p:sp>
          <p:sp>
            <p:nvSpPr>
              <p:cNvPr id="167966" name="Freeform 30"/>
              <p:cNvSpPr>
                <a:spLocks/>
              </p:cNvSpPr>
              <p:nvPr/>
            </p:nvSpPr>
            <p:spPr bwMode="auto">
              <a:xfrm>
                <a:off x="3470" y="1080"/>
                <a:ext cx="1728" cy="973"/>
              </a:xfrm>
              <a:custGeom>
                <a:avLst/>
                <a:gdLst/>
                <a:ahLst/>
                <a:cxnLst>
                  <a:cxn ang="0">
                    <a:pos x="0" y="3768"/>
                  </a:cxn>
                  <a:cxn ang="0">
                    <a:pos x="672" y="2760"/>
                  </a:cxn>
                  <a:cxn ang="0">
                    <a:pos x="1152" y="1896"/>
                  </a:cxn>
                  <a:cxn ang="0">
                    <a:pos x="1392" y="1368"/>
                  </a:cxn>
                  <a:cxn ang="0">
                    <a:pos x="1584" y="840"/>
                  </a:cxn>
                  <a:cxn ang="0">
                    <a:pos x="1872" y="264"/>
                  </a:cxn>
                  <a:cxn ang="0">
                    <a:pos x="2160" y="24"/>
                  </a:cxn>
                  <a:cxn ang="0">
                    <a:pos x="2496" y="120"/>
                  </a:cxn>
                  <a:cxn ang="0">
                    <a:pos x="2736" y="408"/>
                  </a:cxn>
                  <a:cxn ang="0">
                    <a:pos x="2976" y="888"/>
                  </a:cxn>
                  <a:cxn ang="0">
                    <a:pos x="3216" y="1272"/>
                  </a:cxn>
                  <a:cxn ang="0">
                    <a:pos x="3456" y="1608"/>
                  </a:cxn>
                  <a:cxn ang="0">
                    <a:pos x="3792" y="2040"/>
                  </a:cxn>
                  <a:cxn ang="0">
                    <a:pos x="4224" y="2568"/>
                  </a:cxn>
                  <a:cxn ang="0">
                    <a:pos x="4800" y="2952"/>
                  </a:cxn>
                  <a:cxn ang="0">
                    <a:pos x="5232" y="3144"/>
                  </a:cxn>
                  <a:cxn ang="0">
                    <a:pos x="5664" y="3288"/>
                  </a:cxn>
                  <a:cxn ang="0">
                    <a:pos x="5952" y="3336"/>
                  </a:cxn>
                </a:cxnLst>
                <a:rect l="0" t="0" r="r" b="b"/>
                <a:pathLst>
                  <a:path w="5952" h="3768">
                    <a:moveTo>
                      <a:pt x="0" y="3768"/>
                    </a:moveTo>
                    <a:cubicBezTo>
                      <a:pt x="240" y="3420"/>
                      <a:pt x="480" y="3072"/>
                      <a:pt x="672" y="2760"/>
                    </a:cubicBezTo>
                    <a:cubicBezTo>
                      <a:pt x="864" y="2448"/>
                      <a:pt x="1032" y="2128"/>
                      <a:pt x="1152" y="1896"/>
                    </a:cubicBezTo>
                    <a:cubicBezTo>
                      <a:pt x="1272" y="1664"/>
                      <a:pt x="1320" y="1544"/>
                      <a:pt x="1392" y="1368"/>
                    </a:cubicBezTo>
                    <a:cubicBezTo>
                      <a:pt x="1464" y="1192"/>
                      <a:pt x="1504" y="1024"/>
                      <a:pt x="1584" y="840"/>
                    </a:cubicBezTo>
                    <a:cubicBezTo>
                      <a:pt x="1664" y="656"/>
                      <a:pt x="1776" y="400"/>
                      <a:pt x="1872" y="264"/>
                    </a:cubicBezTo>
                    <a:cubicBezTo>
                      <a:pt x="1968" y="128"/>
                      <a:pt x="2056" y="48"/>
                      <a:pt x="2160" y="24"/>
                    </a:cubicBezTo>
                    <a:cubicBezTo>
                      <a:pt x="2264" y="0"/>
                      <a:pt x="2400" y="56"/>
                      <a:pt x="2496" y="120"/>
                    </a:cubicBezTo>
                    <a:cubicBezTo>
                      <a:pt x="2592" y="184"/>
                      <a:pt x="2656" y="280"/>
                      <a:pt x="2736" y="408"/>
                    </a:cubicBezTo>
                    <a:cubicBezTo>
                      <a:pt x="2816" y="536"/>
                      <a:pt x="2896" y="744"/>
                      <a:pt x="2976" y="888"/>
                    </a:cubicBezTo>
                    <a:cubicBezTo>
                      <a:pt x="3056" y="1032"/>
                      <a:pt x="3136" y="1152"/>
                      <a:pt x="3216" y="1272"/>
                    </a:cubicBezTo>
                    <a:cubicBezTo>
                      <a:pt x="3296" y="1392"/>
                      <a:pt x="3360" y="1480"/>
                      <a:pt x="3456" y="1608"/>
                    </a:cubicBezTo>
                    <a:cubicBezTo>
                      <a:pt x="3552" y="1736"/>
                      <a:pt x="3664" y="1880"/>
                      <a:pt x="3792" y="2040"/>
                    </a:cubicBezTo>
                    <a:cubicBezTo>
                      <a:pt x="3920" y="2200"/>
                      <a:pt x="4056" y="2416"/>
                      <a:pt x="4224" y="2568"/>
                    </a:cubicBezTo>
                    <a:cubicBezTo>
                      <a:pt x="4392" y="2720"/>
                      <a:pt x="4632" y="2856"/>
                      <a:pt x="4800" y="2952"/>
                    </a:cubicBezTo>
                    <a:cubicBezTo>
                      <a:pt x="4968" y="3048"/>
                      <a:pt x="5088" y="3088"/>
                      <a:pt x="5232" y="3144"/>
                    </a:cubicBezTo>
                    <a:cubicBezTo>
                      <a:pt x="5376" y="3200"/>
                      <a:pt x="5544" y="3256"/>
                      <a:pt x="5664" y="3288"/>
                    </a:cubicBezTo>
                    <a:cubicBezTo>
                      <a:pt x="5784" y="3320"/>
                      <a:pt x="5904" y="3328"/>
                      <a:pt x="5952" y="3336"/>
                    </a:cubicBezTo>
                  </a:path>
                </a:pathLst>
              </a:custGeom>
              <a:noFill/>
              <a:ln w="28575" cmpd="sng">
                <a:solidFill>
                  <a:srgbClr val="51A755"/>
                </a:solidFill>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pSp>
            <p:nvGrpSpPr>
              <p:cNvPr id="33808" name="Group 31"/>
              <p:cNvGrpSpPr>
                <a:grpSpLocks/>
              </p:cNvGrpSpPr>
              <p:nvPr/>
            </p:nvGrpSpPr>
            <p:grpSpPr bwMode="auto">
              <a:xfrm>
                <a:off x="3470" y="709"/>
                <a:ext cx="1920" cy="1619"/>
                <a:chOff x="3552" y="432"/>
                <a:chExt cx="1920" cy="1619"/>
              </a:xfrm>
            </p:grpSpPr>
            <p:graphicFrame>
              <p:nvGraphicFramePr>
                <p:cNvPr id="33816" name="Object 32"/>
                <p:cNvGraphicFramePr>
                  <a:graphicFrameLocks noChangeAspect="1"/>
                </p:cNvGraphicFramePr>
                <p:nvPr/>
              </p:nvGraphicFramePr>
              <p:xfrm>
                <a:off x="3600" y="1776"/>
                <a:ext cx="175" cy="192"/>
              </p:xfrm>
              <a:graphic>
                <a:graphicData uri="http://schemas.openxmlformats.org/presentationml/2006/ole">
                  <mc:AlternateContent xmlns:mc="http://schemas.openxmlformats.org/markup-compatibility/2006">
                    <mc:Choice xmlns:v="urn:schemas-microsoft-com:vml" Requires="v">
                      <p:oleObj spid="_x0000_s34706" name="公式" r:id="rId19" imgW="126835" imgH="139518" progId="Equation.3">
                        <p:embed/>
                      </p:oleObj>
                    </mc:Choice>
                    <mc:Fallback>
                      <p:oleObj name="公式" r:id="rId19" imgW="126835" imgH="139518" progId="Equation.3">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 y="1776"/>
                              <a:ext cx="17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3817" name="Group 33"/>
                <p:cNvGrpSpPr>
                  <a:grpSpLocks/>
                </p:cNvGrpSpPr>
                <p:nvPr/>
              </p:nvGrpSpPr>
              <p:grpSpPr bwMode="auto">
                <a:xfrm>
                  <a:off x="3552" y="432"/>
                  <a:ext cx="1920" cy="1619"/>
                  <a:chOff x="3552" y="432"/>
                  <a:chExt cx="1920" cy="1619"/>
                </a:xfrm>
              </p:grpSpPr>
              <p:sp>
                <p:nvSpPr>
                  <p:cNvPr id="167970" name="Line 34"/>
                  <p:cNvSpPr>
                    <a:spLocks noChangeShapeType="1"/>
                  </p:cNvSpPr>
                  <p:nvPr/>
                </p:nvSpPr>
                <p:spPr bwMode="auto">
                  <a:xfrm>
                    <a:off x="3552" y="1776"/>
                    <a:ext cx="1920" cy="0"/>
                  </a:xfrm>
                  <a:prstGeom prst="line">
                    <a:avLst/>
                  </a:prstGeom>
                  <a:noFill/>
                  <a:ln w="19050">
                    <a:solidFill>
                      <a:srgbClr val="51A755"/>
                    </a:solidFill>
                    <a:round/>
                    <a:headEnd/>
                    <a:tailEnd type="triangle" w="med" len="med"/>
                  </a:ln>
                  <a:effectLst/>
                </p:spPr>
                <p:txBody>
                  <a:bodyPr/>
                  <a:lstStyle/>
                  <a:p>
                    <a:pPr eaLnBrk="1" hangingPunct="1">
                      <a:defRPr/>
                    </a:pPr>
                    <a:endParaRPr lang="en-US">
                      <a:effectLst>
                        <a:outerShdw blurRad="38100" dist="38100" dir="2700000" algn="tl">
                          <a:srgbClr val="000000">
                            <a:alpha val="43137"/>
                          </a:srgbClr>
                        </a:outerShdw>
                      </a:effectLst>
                    </a:endParaRPr>
                  </a:p>
                </p:txBody>
              </p:sp>
              <p:sp>
                <p:nvSpPr>
                  <p:cNvPr id="167971" name="Line 35"/>
                  <p:cNvSpPr>
                    <a:spLocks noChangeShapeType="1"/>
                  </p:cNvSpPr>
                  <p:nvPr/>
                </p:nvSpPr>
                <p:spPr bwMode="auto">
                  <a:xfrm flipV="1">
                    <a:off x="3552" y="480"/>
                    <a:ext cx="0" cy="1296"/>
                  </a:xfrm>
                  <a:prstGeom prst="line">
                    <a:avLst/>
                  </a:prstGeom>
                  <a:noFill/>
                  <a:ln w="19050">
                    <a:solidFill>
                      <a:srgbClr val="51A755"/>
                    </a:solidFill>
                    <a:round/>
                    <a:headEnd/>
                    <a:tailEnd type="triangle" w="med" len="med"/>
                  </a:ln>
                  <a:effectLst/>
                </p:spPr>
                <p:txBody>
                  <a:bodyPr/>
                  <a:lstStyle/>
                  <a:p>
                    <a:pPr eaLnBrk="1" hangingPunct="1">
                      <a:defRPr/>
                    </a:pPr>
                    <a:endParaRPr lang="en-US">
                      <a:effectLst>
                        <a:outerShdw blurRad="38100" dist="38100" dir="2700000" algn="tl">
                          <a:srgbClr val="000000">
                            <a:alpha val="43137"/>
                          </a:srgbClr>
                        </a:outerShdw>
                      </a:effectLst>
                    </a:endParaRPr>
                  </a:p>
                </p:txBody>
              </p:sp>
              <p:graphicFrame>
                <p:nvGraphicFramePr>
                  <p:cNvPr id="33820" name="Object 36"/>
                  <p:cNvGraphicFramePr>
                    <a:graphicFrameLocks noChangeAspect="1"/>
                  </p:cNvGraphicFramePr>
                  <p:nvPr/>
                </p:nvGraphicFramePr>
                <p:xfrm>
                  <a:off x="5232" y="1828"/>
                  <a:ext cx="182" cy="223"/>
                </p:xfrm>
                <a:graphic>
                  <a:graphicData uri="http://schemas.openxmlformats.org/presentationml/2006/ole">
                    <mc:AlternateContent xmlns:mc="http://schemas.openxmlformats.org/markup-compatibility/2006">
                      <mc:Choice xmlns:v="urn:schemas-microsoft-com:vml" Requires="v">
                        <p:oleObj spid="_x0000_s34707" name="公式" r:id="rId20" imgW="114201" imgH="139579" progId="Equation.3">
                          <p:embed/>
                        </p:oleObj>
                      </mc:Choice>
                      <mc:Fallback>
                        <p:oleObj name="公式" r:id="rId20" imgW="114201" imgH="139579" progId="Equation.3">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2" y="1828"/>
                                <a:ext cx="18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821" name="Object 37"/>
                  <p:cNvGraphicFramePr>
                    <a:graphicFrameLocks noChangeAspect="1"/>
                  </p:cNvGraphicFramePr>
                  <p:nvPr/>
                </p:nvGraphicFramePr>
                <p:xfrm>
                  <a:off x="3552" y="432"/>
                  <a:ext cx="448" cy="298"/>
                </p:xfrm>
                <a:graphic>
                  <a:graphicData uri="http://schemas.openxmlformats.org/presentationml/2006/ole">
                    <mc:AlternateContent xmlns:mc="http://schemas.openxmlformats.org/markup-compatibility/2006">
                      <mc:Choice xmlns:v="urn:schemas-microsoft-com:vml" Requires="v">
                        <p:oleObj spid="_x0000_s34708" name="公式" r:id="rId21" imgW="330057" imgH="203112" progId="Equation.3">
                          <p:embed/>
                        </p:oleObj>
                      </mc:Choice>
                      <mc:Fallback>
                        <p:oleObj name="公式" r:id="rId21" imgW="330057" imgH="203112" progId="Equation.3">
                          <p:embed/>
                          <p:pic>
                            <p:nvPicPr>
                              <p:cNvPr id="0"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2" y="432"/>
                                <a:ext cx="4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grpSp>
            <p:nvGrpSpPr>
              <p:cNvPr id="33809" name="Group 38"/>
              <p:cNvGrpSpPr>
                <a:grpSpLocks/>
              </p:cNvGrpSpPr>
              <p:nvPr/>
            </p:nvGrpSpPr>
            <p:grpSpPr bwMode="auto">
              <a:xfrm>
                <a:off x="3974" y="1080"/>
                <a:ext cx="303" cy="1248"/>
                <a:chOff x="1224" y="2064"/>
                <a:chExt cx="303" cy="1248"/>
              </a:xfrm>
            </p:grpSpPr>
            <p:sp>
              <p:nvSpPr>
                <p:cNvPr id="167975" name="Line 39"/>
                <p:cNvSpPr>
                  <a:spLocks noChangeShapeType="1"/>
                </p:cNvSpPr>
                <p:nvPr/>
              </p:nvSpPr>
              <p:spPr bwMode="auto">
                <a:xfrm>
                  <a:off x="1364" y="2064"/>
                  <a:ext cx="0" cy="987"/>
                </a:xfrm>
                <a:prstGeom prst="line">
                  <a:avLst/>
                </a:prstGeom>
                <a:noFill/>
                <a:ln w="19050">
                  <a:solidFill>
                    <a:srgbClr val="594BAD"/>
                  </a:solidFill>
                  <a:prstDash val="dash"/>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aphicFrame>
              <p:nvGraphicFramePr>
                <p:cNvPr id="33815" name="Object 40"/>
                <p:cNvGraphicFramePr>
                  <a:graphicFrameLocks noChangeAspect="1"/>
                </p:cNvGraphicFramePr>
                <p:nvPr/>
              </p:nvGraphicFramePr>
              <p:xfrm>
                <a:off x="1224" y="2976"/>
                <a:ext cx="303" cy="336"/>
              </p:xfrm>
              <a:graphic>
                <a:graphicData uri="http://schemas.openxmlformats.org/presentationml/2006/ole">
                  <mc:AlternateContent xmlns:mc="http://schemas.openxmlformats.org/markup-compatibility/2006">
                    <mc:Choice xmlns:v="urn:schemas-microsoft-com:vml" Requires="v">
                      <p:oleObj spid="_x0000_s34709" name="公式" r:id="rId22" imgW="215806" imgH="228501" progId="Equation.3">
                        <p:embed/>
                      </p:oleObj>
                    </mc:Choice>
                    <mc:Fallback>
                      <p:oleObj name="公式" r:id="rId22" imgW="215806" imgH="228501" progId="Equation.3">
                        <p:embed/>
                        <p:pic>
                          <p:nvPicPr>
                            <p:cNvPr id="0" name="Object 4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24" y="2976"/>
                              <a:ext cx="303"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3810" name="Group 41"/>
              <p:cNvGrpSpPr>
                <a:grpSpLocks/>
              </p:cNvGrpSpPr>
              <p:nvPr/>
            </p:nvGrpSpPr>
            <p:grpSpPr bwMode="auto">
              <a:xfrm>
                <a:off x="4286" y="1241"/>
                <a:ext cx="264" cy="1098"/>
                <a:chOff x="1464" y="2225"/>
                <a:chExt cx="264" cy="1098"/>
              </a:xfrm>
            </p:grpSpPr>
            <p:graphicFrame>
              <p:nvGraphicFramePr>
                <p:cNvPr id="33812" name="Object 42"/>
                <p:cNvGraphicFramePr>
                  <a:graphicFrameLocks noChangeAspect="1"/>
                </p:cNvGraphicFramePr>
                <p:nvPr>
                  <p:extLst>
                    <p:ext uri="{D42A27DB-BD31-4B8C-83A1-F6EECF244321}">
                      <p14:modId xmlns:p14="http://schemas.microsoft.com/office/powerpoint/2010/main" val="3066401017"/>
                    </p:ext>
                  </p:extLst>
                </p:nvPr>
              </p:nvGraphicFramePr>
              <p:xfrm>
                <a:off x="1464" y="2987"/>
                <a:ext cx="264" cy="336"/>
              </p:xfrm>
              <a:graphic>
                <a:graphicData uri="http://schemas.openxmlformats.org/presentationml/2006/ole">
                  <mc:AlternateContent xmlns:mc="http://schemas.openxmlformats.org/markup-compatibility/2006">
                    <mc:Choice xmlns:v="urn:schemas-microsoft-com:vml" Requires="v">
                      <p:oleObj spid="_x0000_s34710" name="公式" r:id="rId24" imgW="228600" imgH="228600" progId="Equation.3">
                        <p:embed/>
                      </p:oleObj>
                    </mc:Choice>
                    <mc:Fallback>
                      <p:oleObj name="公式" r:id="rId24" imgW="228600" imgH="228600" progId="Equation.3">
                        <p:embed/>
                        <p:pic>
                          <p:nvPicPr>
                            <p:cNvPr id="0" name="Object 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64" y="2987"/>
                              <a:ext cx="26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7979" name="Line 43"/>
                <p:cNvSpPr>
                  <a:spLocks noChangeShapeType="1"/>
                </p:cNvSpPr>
                <p:nvPr/>
              </p:nvSpPr>
              <p:spPr bwMode="auto">
                <a:xfrm>
                  <a:off x="1503" y="2225"/>
                  <a:ext cx="0" cy="864"/>
                </a:xfrm>
                <a:prstGeom prst="line">
                  <a:avLst/>
                </a:prstGeom>
                <a:noFill/>
                <a:ln w="19050">
                  <a:solidFill>
                    <a:srgbClr val="594BAD"/>
                  </a:solidFill>
                  <a:prstDash val="dash"/>
                  <a:round/>
                  <a:headEnd/>
                  <a:tailEnd/>
                </a:ln>
                <a:effectLst/>
              </p:spPr>
              <p:txBody>
                <a:bodyPr/>
                <a:lstStyle/>
                <a:p>
                  <a:pPr eaLnBrk="1" hangingPunct="1">
                    <a:defRPr/>
                  </a:pPr>
                  <a:endParaRPr lang="en-US">
                    <a:effectLst>
                      <a:outerShdw blurRad="38100" dist="38100" dir="2700000" algn="tl">
                        <a:srgbClr val="000000">
                          <a:alpha val="43137"/>
                        </a:srgbClr>
                      </a:outerShdw>
                    </a:effectLst>
                  </a:endParaRPr>
                </a:p>
              </p:txBody>
            </p:sp>
          </p:grpSp>
          <p:sp>
            <p:nvSpPr>
              <p:cNvPr id="33811" name="AutoShape 44"/>
              <p:cNvSpPr>
                <a:spLocks noChangeArrowheads="1"/>
              </p:cNvSpPr>
              <p:nvPr/>
            </p:nvSpPr>
            <p:spPr bwMode="auto">
              <a:xfrm>
                <a:off x="4888" y="991"/>
                <a:ext cx="432" cy="288"/>
              </a:xfrm>
              <a:prstGeom prst="wedgeRoundRectCallout">
                <a:avLst>
                  <a:gd name="adj1" fmla="val -107176"/>
                  <a:gd name="adj2" fmla="val 100694"/>
                  <a:gd name="adj3" fmla="val 16667"/>
                </a:avLst>
              </a:prstGeom>
              <a:gradFill rotWithShape="0">
                <a:gsLst>
                  <a:gs pos="0">
                    <a:srgbClr val="00F300"/>
                  </a:gs>
                  <a:gs pos="13348">
                    <a:srgbClr val="00F300"/>
                  </a:gs>
                  <a:gs pos="47000">
                    <a:srgbClr val="00F400"/>
                  </a:gs>
                  <a:gs pos="100000">
                    <a:srgbClr val="003400"/>
                  </a:gs>
                </a:gsLst>
                <a:path path="rect">
                  <a:fillToRect t="100000" r="10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a:solidFill>
                      <a:schemeClr val="accent1"/>
                    </a:solidFill>
                    <a:cs typeface="Arial" panose="020B0604020202020204" pitchFamily="34" charset="0"/>
                  </a:rPr>
                  <a:t>T</a:t>
                </a:r>
                <a:r>
                  <a:rPr lang="en-US" altLang="zh-CN" sz="2400" baseline="-25000">
                    <a:solidFill>
                      <a:schemeClr val="accent1"/>
                    </a:solidFill>
                    <a:cs typeface="Arial" panose="020B0604020202020204" pitchFamily="34" charset="0"/>
                  </a:rPr>
                  <a:t> 2</a:t>
                </a:r>
              </a:p>
            </p:txBody>
          </p:sp>
        </p:grpSp>
      </p:grpSp>
      <p:sp>
        <p:nvSpPr>
          <p:cNvPr id="167981" name="Text Box 45"/>
          <p:cNvSpPr txBox="1">
            <a:spLocks noChangeArrowheads="1"/>
          </p:cNvSpPr>
          <p:nvPr/>
        </p:nvSpPr>
        <p:spPr bwMode="auto">
          <a:xfrm>
            <a:off x="539750" y="4581525"/>
            <a:ext cx="3657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type="none" w="med" len="lg"/>
                <a:tailEnd type="none" w="med" len="lg"/>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hlink"/>
              </a:buClr>
              <a:buFont typeface="Wingdings" panose="05000000000000000000" pitchFamily="2" charset="2"/>
              <a:buNone/>
            </a:pPr>
            <a:r>
              <a:rPr lang="zh-CN" altLang="en-US" sz="2400" b="1">
                <a:solidFill>
                  <a:schemeClr val="bg1"/>
                </a:solidFill>
                <a:ea typeface="楷体_GB2312"/>
                <a:cs typeface="楷体_GB2312"/>
              </a:rPr>
              <a:t>随</a:t>
            </a:r>
            <a:r>
              <a:rPr lang="en-US" altLang="zh-CN" sz="2400" b="1" i="1">
                <a:solidFill>
                  <a:schemeClr val="bg1"/>
                </a:solidFill>
                <a:ea typeface="楷体_GB2312"/>
                <a:cs typeface="楷体_GB2312"/>
              </a:rPr>
              <a:t>m </a:t>
            </a:r>
            <a:r>
              <a:rPr lang="zh-CN" altLang="en-US" sz="2400" b="1">
                <a:solidFill>
                  <a:schemeClr val="bg1"/>
                </a:solidFill>
                <a:ea typeface="楷体_GB2312"/>
                <a:cs typeface="楷体_GB2312"/>
              </a:rPr>
              <a:t>增大而减小。</a:t>
            </a:r>
            <a:r>
              <a:rPr lang="zh-CN" altLang="en-US" sz="2400" b="1">
                <a:solidFill>
                  <a:srgbClr val="FF3300"/>
                </a:solidFill>
                <a:cs typeface="Arial" panose="020B0604020202020204" pitchFamily="34" charset="0"/>
              </a:rPr>
              <a:t>速率小的分子数越多</a:t>
            </a:r>
            <a:r>
              <a:rPr lang="en-US" altLang="zh-CN" sz="2400" b="1">
                <a:solidFill>
                  <a:schemeClr val="bg1"/>
                </a:solidFill>
                <a:cs typeface="Arial" panose="020B0604020202020204" pitchFamily="34" charset="0"/>
              </a:rPr>
              <a:t>,</a:t>
            </a:r>
            <a:r>
              <a:rPr lang="zh-CN" altLang="en-US" sz="2400" b="1">
                <a:solidFill>
                  <a:schemeClr val="bg1"/>
                </a:solidFill>
                <a:latin typeface="Century Schoolbook" panose="02040604050505020304" pitchFamily="18" charset="0"/>
                <a:cs typeface="Arial" panose="020B0604020202020204" pitchFamily="34" charset="0"/>
              </a:rPr>
              <a:t>曲线的峰值左移</a:t>
            </a:r>
            <a:r>
              <a:rPr lang="en-US" altLang="zh-CN" sz="2400" b="1">
                <a:solidFill>
                  <a:schemeClr val="bg1"/>
                </a:solidFill>
                <a:latin typeface="Century Schoolbook" panose="02040604050505020304" pitchFamily="18" charset="0"/>
                <a:cs typeface="Arial" panose="020B0604020202020204" pitchFamily="34" charset="0"/>
              </a:rPr>
              <a:t>,</a:t>
            </a:r>
            <a:r>
              <a:rPr lang="zh-CN" altLang="en-US" sz="2400" b="1">
                <a:solidFill>
                  <a:schemeClr val="bg1"/>
                </a:solidFill>
                <a:latin typeface="Century Schoolbook" panose="02040604050505020304" pitchFamily="18" charset="0"/>
                <a:cs typeface="Arial" panose="020B0604020202020204" pitchFamily="34" charset="0"/>
              </a:rPr>
              <a:t>由于曲线下面积为</a:t>
            </a:r>
            <a:r>
              <a:rPr lang="en-US" altLang="zh-CN" sz="2400">
                <a:solidFill>
                  <a:schemeClr val="bg1"/>
                </a:solidFill>
                <a:latin typeface="Century Schoolbook" panose="02040604050505020304" pitchFamily="18" charset="0"/>
                <a:cs typeface="Arial" panose="020B0604020202020204" pitchFamily="34" charset="0"/>
              </a:rPr>
              <a:t>1</a:t>
            </a:r>
            <a:r>
              <a:rPr lang="zh-CN" altLang="en-US" sz="2400" b="1">
                <a:solidFill>
                  <a:schemeClr val="bg1"/>
                </a:solidFill>
                <a:latin typeface="Century Schoolbook" panose="02040604050505020304" pitchFamily="18" charset="0"/>
                <a:cs typeface="Arial" panose="020B0604020202020204" pitchFamily="34" charset="0"/>
              </a:rPr>
              <a:t>不变，所以峰值升高。</a:t>
            </a:r>
          </a:p>
        </p:txBody>
      </p:sp>
      <p:sp>
        <p:nvSpPr>
          <p:cNvPr id="167982" name="Rectangle 46"/>
          <p:cNvSpPr>
            <a:spLocks noChangeArrowheads="1"/>
          </p:cNvSpPr>
          <p:nvPr/>
        </p:nvSpPr>
        <p:spPr bwMode="auto">
          <a:xfrm>
            <a:off x="107950" y="1203325"/>
            <a:ext cx="47513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pPr>
            <a:r>
              <a:rPr lang="zh-CN" altLang="en-US" sz="3600" b="1">
                <a:solidFill>
                  <a:srgbClr val="0000FF"/>
                </a:solidFill>
                <a:ea typeface="楷体_GB2312"/>
                <a:cs typeface="楷体_GB2312"/>
              </a:rPr>
              <a:t>同种气体，不同温度</a:t>
            </a:r>
          </a:p>
        </p:txBody>
      </p:sp>
      <p:sp>
        <p:nvSpPr>
          <p:cNvPr id="167983" name="Rectangle 47"/>
          <p:cNvSpPr>
            <a:spLocks noChangeArrowheads="1"/>
          </p:cNvSpPr>
          <p:nvPr/>
        </p:nvSpPr>
        <p:spPr bwMode="auto">
          <a:xfrm>
            <a:off x="107950" y="3500438"/>
            <a:ext cx="48244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pPr>
            <a:r>
              <a:rPr lang="en-US" altLang="zh-CN" sz="3600" b="1">
                <a:solidFill>
                  <a:srgbClr val="0000FF"/>
                </a:solidFill>
                <a:ea typeface="楷体_GB2312"/>
                <a:cs typeface="楷体_GB2312"/>
              </a:rPr>
              <a:t> </a:t>
            </a:r>
            <a:r>
              <a:rPr lang="zh-CN" altLang="en-US" sz="3600" b="1">
                <a:solidFill>
                  <a:srgbClr val="0000FF"/>
                </a:solidFill>
                <a:ea typeface="楷体_GB2312"/>
                <a:cs typeface="楷体_GB2312"/>
              </a:rPr>
              <a:t>相同温度下不同气体</a:t>
            </a:r>
          </a:p>
        </p:txBody>
      </p:sp>
      <p:pic>
        <p:nvPicPr>
          <p:cNvPr id="48" name="Picture 11">
            <a:extLst>
              <a:ext uri="{FF2B5EF4-FFF2-40B4-BE49-F238E27FC236}">
                <a16:creationId xmlns:a16="http://schemas.microsoft.com/office/drawing/2014/main" id="{2B4C1A90-0A88-4CEF-B2BA-DDEE7B4AB6A3}"/>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452320" y="30372"/>
            <a:ext cx="1617107" cy="1073274"/>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7938"/>
                                        </p:tgtEl>
                                        <p:attrNameLst>
                                          <p:attrName>style.visibility</p:attrName>
                                        </p:attrNameLst>
                                      </p:cBhvr>
                                      <p:to>
                                        <p:strVal val="visible"/>
                                      </p:to>
                                    </p:set>
                                    <p:animEffect transition="in" filter="wipe(left)">
                                      <p:cBhvr>
                                        <p:cTn id="12" dur="500"/>
                                        <p:tgtEl>
                                          <p:spTgt spid="1679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7940"/>
                                        </p:tgtEl>
                                        <p:attrNameLst>
                                          <p:attrName>style.visibility</p:attrName>
                                        </p:attrNameLst>
                                      </p:cBhvr>
                                      <p:to>
                                        <p:strVal val="visible"/>
                                      </p:to>
                                    </p:set>
                                    <p:animEffect transition="in" filter="wipe(left)">
                                      <p:cBhvr>
                                        <p:cTn id="17" dur="500"/>
                                        <p:tgtEl>
                                          <p:spTgt spid="167940"/>
                                        </p:tgtEl>
                                      </p:cBhvr>
                                    </p:animEffect>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grpId="0" nodeType="clickEffect">
                                  <p:stCondLst>
                                    <p:cond delay="0"/>
                                  </p:stCondLst>
                                  <p:childTnLst>
                                    <p:set>
                                      <p:cBhvr>
                                        <p:cTn id="21" dur="1" fill="hold">
                                          <p:stCondLst>
                                            <p:cond delay="0"/>
                                          </p:stCondLst>
                                        </p:cTn>
                                        <p:tgtEl>
                                          <p:spTgt spid="167982"/>
                                        </p:tgtEl>
                                        <p:attrNameLst>
                                          <p:attrName>style.visibility</p:attrName>
                                        </p:attrNameLst>
                                      </p:cBhvr>
                                      <p:to>
                                        <p:strVal val="visible"/>
                                      </p:to>
                                    </p:set>
                                    <p:anim calcmode="lin" valueType="num">
                                      <p:cBhvr>
                                        <p:cTn id="22" dur="1000" fill="hold"/>
                                        <p:tgtEl>
                                          <p:spTgt spid="167982"/>
                                        </p:tgtEl>
                                        <p:attrNameLst>
                                          <p:attrName>ppt_w</p:attrName>
                                        </p:attrNameLst>
                                      </p:cBhvr>
                                      <p:tavLst>
                                        <p:tav tm="0">
                                          <p:val>
                                            <p:fltVal val="0"/>
                                          </p:val>
                                        </p:tav>
                                        <p:tav tm="100000">
                                          <p:val>
                                            <p:strVal val="#ppt_w"/>
                                          </p:val>
                                        </p:tav>
                                      </p:tavLst>
                                    </p:anim>
                                    <p:anim calcmode="lin" valueType="num">
                                      <p:cBhvr>
                                        <p:cTn id="23" dur="1000" fill="hold"/>
                                        <p:tgtEl>
                                          <p:spTgt spid="167982"/>
                                        </p:tgtEl>
                                        <p:attrNameLst>
                                          <p:attrName>ppt_h</p:attrName>
                                        </p:attrNameLst>
                                      </p:cBhvr>
                                      <p:tavLst>
                                        <p:tav tm="0">
                                          <p:val>
                                            <p:fltVal val="0"/>
                                          </p:val>
                                        </p:tav>
                                        <p:tav tm="100000">
                                          <p:val>
                                            <p:strVal val="#ppt_h"/>
                                          </p:val>
                                        </p:tav>
                                      </p:tavLst>
                                    </p:anim>
                                    <p:anim calcmode="lin" valueType="num">
                                      <p:cBhvr>
                                        <p:cTn id="24" dur="1000" fill="hold"/>
                                        <p:tgtEl>
                                          <p:spTgt spid="167982"/>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16798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9" presetClass="entr" presetSubtype="10" fill="hold" nodeType="clickEffect">
                                  <p:stCondLst>
                                    <p:cond delay="0"/>
                                  </p:stCondLst>
                                  <p:childTnLst>
                                    <p:set>
                                      <p:cBhvr>
                                        <p:cTn id="33" dur="1" fill="hold">
                                          <p:stCondLst>
                                            <p:cond delay="0"/>
                                          </p:stCondLst>
                                        </p:cTn>
                                        <p:tgtEl>
                                          <p:spTgt spid="167961"/>
                                        </p:tgtEl>
                                        <p:attrNameLst>
                                          <p:attrName>style.visibility</p:attrName>
                                        </p:attrNameLst>
                                      </p:cBhvr>
                                      <p:to>
                                        <p:strVal val="visible"/>
                                      </p:to>
                                    </p:set>
                                    <p:anim calcmode="lin" valueType="num">
                                      <p:cBhvr>
                                        <p:cTn id="34" dur="5000" fill="hold"/>
                                        <p:tgtEl>
                                          <p:spTgt spid="167961"/>
                                        </p:tgtEl>
                                        <p:attrNameLst>
                                          <p:attrName>ppt_w</p:attrName>
                                        </p:attrNameLst>
                                      </p:cBhvr>
                                      <p:tavLst>
                                        <p:tav tm="0" fmla="#ppt_w*sin(2.5*pi*$)">
                                          <p:val>
                                            <p:fltVal val="0"/>
                                          </p:val>
                                        </p:tav>
                                        <p:tav tm="100000">
                                          <p:val>
                                            <p:fltVal val="1"/>
                                          </p:val>
                                        </p:tav>
                                      </p:tavLst>
                                    </p:anim>
                                    <p:anim calcmode="lin" valueType="num">
                                      <p:cBhvr>
                                        <p:cTn id="35" dur="5000" fill="hold"/>
                                        <p:tgtEl>
                                          <p:spTgt spid="167961"/>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67939">
                                            <p:txEl>
                                              <p:pRg st="0" end="0"/>
                                            </p:txEl>
                                          </p:spTgt>
                                        </p:tgtEl>
                                        <p:attrNameLst>
                                          <p:attrName>style.visibility</p:attrName>
                                        </p:attrNameLst>
                                      </p:cBhvr>
                                      <p:to>
                                        <p:strVal val="visible"/>
                                      </p:to>
                                    </p:set>
                                    <p:animEffect transition="in" filter="wipe(left)">
                                      <p:cBhvr>
                                        <p:cTn id="40" dur="500"/>
                                        <p:tgtEl>
                                          <p:spTgt spid="16793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167983"/>
                                        </p:tgtEl>
                                        <p:attrNameLst>
                                          <p:attrName>style.visibility</p:attrName>
                                        </p:attrNameLst>
                                      </p:cBhvr>
                                      <p:to>
                                        <p:strVal val="visible"/>
                                      </p:to>
                                    </p:set>
                                    <p:anim calcmode="lin" valueType="num">
                                      <p:cBhvr>
                                        <p:cTn id="45" dur="500" fill="hold"/>
                                        <p:tgtEl>
                                          <p:spTgt spid="167983"/>
                                        </p:tgtEl>
                                        <p:attrNameLst>
                                          <p:attrName>ppt_w</p:attrName>
                                        </p:attrNameLst>
                                      </p:cBhvr>
                                      <p:tavLst>
                                        <p:tav tm="0">
                                          <p:val>
                                            <p:fltVal val="0"/>
                                          </p:val>
                                        </p:tav>
                                        <p:tav tm="100000">
                                          <p:val>
                                            <p:strVal val="#ppt_w"/>
                                          </p:val>
                                        </p:tav>
                                      </p:tavLst>
                                    </p:anim>
                                    <p:anim calcmode="lin" valueType="num">
                                      <p:cBhvr>
                                        <p:cTn id="46" dur="500" fill="hold"/>
                                        <p:tgtEl>
                                          <p:spTgt spid="167983"/>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9" presetClass="entr" presetSubtype="10" fill="hold" nodeType="clickEffect">
                                  <p:stCondLst>
                                    <p:cond delay="0"/>
                                  </p:stCondLst>
                                  <p:childTnLst>
                                    <p:set>
                                      <p:cBhvr>
                                        <p:cTn id="54" dur="1" fill="hold">
                                          <p:stCondLst>
                                            <p:cond delay="0"/>
                                          </p:stCondLst>
                                        </p:cTn>
                                        <p:tgtEl>
                                          <p:spTgt spid="167941"/>
                                        </p:tgtEl>
                                        <p:attrNameLst>
                                          <p:attrName>style.visibility</p:attrName>
                                        </p:attrNameLst>
                                      </p:cBhvr>
                                      <p:to>
                                        <p:strVal val="visible"/>
                                      </p:to>
                                    </p:set>
                                    <p:anim calcmode="lin" valueType="num">
                                      <p:cBhvr>
                                        <p:cTn id="55" dur="5000" fill="hold"/>
                                        <p:tgtEl>
                                          <p:spTgt spid="167941"/>
                                        </p:tgtEl>
                                        <p:attrNameLst>
                                          <p:attrName>ppt_w</p:attrName>
                                        </p:attrNameLst>
                                      </p:cBhvr>
                                      <p:tavLst>
                                        <p:tav tm="0" fmla="#ppt_w*sin(2.5*pi*$)">
                                          <p:val>
                                            <p:fltVal val="0"/>
                                          </p:val>
                                        </p:tav>
                                        <p:tav tm="100000">
                                          <p:val>
                                            <p:fltVal val="1"/>
                                          </p:val>
                                        </p:tav>
                                      </p:tavLst>
                                    </p:anim>
                                    <p:anim calcmode="lin" valueType="num">
                                      <p:cBhvr>
                                        <p:cTn id="56" dur="5000" fill="hold"/>
                                        <p:tgtEl>
                                          <p:spTgt spid="167941"/>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288" fill="hold" grpId="0" nodeType="clickEffect">
                                  <p:stCondLst>
                                    <p:cond delay="0"/>
                                  </p:stCondLst>
                                  <p:iterate type="lt">
                                    <p:tmPct val="100000"/>
                                  </p:iterate>
                                  <p:childTnLst>
                                    <p:set>
                                      <p:cBhvr>
                                        <p:cTn id="60" dur="1" fill="hold">
                                          <p:stCondLst>
                                            <p:cond delay="0"/>
                                          </p:stCondLst>
                                        </p:cTn>
                                        <p:tgtEl>
                                          <p:spTgt spid="167981"/>
                                        </p:tgtEl>
                                        <p:attrNameLst>
                                          <p:attrName>style.visibility</p:attrName>
                                        </p:attrNameLst>
                                      </p:cBhvr>
                                      <p:to>
                                        <p:strVal val="visible"/>
                                      </p:to>
                                    </p:set>
                                    <p:anim calcmode="lin" valueType="num">
                                      <p:cBhvr>
                                        <p:cTn id="61" dur="75" fill="hold"/>
                                        <p:tgtEl>
                                          <p:spTgt spid="167981"/>
                                        </p:tgtEl>
                                        <p:attrNameLst>
                                          <p:attrName>ppt_w</p:attrName>
                                        </p:attrNameLst>
                                      </p:cBhvr>
                                      <p:tavLst>
                                        <p:tav tm="0">
                                          <p:val>
                                            <p:strVal val="4/3*#ppt_w"/>
                                          </p:val>
                                        </p:tav>
                                        <p:tav tm="100000">
                                          <p:val>
                                            <p:strVal val="#ppt_w"/>
                                          </p:val>
                                        </p:tav>
                                      </p:tavLst>
                                    </p:anim>
                                    <p:anim calcmode="lin" valueType="num">
                                      <p:cBhvr>
                                        <p:cTn id="62" dur="75" fill="hold"/>
                                        <p:tgtEl>
                                          <p:spTgt spid="16798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8" grpId="0" autoUpdateAnimBg="0"/>
      <p:bldP spid="167939" grpId="0" build="allAtOnce" autoUpdateAnimBg="0"/>
      <p:bldP spid="167981" grpId="0" autoUpdateAnimBg="0"/>
      <p:bldP spid="167982" grpId="0"/>
      <p:bldP spid="167983"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304800" y="354013"/>
            <a:ext cx="4038600"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solidFill>
                  <a:schemeClr val="folHlink"/>
                </a:solidFill>
                <a:cs typeface="Arial" panose="020B0604020202020204" pitchFamily="34" charset="0"/>
              </a:rPr>
              <a:t>三种速率的应用</a:t>
            </a:r>
            <a:r>
              <a:rPr lang="zh-CN" altLang="en-US" sz="2800" b="1">
                <a:cs typeface="Arial" panose="020B0604020202020204" pitchFamily="34" charset="0"/>
              </a:rPr>
              <a:t>，就不同的问题有着各自的应用。         </a:t>
            </a:r>
          </a:p>
          <a:p>
            <a:pPr eaLnBrk="1" hangingPunct="1">
              <a:spcBef>
                <a:spcPct val="0"/>
              </a:spcBef>
              <a:buClrTx/>
              <a:buFontTx/>
              <a:buNone/>
            </a:pPr>
            <a:r>
              <a:rPr lang="zh-CN" altLang="en-US" sz="2800" b="1">
                <a:cs typeface="Arial" panose="020B0604020202020204" pitchFamily="34" charset="0"/>
              </a:rPr>
              <a:t>         在讨论速率分布时，就要用到大量分子的</a:t>
            </a:r>
            <a:r>
              <a:rPr lang="zh-CN" altLang="en-US" sz="2800" b="1">
                <a:solidFill>
                  <a:schemeClr val="folHlink"/>
                </a:solidFill>
                <a:cs typeface="Arial" panose="020B0604020202020204" pitchFamily="34" charset="0"/>
              </a:rPr>
              <a:t>最概然速率</a:t>
            </a:r>
            <a:r>
              <a:rPr lang="en-US" altLang="zh-CN" sz="2800" b="1">
                <a:solidFill>
                  <a:schemeClr val="accent2"/>
                </a:solidFill>
                <a:cs typeface="Arial" panose="020B0604020202020204" pitchFamily="34" charset="0"/>
              </a:rPr>
              <a:t>most probable speed</a:t>
            </a:r>
            <a:r>
              <a:rPr lang="en-US" altLang="zh-CN" sz="2800" b="1">
                <a:solidFill>
                  <a:schemeClr val="folHlink"/>
                </a:solidFill>
                <a:cs typeface="Arial" panose="020B0604020202020204" pitchFamily="34" charset="0"/>
              </a:rPr>
              <a:t> </a:t>
            </a:r>
            <a:r>
              <a:rPr lang="zh-CN" altLang="en-US" sz="2800" b="1">
                <a:cs typeface="Arial" panose="020B0604020202020204" pitchFamily="34" charset="0"/>
              </a:rPr>
              <a:t>；</a:t>
            </a:r>
          </a:p>
          <a:p>
            <a:pPr eaLnBrk="1" hangingPunct="1">
              <a:spcBef>
                <a:spcPct val="0"/>
              </a:spcBef>
              <a:buClrTx/>
              <a:buFontTx/>
              <a:buNone/>
            </a:pPr>
            <a:r>
              <a:rPr lang="zh-CN" altLang="en-US" sz="2800" b="1">
                <a:cs typeface="Arial" panose="020B0604020202020204" pitchFamily="34" charset="0"/>
              </a:rPr>
              <a:t>       在计算分子运动的平均距离时，要用到</a:t>
            </a:r>
            <a:r>
              <a:rPr lang="zh-CN" altLang="en-US" sz="2800" b="1">
                <a:solidFill>
                  <a:schemeClr val="folHlink"/>
                </a:solidFill>
                <a:cs typeface="Arial" panose="020B0604020202020204" pitchFamily="34" charset="0"/>
              </a:rPr>
              <a:t>平均速率</a:t>
            </a:r>
            <a:r>
              <a:rPr lang="en-US" altLang="zh-CN" sz="2800" b="1">
                <a:solidFill>
                  <a:schemeClr val="accent2"/>
                </a:solidFill>
                <a:cs typeface="Arial" panose="020B0604020202020204" pitchFamily="34" charset="0"/>
              </a:rPr>
              <a:t>average speed</a:t>
            </a:r>
            <a:r>
              <a:rPr lang="en-US" altLang="zh-CN" sz="2800" b="1">
                <a:solidFill>
                  <a:schemeClr val="folHlink"/>
                </a:solidFill>
                <a:cs typeface="Arial" panose="020B0604020202020204" pitchFamily="34" charset="0"/>
              </a:rPr>
              <a:t> </a:t>
            </a:r>
            <a:r>
              <a:rPr lang="zh-CN" altLang="en-US" sz="2800" b="1">
                <a:cs typeface="Arial" panose="020B0604020202020204" pitchFamily="34" charset="0"/>
              </a:rPr>
              <a:t>；</a:t>
            </a:r>
          </a:p>
          <a:p>
            <a:pPr eaLnBrk="1" hangingPunct="1">
              <a:spcBef>
                <a:spcPct val="0"/>
              </a:spcBef>
              <a:buClrTx/>
              <a:buFontTx/>
              <a:buNone/>
            </a:pPr>
            <a:r>
              <a:rPr lang="zh-CN" altLang="en-US" sz="2800" b="1">
                <a:cs typeface="Arial" panose="020B0604020202020204" pitchFamily="34" charset="0"/>
              </a:rPr>
              <a:t>       在计算分子平均平动动能时要用</a:t>
            </a:r>
            <a:r>
              <a:rPr lang="zh-CN" altLang="en-US" sz="2800" b="1">
                <a:solidFill>
                  <a:schemeClr val="folHlink"/>
                </a:solidFill>
                <a:cs typeface="Arial" panose="020B0604020202020204" pitchFamily="34" charset="0"/>
              </a:rPr>
              <a:t>方均根速率</a:t>
            </a:r>
            <a:r>
              <a:rPr lang="en-US" altLang="zh-CN" sz="2800" b="1">
                <a:solidFill>
                  <a:schemeClr val="accent2"/>
                </a:solidFill>
                <a:cs typeface="Arial" panose="020B0604020202020204" pitchFamily="34" charset="0"/>
              </a:rPr>
              <a:t>root-mean-square speed</a:t>
            </a:r>
            <a:r>
              <a:rPr lang="en-US" altLang="zh-CN" sz="2800" b="1">
                <a:solidFill>
                  <a:schemeClr val="folHlink"/>
                </a:solidFill>
                <a:cs typeface="Arial" panose="020B0604020202020204" pitchFamily="34" charset="0"/>
              </a:rPr>
              <a:t> </a:t>
            </a:r>
            <a:r>
              <a:rPr lang="zh-CN" altLang="en-US" sz="2800" b="1">
                <a:cs typeface="Arial" panose="020B0604020202020204" pitchFamily="34" charset="0"/>
              </a:rPr>
              <a:t>。</a:t>
            </a:r>
          </a:p>
          <a:p>
            <a:pPr eaLnBrk="1" hangingPunct="1">
              <a:spcBef>
                <a:spcPct val="0"/>
              </a:spcBef>
              <a:buClrTx/>
              <a:buFontTx/>
              <a:buNone/>
            </a:pPr>
            <a:r>
              <a:rPr lang="zh-CN" altLang="en-US" sz="2800" b="1">
                <a:solidFill>
                  <a:schemeClr val="folHlink"/>
                </a:solidFill>
                <a:cs typeface="Arial" panose="020B0604020202020204" pitchFamily="34" charset="0"/>
              </a:rPr>
              <a:t>      </a:t>
            </a:r>
          </a:p>
        </p:txBody>
      </p:sp>
      <p:graphicFrame>
        <p:nvGraphicFramePr>
          <p:cNvPr id="46083" name="Object 3"/>
          <p:cNvGraphicFramePr>
            <a:graphicFrameLocks noChangeAspect="1"/>
          </p:cNvGraphicFramePr>
          <p:nvPr/>
        </p:nvGraphicFramePr>
        <p:xfrm>
          <a:off x="4429125" y="457200"/>
          <a:ext cx="4714875" cy="3038475"/>
        </p:xfrm>
        <a:graphic>
          <a:graphicData uri="http://schemas.openxmlformats.org/presentationml/2006/ole">
            <mc:AlternateContent xmlns:mc="http://schemas.openxmlformats.org/markup-compatibility/2006">
              <mc:Choice xmlns:v="urn:schemas-microsoft-com:vml" Requires="v">
                <p:oleObj spid="_x0000_s35144" name="BMP 图像" r:id="rId3" imgW="4715533" imgH="3038095" progId="Paint.Picture">
                  <p:embed/>
                </p:oleObj>
              </mc:Choice>
              <mc:Fallback>
                <p:oleObj name="BMP 图像" r:id="rId3" imgW="4715533" imgH="3038095"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4429125" y="457200"/>
                        <a:ext cx="4714875" cy="303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4" name="Object 4"/>
          <p:cNvGraphicFramePr>
            <a:graphicFrameLocks noChangeAspect="1"/>
          </p:cNvGraphicFramePr>
          <p:nvPr/>
        </p:nvGraphicFramePr>
        <p:xfrm>
          <a:off x="611188" y="5954713"/>
          <a:ext cx="2819400" cy="903287"/>
        </p:xfrm>
        <a:graphic>
          <a:graphicData uri="http://schemas.openxmlformats.org/presentationml/2006/ole">
            <mc:AlternateContent xmlns:mc="http://schemas.openxmlformats.org/markup-compatibility/2006">
              <mc:Choice xmlns:v="urn:schemas-microsoft-com:vml" Requires="v">
                <p:oleObj spid="_x0000_s35145" name="公式" r:id="rId5" imgW="1625600" imgH="520700" progId="Equation.3">
                  <p:embed/>
                </p:oleObj>
              </mc:Choice>
              <mc:Fallback>
                <p:oleObj name="公式" r:id="rId5" imgW="1625600" imgH="520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5954713"/>
                        <a:ext cx="2819400" cy="9032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76" name="Object 1048"/>
          <p:cNvGraphicFramePr>
            <a:graphicFrameLocks noChangeAspect="1"/>
          </p:cNvGraphicFramePr>
          <p:nvPr/>
        </p:nvGraphicFramePr>
        <p:xfrm>
          <a:off x="4840288" y="3790950"/>
          <a:ext cx="3376612" cy="950913"/>
        </p:xfrm>
        <a:graphic>
          <a:graphicData uri="http://schemas.openxmlformats.org/presentationml/2006/ole">
            <mc:AlternateContent xmlns:mc="http://schemas.openxmlformats.org/markup-compatibility/2006">
              <mc:Choice xmlns:v="urn:schemas-microsoft-com:vml" Requires="v">
                <p:oleObj spid="_x0000_s35146" name="Equation" r:id="rId7" imgW="2082800" imgH="482600" progId="Equation.DSMT4">
                  <p:embed/>
                </p:oleObj>
              </mc:Choice>
              <mc:Fallback>
                <p:oleObj name="Equation" r:id="rId7" imgW="2082800" imgH="482600" progId="Equation.DSMT4">
                  <p:embed/>
                  <p:pic>
                    <p:nvPicPr>
                      <p:cNvPr id="0" name="Object 104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40288" y="3790950"/>
                        <a:ext cx="3376612" cy="950913"/>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77" name="Object 1049"/>
          <p:cNvGraphicFramePr>
            <a:graphicFrameLocks noChangeAspect="1"/>
          </p:cNvGraphicFramePr>
          <p:nvPr/>
        </p:nvGraphicFramePr>
        <p:xfrm>
          <a:off x="4745038" y="4797425"/>
          <a:ext cx="4035425" cy="942975"/>
        </p:xfrm>
        <a:graphic>
          <a:graphicData uri="http://schemas.openxmlformats.org/presentationml/2006/ole">
            <mc:AlternateContent xmlns:mc="http://schemas.openxmlformats.org/markup-compatibility/2006">
              <mc:Choice xmlns:v="urn:schemas-microsoft-com:vml" Requires="v">
                <p:oleObj spid="_x0000_s35147" name="Equation" r:id="rId9" imgW="2057400" imgH="482600" progId="Equation.DSMT4">
                  <p:embed/>
                </p:oleObj>
              </mc:Choice>
              <mc:Fallback>
                <p:oleObj name="Equation" r:id="rId9" imgW="2057400" imgH="482600" progId="Equation.DSMT4">
                  <p:embed/>
                  <p:pic>
                    <p:nvPicPr>
                      <p:cNvPr id="0" name="Object 10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45038" y="4797425"/>
                        <a:ext cx="4035425" cy="9429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78" name="Object 1050"/>
          <p:cNvGraphicFramePr>
            <a:graphicFrameLocks noChangeAspect="1"/>
          </p:cNvGraphicFramePr>
          <p:nvPr/>
        </p:nvGraphicFramePr>
        <p:xfrm>
          <a:off x="4486275" y="5857875"/>
          <a:ext cx="4433888" cy="1000125"/>
        </p:xfrm>
        <a:graphic>
          <a:graphicData uri="http://schemas.openxmlformats.org/presentationml/2006/ole">
            <mc:AlternateContent xmlns:mc="http://schemas.openxmlformats.org/markup-compatibility/2006">
              <mc:Choice xmlns:v="urn:schemas-microsoft-com:vml" Requires="v">
                <p:oleObj spid="_x0000_s35148" name="Equation" r:id="rId11" imgW="2133600" imgH="482600" progId="Equation.DSMT4">
                  <p:embed/>
                </p:oleObj>
              </mc:Choice>
              <mc:Fallback>
                <p:oleObj name="Equation" r:id="rId11" imgW="2133600" imgH="482600" progId="Equation.DSMT4">
                  <p:embed/>
                  <p:pic>
                    <p:nvPicPr>
                      <p:cNvPr id="0" name="Object 10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86275" y="5857875"/>
                        <a:ext cx="4433888" cy="100012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46083"/>
                                        </p:tgtEl>
                                        <p:attrNameLst>
                                          <p:attrName>style.visibility</p:attrName>
                                        </p:attrNameLst>
                                      </p:cBhvr>
                                      <p:to>
                                        <p:strVal val="visible"/>
                                      </p:to>
                                    </p:set>
                                    <p:anim calcmode="lin" valueType="num">
                                      <p:cBhvr additive="base">
                                        <p:cTn id="7" dur="500" fill="hold"/>
                                        <p:tgtEl>
                                          <p:spTgt spid="46083"/>
                                        </p:tgtEl>
                                        <p:attrNameLst>
                                          <p:attrName>ppt_x</p:attrName>
                                        </p:attrNameLst>
                                      </p:cBhvr>
                                      <p:tavLst>
                                        <p:tav tm="0">
                                          <p:val>
                                            <p:strVal val="0-#ppt_w/2"/>
                                          </p:val>
                                        </p:tav>
                                        <p:tav tm="100000">
                                          <p:val>
                                            <p:strVal val="#ppt_x"/>
                                          </p:val>
                                        </p:tav>
                                      </p:tavLst>
                                    </p:anim>
                                    <p:anim calcmode="lin" valueType="num">
                                      <p:cBhvr additive="base">
                                        <p:cTn id="8" dur="500" fill="hold"/>
                                        <p:tgtEl>
                                          <p:spTgt spid="4608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46082">
                                            <p:txEl>
                                              <p:pRg st="0" end="0"/>
                                            </p:txEl>
                                          </p:spTgt>
                                        </p:tgtEl>
                                        <p:attrNameLst>
                                          <p:attrName>style.visibility</p:attrName>
                                        </p:attrNameLst>
                                      </p:cBhvr>
                                      <p:to>
                                        <p:strVal val="visible"/>
                                      </p:to>
                                    </p:set>
                                    <p:animEffect transition="in" filter="barn(inHorizontal)">
                                      <p:cBhvr>
                                        <p:cTn id="13" dur="500"/>
                                        <p:tgtEl>
                                          <p:spTgt spid="46082">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26" fill="hold" grpId="0" nodeType="clickEffect">
                                  <p:stCondLst>
                                    <p:cond delay="0"/>
                                  </p:stCondLst>
                                  <p:childTnLst>
                                    <p:set>
                                      <p:cBhvr>
                                        <p:cTn id="17" dur="1" fill="hold">
                                          <p:stCondLst>
                                            <p:cond delay="0"/>
                                          </p:stCondLst>
                                        </p:cTn>
                                        <p:tgtEl>
                                          <p:spTgt spid="46082">
                                            <p:txEl>
                                              <p:pRg st="1" end="1"/>
                                            </p:txEl>
                                          </p:spTgt>
                                        </p:tgtEl>
                                        <p:attrNameLst>
                                          <p:attrName>style.visibility</p:attrName>
                                        </p:attrNameLst>
                                      </p:cBhvr>
                                      <p:to>
                                        <p:strVal val="visible"/>
                                      </p:to>
                                    </p:set>
                                    <p:animEffect transition="in" filter="barn(inHorizontal)">
                                      <p:cBhvr>
                                        <p:cTn id="18" dur="500"/>
                                        <p:tgtEl>
                                          <p:spTgt spid="46082">
                                            <p:txEl>
                                              <p:pRg st="1" end="1"/>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6" fill="hold" grpId="0" nodeType="clickEffect">
                                  <p:stCondLst>
                                    <p:cond delay="0"/>
                                  </p:stCondLst>
                                  <p:childTnLst>
                                    <p:set>
                                      <p:cBhvr>
                                        <p:cTn id="22" dur="1" fill="hold">
                                          <p:stCondLst>
                                            <p:cond delay="0"/>
                                          </p:stCondLst>
                                        </p:cTn>
                                        <p:tgtEl>
                                          <p:spTgt spid="46082">
                                            <p:txEl>
                                              <p:pRg st="2" end="2"/>
                                            </p:txEl>
                                          </p:spTgt>
                                        </p:tgtEl>
                                        <p:attrNameLst>
                                          <p:attrName>style.visibility</p:attrName>
                                        </p:attrNameLst>
                                      </p:cBhvr>
                                      <p:to>
                                        <p:strVal val="visible"/>
                                      </p:to>
                                    </p:set>
                                    <p:animEffect transition="in" filter="barn(inHorizontal)">
                                      <p:cBhvr>
                                        <p:cTn id="23" dur="500"/>
                                        <p:tgtEl>
                                          <p:spTgt spid="46082">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6" presetClass="entr" presetSubtype="26" fill="hold" grpId="0" nodeType="clickEffect">
                                  <p:stCondLst>
                                    <p:cond delay="0"/>
                                  </p:stCondLst>
                                  <p:childTnLst>
                                    <p:set>
                                      <p:cBhvr>
                                        <p:cTn id="27" dur="1" fill="hold">
                                          <p:stCondLst>
                                            <p:cond delay="0"/>
                                          </p:stCondLst>
                                        </p:cTn>
                                        <p:tgtEl>
                                          <p:spTgt spid="46082">
                                            <p:txEl>
                                              <p:pRg st="3" end="3"/>
                                            </p:txEl>
                                          </p:spTgt>
                                        </p:tgtEl>
                                        <p:attrNameLst>
                                          <p:attrName>style.visibility</p:attrName>
                                        </p:attrNameLst>
                                      </p:cBhvr>
                                      <p:to>
                                        <p:strVal val="visible"/>
                                      </p:to>
                                    </p:set>
                                    <p:animEffect transition="in" filter="barn(inHorizontal)">
                                      <p:cBhvr>
                                        <p:cTn id="28" dur="500"/>
                                        <p:tgtEl>
                                          <p:spTgt spid="46082">
                                            <p:txEl>
                                              <p:pRg st="3" end="3"/>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26" fill="hold" grpId="0" nodeType="clickEffect">
                                  <p:stCondLst>
                                    <p:cond delay="0"/>
                                  </p:stCondLst>
                                  <p:childTnLst>
                                    <p:set>
                                      <p:cBhvr>
                                        <p:cTn id="32" dur="1" fill="hold">
                                          <p:stCondLst>
                                            <p:cond delay="0"/>
                                          </p:stCondLst>
                                        </p:cTn>
                                        <p:tgtEl>
                                          <p:spTgt spid="46082">
                                            <p:txEl>
                                              <p:pRg st="4" end="4"/>
                                            </p:txEl>
                                          </p:spTgt>
                                        </p:tgtEl>
                                        <p:attrNameLst>
                                          <p:attrName>style.visibility</p:attrName>
                                        </p:attrNameLst>
                                      </p:cBhvr>
                                      <p:to>
                                        <p:strVal val="visible"/>
                                      </p:to>
                                    </p:set>
                                    <p:animEffect transition="in" filter="barn(inHorizontal)">
                                      <p:cBhvr>
                                        <p:cTn id="33" dur="500"/>
                                        <p:tgtEl>
                                          <p:spTgt spid="46082">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49176"/>
                                        </p:tgtEl>
                                        <p:attrNameLst>
                                          <p:attrName>style.visibility</p:attrName>
                                        </p:attrNameLst>
                                      </p:cBhvr>
                                      <p:to>
                                        <p:strVal val="visible"/>
                                      </p:to>
                                    </p:set>
                                    <p:animEffect transition="in" filter="wipe(left)">
                                      <p:cBhvr>
                                        <p:cTn id="38" dur="500"/>
                                        <p:tgtEl>
                                          <p:spTgt spid="4917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49177"/>
                                        </p:tgtEl>
                                        <p:attrNameLst>
                                          <p:attrName>style.visibility</p:attrName>
                                        </p:attrNameLst>
                                      </p:cBhvr>
                                      <p:to>
                                        <p:strVal val="visible"/>
                                      </p:to>
                                    </p:set>
                                    <p:animEffect transition="in" filter="wipe(left)">
                                      <p:cBhvr>
                                        <p:cTn id="43" dur="500"/>
                                        <p:tgtEl>
                                          <p:spTgt spid="4917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49178"/>
                                        </p:tgtEl>
                                        <p:attrNameLst>
                                          <p:attrName>style.visibility</p:attrName>
                                        </p:attrNameLst>
                                      </p:cBhvr>
                                      <p:to>
                                        <p:strVal val="visible"/>
                                      </p:to>
                                    </p:set>
                                    <p:animEffect transition="in" filter="wipe(left)">
                                      <p:cBhvr>
                                        <p:cTn id="48" dur="500"/>
                                        <p:tgtEl>
                                          <p:spTgt spid="4917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8" fill="hold" nodeType="clickEffect">
                                  <p:stCondLst>
                                    <p:cond delay="0"/>
                                  </p:stCondLst>
                                  <p:childTnLst>
                                    <p:set>
                                      <p:cBhvr>
                                        <p:cTn id="52" dur="1" fill="hold">
                                          <p:stCondLst>
                                            <p:cond delay="0"/>
                                          </p:stCondLst>
                                        </p:cTn>
                                        <p:tgtEl>
                                          <p:spTgt spid="46084"/>
                                        </p:tgtEl>
                                        <p:attrNameLst>
                                          <p:attrName>style.visibility</p:attrName>
                                        </p:attrNameLst>
                                      </p:cBhvr>
                                      <p:to>
                                        <p:strVal val="visible"/>
                                      </p:to>
                                    </p:set>
                                    <p:anim calcmode="lin" valueType="num">
                                      <p:cBhvr additive="base">
                                        <p:cTn id="53" dur="500" fill="hold"/>
                                        <p:tgtEl>
                                          <p:spTgt spid="46084"/>
                                        </p:tgtEl>
                                        <p:attrNameLst>
                                          <p:attrName>ppt_x</p:attrName>
                                        </p:attrNameLst>
                                      </p:cBhvr>
                                      <p:tavLst>
                                        <p:tav tm="0">
                                          <p:val>
                                            <p:strVal val="0-#ppt_w/2"/>
                                          </p:val>
                                        </p:tav>
                                        <p:tav tm="100000">
                                          <p:val>
                                            <p:strVal val="#ppt_x"/>
                                          </p:val>
                                        </p:tav>
                                      </p:tavLst>
                                    </p:anim>
                                    <p:anim calcmode="lin" valueType="num">
                                      <p:cBhvr additive="base">
                                        <p:cTn id="54" dur="500" fill="hold"/>
                                        <p:tgtEl>
                                          <p:spTgt spid="460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E9D0DC4B-8781-4753-8170-5C065650B145}" type="slidenum">
              <a:rPr kumimoji="0" lang="en-US" altLang="zh-CN" sz="1400" smtClean="0">
                <a:latin typeface="Arial" panose="020B0604020202020204" pitchFamily="34" charset="0"/>
              </a:rPr>
              <a:pPr>
                <a:spcBef>
                  <a:spcPct val="0"/>
                </a:spcBef>
                <a:buClrTx/>
                <a:buFontTx/>
                <a:buNone/>
              </a:pPr>
              <a:t>28</a:t>
            </a:fld>
            <a:endParaRPr kumimoji="0" lang="en-US" altLang="zh-CN" sz="1400">
              <a:latin typeface="Arial" panose="020B0604020202020204" pitchFamily="34" charset="0"/>
            </a:endParaRPr>
          </a:p>
        </p:txBody>
      </p:sp>
      <p:sp>
        <p:nvSpPr>
          <p:cNvPr id="35843" name="Text Box 2"/>
          <p:cNvSpPr txBox="1">
            <a:spLocks noChangeArrowheads="1"/>
          </p:cNvSpPr>
          <p:nvPr/>
        </p:nvSpPr>
        <p:spPr bwMode="auto">
          <a:xfrm>
            <a:off x="250825" y="188913"/>
            <a:ext cx="88931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solidFill>
                  <a:srgbClr val="FF0000"/>
                </a:solidFill>
                <a:cs typeface="Arial" panose="020B0604020202020204" pitchFamily="34" charset="0"/>
              </a:rPr>
              <a:t>例</a:t>
            </a:r>
            <a:r>
              <a:rPr lang="en-US" altLang="zh-CN" sz="2800" b="1">
                <a:solidFill>
                  <a:srgbClr val="FF0000"/>
                </a:solidFill>
                <a:cs typeface="Arial" panose="020B0604020202020204" pitchFamily="34" charset="0"/>
              </a:rPr>
              <a:t>1</a:t>
            </a:r>
            <a:r>
              <a:rPr lang="en-US" altLang="zh-CN" sz="2800" b="1">
                <a:solidFill>
                  <a:schemeClr val="accent2"/>
                </a:solidFill>
                <a:cs typeface="Arial" panose="020B0604020202020204" pitchFamily="34" charset="0"/>
              </a:rPr>
              <a:t>  </a:t>
            </a:r>
            <a:r>
              <a:rPr lang="zh-CN" altLang="en-US" sz="2700" b="1">
                <a:cs typeface="Arial" panose="020B0604020202020204" pitchFamily="34" charset="0"/>
              </a:rPr>
              <a:t>设</a:t>
            </a:r>
            <a:r>
              <a:rPr lang="zh-CN" altLang="en-US" sz="2700" b="1" i="1">
                <a:cs typeface="Arial" panose="020B0604020202020204" pitchFamily="34" charset="0"/>
              </a:rPr>
              <a:t> </a:t>
            </a:r>
            <a:r>
              <a:rPr lang="en-US" altLang="zh-CN" sz="2700" b="1" i="1">
                <a:cs typeface="Arial" panose="020B0604020202020204" pitchFamily="34" charset="0"/>
              </a:rPr>
              <a:t>N</a:t>
            </a:r>
            <a:r>
              <a:rPr lang="en-US" altLang="zh-CN" sz="2700" b="1">
                <a:cs typeface="Arial" panose="020B0604020202020204" pitchFamily="34" charset="0"/>
              </a:rPr>
              <a:t> </a:t>
            </a:r>
            <a:r>
              <a:rPr lang="zh-CN" altLang="en-US" sz="2700" b="1">
                <a:cs typeface="Arial" panose="020B0604020202020204" pitchFamily="34" charset="0"/>
              </a:rPr>
              <a:t>个分子的速率分布如图</a:t>
            </a:r>
            <a:r>
              <a:rPr lang="en-US" altLang="zh-CN" sz="2700" b="1">
                <a:cs typeface="Arial" panose="020B0604020202020204" pitchFamily="34" charset="0"/>
                <a:sym typeface="Wingdings" panose="05000000000000000000" pitchFamily="2" charset="2"/>
              </a:rPr>
              <a:t>(</a:t>
            </a:r>
            <a:r>
              <a:rPr lang="zh-CN" altLang="en-US" sz="2700" b="1">
                <a:cs typeface="Arial" panose="020B0604020202020204" pitchFamily="34" charset="0"/>
                <a:sym typeface="Wingdings" panose="05000000000000000000" pitchFamily="2" charset="2"/>
              </a:rPr>
              <a:t>当</a:t>
            </a:r>
            <a:r>
              <a:rPr lang="en-US" altLang="zh-CN" sz="2700" b="1" i="1">
                <a:cs typeface="Arial" panose="020B0604020202020204" pitchFamily="34" charset="0"/>
                <a:sym typeface="Wingdings" panose="05000000000000000000" pitchFamily="2" charset="2"/>
              </a:rPr>
              <a:t>v&gt;2v</a:t>
            </a:r>
            <a:r>
              <a:rPr lang="en-US" altLang="zh-CN" sz="2700" b="1" i="1" baseline="-25000">
                <a:cs typeface="Arial" panose="020B0604020202020204" pitchFamily="34" charset="0"/>
                <a:sym typeface="Wingdings" panose="05000000000000000000" pitchFamily="2" charset="2"/>
              </a:rPr>
              <a:t>0</a:t>
            </a:r>
            <a:r>
              <a:rPr lang="zh-CN" altLang="en-US" sz="2700" b="1">
                <a:cs typeface="Arial" panose="020B0604020202020204" pitchFamily="34" charset="0"/>
                <a:sym typeface="Wingdings" panose="05000000000000000000" pitchFamily="2" charset="2"/>
              </a:rPr>
              <a:t>时粒子数为零</a:t>
            </a:r>
            <a:r>
              <a:rPr lang="en-US" altLang="zh-CN" sz="2700" b="1">
                <a:cs typeface="Arial" panose="020B0604020202020204" pitchFamily="34" charset="0"/>
                <a:sym typeface="Wingdings" panose="05000000000000000000" pitchFamily="2" charset="2"/>
              </a:rPr>
              <a:t>)</a:t>
            </a:r>
            <a:endParaRPr lang="en-US" altLang="zh-CN" sz="2700" b="1">
              <a:cs typeface="Arial" panose="020B0604020202020204" pitchFamily="34" charset="0"/>
            </a:endParaRPr>
          </a:p>
          <a:p>
            <a:pPr eaLnBrk="1" hangingPunct="1">
              <a:spcBef>
                <a:spcPct val="50000"/>
              </a:spcBef>
              <a:buClrTx/>
              <a:buFontTx/>
              <a:buNone/>
            </a:pPr>
            <a:r>
              <a:rPr lang="zh-CN" altLang="en-US" sz="2800" b="1">
                <a:cs typeface="Arial" panose="020B0604020202020204" pitchFamily="34" charset="0"/>
              </a:rPr>
              <a:t>（</a:t>
            </a:r>
            <a:r>
              <a:rPr lang="en-US" altLang="zh-CN" sz="2800" b="1">
                <a:cs typeface="Arial" panose="020B0604020202020204" pitchFamily="34" charset="0"/>
              </a:rPr>
              <a:t>1</a:t>
            </a:r>
            <a:r>
              <a:rPr lang="zh-CN" altLang="en-US" sz="2800" b="1">
                <a:cs typeface="Arial" panose="020B0604020202020204" pitchFamily="34" charset="0"/>
              </a:rPr>
              <a:t>）说明曲线与横坐标所包围面积的含意。</a:t>
            </a:r>
          </a:p>
          <a:p>
            <a:pPr eaLnBrk="1" hangingPunct="1">
              <a:spcBef>
                <a:spcPct val="50000"/>
              </a:spcBef>
              <a:buClrTx/>
              <a:buFontTx/>
              <a:buNone/>
            </a:pPr>
            <a:r>
              <a:rPr lang="zh-CN" altLang="en-US" sz="2800" b="1">
                <a:cs typeface="Arial" panose="020B0604020202020204" pitchFamily="34" charset="0"/>
              </a:rPr>
              <a:t>（</a:t>
            </a:r>
            <a:r>
              <a:rPr lang="en-US" altLang="zh-CN" sz="2800" b="1">
                <a:cs typeface="Arial" panose="020B0604020202020204" pitchFamily="34" charset="0"/>
              </a:rPr>
              <a:t>2</a:t>
            </a:r>
            <a:r>
              <a:rPr lang="zh-CN" altLang="en-US" sz="2800" b="1">
                <a:cs typeface="Arial" panose="020B0604020202020204" pitchFamily="34" charset="0"/>
              </a:rPr>
              <a:t>）由 </a:t>
            </a:r>
            <a:r>
              <a:rPr lang="en-US" altLang="zh-CN" sz="2800" b="1" i="1">
                <a:cs typeface="Arial" panose="020B0604020202020204" pitchFamily="34" charset="0"/>
              </a:rPr>
              <a:t>N</a:t>
            </a:r>
            <a:r>
              <a:rPr lang="en-US" altLang="zh-CN" sz="2800" b="1">
                <a:cs typeface="Arial" panose="020B0604020202020204" pitchFamily="34" charset="0"/>
              </a:rPr>
              <a:t> </a:t>
            </a:r>
            <a:r>
              <a:rPr lang="zh-CN" altLang="en-US" sz="2800" b="1">
                <a:cs typeface="Arial" panose="020B0604020202020204" pitchFamily="34" charset="0"/>
              </a:rPr>
              <a:t>、</a:t>
            </a:r>
            <a:r>
              <a:rPr lang="en-US" altLang="zh-CN" sz="3600" b="1" i="1">
                <a:ea typeface="楷体_GB2312"/>
                <a:cs typeface="楷体_GB2312"/>
                <a:sym typeface="Wingdings" panose="05000000000000000000" pitchFamily="2" charset="2"/>
              </a:rPr>
              <a:t>v</a:t>
            </a:r>
            <a:r>
              <a:rPr lang="en-US" altLang="zh-CN" sz="3600" b="1" baseline="-25000">
                <a:ea typeface="楷体_GB2312"/>
                <a:cs typeface="楷体_GB2312"/>
                <a:sym typeface="Wingdings" panose="05000000000000000000" pitchFamily="2" charset="2"/>
              </a:rPr>
              <a:t>0</a:t>
            </a:r>
            <a:r>
              <a:rPr lang="en-US" altLang="zh-CN" sz="2800" b="1" baseline="-25000">
                <a:cs typeface="Arial" panose="020B0604020202020204" pitchFamily="34" charset="0"/>
              </a:rPr>
              <a:t> </a:t>
            </a:r>
            <a:r>
              <a:rPr lang="en-US" altLang="zh-CN" sz="2800" b="1">
                <a:cs typeface="Arial" panose="020B0604020202020204" pitchFamily="34" charset="0"/>
              </a:rPr>
              <a:t>   </a:t>
            </a:r>
            <a:r>
              <a:rPr lang="zh-CN" altLang="en-US" sz="2800" b="1">
                <a:cs typeface="Arial" panose="020B0604020202020204" pitchFamily="34" charset="0"/>
              </a:rPr>
              <a:t>求 </a:t>
            </a:r>
            <a:r>
              <a:rPr lang="en-US" altLang="zh-CN" sz="2800" b="1" i="1">
                <a:cs typeface="Arial" panose="020B0604020202020204" pitchFamily="34" charset="0"/>
              </a:rPr>
              <a:t>a</a:t>
            </a:r>
            <a:r>
              <a:rPr lang="en-US" altLang="zh-CN" sz="2800" b="1">
                <a:cs typeface="Arial" panose="020B0604020202020204" pitchFamily="34" charset="0"/>
              </a:rPr>
              <a:t> </a:t>
            </a:r>
            <a:r>
              <a:rPr lang="zh-CN" altLang="en-US" sz="2800" b="1">
                <a:cs typeface="Arial" panose="020B0604020202020204" pitchFamily="34" charset="0"/>
              </a:rPr>
              <a:t>值。</a:t>
            </a:r>
          </a:p>
          <a:p>
            <a:pPr eaLnBrk="1" hangingPunct="1">
              <a:spcBef>
                <a:spcPct val="50000"/>
              </a:spcBef>
              <a:buClrTx/>
              <a:buFontTx/>
              <a:buNone/>
            </a:pPr>
            <a:r>
              <a:rPr lang="zh-CN" altLang="en-US" sz="2800" b="1">
                <a:cs typeface="Arial" panose="020B0604020202020204" pitchFamily="34" charset="0"/>
              </a:rPr>
              <a:t>（</a:t>
            </a:r>
            <a:r>
              <a:rPr lang="en-US" altLang="zh-CN" sz="2800" b="1">
                <a:cs typeface="Arial" panose="020B0604020202020204" pitchFamily="34" charset="0"/>
              </a:rPr>
              <a:t>3</a:t>
            </a:r>
            <a:r>
              <a:rPr lang="zh-CN" altLang="en-US" sz="2800" b="1">
                <a:cs typeface="Arial" panose="020B0604020202020204" pitchFamily="34" charset="0"/>
              </a:rPr>
              <a:t>）在速率 </a:t>
            </a:r>
            <a:r>
              <a:rPr lang="en-US" altLang="zh-CN" sz="2800" b="1">
                <a:cs typeface="Arial" panose="020B0604020202020204" pitchFamily="34" charset="0"/>
              </a:rPr>
              <a:t>0.5</a:t>
            </a:r>
            <a:r>
              <a:rPr lang="en-US" altLang="zh-CN" sz="2800" b="1" i="1">
                <a:cs typeface="Arial" panose="020B0604020202020204" pitchFamily="34" charset="0"/>
              </a:rPr>
              <a:t>v</a:t>
            </a:r>
            <a:r>
              <a:rPr lang="en-US" altLang="zh-CN" sz="2800" b="1" baseline="-25000">
                <a:cs typeface="Arial" panose="020B0604020202020204" pitchFamily="34" charset="0"/>
              </a:rPr>
              <a:t>0</a:t>
            </a:r>
            <a:r>
              <a:rPr lang="zh-CN" altLang="en-US" sz="2800" b="1">
                <a:cs typeface="Arial" panose="020B0604020202020204" pitchFamily="34" charset="0"/>
              </a:rPr>
              <a:t>到</a:t>
            </a:r>
            <a:r>
              <a:rPr lang="en-US" altLang="zh-CN" sz="2800" b="1">
                <a:cs typeface="Arial" panose="020B0604020202020204" pitchFamily="34" charset="0"/>
              </a:rPr>
              <a:t>1.5</a:t>
            </a:r>
            <a:r>
              <a:rPr lang="en-US" altLang="zh-CN" sz="2800" b="1" i="1">
                <a:cs typeface="Arial" panose="020B0604020202020204" pitchFamily="34" charset="0"/>
              </a:rPr>
              <a:t>v</a:t>
            </a:r>
            <a:r>
              <a:rPr lang="en-US" altLang="zh-CN" sz="2800" b="1" baseline="-25000">
                <a:cs typeface="Arial" panose="020B0604020202020204" pitchFamily="34" charset="0"/>
              </a:rPr>
              <a:t>0</a:t>
            </a:r>
            <a:r>
              <a:rPr lang="zh-CN" altLang="en-US" sz="2800" b="1">
                <a:cs typeface="Arial" panose="020B0604020202020204" pitchFamily="34" charset="0"/>
              </a:rPr>
              <a:t>间隔内的分子数。</a:t>
            </a:r>
          </a:p>
          <a:p>
            <a:pPr eaLnBrk="1" hangingPunct="1">
              <a:spcBef>
                <a:spcPct val="50000"/>
              </a:spcBef>
              <a:buClrTx/>
              <a:buFontTx/>
              <a:buNone/>
            </a:pPr>
            <a:r>
              <a:rPr lang="zh-CN" altLang="en-US" sz="2800" b="1">
                <a:cs typeface="Arial" panose="020B0604020202020204" pitchFamily="34" charset="0"/>
              </a:rPr>
              <a:t>（</a:t>
            </a:r>
            <a:r>
              <a:rPr lang="en-US" altLang="zh-CN" sz="2800" b="1">
                <a:cs typeface="Arial" panose="020B0604020202020204" pitchFamily="34" charset="0"/>
              </a:rPr>
              <a:t>4</a:t>
            </a:r>
            <a:r>
              <a:rPr lang="zh-CN" altLang="en-US" sz="2800" b="1">
                <a:cs typeface="Arial" panose="020B0604020202020204" pitchFamily="34" charset="0"/>
              </a:rPr>
              <a:t>）分子的平均平动动能。</a:t>
            </a:r>
          </a:p>
          <a:p>
            <a:pPr eaLnBrk="1" hangingPunct="1">
              <a:spcBef>
                <a:spcPct val="50000"/>
              </a:spcBef>
              <a:buClrTx/>
              <a:buFontTx/>
              <a:buNone/>
            </a:pPr>
            <a:r>
              <a:rPr lang="zh-CN" altLang="en-US" sz="2800" b="1">
                <a:cs typeface="Arial" panose="020B0604020202020204" pitchFamily="34" charset="0"/>
              </a:rPr>
              <a:t>已知分子的质量为</a:t>
            </a:r>
            <a:r>
              <a:rPr lang="en-US" altLang="zh-CN" sz="2800" b="1" i="1">
                <a:cs typeface="Arial" panose="020B0604020202020204" pitchFamily="34" charset="0"/>
              </a:rPr>
              <a:t>m</a:t>
            </a:r>
            <a:r>
              <a:rPr lang="zh-CN" altLang="en-US" sz="2800" b="1">
                <a:cs typeface="Arial" panose="020B0604020202020204" pitchFamily="34" charset="0"/>
              </a:rPr>
              <a:t>。</a:t>
            </a:r>
          </a:p>
        </p:txBody>
      </p:sp>
      <p:pic>
        <p:nvPicPr>
          <p:cNvPr id="3584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0" y="3495675"/>
            <a:ext cx="4762500"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EA4AC59C-8529-40F1-9618-A78C5D8734ED}" type="slidenum">
              <a:rPr kumimoji="0" lang="en-US" altLang="zh-CN" sz="1400" smtClean="0">
                <a:latin typeface="Arial" panose="020B0604020202020204" pitchFamily="34" charset="0"/>
              </a:rPr>
              <a:pPr>
                <a:spcBef>
                  <a:spcPct val="0"/>
                </a:spcBef>
                <a:buClrTx/>
                <a:buFontTx/>
                <a:buNone/>
              </a:pPr>
              <a:t>29</a:t>
            </a:fld>
            <a:endParaRPr kumimoji="0" lang="en-US" altLang="zh-CN" sz="1400">
              <a:latin typeface="Arial" panose="020B0604020202020204" pitchFamily="34" charset="0"/>
            </a:endParaRPr>
          </a:p>
        </p:txBody>
      </p:sp>
      <p:sp>
        <p:nvSpPr>
          <p:cNvPr id="36867" name="Text Box 2"/>
          <p:cNvSpPr txBox="1">
            <a:spLocks noChangeArrowheads="1"/>
          </p:cNvSpPr>
          <p:nvPr/>
        </p:nvSpPr>
        <p:spPr bwMode="auto">
          <a:xfrm>
            <a:off x="142875" y="188913"/>
            <a:ext cx="4716463"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000" b="1">
                <a:solidFill>
                  <a:schemeClr val="accent1"/>
                </a:solidFill>
                <a:ea typeface="楷体_GB2312"/>
                <a:cs typeface="楷体_GB2312"/>
              </a:rPr>
              <a:t>说明曲线与横坐标所包围面积的含意</a:t>
            </a:r>
          </a:p>
          <a:p>
            <a:pPr eaLnBrk="1" hangingPunct="1">
              <a:spcBef>
                <a:spcPct val="50000"/>
              </a:spcBef>
              <a:buClrTx/>
              <a:buFontTx/>
              <a:buNone/>
            </a:pPr>
            <a:r>
              <a:rPr lang="zh-CN" altLang="en-US" b="1">
                <a:solidFill>
                  <a:schemeClr val="accent1"/>
                </a:solidFill>
                <a:cs typeface="Arial" panose="020B0604020202020204" pitchFamily="34" charset="0"/>
              </a:rPr>
              <a:t>解：</a:t>
            </a:r>
            <a:r>
              <a:rPr lang="zh-CN" altLang="en-US" sz="2000" b="1">
                <a:solidFill>
                  <a:schemeClr val="accent1"/>
                </a:solidFill>
                <a:ea typeface="楷体_GB2312"/>
                <a:cs typeface="楷体_GB2312"/>
              </a:rPr>
              <a:t> </a:t>
            </a:r>
            <a:r>
              <a:rPr lang="zh-CN" altLang="en-US" b="1">
                <a:solidFill>
                  <a:schemeClr val="accent1"/>
                </a:solidFill>
                <a:cs typeface="Arial" panose="020B0604020202020204" pitchFamily="34" charset="0"/>
              </a:rPr>
              <a:t>（</a:t>
            </a:r>
            <a:r>
              <a:rPr lang="en-US" altLang="zh-CN" b="1">
                <a:solidFill>
                  <a:schemeClr val="accent1"/>
                </a:solidFill>
                <a:cs typeface="Arial" panose="020B0604020202020204" pitchFamily="34" charset="0"/>
              </a:rPr>
              <a:t>1</a:t>
            </a:r>
            <a:r>
              <a:rPr lang="zh-CN" altLang="en-US" b="1">
                <a:solidFill>
                  <a:schemeClr val="accent1"/>
                </a:solidFill>
                <a:cs typeface="Arial" panose="020B0604020202020204" pitchFamily="34" charset="0"/>
              </a:rPr>
              <a:t>）</a:t>
            </a:r>
            <a:r>
              <a:rPr lang="zh-CN" altLang="en-US">
                <a:solidFill>
                  <a:schemeClr val="accent1"/>
                </a:solidFill>
                <a:cs typeface="Arial" panose="020B0604020202020204" pitchFamily="34" charset="0"/>
              </a:rPr>
              <a:t>由</a:t>
            </a:r>
          </a:p>
        </p:txBody>
      </p:sp>
      <p:graphicFrame>
        <p:nvGraphicFramePr>
          <p:cNvPr id="179203" name="Object 3"/>
          <p:cNvGraphicFramePr>
            <a:graphicFrameLocks noChangeAspect="1"/>
          </p:cNvGraphicFramePr>
          <p:nvPr/>
        </p:nvGraphicFramePr>
        <p:xfrm>
          <a:off x="990600" y="1657350"/>
          <a:ext cx="2971800" cy="1555750"/>
        </p:xfrm>
        <a:graphic>
          <a:graphicData uri="http://schemas.openxmlformats.org/presentationml/2006/ole">
            <mc:AlternateContent xmlns:mc="http://schemas.openxmlformats.org/markup-compatibility/2006">
              <mc:Choice xmlns:v="urn:schemas-microsoft-com:vml" Requires="v">
                <p:oleObj spid="_x0000_s37065" name="公式" r:id="rId3" imgW="748975" imgH="393529" progId="Equation.3">
                  <p:embed/>
                </p:oleObj>
              </mc:Choice>
              <mc:Fallback>
                <p:oleObj name="公式" r:id="rId3" imgW="748975" imgH="393529" progId="Equation.3">
                  <p:embed/>
                  <p:pic>
                    <p:nvPicPr>
                      <p:cNvPr id="0" name="Object 3"/>
                      <p:cNvPicPr>
                        <a:picLocks noChangeAspect="1" noChangeArrowheads="1"/>
                      </p:cNvPicPr>
                      <p:nvPr/>
                    </p:nvPicPr>
                    <p:blipFill>
                      <a:blip r:embed="rId4">
                        <a:lum bright="-24000" contrast="100000"/>
                        <a:extLst>
                          <a:ext uri="{28A0092B-C50C-407E-A947-70E740481C1C}">
                            <a14:useLocalDpi xmlns:a14="http://schemas.microsoft.com/office/drawing/2010/main" val="0"/>
                          </a:ext>
                        </a:extLst>
                      </a:blip>
                      <a:srcRect/>
                      <a:stretch>
                        <a:fillRect/>
                      </a:stretch>
                    </p:blipFill>
                    <p:spPr bwMode="auto">
                      <a:xfrm>
                        <a:off x="990600" y="1657350"/>
                        <a:ext cx="2971800" cy="1555750"/>
                      </a:xfrm>
                      <a:prstGeom prst="rect">
                        <a:avLst/>
                      </a:prstGeom>
                      <a:solidFill>
                        <a:srgbClr val="C0C0C0"/>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9204" name="Object 4"/>
          <p:cNvGraphicFramePr>
            <a:graphicFrameLocks noChangeAspect="1"/>
          </p:cNvGraphicFramePr>
          <p:nvPr/>
        </p:nvGraphicFramePr>
        <p:xfrm>
          <a:off x="795338" y="3309938"/>
          <a:ext cx="5265737" cy="1970087"/>
        </p:xfrm>
        <a:graphic>
          <a:graphicData uri="http://schemas.openxmlformats.org/presentationml/2006/ole">
            <mc:AlternateContent xmlns:mc="http://schemas.openxmlformats.org/markup-compatibility/2006">
              <mc:Choice xmlns:v="urn:schemas-microsoft-com:vml" Requires="v">
                <p:oleObj spid="_x0000_s37066" name="公式" r:id="rId5" imgW="1968500" imgH="736600" progId="Equation.3">
                  <p:embed/>
                </p:oleObj>
              </mc:Choice>
              <mc:Fallback>
                <p:oleObj name="公式" r:id="rId5" imgW="1968500" imgH="736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338" y="3309938"/>
                        <a:ext cx="5265737" cy="1970087"/>
                      </a:xfrm>
                      <a:prstGeom prst="rect">
                        <a:avLst/>
                      </a:prstGeom>
                      <a:solidFill>
                        <a:schemeClr val="tx1"/>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9205" name="Text Box 5"/>
          <p:cNvSpPr txBox="1">
            <a:spLocks noChangeArrowheads="1"/>
          </p:cNvSpPr>
          <p:nvPr/>
        </p:nvSpPr>
        <p:spPr bwMode="auto">
          <a:xfrm>
            <a:off x="381000" y="5638800"/>
            <a:ext cx="160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a:cs typeface="Arial" panose="020B0604020202020204" pitchFamily="34" charset="0"/>
              </a:rPr>
              <a:t>所以</a:t>
            </a:r>
            <a:endParaRPr lang="zh-CN" altLang="en-US" sz="2800">
              <a:cs typeface="Arial" panose="020B0604020202020204" pitchFamily="34" charset="0"/>
            </a:endParaRPr>
          </a:p>
        </p:txBody>
      </p:sp>
      <p:graphicFrame>
        <p:nvGraphicFramePr>
          <p:cNvPr id="179206" name="Object 6"/>
          <p:cNvGraphicFramePr>
            <a:graphicFrameLocks noChangeAspect="1"/>
          </p:cNvGraphicFramePr>
          <p:nvPr/>
        </p:nvGraphicFramePr>
        <p:xfrm>
          <a:off x="1828800" y="5467350"/>
          <a:ext cx="6019800" cy="1057275"/>
        </p:xfrm>
        <a:graphic>
          <a:graphicData uri="http://schemas.openxmlformats.org/presentationml/2006/ole">
            <mc:AlternateContent xmlns:mc="http://schemas.openxmlformats.org/markup-compatibility/2006">
              <mc:Choice xmlns:v="urn:schemas-microsoft-com:vml" Requires="v">
                <p:oleObj spid="_x0000_s37067" name="公式" r:id="rId7" imgW="1879600" imgH="330200" progId="Equation.3">
                  <p:embed/>
                </p:oleObj>
              </mc:Choice>
              <mc:Fallback>
                <p:oleObj name="公式" r:id="rId7" imgW="1879600" imgH="330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5467350"/>
                        <a:ext cx="6019800" cy="1057275"/>
                      </a:xfrm>
                      <a:prstGeom prst="rect">
                        <a:avLst/>
                      </a:prstGeom>
                      <a:solidFill>
                        <a:srgbClr val="CCFF99"/>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6872" name="Picture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260350"/>
            <a:ext cx="411480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499"/>
                                          </p:stCondLst>
                                        </p:cTn>
                                        <p:tgtEl>
                                          <p:spTgt spid="179203"/>
                                        </p:tgtEl>
                                        <p:attrNameLst>
                                          <p:attrName>style.visibility</p:attrName>
                                        </p:attrNameLst>
                                      </p:cBhvr>
                                      <p:to>
                                        <p:strVal val="visible"/>
                                      </p:to>
                                    </p:set>
                                    <p:anim to="" calcmode="lin" valueType="num">
                                      <p:cBhvr>
                                        <p:cTn id="7" dur="1" fill="hold"/>
                                        <p:tgtEl>
                                          <p:spTgt spid="179203"/>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288" fill="hold" nodeType="clickEffect">
                                  <p:stCondLst>
                                    <p:cond delay="0"/>
                                  </p:stCondLst>
                                  <p:childTnLst>
                                    <p:set>
                                      <p:cBhvr>
                                        <p:cTn id="11" dur="1" fill="hold">
                                          <p:stCondLst>
                                            <p:cond delay="0"/>
                                          </p:stCondLst>
                                        </p:cTn>
                                        <p:tgtEl>
                                          <p:spTgt spid="179204"/>
                                        </p:tgtEl>
                                        <p:attrNameLst>
                                          <p:attrName>style.visibility</p:attrName>
                                        </p:attrNameLst>
                                      </p:cBhvr>
                                      <p:to>
                                        <p:strVal val="visible"/>
                                      </p:to>
                                    </p:set>
                                    <p:anim calcmode="lin" valueType="num">
                                      <p:cBhvr>
                                        <p:cTn id="12" dur="500" fill="hold"/>
                                        <p:tgtEl>
                                          <p:spTgt spid="179204"/>
                                        </p:tgtEl>
                                        <p:attrNameLst>
                                          <p:attrName>ppt_w</p:attrName>
                                        </p:attrNameLst>
                                      </p:cBhvr>
                                      <p:tavLst>
                                        <p:tav tm="0">
                                          <p:val>
                                            <p:strVal val="4/3*#ppt_w"/>
                                          </p:val>
                                        </p:tav>
                                        <p:tav tm="100000">
                                          <p:val>
                                            <p:strVal val="#ppt_w"/>
                                          </p:val>
                                        </p:tav>
                                      </p:tavLst>
                                    </p:anim>
                                    <p:anim calcmode="lin" valueType="num">
                                      <p:cBhvr>
                                        <p:cTn id="13" dur="500" fill="hold"/>
                                        <p:tgtEl>
                                          <p:spTgt spid="179204"/>
                                        </p:tgtEl>
                                        <p:attrNameLst>
                                          <p:attrName>ppt_h</p:attrName>
                                        </p:attrNameLst>
                                      </p:cBhvr>
                                      <p:tavLst>
                                        <p:tav tm="0">
                                          <p:val>
                                            <p:strVal val="4/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iterate type="lt">
                                    <p:tmPct val="100000"/>
                                  </p:iterate>
                                  <p:childTnLst>
                                    <p:set>
                                      <p:cBhvr>
                                        <p:cTn id="17" dur="1" fill="hold">
                                          <p:stCondLst>
                                            <p:cond delay="0"/>
                                          </p:stCondLst>
                                        </p:cTn>
                                        <p:tgtEl>
                                          <p:spTgt spid="179205">
                                            <p:txEl>
                                              <p:pRg st="0" end="0"/>
                                            </p:txEl>
                                          </p:spTgt>
                                        </p:tgtEl>
                                        <p:attrNameLst>
                                          <p:attrName>style.visibility</p:attrName>
                                        </p:attrNameLst>
                                      </p:cBhvr>
                                      <p:to>
                                        <p:strVal val="visible"/>
                                      </p:to>
                                    </p:set>
                                    <p:animEffect transition="in" filter="wipe(up)">
                                      <p:cBhvr>
                                        <p:cTn id="18" dur="75"/>
                                        <p:tgtEl>
                                          <p:spTgt spid="179205">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288" fill="hold" nodeType="clickEffect">
                                  <p:stCondLst>
                                    <p:cond delay="0"/>
                                  </p:stCondLst>
                                  <p:childTnLst>
                                    <p:set>
                                      <p:cBhvr>
                                        <p:cTn id="22" dur="1" fill="hold">
                                          <p:stCondLst>
                                            <p:cond delay="0"/>
                                          </p:stCondLst>
                                        </p:cTn>
                                        <p:tgtEl>
                                          <p:spTgt spid="179206"/>
                                        </p:tgtEl>
                                        <p:attrNameLst>
                                          <p:attrName>style.visibility</p:attrName>
                                        </p:attrNameLst>
                                      </p:cBhvr>
                                      <p:to>
                                        <p:strVal val="visible"/>
                                      </p:to>
                                    </p:set>
                                    <p:anim calcmode="lin" valueType="num">
                                      <p:cBhvr>
                                        <p:cTn id="23" dur="500" fill="hold"/>
                                        <p:tgtEl>
                                          <p:spTgt spid="179206"/>
                                        </p:tgtEl>
                                        <p:attrNameLst>
                                          <p:attrName>ppt_w</p:attrName>
                                        </p:attrNameLst>
                                      </p:cBhvr>
                                      <p:tavLst>
                                        <p:tav tm="0">
                                          <p:val>
                                            <p:strVal val="4/3*#ppt_w"/>
                                          </p:val>
                                        </p:tav>
                                        <p:tav tm="100000">
                                          <p:val>
                                            <p:strVal val="#ppt_w"/>
                                          </p:val>
                                        </p:tav>
                                      </p:tavLst>
                                    </p:anim>
                                    <p:anim calcmode="lin" valueType="num">
                                      <p:cBhvr>
                                        <p:cTn id="24" dur="500" fill="hold"/>
                                        <p:tgtEl>
                                          <p:spTgt spid="179206"/>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5" grpId="0" build="p"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Text Box 2"/>
          <p:cNvSpPr txBox="1">
            <a:spLocks noChangeArrowheads="1"/>
          </p:cNvSpPr>
          <p:nvPr/>
        </p:nvSpPr>
        <p:spPr bwMode="auto">
          <a:xfrm>
            <a:off x="250825" y="188913"/>
            <a:ext cx="82089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rgbClr val="FF0000"/>
                </a:solidFill>
                <a:cs typeface="Arial" panose="020B0604020202020204" pitchFamily="34" charset="0"/>
              </a:rPr>
              <a:t>（</a:t>
            </a:r>
            <a:r>
              <a:rPr lang="en-US" altLang="zh-CN" b="1">
                <a:solidFill>
                  <a:srgbClr val="FF0000"/>
                </a:solidFill>
                <a:cs typeface="Arial" panose="020B0604020202020204" pitchFamily="34" charset="0"/>
              </a:rPr>
              <a:t>2</a:t>
            </a:r>
            <a:r>
              <a:rPr lang="zh-CN" altLang="en-US" b="1">
                <a:solidFill>
                  <a:srgbClr val="FF0000"/>
                </a:solidFill>
                <a:cs typeface="Arial" panose="020B0604020202020204" pitchFamily="34" charset="0"/>
              </a:rPr>
              <a:t>）</a:t>
            </a:r>
            <a:r>
              <a:rPr lang="zh-CN" altLang="en-US" sz="2000" b="1">
                <a:ea typeface="楷体_GB2312"/>
                <a:cs typeface="楷体_GB2312"/>
              </a:rPr>
              <a:t>由 </a:t>
            </a:r>
            <a:r>
              <a:rPr lang="en-US" altLang="zh-CN" sz="2000" b="1" i="1">
                <a:ea typeface="楷体_GB2312"/>
                <a:cs typeface="楷体_GB2312"/>
              </a:rPr>
              <a:t>N</a:t>
            </a:r>
            <a:r>
              <a:rPr lang="en-US" altLang="zh-CN" sz="2000" b="1">
                <a:ea typeface="楷体_GB2312"/>
                <a:cs typeface="楷体_GB2312"/>
              </a:rPr>
              <a:t> </a:t>
            </a:r>
            <a:r>
              <a:rPr lang="zh-CN" altLang="en-US" sz="2000" b="1">
                <a:ea typeface="楷体_GB2312"/>
                <a:cs typeface="楷体_GB2312"/>
              </a:rPr>
              <a:t>、</a:t>
            </a:r>
            <a:r>
              <a:rPr lang="en-US" altLang="zh-CN" sz="2000" b="1" i="1">
                <a:ea typeface="楷体_GB2312"/>
                <a:cs typeface="楷体_GB2312"/>
                <a:sym typeface="Wingdings" panose="05000000000000000000" pitchFamily="2" charset="2"/>
              </a:rPr>
              <a:t>v</a:t>
            </a:r>
            <a:r>
              <a:rPr lang="en-US" altLang="zh-CN" sz="2000" b="1" baseline="-25000">
                <a:ea typeface="楷体_GB2312"/>
                <a:cs typeface="楷体_GB2312"/>
                <a:sym typeface="Wingdings" panose="05000000000000000000" pitchFamily="2" charset="2"/>
              </a:rPr>
              <a:t>0</a:t>
            </a:r>
            <a:r>
              <a:rPr lang="en-US" altLang="zh-CN" sz="2000" b="1">
                <a:ea typeface="楷体_GB2312"/>
                <a:cs typeface="楷体_GB2312"/>
              </a:rPr>
              <a:t>    </a:t>
            </a:r>
            <a:r>
              <a:rPr lang="zh-CN" altLang="en-US" sz="2000" b="1">
                <a:ea typeface="楷体_GB2312"/>
                <a:cs typeface="楷体_GB2312"/>
              </a:rPr>
              <a:t>求 </a:t>
            </a:r>
            <a:r>
              <a:rPr lang="en-US" altLang="zh-CN" sz="2000" b="1" i="1">
                <a:ea typeface="楷体_GB2312"/>
                <a:cs typeface="楷体_GB2312"/>
              </a:rPr>
              <a:t>a</a:t>
            </a:r>
            <a:r>
              <a:rPr lang="en-US" altLang="zh-CN" sz="2000" b="1">
                <a:ea typeface="楷体_GB2312"/>
                <a:cs typeface="楷体_GB2312"/>
              </a:rPr>
              <a:t> </a:t>
            </a:r>
            <a:r>
              <a:rPr lang="zh-CN" altLang="en-US" sz="2000" b="1">
                <a:ea typeface="楷体_GB2312"/>
                <a:cs typeface="楷体_GB2312"/>
              </a:rPr>
              <a:t>值。</a:t>
            </a:r>
            <a:r>
              <a:rPr lang="zh-CN" altLang="en-US" b="1">
                <a:cs typeface="Arial" panose="020B0604020202020204" pitchFamily="34" charset="0"/>
              </a:rPr>
              <a:t>由图得速率分布函数</a:t>
            </a:r>
          </a:p>
        </p:txBody>
      </p:sp>
      <p:grpSp>
        <p:nvGrpSpPr>
          <p:cNvPr id="2" name="Group 3"/>
          <p:cNvGrpSpPr>
            <a:grpSpLocks/>
          </p:cNvGrpSpPr>
          <p:nvPr/>
        </p:nvGrpSpPr>
        <p:grpSpPr bwMode="auto">
          <a:xfrm>
            <a:off x="533400" y="785813"/>
            <a:ext cx="7110413" cy="1849437"/>
            <a:chOff x="528" y="675"/>
            <a:chExt cx="4479" cy="1165"/>
          </a:xfrm>
        </p:grpSpPr>
        <p:graphicFrame>
          <p:nvGraphicFramePr>
            <p:cNvPr id="37897" name="Object 4"/>
            <p:cNvGraphicFramePr>
              <a:graphicFrameLocks noChangeAspect="1"/>
            </p:cNvGraphicFramePr>
            <p:nvPr/>
          </p:nvGraphicFramePr>
          <p:xfrm>
            <a:off x="528" y="864"/>
            <a:ext cx="2151" cy="698"/>
          </p:xfrm>
          <a:graphic>
            <a:graphicData uri="http://schemas.openxmlformats.org/presentationml/2006/ole">
              <mc:AlternateContent xmlns:mc="http://schemas.openxmlformats.org/markup-compatibility/2006">
                <mc:Choice xmlns:v="urn:schemas-microsoft-com:vml" Requires="v">
                  <p:oleObj spid="_x0000_s38155" name="公式" r:id="rId3" imgW="660113" imgH="215806" progId="Equation.3">
                    <p:embed/>
                  </p:oleObj>
                </mc:Choice>
                <mc:Fallback>
                  <p:oleObj name="公式" r:id="rId3" imgW="660113" imgH="215806"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864"/>
                          <a:ext cx="2151" cy="69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8" name="Object 5"/>
            <p:cNvGraphicFramePr>
              <a:graphicFrameLocks noChangeAspect="1"/>
            </p:cNvGraphicFramePr>
            <p:nvPr/>
          </p:nvGraphicFramePr>
          <p:xfrm>
            <a:off x="2589" y="675"/>
            <a:ext cx="2418" cy="1165"/>
          </p:xfrm>
          <a:graphic>
            <a:graphicData uri="http://schemas.openxmlformats.org/presentationml/2006/ole">
              <mc:AlternateContent xmlns:mc="http://schemas.openxmlformats.org/markup-compatibility/2006">
                <mc:Choice xmlns:v="urn:schemas-microsoft-com:vml" Requires="v">
                  <p:oleObj spid="_x0000_s38156" name="公式" r:id="rId5" imgW="1371600" imgH="660400" progId="Equation.3">
                    <p:embed/>
                  </p:oleObj>
                </mc:Choice>
                <mc:Fallback>
                  <p:oleObj name="公式" r:id="rId5" imgW="1371600" imgH="660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9" y="675"/>
                          <a:ext cx="2418" cy="116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80230" name="Text Box 6"/>
          <p:cNvSpPr txBox="1">
            <a:spLocks noChangeArrowheads="1"/>
          </p:cNvSpPr>
          <p:nvPr/>
        </p:nvSpPr>
        <p:spPr bwMode="auto">
          <a:xfrm>
            <a:off x="609600" y="2205038"/>
            <a:ext cx="4419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chemeClr val="accent1"/>
                </a:solidFill>
                <a:cs typeface="Arial" panose="020B0604020202020204" pitchFamily="34" charset="0"/>
              </a:rPr>
              <a:t>再由归一化条件</a:t>
            </a:r>
          </a:p>
        </p:txBody>
      </p:sp>
      <p:graphicFrame>
        <p:nvGraphicFramePr>
          <p:cNvPr id="180231" name="Object 7"/>
          <p:cNvGraphicFramePr>
            <a:graphicFrameLocks noChangeAspect="1"/>
          </p:cNvGraphicFramePr>
          <p:nvPr/>
        </p:nvGraphicFramePr>
        <p:xfrm>
          <a:off x="381000" y="2781300"/>
          <a:ext cx="8382000" cy="1416050"/>
        </p:xfrm>
        <a:graphic>
          <a:graphicData uri="http://schemas.openxmlformats.org/presentationml/2006/ole">
            <mc:AlternateContent xmlns:mc="http://schemas.openxmlformats.org/markup-compatibility/2006">
              <mc:Choice xmlns:v="urn:schemas-microsoft-com:vml" Requires="v">
                <p:oleObj spid="_x0000_s38157" name="公式" r:id="rId7" imgW="3149600" imgH="533400" progId="Equation.3">
                  <p:embed/>
                </p:oleObj>
              </mc:Choice>
              <mc:Fallback>
                <p:oleObj name="公式" r:id="rId7" imgW="3149600" imgH="5334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2781300"/>
                        <a:ext cx="8382000" cy="1416050"/>
                      </a:xfrm>
                      <a:prstGeom prst="rect">
                        <a:avLst/>
                      </a:prstGeom>
                      <a:solidFill>
                        <a:srgbClr val="CCFF99"/>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0232" name="Text Box 8"/>
          <p:cNvSpPr txBox="1">
            <a:spLocks noChangeArrowheads="1"/>
          </p:cNvSpPr>
          <p:nvPr/>
        </p:nvSpPr>
        <p:spPr bwMode="auto">
          <a:xfrm>
            <a:off x="561975" y="4805363"/>
            <a:ext cx="2057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chemeClr val="accent2"/>
                </a:solidFill>
                <a:cs typeface="Arial" panose="020B0604020202020204" pitchFamily="34" charset="0"/>
              </a:rPr>
              <a:t>得</a:t>
            </a:r>
          </a:p>
        </p:txBody>
      </p:sp>
      <p:graphicFrame>
        <p:nvGraphicFramePr>
          <p:cNvPr id="180233" name="Object 9"/>
          <p:cNvGraphicFramePr>
            <a:graphicFrameLocks noChangeAspect="1"/>
          </p:cNvGraphicFramePr>
          <p:nvPr/>
        </p:nvGraphicFramePr>
        <p:xfrm>
          <a:off x="2543175" y="4652963"/>
          <a:ext cx="1524000" cy="1290637"/>
        </p:xfrm>
        <a:graphic>
          <a:graphicData uri="http://schemas.openxmlformats.org/presentationml/2006/ole">
            <mc:AlternateContent xmlns:mc="http://schemas.openxmlformats.org/markup-compatibility/2006">
              <mc:Choice xmlns:v="urn:schemas-microsoft-com:vml" Requires="v">
                <p:oleObj spid="_x0000_s38158" name="公式" r:id="rId9" imgW="508000" imgH="431800" progId="Equation.3">
                  <p:embed/>
                </p:oleObj>
              </mc:Choice>
              <mc:Fallback>
                <p:oleObj name="公式" r:id="rId9" imgW="508000" imgH="4318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3175" y="4652963"/>
                        <a:ext cx="1524000" cy="1290637"/>
                      </a:xfrm>
                      <a:prstGeom prst="rect">
                        <a:avLst/>
                      </a:prstGeom>
                      <a:solidFill>
                        <a:srgbClr val="FF99FF"/>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7896" name="Picture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35600" y="4160838"/>
            <a:ext cx="3468688"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80226">
                                            <p:txEl>
                                              <p:pRg st="0" end="0"/>
                                            </p:txEl>
                                          </p:spTgt>
                                        </p:tgtEl>
                                        <p:attrNameLst>
                                          <p:attrName>style.visibility</p:attrName>
                                        </p:attrNameLst>
                                      </p:cBhvr>
                                      <p:to>
                                        <p:strVal val="visible"/>
                                      </p:to>
                                    </p:set>
                                    <p:animEffect transition="in" filter="wipe(up)">
                                      <p:cBhvr>
                                        <p:cTn id="7" dur="75"/>
                                        <p:tgtEl>
                                          <p:spTgt spid="1802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180230"/>
                                        </p:tgtEl>
                                        <p:attrNameLst>
                                          <p:attrName>style.visibility</p:attrName>
                                        </p:attrNameLst>
                                      </p:cBhvr>
                                      <p:to>
                                        <p:strVal val="visible"/>
                                      </p:to>
                                    </p:set>
                                    <p:anim calcmode="lin" valueType="num">
                                      <p:cBhvr additive="base">
                                        <p:cTn id="18" dur="500" fill="hold"/>
                                        <p:tgtEl>
                                          <p:spTgt spid="180230"/>
                                        </p:tgtEl>
                                        <p:attrNameLst>
                                          <p:attrName>ppt_x</p:attrName>
                                        </p:attrNameLst>
                                      </p:cBhvr>
                                      <p:tavLst>
                                        <p:tav tm="0">
                                          <p:val>
                                            <p:strVal val="1+#ppt_w/2"/>
                                          </p:val>
                                        </p:tav>
                                        <p:tav tm="100000">
                                          <p:val>
                                            <p:strVal val="#ppt_x"/>
                                          </p:val>
                                        </p:tav>
                                      </p:tavLst>
                                    </p:anim>
                                    <p:anim calcmode="lin" valueType="num">
                                      <p:cBhvr additive="base">
                                        <p:cTn id="19" dur="500" fill="hold"/>
                                        <p:tgtEl>
                                          <p:spTgt spid="180230"/>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4" presetClass="entr" presetSubtype="0" fill="hold" nodeType="clickEffect">
                                  <p:stCondLst>
                                    <p:cond delay="0"/>
                                  </p:stCondLst>
                                  <p:childTnLst>
                                    <p:set>
                                      <p:cBhvr>
                                        <p:cTn id="23" dur="1" fill="hold">
                                          <p:stCondLst>
                                            <p:cond delay="499"/>
                                          </p:stCondLst>
                                        </p:cTn>
                                        <p:tgtEl>
                                          <p:spTgt spid="180231"/>
                                        </p:tgtEl>
                                        <p:attrNameLst>
                                          <p:attrName>style.visibility</p:attrName>
                                        </p:attrNameLst>
                                      </p:cBhvr>
                                      <p:to>
                                        <p:strVal val="visible"/>
                                      </p:to>
                                    </p:set>
                                    <p:anim to="" calcmode="lin" valueType="num">
                                      <p:cBhvr>
                                        <p:cTn id="24" dur="1" fill="hold"/>
                                        <p:tgtEl>
                                          <p:spTgt spid="180231"/>
                                        </p:tgtEl>
                                        <p:attrNameLst>
                                          <p:attrName/>
                                        </p:attrNameLst>
                                      </p:cBhvr>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3" fill="hold" grpId="0" nodeType="clickEffect">
                                  <p:stCondLst>
                                    <p:cond delay="0"/>
                                  </p:stCondLst>
                                  <p:iterate type="lt">
                                    <p:tmPct val="100000"/>
                                  </p:iterate>
                                  <p:childTnLst>
                                    <p:set>
                                      <p:cBhvr>
                                        <p:cTn id="28" dur="1" fill="hold">
                                          <p:stCondLst>
                                            <p:cond delay="0"/>
                                          </p:stCondLst>
                                        </p:cTn>
                                        <p:tgtEl>
                                          <p:spTgt spid="180232">
                                            <p:txEl>
                                              <p:pRg st="0" end="0"/>
                                            </p:txEl>
                                          </p:spTgt>
                                        </p:tgtEl>
                                        <p:attrNameLst>
                                          <p:attrName>style.visibility</p:attrName>
                                        </p:attrNameLst>
                                      </p:cBhvr>
                                      <p:to>
                                        <p:strVal val="visible"/>
                                      </p:to>
                                    </p:set>
                                    <p:anim calcmode="lin" valueType="num">
                                      <p:cBhvr additive="base">
                                        <p:cTn id="29" dur="75" fill="hold"/>
                                        <p:tgtEl>
                                          <p:spTgt spid="180232">
                                            <p:txEl>
                                              <p:pRg st="0" end="0"/>
                                            </p:txEl>
                                          </p:spTgt>
                                        </p:tgtEl>
                                        <p:attrNameLst>
                                          <p:attrName>ppt_x</p:attrName>
                                        </p:attrNameLst>
                                      </p:cBhvr>
                                      <p:tavLst>
                                        <p:tav tm="0">
                                          <p:val>
                                            <p:strVal val="1+#ppt_w/2"/>
                                          </p:val>
                                        </p:tav>
                                        <p:tav tm="100000">
                                          <p:val>
                                            <p:strVal val="#ppt_x"/>
                                          </p:val>
                                        </p:tav>
                                      </p:tavLst>
                                    </p:anim>
                                    <p:anim calcmode="lin" valueType="num">
                                      <p:cBhvr additive="base">
                                        <p:cTn id="30" dur="75" fill="hold"/>
                                        <p:tgtEl>
                                          <p:spTgt spid="180232">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4" presetClass="entr" presetSubtype="0" fill="hold" nodeType="clickEffect">
                                  <p:stCondLst>
                                    <p:cond delay="0"/>
                                  </p:stCondLst>
                                  <p:childTnLst>
                                    <p:set>
                                      <p:cBhvr>
                                        <p:cTn id="34" dur="1" fill="hold">
                                          <p:stCondLst>
                                            <p:cond delay="499"/>
                                          </p:stCondLst>
                                        </p:cTn>
                                        <p:tgtEl>
                                          <p:spTgt spid="180233"/>
                                        </p:tgtEl>
                                        <p:attrNameLst>
                                          <p:attrName>style.visibility</p:attrName>
                                        </p:attrNameLst>
                                      </p:cBhvr>
                                      <p:to>
                                        <p:strVal val="visible"/>
                                      </p:to>
                                    </p:set>
                                    <p:anim to="" calcmode="lin" valueType="num">
                                      <p:cBhvr>
                                        <p:cTn id="35" dur="1" fill="hold"/>
                                        <p:tgtEl>
                                          <p:spTgt spid="18023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6" grpId="0" build="p" autoUpdateAnimBg="0"/>
      <p:bldP spid="180230" grpId="0" autoUpdateAnimBg="0"/>
      <p:bldP spid="180232"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28F4A05A-896D-41CE-B941-0A779FDDA115}" type="slidenum">
              <a:rPr kumimoji="0" lang="en-US" altLang="zh-CN" sz="1400" smtClean="0">
                <a:latin typeface="Arial" panose="020B0604020202020204" pitchFamily="34" charset="0"/>
              </a:rPr>
              <a:pPr>
                <a:spcBef>
                  <a:spcPct val="0"/>
                </a:spcBef>
                <a:buClrTx/>
                <a:buFontTx/>
                <a:buNone/>
              </a:pPr>
              <a:t>31</a:t>
            </a:fld>
            <a:endParaRPr kumimoji="0" lang="en-US" altLang="zh-CN" sz="1400">
              <a:latin typeface="Arial" panose="020B0604020202020204" pitchFamily="34" charset="0"/>
            </a:endParaRPr>
          </a:p>
        </p:txBody>
      </p:sp>
      <p:sp>
        <p:nvSpPr>
          <p:cNvPr id="38915" name="Text Box 2"/>
          <p:cNvSpPr txBox="1">
            <a:spLocks noChangeArrowheads="1"/>
          </p:cNvSpPr>
          <p:nvPr/>
        </p:nvSpPr>
        <p:spPr bwMode="auto">
          <a:xfrm>
            <a:off x="250825" y="188913"/>
            <a:ext cx="80660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rgbClr val="FF0000"/>
                </a:solidFill>
                <a:cs typeface="Arial" panose="020B0604020202020204" pitchFamily="34" charset="0"/>
              </a:rPr>
              <a:t>（</a:t>
            </a:r>
            <a:r>
              <a:rPr lang="en-US" altLang="zh-CN" b="1">
                <a:solidFill>
                  <a:srgbClr val="FF0000"/>
                </a:solidFill>
                <a:cs typeface="Arial" panose="020B0604020202020204" pitchFamily="34" charset="0"/>
              </a:rPr>
              <a:t>3</a:t>
            </a:r>
            <a:r>
              <a:rPr lang="zh-CN" altLang="en-US" b="1">
                <a:solidFill>
                  <a:srgbClr val="FF0000"/>
                </a:solidFill>
                <a:cs typeface="Arial" panose="020B0604020202020204" pitchFamily="34" charset="0"/>
              </a:rPr>
              <a:t>）</a:t>
            </a:r>
            <a:r>
              <a:rPr lang="zh-CN" altLang="en-US" sz="2000" b="1">
                <a:ea typeface="楷体_GB2312"/>
                <a:cs typeface="楷体_GB2312"/>
              </a:rPr>
              <a:t>在速率 </a:t>
            </a:r>
            <a:r>
              <a:rPr lang="en-US" altLang="zh-CN" sz="2000" b="1">
                <a:ea typeface="楷体_GB2312"/>
                <a:cs typeface="楷体_GB2312"/>
              </a:rPr>
              <a:t>0.5</a:t>
            </a:r>
            <a:r>
              <a:rPr lang="en-US" altLang="zh-CN" sz="2000" b="1" i="1">
                <a:ea typeface="楷体_GB2312"/>
                <a:cs typeface="楷体_GB2312"/>
              </a:rPr>
              <a:t>v</a:t>
            </a:r>
            <a:r>
              <a:rPr lang="en-US" altLang="zh-CN" sz="1000" b="1">
                <a:ea typeface="楷体_GB2312"/>
                <a:cs typeface="楷体_GB2312"/>
              </a:rPr>
              <a:t>0</a:t>
            </a:r>
            <a:r>
              <a:rPr lang="zh-CN" altLang="en-US" sz="2000" b="1">
                <a:ea typeface="楷体_GB2312"/>
                <a:cs typeface="楷体_GB2312"/>
              </a:rPr>
              <a:t>到</a:t>
            </a:r>
            <a:r>
              <a:rPr lang="en-US" altLang="zh-CN" sz="2000" b="1">
                <a:ea typeface="楷体_GB2312"/>
                <a:cs typeface="楷体_GB2312"/>
              </a:rPr>
              <a:t>1.5</a:t>
            </a:r>
            <a:r>
              <a:rPr lang="en-US" altLang="zh-CN" sz="2000" b="1" i="1">
                <a:ea typeface="楷体_GB2312"/>
                <a:cs typeface="楷体_GB2312"/>
              </a:rPr>
              <a:t>v</a:t>
            </a:r>
            <a:r>
              <a:rPr lang="en-US" altLang="zh-CN" sz="1000" b="1">
                <a:ea typeface="楷体_GB2312"/>
                <a:cs typeface="楷体_GB2312"/>
              </a:rPr>
              <a:t>0</a:t>
            </a:r>
            <a:r>
              <a:rPr lang="zh-CN" altLang="en-US" sz="2000" b="1">
                <a:ea typeface="楷体_GB2312"/>
                <a:cs typeface="楷体_GB2312"/>
              </a:rPr>
              <a:t>间隔内的分子数。</a:t>
            </a:r>
          </a:p>
        </p:txBody>
      </p:sp>
      <p:graphicFrame>
        <p:nvGraphicFramePr>
          <p:cNvPr id="38916" name="Object 3"/>
          <p:cNvGraphicFramePr>
            <a:graphicFrameLocks noChangeAspect="1"/>
          </p:cNvGraphicFramePr>
          <p:nvPr>
            <p:extLst>
              <p:ext uri="{D42A27DB-BD31-4B8C-83A1-F6EECF244321}">
                <p14:modId xmlns:p14="http://schemas.microsoft.com/office/powerpoint/2010/main" val="658492052"/>
              </p:ext>
            </p:extLst>
          </p:nvPr>
        </p:nvGraphicFramePr>
        <p:xfrm>
          <a:off x="146843" y="836712"/>
          <a:ext cx="6729413" cy="958850"/>
        </p:xfrm>
        <a:graphic>
          <a:graphicData uri="http://schemas.openxmlformats.org/presentationml/2006/ole">
            <mc:AlternateContent xmlns:mc="http://schemas.openxmlformats.org/markup-compatibility/2006">
              <mc:Choice xmlns:v="urn:schemas-microsoft-com:vml" Requires="v">
                <p:oleObj spid="_x0000_s39122" name="公式" r:id="rId3" imgW="3035300" imgH="431800" progId="Equation.3">
                  <p:embed/>
                </p:oleObj>
              </mc:Choice>
              <mc:Fallback>
                <p:oleObj name="公式" r:id="rId3" imgW="3035300" imgH="431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843" y="836712"/>
                        <a:ext cx="6729413" cy="958850"/>
                      </a:xfrm>
                      <a:prstGeom prst="rect">
                        <a:avLst/>
                      </a:prstGeom>
                      <a:solidFill>
                        <a:srgbClr val="CCFF99"/>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7" name="Text Box 4"/>
          <p:cNvSpPr txBox="1">
            <a:spLocks noChangeArrowheads="1"/>
          </p:cNvSpPr>
          <p:nvPr/>
        </p:nvSpPr>
        <p:spPr bwMode="auto">
          <a:xfrm>
            <a:off x="250825" y="1773238"/>
            <a:ext cx="3581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rgbClr val="FF0000"/>
                </a:solidFill>
                <a:cs typeface="Arial" panose="020B0604020202020204" pitchFamily="34" charset="0"/>
              </a:rPr>
              <a:t>（</a:t>
            </a:r>
            <a:r>
              <a:rPr lang="en-US" altLang="zh-CN" b="1">
                <a:solidFill>
                  <a:srgbClr val="FF0000"/>
                </a:solidFill>
                <a:cs typeface="Arial" panose="020B0604020202020204" pitchFamily="34" charset="0"/>
              </a:rPr>
              <a:t>4</a:t>
            </a:r>
            <a:r>
              <a:rPr lang="zh-CN" altLang="en-US" b="1">
                <a:solidFill>
                  <a:srgbClr val="FF0000"/>
                </a:solidFill>
                <a:cs typeface="Arial" panose="020B0604020202020204" pitchFamily="34" charset="0"/>
              </a:rPr>
              <a:t>）</a:t>
            </a:r>
            <a:r>
              <a:rPr lang="zh-CN" altLang="en-US" sz="2000" b="1">
                <a:ea typeface="楷体_GB2312"/>
                <a:cs typeface="楷体_GB2312"/>
              </a:rPr>
              <a:t>分子的平均平动动能</a:t>
            </a:r>
          </a:p>
        </p:txBody>
      </p:sp>
      <p:graphicFrame>
        <p:nvGraphicFramePr>
          <p:cNvPr id="38918" name="Object 5"/>
          <p:cNvGraphicFramePr>
            <a:graphicFrameLocks noChangeAspect="1"/>
          </p:cNvGraphicFramePr>
          <p:nvPr>
            <p:extLst>
              <p:ext uri="{D42A27DB-BD31-4B8C-83A1-F6EECF244321}">
                <p14:modId xmlns:p14="http://schemas.microsoft.com/office/powerpoint/2010/main" val="3482564769"/>
              </p:ext>
            </p:extLst>
          </p:nvPr>
        </p:nvGraphicFramePr>
        <p:xfrm>
          <a:off x="128919" y="2393950"/>
          <a:ext cx="8115300" cy="2217738"/>
        </p:xfrm>
        <a:graphic>
          <a:graphicData uri="http://schemas.openxmlformats.org/presentationml/2006/ole">
            <mc:AlternateContent xmlns:mc="http://schemas.openxmlformats.org/markup-compatibility/2006">
              <mc:Choice xmlns:v="urn:schemas-microsoft-com:vml" Requires="v">
                <p:oleObj spid="_x0000_s39123" name="Equation" r:id="rId5" imgW="3530520" imgH="965160" progId="Equation.DSMT4">
                  <p:embed/>
                </p:oleObj>
              </mc:Choice>
              <mc:Fallback>
                <p:oleObj name="Equation" r:id="rId5" imgW="3530520" imgH="965160" progId="Equation.DSMT4">
                  <p:embed/>
                  <p:pic>
                    <p:nvPicPr>
                      <p:cNvPr id="0" name="Object 5"/>
                      <p:cNvPicPr>
                        <a:picLocks noChangeAspect="1" noChangeArrowheads="1"/>
                      </p:cNvPicPr>
                      <p:nvPr/>
                    </p:nvPicPr>
                    <p:blipFill>
                      <a:blip r:embed="rId6"/>
                      <a:srcRect/>
                      <a:stretch>
                        <a:fillRect/>
                      </a:stretch>
                    </p:blipFill>
                    <p:spPr bwMode="auto">
                      <a:xfrm>
                        <a:off x="128919" y="2393950"/>
                        <a:ext cx="8115300" cy="2217738"/>
                      </a:xfrm>
                      <a:prstGeom prst="rect">
                        <a:avLst/>
                      </a:prstGeom>
                      <a:solidFill>
                        <a:schemeClr val="accent1"/>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9" name="Text Box 6"/>
          <p:cNvSpPr txBox="1">
            <a:spLocks noChangeArrowheads="1"/>
          </p:cNvSpPr>
          <p:nvPr/>
        </p:nvSpPr>
        <p:spPr bwMode="auto">
          <a:xfrm>
            <a:off x="179388" y="4652963"/>
            <a:ext cx="1905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b="1">
                <a:solidFill>
                  <a:schemeClr val="accent2"/>
                </a:solidFill>
                <a:cs typeface="Arial" panose="020B0604020202020204" pitchFamily="34" charset="0"/>
              </a:rPr>
              <a:t>所以</a:t>
            </a:r>
          </a:p>
        </p:txBody>
      </p:sp>
      <p:graphicFrame>
        <p:nvGraphicFramePr>
          <p:cNvPr id="38920" name="Object 7"/>
          <p:cNvGraphicFramePr>
            <a:graphicFrameLocks noChangeAspect="1"/>
          </p:cNvGraphicFramePr>
          <p:nvPr/>
        </p:nvGraphicFramePr>
        <p:xfrm>
          <a:off x="950913" y="5243513"/>
          <a:ext cx="7113587" cy="1354137"/>
        </p:xfrm>
        <a:graphic>
          <a:graphicData uri="http://schemas.openxmlformats.org/presentationml/2006/ole">
            <mc:AlternateContent xmlns:mc="http://schemas.openxmlformats.org/markup-compatibility/2006">
              <mc:Choice xmlns:v="urn:schemas-microsoft-com:vml" Requires="v">
                <p:oleObj spid="_x0000_s39124" name="Equation" r:id="rId7" imgW="2057400" imgH="393700" progId="Equation.DSMT4">
                  <p:embed/>
                </p:oleObj>
              </mc:Choice>
              <mc:Fallback>
                <p:oleObj name="Equation" r:id="rId7" imgW="2057400" imgH="3937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0913" y="5243513"/>
                        <a:ext cx="7113587" cy="1354137"/>
                      </a:xfrm>
                      <a:prstGeom prst="rect">
                        <a:avLst/>
                      </a:prstGeom>
                      <a:solidFill>
                        <a:srgbClr val="FFFF00"/>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9" name="Picture 24"/>
          <p:cNvPicPr>
            <a:picLocks noChangeAspect="1" noChangeArrowheads="1"/>
          </p:cNvPicPr>
          <p:nvPr/>
        </p:nvPicPr>
        <p:blipFill rotWithShape="1">
          <a:blip r:embed="rId9">
            <a:extLst>
              <a:ext uri="{28A0092B-C50C-407E-A947-70E740481C1C}">
                <a14:useLocalDpi xmlns:a14="http://schemas.microsoft.com/office/drawing/2010/main" val="0"/>
              </a:ext>
            </a:extLst>
          </a:blip>
          <a:srcRect r="7556"/>
          <a:stretch/>
        </p:blipFill>
        <p:spPr bwMode="auto">
          <a:xfrm>
            <a:off x="6961137" y="44451"/>
            <a:ext cx="2075359" cy="1584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39938" name="Group 9"/>
          <p:cNvGrpSpPr>
            <a:grpSpLocks/>
          </p:cNvGrpSpPr>
          <p:nvPr/>
        </p:nvGrpSpPr>
        <p:grpSpPr bwMode="auto">
          <a:xfrm>
            <a:off x="6439348" y="1360488"/>
            <a:ext cx="2318889" cy="2951145"/>
            <a:chOff x="3600" y="595"/>
            <a:chExt cx="2025" cy="1880"/>
          </a:xfrm>
        </p:grpSpPr>
        <p:grpSp>
          <p:nvGrpSpPr>
            <p:cNvPr id="39946" name="Group 10"/>
            <p:cNvGrpSpPr>
              <a:grpSpLocks noChangeAspect="1"/>
            </p:cNvGrpSpPr>
            <p:nvPr/>
          </p:nvGrpSpPr>
          <p:grpSpPr bwMode="auto">
            <a:xfrm>
              <a:off x="3600" y="595"/>
              <a:ext cx="2025" cy="1880"/>
              <a:chOff x="4289" y="5541"/>
              <a:chExt cx="3115" cy="2926"/>
            </a:xfrm>
          </p:grpSpPr>
          <p:sp>
            <p:nvSpPr>
              <p:cNvPr id="169995" name="AutoShape 11"/>
              <p:cNvSpPr>
                <a:spLocks noChangeAspect="1" noChangeArrowheads="1"/>
              </p:cNvSpPr>
              <p:nvPr/>
            </p:nvSpPr>
            <p:spPr bwMode="auto">
              <a:xfrm>
                <a:off x="4289" y="5810"/>
                <a:ext cx="3100" cy="2657"/>
              </a:xfrm>
              <a:prstGeom prst="rect">
                <a:avLst/>
              </a:prstGeom>
              <a:noFill/>
              <a:ln w="9525">
                <a:noFill/>
                <a:miter lim="800000"/>
                <a:headEnd/>
                <a:tailEnd/>
              </a:ln>
            </p:spPr>
            <p:txBody>
              <a:bodyPr/>
              <a:lstStyle/>
              <a:p>
                <a:pPr eaLnBrk="1" hangingPunct="1">
                  <a:defRPr/>
                </a:pPr>
                <a:endParaRPr lang="en-US">
                  <a:effectLst>
                    <a:outerShdw blurRad="38100" dist="38100" dir="2700000" algn="tl">
                      <a:srgbClr val="000000">
                        <a:alpha val="43137"/>
                      </a:srgbClr>
                    </a:outerShdw>
                  </a:effectLst>
                </a:endParaRPr>
              </a:p>
            </p:txBody>
          </p:sp>
          <p:grpSp>
            <p:nvGrpSpPr>
              <p:cNvPr id="39949" name="Group 12"/>
              <p:cNvGrpSpPr>
                <a:grpSpLocks/>
              </p:cNvGrpSpPr>
              <p:nvPr/>
            </p:nvGrpSpPr>
            <p:grpSpPr bwMode="auto">
              <a:xfrm>
                <a:off x="4477" y="5541"/>
                <a:ext cx="2927" cy="2768"/>
                <a:chOff x="4477" y="5541"/>
                <a:chExt cx="2927" cy="2768"/>
              </a:xfrm>
            </p:grpSpPr>
            <p:sp>
              <p:nvSpPr>
                <p:cNvPr id="169997" name="Freeform 13"/>
                <p:cNvSpPr>
                  <a:spLocks/>
                </p:cNvSpPr>
                <p:nvPr/>
              </p:nvSpPr>
              <p:spPr bwMode="auto">
                <a:xfrm>
                  <a:off x="4494" y="5950"/>
                  <a:ext cx="0" cy="1888"/>
                </a:xfrm>
                <a:custGeom>
                  <a:avLst/>
                  <a:gdLst/>
                  <a:ahLst/>
                  <a:cxnLst>
                    <a:cxn ang="0">
                      <a:pos x="0" y="2097"/>
                    </a:cxn>
                    <a:cxn ang="0">
                      <a:pos x="15" y="0"/>
                    </a:cxn>
                  </a:cxnLst>
                  <a:rect l="0" t="0" r="r" b="b"/>
                  <a:pathLst>
                    <a:path w="15" h="2097">
                      <a:moveTo>
                        <a:pt x="0" y="2097"/>
                      </a:moveTo>
                      <a:lnTo>
                        <a:pt x="15" y="0"/>
                      </a:lnTo>
                    </a:path>
                  </a:pathLst>
                </a:custGeom>
                <a:noFill/>
                <a:ln w="9525">
                  <a:solidFill>
                    <a:schemeClr val="bg1"/>
                  </a:solidFill>
                  <a:round/>
                  <a:headEnd type="none" w="med" len="med"/>
                  <a:tailEnd type="triangle" w="sm" len="med"/>
                </a:ln>
              </p:spPr>
              <p:txBody>
                <a:bodyPr/>
                <a:lstStyle/>
                <a:p>
                  <a:pPr eaLnBrk="1" hangingPunct="1">
                    <a:defRPr/>
                  </a:pPr>
                  <a:endParaRPr lang="en-US">
                    <a:effectLst>
                      <a:outerShdw blurRad="38100" dist="38100" dir="2700000" algn="tl">
                        <a:srgbClr val="000000">
                          <a:alpha val="43137"/>
                        </a:srgbClr>
                      </a:outerShdw>
                    </a:effectLst>
                  </a:endParaRPr>
                </a:p>
              </p:txBody>
            </p:sp>
            <p:sp>
              <p:nvSpPr>
                <p:cNvPr id="39952" name="Text Box 14"/>
                <p:cNvSpPr txBox="1">
                  <a:spLocks noChangeArrowheads="1"/>
                </p:cNvSpPr>
                <p:nvPr/>
              </p:nvSpPr>
              <p:spPr bwMode="auto">
                <a:xfrm>
                  <a:off x="4571" y="5541"/>
                  <a:ext cx="1060" cy="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kumimoji="0" lang="en-US" altLang="zh-CN" sz="3600" i="1">
                      <a:solidFill>
                        <a:schemeClr val="bg1"/>
                      </a:solidFill>
                      <a:ea typeface="楷体_GB2312"/>
                      <a:cs typeface="楷体_GB2312"/>
                    </a:rPr>
                    <a:t>f</a:t>
                  </a:r>
                  <a:r>
                    <a:rPr kumimoji="0" lang="en-US" altLang="zh-CN" sz="3600">
                      <a:solidFill>
                        <a:schemeClr val="bg1"/>
                      </a:solidFill>
                      <a:ea typeface="楷体_GB2312"/>
                      <a:cs typeface="楷体_GB2312"/>
                    </a:rPr>
                    <a:t>(</a:t>
                  </a:r>
                  <a:r>
                    <a:rPr kumimoji="0" lang="en-US" altLang="zh-CN" sz="3600" i="1">
                      <a:solidFill>
                        <a:schemeClr val="bg1"/>
                      </a:solidFill>
                      <a:ea typeface="楷体_GB2312"/>
                      <a:cs typeface="楷体_GB2312"/>
                    </a:rPr>
                    <a:t>v</a:t>
                  </a:r>
                  <a:r>
                    <a:rPr kumimoji="0" lang="en-US" altLang="zh-CN" sz="3600">
                      <a:solidFill>
                        <a:schemeClr val="bg1"/>
                      </a:solidFill>
                      <a:ea typeface="楷体_GB2312"/>
                      <a:cs typeface="楷体_GB2312"/>
                    </a:rPr>
                    <a:t>)</a:t>
                  </a:r>
                </a:p>
              </p:txBody>
            </p:sp>
            <p:sp>
              <p:nvSpPr>
                <p:cNvPr id="169999" name="Line 15"/>
                <p:cNvSpPr>
                  <a:spLocks noChangeShapeType="1"/>
                </p:cNvSpPr>
                <p:nvPr/>
              </p:nvSpPr>
              <p:spPr bwMode="auto">
                <a:xfrm>
                  <a:off x="4502" y="7767"/>
                  <a:ext cx="2880" cy="0"/>
                </a:xfrm>
                <a:prstGeom prst="line">
                  <a:avLst/>
                </a:prstGeom>
                <a:noFill/>
                <a:ln w="9525">
                  <a:solidFill>
                    <a:schemeClr val="bg1"/>
                  </a:solidFill>
                  <a:round/>
                  <a:headEnd/>
                  <a:tailEnd type="triangle" w="sm" len="med"/>
                </a:ln>
              </p:spPr>
              <p:txBody>
                <a:bodyPr/>
                <a:lstStyle/>
                <a:p>
                  <a:pPr eaLnBrk="1" hangingPunct="1">
                    <a:defRPr/>
                  </a:pPr>
                  <a:endParaRPr lang="en-US">
                    <a:effectLst>
                      <a:outerShdw blurRad="38100" dist="38100" dir="2700000" algn="tl">
                        <a:srgbClr val="000000">
                          <a:alpha val="43137"/>
                        </a:srgbClr>
                      </a:outerShdw>
                    </a:effectLst>
                  </a:endParaRPr>
                </a:p>
              </p:txBody>
            </p:sp>
            <p:sp>
              <p:nvSpPr>
                <p:cNvPr id="170000" name="Freeform 16"/>
                <p:cNvSpPr>
                  <a:spLocks/>
                </p:cNvSpPr>
                <p:nvPr/>
              </p:nvSpPr>
              <p:spPr bwMode="auto">
                <a:xfrm>
                  <a:off x="4502" y="6373"/>
                  <a:ext cx="2401" cy="1393"/>
                </a:xfrm>
                <a:custGeom>
                  <a:avLst/>
                  <a:gdLst/>
                  <a:ahLst/>
                  <a:cxnLst>
                    <a:cxn ang="0">
                      <a:pos x="0" y="1548"/>
                    </a:cxn>
                    <a:cxn ang="0">
                      <a:pos x="345" y="1192"/>
                    </a:cxn>
                    <a:cxn ang="0">
                      <a:pos x="968" y="9"/>
                    </a:cxn>
                    <a:cxn ang="0">
                      <a:pos x="1652" y="1139"/>
                    </a:cxn>
                    <a:cxn ang="0">
                      <a:pos x="2108" y="1419"/>
                    </a:cxn>
                    <a:cxn ang="0">
                      <a:pos x="2700" y="1485"/>
                    </a:cxn>
                  </a:cxnLst>
                  <a:rect l="0" t="0" r="r" b="b"/>
                  <a:pathLst>
                    <a:path w="2700" h="1548">
                      <a:moveTo>
                        <a:pt x="0" y="1548"/>
                      </a:moveTo>
                      <a:cubicBezTo>
                        <a:pt x="58" y="1489"/>
                        <a:pt x="184" y="1449"/>
                        <a:pt x="345" y="1192"/>
                      </a:cubicBezTo>
                      <a:cubicBezTo>
                        <a:pt x="506" y="935"/>
                        <a:pt x="750" y="18"/>
                        <a:pt x="968" y="9"/>
                      </a:cubicBezTo>
                      <a:cubicBezTo>
                        <a:pt x="1186" y="0"/>
                        <a:pt x="1462" y="904"/>
                        <a:pt x="1652" y="1139"/>
                      </a:cubicBezTo>
                      <a:cubicBezTo>
                        <a:pt x="1842" y="1374"/>
                        <a:pt x="1933" y="1361"/>
                        <a:pt x="2108" y="1419"/>
                      </a:cubicBezTo>
                      <a:cubicBezTo>
                        <a:pt x="2282" y="1476"/>
                        <a:pt x="2577" y="1472"/>
                        <a:pt x="2700" y="1485"/>
                      </a:cubicBezTo>
                    </a:path>
                  </a:pathLst>
                </a:custGeom>
                <a:noFill/>
                <a:ln w="9525">
                  <a:solidFill>
                    <a:schemeClr val="bg1"/>
                  </a:solidFill>
                  <a:round/>
                  <a:headEnd/>
                  <a:tailEnd/>
                </a:ln>
              </p:spPr>
              <p:txBody>
                <a:bodyPr/>
                <a:lstStyle/>
                <a:p>
                  <a:pPr eaLnBrk="1" hangingPunct="1">
                    <a:defRPr/>
                  </a:pPr>
                  <a:endParaRPr lang="en-US">
                    <a:effectLst>
                      <a:outerShdw blurRad="38100" dist="38100" dir="2700000" algn="tl">
                        <a:srgbClr val="000000">
                          <a:alpha val="43137"/>
                        </a:srgbClr>
                      </a:outerShdw>
                    </a:effectLst>
                  </a:endParaRPr>
                </a:p>
              </p:txBody>
            </p:sp>
            <p:sp>
              <p:nvSpPr>
                <p:cNvPr id="39955" name="Text Box 17"/>
                <p:cNvSpPr txBox="1">
                  <a:spLocks noChangeArrowheads="1"/>
                </p:cNvSpPr>
                <p:nvPr/>
              </p:nvSpPr>
              <p:spPr bwMode="auto">
                <a:xfrm>
                  <a:off x="7121" y="7838"/>
                  <a:ext cx="283"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kumimoji="0" lang="en-US" altLang="zh-CN" sz="3600" i="1">
                      <a:solidFill>
                        <a:schemeClr val="bg1"/>
                      </a:solidFill>
                      <a:ea typeface="楷体_GB2312"/>
                      <a:cs typeface="楷体_GB2312"/>
                    </a:rPr>
                    <a:t>v</a:t>
                  </a:r>
                  <a:endParaRPr kumimoji="0" lang="en-US" altLang="zh-CN" sz="3600">
                    <a:solidFill>
                      <a:schemeClr val="bg1"/>
                    </a:solidFill>
                    <a:ea typeface="楷体_GB2312"/>
                    <a:cs typeface="楷体_GB2312"/>
                  </a:endParaRPr>
                </a:p>
                <a:p>
                  <a:pPr algn="just" eaLnBrk="1" hangingPunct="1">
                    <a:spcBef>
                      <a:spcPct val="0"/>
                    </a:spcBef>
                    <a:buClrTx/>
                    <a:buFontTx/>
                    <a:buNone/>
                  </a:pPr>
                  <a:endParaRPr kumimoji="0" lang="en-US" altLang="zh-CN" sz="3600">
                    <a:solidFill>
                      <a:schemeClr val="bg1"/>
                    </a:solidFill>
                    <a:ea typeface="楷体_GB2312"/>
                    <a:cs typeface="楷体_GB2312"/>
                  </a:endParaRPr>
                </a:p>
                <a:p>
                  <a:pPr algn="just" eaLnBrk="1" hangingPunct="1">
                    <a:spcBef>
                      <a:spcPct val="0"/>
                    </a:spcBef>
                    <a:buClrTx/>
                    <a:buFontTx/>
                    <a:buNone/>
                  </a:pPr>
                  <a:endParaRPr kumimoji="0" lang="en-US" altLang="zh-CN" sz="3600">
                    <a:solidFill>
                      <a:schemeClr val="bg1"/>
                    </a:solidFill>
                    <a:ea typeface="楷体_GB2312"/>
                    <a:cs typeface="楷体_GB2312"/>
                  </a:endParaRPr>
                </a:p>
              </p:txBody>
            </p:sp>
            <p:sp>
              <p:nvSpPr>
                <p:cNvPr id="170003" name="Freeform 19"/>
                <p:cNvSpPr>
                  <a:spLocks/>
                </p:cNvSpPr>
                <p:nvPr/>
              </p:nvSpPr>
              <p:spPr bwMode="auto">
                <a:xfrm>
                  <a:off x="4477" y="6696"/>
                  <a:ext cx="2786" cy="1083"/>
                </a:xfrm>
                <a:custGeom>
                  <a:avLst/>
                  <a:gdLst/>
                  <a:ahLst/>
                  <a:cxnLst>
                    <a:cxn ang="0">
                      <a:pos x="0" y="1202"/>
                    </a:cxn>
                    <a:cxn ang="0">
                      <a:pos x="675" y="855"/>
                    </a:cxn>
                    <a:cxn ang="0">
                      <a:pos x="1530" y="137"/>
                    </a:cxn>
                    <a:cxn ang="0">
                      <a:pos x="1815" y="32"/>
                    </a:cxn>
                    <a:cxn ang="0">
                      <a:pos x="2040" y="197"/>
                    </a:cxn>
                    <a:cxn ang="0">
                      <a:pos x="2265" y="542"/>
                    </a:cxn>
                    <a:cxn ang="0">
                      <a:pos x="2535" y="812"/>
                    </a:cxn>
                    <a:cxn ang="0">
                      <a:pos x="2790" y="917"/>
                    </a:cxn>
                    <a:cxn ang="0">
                      <a:pos x="3135" y="962"/>
                    </a:cxn>
                  </a:cxnLst>
                  <a:rect l="0" t="0" r="r" b="b"/>
                  <a:pathLst>
                    <a:path w="3135" h="1202">
                      <a:moveTo>
                        <a:pt x="0" y="1202"/>
                      </a:moveTo>
                      <a:cubicBezTo>
                        <a:pt x="112" y="1147"/>
                        <a:pt x="420" y="1033"/>
                        <a:pt x="675" y="855"/>
                      </a:cubicBezTo>
                      <a:cubicBezTo>
                        <a:pt x="930" y="677"/>
                        <a:pt x="1340" y="274"/>
                        <a:pt x="1530" y="137"/>
                      </a:cubicBezTo>
                      <a:cubicBezTo>
                        <a:pt x="1720" y="0"/>
                        <a:pt x="1730" y="22"/>
                        <a:pt x="1815" y="32"/>
                      </a:cubicBezTo>
                      <a:cubicBezTo>
                        <a:pt x="1900" y="42"/>
                        <a:pt x="1965" y="112"/>
                        <a:pt x="2040" y="197"/>
                      </a:cubicBezTo>
                      <a:cubicBezTo>
                        <a:pt x="2115" y="282"/>
                        <a:pt x="2183" y="440"/>
                        <a:pt x="2265" y="542"/>
                      </a:cubicBezTo>
                      <a:cubicBezTo>
                        <a:pt x="2347" y="644"/>
                        <a:pt x="2448" y="749"/>
                        <a:pt x="2535" y="812"/>
                      </a:cubicBezTo>
                      <a:cubicBezTo>
                        <a:pt x="2622" y="875"/>
                        <a:pt x="2690" y="892"/>
                        <a:pt x="2790" y="917"/>
                      </a:cubicBezTo>
                      <a:cubicBezTo>
                        <a:pt x="2890" y="942"/>
                        <a:pt x="3063" y="953"/>
                        <a:pt x="3135" y="962"/>
                      </a:cubicBezTo>
                    </a:path>
                  </a:pathLst>
                </a:custGeom>
                <a:noFill/>
                <a:ln w="9525">
                  <a:solidFill>
                    <a:schemeClr val="bg1"/>
                  </a:solidFill>
                  <a:round/>
                  <a:headEnd/>
                  <a:tailEnd/>
                </a:ln>
              </p:spPr>
              <p:txBody>
                <a:bodyPr/>
                <a:lstStyle/>
                <a:p>
                  <a:pPr eaLnBrk="1" hangingPunct="1">
                    <a:defRPr/>
                  </a:pPr>
                  <a:endParaRPr lang="en-US">
                    <a:effectLst>
                      <a:outerShdw blurRad="38100" dist="38100" dir="2700000" algn="tl">
                        <a:srgbClr val="000000">
                          <a:alpha val="43137"/>
                        </a:srgbClr>
                      </a:outerShdw>
                    </a:effectLst>
                  </a:endParaRPr>
                </a:p>
              </p:txBody>
            </p:sp>
            <p:sp>
              <p:nvSpPr>
                <p:cNvPr id="39957" name="Text Box 20" descr="大纸屑"/>
                <p:cNvSpPr txBox="1">
                  <a:spLocks noChangeArrowheads="1"/>
                </p:cNvSpPr>
                <p:nvPr/>
              </p:nvSpPr>
              <p:spPr bwMode="auto">
                <a:xfrm>
                  <a:off x="5237" y="6057"/>
                  <a:ext cx="480"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kumimoji="0" lang="en-US" altLang="zh-CN" sz="1600" i="1">
                      <a:solidFill>
                        <a:schemeClr val="bg1"/>
                      </a:solidFill>
                      <a:cs typeface="Arial" panose="020B0604020202020204" pitchFamily="34" charset="0"/>
                    </a:rPr>
                    <a:t>a</a:t>
                  </a:r>
                  <a:endParaRPr kumimoji="0" lang="en-US" altLang="zh-CN" sz="1600">
                    <a:solidFill>
                      <a:schemeClr val="bg1"/>
                    </a:solidFill>
                    <a:ea typeface="楷体_GB2312"/>
                    <a:cs typeface="楷体_GB2312"/>
                  </a:endParaRPr>
                </a:p>
              </p:txBody>
            </p:sp>
            <p:sp>
              <p:nvSpPr>
                <p:cNvPr id="39958" name="Text Box 21" descr="大纸屑"/>
                <p:cNvSpPr txBox="1">
                  <a:spLocks noChangeArrowheads="1"/>
                </p:cNvSpPr>
                <p:nvPr/>
              </p:nvSpPr>
              <p:spPr bwMode="auto">
                <a:xfrm>
                  <a:off x="5904" y="6345"/>
                  <a:ext cx="179"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endParaRPr kumimoji="0" lang="en-US" altLang="zh-CN" sz="2200">
                    <a:ea typeface="楷体_GB2312"/>
                    <a:cs typeface="楷体_GB2312"/>
                  </a:endParaRPr>
                </a:p>
              </p:txBody>
            </p:sp>
          </p:grpSp>
          <p:sp>
            <p:nvSpPr>
              <p:cNvPr id="39950" name="Text Box 22"/>
              <p:cNvSpPr txBox="1">
                <a:spLocks noChangeArrowheads="1"/>
              </p:cNvSpPr>
              <p:nvPr/>
            </p:nvSpPr>
            <p:spPr bwMode="auto">
              <a:xfrm>
                <a:off x="4448" y="7859"/>
                <a:ext cx="321" cy="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kumimoji="0" lang="en-US" altLang="zh-CN" sz="4000">
                    <a:solidFill>
                      <a:schemeClr val="bg1"/>
                    </a:solidFill>
                    <a:cs typeface="Arial" panose="020B0604020202020204" pitchFamily="34" charset="0"/>
                  </a:rPr>
                  <a:t>0</a:t>
                </a:r>
                <a:endParaRPr kumimoji="0" lang="en-US" altLang="zh-CN" sz="4000">
                  <a:solidFill>
                    <a:schemeClr val="bg1"/>
                  </a:solidFill>
                  <a:ea typeface="楷体_GB2312"/>
                  <a:cs typeface="楷体_GB2312"/>
                </a:endParaRPr>
              </a:p>
            </p:txBody>
          </p:sp>
        </p:grpSp>
        <p:sp>
          <p:nvSpPr>
            <p:cNvPr id="39947" name="Text Box 23"/>
            <p:cNvSpPr txBox="1">
              <a:spLocks noChangeArrowheads="1"/>
            </p:cNvSpPr>
            <p:nvPr/>
          </p:nvSpPr>
          <p:spPr bwMode="auto">
            <a:xfrm>
              <a:off x="4704" y="1104"/>
              <a:ext cx="1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en-US" altLang="zh-CN" sz="1600" i="1">
                  <a:solidFill>
                    <a:schemeClr val="bg1"/>
                  </a:solidFill>
                  <a:ea typeface="楷体_GB2312"/>
                  <a:cs typeface="楷体_GB2312"/>
                </a:rPr>
                <a:t>b</a:t>
              </a:r>
            </a:p>
          </p:txBody>
        </p:sp>
      </p:grpSp>
      <p:sp>
        <p:nvSpPr>
          <p:cNvPr id="39939" name="Text Box 2"/>
          <p:cNvSpPr txBox="1">
            <a:spLocks noChangeArrowheads="1"/>
          </p:cNvSpPr>
          <p:nvPr/>
        </p:nvSpPr>
        <p:spPr bwMode="auto">
          <a:xfrm>
            <a:off x="457200" y="327025"/>
            <a:ext cx="83820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200" b="1">
                <a:solidFill>
                  <a:schemeClr val="folHlink"/>
                </a:solidFill>
                <a:ea typeface="楷体_GB2312"/>
                <a:cs typeface="楷体_GB2312"/>
              </a:rPr>
              <a:t>例</a:t>
            </a:r>
            <a:r>
              <a:rPr kumimoji="0" lang="en-US" altLang="zh-CN" sz="2200" b="1">
                <a:solidFill>
                  <a:schemeClr val="folHlink"/>
                </a:solidFill>
                <a:ea typeface="楷体_GB2312"/>
                <a:cs typeface="楷体_GB2312"/>
              </a:rPr>
              <a:t>2</a:t>
            </a:r>
            <a:r>
              <a:rPr kumimoji="0" lang="zh-CN" altLang="en-US" sz="2200" b="1">
                <a:solidFill>
                  <a:schemeClr val="bg1"/>
                </a:solidFill>
                <a:ea typeface="楷体_GB2312"/>
                <a:cs typeface="楷体_GB2312"/>
              </a:rPr>
              <a:t>、图示两条曲线分别表示在相同温度下氧气和氢气分子速率分布曲线。</a:t>
            </a:r>
            <a:r>
              <a:rPr kumimoji="0" lang="en-US" altLang="zh-CN" sz="2200" b="1" i="1">
                <a:solidFill>
                  <a:schemeClr val="bg1"/>
                </a:solidFill>
                <a:ea typeface="楷体_GB2312"/>
                <a:cs typeface="楷体_GB2312"/>
              </a:rPr>
              <a:t>v</a:t>
            </a:r>
            <a:r>
              <a:rPr kumimoji="0" lang="en-US" altLang="zh-CN" sz="2200" b="1" i="1" baseline="-25000">
                <a:solidFill>
                  <a:schemeClr val="bg1"/>
                </a:solidFill>
                <a:ea typeface="楷体_GB2312"/>
                <a:cs typeface="楷体_GB2312"/>
              </a:rPr>
              <a:t>p1 </a:t>
            </a:r>
            <a:r>
              <a:rPr kumimoji="0" lang="zh-CN" altLang="en-US" sz="2200" b="1">
                <a:solidFill>
                  <a:schemeClr val="bg1"/>
                </a:solidFill>
                <a:ea typeface="楷体_GB2312"/>
                <a:cs typeface="楷体_GB2312"/>
              </a:rPr>
              <a:t>和 </a:t>
            </a:r>
            <a:r>
              <a:rPr kumimoji="0" lang="en-US" altLang="zh-CN" sz="2200" b="1" i="1">
                <a:solidFill>
                  <a:schemeClr val="bg1"/>
                </a:solidFill>
                <a:ea typeface="楷体_GB2312"/>
                <a:cs typeface="楷体_GB2312"/>
              </a:rPr>
              <a:t>v</a:t>
            </a:r>
            <a:r>
              <a:rPr kumimoji="0" lang="en-US" altLang="zh-CN" sz="2200" b="1" i="1" baseline="-25000">
                <a:solidFill>
                  <a:schemeClr val="bg1"/>
                </a:solidFill>
                <a:ea typeface="楷体_GB2312"/>
                <a:cs typeface="楷体_GB2312"/>
              </a:rPr>
              <a:t>p2 </a:t>
            </a:r>
            <a:r>
              <a:rPr kumimoji="0" lang="zh-CN" altLang="en-US" sz="2200" b="1">
                <a:solidFill>
                  <a:schemeClr val="bg1"/>
                </a:solidFill>
                <a:ea typeface="楷体_GB2312"/>
                <a:cs typeface="楷体_GB2312"/>
              </a:rPr>
              <a:t>分别表示氧气和氢气的最概然速率，则正确的判断是</a:t>
            </a:r>
            <a:r>
              <a:rPr kumimoji="0" lang="en-US" altLang="zh-CN" sz="2200" b="1">
                <a:solidFill>
                  <a:schemeClr val="bg1"/>
                </a:solidFill>
                <a:ea typeface="楷体_GB2312"/>
                <a:cs typeface="楷体_GB2312"/>
              </a:rPr>
              <a:t>[         ]</a:t>
            </a:r>
          </a:p>
        </p:txBody>
      </p:sp>
      <p:sp>
        <p:nvSpPr>
          <p:cNvPr id="39940" name="Text Box 4"/>
          <p:cNvSpPr txBox="1">
            <a:spLocks noChangeArrowheads="1"/>
          </p:cNvSpPr>
          <p:nvPr/>
        </p:nvSpPr>
        <p:spPr bwMode="auto">
          <a:xfrm>
            <a:off x="129962" y="1562955"/>
            <a:ext cx="6358282"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en-US" altLang="zh-CN" sz="2200" b="1">
                <a:solidFill>
                  <a:schemeClr val="bg1"/>
                </a:solidFill>
                <a:ea typeface="楷体_GB2312"/>
                <a:cs typeface="楷体_GB2312"/>
              </a:rPr>
              <a:t>A</a:t>
            </a:r>
            <a:r>
              <a:rPr kumimoji="0" lang="zh-CN" altLang="en-US" sz="2200" b="1">
                <a:solidFill>
                  <a:schemeClr val="bg1"/>
                </a:solidFill>
                <a:ea typeface="楷体_GB2312"/>
                <a:cs typeface="楷体_GB2312"/>
              </a:rPr>
              <a:t>：</a:t>
            </a:r>
            <a:r>
              <a:rPr kumimoji="0" lang="en-US" altLang="zh-CN" sz="2200" b="1" i="1">
                <a:solidFill>
                  <a:schemeClr val="bg1"/>
                </a:solidFill>
                <a:ea typeface="楷体_GB2312"/>
                <a:cs typeface="楷体_GB2312"/>
              </a:rPr>
              <a:t>a</a:t>
            </a:r>
            <a:r>
              <a:rPr kumimoji="0" lang="zh-CN" altLang="en-US" sz="2200" b="1">
                <a:solidFill>
                  <a:schemeClr val="bg1"/>
                </a:solidFill>
                <a:ea typeface="楷体_GB2312"/>
                <a:cs typeface="楷体_GB2312"/>
              </a:rPr>
              <a:t>表示氧气分子速率分布曲线，且</a:t>
            </a:r>
            <a:r>
              <a:rPr kumimoji="0" lang="en-US" altLang="zh-CN" sz="2200" b="1">
                <a:solidFill>
                  <a:schemeClr val="bg1"/>
                </a:solidFill>
                <a:ea typeface="楷体_GB2312"/>
                <a:cs typeface="楷体_GB2312"/>
              </a:rPr>
              <a:t>v</a:t>
            </a:r>
            <a:r>
              <a:rPr kumimoji="0" lang="en-US" altLang="zh-CN" sz="2200" b="1" baseline="-25000">
                <a:solidFill>
                  <a:schemeClr val="bg1"/>
                </a:solidFill>
                <a:ea typeface="楷体_GB2312"/>
                <a:cs typeface="楷体_GB2312"/>
              </a:rPr>
              <a:t>p1</a:t>
            </a:r>
            <a:r>
              <a:rPr kumimoji="0" lang="en-US" altLang="zh-CN" sz="2200" b="1">
                <a:solidFill>
                  <a:schemeClr val="bg1"/>
                </a:solidFill>
                <a:ea typeface="楷体_GB2312"/>
                <a:cs typeface="楷体_GB2312"/>
              </a:rPr>
              <a:t>/v</a:t>
            </a:r>
            <a:r>
              <a:rPr kumimoji="0" lang="en-US" altLang="zh-CN" sz="2200" b="1" baseline="-25000">
                <a:solidFill>
                  <a:schemeClr val="bg1"/>
                </a:solidFill>
                <a:ea typeface="楷体_GB2312"/>
                <a:cs typeface="楷体_GB2312"/>
              </a:rPr>
              <a:t>p2</a:t>
            </a:r>
            <a:r>
              <a:rPr kumimoji="0" lang="en-US" altLang="zh-CN" sz="2200" b="1">
                <a:solidFill>
                  <a:schemeClr val="bg1"/>
                </a:solidFill>
                <a:ea typeface="楷体_GB2312"/>
                <a:cs typeface="楷体_GB2312"/>
              </a:rPr>
              <a:t>=4</a:t>
            </a:r>
            <a:endParaRPr kumimoji="0" lang="zh-CN" altLang="en-US" sz="2200" b="1">
              <a:solidFill>
                <a:schemeClr val="bg1"/>
              </a:solidFill>
              <a:ea typeface="楷体_GB2312"/>
              <a:cs typeface="楷体_GB2312"/>
            </a:endParaRPr>
          </a:p>
          <a:p>
            <a:pPr eaLnBrk="1" hangingPunct="1">
              <a:spcBef>
                <a:spcPct val="0"/>
              </a:spcBef>
              <a:buClrTx/>
              <a:buFontTx/>
              <a:buNone/>
            </a:pPr>
            <a:endParaRPr kumimoji="0" lang="zh-CN" altLang="en-US" sz="2200" b="1">
              <a:solidFill>
                <a:schemeClr val="bg1"/>
              </a:solidFill>
              <a:ea typeface="楷体_GB2312"/>
              <a:cs typeface="楷体_GB2312"/>
            </a:endParaRPr>
          </a:p>
          <a:p>
            <a:pPr eaLnBrk="1" hangingPunct="1">
              <a:spcBef>
                <a:spcPct val="0"/>
              </a:spcBef>
              <a:buClrTx/>
              <a:buFontTx/>
              <a:buNone/>
            </a:pPr>
            <a:r>
              <a:rPr kumimoji="0" lang="en-US" altLang="zh-CN" sz="2200" b="1">
                <a:solidFill>
                  <a:schemeClr val="bg1"/>
                </a:solidFill>
                <a:ea typeface="楷体_GB2312"/>
                <a:cs typeface="楷体_GB2312"/>
              </a:rPr>
              <a:t>B</a:t>
            </a:r>
            <a:r>
              <a:rPr kumimoji="0" lang="zh-CN" altLang="en-US" sz="2200" b="1">
                <a:solidFill>
                  <a:schemeClr val="bg1"/>
                </a:solidFill>
                <a:ea typeface="楷体_GB2312"/>
                <a:cs typeface="楷体_GB2312"/>
              </a:rPr>
              <a:t>：</a:t>
            </a:r>
            <a:r>
              <a:rPr kumimoji="0" lang="en-US" altLang="zh-CN" sz="2200" b="1" i="1">
                <a:solidFill>
                  <a:schemeClr val="bg1"/>
                </a:solidFill>
                <a:ea typeface="楷体_GB2312"/>
                <a:cs typeface="楷体_GB2312"/>
              </a:rPr>
              <a:t>a</a:t>
            </a:r>
            <a:r>
              <a:rPr kumimoji="0" lang="zh-CN" altLang="en-US" sz="2200" b="1">
                <a:solidFill>
                  <a:schemeClr val="bg1"/>
                </a:solidFill>
                <a:ea typeface="楷体_GB2312"/>
                <a:cs typeface="楷体_GB2312"/>
              </a:rPr>
              <a:t>表示氧气分子速率分布  曲线，且</a:t>
            </a:r>
            <a:r>
              <a:rPr kumimoji="0" lang="en-US" altLang="zh-CN" sz="2200" b="1">
                <a:solidFill>
                  <a:schemeClr val="bg1"/>
                </a:solidFill>
                <a:ea typeface="楷体_GB2312"/>
                <a:cs typeface="楷体_GB2312"/>
              </a:rPr>
              <a:t>v</a:t>
            </a:r>
            <a:r>
              <a:rPr kumimoji="0" lang="en-US" altLang="zh-CN" sz="2200" b="1" baseline="-25000">
                <a:solidFill>
                  <a:schemeClr val="bg1"/>
                </a:solidFill>
                <a:ea typeface="楷体_GB2312"/>
                <a:cs typeface="楷体_GB2312"/>
              </a:rPr>
              <a:t>p1</a:t>
            </a:r>
            <a:r>
              <a:rPr kumimoji="0" lang="en-US" altLang="zh-CN" sz="2200" b="1">
                <a:solidFill>
                  <a:schemeClr val="bg1"/>
                </a:solidFill>
                <a:ea typeface="楷体_GB2312"/>
                <a:cs typeface="楷体_GB2312"/>
              </a:rPr>
              <a:t>/v</a:t>
            </a:r>
            <a:r>
              <a:rPr kumimoji="0" lang="en-US" altLang="zh-CN" sz="2200" b="1" baseline="-25000">
                <a:solidFill>
                  <a:schemeClr val="bg1"/>
                </a:solidFill>
                <a:ea typeface="楷体_GB2312"/>
                <a:cs typeface="楷体_GB2312"/>
              </a:rPr>
              <a:t>p2</a:t>
            </a:r>
            <a:r>
              <a:rPr kumimoji="0" lang="en-US" altLang="zh-CN" sz="2200" b="1">
                <a:solidFill>
                  <a:schemeClr val="bg1"/>
                </a:solidFill>
                <a:ea typeface="楷体_GB2312"/>
                <a:cs typeface="楷体_GB2312"/>
              </a:rPr>
              <a:t>=1/4</a:t>
            </a:r>
            <a:endParaRPr kumimoji="0" lang="zh-CN" altLang="en-US" sz="2200" b="1">
              <a:solidFill>
                <a:schemeClr val="bg1"/>
              </a:solidFill>
              <a:ea typeface="楷体_GB2312"/>
              <a:cs typeface="楷体_GB2312"/>
            </a:endParaRPr>
          </a:p>
          <a:p>
            <a:pPr eaLnBrk="1" hangingPunct="1">
              <a:spcBef>
                <a:spcPct val="0"/>
              </a:spcBef>
              <a:buClrTx/>
              <a:buFontTx/>
              <a:buNone/>
            </a:pPr>
            <a:endParaRPr kumimoji="0" lang="zh-CN" altLang="en-US" sz="2200" b="1">
              <a:solidFill>
                <a:schemeClr val="bg1"/>
              </a:solidFill>
              <a:ea typeface="楷体_GB2312"/>
              <a:cs typeface="楷体_GB2312"/>
            </a:endParaRPr>
          </a:p>
          <a:p>
            <a:pPr eaLnBrk="1" hangingPunct="1">
              <a:spcBef>
                <a:spcPct val="0"/>
              </a:spcBef>
              <a:buClrTx/>
              <a:buFontTx/>
              <a:buNone/>
            </a:pPr>
            <a:r>
              <a:rPr kumimoji="0" lang="en-US" altLang="zh-CN" sz="2200" b="1">
                <a:solidFill>
                  <a:schemeClr val="bg1"/>
                </a:solidFill>
                <a:ea typeface="楷体_GB2312"/>
                <a:cs typeface="楷体_GB2312"/>
              </a:rPr>
              <a:t>C</a:t>
            </a:r>
            <a:r>
              <a:rPr kumimoji="0" lang="zh-CN" altLang="en-US" sz="2200" b="1">
                <a:solidFill>
                  <a:schemeClr val="bg1"/>
                </a:solidFill>
                <a:ea typeface="楷体_GB2312"/>
                <a:cs typeface="楷体_GB2312"/>
              </a:rPr>
              <a:t>：</a:t>
            </a:r>
            <a:r>
              <a:rPr kumimoji="0" lang="en-US" altLang="zh-CN" sz="2200" b="1" i="1">
                <a:solidFill>
                  <a:schemeClr val="bg1"/>
                </a:solidFill>
                <a:ea typeface="楷体_GB2312"/>
                <a:cs typeface="楷体_GB2312"/>
              </a:rPr>
              <a:t>b</a:t>
            </a:r>
            <a:r>
              <a:rPr kumimoji="0" lang="zh-CN" altLang="en-US" sz="2200" b="1">
                <a:solidFill>
                  <a:schemeClr val="bg1"/>
                </a:solidFill>
                <a:ea typeface="楷体_GB2312"/>
                <a:cs typeface="楷体_GB2312"/>
              </a:rPr>
              <a:t>表示氧气分子速率分布曲线，且</a:t>
            </a:r>
            <a:r>
              <a:rPr kumimoji="0" lang="en-US" altLang="zh-CN" sz="2200" b="1">
                <a:solidFill>
                  <a:schemeClr val="bg1"/>
                </a:solidFill>
                <a:ea typeface="楷体_GB2312"/>
                <a:cs typeface="楷体_GB2312"/>
              </a:rPr>
              <a:t> v</a:t>
            </a:r>
            <a:r>
              <a:rPr kumimoji="0" lang="en-US" altLang="zh-CN" sz="2200" b="1" baseline="-25000">
                <a:solidFill>
                  <a:schemeClr val="bg1"/>
                </a:solidFill>
                <a:ea typeface="楷体_GB2312"/>
                <a:cs typeface="楷体_GB2312"/>
              </a:rPr>
              <a:t>p1</a:t>
            </a:r>
            <a:r>
              <a:rPr kumimoji="0" lang="en-US" altLang="zh-CN" sz="2200" b="1">
                <a:solidFill>
                  <a:schemeClr val="bg1"/>
                </a:solidFill>
                <a:ea typeface="楷体_GB2312"/>
                <a:cs typeface="楷体_GB2312"/>
              </a:rPr>
              <a:t>/v</a:t>
            </a:r>
            <a:r>
              <a:rPr kumimoji="0" lang="en-US" altLang="zh-CN" sz="2200" b="1" baseline="-25000">
                <a:solidFill>
                  <a:schemeClr val="bg1"/>
                </a:solidFill>
                <a:ea typeface="楷体_GB2312"/>
                <a:cs typeface="楷体_GB2312"/>
              </a:rPr>
              <a:t>p2</a:t>
            </a:r>
            <a:r>
              <a:rPr kumimoji="0" lang="en-US" altLang="zh-CN" sz="2200" b="1">
                <a:solidFill>
                  <a:schemeClr val="bg1"/>
                </a:solidFill>
                <a:ea typeface="楷体_GB2312"/>
                <a:cs typeface="楷体_GB2312"/>
              </a:rPr>
              <a:t>=1/4</a:t>
            </a:r>
            <a:endParaRPr kumimoji="0" lang="zh-CN" altLang="en-US" sz="2200" b="1">
              <a:solidFill>
                <a:schemeClr val="bg1"/>
              </a:solidFill>
              <a:ea typeface="楷体_GB2312"/>
              <a:cs typeface="楷体_GB2312"/>
            </a:endParaRPr>
          </a:p>
          <a:p>
            <a:pPr eaLnBrk="1" hangingPunct="1">
              <a:spcBef>
                <a:spcPct val="0"/>
              </a:spcBef>
              <a:buClrTx/>
              <a:buFontTx/>
              <a:buNone/>
            </a:pPr>
            <a:endParaRPr kumimoji="0" lang="zh-CN" altLang="en-US" sz="2200" b="1">
              <a:solidFill>
                <a:schemeClr val="bg1"/>
              </a:solidFill>
              <a:ea typeface="楷体_GB2312"/>
              <a:cs typeface="楷体_GB2312"/>
            </a:endParaRPr>
          </a:p>
          <a:p>
            <a:pPr eaLnBrk="1" hangingPunct="1">
              <a:spcBef>
                <a:spcPct val="0"/>
              </a:spcBef>
              <a:buClrTx/>
              <a:buFontTx/>
              <a:buNone/>
            </a:pPr>
            <a:r>
              <a:rPr kumimoji="0" lang="en-US" altLang="zh-CN" sz="2200" b="1">
                <a:solidFill>
                  <a:schemeClr val="bg1"/>
                </a:solidFill>
                <a:ea typeface="楷体_GB2312"/>
                <a:cs typeface="楷体_GB2312"/>
              </a:rPr>
              <a:t>D</a:t>
            </a:r>
            <a:r>
              <a:rPr kumimoji="0" lang="zh-CN" altLang="en-US" sz="2200" b="1">
                <a:solidFill>
                  <a:schemeClr val="bg1"/>
                </a:solidFill>
                <a:ea typeface="楷体_GB2312"/>
                <a:cs typeface="楷体_GB2312"/>
              </a:rPr>
              <a:t>：</a:t>
            </a:r>
            <a:r>
              <a:rPr kumimoji="0" lang="en-US" altLang="zh-CN" sz="2200" b="1" i="1">
                <a:solidFill>
                  <a:schemeClr val="bg1"/>
                </a:solidFill>
                <a:ea typeface="楷体_GB2312"/>
                <a:cs typeface="楷体_GB2312"/>
              </a:rPr>
              <a:t>b</a:t>
            </a:r>
            <a:r>
              <a:rPr kumimoji="0" lang="zh-CN" altLang="en-US" sz="2200" b="1">
                <a:solidFill>
                  <a:schemeClr val="bg1"/>
                </a:solidFill>
                <a:ea typeface="楷体_GB2312"/>
                <a:cs typeface="楷体_GB2312"/>
              </a:rPr>
              <a:t>表示氧气分子速率分布曲线，且</a:t>
            </a:r>
            <a:r>
              <a:rPr kumimoji="0" lang="en-US" altLang="zh-CN" sz="2200" b="1">
                <a:solidFill>
                  <a:schemeClr val="bg1"/>
                </a:solidFill>
                <a:ea typeface="楷体_GB2312"/>
                <a:cs typeface="楷体_GB2312"/>
              </a:rPr>
              <a:t> v</a:t>
            </a:r>
            <a:r>
              <a:rPr kumimoji="0" lang="en-US" altLang="zh-CN" sz="2200" b="1" baseline="-25000">
                <a:solidFill>
                  <a:schemeClr val="bg1"/>
                </a:solidFill>
                <a:ea typeface="楷体_GB2312"/>
                <a:cs typeface="楷体_GB2312"/>
              </a:rPr>
              <a:t>p1</a:t>
            </a:r>
            <a:r>
              <a:rPr kumimoji="0" lang="en-US" altLang="zh-CN" sz="2200" b="1">
                <a:solidFill>
                  <a:schemeClr val="bg1"/>
                </a:solidFill>
                <a:ea typeface="楷体_GB2312"/>
                <a:cs typeface="楷体_GB2312"/>
              </a:rPr>
              <a:t>/v</a:t>
            </a:r>
            <a:r>
              <a:rPr kumimoji="0" lang="en-US" altLang="zh-CN" sz="2200" b="1" baseline="-25000">
                <a:solidFill>
                  <a:schemeClr val="bg1"/>
                </a:solidFill>
                <a:ea typeface="楷体_GB2312"/>
                <a:cs typeface="楷体_GB2312"/>
              </a:rPr>
              <a:t>p2</a:t>
            </a:r>
            <a:r>
              <a:rPr kumimoji="0" lang="en-US" altLang="zh-CN" sz="2200" b="1">
                <a:solidFill>
                  <a:schemeClr val="bg1"/>
                </a:solidFill>
                <a:ea typeface="楷体_GB2312"/>
                <a:cs typeface="楷体_GB2312"/>
              </a:rPr>
              <a:t>=4</a:t>
            </a:r>
            <a:endParaRPr kumimoji="0" lang="zh-CN" altLang="en-US" sz="2200" b="1">
              <a:solidFill>
                <a:schemeClr val="bg1"/>
              </a:solidFill>
              <a:ea typeface="楷体_GB2312"/>
              <a:cs typeface="楷体_GB2312"/>
            </a:endParaRPr>
          </a:p>
        </p:txBody>
      </p:sp>
      <p:graphicFrame>
        <p:nvGraphicFramePr>
          <p:cNvPr id="55319" name="Object 5"/>
          <p:cNvGraphicFramePr>
            <a:graphicFrameLocks noChangeAspect="1"/>
          </p:cNvGraphicFramePr>
          <p:nvPr>
            <p:extLst>
              <p:ext uri="{D42A27DB-BD31-4B8C-83A1-F6EECF244321}">
                <p14:modId xmlns:p14="http://schemas.microsoft.com/office/powerpoint/2010/main" val="3605130987"/>
              </p:ext>
            </p:extLst>
          </p:nvPr>
        </p:nvGraphicFramePr>
        <p:xfrm>
          <a:off x="7420679" y="4311633"/>
          <a:ext cx="1762125" cy="1438275"/>
        </p:xfrm>
        <a:graphic>
          <a:graphicData uri="http://schemas.openxmlformats.org/presentationml/2006/ole">
            <mc:AlternateContent xmlns:mc="http://schemas.openxmlformats.org/markup-compatibility/2006">
              <mc:Choice xmlns:v="urn:schemas-microsoft-com:vml" Requires="v">
                <p:oleObj spid="_x0000_s40095" name="Equation" r:id="rId3" imgW="507960" imgH="431640" progId="Equation.DSMT4">
                  <p:embed/>
                </p:oleObj>
              </mc:Choice>
              <mc:Fallback>
                <p:oleObj name="Equation" r:id="rId3" imgW="507960" imgH="431640" progId="Equation.DSMT4">
                  <p:embed/>
                  <p:pic>
                    <p:nvPicPr>
                      <p:cNvPr id="0" name="Object 5"/>
                      <p:cNvPicPr>
                        <a:picLocks noChangeAspect="1" noChangeArrowheads="1"/>
                      </p:cNvPicPr>
                      <p:nvPr/>
                    </p:nvPicPr>
                    <p:blipFill>
                      <a:blip r:embed="rId4"/>
                      <a:srcRect/>
                      <a:stretch>
                        <a:fillRect/>
                      </a:stretch>
                    </p:blipFill>
                    <p:spPr bwMode="auto">
                      <a:xfrm>
                        <a:off x="7420679" y="4311633"/>
                        <a:ext cx="176212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0010" name="Text Box 26"/>
          <p:cNvSpPr txBox="1">
            <a:spLocks noChangeArrowheads="1"/>
          </p:cNvSpPr>
          <p:nvPr/>
        </p:nvSpPr>
        <p:spPr bwMode="auto">
          <a:xfrm>
            <a:off x="2037530" y="4414803"/>
            <a:ext cx="5616575"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200" b="1">
                <a:solidFill>
                  <a:schemeClr val="bg1"/>
                </a:solidFill>
                <a:ea typeface="楷体_GB2312"/>
                <a:cs typeface="楷体_GB2312"/>
              </a:rPr>
              <a:t>所以最可几速率与气体摩尔质量的</a:t>
            </a:r>
            <a:r>
              <a:rPr kumimoji="0" lang="en-US" altLang="zh-CN" sz="2200" b="1">
                <a:solidFill>
                  <a:schemeClr val="bg1"/>
                </a:solidFill>
                <a:ea typeface="楷体_GB2312"/>
                <a:cs typeface="楷体_GB2312"/>
              </a:rPr>
              <a:t>-</a:t>
            </a:r>
            <a:r>
              <a:rPr kumimoji="0" lang="en-US" altLang="zh-CN" sz="2200">
                <a:solidFill>
                  <a:schemeClr val="bg1"/>
                </a:solidFill>
                <a:ea typeface="楷体_GB2312"/>
                <a:cs typeface="楷体_GB2312"/>
              </a:rPr>
              <a:t>1/2</a:t>
            </a:r>
            <a:r>
              <a:rPr kumimoji="0" lang="zh-CN" altLang="en-US" sz="2200" b="1">
                <a:solidFill>
                  <a:schemeClr val="bg1"/>
                </a:solidFill>
                <a:ea typeface="楷体_GB2312"/>
                <a:cs typeface="楷体_GB2312"/>
              </a:rPr>
              <a:t>方成正比，氧气的摩尔质量为</a:t>
            </a:r>
            <a:r>
              <a:rPr kumimoji="0" lang="en-US" altLang="zh-CN" sz="2200" b="1">
                <a:solidFill>
                  <a:schemeClr val="bg1"/>
                </a:solidFill>
                <a:ea typeface="楷体_GB2312"/>
                <a:cs typeface="楷体_GB2312"/>
              </a:rPr>
              <a:t>32</a:t>
            </a:r>
            <a:r>
              <a:rPr kumimoji="0" lang="en-US" altLang="zh-CN" sz="2200" b="1" i="1">
                <a:solidFill>
                  <a:schemeClr val="bg1"/>
                </a:solidFill>
                <a:ea typeface="楷体_GB2312"/>
                <a:cs typeface="楷体_GB2312"/>
              </a:rPr>
              <a:t>g</a:t>
            </a:r>
            <a:r>
              <a:rPr kumimoji="0" lang="zh-CN" altLang="en-US" sz="2200" b="1">
                <a:solidFill>
                  <a:schemeClr val="bg1"/>
                </a:solidFill>
                <a:ea typeface="楷体_GB2312"/>
                <a:cs typeface="楷体_GB2312"/>
              </a:rPr>
              <a:t>，氢气的摩尔质量为</a:t>
            </a:r>
            <a:r>
              <a:rPr kumimoji="0" lang="en-US" altLang="zh-CN" sz="2200" b="1">
                <a:solidFill>
                  <a:schemeClr val="bg1"/>
                </a:solidFill>
                <a:ea typeface="楷体_GB2312"/>
                <a:cs typeface="楷体_GB2312"/>
              </a:rPr>
              <a:t>2</a:t>
            </a:r>
            <a:r>
              <a:rPr kumimoji="0" lang="en-US" altLang="zh-CN" sz="2200" b="1" i="1">
                <a:solidFill>
                  <a:schemeClr val="bg1"/>
                </a:solidFill>
                <a:ea typeface="楷体_GB2312"/>
                <a:cs typeface="楷体_GB2312"/>
              </a:rPr>
              <a:t>g</a:t>
            </a:r>
            <a:r>
              <a:rPr kumimoji="0" lang="zh-CN" altLang="en-US" sz="2200" b="1">
                <a:solidFill>
                  <a:schemeClr val="bg1"/>
                </a:solidFill>
                <a:ea typeface="楷体_GB2312"/>
                <a:cs typeface="楷体_GB2312"/>
              </a:rPr>
              <a:t>，</a:t>
            </a:r>
            <a:r>
              <a:rPr kumimoji="0" lang="en-US" altLang="zh-CN" sz="2200" b="1" i="1">
                <a:solidFill>
                  <a:schemeClr val="bg1"/>
                </a:solidFill>
                <a:ea typeface="楷体_GB2312"/>
                <a:cs typeface="楷体_GB2312"/>
              </a:rPr>
              <a:t>a</a:t>
            </a:r>
            <a:r>
              <a:rPr kumimoji="0" lang="zh-CN" altLang="en-US" sz="2200" b="1">
                <a:solidFill>
                  <a:schemeClr val="bg1"/>
                </a:solidFill>
                <a:ea typeface="楷体_GB2312"/>
                <a:cs typeface="楷体_GB2312"/>
              </a:rPr>
              <a:t>表示氧气分子速率分别曲线， </a:t>
            </a:r>
          </a:p>
        </p:txBody>
      </p:sp>
      <p:graphicFrame>
        <p:nvGraphicFramePr>
          <p:cNvPr id="170012" name="Object 28"/>
          <p:cNvGraphicFramePr>
            <a:graphicFrameLocks noChangeAspect="1"/>
          </p:cNvGraphicFramePr>
          <p:nvPr>
            <p:extLst>
              <p:ext uri="{D42A27DB-BD31-4B8C-83A1-F6EECF244321}">
                <p14:modId xmlns:p14="http://schemas.microsoft.com/office/powerpoint/2010/main" val="2931167050"/>
              </p:ext>
            </p:extLst>
          </p:nvPr>
        </p:nvGraphicFramePr>
        <p:xfrm>
          <a:off x="167394" y="4429945"/>
          <a:ext cx="1663700" cy="971550"/>
        </p:xfrm>
        <a:graphic>
          <a:graphicData uri="http://schemas.openxmlformats.org/presentationml/2006/ole">
            <mc:AlternateContent xmlns:mc="http://schemas.openxmlformats.org/markup-compatibility/2006">
              <mc:Choice xmlns:v="urn:schemas-microsoft-com:vml" Requires="v">
                <p:oleObj spid="_x0000_s40096" name="Equation" r:id="rId5" imgW="761669" imgH="444307" progId="Equation.DSMT4">
                  <p:embed/>
                </p:oleObj>
              </mc:Choice>
              <mc:Fallback>
                <p:oleObj name="Equation" r:id="rId5" imgW="761669" imgH="444307"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394" y="4429945"/>
                        <a:ext cx="1663700" cy="971550"/>
                      </a:xfrm>
                      <a:prstGeom prst="rect">
                        <a:avLst/>
                      </a:prstGeom>
                      <a:solidFill>
                        <a:schemeClr val="accent1"/>
                      </a:solidFill>
                      <a:ln w="9525">
                        <a:solidFill>
                          <a:srgbClr val="FF0000"/>
                        </a:solidFill>
                        <a:miter lim="800000"/>
                        <a:headEnd/>
                        <a:tailEnd/>
                      </a:ln>
                    </p:spPr>
                  </p:pic>
                </p:oleObj>
              </mc:Fallback>
            </mc:AlternateContent>
          </a:graphicData>
        </a:graphic>
      </p:graphicFrame>
      <p:cxnSp>
        <p:nvCxnSpPr>
          <p:cNvPr id="5" name="直接连接符 4"/>
          <p:cNvCxnSpPr>
            <a:cxnSpLocks/>
          </p:cNvCxnSpPr>
          <p:nvPr/>
        </p:nvCxnSpPr>
        <p:spPr bwMode="auto">
          <a:xfrm>
            <a:off x="7236296" y="2218217"/>
            <a:ext cx="0" cy="1384957"/>
          </a:xfrm>
          <a:prstGeom prst="line">
            <a:avLst/>
          </a:prstGeom>
          <a:ln w="28575">
            <a:solidFill>
              <a:srgbClr val="FF0000"/>
            </a:solidFill>
            <a:prstDash val="dash"/>
            <a:headEnd type="none" w="sm" len="sm"/>
            <a:tailEnd type="none" w="sm" len="sm"/>
          </a:ln>
        </p:spPr>
        <p:style>
          <a:lnRef idx="1">
            <a:schemeClr val="accent6"/>
          </a:lnRef>
          <a:fillRef idx="0">
            <a:schemeClr val="accent6"/>
          </a:fillRef>
          <a:effectRef idx="0">
            <a:schemeClr val="accent6"/>
          </a:effectRef>
          <a:fontRef idx="minor">
            <a:schemeClr val="tx1"/>
          </a:fontRef>
        </p:style>
      </p:cxnSp>
      <p:cxnSp>
        <p:nvCxnSpPr>
          <p:cNvPr id="27" name="直接连接符 26"/>
          <p:cNvCxnSpPr>
            <a:cxnSpLocks/>
          </p:cNvCxnSpPr>
          <p:nvPr/>
        </p:nvCxnSpPr>
        <p:spPr bwMode="auto">
          <a:xfrm>
            <a:off x="7795521" y="2628168"/>
            <a:ext cx="0" cy="975006"/>
          </a:xfrm>
          <a:prstGeom prst="line">
            <a:avLst/>
          </a:prstGeom>
          <a:ln w="28575">
            <a:solidFill>
              <a:srgbClr val="FF0000"/>
            </a:solidFill>
            <a:prstDash val="dash"/>
            <a:headEnd type="none" w="sm" len="sm"/>
            <a:tailEnd type="none" w="sm" len="sm"/>
          </a:ln>
        </p:spPr>
        <p:style>
          <a:lnRef idx="1">
            <a:schemeClr val="accent6"/>
          </a:lnRef>
          <a:fillRef idx="0">
            <a:schemeClr val="accent6"/>
          </a:fillRef>
          <a:effectRef idx="0">
            <a:schemeClr val="accent6"/>
          </a:effectRef>
          <a:fontRef idx="minor">
            <a:schemeClr val="tx1"/>
          </a:fontRef>
        </p:style>
      </p:cxnSp>
      <p:pic>
        <p:nvPicPr>
          <p:cNvPr id="2" name="图片 1">
            <a:extLst>
              <a:ext uri="{FF2B5EF4-FFF2-40B4-BE49-F238E27FC236}">
                <a16:creationId xmlns:a16="http://schemas.microsoft.com/office/drawing/2014/main" id="{F81731E7-7F82-48A0-85B8-C5375D5EA197}"/>
              </a:ext>
            </a:extLst>
          </p:cNvPr>
          <p:cNvPicPr>
            <a:picLocks noChangeAspect="1"/>
          </p:cNvPicPr>
          <p:nvPr/>
        </p:nvPicPr>
        <p:blipFill>
          <a:blip r:embed="rId7"/>
          <a:stretch>
            <a:fillRect/>
          </a:stretch>
        </p:blipFill>
        <p:spPr>
          <a:xfrm>
            <a:off x="7420680" y="4274289"/>
            <a:ext cx="1762125" cy="1438275"/>
          </a:xfrm>
          <a:prstGeom prst="rect">
            <a:avLst/>
          </a:prstGeom>
        </p:spPr>
      </p:pic>
      <p:sp>
        <p:nvSpPr>
          <p:cNvPr id="3" name="矩形 2">
            <a:extLst>
              <a:ext uri="{FF2B5EF4-FFF2-40B4-BE49-F238E27FC236}">
                <a16:creationId xmlns:a16="http://schemas.microsoft.com/office/drawing/2014/main" id="{C92C313F-14D7-45B1-8E6E-7E3294359A18}"/>
              </a:ext>
            </a:extLst>
          </p:cNvPr>
          <p:cNvSpPr/>
          <p:nvPr/>
        </p:nvSpPr>
        <p:spPr>
          <a:xfrm>
            <a:off x="2611476" y="5749908"/>
            <a:ext cx="1313180" cy="461665"/>
          </a:xfrm>
          <a:prstGeom prst="rect">
            <a:avLst/>
          </a:prstGeom>
        </p:spPr>
        <p:txBody>
          <a:bodyPr wrap="none">
            <a:spAutoFit/>
          </a:bodyPr>
          <a:lstStyle/>
          <a:p>
            <a:r>
              <a:rPr kumimoji="0" lang="zh-CN" altLang="en-US" b="1">
                <a:solidFill>
                  <a:schemeClr val="bg1"/>
                </a:solidFill>
                <a:ea typeface="楷体_GB2312"/>
                <a:cs typeface="楷体_GB2312"/>
              </a:rPr>
              <a:t>答案：</a:t>
            </a:r>
            <a:r>
              <a:rPr kumimoji="0" lang="en-US" altLang="zh-CN" b="1">
                <a:solidFill>
                  <a:srgbClr val="FF0000"/>
                </a:solidFill>
                <a:ea typeface="楷体_GB2312"/>
                <a:cs typeface="楷体_GB2312"/>
              </a:rPr>
              <a:t>B</a:t>
            </a:r>
            <a:endParaRPr lang="zh-CN" altLang="en-US">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0010"/>
                                        </p:tgtEl>
                                        <p:attrNameLst>
                                          <p:attrName>style.visibility</p:attrName>
                                        </p:attrNameLst>
                                      </p:cBhvr>
                                      <p:to>
                                        <p:strVal val="visible"/>
                                      </p:to>
                                    </p:set>
                                    <p:animEffect transition="in" filter="wipe(up)">
                                      <p:cBhvr>
                                        <p:cTn id="7" dur="500"/>
                                        <p:tgtEl>
                                          <p:spTgt spid="170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0012"/>
                                        </p:tgtEl>
                                        <p:attrNameLst>
                                          <p:attrName>style.visibility</p:attrName>
                                        </p:attrNameLst>
                                      </p:cBhvr>
                                      <p:to>
                                        <p:strVal val="visible"/>
                                      </p:to>
                                    </p:set>
                                    <p:animEffect transition="in" filter="wipe(left)">
                                      <p:cBhvr>
                                        <p:cTn id="12" dur="500"/>
                                        <p:tgtEl>
                                          <p:spTgt spid="1700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53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10"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rgbClr val="FFFFF2"/>
            </a:gs>
            <a:gs pos="74001">
              <a:srgbClr val="FFFF8C"/>
            </a:gs>
            <a:gs pos="83000">
              <a:srgbClr val="FFFF8C"/>
            </a:gs>
            <a:gs pos="100000">
              <a:srgbClr val="FFFFB3"/>
            </a:gs>
          </a:gsLst>
          <a:lin ang="5400000" scaled="1"/>
        </a:gradFill>
        <a:effectLst/>
      </p:bgPr>
    </p:bg>
    <p:spTree>
      <p:nvGrpSpPr>
        <p:cNvPr id="1" name=""/>
        <p:cNvGrpSpPr/>
        <p:nvPr/>
      </p:nvGrpSpPr>
      <p:grpSpPr>
        <a:xfrm>
          <a:off x="0" y="0"/>
          <a:ext cx="0" cy="0"/>
          <a:chOff x="0" y="0"/>
          <a:chExt cx="0" cy="0"/>
        </a:xfrm>
      </p:grpSpPr>
      <p:sp>
        <p:nvSpPr>
          <p:cNvPr id="4096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9584A157-08C1-470E-A1E0-D8065928A04D}" type="slidenum">
              <a:rPr kumimoji="0" lang="en-US" altLang="zh-CN" sz="1400" b="1" smtClean="0">
                <a:solidFill>
                  <a:schemeClr val="bg1"/>
                </a:solidFill>
                <a:latin typeface="Arial" panose="020B0604020202020204" pitchFamily="34" charset="0"/>
              </a:rPr>
              <a:pPr>
                <a:spcBef>
                  <a:spcPct val="0"/>
                </a:spcBef>
                <a:buClrTx/>
                <a:buFontTx/>
                <a:buNone/>
              </a:pPr>
              <a:t>33</a:t>
            </a:fld>
            <a:endParaRPr kumimoji="0" lang="en-US" altLang="zh-CN" sz="1400" b="1">
              <a:solidFill>
                <a:schemeClr val="bg1"/>
              </a:solidFill>
              <a:latin typeface="Arial" panose="020B0604020202020204" pitchFamily="34" charset="0"/>
            </a:endParaRPr>
          </a:p>
        </p:txBody>
      </p:sp>
      <p:sp>
        <p:nvSpPr>
          <p:cNvPr id="115714" name="Text Box 2"/>
          <p:cNvSpPr txBox="1">
            <a:spLocks noChangeArrowheads="1"/>
          </p:cNvSpPr>
          <p:nvPr/>
        </p:nvSpPr>
        <p:spPr bwMode="auto">
          <a:xfrm>
            <a:off x="487363" y="414338"/>
            <a:ext cx="83121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5000"/>
              </a:lnSpc>
              <a:spcBef>
                <a:spcPct val="50000"/>
              </a:spcBef>
              <a:buClrTx/>
              <a:buFontTx/>
              <a:buNone/>
            </a:pPr>
            <a:r>
              <a:rPr lang="zh-CN" altLang="en-US" sz="2400" b="1">
                <a:solidFill>
                  <a:srgbClr val="FF0000"/>
                </a:solidFill>
                <a:cs typeface="Arial" panose="020B0604020202020204" pitchFamily="34" charset="0"/>
              </a:rPr>
              <a:t>例</a:t>
            </a:r>
            <a:r>
              <a:rPr lang="en-US" altLang="zh-CN" sz="2400" b="1">
                <a:solidFill>
                  <a:srgbClr val="FF0000"/>
                </a:solidFill>
                <a:cs typeface="Arial" panose="020B0604020202020204" pitchFamily="34" charset="0"/>
              </a:rPr>
              <a:t>3.</a:t>
            </a:r>
            <a:r>
              <a:rPr lang="en-US" altLang="zh-CN" sz="2400" b="1">
                <a:solidFill>
                  <a:schemeClr val="bg1"/>
                </a:solidFill>
                <a:cs typeface="Arial" panose="020B0604020202020204" pitchFamily="34" charset="0"/>
              </a:rPr>
              <a:t> </a:t>
            </a:r>
            <a:r>
              <a:rPr lang="zh-CN" altLang="en-US" sz="2400" b="1">
                <a:solidFill>
                  <a:schemeClr val="bg1"/>
                </a:solidFill>
                <a:cs typeface="Arial" panose="020B0604020202020204" pitchFamily="34" charset="0"/>
              </a:rPr>
              <a:t>计算物理量 </a:t>
            </a:r>
            <a:r>
              <a:rPr lang="en-US" altLang="zh-CN" sz="2400" b="1" i="1">
                <a:solidFill>
                  <a:schemeClr val="bg1"/>
                </a:solidFill>
                <a:cs typeface="Arial" panose="020B0604020202020204" pitchFamily="34" charset="0"/>
              </a:rPr>
              <a:t>W</a:t>
            </a:r>
            <a:r>
              <a:rPr lang="zh-CN" altLang="en-US" sz="2400" b="1">
                <a:solidFill>
                  <a:schemeClr val="bg1"/>
                </a:solidFill>
                <a:cs typeface="Arial" panose="020B0604020202020204" pitchFamily="34" charset="0"/>
              </a:rPr>
              <a:t>（</a:t>
            </a:r>
            <a:r>
              <a:rPr lang="en-US" altLang="zh-CN" sz="2400" b="1" i="1">
                <a:solidFill>
                  <a:schemeClr val="bg1"/>
                </a:solidFill>
                <a:cs typeface="Arial" panose="020B0604020202020204" pitchFamily="34" charset="0"/>
              </a:rPr>
              <a:t>v</a:t>
            </a:r>
            <a:r>
              <a:rPr lang="zh-CN" altLang="en-US" sz="2400" b="1">
                <a:solidFill>
                  <a:schemeClr val="bg1"/>
                </a:solidFill>
                <a:cs typeface="Arial" panose="020B0604020202020204" pitchFamily="34" charset="0"/>
              </a:rPr>
              <a:t>）在速率区间</a:t>
            </a:r>
            <a:r>
              <a:rPr lang="en-US" altLang="zh-CN" sz="2400" b="1" i="1">
                <a:solidFill>
                  <a:schemeClr val="bg1"/>
                </a:solidFill>
                <a:cs typeface="Arial" panose="020B0604020202020204" pitchFamily="34" charset="0"/>
              </a:rPr>
              <a:t>v</a:t>
            </a:r>
            <a:r>
              <a:rPr lang="en-US" altLang="zh-CN" sz="2400" b="1" baseline="-30000">
                <a:solidFill>
                  <a:schemeClr val="bg1"/>
                </a:solidFill>
                <a:cs typeface="Arial" panose="020B0604020202020204" pitchFamily="34" charset="0"/>
              </a:rPr>
              <a:t>1</a:t>
            </a:r>
            <a:r>
              <a:rPr lang="en-US" altLang="zh-CN" sz="2400" b="1">
                <a:solidFill>
                  <a:schemeClr val="bg1"/>
                </a:solidFill>
                <a:cs typeface="Arial" panose="020B0604020202020204" pitchFamily="34" charset="0"/>
                <a:sym typeface="Symbol" panose="05050102010706020507" pitchFamily="18" charset="2"/>
              </a:rPr>
              <a:t></a:t>
            </a:r>
            <a:r>
              <a:rPr lang="en-US" altLang="zh-CN" sz="2400" b="1" i="1">
                <a:solidFill>
                  <a:schemeClr val="bg1"/>
                </a:solidFill>
                <a:cs typeface="Arial" panose="020B0604020202020204" pitchFamily="34" charset="0"/>
              </a:rPr>
              <a:t>v</a:t>
            </a:r>
            <a:r>
              <a:rPr lang="en-US" altLang="zh-CN" sz="2400" b="1" baseline="-30000">
                <a:solidFill>
                  <a:schemeClr val="bg1"/>
                </a:solidFill>
                <a:cs typeface="Arial" panose="020B0604020202020204" pitchFamily="34" charset="0"/>
              </a:rPr>
              <a:t>2</a:t>
            </a:r>
            <a:r>
              <a:rPr lang="zh-CN" altLang="en-US" sz="2400" b="1">
                <a:solidFill>
                  <a:schemeClr val="bg1"/>
                </a:solidFill>
                <a:cs typeface="Arial" panose="020B0604020202020204" pitchFamily="34" charset="0"/>
              </a:rPr>
              <a:t>内按速率的平均值。</a:t>
            </a:r>
          </a:p>
        </p:txBody>
      </p:sp>
      <p:graphicFrame>
        <p:nvGraphicFramePr>
          <p:cNvPr id="115715" name="Object 2"/>
          <p:cNvGraphicFramePr>
            <a:graphicFrameLocks noChangeAspect="1"/>
          </p:cNvGraphicFramePr>
          <p:nvPr/>
        </p:nvGraphicFramePr>
        <p:xfrm>
          <a:off x="1735138" y="1428750"/>
          <a:ext cx="4638675" cy="1370013"/>
        </p:xfrm>
        <a:graphic>
          <a:graphicData uri="http://schemas.openxmlformats.org/presentationml/2006/ole">
            <mc:AlternateContent xmlns:mc="http://schemas.openxmlformats.org/markup-compatibility/2006">
              <mc:Choice xmlns:v="urn:schemas-microsoft-com:vml" Requires="v">
                <p:oleObj spid="_x0000_s41171" name="公式" r:id="rId3" imgW="1765300" imgH="508000" progId="Equation.3">
                  <p:embed/>
                </p:oleObj>
              </mc:Choice>
              <mc:Fallback>
                <p:oleObj name="公式" r:id="rId3" imgW="1765300" imgH="508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5138" y="1428750"/>
                        <a:ext cx="4638675"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16" name="Text Box 4"/>
          <p:cNvSpPr txBox="1">
            <a:spLocks noChangeArrowheads="1"/>
          </p:cNvSpPr>
          <p:nvPr/>
        </p:nvSpPr>
        <p:spPr bwMode="auto">
          <a:xfrm>
            <a:off x="6454775" y="1741488"/>
            <a:ext cx="16875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solidFill>
                  <a:schemeClr val="bg1"/>
                </a:solidFill>
                <a:cs typeface="Arial" panose="020B0604020202020204" pitchFamily="34" charset="0"/>
              </a:rPr>
              <a:t>对吗？</a:t>
            </a:r>
          </a:p>
        </p:txBody>
      </p:sp>
      <p:sp>
        <p:nvSpPr>
          <p:cNvPr id="115717" name="Text Box 5"/>
          <p:cNvSpPr txBox="1">
            <a:spLocks noChangeArrowheads="1"/>
          </p:cNvSpPr>
          <p:nvPr/>
        </p:nvSpPr>
        <p:spPr bwMode="auto">
          <a:xfrm>
            <a:off x="675340" y="1789348"/>
            <a:ext cx="1095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solidFill>
                  <a:schemeClr val="bg1"/>
                </a:solidFill>
                <a:cs typeface="Arial" panose="020B0604020202020204" pitchFamily="34" charset="0"/>
              </a:rPr>
              <a:t>解：</a:t>
            </a:r>
          </a:p>
        </p:txBody>
      </p:sp>
      <p:graphicFrame>
        <p:nvGraphicFramePr>
          <p:cNvPr id="115718" name="Object 3"/>
          <p:cNvGraphicFramePr>
            <a:graphicFrameLocks noChangeAspect="1"/>
          </p:cNvGraphicFramePr>
          <p:nvPr/>
        </p:nvGraphicFramePr>
        <p:xfrm>
          <a:off x="2411413" y="2890838"/>
          <a:ext cx="6230937" cy="1322387"/>
        </p:xfrm>
        <a:graphic>
          <a:graphicData uri="http://schemas.openxmlformats.org/presentationml/2006/ole">
            <mc:AlternateContent xmlns:mc="http://schemas.openxmlformats.org/markup-compatibility/2006">
              <mc:Choice xmlns:v="urn:schemas-microsoft-com:vml" Requires="v">
                <p:oleObj spid="_x0000_s41172" name="公式" r:id="rId5" imgW="2489200" imgH="508000" progId="Equation.3">
                  <p:embed/>
                </p:oleObj>
              </mc:Choice>
              <mc:Fallback>
                <p:oleObj name="公式" r:id="rId5" imgW="2489200" imgH="508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2890838"/>
                        <a:ext cx="6230937"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5719" name="Text Box 7"/>
          <p:cNvSpPr txBox="1">
            <a:spLocks noChangeArrowheads="1"/>
          </p:cNvSpPr>
          <p:nvPr/>
        </p:nvSpPr>
        <p:spPr bwMode="auto">
          <a:xfrm>
            <a:off x="250825" y="3319463"/>
            <a:ext cx="2871788"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solidFill>
                  <a:schemeClr val="bg1"/>
                </a:solidFill>
                <a:cs typeface="Arial" panose="020B0604020202020204" pitchFamily="34" charset="0"/>
              </a:rPr>
              <a:t>正确结果为：</a:t>
            </a:r>
          </a:p>
        </p:txBody>
      </p:sp>
      <p:graphicFrame>
        <p:nvGraphicFramePr>
          <p:cNvPr id="115720" name="Object 4"/>
          <p:cNvGraphicFramePr>
            <a:graphicFrameLocks noChangeAspect="1"/>
          </p:cNvGraphicFramePr>
          <p:nvPr>
            <p:extLst>
              <p:ext uri="{D42A27DB-BD31-4B8C-83A1-F6EECF244321}">
                <p14:modId xmlns:p14="http://schemas.microsoft.com/office/powerpoint/2010/main" val="4216342940"/>
              </p:ext>
            </p:extLst>
          </p:nvPr>
        </p:nvGraphicFramePr>
        <p:xfrm>
          <a:off x="578644" y="5041901"/>
          <a:ext cx="7986712" cy="1139825"/>
        </p:xfrm>
        <a:graphic>
          <a:graphicData uri="http://schemas.openxmlformats.org/presentationml/2006/ole">
            <mc:AlternateContent xmlns:mc="http://schemas.openxmlformats.org/markup-compatibility/2006">
              <mc:Choice xmlns:v="urn:schemas-microsoft-com:vml" Requires="v">
                <p:oleObj spid="_x0000_s41173" name="Equation" r:id="rId7" imgW="3288960" imgH="482400" progId="Equation.DSMT4">
                  <p:embed/>
                </p:oleObj>
              </mc:Choice>
              <mc:Fallback>
                <p:oleObj name="Equation" r:id="rId7" imgW="3288960" imgH="482400" progId="Equation.DSMT4">
                  <p:embed/>
                  <p:pic>
                    <p:nvPicPr>
                      <p:cNvPr id="0" name="Object 4"/>
                      <p:cNvPicPr>
                        <a:picLocks noChangeAspect="1" noChangeArrowheads="1"/>
                      </p:cNvPicPr>
                      <p:nvPr/>
                    </p:nvPicPr>
                    <p:blipFill>
                      <a:blip r:embed="rId8"/>
                      <a:srcRect/>
                      <a:stretch>
                        <a:fillRect/>
                      </a:stretch>
                    </p:blipFill>
                    <p:spPr bwMode="auto">
                      <a:xfrm>
                        <a:off x="578644" y="5041901"/>
                        <a:ext cx="7986712" cy="1139825"/>
                      </a:xfrm>
                      <a:prstGeom prst="rect">
                        <a:avLst/>
                      </a:prstGeom>
                      <a:noFill/>
                      <a:ln>
                        <a:noFill/>
                      </a:ln>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57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7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571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71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571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571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57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4" grpId="0"/>
      <p:bldP spid="115716" grpId="0"/>
      <p:bldP spid="115717" grpId="0"/>
      <p:bldP spid="115719"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rgbClr val="FFFFF2"/>
            </a:gs>
            <a:gs pos="74001">
              <a:srgbClr val="FFFF8C"/>
            </a:gs>
            <a:gs pos="83000">
              <a:srgbClr val="FFFF8C"/>
            </a:gs>
            <a:gs pos="100000">
              <a:srgbClr val="FFFFB3"/>
            </a:gs>
          </a:gsLst>
          <a:lin ang="5400000" scaled="1"/>
        </a:gradFill>
        <a:effectLst/>
      </p:bgPr>
    </p:bg>
    <p:spTree>
      <p:nvGrpSpPr>
        <p:cNvPr id="1" name=""/>
        <p:cNvGrpSpPr/>
        <p:nvPr/>
      </p:nvGrpSpPr>
      <p:grpSpPr>
        <a:xfrm>
          <a:off x="0" y="0"/>
          <a:ext cx="0" cy="0"/>
          <a:chOff x="0" y="0"/>
          <a:chExt cx="0" cy="0"/>
        </a:xfrm>
      </p:grpSpPr>
      <p:sp>
        <p:nvSpPr>
          <p:cNvPr id="419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4D8DF420-A1CC-4B1B-AE26-3AA71252F2F2}" type="slidenum">
              <a:rPr kumimoji="0" lang="en-US" altLang="zh-CN" sz="1400" b="1" smtClean="0">
                <a:solidFill>
                  <a:schemeClr val="bg1"/>
                </a:solidFill>
                <a:latin typeface="Arial" panose="020B0604020202020204" pitchFamily="34" charset="0"/>
              </a:rPr>
              <a:pPr>
                <a:spcBef>
                  <a:spcPct val="0"/>
                </a:spcBef>
                <a:buClrTx/>
                <a:buFontTx/>
                <a:buNone/>
              </a:pPr>
              <a:t>34</a:t>
            </a:fld>
            <a:endParaRPr kumimoji="0" lang="en-US" altLang="zh-CN" sz="1400" b="1">
              <a:solidFill>
                <a:schemeClr val="bg1"/>
              </a:solidFill>
              <a:latin typeface="Arial" panose="020B0604020202020204" pitchFamily="34" charset="0"/>
            </a:endParaRPr>
          </a:p>
        </p:txBody>
      </p:sp>
      <p:graphicFrame>
        <p:nvGraphicFramePr>
          <p:cNvPr id="111619" name="Object 2"/>
          <p:cNvGraphicFramePr>
            <a:graphicFrameLocks noChangeAspect="1"/>
          </p:cNvGraphicFramePr>
          <p:nvPr/>
        </p:nvGraphicFramePr>
        <p:xfrm>
          <a:off x="1684338" y="196850"/>
          <a:ext cx="5722937" cy="1403350"/>
        </p:xfrm>
        <a:graphic>
          <a:graphicData uri="http://schemas.openxmlformats.org/presentationml/2006/ole">
            <mc:AlternateContent xmlns:mc="http://schemas.openxmlformats.org/markup-compatibility/2006">
              <mc:Choice xmlns:v="urn:schemas-microsoft-com:vml" Requires="v">
                <p:oleObj spid="_x0000_s42393" name="公式" r:id="rId3" imgW="2146300" imgH="520700" progId="Equation.3">
                  <p:embed/>
                </p:oleObj>
              </mc:Choice>
              <mc:Fallback>
                <p:oleObj name="公式" r:id="rId3" imgW="2146300" imgH="520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338" y="196850"/>
                        <a:ext cx="5722937"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2" name="Object 3"/>
          <p:cNvGraphicFramePr>
            <a:graphicFrameLocks noChangeAspect="1"/>
          </p:cNvGraphicFramePr>
          <p:nvPr/>
        </p:nvGraphicFramePr>
        <p:xfrm>
          <a:off x="2028825" y="5516563"/>
          <a:ext cx="5567363" cy="1182687"/>
        </p:xfrm>
        <a:graphic>
          <a:graphicData uri="http://schemas.openxmlformats.org/presentationml/2006/ole">
            <mc:AlternateContent xmlns:mc="http://schemas.openxmlformats.org/markup-compatibility/2006">
              <mc:Choice xmlns:v="urn:schemas-microsoft-com:vml" Requires="v">
                <p:oleObj spid="_x0000_s42394" name="公式" r:id="rId5" imgW="2489200" imgH="508000" progId="Equation.3">
                  <p:embed/>
                </p:oleObj>
              </mc:Choice>
              <mc:Fallback>
                <p:oleObj name="公式" r:id="rId5" imgW="2489200" imgH="5080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8825" y="5516563"/>
                        <a:ext cx="5567363" cy="118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23" name="Rectangle 7"/>
          <p:cNvSpPr>
            <a:spLocks noChangeArrowheads="1"/>
          </p:cNvSpPr>
          <p:nvPr/>
        </p:nvSpPr>
        <p:spPr bwMode="auto">
          <a:xfrm>
            <a:off x="442913" y="484188"/>
            <a:ext cx="1801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solidFill>
                  <a:schemeClr val="bg1"/>
                </a:solidFill>
                <a:cs typeface="Arial" panose="020B0604020202020204" pitchFamily="34" charset="0"/>
              </a:rPr>
              <a:t>证明：</a:t>
            </a:r>
          </a:p>
        </p:txBody>
      </p:sp>
      <p:graphicFrame>
        <p:nvGraphicFramePr>
          <p:cNvPr id="111624" name="Object 4"/>
          <p:cNvGraphicFramePr>
            <a:graphicFrameLocks noChangeAspect="1"/>
          </p:cNvGraphicFramePr>
          <p:nvPr/>
        </p:nvGraphicFramePr>
        <p:xfrm>
          <a:off x="3659188" y="3101975"/>
          <a:ext cx="4267200" cy="1370013"/>
        </p:xfrm>
        <a:graphic>
          <a:graphicData uri="http://schemas.openxmlformats.org/presentationml/2006/ole">
            <mc:AlternateContent xmlns:mc="http://schemas.openxmlformats.org/markup-compatibility/2006">
              <mc:Choice xmlns:v="urn:schemas-microsoft-com:vml" Requires="v">
                <p:oleObj spid="_x0000_s42395" name="公式" r:id="rId7" imgW="1600200" imgH="508000" progId="Equation.3">
                  <p:embed/>
                </p:oleObj>
              </mc:Choice>
              <mc:Fallback>
                <p:oleObj name="公式" r:id="rId7" imgW="1600200" imgH="5080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9188" y="3101975"/>
                        <a:ext cx="42672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5" name="Object 5"/>
          <p:cNvGraphicFramePr>
            <a:graphicFrameLocks noChangeAspect="1"/>
          </p:cNvGraphicFramePr>
          <p:nvPr/>
        </p:nvGraphicFramePr>
        <p:xfrm>
          <a:off x="3632200" y="1585913"/>
          <a:ext cx="4267200" cy="1403350"/>
        </p:xfrm>
        <a:graphic>
          <a:graphicData uri="http://schemas.openxmlformats.org/presentationml/2006/ole">
            <mc:AlternateContent xmlns:mc="http://schemas.openxmlformats.org/markup-compatibility/2006">
              <mc:Choice xmlns:v="urn:schemas-microsoft-com:vml" Requires="v">
                <p:oleObj spid="_x0000_s42396" name="公式" r:id="rId9" imgW="1600200" imgH="520700" progId="Equation.3">
                  <p:embed/>
                </p:oleObj>
              </mc:Choice>
              <mc:Fallback>
                <p:oleObj name="公式" r:id="rId9" imgW="1600200" imgH="5207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2200" y="1585913"/>
                        <a:ext cx="4267200" cy="140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1"/>
          <p:cNvGrpSpPr>
            <a:grpSpLocks/>
          </p:cNvGrpSpPr>
          <p:nvPr/>
        </p:nvGrpSpPr>
        <p:grpSpPr bwMode="auto">
          <a:xfrm>
            <a:off x="1050925" y="4330700"/>
            <a:ext cx="6545263" cy="1185863"/>
            <a:chOff x="662" y="2683"/>
            <a:chExt cx="3723" cy="747"/>
          </a:xfrm>
        </p:grpSpPr>
        <p:graphicFrame>
          <p:nvGraphicFramePr>
            <p:cNvPr id="41994" name="Object 6"/>
            <p:cNvGraphicFramePr>
              <a:graphicFrameLocks noChangeAspect="1"/>
            </p:cNvGraphicFramePr>
            <p:nvPr/>
          </p:nvGraphicFramePr>
          <p:xfrm>
            <a:off x="1140" y="2683"/>
            <a:ext cx="1524" cy="747"/>
          </p:xfrm>
          <a:graphic>
            <a:graphicData uri="http://schemas.openxmlformats.org/presentationml/2006/ole">
              <mc:AlternateContent xmlns:mc="http://schemas.openxmlformats.org/markup-compatibility/2006">
                <mc:Choice xmlns:v="urn:schemas-microsoft-com:vml" Requires="v">
                  <p:oleObj spid="_x0000_s42397" name="公式" r:id="rId11" imgW="1307532" imgH="495085" progId="Equation.3">
                    <p:embed/>
                  </p:oleObj>
                </mc:Choice>
                <mc:Fallback>
                  <p:oleObj name="公式" r:id="rId11" imgW="1307532" imgH="495085"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0" y="2683"/>
                          <a:ext cx="1524" cy="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5" name="Text Box 5"/>
            <p:cNvSpPr txBox="1">
              <a:spLocks noChangeArrowheads="1"/>
            </p:cNvSpPr>
            <p:nvPr/>
          </p:nvSpPr>
          <p:spPr bwMode="auto">
            <a:xfrm>
              <a:off x="3040" y="2854"/>
              <a:ext cx="13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solidFill>
                    <a:schemeClr val="bg1"/>
                  </a:solidFill>
                  <a:cs typeface="Arial" panose="020B0604020202020204" pitchFamily="34" charset="0"/>
                </a:rPr>
                <a:t>，因此</a:t>
              </a:r>
            </a:p>
          </p:txBody>
        </p:sp>
        <p:sp>
          <p:nvSpPr>
            <p:cNvPr id="41996" name="Text Box 10"/>
            <p:cNvSpPr txBox="1">
              <a:spLocks noChangeArrowheads="1"/>
            </p:cNvSpPr>
            <p:nvPr/>
          </p:nvSpPr>
          <p:spPr bwMode="auto">
            <a:xfrm>
              <a:off x="662" y="2854"/>
              <a:ext cx="63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400" b="1">
                  <a:solidFill>
                    <a:schemeClr val="bg1"/>
                  </a:solidFill>
                  <a:cs typeface="Arial" panose="020B0604020202020204" pitchFamily="34" charset="0"/>
                </a:rPr>
                <a:t>而</a:t>
              </a:r>
            </a:p>
          </p:txBody>
        </p:sp>
      </p:grpSp>
      <p:graphicFrame>
        <p:nvGraphicFramePr>
          <p:cNvPr id="3" name="对象 2"/>
          <p:cNvGraphicFramePr>
            <a:graphicFrameLocks noChangeAspect="1"/>
          </p:cNvGraphicFramePr>
          <p:nvPr/>
        </p:nvGraphicFramePr>
        <p:xfrm>
          <a:off x="273050" y="1916113"/>
          <a:ext cx="2559050" cy="1296987"/>
        </p:xfrm>
        <a:graphic>
          <a:graphicData uri="http://schemas.openxmlformats.org/presentationml/2006/ole">
            <mc:AlternateContent xmlns:mc="http://schemas.openxmlformats.org/markup-compatibility/2006">
              <mc:Choice xmlns:v="urn:schemas-microsoft-com:vml" Requires="v">
                <p:oleObj spid="_x0000_s42398" name="公式" r:id="rId13" imgW="799753" imgH="406224" progId="Equation.3">
                  <p:embed/>
                </p:oleObj>
              </mc:Choice>
              <mc:Fallback>
                <p:oleObj name="公式" r:id="rId13" imgW="799753" imgH="406224" progId="Equation.3">
                  <p:embed/>
                  <p:pic>
                    <p:nvPicPr>
                      <p:cNvPr id="0" name="对象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3050" y="1916113"/>
                        <a:ext cx="2559050" cy="1296987"/>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116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16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162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162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16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3"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79388" y="333375"/>
            <a:ext cx="6923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solidFill>
                  <a:srgbClr val="FF3300"/>
                </a:solidFill>
                <a:cs typeface="Arial" panose="020B0604020202020204" pitchFamily="34" charset="0"/>
              </a:rPr>
              <a:t>例</a:t>
            </a:r>
            <a:r>
              <a:rPr lang="en-US" altLang="zh-CN" sz="2800" b="1">
                <a:solidFill>
                  <a:srgbClr val="FF3300"/>
                </a:solidFill>
                <a:cs typeface="Arial" panose="020B0604020202020204" pitchFamily="34" charset="0"/>
              </a:rPr>
              <a:t>4</a:t>
            </a:r>
            <a:r>
              <a:rPr lang="zh-CN" altLang="en-US" sz="2800" b="1">
                <a:solidFill>
                  <a:srgbClr val="FF3300"/>
                </a:solidFill>
                <a:cs typeface="Arial" panose="020B0604020202020204" pitchFamily="34" charset="0"/>
              </a:rPr>
              <a:t>：说明下列各量的物理意义：</a:t>
            </a:r>
          </a:p>
        </p:txBody>
      </p:sp>
      <p:graphicFrame>
        <p:nvGraphicFramePr>
          <p:cNvPr id="46083" name="Object 3"/>
          <p:cNvGraphicFramePr>
            <a:graphicFrameLocks noChangeAspect="1"/>
          </p:cNvGraphicFramePr>
          <p:nvPr/>
        </p:nvGraphicFramePr>
        <p:xfrm>
          <a:off x="5580063" y="333375"/>
          <a:ext cx="1868487" cy="533400"/>
        </p:xfrm>
        <a:graphic>
          <a:graphicData uri="http://schemas.openxmlformats.org/presentationml/2006/ole">
            <mc:AlternateContent xmlns:mc="http://schemas.openxmlformats.org/markup-compatibility/2006">
              <mc:Choice xmlns:v="urn:schemas-microsoft-com:vml" Requires="v">
                <p:oleObj spid="_x0000_s46827" name="公式" r:id="rId3" imgW="596641" imgH="203112" progId="Equation.3">
                  <p:embed/>
                </p:oleObj>
              </mc:Choice>
              <mc:Fallback>
                <p:oleObj name="公式" r:id="rId3" imgW="596641" imgH="203112"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333375"/>
                        <a:ext cx="186848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4" name="Object 4"/>
          <p:cNvGraphicFramePr>
            <a:graphicFrameLocks noChangeAspect="1"/>
          </p:cNvGraphicFramePr>
          <p:nvPr/>
        </p:nvGraphicFramePr>
        <p:xfrm>
          <a:off x="539750" y="1027113"/>
          <a:ext cx="1939925" cy="457200"/>
        </p:xfrm>
        <a:graphic>
          <a:graphicData uri="http://schemas.openxmlformats.org/presentationml/2006/ole">
            <mc:AlternateContent xmlns:mc="http://schemas.openxmlformats.org/markup-compatibility/2006">
              <mc:Choice xmlns:v="urn:schemas-microsoft-com:vml" Requires="v">
                <p:oleObj spid="_x0000_s46828" name="公式" r:id="rId5" imgW="698197" imgH="203112" progId="Equation.3">
                  <p:embed/>
                </p:oleObj>
              </mc:Choice>
              <mc:Fallback>
                <p:oleObj name="公式" r:id="rId5" imgW="698197" imgH="2031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1027113"/>
                        <a:ext cx="1939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5" name="Object 5"/>
          <p:cNvGraphicFramePr>
            <a:graphicFrameLocks noChangeAspect="1"/>
          </p:cNvGraphicFramePr>
          <p:nvPr/>
        </p:nvGraphicFramePr>
        <p:xfrm>
          <a:off x="3059113" y="981075"/>
          <a:ext cx="1865312" cy="533400"/>
        </p:xfrm>
        <a:graphic>
          <a:graphicData uri="http://schemas.openxmlformats.org/presentationml/2006/ole">
            <mc:AlternateContent xmlns:mc="http://schemas.openxmlformats.org/markup-compatibility/2006">
              <mc:Choice xmlns:v="urn:schemas-microsoft-com:vml" Requires="v">
                <p:oleObj spid="_x0000_s46829" name="公式" r:id="rId7" imgW="660113" imgH="203112" progId="Equation.3">
                  <p:embed/>
                </p:oleObj>
              </mc:Choice>
              <mc:Fallback>
                <p:oleObj name="公式" r:id="rId7" imgW="660113" imgH="203112"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981075"/>
                        <a:ext cx="186531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6" name="Object 6"/>
          <p:cNvGraphicFramePr>
            <a:graphicFrameLocks noChangeAspect="1"/>
          </p:cNvGraphicFramePr>
          <p:nvPr/>
        </p:nvGraphicFramePr>
        <p:xfrm>
          <a:off x="5580063" y="908050"/>
          <a:ext cx="2555875" cy="762000"/>
        </p:xfrm>
        <a:graphic>
          <a:graphicData uri="http://schemas.openxmlformats.org/presentationml/2006/ole">
            <mc:AlternateContent xmlns:mc="http://schemas.openxmlformats.org/markup-compatibility/2006">
              <mc:Choice xmlns:v="urn:schemas-microsoft-com:vml" Requires="v">
                <p:oleObj spid="_x0000_s46830" name="公式" r:id="rId9" imgW="799753" imgH="355446" progId="Equation.3">
                  <p:embed/>
                </p:oleObj>
              </mc:Choice>
              <mc:Fallback>
                <p:oleObj name="公式" r:id="rId9" imgW="799753" imgH="355446"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0063" y="908050"/>
                        <a:ext cx="25558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7" name="Object 7"/>
          <p:cNvGraphicFramePr>
            <a:graphicFrameLocks noChangeAspect="1"/>
          </p:cNvGraphicFramePr>
          <p:nvPr/>
        </p:nvGraphicFramePr>
        <p:xfrm>
          <a:off x="250825" y="1628775"/>
          <a:ext cx="2432050" cy="838200"/>
        </p:xfrm>
        <a:graphic>
          <a:graphicData uri="http://schemas.openxmlformats.org/presentationml/2006/ole">
            <mc:AlternateContent xmlns:mc="http://schemas.openxmlformats.org/markup-compatibility/2006">
              <mc:Choice xmlns:v="urn:schemas-microsoft-com:vml" Requires="v">
                <p:oleObj spid="_x0000_s46831" name="公式" r:id="rId11" imgW="888614" imgH="355446" progId="Equation.3">
                  <p:embed/>
                </p:oleObj>
              </mc:Choice>
              <mc:Fallback>
                <p:oleObj name="公式" r:id="rId11" imgW="888614" imgH="355446"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825" y="1628775"/>
                        <a:ext cx="243205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8" name="Object 8"/>
          <p:cNvGraphicFramePr>
            <a:graphicFrameLocks noChangeAspect="1"/>
          </p:cNvGraphicFramePr>
          <p:nvPr/>
        </p:nvGraphicFramePr>
        <p:xfrm>
          <a:off x="2987675" y="1700213"/>
          <a:ext cx="2366963" cy="685800"/>
        </p:xfrm>
        <a:graphic>
          <a:graphicData uri="http://schemas.openxmlformats.org/presentationml/2006/ole">
            <mc:AlternateContent xmlns:mc="http://schemas.openxmlformats.org/markup-compatibility/2006">
              <mc:Choice xmlns:v="urn:schemas-microsoft-com:vml" Requires="v">
                <p:oleObj spid="_x0000_s46832" name="公式" r:id="rId13" imgW="774364" imgH="330057" progId="Equation.3">
                  <p:embed/>
                </p:oleObj>
              </mc:Choice>
              <mc:Fallback>
                <p:oleObj name="公式" r:id="rId13" imgW="774364" imgH="330057"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7675" y="1700213"/>
                        <a:ext cx="2366963"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089" name="Object 9"/>
          <p:cNvGraphicFramePr>
            <a:graphicFrameLocks noChangeAspect="1"/>
          </p:cNvGraphicFramePr>
          <p:nvPr/>
        </p:nvGraphicFramePr>
        <p:xfrm>
          <a:off x="5580063" y="1700213"/>
          <a:ext cx="2819400" cy="762000"/>
        </p:xfrm>
        <a:graphic>
          <a:graphicData uri="http://schemas.openxmlformats.org/presentationml/2006/ole">
            <mc:AlternateContent xmlns:mc="http://schemas.openxmlformats.org/markup-compatibility/2006">
              <mc:Choice xmlns:v="urn:schemas-microsoft-com:vml" Requires="v">
                <p:oleObj spid="_x0000_s46833" name="公式" r:id="rId15" imgW="901309" imgH="330057" progId="Equation.3">
                  <p:embed/>
                </p:oleObj>
              </mc:Choice>
              <mc:Fallback>
                <p:oleObj name="公式" r:id="rId15" imgW="901309" imgH="330057"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80063" y="1700213"/>
                        <a:ext cx="2819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42" name="Rectangle 10"/>
          <p:cNvSpPr>
            <a:spLocks noChangeArrowheads="1"/>
          </p:cNvSpPr>
          <p:nvPr/>
        </p:nvSpPr>
        <p:spPr bwMode="auto">
          <a:xfrm>
            <a:off x="250825" y="2852738"/>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FontTx/>
              <a:buNone/>
            </a:pPr>
            <a:r>
              <a:rPr lang="zh-CN" altLang="en-US" sz="2400" b="1">
                <a:cs typeface="Arial" panose="020B0604020202020204" pitchFamily="34" charset="0"/>
              </a:rPr>
              <a:t>解：</a:t>
            </a:r>
          </a:p>
        </p:txBody>
      </p:sp>
      <p:graphicFrame>
        <p:nvGraphicFramePr>
          <p:cNvPr id="172043" name="Object 11"/>
          <p:cNvGraphicFramePr>
            <a:graphicFrameLocks noChangeAspect="1"/>
          </p:cNvGraphicFramePr>
          <p:nvPr>
            <p:extLst>
              <p:ext uri="{D42A27DB-BD31-4B8C-83A1-F6EECF244321}">
                <p14:modId xmlns:p14="http://schemas.microsoft.com/office/powerpoint/2010/main" val="4073631856"/>
              </p:ext>
            </p:extLst>
          </p:nvPr>
        </p:nvGraphicFramePr>
        <p:xfrm>
          <a:off x="1187450" y="2636838"/>
          <a:ext cx="2586038" cy="869950"/>
        </p:xfrm>
        <a:graphic>
          <a:graphicData uri="http://schemas.openxmlformats.org/presentationml/2006/ole">
            <mc:AlternateContent xmlns:mc="http://schemas.openxmlformats.org/markup-compatibility/2006">
              <mc:Choice xmlns:v="urn:schemas-microsoft-com:vml" Requires="v">
                <p:oleObj spid="_x0000_s46834" name="Equation" r:id="rId17" imgW="799753" imgH="406224" progId="Equation.DSMT4">
                  <p:embed/>
                </p:oleObj>
              </mc:Choice>
              <mc:Fallback>
                <p:oleObj name="Equation" r:id="rId17" imgW="799753" imgH="406224"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87450" y="2636838"/>
                        <a:ext cx="2586038" cy="869950"/>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44" name="Line 12"/>
          <p:cNvSpPr>
            <a:spLocks noChangeShapeType="1"/>
          </p:cNvSpPr>
          <p:nvPr/>
        </p:nvSpPr>
        <p:spPr bwMode="auto">
          <a:xfrm>
            <a:off x="0" y="2565400"/>
            <a:ext cx="9144000" cy="0"/>
          </a:xfrm>
          <a:prstGeom prst="line">
            <a:avLst/>
          </a:prstGeom>
          <a:noFill/>
          <a:ln w="28575">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172045" name="Text Box 13"/>
          <p:cNvSpPr txBox="1">
            <a:spLocks noChangeArrowheads="1"/>
          </p:cNvSpPr>
          <p:nvPr/>
        </p:nvSpPr>
        <p:spPr bwMode="auto">
          <a:xfrm>
            <a:off x="3671888" y="4551363"/>
            <a:ext cx="47164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分布在速率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附近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 d </a:t>
            </a:r>
            <a:r>
              <a:rPr lang="en-US" altLang="zh-CN" sz="2400" b="1" i="1">
                <a:solidFill>
                  <a:srgbClr val="FF3300"/>
                </a:solidFill>
                <a:cs typeface="Arial" panose="020B0604020202020204" pitchFamily="34" charset="0"/>
              </a:rPr>
              <a:t>v   </a:t>
            </a:r>
          </a:p>
          <a:p>
            <a:pPr eaLnBrk="1" hangingPunct="1">
              <a:spcBef>
                <a:spcPct val="0"/>
              </a:spcBef>
              <a:buClrTx/>
              <a:buFontTx/>
              <a:buNone/>
            </a:pPr>
            <a:r>
              <a:rPr lang="en-US" altLang="zh-CN" sz="2400" b="1" i="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速率区间内的分子数。</a:t>
            </a:r>
          </a:p>
        </p:txBody>
      </p:sp>
      <p:sp>
        <p:nvSpPr>
          <p:cNvPr id="172046" name="Text Box 14"/>
          <p:cNvSpPr txBox="1">
            <a:spLocks noChangeArrowheads="1"/>
          </p:cNvSpPr>
          <p:nvPr/>
        </p:nvSpPr>
        <p:spPr bwMode="auto">
          <a:xfrm>
            <a:off x="4140200" y="5516563"/>
            <a:ext cx="46085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单位体积内，分子速率分  </a:t>
            </a:r>
          </a:p>
          <a:p>
            <a:pPr eaLnBrk="1" hangingPunct="1">
              <a:spcBef>
                <a:spcPct val="0"/>
              </a:spcBef>
              <a:buClrTx/>
              <a:buFontTx/>
              <a:buNone/>
            </a:pPr>
            <a:r>
              <a:rPr lang="zh-CN" altLang="en-US" sz="2400" b="1">
                <a:solidFill>
                  <a:srgbClr val="FF3300"/>
                </a:solidFill>
                <a:cs typeface="Arial" panose="020B0604020202020204" pitchFamily="34" charset="0"/>
              </a:rPr>
              <a:t>          布在速率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附近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 d</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a:t>
            </a:r>
          </a:p>
          <a:p>
            <a:pPr eaLnBrk="1" hangingPunct="1">
              <a:spcBef>
                <a:spcPct val="0"/>
              </a:spcBef>
              <a:buClrTx/>
              <a:buFontTx/>
              <a:buNone/>
            </a:pP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速率区间内的分子数。</a:t>
            </a:r>
          </a:p>
        </p:txBody>
      </p:sp>
      <p:graphicFrame>
        <p:nvGraphicFramePr>
          <p:cNvPr id="172047" name="Object 15"/>
          <p:cNvGraphicFramePr>
            <a:graphicFrameLocks noChangeAspect="1"/>
          </p:cNvGraphicFramePr>
          <p:nvPr/>
        </p:nvGraphicFramePr>
        <p:xfrm>
          <a:off x="474663" y="4843463"/>
          <a:ext cx="2479675" cy="457200"/>
        </p:xfrm>
        <a:graphic>
          <a:graphicData uri="http://schemas.openxmlformats.org/presentationml/2006/ole">
            <mc:AlternateContent xmlns:mc="http://schemas.openxmlformats.org/markup-compatibility/2006">
              <mc:Choice xmlns:v="urn:schemas-microsoft-com:vml" Requires="v">
                <p:oleObj spid="_x0000_s46835" name="公式" r:id="rId19" imgW="1066337" imgH="203112" progId="Equation.3">
                  <p:embed/>
                </p:oleObj>
              </mc:Choice>
              <mc:Fallback>
                <p:oleObj name="公式" r:id="rId19" imgW="1066337" imgH="203112"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4663" y="4843463"/>
                        <a:ext cx="2479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2048" name="Object 16"/>
          <p:cNvGraphicFramePr>
            <a:graphicFrameLocks noChangeAspect="1"/>
          </p:cNvGraphicFramePr>
          <p:nvPr/>
        </p:nvGraphicFramePr>
        <p:xfrm>
          <a:off x="250825" y="5661025"/>
          <a:ext cx="3509963" cy="809625"/>
        </p:xfrm>
        <a:graphic>
          <a:graphicData uri="http://schemas.openxmlformats.org/presentationml/2006/ole">
            <mc:AlternateContent xmlns:mc="http://schemas.openxmlformats.org/markup-compatibility/2006">
              <mc:Choice xmlns:v="urn:schemas-microsoft-com:vml" Requires="v">
                <p:oleObj spid="_x0000_s46836" name="公式" r:id="rId21" imgW="1688367" imgH="406224" progId="Equation.3">
                  <p:embed/>
                </p:oleObj>
              </mc:Choice>
              <mc:Fallback>
                <p:oleObj name="公式" r:id="rId21" imgW="1688367" imgH="406224" progId="Equation.3">
                  <p:embed/>
                  <p:pic>
                    <p:nvPicPr>
                      <p:cNvPr id="0" name="Object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0825" y="5661025"/>
                        <a:ext cx="3509963"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49" name="Text Box 17"/>
          <p:cNvSpPr txBox="1">
            <a:spLocks noChangeArrowheads="1"/>
          </p:cNvSpPr>
          <p:nvPr/>
        </p:nvSpPr>
        <p:spPr bwMode="auto">
          <a:xfrm>
            <a:off x="3492500" y="3573463"/>
            <a:ext cx="60817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分布在速率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附近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 d </a:t>
            </a:r>
            <a:r>
              <a:rPr lang="en-US" altLang="zh-CN" sz="2400" b="1" i="1">
                <a:solidFill>
                  <a:srgbClr val="FF3300"/>
                </a:solidFill>
                <a:cs typeface="Arial" panose="020B0604020202020204" pitchFamily="34" charset="0"/>
              </a:rPr>
              <a:t>v</a:t>
            </a:r>
            <a:r>
              <a:rPr lang="en-US" altLang="zh-CN" sz="2400" b="1">
                <a:solidFill>
                  <a:srgbClr val="FF3300"/>
                </a:solidFill>
                <a:cs typeface="Arial" panose="020B0604020202020204" pitchFamily="34" charset="0"/>
              </a:rPr>
              <a:t> </a:t>
            </a:r>
            <a:r>
              <a:rPr lang="zh-CN" altLang="en-US" sz="2400" b="1">
                <a:solidFill>
                  <a:srgbClr val="FF3300"/>
                </a:solidFill>
                <a:cs typeface="Arial" panose="020B0604020202020204" pitchFamily="34" charset="0"/>
              </a:rPr>
              <a:t>速率</a:t>
            </a:r>
          </a:p>
          <a:p>
            <a:pPr eaLnBrk="1" hangingPunct="1">
              <a:spcBef>
                <a:spcPct val="0"/>
              </a:spcBef>
              <a:buClrTx/>
              <a:buFontTx/>
              <a:buNone/>
            </a:pPr>
            <a:r>
              <a:rPr lang="zh-CN" altLang="en-US" sz="2400" b="1">
                <a:solidFill>
                  <a:srgbClr val="FF3300"/>
                </a:solidFill>
                <a:cs typeface="Arial" panose="020B0604020202020204" pitchFamily="34" charset="0"/>
              </a:rPr>
              <a:t>         区间内的分子数占总分子数的比率。</a:t>
            </a:r>
          </a:p>
        </p:txBody>
      </p:sp>
      <p:graphicFrame>
        <p:nvGraphicFramePr>
          <p:cNvPr id="172050" name="Object 18"/>
          <p:cNvGraphicFramePr>
            <a:graphicFrameLocks noChangeAspect="1"/>
          </p:cNvGraphicFramePr>
          <p:nvPr/>
        </p:nvGraphicFramePr>
        <p:xfrm>
          <a:off x="488950" y="3500438"/>
          <a:ext cx="2298700" cy="830262"/>
        </p:xfrm>
        <a:graphic>
          <a:graphicData uri="http://schemas.openxmlformats.org/presentationml/2006/ole">
            <mc:AlternateContent xmlns:mc="http://schemas.openxmlformats.org/markup-compatibility/2006">
              <mc:Choice xmlns:v="urn:schemas-microsoft-com:vml" Requires="v">
                <p:oleObj spid="_x0000_s46837" name="公式" r:id="rId23" imgW="990170" imgH="406224" progId="Equation.3">
                  <p:embed/>
                </p:oleObj>
              </mc:Choice>
              <mc:Fallback>
                <p:oleObj name="公式" r:id="rId23" imgW="990170" imgH="406224" progId="Equation.3">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8950" y="3500438"/>
                        <a:ext cx="229870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2051" name="Line 19"/>
          <p:cNvSpPr>
            <a:spLocks noChangeShapeType="1"/>
          </p:cNvSpPr>
          <p:nvPr/>
        </p:nvSpPr>
        <p:spPr bwMode="auto">
          <a:xfrm>
            <a:off x="0" y="4437063"/>
            <a:ext cx="9144000" cy="0"/>
          </a:xfrm>
          <a:prstGeom prst="line">
            <a:avLst/>
          </a:prstGeom>
          <a:noFill/>
          <a:ln w="28575">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
        <p:nvSpPr>
          <p:cNvPr id="172052" name="Line 20"/>
          <p:cNvSpPr>
            <a:spLocks noChangeShapeType="1"/>
          </p:cNvSpPr>
          <p:nvPr/>
        </p:nvSpPr>
        <p:spPr bwMode="auto">
          <a:xfrm>
            <a:off x="0" y="5516563"/>
            <a:ext cx="9144000" cy="0"/>
          </a:xfrm>
          <a:prstGeom prst="line">
            <a:avLst/>
          </a:prstGeom>
          <a:noFill/>
          <a:ln w="28575">
            <a:solidFill>
              <a:srgbClr val="FF00FF"/>
            </a:solidFill>
            <a:round/>
            <a:headEnd/>
            <a:tailEnd/>
          </a:ln>
          <a:effectLst/>
        </p:spPr>
        <p:txBody>
          <a:bodyPr wrap="none" lIns="90000" tIns="46800" rIns="90000" bIns="46800" anchor="ctr"/>
          <a:lstStyle/>
          <a:p>
            <a:pPr eaLnBrk="1" hangingPunct="1">
              <a:defRPr/>
            </a:pPr>
            <a:endParaRPr 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72042"/>
                                        </p:tgtEl>
                                        <p:attrNameLst>
                                          <p:attrName>style.visibility</p:attrName>
                                        </p:attrNameLst>
                                      </p:cBhvr>
                                      <p:to>
                                        <p:strVal val="visible"/>
                                      </p:to>
                                    </p:set>
                                    <p:animEffect transition="in" filter="wipe(left)">
                                      <p:cBhvr>
                                        <p:cTn id="7" dur="300"/>
                                        <p:tgtEl>
                                          <p:spTgt spid="172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2043"/>
                                        </p:tgtEl>
                                        <p:attrNameLst>
                                          <p:attrName>style.visibility</p:attrName>
                                        </p:attrNameLst>
                                      </p:cBhvr>
                                      <p:to>
                                        <p:strVal val="visible"/>
                                      </p:to>
                                    </p:set>
                                    <p:animEffect transition="in" filter="wipe(left)">
                                      <p:cBhvr>
                                        <p:cTn id="12" dur="500"/>
                                        <p:tgtEl>
                                          <p:spTgt spid="1720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2050"/>
                                        </p:tgtEl>
                                        <p:attrNameLst>
                                          <p:attrName>style.visibility</p:attrName>
                                        </p:attrNameLst>
                                      </p:cBhvr>
                                      <p:to>
                                        <p:strVal val="visible"/>
                                      </p:to>
                                    </p:set>
                                    <p:animEffect transition="in" filter="wipe(left)">
                                      <p:cBhvr>
                                        <p:cTn id="17" dur="500"/>
                                        <p:tgtEl>
                                          <p:spTgt spid="17205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2049"/>
                                        </p:tgtEl>
                                        <p:attrNameLst>
                                          <p:attrName>style.visibility</p:attrName>
                                        </p:attrNameLst>
                                      </p:cBhvr>
                                      <p:to>
                                        <p:strVal val="visible"/>
                                      </p:to>
                                    </p:set>
                                    <p:animEffect transition="in" filter="wipe(left)">
                                      <p:cBhvr>
                                        <p:cTn id="22" dur="500"/>
                                        <p:tgtEl>
                                          <p:spTgt spid="1720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2047"/>
                                        </p:tgtEl>
                                        <p:attrNameLst>
                                          <p:attrName>style.visibility</p:attrName>
                                        </p:attrNameLst>
                                      </p:cBhvr>
                                      <p:to>
                                        <p:strVal val="visible"/>
                                      </p:to>
                                    </p:set>
                                    <p:animEffect transition="in" filter="wipe(left)">
                                      <p:cBhvr>
                                        <p:cTn id="27" dur="500"/>
                                        <p:tgtEl>
                                          <p:spTgt spid="1720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72045"/>
                                        </p:tgtEl>
                                        <p:attrNameLst>
                                          <p:attrName>style.visibility</p:attrName>
                                        </p:attrNameLst>
                                      </p:cBhvr>
                                      <p:to>
                                        <p:strVal val="visible"/>
                                      </p:to>
                                    </p:set>
                                    <p:animEffect transition="in" filter="wipe(left)">
                                      <p:cBhvr>
                                        <p:cTn id="32" dur="300"/>
                                        <p:tgtEl>
                                          <p:spTgt spid="17204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72048"/>
                                        </p:tgtEl>
                                        <p:attrNameLst>
                                          <p:attrName>style.visibility</p:attrName>
                                        </p:attrNameLst>
                                      </p:cBhvr>
                                      <p:to>
                                        <p:strVal val="visible"/>
                                      </p:to>
                                    </p:set>
                                    <p:animEffect transition="in" filter="wipe(left)">
                                      <p:cBhvr>
                                        <p:cTn id="37" dur="500"/>
                                        <p:tgtEl>
                                          <p:spTgt spid="1720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2046"/>
                                        </p:tgtEl>
                                        <p:attrNameLst>
                                          <p:attrName>style.visibility</p:attrName>
                                        </p:attrNameLst>
                                      </p:cBhvr>
                                      <p:to>
                                        <p:strVal val="visible"/>
                                      </p:to>
                                    </p:set>
                                    <p:animEffect transition="in" filter="wipe(left)">
                                      <p:cBhvr>
                                        <p:cTn id="42" dur="500"/>
                                        <p:tgtEl>
                                          <p:spTgt spid="172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42" grpId="0" autoUpdateAnimBg="0"/>
      <p:bldP spid="172045" grpId="0" autoUpdateAnimBg="0"/>
      <p:bldP spid="172046" grpId="0" autoUpdateAnimBg="0"/>
      <p:bldP spid="17204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aphicFrame>
        <p:nvGraphicFramePr>
          <p:cNvPr id="173058" name="Object 2"/>
          <p:cNvGraphicFramePr>
            <a:graphicFrameLocks noChangeAspect="1"/>
          </p:cNvGraphicFramePr>
          <p:nvPr/>
        </p:nvGraphicFramePr>
        <p:xfrm>
          <a:off x="487363" y="612775"/>
          <a:ext cx="3827462" cy="831850"/>
        </p:xfrm>
        <a:graphic>
          <a:graphicData uri="http://schemas.openxmlformats.org/presentationml/2006/ole">
            <mc:AlternateContent xmlns:mc="http://schemas.openxmlformats.org/markup-compatibility/2006">
              <mc:Choice xmlns:v="urn:schemas-microsoft-com:vml" Requires="v">
                <p:oleObj spid="_x0000_s47377" name="公式" r:id="rId3" imgW="1536033" imgH="406224" progId="Equation.3">
                  <p:embed/>
                </p:oleObj>
              </mc:Choice>
              <mc:Fallback>
                <p:oleObj name="公式" r:id="rId3" imgW="1536033" imgH="406224"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3" y="612775"/>
                        <a:ext cx="382746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59" name="Text Box 3"/>
          <p:cNvSpPr txBox="1">
            <a:spLocks noChangeArrowheads="1"/>
          </p:cNvSpPr>
          <p:nvPr/>
        </p:nvSpPr>
        <p:spPr bwMode="auto">
          <a:xfrm>
            <a:off x="4876800" y="641350"/>
            <a:ext cx="37338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0000FF"/>
                </a:solidFill>
                <a:cs typeface="Arial" panose="020B0604020202020204" pitchFamily="34" charset="0"/>
              </a:rPr>
              <a:t>—— </a:t>
            </a:r>
            <a:r>
              <a:rPr lang="zh-CN" altLang="en-US" sz="2400" b="1">
                <a:solidFill>
                  <a:srgbClr val="0000FF"/>
                </a:solidFill>
                <a:cs typeface="Arial" panose="020B0604020202020204" pitchFamily="34" charset="0"/>
              </a:rPr>
              <a:t>分布在有限速率区间</a:t>
            </a:r>
            <a:r>
              <a:rPr lang="en-US" altLang="zh-CN" sz="2400" b="1">
                <a:solidFill>
                  <a:srgbClr val="0000FF"/>
                </a:solidFill>
                <a:cs typeface="Arial" panose="020B0604020202020204" pitchFamily="34" charset="0"/>
              </a:rPr>
              <a:t>v</a:t>
            </a:r>
            <a:r>
              <a:rPr lang="en-US" altLang="zh-CN" sz="2400" b="1" baseline="-25000">
                <a:solidFill>
                  <a:srgbClr val="0000FF"/>
                </a:solidFill>
                <a:cs typeface="Arial" panose="020B0604020202020204" pitchFamily="34" charset="0"/>
              </a:rPr>
              <a:t>1  </a:t>
            </a:r>
            <a:r>
              <a:rPr lang="en-US" altLang="zh-CN" sz="2400" b="1">
                <a:solidFill>
                  <a:srgbClr val="0000FF"/>
                </a:solidFill>
                <a:cs typeface="Arial" panose="020B0604020202020204" pitchFamily="34" charset="0"/>
              </a:rPr>
              <a:t>~  v</a:t>
            </a:r>
            <a:r>
              <a:rPr lang="en-US" altLang="zh-CN" sz="2400" b="1" baseline="-25000">
                <a:solidFill>
                  <a:srgbClr val="0000FF"/>
                </a:solidFill>
                <a:cs typeface="Arial" panose="020B0604020202020204" pitchFamily="34" charset="0"/>
              </a:rPr>
              <a:t>2 </a:t>
            </a:r>
            <a:r>
              <a:rPr lang="zh-CN" altLang="en-US" sz="2400" b="1">
                <a:solidFill>
                  <a:srgbClr val="0000FF"/>
                </a:solidFill>
                <a:cs typeface="Arial" panose="020B0604020202020204" pitchFamily="34" charset="0"/>
              </a:rPr>
              <a:t>内的分子数占总分子数的比率。</a:t>
            </a:r>
          </a:p>
        </p:txBody>
      </p:sp>
      <p:graphicFrame>
        <p:nvGraphicFramePr>
          <p:cNvPr id="173060" name="Object 4"/>
          <p:cNvGraphicFramePr>
            <a:graphicFrameLocks noChangeAspect="1"/>
          </p:cNvGraphicFramePr>
          <p:nvPr/>
        </p:nvGraphicFramePr>
        <p:xfrm>
          <a:off x="468313" y="2209800"/>
          <a:ext cx="4170362" cy="806450"/>
        </p:xfrm>
        <a:graphic>
          <a:graphicData uri="http://schemas.openxmlformats.org/presentationml/2006/ole">
            <mc:AlternateContent xmlns:mc="http://schemas.openxmlformats.org/markup-compatibility/2006">
              <mc:Choice xmlns:v="urn:schemas-microsoft-com:vml" Requires="v">
                <p:oleObj spid="_x0000_s47378" name="公式" r:id="rId5" imgW="1600200" imgH="355600" progId="Equation.3">
                  <p:embed/>
                </p:oleObj>
              </mc:Choice>
              <mc:Fallback>
                <p:oleObj name="公式" r:id="rId5" imgW="1600200" imgH="355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2209800"/>
                        <a:ext cx="4170362"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61" name="Text Box 5"/>
          <p:cNvSpPr txBox="1">
            <a:spLocks noChangeArrowheads="1"/>
          </p:cNvSpPr>
          <p:nvPr/>
        </p:nvSpPr>
        <p:spPr bwMode="auto">
          <a:xfrm>
            <a:off x="4876800" y="2301875"/>
            <a:ext cx="3810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0000FF"/>
                </a:solidFill>
                <a:cs typeface="Arial" panose="020B0604020202020204" pitchFamily="34" charset="0"/>
              </a:rPr>
              <a:t>——  </a:t>
            </a:r>
            <a:r>
              <a:rPr lang="zh-CN" altLang="en-US" sz="2400" b="1">
                <a:solidFill>
                  <a:srgbClr val="0000FF"/>
                </a:solidFill>
                <a:cs typeface="Arial" panose="020B0604020202020204" pitchFamily="34" charset="0"/>
              </a:rPr>
              <a:t>分布在有限速率区间 </a:t>
            </a:r>
            <a:r>
              <a:rPr lang="en-US" altLang="zh-CN" sz="2400" b="1">
                <a:solidFill>
                  <a:srgbClr val="0000FF"/>
                </a:solidFill>
                <a:cs typeface="Arial" panose="020B0604020202020204" pitchFamily="34" charset="0"/>
              </a:rPr>
              <a:t>v</a:t>
            </a:r>
            <a:r>
              <a:rPr lang="en-US" altLang="zh-CN" sz="2400" b="1" baseline="-25000">
                <a:solidFill>
                  <a:srgbClr val="0000FF"/>
                </a:solidFill>
                <a:cs typeface="Arial" panose="020B0604020202020204" pitchFamily="34" charset="0"/>
              </a:rPr>
              <a:t>1 </a:t>
            </a:r>
            <a:r>
              <a:rPr lang="en-US" altLang="zh-CN" sz="2400" b="1">
                <a:solidFill>
                  <a:srgbClr val="0000FF"/>
                </a:solidFill>
                <a:cs typeface="Arial" panose="020B0604020202020204" pitchFamily="34" charset="0"/>
              </a:rPr>
              <a:t>~ v</a:t>
            </a:r>
            <a:r>
              <a:rPr lang="en-US" altLang="zh-CN" sz="2400" b="1" baseline="-25000">
                <a:solidFill>
                  <a:srgbClr val="0000FF"/>
                </a:solidFill>
                <a:cs typeface="Arial" panose="020B0604020202020204" pitchFamily="34" charset="0"/>
              </a:rPr>
              <a:t>2 </a:t>
            </a:r>
            <a:r>
              <a:rPr lang="zh-CN" altLang="en-US" sz="2400" b="1">
                <a:solidFill>
                  <a:srgbClr val="0000FF"/>
                </a:solidFill>
                <a:cs typeface="Arial" panose="020B0604020202020204" pitchFamily="34" charset="0"/>
              </a:rPr>
              <a:t>内的分子数。</a:t>
            </a:r>
          </a:p>
        </p:txBody>
      </p:sp>
      <p:graphicFrame>
        <p:nvGraphicFramePr>
          <p:cNvPr id="173062" name="Object 6"/>
          <p:cNvGraphicFramePr>
            <a:graphicFrameLocks noChangeAspect="1"/>
          </p:cNvGraphicFramePr>
          <p:nvPr/>
        </p:nvGraphicFramePr>
        <p:xfrm>
          <a:off x="419100" y="3744913"/>
          <a:ext cx="2971800" cy="674687"/>
        </p:xfrm>
        <a:graphic>
          <a:graphicData uri="http://schemas.openxmlformats.org/presentationml/2006/ole">
            <mc:AlternateContent xmlns:mc="http://schemas.openxmlformats.org/markup-compatibility/2006">
              <mc:Choice xmlns:v="urn:schemas-microsoft-com:vml" Requires="v">
                <p:oleObj spid="_x0000_s47379" name="公式" r:id="rId7" imgW="990170" imgH="330057" progId="Equation.3">
                  <p:embed/>
                </p:oleObj>
              </mc:Choice>
              <mc:Fallback>
                <p:oleObj name="公式" r:id="rId7" imgW="990170" imgH="330057"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100" y="3744913"/>
                        <a:ext cx="2971800" cy="67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63" name="Text Box 7"/>
          <p:cNvSpPr txBox="1">
            <a:spLocks noChangeArrowheads="1"/>
          </p:cNvSpPr>
          <p:nvPr/>
        </p:nvSpPr>
        <p:spPr bwMode="auto">
          <a:xfrm>
            <a:off x="4343400" y="3765550"/>
            <a:ext cx="4343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0000FF"/>
                </a:solidFill>
                <a:cs typeface="Arial" panose="020B0604020202020204" pitchFamily="34" charset="0"/>
              </a:rPr>
              <a:t>——  </a:t>
            </a:r>
            <a:r>
              <a:rPr lang="zh-CN" altLang="en-US" sz="2400" b="1">
                <a:solidFill>
                  <a:srgbClr val="0000FF"/>
                </a:solidFill>
                <a:cs typeface="Arial" panose="020B0604020202020204" pitchFamily="34" charset="0"/>
              </a:rPr>
              <a:t>分布在 </a:t>
            </a:r>
            <a:r>
              <a:rPr lang="en-US" altLang="zh-CN" sz="2400" b="1">
                <a:solidFill>
                  <a:srgbClr val="0000FF"/>
                </a:solidFill>
                <a:cs typeface="Arial" panose="020B0604020202020204" pitchFamily="34" charset="0"/>
              </a:rPr>
              <a:t>0  </a:t>
            </a:r>
            <a:r>
              <a:rPr lang="zh-CN" altLang="en-US" sz="2400" b="1">
                <a:solidFill>
                  <a:srgbClr val="0000FF"/>
                </a:solidFill>
                <a:cs typeface="Arial" panose="020B0604020202020204" pitchFamily="34" charset="0"/>
              </a:rPr>
              <a:t>～ ∞ 速率区间内的分子数占总分子数的比率。（ 归一化条件）</a:t>
            </a:r>
          </a:p>
        </p:txBody>
      </p:sp>
      <p:graphicFrame>
        <p:nvGraphicFramePr>
          <p:cNvPr id="173064" name="Object 8"/>
          <p:cNvGraphicFramePr>
            <a:graphicFrameLocks noChangeAspect="1"/>
          </p:cNvGraphicFramePr>
          <p:nvPr/>
        </p:nvGraphicFramePr>
        <p:xfrm>
          <a:off x="252413" y="5192713"/>
          <a:ext cx="6119812" cy="992187"/>
        </p:xfrm>
        <a:graphic>
          <a:graphicData uri="http://schemas.openxmlformats.org/presentationml/2006/ole">
            <mc:AlternateContent xmlns:mc="http://schemas.openxmlformats.org/markup-compatibility/2006">
              <mc:Choice xmlns:v="urn:schemas-microsoft-com:vml" Requires="v">
                <p:oleObj spid="_x0000_s47380" name="公式" r:id="rId9" imgW="2070100" imgH="393700" progId="Equation.3">
                  <p:embed/>
                </p:oleObj>
              </mc:Choice>
              <mc:Fallback>
                <p:oleObj name="公式" r:id="rId9" imgW="2070100" imgH="3937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2413" y="5192713"/>
                        <a:ext cx="6119812"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3065" name="Text Box 9"/>
          <p:cNvSpPr txBox="1">
            <a:spLocks noChangeArrowheads="1"/>
          </p:cNvSpPr>
          <p:nvPr/>
        </p:nvSpPr>
        <p:spPr bwMode="auto">
          <a:xfrm>
            <a:off x="6286500" y="5492750"/>
            <a:ext cx="285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rgbClr val="0000FF"/>
                </a:solidFill>
                <a:cs typeface="Arial" panose="020B0604020202020204" pitchFamily="34" charset="0"/>
              </a:rPr>
              <a:t>—— v</a:t>
            </a:r>
            <a:r>
              <a:rPr lang="en-US" altLang="zh-CN" sz="2400" b="1" baseline="30000">
                <a:solidFill>
                  <a:srgbClr val="0000FF"/>
                </a:solidFill>
                <a:cs typeface="Arial" panose="020B0604020202020204" pitchFamily="34" charset="0"/>
              </a:rPr>
              <a:t>2  </a:t>
            </a:r>
            <a:r>
              <a:rPr lang="zh-CN" altLang="en-US" sz="2400" b="1">
                <a:solidFill>
                  <a:srgbClr val="0000FF"/>
                </a:solidFill>
                <a:cs typeface="Arial" panose="020B0604020202020204" pitchFamily="34" charset="0"/>
              </a:rPr>
              <a:t>的平均值。</a:t>
            </a:r>
          </a:p>
        </p:txBody>
      </p:sp>
      <p:sp>
        <p:nvSpPr>
          <p:cNvPr id="173066" name="Line 10"/>
          <p:cNvSpPr>
            <a:spLocks noChangeShapeType="1"/>
          </p:cNvSpPr>
          <p:nvPr/>
        </p:nvSpPr>
        <p:spPr bwMode="auto">
          <a:xfrm>
            <a:off x="0" y="1916113"/>
            <a:ext cx="9144000" cy="0"/>
          </a:xfrm>
          <a:prstGeom prst="line">
            <a:avLst/>
          </a:prstGeom>
          <a:noFill/>
          <a:ln w="12700">
            <a:solidFill>
              <a:srgbClr val="FF3300"/>
            </a:solidFill>
            <a:round/>
            <a:headEnd type="none" w="sm" len="sm"/>
            <a:tailEnd type="none" w="sm" len="sm"/>
          </a:ln>
          <a:effectLst/>
        </p:spPr>
        <p:txBody>
          <a:bodyPr wrap="none"/>
          <a:lstStyle/>
          <a:p>
            <a:pPr eaLnBrk="1" hangingPunct="1">
              <a:defRPr/>
            </a:pPr>
            <a:endParaRPr lang="en-US">
              <a:effectLst>
                <a:outerShdw blurRad="38100" dist="38100" dir="2700000" algn="tl">
                  <a:srgbClr val="000000">
                    <a:alpha val="43137"/>
                  </a:srgbClr>
                </a:outerShdw>
              </a:effectLst>
            </a:endParaRPr>
          </a:p>
        </p:txBody>
      </p:sp>
      <p:sp>
        <p:nvSpPr>
          <p:cNvPr id="173067" name="Line 11"/>
          <p:cNvSpPr>
            <a:spLocks noChangeShapeType="1"/>
          </p:cNvSpPr>
          <p:nvPr/>
        </p:nvSpPr>
        <p:spPr bwMode="auto">
          <a:xfrm>
            <a:off x="34925" y="3213100"/>
            <a:ext cx="9144000" cy="0"/>
          </a:xfrm>
          <a:prstGeom prst="line">
            <a:avLst/>
          </a:prstGeom>
          <a:noFill/>
          <a:ln w="12700">
            <a:solidFill>
              <a:srgbClr val="FF3300"/>
            </a:solidFill>
            <a:round/>
            <a:headEnd type="none" w="sm" len="sm"/>
            <a:tailEnd type="none" w="sm" len="sm"/>
          </a:ln>
          <a:effectLst/>
        </p:spPr>
        <p:txBody>
          <a:bodyPr wrap="none"/>
          <a:lstStyle/>
          <a:p>
            <a:pPr eaLnBrk="1" hangingPunct="1">
              <a:defRPr/>
            </a:pPr>
            <a:endParaRPr lang="en-US">
              <a:effectLst>
                <a:outerShdw blurRad="38100" dist="38100" dir="2700000" algn="tl">
                  <a:srgbClr val="000000">
                    <a:alpha val="43137"/>
                  </a:srgbClr>
                </a:outerShdw>
              </a:effectLst>
            </a:endParaRPr>
          </a:p>
        </p:txBody>
      </p:sp>
      <p:sp>
        <p:nvSpPr>
          <p:cNvPr id="173068" name="Line 12"/>
          <p:cNvSpPr>
            <a:spLocks noChangeShapeType="1"/>
          </p:cNvSpPr>
          <p:nvPr/>
        </p:nvSpPr>
        <p:spPr bwMode="auto">
          <a:xfrm>
            <a:off x="34925" y="5084763"/>
            <a:ext cx="9144000" cy="0"/>
          </a:xfrm>
          <a:prstGeom prst="line">
            <a:avLst/>
          </a:prstGeom>
          <a:noFill/>
          <a:ln w="12700">
            <a:solidFill>
              <a:srgbClr val="FF3300"/>
            </a:solidFill>
            <a:round/>
            <a:headEnd type="none" w="sm" len="sm"/>
            <a:tailEnd type="none" w="sm" len="sm"/>
          </a:ln>
          <a:effectLst/>
        </p:spPr>
        <p:txBody>
          <a:bodyPr wrap="none"/>
          <a:lstStyle/>
          <a:p>
            <a:pPr eaLnBrk="1" hangingPunct="1">
              <a:defRPr/>
            </a:pPr>
            <a:endParaRPr lang="en-US">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3058"/>
                                        </p:tgtEl>
                                        <p:attrNameLst>
                                          <p:attrName>style.visibility</p:attrName>
                                        </p:attrNameLst>
                                      </p:cBhvr>
                                      <p:to>
                                        <p:strVal val="visible"/>
                                      </p:to>
                                    </p:set>
                                    <p:animEffect transition="in" filter="wipe(left)">
                                      <p:cBhvr>
                                        <p:cTn id="7" dur="500"/>
                                        <p:tgtEl>
                                          <p:spTgt spid="173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3059"/>
                                        </p:tgtEl>
                                        <p:attrNameLst>
                                          <p:attrName>style.visibility</p:attrName>
                                        </p:attrNameLst>
                                      </p:cBhvr>
                                      <p:to>
                                        <p:strVal val="visible"/>
                                      </p:to>
                                    </p:set>
                                    <p:animEffect transition="in" filter="wipe(up)">
                                      <p:cBhvr>
                                        <p:cTn id="12" dur="500"/>
                                        <p:tgtEl>
                                          <p:spTgt spid="1730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3060"/>
                                        </p:tgtEl>
                                        <p:attrNameLst>
                                          <p:attrName>style.visibility</p:attrName>
                                        </p:attrNameLst>
                                      </p:cBhvr>
                                      <p:to>
                                        <p:strVal val="visible"/>
                                      </p:to>
                                    </p:set>
                                    <p:animEffect transition="in" filter="wipe(left)">
                                      <p:cBhvr>
                                        <p:cTn id="17" dur="500"/>
                                        <p:tgtEl>
                                          <p:spTgt spid="1730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73061"/>
                                        </p:tgtEl>
                                        <p:attrNameLst>
                                          <p:attrName>style.visibility</p:attrName>
                                        </p:attrNameLst>
                                      </p:cBhvr>
                                      <p:to>
                                        <p:strVal val="visible"/>
                                      </p:to>
                                    </p:set>
                                    <p:animEffect transition="in" filter="wipe(up)">
                                      <p:cBhvr>
                                        <p:cTn id="22" dur="500"/>
                                        <p:tgtEl>
                                          <p:spTgt spid="1730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3062"/>
                                        </p:tgtEl>
                                        <p:attrNameLst>
                                          <p:attrName>style.visibility</p:attrName>
                                        </p:attrNameLst>
                                      </p:cBhvr>
                                      <p:to>
                                        <p:strVal val="visible"/>
                                      </p:to>
                                    </p:set>
                                    <p:animEffect transition="in" filter="wipe(left)">
                                      <p:cBhvr>
                                        <p:cTn id="27" dur="500"/>
                                        <p:tgtEl>
                                          <p:spTgt spid="17306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73063"/>
                                        </p:tgtEl>
                                        <p:attrNameLst>
                                          <p:attrName>style.visibility</p:attrName>
                                        </p:attrNameLst>
                                      </p:cBhvr>
                                      <p:to>
                                        <p:strVal val="visible"/>
                                      </p:to>
                                    </p:set>
                                    <p:animEffect transition="in" filter="wipe(up)">
                                      <p:cBhvr>
                                        <p:cTn id="32" dur="500"/>
                                        <p:tgtEl>
                                          <p:spTgt spid="1730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73064"/>
                                        </p:tgtEl>
                                        <p:attrNameLst>
                                          <p:attrName>style.visibility</p:attrName>
                                        </p:attrNameLst>
                                      </p:cBhvr>
                                      <p:to>
                                        <p:strVal val="visible"/>
                                      </p:to>
                                    </p:set>
                                    <p:animEffect transition="in" filter="wipe(left)">
                                      <p:cBhvr>
                                        <p:cTn id="37" dur="500"/>
                                        <p:tgtEl>
                                          <p:spTgt spid="17306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73065"/>
                                        </p:tgtEl>
                                        <p:attrNameLst>
                                          <p:attrName>style.visibility</p:attrName>
                                        </p:attrNameLst>
                                      </p:cBhvr>
                                      <p:to>
                                        <p:strVal val="visible"/>
                                      </p:to>
                                    </p:set>
                                    <p:animEffect transition="in" filter="wipe(left)">
                                      <p:cBhvr>
                                        <p:cTn id="42" dur="500"/>
                                        <p:tgtEl>
                                          <p:spTgt spid="173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autoUpdateAnimBg="0"/>
      <p:bldP spid="173061" grpId="0" autoUpdateAnimBg="0"/>
      <p:bldP spid="173063" grpId="0" autoUpdateAnimBg="0"/>
      <p:bldP spid="17306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alpha val="0"/>
          </a:schemeClr>
        </a:solidFill>
        <a:effectLst/>
      </p:bgPr>
    </p:bg>
    <p:spTree>
      <p:nvGrpSpPr>
        <p:cNvPr id="1" name=""/>
        <p:cNvGrpSpPr/>
        <p:nvPr/>
      </p:nvGrpSpPr>
      <p:grpSpPr>
        <a:xfrm>
          <a:off x="0" y="0"/>
          <a:ext cx="0" cy="0"/>
          <a:chOff x="0" y="0"/>
          <a:chExt cx="0" cy="0"/>
        </a:xfrm>
      </p:grpSpPr>
      <p:sp>
        <p:nvSpPr>
          <p:cNvPr id="481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7C5DA69A-FB0A-4BE3-869D-7A81AD241E23}" type="slidenum">
              <a:rPr kumimoji="0" lang="en-US" altLang="zh-CN" sz="1400" b="1" smtClean="0">
                <a:solidFill>
                  <a:schemeClr val="bg1"/>
                </a:solidFill>
                <a:latin typeface="Arial" panose="020B0604020202020204" pitchFamily="34" charset="0"/>
              </a:rPr>
              <a:pPr>
                <a:spcBef>
                  <a:spcPct val="0"/>
                </a:spcBef>
                <a:buClrTx/>
                <a:buFontTx/>
                <a:buNone/>
              </a:pPr>
              <a:t>37</a:t>
            </a:fld>
            <a:endParaRPr kumimoji="0" lang="en-US" altLang="zh-CN" sz="1400" b="1">
              <a:solidFill>
                <a:schemeClr val="bg1"/>
              </a:solidFill>
              <a:latin typeface="Arial" panose="020B0604020202020204" pitchFamily="34" charset="0"/>
            </a:endParaRPr>
          </a:p>
        </p:txBody>
      </p:sp>
      <p:sp>
        <p:nvSpPr>
          <p:cNvPr id="48131" name="Text Box 2"/>
          <p:cNvSpPr txBox="1">
            <a:spLocks noChangeArrowheads="1"/>
          </p:cNvSpPr>
          <p:nvPr/>
        </p:nvSpPr>
        <p:spPr bwMode="auto">
          <a:xfrm>
            <a:off x="250825" y="188913"/>
            <a:ext cx="8281988"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3000" b="1">
                <a:solidFill>
                  <a:schemeClr val="bg1"/>
                </a:solidFill>
                <a:ea typeface="楷体_GB2312"/>
                <a:cs typeface="楷体_GB2312"/>
              </a:rPr>
              <a:t>例</a:t>
            </a:r>
            <a:r>
              <a:rPr lang="en-US" altLang="zh-CN" sz="3000" b="1">
                <a:solidFill>
                  <a:schemeClr val="bg1"/>
                </a:solidFill>
                <a:ea typeface="楷体_GB2312"/>
                <a:cs typeface="楷体_GB2312"/>
              </a:rPr>
              <a:t>5. </a:t>
            </a:r>
            <a:r>
              <a:rPr lang="zh-CN" altLang="en-US" sz="3000" b="1">
                <a:solidFill>
                  <a:schemeClr val="bg1"/>
                </a:solidFill>
                <a:ea typeface="楷体_GB2312"/>
                <a:cs typeface="楷体_GB2312"/>
              </a:rPr>
              <a:t>若令</a:t>
            </a:r>
            <a:r>
              <a:rPr lang="en-US" altLang="zh-CN" sz="3000" b="1" i="1">
                <a:solidFill>
                  <a:schemeClr val="bg1"/>
                </a:solidFill>
                <a:ea typeface="楷体_GB2312"/>
                <a:cs typeface="楷体_GB2312"/>
              </a:rPr>
              <a:t>w=v/v</a:t>
            </a:r>
            <a:r>
              <a:rPr lang="en-US" altLang="zh-CN" sz="3000" b="1" i="1" baseline="-25000">
                <a:solidFill>
                  <a:schemeClr val="bg1"/>
                </a:solidFill>
                <a:ea typeface="楷体_GB2312"/>
                <a:cs typeface="楷体_GB2312"/>
              </a:rPr>
              <a:t>p</a:t>
            </a:r>
            <a:r>
              <a:rPr lang="en-US" altLang="zh-CN" sz="3000" b="1" i="1">
                <a:solidFill>
                  <a:schemeClr val="bg1"/>
                </a:solidFill>
                <a:ea typeface="楷体_GB2312"/>
                <a:cs typeface="楷体_GB2312"/>
              </a:rPr>
              <a:t>,</a:t>
            </a:r>
            <a:r>
              <a:rPr lang="zh-CN" altLang="en-US" sz="2800" b="1">
                <a:solidFill>
                  <a:schemeClr val="bg1"/>
                </a:solidFill>
                <a:ea typeface="楷体_GB2312"/>
                <a:cs typeface="楷体_GB2312"/>
              </a:rPr>
              <a:t>（</a:t>
            </a:r>
            <a:r>
              <a:rPr lang="en-US" altLang="zh-CN" sz="2800" b="1">
                <a:solidFill>
                  <a:schemeClr val="bg1"/>
                </a:solidFill>
                <a:ea typeface="楷体_GB2312"/>
                <a:cs typeface="楷体_GB2312"/>
              </a:rPr>
              <a:t>1</a:t>
            </a:r>
            <a:r>
              <a:rPr lang="zh-CN" altLang="en-US" sz="2800" b="1">
                <a:solidFill>
                  <a:schemeClr val="bg1"/>
                </a:solidFill>
                <a:ea typeface="楷体_GB2312"/>
                <a:cs typeface="楷体_GB2312"/>
              </a:rPr>
              <a:t>）证明麦克斯韦速率分布函数的另外一种表达形式为                               </a:t>
            </a:r>
          </a:p>
          <a:p>
            <a:pPr eaLnBrk="1" hangingPunct="1">
              <a:spcBef>
                <a:spcPct val="50000"/>
              </a:spcBef>
              <a:buClrTx/>
              <a:buFontTx/>
              <a:buNone/>
            </a:pPr>
            <a:r>
              <a:rPr lang="zh-CN" altLang="en-US" sz="3000" b="1">
                <a:solidFill>
                  <a:schemeClr val="bg1"/>
                </a:solidFill>
                <a:ea typeface="楷体_GB2312"/>
                <a:cs typeface="楷体_GB2312"/>
              </a:rPr>
              <a:t>（</a:t>
            </a:r>
            <a:r>
              <a:rPr lang="en-US" altLang="zh-CN" sz="3000" b="1">
                <a:solidFill>
                  <a:schemeClr val="bg1"/>
                </a:solidFill>
                <a:ea typeface="楷体_GB2312"/>
                <a:cs typeface="楷体_GB2312"/>
              </a:rPr>
              <a:t>2</a:t>
            </a:r>
            <a:r>
              <a:rPr lang="zh-CN" altLang="en-US" sz="3000" b="1">
                <a:solidFill>
                  <a:schemeClr val="bg1"/>
                </a:solidFill>
                <a:ea typeface="楷体_GB2312"/>
                <a:cs typeface="楷体_GB2312"/>
              </a:rPr>
              <a:t>）、求速率在区间</a:t>
            </a:r>
            <a:r>
              <a:rPr lang="en-US" altLang="zh-CN" sz="3000" b="1" i="1">
                <a:solidFill>
                  <a:schemeClr val="bg1"/>
                </a:solidFill>
                <a:ea typeface="楷体_GB2312"/>
                <a:cs typeface="楷体_GB2312"/>
              </a:rPr>
              <a:t>v</a:t>
            </a:r>
            <a:r>
              <a:rPr lang="en-US" altLang="zh-CN" sz="3000" b="1" baseline="-25000">
                <a:solidFill>
                  <a:schemeClr val="bg1"/>
                </a:solidFill>
                <a:ea typeface="楷体_GB2312"/>
                <a:cs typeface="楷体_GB2312"/>
              </a:rPr>
              <a:t>p</a:t>
            </a:r>
            <a:r>
              <a:rPr lang="en-US" altLang="zh-CN" sz="3000" b="1">
                <a:solidFill>
                  <a:schemeClr val="bg1"/>
                </a:solidFill>
                <a:ea typeface="楷体_GB2312"/>
                <a:cs typeface="楷体_GB2312"/>
              </a:rPr>
              <a:t>~1.01</a:t>
            </a:r>
            <a:r>
              <a:rPr lang="en-US" altLang="zh-CN" sz="3000" b="1" i="1">
                <a:solidFill>
                  <a:schemeClr val="bg1"/>
                </a:solidFill>
                <a:ea typeface="楷体_GB2312"/>
                <a:cs typeface="楷体_GB2312"/>
              </a:rPr>
              <a:t>v</a:t>
            </a:r>
            <a:r>
              <a:rPr lang="en-US" altLang="zh-CN" sz="3000" b="1" baseline="-25000">
                <a:solidFill>
                  <a:schemeClr val="bg1"/>
                </a:solidFill>
                <a:ea typeface="楷体_GB2312"/>
                <a:cs typeface="楷体_GB2312"/>
              </a:rPr>
              <a:t>p</a:t>
            </a:r>
            <a:r>
              <a:rPr lang="zh-CN" altLang="en-US" sz="3000" b="1">
                <a:solidFill>
                  <a:schemeClr val="bg1"/>
                </a:solidFill>
                <a:ea typeface="楷体_GB2312"/>
                <a:cs typeface="楷体_GB2312"/>
              </a:rPr>
              <a:t>内的分子数占总分子数的比率</a:t>
            </a:r>
            <a:endParaRPr lang="zh-CN" altLang="en-US" sz="3000" b="1" baseline="-25000">
              <a:solidFill>
                <a:schemeClr val="bg1"/>
              </a:solidFill>
              <a:ea typeface="楷体_GB2312"/>
              <a:cs typeface="楷体_GB2312"/>
            </a:endParaRPr>
          </a:p>
        </p:txBody>
      </p:sp>
      <p:graphicFrame>
        <p:nvGraphicFramePr>
          <p:cNvPr id="174083" name="Object 3"/>
          <p:cNvGraphicFramePr>
            <a:graphicFrameLocks noChangeAspect="1"/>
          </p:cNvGraphicFramePr>
          <p:nvPr>
            <p:extLst>
              <p:ext uri="{D42A27DB-BD31-4B8C-83A1-F6EECF244321}">
                <p14:modId xmlns:p14="http://schemas.microsoft.com/office/powerpoint/2010/main" val="1512157226"/>
              </p:ext>
            </p:extLst>
          </p:nvPr>
        </p:nvGraphicFramePr>
        <p:xfrm>
          <a:off x="4646613" y="692150"/>
          <a:ext cx="2013619" cy="640281"/>
        </p:xfrm>
        <a:graphic>
          <a:graphicData uri="http://schemas.openxmlformats.org/presentationml/2006/ole">
            <mc:AlternateContent xmlns:mc="http://schemas.openxmlformats.org/markup-compatibility/2006">
              <mc:Choice xmlns:v="urn:schemas-microsoft-com:vml" Requires="v">
                <p:oleObj spid="_x0000_s48520" name="公式" r:id="rId3" imgW="1320227" imgH="418918" progId="Equation.3">
                  <p:embed/>
                </p:oleObj>
              </mc:Choice>
              <mc:Fallback>
                <p:oleObj name="公式" r:id="rId3" imgW="1320227" imgH="418918"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6613" y="692150"/>
                        <a:ext cx="2013619" cy="640281"/>
                      </a:xfrm>
                      <a:prstGeom prst="rect">
                        <a:avLst/>
                      </a:prstGeom>
                      <a:gradFill rotWithShape="1">
                        <a:gsLst>
                          <a:gs pos="0">
                            <a:srgbClr val="FFFF66"/>
                          </a:gs>
                          <a:gs pos="100000">
                            <a:srgbClr val="76762F"/>
                          </a:gs>
                        </a:gsLst>
                        <a:lin ang="5400000" scaled="1"/>
                      </a:gradFill>
                      <a:ln>
                        <a:noFill/>
                      </a:ln>
                      <a:effectLst>
                        <a:outerShdw dist="107763" dir="18900000" algn="ctr" rotWithShape="0">
                          <a:srgbClr val="808080"/>
                        </a:outerShdw>
                      </a:effectLst>
                      <a:extLst/>
                    </p:spPr>
                  </p:pic>
                </p:oleObj>
              </mc:Fallback>
            </mc:AlternateContent>
          </a:graphicData>
        </a:graphic>
      </p:graphicFrame>
      <p:sp>
        <p:nvSpPr>
          <p:cNvPr id="174084" name="Text Box 4"/>
          <p:cNvSpPr txBox="1">
            <a:spLocks noChangeArrowheads="1"/>
          </p:cNvSpPr>
          <p:nvPr/>
        </p:nvSpPr>
        <p:spPr bwMode="auto">
          <a:xfrm>
            <a:off x="406400" y="2689225"/>
            <a:ext cx="2005013"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500" b="1">
                <a:solidFill>
                  <a:schemeClr val="bg1"/>
                </a:solidFill>
                <a:cs typeface="Arial" panose="020B0604020202020204" pitchFamily="34" charset="0"/>
              </a:rPr>
              <a:t>证明：</a:t>
            </a:r>
            <a:r>
              <a:rPr lang="en-US" altLang="zh-CN" sz="2500" b="1">
                <a:solidFill>
                  <a:schemeClr val="bg1"/>
                </a:solidFill>
                <a:cs typeface="Arial" panose="020B0604020202020204" pitchFamily="34" charset="0"/>
              </a:rPr>
              <a:t>1</a:t>
            </a:r>
            <a:r>
              <a:rPr lang="zh-CN" altLang="en-US" sz="2500" b="1">
                <a:solidFill>
                  <a:schemeClr val="bg1"/>
                </a:solidFill>
                <a:cs typeface="Arial" panose="020B0604020202020204" pitchFamily="34" charset="0"/>
              </a:rPr>
              <a:t>、由</a:t>
            </a:r>
          </a:p>
        </p:txBody>
      </p:sp>
      <p:graphicFrame>
        <p:nvGraphicFramePr>
          <p:cNvPr id="174085" name="Object 5"/>
          <p:cNvGraphicFramePr>
            <a:graphicFrameLocks noChangeAspect="1"/>
          </p:cNvGraphicFramePr>
          <p:nvPr/>
        </p:nvGraphicFramePr>
        <p:xfrm>
          <a:off x="2759075" y="2408238"/>
          <a:ext cx="4130675" cy="993775"/>
        </p:xfrm>
        <a:graphic>
          <a:graphicData uri="http://schemas.openxmlformats.org/presentationml/2006/ole">
            <mc:AlternateContent xmlns:mc="http://schemas.openxmlformats.org/markup-compatibility/2006">
              <mc:Choice xmlns:v="urn:schemas-microsoft-com:vml" Requires="v">
                <p:oleObj spid="_x0000_s48521" name="Equation" r:id="rId5" imgW="2006600" imgH="482600" progId="Equation.DSMT4">
                  <p:embed/>
                </p:oleObj>
              </mc:Choice>
              <mc:Fallback>
                <p:oleObj name="Equation" r:id="rId5" imgW="2006600" imgH="482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9075" y="2408238"/>
                        <a:ext cx="4130675" cy="993775"/>
                      </a:xfrm>
                      <a:prstGeom prst="rect">
                        <a:avLst/>
                      </a:prstGeom>
                      <a:solidFill>
                        <a:srgbClr val="FF99FF"/>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089" name="Object 9"/>
          <p:cNvGraphicFramePr>
            <a:graphicFrameLocks noChangeAspect="1"/>
          </p:cNvGraphicFramePr>
          <p:nvPr/>
        </p:nvGraphicFramePr>
        <p:xfrm>
          <a:off x="3143250" y="3535363"/>
          <a:ext cx="2566988" cy="955675"/>
        </p:xfrm>
        <a:graphic>
          <a:graphicData uri="http://schemas.openxmlformats.org/presentationml/2006/ole">
            <mc:AlternateContent xmlns:mc="http://schemas.openxmlformats.org/markup-compatibility/2006">
              <mc:Choice xmlns:v="urn:schemas-microsoft-com:vml" Requires="v">
                <p:oleObj spid="_x0000_s48522" name="Equation" r:id="rId7" imgW="1295400" imgH="482600" progId="Equation.DSMT4">
                  <p:embed/>
                </p:oleObj>
              </mc:Choice>
              <mc:Fallback>
                <p:oleObj name="Equation" r:id="rId7" imgW="1295400" imgH="4826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250" y="3535363"/>
                        <a:ext cx="2566988" cy="955675"/>
                      </a:xfrm>
                      <a:prstGeom prst="rect">
                        <a:avLst/>
                      </a:prstGeom>
                      <a:solidFill>
                        <a:srgbClr val="CCFF66"/>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090" name="Object 10"/>
          <p:cNvGraphicFramePr>
            <a:graphicFrameLocks noChangeAspect="1"/>
          </p:cNvGraphicFramePr>
          <p:nvPr/>
        </p:nvGraphicFramePr>
        <p:xfrm>
          <a:off x="5857875" y="3571875"/>
          <a:ext cx="3073400" cy="976313"/>
        </p:xfrm>
        <a:graphic>
          <a:graphicData uri="http://schemas.openxmlformats.org/presentationml/2006/ole">
            <mc:AlternateContent xmlns:mc="http://schemas.openxmlformats.org/markup-compatibility/2006">
              <mc:Choice xmlns:v="urn:schemas-microsoft-com:vml" Requires="v">
                <p:oleObj spid="_x0000_s48523" name="公式" r:id="rId9" imgW="1320227" imgH="418918" progId="Equation.3">
                  <p:embed/>
                </p:oleObj>
              </mc:Choice>
              <mc:Fallback>
                <p:oleObj name="公式" r:id="rId9" imgW="1320227" imgH="418918"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57875" y="3571875"/>
                        <a:ext cx="3073400" cy="976313"/>
                      </a:xfrm>
                      <a:prstGeom prst="rect">
                        <a:avLst/>
                      </a:prstGeom>
                      <a:solidFill>
                        <a:srgbClr val="FFFF00"/>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091" name="Text Box 11"/>
          <p:cNvSpPr txBox="1">
            <a:spLocks noChangeArrowheads="1"/>
          </p:cNvSpPr>
          <p:nvPr/>
        </p:nvSpPr>
        <p:spPr bwMode="auto">
          <a:xfrm>
            <a:off x="1000125" y="4572000"/>
            <a:ext cx="144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solidFill>
                  <a:schemeClr val="bg1"/>
                </a:solidFill>
                <a:cs typeface="Arial" panose="020B0604020202020204" pitchFamily="34" charset="0"/>
              </a:rPr>
              <a:t>所以</a:t>
            </a:r>
          </a:p>
        </p:txBody>
      </p:sp>
      <p:sp>
        <p:nvSpPr>
          <p:cNvPr id="174092" name="Text Box 12"/>
          <p:cNvSpPr txBox="1">
            <a:spLocks noChangeArrowheads="1"/>
          </p:cNvSpPr>
          <p:nvPr/>
        </p:nvSpPr>
        <p:spPr bwMode="auto">
          <a:xfrm>
            <a:off x="411163" y="5308600"/>
            <a:ext cx="87487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500" b="1">
                <a:solidFill>
                  <a:schemeClr val="bg1"/>
                </a:solidFill>
                <a:cs typeface="Arial" panose="020B0604020202020204" pitchFamily="34" charset="0"/>
              </a:rPr>
              <a:t>2</a:t>
            </a:r>
            <a:r>
              <a:rPr lang="zh-CN" altLang="en-US" sz="2500" b="1">
                <a:solidFill>
                  <a:schemeClr val="bg1"/>
                </a:solidFill>
                <a:cs typeface="Arial" panose="020B0604020202020204" pitchFamily="34" charset="0"/>
              </a:rPr>
              <a:t>、</a:t>
            </a:r>
            <a:r>
              <a:rPr lang="en-US" altLang="zh-CN" sz="2500" b="1" i="1">
                <a:solidFill>
                  <a:schemeClr val="bg1"/>
                </a:solidFill>
                <a:cs typeface="Arial" panose="020B0604020202020204" pitchFamily="34" charset="0"/>
              </a:rPr>
              <a:t>v</a:t>
            </a:r>
            <a:r>
              <a:rPr lang="en-US" altLang="zh-CN" sz="2500" b="1" baseline="-25000">
                <a:solidFill>
                  <a:schemeClr val="bg1"/>
                </a:solidFill>
                <a:cs typeface="Arial" panose="020B0604020202020204" pitchFamily="34" charset="0"/>
              </a:rPr>
              <a:t>1</a:t>
            </a:r>
            <a:r>
              <a:rPr lang="en-US" altLang="zh-CN" sz="2500" b="1">
                <a:solidFill>
                  <a:schemeClr val="bg1"/>
                </a:solidFill>
                <a:cs typeface="Arial" panose="020B0604020202020204" pitchFamily="34" charset="0"/>
              </a:rPr>
              <a:t>=</a:t>
            </a:r>
            <a:r>
              <a:rPr lang="en-US" altLang="zh-CN" sz="2500" b="1" i="1">
                <a:solidFill>
                  <a:schemeClr val="bg1"/>
                </a:solidFill>
                <a:cs typeface="Arial" panose="020B0604020202020204" pitchFamily="34" charset="0"/>
              </a:rPr>
              <a:t>v</a:t>
            </a:r>
            <a:r>
              <a:rPr lang="en-US" altLang="zh-CN" sz="2500" b="1" i="1" baseline="-25000">
                <a:solidFill>
                  <a:schemeClr val="bg1"/>
                </a:solidFill>
                <a:cs typeface="Arial" panose="020B0604020202020204" pitchFamily="34" charset="0"/>
              </a:rPr>
              <a:t>p</a:t>
            </a:r>
            <a:r>
              <a:rPr lang="en-US" altLang="zh-CN" sz="2500" b="1">
                <a:solidFill>
                  <a:schemeClr val="bg1"/>
                </a:solidFill>
                <a:cs typeface="Arial" panose="020B0604020202020204" pitchFamily="34" charset="0"/>
              </a:rPr>
              <a:t>, </a:t>
            </a:r>
            <a:r>
              <a:rPr lang="en-US" altLang="zh-CN" sz="2500" b="1" i="1">
                <a:solidFill>
                  <a:schemeClr val="bg1"/>
                </a:solidFill>
                <a:cs typeface="Arial" panose="020B0604020202020204" pitchFamily="34" charset="0"/>
              </a:rPr>
              <a:t>w</a:t>
            </a:r>
            <a:r>
              <a:rPr lang="en-US" altLang="zh-CN" sz="2500" b="1" baseline="-25000">
                <a:solidFill>
                  <a:schemeClr val="bg1"/>
                </a:solidFill>
                <a:cs typeface="Arial" panose="020B0604020202020204" pitchFamily="34" charset="0"/>
              </a:rPr>
              <a:t>1</a:t>
            </a:r>
            <a:r>
              <a:rPr lang="en-US" altLang="zh-CN" sz="2500" b="1">
                <a:solidFill>
                  <a:schemeClr val="bg1"/>
                </a:solidFill>
                <a:cs typeface="Arial" panose="020B0604020202020204" pitchFamily="34" charset="0"/>
              </a:rPr>
              <a:t>=1</a:t>
            </a:r>
            <a:r>
              <a:rPr lang="zh-CN" altLang="en-US" sz="2500" b="1">
                <a:solidFill>
                  <a:schemeClr val="bg1"/>
                </a:solidFill>
                <a:cs typeface="Arial" panose="020B0604020202020204" pitchFamily="34" charset="0"/>
              </a:rPr>
              <a:t>；</a:t>
            </a:r>
            <a:r>
              <a:rPr lang="en-US" altLang="zh-CN" sz="2500" b="1" i="1">
                <a:solidFill>
                  <a:schemeClr val="bg1"/>
                </a:solidFill>
                <a:ea typeface="楷体_GB2312"/>
                <a:cs typeface="楷体_GB2312"/>
              </a:rPr>
              <a:t>v</a:t>
            </a:r>
            <a:r>
              <a:rPr lang="en-US" altLang="zh-CN" sz="2500" b="1" baseline="-25000">
                <a:solidFill>
                  <a:schemeClr val="bg1"/>
                </a:solidFill>
                <a:ea typeface="楷体_GB2312"/>
                <a:cs typeface="楷体_GB2312"/>
              </a:rPr>
              <a:t>2</a:t>
            </a:r>
            <a:r>
              <a:rPr lang="en-US" altLang="zh-CN" sz="2500" b="1">
                <a:solidFill>
                  <a:schemeClr val="bg1"/>
                </a:solidFill>
                <a:ea typeface="楷体_GB2312"/>
                <a:cs typeface="楷体_GB2312"/>
              </a:rPr>
              <a:t>=1.01</a:t>
            </a:r>
            <a:r>
              <a:rPr lang="en-US" altLang="zh-CN" sz="2500" b="1" i="1">
                <a:solidFill>
                  <a:schemeClr val="bg1"/>
                </a:solidFill>
                <a:ea typeface="楷体_GB2312"/>
                <a:cs typeface="楷体_GB2312"/>
              </a:rPr>
              <a:t>v</a:t>
            </a:r>
            <a:r>
              <a:rPr lang="en-US" altLang="zh-CN" sz="2500" b="1" i="1" baseline="-25000">
                <a:solidFill>
                  <a:schemeClr val="bg1"/>
                </a:solidFill>
                <a:ea typeface="楷体_GB2312"/>
                <a:cs typeface="楷体_GB2312"/>
              </a:rPr>
              <a:t>p</a:t>
            </a:r>
            <a:r>
              <a:rPr lang="en-US" altLang="zh-CN" sz="2500" b="1">
                <a:solidFill>
                  <a:schemeClr val="bg1"/>
                </a:solidFill>
                <a:ea typeface="楷体_GB2312"/>
                <a:cs typeface="楷体_GB2312"/>
              </a:rPr>
              <a:t>,</a:t>
            </a:r>
            <a:r>
              <a:rPr lang="en-US" altLang="zh-CN" sz="2500" b="1" i="1">
                <a:solidFill>
                  <a:schemeClr val="bg1"/>
                </a:solidFill>
                <a:ea typeface="楷体_GB2312"/>
                <a:cs typeface="楷体_GB2312"/>
              </a:rPr>
              <a:t>w</a:t>
            </a:r>
            <a:r>
              <a:rPr lang="en-US" altLang="zh-CN" sz="2500" b="1" baseline="-25000">
                <a:solidFill>
                  <a:schemeClr val="bg1"/>
                </a:solidFill>
                <a:ea typeface="楷体_GB2312"/>
                <a:cs typeface="楷体_GB2312"/>
              </a:rPr>
              <a:t>2</a:t>
            </a:r>
            <a:r>
              <a:rPr lang="en-US" altLang="zh-CN" sz="2500" b="1">
                <a:solidFill>
                  <a:schemeClr val="bg1"/>
                </a:solidFill>
                <a:ea typeface="楷体_GB2312"/>
                <a:cs typeface="楷体_GB2312"/>
              </a:rPr>
              <a:t>=1.01, </a:t>
            </a:r>
            <a:r>
              <a:rPr lang="en-US" altLang="zh-CN" sz="2500" b="1">
                <a:solidFill>
                  <a:schemeClr val="bg1"/>
                </a:solidFill>
                <a:ea typeface="楷体_GB2312"/>
                <a:cs typeface="楷体_GB2312"/>
                <a:sym typeface="Symbol" panose="05050102010706020507" pitchFamily="18" charset="2"/>
              </a:rPr>
              <a:t>d</a:t>
            </a:r>
            <a:r>
              <a:rPr lang="en-US" altLang="zh-CN" sz="2500" b="1" i="1">
                <a:solidFill>
                  <a:schemeClr val="bg1"/>
                </a:solidFill>
                <a:ea typeface="楷体_GB2312"/>
                <a:cs typeface="楷体_GB2312"/>
                <a:sym typeface="Symbol" panose="05050102010706020507" pitchFamily="18" charset="2"/>
              </a:rPr>
              <a:t>w</a:t>
            </a:r>
            <a:r>
              <a:rPr lang="en-US" altLang="zh-CN" sz="2500" b="1">
                <a:solidFill>
                  <a:schemeClr val="bg1"/>
                </a:solidFill>
                <a:ea typeface="楷体_GB2312"/>
                <a:cs typeface="楷体_GB2312"/>
                <a:sym typeface="Symbol" panose="05050102010706020507" pitchFamily="18" charset="2"/>
              </a:rPr>
              <a:t>=0.01</a:t>
            </a:r>
          </a:p>
        </p:txBody>
      </p:sp>
      <p:graphicFrame>
        <p:nvGraphicFramePr>
          <p:cNvPr id="174093" name="Object 13"/>
          <p:cNvGraphicFramePr>
            <a:graphicFrameLocks noChangeAspect="1"/>
          </p:cNvGraphicFramePr>
          <p:nvPr/>
        </p:nvGraphicFramePr>
        <p:xfrm>
          <a:off x="854075" y="5868988"/>
          <a:ext cx="7234238" cy="958850"/>
        </p:xfrm>
        <a:graphic>
          <a:graphicData uri="http://schemas.openxmlformats.org/presentationml/2006/ole">
            <mc:AlternateContent xmlns:mc="http://schemas.openxmlformats.org/markup-compatibility/2006">
              <mc:Choice xmlns:v="urn:schemas-microsoft-com:vml" Requires="v">
                <p:oleObj spid="_x0000_s48524" name="Equation" r:id="rId11" imgW="3441700" imgH="457200" progId="Equation.DSMT4">
                  <p:embed/>
                </p:oleObj>
              </mc:Choice>
              <mc:Fallback>
                <p:oleObj name="Equation" r:id="rId11" imgW="3441700" imgH="457200" progId="Equation.DSMT4">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4075" y="5868988"/>
                        <a:ext cx="7234238" cy="958850"/>
                      </a:xfrm>
                      <a:prstGeom prst="rect">
                        <a:avLst/>
                      </a:prstGeom>
                      <a:solidFill>
                        <a:srgbClr val="CCFF66"/>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6"/>
          <p:cNvSpPr txBox="1">
            <a:spLocks noChangeArrowheads="1"/>
          </p:cNvSpPr>
          <p:nvPr/>
        </p:nvSpPr>
        <p:spPr bwMode="auto">
          <a:xfrm>
            <a:off x="214313" y="3643313"/>
            <a:ext cx="41052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b="1">
                <a:solidFill>
                  <a:schemeClr val="bg1"/>
                </a:solidFill>
                <a:cs typeface="Arial" panose="020B0604020202020204" pitchFamily="34" charset="0"/>
              </a:rPr>
              <a:t>根据</a:t>
            </a:r>
            <a:r>
              <a:rPr lang="en-US" altLang="zh-CN" sz="3600" b="1" i="1">
                <a:solidFill>
                  <a:schemeClr val="bg1"/>
                </a:solidFill>
                <a:ea typeface="楷体_GB2312"/>
                <a:cs typeface="楷体_GB2312"/>
              </a:rPr>
              <a:t>w=v/v</a:t>
            </a:r>
            <a:r>
              <a:rPr lang="en-US" altLang="zh-CN" sz="3600" b="1" i="1" baseline="-25000">
                <a:solidFill>
                  <a:schemeClr val="bg1"/>
                </a:solidFill>
                <a:ea typeface="楷体_GB2312"/>
                <a:cs typeface="楷体_GB2312"/>
              </a:rPr>
              <a:t>p</a:t>
            </a:r>
            <a:r>
              <a:rPr lang="zh-CN" altLang="en-US" sz="3000" b="1" i="1">
                <a:solidFill>
                  <a:schemeClr val="bg1"/>
                </a:solidFill>
                <a:ea typeface="楷体_GB2312"/>
                <a:cs typeface="楷体_GB2312"/>
              </a:rPr>
              <a:t>，</a:t>
            </a:r>
            <a:r>
              <a:rPr lang="zh-CN" altLang="en-US" sz="3000" b="1">
                <a:solidFill>
                  <a:schemeClr val="bg1"/>
                </a:solidFill>
                <a:ea typeface="楷体_GB2312"/>
                <a:cs typeface="楷体_GB2312"/>
              </a:rPr>
              <a:t>和</a:t>
            </a:r>
          </a:p>
        </p:txBody>
      </p:sp>
      <p:graphicFrame>
        <p:nvGraphicFramePr>
          <p:cNvPr id="16" name="Object 7"/>
          <p:cNvGraphicFramePr>
            <a:graphicFrameLocks noChangeAspect="1"/>
          </p:cNvGraphicFramePr>
          <p:nvPr/>
        </p:nvGraphicFramePr>
        <p:xfrm>
          <a:off x="2679700" y="4559300"/>
          <a:ext cx="1055688" cy="881063"/>
        </p:xfrm>
        <a:graphic>
          <a:graphicData uri="http://schemas.openxmlformats.org/presentationml/2006/ole">
            <mc:AlternateContent xmlns:mc="http://schemas.openxmlformats.org/markup-compatibility/2006">
              <mc:Choice xmlns:v="urn:schemas-microsoft-com:vml" Requires="v">
                <p:oleObj spid="_x0000_s48525" name="Equation" r:id="rId13" imgW="545863" imgH="457002" progId="Equation.DSMT4">
                  <p:embed/>
                </p:oleObj>
              </mc:Choice>
              <mc:Fallback>
                <p:oleObj name="Equation" r:id="rId13" imgW="545863" imgH="457002"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79700" y="4559300"/>
                        <a:ext cx="1055688" cy="881063"/>
                      </a:xfrm>
                      <a:prstGeom prst="rect">
                        <a:avLst/>
                      </a:prstGeom>
                      <a:solidFill>
                        <a:srgbClr val="00FFFF"/>
                      </a:solidFill>
                      <a:ln>
                        <a:noFill/>
                      </a:ln>
                      <a:effectLst>
                        <a:outerShdw dist="107763" dir="189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499"/>
                                          </p:stCondLst>
                                        </p:cTn>
                                        <p:tgtEl>
                                          <p:spTgt spid="174083"/>
                                        </p:tgtEl>
                                        <p:attrNameLst>
                                          <p:attrName>style.visibility</p:attrName>
                                        </p:attrNameLst>
                                      </p:cBhvr>
                                      <p:to>
                                        <p:strVal val="visible"/>
                                      </p:to>
                                    </p:set>
                                    <p:anim to="" calcmode="lin" valueType="num">
                                      <p:cBhvr>
                                        <p:cTn id="7" dur="1" fill="hold"/>
                                        <p:tgtEl>
                                          <p:spTgt spid="174083"/>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3" fill="hold" grpId="0" nodeType="clickEffect">
                                  <p:stCondLst>
                                    <p:cond delay="0"/>
                                  </p:stCondLst>
                                  <p:iterate type="lt">
                                    <p:tmPct val="113333"/>
                                  </p:iterate>
                                  <p:childTnLst>
                                    <p:set>
                                      <p:cBhvr>
                                        <p:cTn id="11" dur="1" fill="hold">
                                          <p:stCondLst>
                                            <p:cond delay="0"/>
                                          </p:stCondLst>
                                        </p:cTn>
                                        <p:tgtEl>
                                          <p:spTgt spid="174084">
                                            <p:txEl>
                                              <p:pRg st="0" end="0"/>
                                            </p:txEl>
                                          </p:spTgt>
                                        </p:tgtEl>
                                        <p:attrNameLst>
                                          <p:attrName>style.visibility</p:attrName>
                                        </p:attrNameLst>
                                      </p:cBhvr>
                                      <p:to>
                                        <p:strVal val="visible"/>
                                      </p:to>
                                    </p:set>
                                    <p:anim calcmode="lin" valueType="num">
                                      <p:cBhvr additive="base">
                                        <p:cTn id="12" dur="75" fill="hold"/>
                                        <p:tgtEl>
                                          <p:spTgt spid="174084">
                                            <p:txEl>
                                              <p:pRg st="0" end="0"/>
                                            </p:txEl>
                                          </p:spTgt>
                                        </p:tgtEl>
                                        <p:attrNameLst>
                                          <p:attrName>ppt_x</p:attrName>
                                        </p:attrNameLst>
                                      </p:cBhvr>
                                      <p:tavLst>
                                        <p:tav tm="0">
                                          <p:val>
                                            <p:strVal val="1+#ppt_w/2"/>
                                          </p:val>
                                        </p:tav>
                                        <p:tav tm="100000">
                                          <p:val>
                                            <p:strVal val="#ppt_x"/>
                                          </p:val>
                                        </p:tav>
                                      </p:tavLst>
                                    </p:anim>
                                    <p:anim calcmode="lin" valueType="num">
                                      <p:cBhvr additive="base">
                                        <p:cTn id="13" dur="75" fill="hold"/>
                                        <p:tgtEl>
                                          <p:spTgt spid="17408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4" presetClass="entr" presetSubtype="0" fill="hold" nodeType="clickEffect">
                                  <p:stCondLst>
                                    <p:cond delay="0"/>
                                  </p:stCondLst>
                                  <p:childTnLst>
                                    <p:set>
                                      <p:cBhvr>
                                        <p:cTn id="17" dur="1" fill="hold">
                                          <p:stCondLst>
                                            <p:cond delay="499"/>
                                          </p:stCondLst>
                                        </p:cTn>
                                        <p:tgtEl>
                                          <p:spTgt spid="174085"/>
                                        </p:tgtEl>
                                        <p:attrNameLst>
                                          <p:attrName>style.visibility</p:attrName>
                                        </p:attrNameLst>
                                      </p:cBhvr>
                                      <p:to>
                                        <p:strVal val="visible"/>
                                      </p:to>
                                    </p:set>
                                    <p:anim to="" calcmode="lin" valueType="num">
                                      <p:cBhvr>
                                        <p:cTn id="18" dur="1" fill="hold"/>
                                        <p:tgtEl>
                                          <p:spTgt spid="174085"/>
                                        </p:tgtEl>
                                        <p:attrNameLst>
                                          <p:attrName/>
                                        </p:attrNameLst>
                                      </p:cBhvr>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3" fill="hold" grpId="0" nodeType="clickEffect">
                                  <p:stCondLst>
                                    <p:cond delay="0"/>
                                  </p:stCondLst>
                                  <p:iterate type="lt">
                                    <p:tmPct val="100000"/>
                                  </p:iterate>
                                  <p:childTnLst>
                                    <p:set>
                                      <p:cBhvr>
                                        <p:cTn id="22" dur="1" fill="hold">
                                          <p:stCondLst>
                                            <p:cond delay="0"/>
                                          </p:stCondLst>
                                        </p:cTn>
                                        <p:tgtEl>
                                          <p:spTgt spid="15">
                                            <p:txEl>
                                              <p:pRg st="0" end="0"/>
                                            </p:txEl>
                                          </p:spTgt>
                                        </p:tgtEl>
                                        <p:attrNameLst>
                                          <p:attrName>style.visibility</p:attrName>
                                        </p:attrNameLst>
                                      </p:cBhvr>
                                      <p:to>
                                        <p:strVal val="visible"/>
                                      </p:to>
                                    </p:set>
                                    <p:anim calcmode="lin" valueType="num">
                                      <p:cBhvr additive="base">
                                        <p:cTn id="23" dur="75" fill="hold"/>
                                        <p:tgtEl>
                                          <p:spTgt spid="15">
                                            <p:txEl>
                                              <p:pRg st="0" end="0"/>
                                            </p:txEl>
                                          </p:spTgt>
                                        </p:tgtEl>
                                        <p:attrNameLst>
                                          <p:attrName>ppt_x</p:attrName>
                                        </p:attrNameLst>
                                      </p:cBhvr>
                                      <p:tavLst>
                                        <p:tav tm="0">
                                          <p:val>
                                            <p:strVal val="1+#ppt_w/2"/>
                                          </p:val>
                                        </p:tav>
                                        <p:tav tm="100000">
                                          <p:val>
                                            <p:strVal val="#ppt_x"/>
                                          </p:val>
                                        </p:tav>
                                      </p:tavLst>
                                    </p:anim>
                                    <p:anim calcmode="lin" valueType="num">
                                      <p:cBhvr additive="base">
                                        <p:cTn id="24" dur="75" fill="hold"/>
                                        <p:tgtEl>
                                          <p:spTgt spid="1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4" presetClass="entr" presetSubtype="0" fill="hold" nodeType="clickEffect">
                                  <p:stCondLst>
                                    <p:cond delay="0"/>
                                  </p:stCondLst>
                                  <p:childTnLst>
                                    <p:set>
                                      <p:cBhvr>
                                        <p:cTn id="28" dur="1" fill="hold">
                                          <p:stCondLst>
                                            <p:cond delay="499"/>
                                          </p:stCondLst>
                                        </p:cTn>
                                        <p:tgtEl>
                                          <p:spTgt spid="174089"/>
                                        </p:tgtEl>
                                        <p:attrNameLst>
                                          <p:attrName>style.visibility</p:attrName>
                                        </p:attrNameLst>
                                      </p:cBhvr>
                                      <p:to>
                                        <p:strVal val="visible"/>
                                      </p:to>
                                    </p:set>
                                    <p:anim to="" calcmode="lin" valueType="num">
                                      <p:cBhvr>
                                        <p:cTn id="29" dur="1" fill="hold"/>
                                        <p:tgtEl>
                                          <p:spTgt spid="174089"/>
                                        </p:tgtEl>
                                        <p:attrNameLst>
                                          <p:attrName/>
                                        </p:attrNameLst>
                                      </p:cBhvr>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4" presetClass="entr" presetSubtype="0" fill="hold" nodeType="clickEffect">
                                  <p:stCondLst>
                                    <p:cond delay="0"/>
                                  </p:stCondLst>
                                  <p:childTnLst>
                                    <p:set>
                                      <p:cBhvr>
                                        <p:cTn id="33" dur="1" fill="hold">
                                          <p:stCondLst>
                                            <p:cond delay="499"/>
                                          </p:stCondLst>
                                        </p:cTn>
                                        <p:tgtEl>
                                          <p:spTgt spid="174090"/>
                                        </p:tgtEl>
                                        <p:attrNameLst>
                                          <p:attrName>style.visibility</p:attrName>
                                        </p:attrNameLst>
                                      </p:cBhvr>
                                      <p:to>
                                        <p:strVal val="visible"/>
                                      </p:to>
                                    </p:set>
                                    <p:anim to="" calcmode="lin" valueType="num">
                                      <p:cBhvr>
                                        <p:cTn id="34" dur="1" fill="hold"/>
                                        <p:tgtEl>
                                          <p:spTgt spid="174090"/>
                                        </p:tgtEl>
                                        <p:attrNameLst>
                                          <p:attrName/>
                                        </p:attrNameLst>
                                      </p:cBhvr>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iterate type="lt">
                                    <p:tmPct val="100000"/>
                                  </p:iterate>
                                  <p:childTnLst>
                                    <p:set>
                                      <p:cBhvr>
                                        <p:cTn id="38" dur="1" fill="hold">
                                          <p:stCondLst>
                                            <p:cond delay="0"/>
                                          </p:stCondLst>
                                        </p:cTn>
                                        <p:tgtEl>
                                          <p:spTgt spid="174091">
                                            <p:txEl>
                                              <p:pRg st="0" end="0"/>
                                            </p:txEl>
                                          </p:spTgt>
                                        </p:tgtEl>
                                        <p:attrNameLst>
                                          <p:attrName>style.visibility</p:attrName>
                                        </p:attrNameLst>
                                      </p:cBhvr>
                                      <p:to>
                                        <p:strVal val="visible"/>
                                      </p:to>
                                    </p:set>
                                    <p:animEffect transition="in" filter="wipe(up)">
                                      <p:cBhvr>
                                        <p:cTn id="39" dur="75"/>
                                        <p:tgtEl>
                                          <p:spTgt spid="174091">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4" presetClass="entr" presetSubtype="0" fill="hold" nodeType="clickEffect">
                                  <p:stCondLst>
                                    <p:cond delay="0"/>
                                  </p:stCondLst>
                                  <p:childTnLst>
                                    <p:set>
                                      <p:cBhvr>
                                        <p:cTn id="43" dur="1" fill="hold">
                                          <p:stCondLst>
                                            <p:cond delay="499"/>
                                          </p:stCondLst>
                                        </p:cTn>
                                        <p:tgtEl>
                                          <p:spTgt spid="16"/>
                                        </p:tgtEl>
                                        <p:attrNameLst>
                                          <p:attrName>style.visibility</p:attrName>
                                        </p:attrNameLst>
                                      </p:cBhvr>
                                      <p:to>
                                        <p:strVal val="visible"/>
                                      </p:to>
                                    </p:set>
                                    <p:anim to="" calcmode="lin" valueType="num">
                                      <p:cBhvr>
                                        <p:cTn id="44" dur="1" fill="hold"/>
                                        <p:tgtEl>
                                          <p:spTgt spid="16"/>
                                        </p:tgtEl>
                                        <p:attrNameLst>
                                          <p:attrName/>
                                        </p:attrNameLst>
                                      </p:cBhvr>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grpId="0" nodeType="clickEffect">
                                  <p:stCondLst>
                                    <p:cond delay="0"/>
                                  </p:stCondLst>
                                  <p:iterate type="lt">
                                    <p:tmPct val="100000"/>
                                  </p:iterate>
                                  <p:childTnLst>
                                    <p:set>
                                      <p:cBhvr>
                                        <p:cTn id="48" dur="1" fill="hold">
                                          <p:stCondLst>
                                            <p:cond delay="0"/>
                                          </p:stCondLst>
                                        </p:cTn>
                                        <p:tgtEl>
                                          <p:spTgt spid="174092">
                                            <p:txEl>
                                              <p:pRg st="0" end="0"/>
                                            </p:txEl>
                                          </p:spTgt>
                                        </p:tgtEl>
                                        <p:attrNameLst>
                                          <p:attrName>style.visibility</p:attrName>
                                        </p:attrNameLst>
                                      </p:cBhvr>
                                      <p:to>
                                        <p:strVal val="visible"/>
                                      </p:to>
                                    </p:set>
                                    <p:animEffect transition="in" filter="wipe(up)">
                                      <p:cBhvr>
                                        <p:cTn id="49" dur="75"/>
                                        <p:tgtEl>
                                          <p:spTgt spid="174092">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4" presetClass="entr" presetSubtype="0" fill="hold" nodeType="clickEffect">
                                  <p:stCondLst>
                                    <p:cond delay="0"/>
                                  </p:stCondLst>
                                  <p:childTnLst>
                                    <p:set>
                                      <p:cBhvr>
                                        <p:cTn id="53" dur="1" fill="hold">
                                          <p:stCondLst>
                                            <p:cond delay="499"/>
                                          </p:stCondLst>
                                        </p:cTn>
                                        <p:tgtEl>
                                          <p:spTgt spid="174093"/>
                                        </p:tgtEl>
                                        <p:attrNameLst>
                                          <p:attrName>style.visibility</p:attrName>
                                        </p:attrNameLst>
                                      </p:cBhvr>
                                      <p:to>
                                        <p:strVal val="visible"/>
                                      </p:to>
                                    </p:set>
                                    <p:anim to="" calcmode="lin" valueType="num">
                                      <p:cBhvr>
                                        <p:cTn id="54" dur="1" fill="hold"/>
                                        <p:tgtEl>
                                          <p:spTgt spid="17409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4" grpId="0" build="p" autoUpdateAnimBg="0"/>
      <p:bldP spid="174091" grpId="0" build="p" autoUpdateAnimBg="0"/>
      <p:bldP spid="174092" grpId="0" build="p" autoUpdateAnimBg="0"/>
      <p:bldP spid="15"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rgbClr val="FFFFF2"/>
            </a:gs>
            <a:gs pos="74001">
              <a:srgbClr val="FFFF8C"/>
            </a:gs>
            <a:gs pos="83000">
              <a:srgbClr val="FFFF8C"/>
            </a:gs>
            <a:gs pos="100000">
              <a:srgbClr val="FFFFB3"/>
            </a:gs>
          </a:gsLst>
          <a:lin ang="5400000" scaled="1"/>
        </a:gradFill>
        <a:effectLst/>
      </p:bgPr>
    </p:bg>
    <p:spTree>
      <p:nvGrpSpPr>
        <p:cNvPr id="1" name=""/>
        <p:cNvGrpSpPr/>
        <p:nvPr/>
      </p:nvGrpSpPr>
      <p:grpSpPr>
        <a:xfrm>
          <a:off x="0" y="0"/>
          <a:ext cx="0" cy="0"/>
          <a:chOff x="0" y="0"/>
          <a:chExt cx="0" cy="0"/>
        </a:xfrm>
      </p:grpSpPr>
      <p:sp>
        <p:nvSpPr>
          <p:cNvPr id="49154" name="Text Box 6"/>
          <p:cNvSpPr txBox="1">
            <a:spLocks noChangeArrowheads="1"/>
          </p:cNvSpPr>
          <p:nvPr/>
        </p:nvSpPr>
        <p:spPr bwMode="auto">
          <a:xfrm>
            <a:off x="2498725" y="901700"/>
            <a:ext cx="4279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b="1">
                <a:solidFill>
                  <a:srgbClr val="FF0000"/>
                </a:solidFill>
                <a:latin typeface="Arial" panose="020B0604020202020204" pitchFamily="34" charset="0"/>
                <a:cs typeface="Arial" panose="020B0604020202020204" pitchFamily="34" charset="0"/>
              </a:rPr>
              <a:t>方均根速率与大气成分</a:t>
            </a:r>
          </a:p>
        </p:txBody>
      </p:sp>
      <p:sp>
        <p:nvSpPr>
          <p:cNvPr id="128009" name="Text Box 9"/>
          <p:cNvSpPr txBox="1">
            <a:spLocks noChangeArrowheads="1"/>
          </p:cNvSpPr>
          <p:nvPr/>
        </p:nvSpPr>
        <p:spPr bwMode="auto">
          <a:xfrm>
            <a:off x="228600" y="1495425"/>
            <a:ext cx="8763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en-US" altLang="zh-CN" sz="2400" b="1">
                <a:solidFill>
                  <a:schemeClr val="bg1"/>
                </a:solidFill>
                <a:cs typeface="Arial" panose="020B0604020202020204" pitchFamily="34" charset="0"/>
              </a:rPr>
              <a:t>       </a:t>
            </a:r>
            <a:r>
              <a:rPr kumimoji="0" lang="zh-CN" altLang="en-US" sz="2400" b="1">
                <a:solidFill>
                  <a:schemeClr val="bg1"/>
                </a:solidFill>
                <a:cs typeface="Arial" panose="020B0604020202020204" pitchFamily="34" charset="0"/>
              </a:rPr>
              <a:t>在地球周围厚厚的大气层中，含有丰富的氧粒子和氮粒子，却几乎没有宇宙中含量最多的自由氢分子和氦原子。想不到这却是与方均根速率有关的自然现象。</a:t>
            </a:r>
          </a:p>
          <a:p>
            <a:pPr eaLnBrk="1" hangingPunct="1">
              <a:spcBef>
                <a:spcPct val="0"/>
              </a:spcBef>
              <a:buClrTx/>
              <a:buFontTx/>
              <a:buNone/>
            </a:pPr>
            <a:r>
              <a:rPr kumimoji="0" lang="zh-CN" altLang="en-US" sz="2400" b="1">
                <a:solidFill>
                  <a:schemeClr val="bg1"/>
                </a:solidFill>
                <a:cs typeface="Arial" panose="020B0604020202020204" pitchFamily="34" charset="0"/>
              </a:rPr>
              <a:t>        我们在力学中已经知道，地球表面附近的物体要脱离地球引力场的束缚，其逃逸速率（第二宇宙速度）为</a:t>
            </a:r>
            <a:r>
              <a:rPr kumimoji="0" lang="en-US" altLang="zh-CN" sz="2400" b="1" i="1">
                <a:solidFill>
                  <a:schemeClr val="bg1"/>
                </a:solidFill>
                <a:cs typeface="Arial" panose="020B0604020202020204" pitchFamily="34" charset="0"/>
              </a:rPr>
              <a:t>v =</a:t>
            </a:r>
            <a:r>
              <a:rPr kumimoji="0" lang="en-US" altLang="zh-CN" sz="2400" b="1">
                <a:solidFill>
                  <a:schemeClr val="bg1"/>
                </a:solidFill>
                <a:cs typeface="Arial" panose="020B0604020202020204" pitchFamily="34" charset="0"/>
              </a:rPr>
              <a:t>11.2 </a:t>
            </a:r>
            <a:r>
              <a:rPr kumimoji="0" lang="en-US" altLang="zh-CN" sz="2400" b="1" i="1">
                <a:solidFill>
                  <a:schemeClr val="bg1"/>
                </a:solidFill>
                <a:cs typeface="Arial" panose="020B0604020202020204" pitchFamily="34" charset="0"/>
              </a:rPr>
              <a:t>km /s</a:t>
            </a:r>
            <a:r>
              <a:rPr kumimoji="0" lang="en-US" altLang="zh-CN" sz="2400" b="1">
                <a:solidFill>
                  <a:schemeClr val="bg1"/>
                </a:solidFill>
                <a:cs typeface="Arial" panose="020B0604020202020204" pitchFamily="34" charset="0"/>
              </a:rPr>
              <a:t> </a:t>
            </a:r>
            <a:r>
              <a:rPr kumimoji="0" lang="zh-CN" altLang="en-US" sz="2400" b="1">
                <a:solidFill>
                  <a:schemeClr val="bg1"/>
                </a:solidFill>
                <a:cs typeface="Arial" panose="020B0604020202020204" pitchFamily="34" charset="0"/>
              </a:rPr>
              <a:t>。现在，按式计算一下</a:t>
            </a:r>
            <a:r>
              <a:rPr kumimoji="0" lang="en-US" altLang="zh-CN" sz="2400" b="1" i="1">
                <a:solidFill>
                  <a:schemeClr val="bg1"/>
                </a:solidFill>
                <a:cs typeface="Arial" panose="020B0604020202020204" pitchFamily="34" charset="0"/>
              </a:rPr>
              <a:t>t </a:t>
            </a:r>
            <a:r>
              <a:rPr kumimoji="0" lang="en-US" altLang="zh-CN" sz="2400" b="1">
                <a:solidFill>
                  <a:schemeClr val="bg1"/>
                </a:solidFill>
                <a:cs typeface="Arial" panose="020B0604020202020204" pitchFamily="34" charset="0"/>
              </a:rPr>
              <a:t>=20</a:t>
            </a:r>
            <a:r>
              <a:rPr kumimoji="0" lang="en-US" altLang="zh-CN" sz="2400" b="1" baseline="30000">
                <a:solidFill>
                  <a:schemeClr val="bg1"/>
                </a:solidFill>
                <a:cs typeface="Arial" panose="020B0604020202020204" pitchFamily="34" charset="0"/>
              </a:rPr>
              <a:t>0</a:t>
            </a:r>
            <a:r>
              <a:rPr kumimoji="0" lang="en-US" altLang="zh-CN" sz="2400" b="1" i="1">
                <a:solidFill>
                  <a:schemeClr val="bg1"/>
                </a:solidFill>
                <a:cs typeface="Arial" panose="020B0604020202020204" pitchFamily="34" charset="0"/>
              </a:rPr>
              <a:t>C</a:t>
            </a:r>
            <a:r>
              <a:rPr kumimoji="0" lang="en-US" altLang="zh-CN" sz="2400" b="1">
                <a:solidFill>
                  <a:schemeClr val="bg1"/>
                </a:solidFill>
                <a:cs typeface="Arial" panose="020B0604020202020204" pitchFamily="34" charset="0"/>
              </a:rPr>
              <a:t> </a:t>
            </a:r>
            <a:r>
              <a:rPr kumimoji="0" lang="zh-CN" altLang="en-US" sz="2400" b="1">
                <a:solidFill>
                  <a:schemeClr val="bg1"/>
                </a:solidFill>
                <a:cs typeface="Arial" panose="020B0604020202020204" pitchFamily="34" charset="0"/>
              </a:rPr>
              <a:t>时，氢、氦原子、氧、氮的方均根速率，依次得到：</a:t>
            </a:r>
          </a:p>
          <a:p>
            <a:pPr eaLnBrk="1" hangingPunct="1">
              <a:spcBef>
                <a:spcPct val="0"/>
              </a:spcBef>
              <a:buClrTx/>
              <a:buFontTx/>
              <a:buNone/>
            </a:pPr>
            <a:endParaRPr kumimoji="0" lang="zh-CN" altLang="en-US" sz="2400" b="1">
              <a:solidFill>
                <a:schemeClr val="bg1"/>
              </a:solidFill>
              <a:cs typeface="Arial" panose="020B0604020202020204" pitchFamily="34" charset="0"/>
            </a:endParaRPr>
          </a:p>
        </p:txBody>
      </p:sp>
      <p:graphicFrame>
        <p:nvGraphicFramePr>
          <p:cNvPr id="128013" name="Object 2"/>
          <p:cNvGraphicFramePr>
            <a:graphicFrameLocks noChangeAspect="1"/>
          </p:cNvGraphicFramePr>
          <p:nvPr/>
        </p:nvGraphicFramePr>
        <p:xfrm>
          <a:off x="2771775" y="3906838"/>
          <a:ext cx="5616575" cy="890587"/>
        </p:xfrm>
        <a:graphic>
          <a:graphicData uri="http://schemas.openxmlformats.org/presentationml/2006/ole">
            <mc:AlternateContent xmlns:mc="http://schemas.openxmlformats.org/markup-compatibility/2006">
              <mc:Choice xmlns:v="urn:schemas-microsoft-com:vml" Requires="v">
                <p:oleObj spid="_x0000_s49222" name="Equation" r:id="rId3" imgW="2390694" imgH="380895" progId="Equation.DSMT4">
                  <p:embed/>
                </p:oleObj>
              </mc:Choice>
              <mc:Fallback>
                <p:oleObj name="Equation" r:id="rId3" imgW="2390694" imgH="380895"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3906838"/>
                        <a:ext cx="5616575" cy="89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7" name="AutoShape 14"/>
          <p:cNvSpPr>
            <a:spLocks noChangeArrowheads="1"/>
          </p:cNvSpPr>
          <p:nvPr/>
        </p:nvSpPr>
        <p:spPr bwMode="auto">
          <a:xfrm>
            <a:off x="0" y="0"/>
            <a:ext cx="2500313" cy="928688"/>
          </a:xfrm>
          <a:prstGeom prst="wedgeEllipseCallout">
            <a:avLst>
              <a:gd name="adj1" fmla="val -47708"/>
              <a:gd name="adj2" fmla="val 13394"/>
            </a:avLst>
          </a:prstGeom>
          <a:gradFill rotWithShape="0">
            <a:gsLst>
              <a:gs pos="0">
                <a:srgbClr val="FFCC00"/>
              </a:gs>
              <a:gs pos="50000">
                <a:srgbClr val="765E00"/>
              </a:gs>
              <a:gs pos="100000">
                <a:srgbClr val="FFCC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kumimoji="0" lang="zh-CN" altLang="en-US" sz="3000" b="1">
                <a:solidFill>
                  <a:srgbClr val="FF0000"/>
                </a:solidFill>
                <a:latin typeface="Arial" panose="020B0604020202020204" pitchFamily="34" charset="0"/>
                <a:ea typeface="华文行楷" panose="02010800040101010101" pitchFamily="2" charset="-122"/>
                <a:cs typeface="Arial" panose="020B0604020202020204" pitchFamily="34" charset="0"/>
              </a:rPr>
              <a:t>趣味物理</a:t>
            </a:r>
          </a:p>
        </p:txBody>
      </p:sp>
      <p:sp>
        <p:nvSpPr>
          <p:cNvPr id="128015" name="Text Box 15"/>
          <p:cNvSpPr txBox="1">
            <a:spLocks noChangeArrowheads="1"/>
          </p:cNvSpPr>
          <p:nvPr/>
        </p:nvSpPr>
        <p:spPr bwMode="auto">
          <a:xfrm>
            <a:off x="381000" y="5002213"/>
            <a:ext cx="86106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kumimoji="0" lang="en-US" altLang="zh-CN" sz="2400" b="1">
                <a:solidFill>
                  <a:schemeClr val="bg1"/>
                </a:solidFill>
                <a:cs typeface="Arial" panose="020B0604020202020204" pitchFamily="34" charset="0"/>
              </a:rPr>
              <a:t>   </a:t>
            </a:r>
            <a:r>
              <a:rPr kumimoji="0" lang="zh-CN" altLang="en-US" sz="2400" b="1">
                <a:solidFill>
                  <a:schemeClr val="bg1"/>
                </a:solidFill>
                <a:cs typeface="Arial" panose="020B0604020202020204" pitchFamily="34" charset="0"/>
              </a:rPr>
              <a:t>显然它们都小于逃逸速度，其中氢的方均根速率最大，也只是逃逸速度的</a:t>
            </a:r>
            <a:r>
              <a:rPr kumimoji="0" lang="en-US" altLang="zh-CN" sz="2400" b="1">
                <a:solidFill>
                  <a:schemeClr val="bg1"/>
                </a:solidFill>
                <a:cs typeface="Arial" panose="020B0604020202020204" pitchFamily="34" charset="0"/>
              </a:rPr>
              <a:t>1/6</a:t>
            </a:r>
            <a:r>
              <a:rPr kumimoji="0" lang="zh-CN" altLang="en-US" sz="2400" b="1">
                <a:solidFill>
                  <a:schemeClr val="bg1"/>
                </a:solidFill>
                <a:cs typeface="Arial" panose="020B0604020202020204" pitchFamily="34" charset="0"/>
              </a:rPr>
              <a:t>，这样一来大气层中似乎应该有大量的自由氢分子，但实际上地球大气层中几乎没有自由氢分子。这是什么原因呢？要解决这个问题要借助分布曲线。</a:t>
            </a:r>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8009">
                                            <p:txEl>
                                              <p:pRg st="0" end="0"/>
                                            </p:txEl>
                                          </p:spTgt>
                                        </p:tgtEl>
                                        <p:attrNameLst>
                                          <p:attrName>style.visibility</p:attrName>
                                        </p:attrNameLst>
                                      </p:cBhvr>
                                      <p:to>
                                        <p:strVal val="visible"/>
                                      </p:to>
                                    </p:set>
                                    <p:animEffect transition="in" filter="wipe(left)">
                                      <p:cBhvr>
                                        <p:cTn id="7" dur="500"/>
                                        <p:tgtEl>
                                          <p:spTgt spid="1280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8009">
                                            <p:txEl>
                                              <p:pRg st="1" end="1"/>
                                            </p:txEl>
                                          </p:spTgt>
                                        </p:tgtEl>
                                        <p:attrNameLst>
                                          <p:attrName>style.visibility</p:attrName>
                                        </p:attrNameLst>
                                      </p:cBhvr>
                                      <p:to>
                                        <p:strVal val="visible"/>
                                      </p:to>
                                    </p:set>
                                    <p:animEffect transition="in" filter="wipe(left)">
                                      <p:cBhvr>
                                        <p:cTn id="12" dur="500"/>
                                        <p:tgtEl>
                                          <p:spTgt spid="12800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8013"/>
                                        </p:tgtEl>
                                        <p:attrNameLst>
                                          <p:attrName>style.visibility</p:attrName>
                                        </p:attrNameLst>
                                      </p:cBhvr>
                                      <p:to>
                                        <p:strVal val="visible"/>
                                      </p:to>
                                    </p:set>
                                    <p:animEffect transition="in" filter="wipe(left)">
                                      <p:cBhvr>
                                        <p:cTn id="17" dur="500"/>
                                        <p:tgtEl>
                                          <p:spTgt spid="1280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8015">
                                            <p:txEl>
                                              <p:pRg st="0" end="0"/>
                                            </p:txEl>
                                          </p:spTgt>
                                        </p:tgtEl>
                                        <p:attrNameLst>
                                          <p:attrName>style.visibility</p:attrName>
                                        </p:attrNameLst>
                                      </p:cBhvr>
                                      <p:to>
                                        <p:strVal val="visible"/>
                                      </p:to>
                                    </p:set>
                                    <p:animEffect transition="in" filter="wipe(left)">
                                      <p:cBhvr>
                                        <p:cTn id="22" dur="500"/>
                                        <p:tgtEl>
                                          <p:spTgt spid="1280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9" grpId="0" build="p" autoUpdateAnimBg="0"/>
      <p:bldP spid="128015"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rgbClr val="FFFFF2"/>
            </a:gs>
            <a:gs pos="74001">
              <a:srgbClr val="FFFF8C"/>
            </a:gs>
            <a:gs pos="83000">
              <a:srgbClr val="FFFF8C"/>
            </a:gs>
            <a:gs pos="100000">
              <a:srgbClr val="FFFFB3"/>
            </a:gs>
          </a:gsLst>
          <a:lin ang="5400000" scaled="1"/>
        </a:gradFill>
        <a:effectLst/>
      </p:bgPr>
    </p:bg>
    <p:spTree>
      <p:nvGrpSpPr>
        <p:cNvPr id="1" name=""/>
        <p:cNvGrpSpPr/>
        <p:nvPr/>
      </p:nvGrpSpPr>
      <p:grpSpPr>
        <a:xfrm>
          <a:off x="0" y="0"/>
          <a:ext cx="0" cy="0"/>
          <a:chOff x="0" y="0"/>
          <a:chExt cx="0" cy="0"/>
        </a:xfrm>
      </p:grpSpPr>
      <p:sp>
        <p:nvSpPr>
          <p:cNvPr id="129026" name="Text Box 2"/>
          <p:cNvSpPr txBox="1">
            <a:spLocks noChangeArrowheads="1"/>
          </p:cNvSpPr>
          <p:nvPr/>
        </p:nvSpPr>
        <p:spPr bwMode="auto">
          <a:xfrm>
            <a:off x="762000" y="1622425"/>
            <a:ext cx="79248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en-US" altLang="zh-CN" sz="2400" b="1">
                <a:solidFill>
                  <a:schemeClr val="bg1"/>
                </a:solidFill>
                <a:cs typeface="Arial" panose="020B0604020202020204" pitchFamily="34" charset="0"/>
              </a:rPr>
              <a:t>    </a:t>
            </a:r>
            <a:r>
              <a:rPr kumimoji="0" lang="zh-CN" altLang="en-US" sz="2400" b="1">
                <a:solidFill>
                  <a:schemeClr val="bg1"/>
                </a:solidFill>
                <a:cs typeface="Arial" panose="020B0604020202020204" pitchFamily="34" charset="0"/>
              </a:rPr>
              <a:t>从图中可以看出，有相当数量</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的一部分气体分子的速率比方均</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根速率要大得多，当这些分子的</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速率达到逃逸速率时，他们就逃</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逸出地球的大气层。由于氢气的</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方均根速率比氧、氮都大得多，</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因此不断有氢分子逃逸出大气层，</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氦气也与氢气有类似情况。而氧</a:t>
            </a:r>
            <a:br>
              <a:rPr kumimoji="0" lang="zh-CN" altLang="en-US" sz="2400" b="1">
                <a:solidFill>
                  <a:schemeClr val="bg1"/>
                </a:solidFill>
                <a:cs typeface="Arial" panose="020B0604020202020204" pitchFamily="34" charset="0"/>
              </a:rPr>
            </a:br>
            <a:r>
              <a:rPr kumimoji="0" lang="zh-CN" altLang="en-US" sz="2400" b="1">
                <a:solidFill>
                  <a:schemeClr val="bg1"/>
                </a:solidFill>
                <a:cs typeface="Arial" panose="020B0604020202020204" pitchFamily="34" charset="0"/>
              </a:rPr>
              <a:t>分子的方均根速率只有逃逸速率的</a:t>
            </a:r>
            <a:r>
              <a:rPr kumimoji="0" lang="en-US" altLang="zh-CN" sz="2400" b="1">
                <a:solidFill>
                  <a:schemeClr val="bg1"/>
                </a:solidFill>
                <a:cs typeface="Arial" panose="020B0604020202020204" pitchFamily="34" charset="0"/>
              </a:rPr>
              <a:t>1/25</a:t>
            </a:r>
            <a:r>
              <a:rPr kumimoji="0" lang="zh-CN" altLang="en-US" sz="2400" b="1">
                <a:solidFill>
                  <a:schemeClr val="bg1"/>
                </a:solidFill>
                <a:cs typeface="Arial" panose="020B0604020202020204" pitchFamily="34" charset="0"/>
              </a:rPr>
              <a:t>（氮分子也接近），只有很少的氧分子能达到逃逸速率，所以，在地球大气层中只有自由氧离子和氮离子，而几乎不存在自由氢分子和氦离子。</a:t>
            </a:r>
          </a:p>
        </p:txBody>
      </p:sp>
      <p:grpSp>
        <p:nvGrpSpPr>
          <p:cNvPr id="2" name="Group 6"/>
          <p:cNvGrpSpPr>
            <a:grpSpLocks/>
          </p:cNvGrpSpPr>
          <p:nvPr/>
        </p:nvGrpSpPr>
        <p:grpSpPr bwMode="auto">
          <a:xfrm>
            <a:off x="5595938" y="2119313"/>
            <a:ext cx="2900362" cy="2436812"/>
            <a:chOff x="2323" y="2442"/>
            <a:chExt cx="1827" cy="1535"/>
          </a:xfrm>
        </p:grpSpPr>
        <p:sp>
          <p:nvSpPr>
            <p:cNvPr id="50182" name="Line 7"/>
            <p:cNvSpPr>
              <a:spLocks noChangeShapeType="1"/>
            </p:cNvSpPr>
            <p:nvPr/>
          </p:nvSpPr>
          <p:spPr bwMode="auto">
            <a:xfrm>
              <a:off x="3100" y="2964"/>
              <a:ext cx="16" cy="693"/>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0183" name="Object 3"/>
            <p:cNvGraphicFramePr>
              <a:graphicFrameLocks noChangeAspect="1"/>
            </p:cNvGraphicFramePr>
            <p:nvPr/>
          </p:nvGraphicFramePr>
          <p:xfrm>
            <a:off x="3053" y="3665"/>
            <a:ext cx="130" cy="182"/>
          </p:xfrm>
          <a:graphic>
            <a:graphicData uri="http://schemas.openxmlformats.org/presentationml/2006/ole">
              <mc:AlternateContent xmlns:mc="http://schemas.openxmlformats.org/markup-compatibility/2006">
                <mc:Choice xmlns:v="urn:schemas-microsoft-com:vml" Requires="v">
                  <p:oleObj spid="_x0000_s50447" name="公式" r:id="rId3" imgW="114151" imgH="152202" progId="Equation.3">
                    <p:embed/>
                  </p:oleObj>
                </mc:Choice>
                <mc:Fallback>
                  <p:oleObj name="公式" r:id="rId3" imgW="114151" imgH="152202"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3" y="3665"/>
                          <a:ext cx="130" cy="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4" name="Line 9"/>
            <p:cNvSpPr>
              <a:spLocks noChangeShapeType="1"/>
            </p:cNvSpPr>
            <p:nvPr/>
          </p:nvSpPr>
          <p:spPr bwMode="auto">
            <a:xfrm>
              <a:off x="3222" y="3099"/>
              <a:ext cx="16" cy="576"/>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50185" name="Object 4"/>
            <p:cNvGraphicFramePr>
              <a:graphicFrameLocks noChangeAspect="1"/>
            </p:cNvGraphicFramePr>
            <p:nvPr/>
          </p:nvGraphicFramePr>
          <p:xfrm>
            <a:off x="3170" y="3682"/>
            <a:ext cx="280" cy="295"/>
          </p:xfrm>
          <a:graphic>
            <a:graphicData uri="http://schemas.openxmlformats.org/presentationml/2006/ole">
              <mc:AlternateContent xmlns:mc="http://schemas.openxmlformats.org/markup-compatibility/2006">
                <mc:Choice xmlns:v="urn:schemas-microsoft-com:vml" Requires="v">
                  <p:oleObj spid="_x0000_s50448" name="公式" r:id="rId5" imgW="253780" imgH="266469" progId="Equation.3">
                    <p:embed/>
                  </p:oleObj>
                </mc:Choice>
                <mc:Fallback>
                  <p:oleObj name="公式" r:id="rId5" imgW="253780" imgH="266469"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0" y="3682"/>
                          <a:ext cx="280"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6" name="Object 5"/>
            <p:cNvGraphicFramePr>
              <a:graphicFrameLocks noChangeAspect="1"/>
            </p:cNvGraphicFramePr>
            <p:nvPr/>
          </p:nvGraphicFramePr>
          <p:xfrm>
            <a:off x="2611" y="2772"/>
            <a:ext cx="1452" cy="809"/>
          </p:xfrm>
          <a:graphic>
            <a:graphicData uri="http://schemas.openxmlformats.org/presentationml/2006/ole">
              <mc:AlternateContent xmlns:mc="http://schemas.openxmlformats.org/markup-compatibility/2006">
                <mc:Choice xmlns:v="urn:schemas-microsoft-com:vml" Requires="v">
                  <p:oleObj spid="_x0000_s50449" name="BMP 图像" r:id="rId7" imgW="2866739" imgH="1666575" progId="Paint.Picture">
                    <p:embed/>
                  </p:oleObj>
                </mc:Choice>
                <mc:Fallback>
                  <p:oleObj name="BMP 图像" r:id="rId7" imgW="2866739" imgH="1666575" progId="Paint.Picture">
                    <p:embed/>
                    <p:pic>
                      <p:nvPicPr>
                        <p:cNvPr id="0" name="Object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11" y="2772"/>
                          <a:ext cx="1452" cy="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0187" name="Group 12"/>
            <p:cNvGrpSpPr>
              <a:grpSpLocks/>
            </p:cNvGrpSpPr>
            <p:nvPr/>
          </p:nvGrpSpPr>
          <p:grpSpPr bwMode="auto">
            <a:xfrm>
              <a:off x="2323" y="2442"/>
              <a:ext cx="1827" cy="1485"/>
              <a:chOff x="3837" y="288"/>
              <a:chExt cx="1827" cy="1485"/>
            </a:xfrm>
          </p:grpSpPr>
          <p:sp>
            <p:nvSpPr>
              <p:cNvPr id="50190" name="Line 13"/>
              <p:cNvSpPr>
                <a:spLocks noChangeShapeType="1"/>
              </p:cNvSpPr>
              <p:nvPr/>
            </p:nvSpPr>
            <p:spPr bwMode="auto">
              <a:xfrm>
                <a:off x="4176" y="1488"/>
                <a:ext cx="148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1" name="Line 14"/>
              <p:cNvSpPr>
                <a:spLocks noChangeShapeType="1"/>
              </p:cNvSpPr>
              <p:nvPr/>
            </p:nvSpPr>
            <p:spPr bwMode="auto">
              <a:xfrm flipV="1">
                <a:off x="4176" y="384"/>
                <a:ext cx="0" cy="110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92" name="Text Box 15"/>
              <p:cNvSpPr txBox="1">
                <a:spLocks noChangeArrowheads="1"/>
              </p:cNvSpPr>
              <p:nvPr/>
            </p:nvSpPr>
            <p:spPr bwMode="auto">
              <a:xfrm>
                <a:off x="5414" y="1482"/>
                <a:ext cx="2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solidFill>
                      <a:schemeClr val="bg1"/>
                    </a:solidFill>
                    <a:cs typeface="Arial" panose="020B0604020202020204" pitchFamily="34" charset="0"/>
                  </a:rPr>
                  <a:t>v</a:t>
                </a:r>
                <a:endParaRPr lang="en-US" altLang="zh-CN" sz="2400" b="1">
                  <a:solidFill>
                    <a:schemeClr val="bg1"/>
                  </a:solidFill>
                  <a:cs typeface="Arial" panose="020B0604020202020204" pitchFamily="34" charset="0"/>
                </a:endParaRPr>
              </a:p>
            </p:txBody>
          </p:sp>
          <p:sp>
            <p:nvSpPr>
              <p:cNvPr id="50193" name="Text Box 16"/>
              <p:cNvSpPr txBox="1">
                <a:spLocks noChangeArrowheads="1"/>
              </p:cNvSpPr>
              <p:nvPr/>
            </p:nvSpPr>
            <p:spPr bwMode="auto">
              <a:xfrm flipV="1">
                <a:off x="3837" y="288"/>
                <a:ext cx="349" cy="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1" i="1">
                    <a:solidFill>
                      <a:schemeClr val="bg1"/>
                    </a:solidFill>
                    <a:cs typeface="Arial" panose="020B0604020202020204" pitchFamily="34" charset="0"/>
                  </a:rPr>
                  <a:t>    f(v)</a:t>
                </a:r>
                <a:endParaRPr lang="en-US" altLang="zh-CN" sz="2400" b="1">
                  <a:solidFill>
                    <a:schemeClr val="bg1"/>
                  </a:solidFill>
                  <a:cs typeface="Arial" panose="020B0604020202020204" pitchFamily="34" charset="0"/>
                </a:endParaRPr>
              </a:p>
            </p:txBody>
          </p:sp>
          <p:sp>
            <p:nvSpPr>
              <p:cNvPr id="50194" name="Text Box 17"/>
              <p:cNvSpPr txBox="1">
                <a:spLocks noChangeArrowheads="1"/>
              </p:cNvSpPr>
              <p:nvPr/>
            </p:nvSpPr>
            <p:spPr bwMode="auto">
              <a:xfrm>
                <a:off x="3984" y="1424"/>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chemeClr val="bg1"/>
                    </a:solidFill>
                    <a:cs typeface="Arial" panose="020B0604020202020204" pitchFamily="34" charset="0"/>
                  </a:rPr>
                  <a:t>O</a:t>
                </a:r>
              </a:p>
            </p:txBody>
          </p:sp>
        </p:grpSp>
        <p:sp>
          <p:nvSpPr>
            <p:cNvPr id="50188" name="Line 20"/>
            <p:cNvSpPr>
              <a:spLocks noChangeShapeType="1"/>
            </p:cNvSpPr>
            <p:nvPr/>
          </p:nvSpPr>
          <p:spPr bwMode="auto">
            <a:xfrm>
              <a:off x="2982" y="2859"/>
              <a:ext cx="0" cy="768"/>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189" name="Text Box 21"/>
            <p:cNvSpPr txBox="1">
              <a:spLocks noChangeArrowheads="1"/>
            </p:cNvSpPr>
            <p:nvPr/>
          </p:nvSpPr>
          <p:spPr bwMode="auto">
            <a:xfrm>
              <a:off x="2806" y="3531"/>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solidFill>
                    <a:schemeClr val="bg1"/>
                  </a:solidFill>
                  <a:cs typeface="Arial" panose="020B0604020202020204" pitchFamily="34" charset="0"/>
                </a:rPr>
                <a:t>v</a:t>
              </a:r>
              <a:r>
                <a:rPr lang="en-US" altLang="zh-CN" sz="2400" b="1" i="1" baseline="-25000">
                  <a:solidFill>
                    <a:schemeClr val="bg1"/>
                  </a:solidFill>
                  <a:cs typeface="Arial" panose="020B0604020202020204" pitchFamily="34" charset="0"/>
                </a:rPr>
                <a:t>p</a:t>
              </a:r>
              <a:endParaRPr lang="en-US" altLang="zh-CN" sz="2400" b="1">
                <a:solidFill>
                  <a:schemeClr val="bg1"/>
                </a:solidFill>
                <a:cs typeface="Arial" panose="020B0604020202020204" pitchFamily="34" charset="0"/>
              </a:endParaRPr>
            </a:p>
          </p:txBody>
        </p:sp>
      </p:grpSp>
      <p:graphicFrame>
        <p:nvGraphicFramePr>
          <p:cNvPr id="129046" name="Object 2"/>
          <p:cNvGraphicFramePr>
            <a:graphicFrameLocks noChangeAspect="1"/>
          </p:cNvGraphicFramePr>
          <p:nvPr/>
        </p:nvGraphicFramePr>
        <p:xfrm>
          <a:off x="6477000" y="1889125"/>
          <a:ext cx="2209800" cy="965200"/>
        </p:xfrm>
        <a:graphic>
          <a:graphicData uri="http://schemas.openxmlformats.org/presentationml/2006/ole">
            <mc:AlternateContent xmlns:mc="http://schemas.openxmlformats.org/markup-compatibility/2006">
              <mc:Choice xmlns:v="urn:schemas-microsoft-com:vml" Requires="v">
                <p:oleObj spid="_x0000_s50450" name="公式" r:id="rId9" imgW="825500" imgH="393700" progId="Equation.3">
                  <p:embed/>
                </p:oleObj>
              </mc:Choice>
              <mc:Fallback>
                <p:oleObj name="公式" r:id="rId9" imgW="825500" imgH="393700"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77000" y="1889125"/>
                        <a:ext cx="22098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1" name="AutoShape 23"/>
          <p:cNvSpPr>
            <a:spLocks noChangeArrowheads="1"/>
          </p:cNvSpPr>
          <p:nvPr/>
        </p:nvSpPr>
        <p:spPr bwMode="auto">
          <a:xfrm>
            <a:off x="304800" y="428625"/>
            <a:ext cx="2695575" cy="942975"/>
          </a:xfrm>
          <a:prstGeom prst="wedgeEllipseCallout">
            <a:avLst>
              <a:gd name="adj1" fmla="val -47708"/>
              <a:gd name="adj2" fmla="val 2083"/>
            </a:avLst>
          </a:prstGeom>
          <a:gradFill rotWithShape="0">
            <a:gsLst>
              <a:gs pos="0">
                <a:srgbClr val="FFCC00"/>
              </a:gs>
              <a:gs pos="50000">
                <a:srgbClr val="765E00"/>
              </a:gs>
              <a:gs pos="100000">
                <a:srgbClr val="FFCC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kumimoji="0" lang="zh-CN" altLang="en-US" sz="3000" b="1">
                <a:solidFill>
                  <a:schemeClr val="accent1"/>
                </a:solidFill>
                <a:latin typeface="Arial" panose="020B0604020202020204" pitchFamily="34" charset="0"/>
                <a:ea typeface="华文行楷" panose="02010800040101010101" pitchFamily="2" charset="-122"/>
                <a:cs typeface="Arial" panose="020B0604020202020204" pitchFamily="34" charset="0"/>
              </a:rPr>
              <a:t>趣味物理</a:t>
            </a:r>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6">
                                            <p:txEl>
                                              <p:pRg st="0" end="0"/>
                                            </p:txEl>
                                          </p:spTgt>
                                        </p:tgtEl>
                                        <p:attrNameLst>
                                          <p:attrName>style.visibility</p:attrName>
                                        </p:attrNameLst>
                                      </p:cBhvr>
                                      <p:to>
                                        <p:strVal val="visible"/>
                                      </p:to>
                                    </p:set>
                                    <p:animEffect transition="in" filter="wipe(left)">
                                      <p:cBhvr>
                                        <p:cTn id="12" dur="500"/>
                                        <p:tgtEl>
                                          <p:spTgt spid="12902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9046"/>
                                        </p:tgtEl>
                                        <p:attrNameLst>
                                          <p:attrName>style.visibility</p:attrName>
                                        </p:attrNameLst>
                                      </p:cBhvr>
                                      <p:to>
                                        <p:strVal val="visible"/>
                                      </p:to>
                                    </p:set>
                                    <p:animEffect transition="in" filter="wipe(left)">
                                      <p:cBhvr>
                                        <p:cTn id="17" dur="500"/>
                                        <p:tgtEl>
                                          <p:spTgt spid="129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ChangeArrowheads="1"/>
          </p:cNvSpPr>
          <p:nvPr/>
        </p:nvSpPr>
        <p:spPr bwMode="auto">
          <a:xfrm>
            <a:off x="185738" y="115888"/>
            <a:ext cx="8748712" cy="317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b="1">
                <a:solidFill>
                  <a:schemeClr val="accent1"/>
                </a:solidFill>
                <a:cs typeface="Arial" panose="020B0604020202020204" pitchFamily="34" charset="0"/>
              </a:rPr>
              <a:t>讨论：当代宇宙学认为宇宙中原始的化学成分绝大部分是氢（约占总质量的3/4)和氦（约占总质量的1/4）。但是，现在地球大气层里几乎没有氦气和氢气而富含有氧气和氮气，为什么?</a:t>
            </a:r>
            <a:br>
              <a:rPr lang="zh-CN" altLang="zh-CN" sz="2000" b="1">
                <a:solidFill>
                  <a:schemeClr val="accent1"/>
                </a:solidFill>
                <a:cs typeface="Arial" panose="020B0604020202020204" pitchFamily="34" charset="0"/>
              </a:rPr>
            </a:br>
            <a:r>
              <a:rPr lang="zh-CN" altLang="zh-CN" sz="2000" b="1">
                <a:solidFill>
                  <a:schemeClr val="accent1"/>
                </a:solidFill>
                <a:cs typeface="Arial" panose="020B0604020202020204" pitchFamily="34" charset="0"/>
              </a:rPr>
              <a:t>　　粗略分析如下:大气分子一方面做热运动,具有动能    ，使气体分子散逸，另一方面又受地球引力的作用，该作用阻止气体分子逃出大气层。气体分子能够摆脱地球引力作用扩散到太空中去所具有的速度叫逃逸速度。</a:t>
            </a:r>
            <a:r>
              <a:rPr lang="zh-CN" altLang="zh-CN" sz="2000" b="1">
                <a:solidFill>
                  <a:schemeClr val="accent1"/>
                </a:solidFill>
                <a:cs typeface="Arial" panose="020B0604020202020204" pitchFamily="34" charset="0"/>
                <a:hlinkClick r:id="" action="ppaction://noaction"/>
                <a:hlinkMouseOver r:id="rId2" action="ppaction://hlinkfile"/>
              </a:rPr>
              <a:t>其大小可通过分子热运动动能等于相对无穷远的引力势能求出</a:t>
            </a:r>
            <a:r>
              <a:rPr lang="zh-CN" altLang="zh-CN" sz="2000" b="1">
                <a:solidFill>
                  <a:schemeClr val="accent1"/>
                </a:solidFill>
                <a:cs typeface="Arial" panose="020B0604020202020204" pitchFamily="34" charset="0"/>
              </a:rPr>
              <a:t>。</a:t>
            </a:r>
            <a:br>
              <a:rPr lang="zh-CN" altLang="zh-CN" sz="2000" b="1">
                <a:solidFill>
                  <a:schemeClr val="accent1"/>
                </a:solidFill>
                <a:cs typeface="Arial" panose="020B0604020202020204" pitchFamily="34" charset="0"/>
              </a:rPr>
            </a:br>
            <a:r>
              <a:rPr lang="zh-CN" altLang="zh-CN" sz="2000" b="1">
                <a:solidFill>
                  <a:schemeClr val="accent1"/>
                </a:solidFill>
                <a:cs typeface="Arial" panose="020B0604020202020204" pitchFamily="34" charset="0"/>
              </a:rPr>
              <a:t>　　把气体在大气中的逃逸速度与方均根速率数值加以比较，便可对上述问题加以说明，即</a:t>
            </a:r>
            <a:br>
              <a:rPr lang="zh-CN" altLang="zh-CN" sz="2000" b="1">
                <a:solidFill>
                  <a:schemeClr val="accent1"/>
                </a:solidFill>
                <a:cs typeface="Arial" panose="020B0604020202020204" pitchFamily="34" charset="0"/>
              </a:rPr>
            </a:br>
            <a:endParaRPr lang="zh-CN" altLang="zh-CN" sz="2000" b="1">
              <a:solidFill>
                <a:schemeClr val="accent1"/>
              </a:solidFill>
              <a:cs typeface="Arial" panose="020B0604020202020204" pitchFamily="34" charset="0"/>
            </a:endParaRPr>
          </a:p>
        </p:txBody>
      </p:sp>
      <p:pic>
        <p:nvPicPr>
          <p:cNvPr id="512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275" y="3068638"/>
            <a:ext cx="4938713" cy="1965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04" name="Picture 4" descr="http://cos.cumt.edu.cn/jpkc/dxwl/Web_kj/p03/ch08/example/exa08_07_01/image/image0014.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75" y="2181225"/>
            <a:ext cx="21907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Rectangle 9"/>
          <p:cNvSpPr>
            <a:spLocks noChangeArrowheads="1"/>
          </p:cNvSpPr>
          <p:nvPr/>
        </p:nvSpPr>
        <p:spPr bwMode="auto">
          <a:xfrm>
            <a:off x="-209550" y="32019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400">
                <a:cs typeface="Arial" panose="020B0604020202020204" pitchFamily="34" charset="0"/>
              </a:rPr>
              <a:t> </a:t>
            </a:r>
          </a:p>
        </p:txBody>
      </p:sp>
      <p:sp>
        <p:nvSpPr>
          <p:cNvPr id="51206" name="矩形 5"/>
          <p:cNvSpPr>
            <a:spLocks noChangeArrowheads="1"/>
          </p:cNvSpPr>
          <p:nvPr/>
        </p:nvSpPr>
        <p:spPr bwMode="auto">
          <a:xfrm>
            <a:off x="185738" y="5321300"/>
            <a:ext cx="8713787" cy="132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000" b="1">
                <a:solidFill>
                  <a:schemeClr val="accent1"/>
                </a:solidFill>
                <a:cs typeface="Arial" panose="020B0604020202020204" pitchFamily="34" charset="0"/>
              </a:rPr>
              <a:t>将 </a:t>
            </a:r>
            <a:r>
              <a:rPr lang="en-US" altLang="zh-CN" sz="2000" b="1">
                <a:solidFill>
                  <a:schemeClr val="accent1"/>
                </a:solidFill>
                <a:cs typeface="Arial" panose="020B0604020202020204" pitchFamily="34" charset="0"/>
              </a:rPr>
              <a:t>H</a:t>
            </a:r>
            <a:r>
              <a:rPr lang="en-US" altLang="zh-CN" sz="1500" b="1">
                <a:solidFill>
                  <a:schemeClr val="accent1"/>
                </a:solidFill>
                <a:cs typeface="Arial" panose="020B0604020202020204" pitchFamily="34" charset="0"/>
              </a:rPr>
              <a:t>2</a:t>
            </a:r>
            <a:r>
              <a:rPr lang="zh-CN" altLang="en-US" sz="2000" b="1">
                <a:solidFill>
                  <a:schemeClr val="accent1"/>
                </a:solidFill>
                <a:cs typeface="Arial" panose="020B0604020202020204" pitchFamily="34" charset="0"/>
              </a:rPr>
              <a:t>、</a:t>
            </a:r>
            <a:r>
              <a:rPr lang="en-US" altLang="zh-CN" sz="2000" b="1">
                <a:solidFill>
                  <a:schemeClr val="accent1"/>
                </a:solidFill>
                <a:cs typeface="Arial" panose="020B0604020202020204" pitchFamily="34" charset="0"/>
              </a:rPr>
              <a:t>O</a:t>
            </a:r>
            <a:r>
              <a:rPr lang="en-US" altLang="zh-CN" sz="1500" b="1">
                <a:solidFill>
                  <a:schemeClr val="accent1"/>
                </a:solidFill>
                <a:cs typeface="Arial" panose="020B0604020202020204" pitchFamily="34" charset="0"/>
              </a:rPr>
              <a:t>2</a:t>
            </a:r>
            <a:r>
              <a:rPr lang="zh-CN" altLang="en-US" sz="2000" b="1">
                <a:solidFill>
                  <a:schemeClr val="accent1"/>
                </a:solidFill>
                <a:cs typeface="Arial" panose="020B0604020202020204" pitchFamily="34" charset="0"/>
              </a:rPr>
              <a:t> 、</a:t>
            </a:r>
            <a:r>
              <a:rPr lang="en-US" altLang="zh-CN" sz="2000" b="1">
                <a:solidFill>
                  <a:schemeClr val="accent1"/>
                </a:solidFill>
                <a:cs typeface="Arial" panose="020B0604020202020204" pitchFamily="34" charset="0"/>
              </a:rPr>
              <a:t>N</a:t>
            </a:r>
            <a:r>
              <a:rPr lang="en-US" altLang="zh-CN" sz="1500" b="1">
                <a:solidFill>
                  <a:schemeClr val="accent1"/>
                </a:solidFill>
                <a:cs typeface="Arial" panose="020B0604020202020204" pitchFamily="34" charset="0"/>
              </a:rPr>
              <a:t>2</a:t>
            </a:r>
            <a:r>
              <a:rPr lang="zh-CN" altLang="en-US" sz="2000" b="1">
                <a:solidFill>
                  <a:schemeClr val="accent1"/>
                </a:solidFill>
                <a:cs typeface="Arial" panose="020B0604020202020204" pitchFamily="34" charset="0"/>
              </a:rPr>
              <a:t> 和</a:t>
            </a:r>
            <a:r>
              <a:rPr lang="en-US" altLang="zh-CN" sz="2000" b="1">
                <a:solidFill>
                  <a:schemeClr val="accent1"/>
                </a:solidFill>
                <a:cs typeface="Arial" panose="020B0604020202020204" pitchFamily="34" charset="0"/>
              </a:rPr>
              <a:t>He</a:t>
            </a:r>
            <a:r>
              <a:rPr lang="zh-CN" altLang="en-US" sz="2000" b="1">
                <a:solidFill>
                  <a:schemeClr val="accent1"/>
                </a:solidFill>
                <a:cs typeface="Arial" panose="020B0604020202020204" pitchFamily="34" charset="0"/>
              </a:rPr>
              <a:t> 的摩尔质量和公式中的常量数据代入上式，得各种气体 </a:t>
            </a:r>
            <a:r>
              <a:rPr lang="en-US" altLang="zh-CN" sz="2000" b="1">
                <a:solidFill>
                  <a:schemeClr val="accent1"/>
                </a:solidFill>
                <a:cs typeface="Arial" panose="020B0604020202020204" pitchFamily="34" charset="0"/>
              </a:rPr>
              <a:t>K </a:t>
            </a:r>
            <a:r>
              <a:rPr lang="zh-CN" altLang="en-US" sz="2000" b="1">
                <a:solidFill>
                  <a:schemeClr val="accent1"/>
                </a:solidFill>
                <a:cs typeface="Arial" panose="020B0604020202020204" pitchFamily="34" charset="0"/>
              </a:rPr>
              <a:t>值。比值</a:t>
            </a:r>
            <a:r>
              <a:rPr lang="en-US" altLang="zh-CN" sz="2000" b="1">
                <a:solidFill>
                  <a:schemeClr val="accent1"/>
                </a:solidFill>
                <a:cs typeface="Arial" panose="020B0604020202020204" pitchFamily="34" charset="0"/>
              </a:rPr>
              <a:t>K </a:t>
            </a:r>
            <a:r>
              <a:rPr lang="zh-CN" altLang="en-US" sz="2000" b="1">
                <a:solidFill>
                  <a:schemeClr val="accent1"/>
                </a:solidFill>
                <a:cs typeface="Arial" panose="020B0604020202020204" pitchFamily="34" charset="0"/>
              </a:rPr>
              <a:t>越小表明引力势能越小，分子较容易逃脱地球引力场空间，扩散到太空中去，于是经过几十亿年演变，地球大气层就保留了含有大气质量约 </a:t>
            </a:r>
            <a:r>
              <a:rPr lang="en-US" altLang="zh-CN" sz="2000" b="1">
                <a:solidFill>
                  <a:schemeClr val="accent1"/>
                </a:solidFill>
                <a:cs typeface="Arial" panose="020B0604020202020204" pitchFamily="34" charset="0"/>
              </a:rPr>
              <a:t>23</a:t>
            </a:r>
            <a:r>
              <a:rPr lang="zh-CN" altLang="en-US" sz="2000" b="1">
                <a:solidFill>
                  <a:schemeClr val="accent1"/>
                </a:solidFill>
                <a:cs typeface="Arial" panose="020B0604020202020204" pitchFamily="34" charset="0"/>
              </a:rPr>
              <a:t>％的氧气和约占大气质量 </a:t>
            </a:r>
            <a:r>
              <a:rPr lang="en-US" altLang="zh-CN" sz="2000" b="1">
                <a:solidFill>
                  <a:schemeClr val="accent1"/>
                </a:solidFill>
                <a:cs typeface="Arial" panose="020B0604020202020204" pitchFamily="34" charset="0"/>
              </a:rPr>
              <a:t>76</a:t>
            </a:r>
            <a:r>
              <a:rPr lang="zh-CN" altLang="en-US" sz="2000" b="1">
                <a:solidFill>
                  <a:schemeClr val="accent1"/>
                </a:solidFill>
                <a:cs typeface="Arial" panose="020B0604020202020204" pitchFamily="34" charset="0"/>
              </a:rPr>
              <a:t>％的氮气。而氢气和氦气几乎就没有了。</a:t>
            </a:r>
          </a:p>
        </p:txBody>
      </p:sp>
    </p:spTree>
  </p:cSld>
  <p:clrMapOvr>
    <a:masterClrMapping/>
  </p:clrMapOvr>
  <p:transition spd="slow">
    <p:strips/>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FB323088-DEF7-42E5-86BB-304ACB72616C}" type="slidenum">
              <a:rPr kumimoji="0" lang="en-US" altLang="zh-CN" sz="1400" smtClean="0">
                <a:latin typeface="Arial" panose="020B0604020202020204" pitchFamily="34" charset="0"/>
              </a:rPr>
              <a:pPr>
                <a:spcBef>
                  <a:spcPct val="0"/>
                </a:spcBef>
                <a:buClrTx/>
                <a:buFontTx/>
                <a:buNone/>
              </a:pPr>
              <a:t>41</a:t>
            </a:fld>
            <a:endParaRPr kumimoji="0" lang="en-US" altLang="zh-CN" sz="1400">
              <a:latin typeface="Arial" panose="020B0604020202020204" pitchFamily="34" charset="0"/>
            </a:endParaRPr>
          </a:p>
        </p:txBody>
      </p:sp>
      <p:sp>
        <p:nvSpPr>
          <p:cNvPr id="168963" name="Text Box 3"/>
          <p:cNvSpPr txBox="1">
            <a:spLocks noChangeArrowheads="1"/>
          </p:cNvSpPr>
          <p:nvPr/>
        </p:nvSpPr>
        <p:spPr bwMode="auto">
          <a:xfrm>
            <a:off x="608013" y="4865688"/>
            <a:ext cx="7743825" cy="554037"/>
          </a:xfrm>
          <a:prstGeom prst="rect">
            <a:avLst/>
          </a:prstGeom>
          <a:noFill/>
          <a:ln w="9525">
            <a:noFill/>
            <a:miter lim="800000"/>
            <a:headEnd/>
            <a:tailEnd/>
          </a:ln>
          <a:effectLst/>
        </p:spPr>
        <p:txBody>
          <a:bodyPr>
            <a:spAutoFit/>
          </a:bodyPr>
          <a:lstStyle/>
          <a:p>
            <a:pPr algn="just" eaLnBrk="1" hangingPunct="1">
              <a:lnSpc>
                <a:spcPct val="125000"/>
              </a:lnSpc>
              <a:defRPr/>
            </a:pPr>
            <a:r>
              <a:rPr lang="zh-CN" altLang="en-US" b="1" dirty="0">
                <a:solidFill>
                  <a:schemeClr val="accent1"/>
                </a:solidFill>
                <a:latin typeface="+mj-ea"/>
                <a:ea typeface="+mj-ea"/>
              </a:rPr>
              <a:t>碰撞，非平衡态</a:t>
            </a:r>
            <a:r>
              <a:rPr lang="zh-CN" altLang="en-US" b="1" dirty="0">
                <a:solidFill>
                  <a:schemeClr val="accent1"/>
                </a:solidFill>
                <a:latin typeface="+mj-ea"/>
                <a:ea typeface="+mj-ea"/>
                <a:sym typeface="Symbol" pitchFamily="18" charset="2"/>
              </a:rPr>
              <a:t>平衡态，起重要作用。</a:t>
            </a:r>
          </a:p>
        </p:txBody>
      </p:sp>
      <p:sp>
        <p:nvSpPr>
          <p:cNvPr id="168964" name="Rectangle 4"/>
          <p:cNvSpPr>
            <a:spLocks noChangeArrowheads="1"/>
          </p:cNvSpPr>
          <p:nvPr/>
        </p:nvSpPr>
        <p:spPr bwMode="auto">
          <a:xfrm>
            <a:off x="598488" y="6162675"/>
            <a:ext cx="24526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统计平均值</a:t>
            </a:r>
          </a:p>
        </p:txBody>
      </p:sp>
      <p:sp>
        <p:nvSpPr>
          <p:cNvPr id="168999" name="Rectangle 39"/>
          <p:cNvSpPr>
            <a:spLocks noChangeArrowheads="1"/>
          </p:cNvSpPr>
          <p:nvPr/>
        </p:nvSpPr>
        <p:spPr bwMode="auto">
          <a:xfrm>
            <a:off x="574675" y="5462588"/>
            <a:ext cx="472916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0"/>
              </a:spcBef>
              <a:buClrTx/>
              <a:buFontTx/>
              <a:buNone/>
            </a:pPr>
            <a:r>
              <a:rPr lang="zh-CN" altLang="en-US" sz="2400" b="1">
                <a:cs typeface="Arial" panose="020B0604020202020204" pitchFamily="34" charset="0"/>
              </a:rPr>
              <a:t>连续两次碰撞间自由路程</a:t>
            </a:r>
          </a:p>
        </p:txBody>
      </p:sp>
      <p:sp>
        <p:nvSpPr>
          <p:cNvPr id="169000" name="Rectangle 40"/>
          <p:cNvSpPr>
            <a:spLocks noChangeArrowheads="1"/>
          </p:cNvSpPr>
          <p:nvPr/>
        </p:nvSpPr>
        <p:spPr bwMode="auto">
          <a:xfrm>
            <a:off x="4071938" y="5532438"/>
            <a:ext cx="25130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cs typeface="Times New Roman" panose="02020603050405020304" pitchFamily="18" charset="0"/>
              </a:rPr>
              <a:t>—</a:t>
            </a:r>
            <a:r>
              <a:rPr lang="zh-CN" altLang="en-US" sz="2400" b="1">
                <a:cs typeface="Arial" panose="020B0604020202020204" pitchFamily="34" charset="0"/>
              </a:rPr>
              <a:t>无规则性</a:t>
            </a:r>
          </a:p>
        </p:txBody>
      </p:sp>
      <p:sp>
        <p:nvSpPr>
          <p:cNvPr id="169001" name="Rectangle 41"/>
          <p:cNvSpPr>
            <a:spLocks noChangeArrowheads="1"/>
          </p:cNvSpPr>
          <p:nvPr/>
        </p:nvSpPr>
        <p:spPr bwMode="auto">
          <a:xfrm>
            <a:off x="2725738" y="6181725"/>
            <a:ext cx="4800600" cy="461963"/>
          </a:xfrm>
          <a:prstGeom prst="rect">
            <a:avLst/>
          </a:prstGeom>
          <a:noFill/>
          <a:ln w="9525">
            <a:noFill/>
            <a:miter lim="800000"/>
            <a:headEnd/>
            <a:tailEnd/>
          </a:ln>
          <a:effectLst/>
        </p:spPr>
        <p:txBody>
          <a:bodyPr wrap="none">
            <a:spAutoFit/>
          </a:bodyPr>
          <a:lstStyle/>
          <a:p>
            <a:pPr eaLnBrk="1" hangingPunct="1">
              <a:defRPr/>
            </a:pPr>
            <a:r>
              <a:rPr lang="en-US" altLang="zh-CN" b="1">
                <a:solidFill>
                  <a:schemeClr val="accent1"/>
                </a:solidFill>
                <a:latin typeface="+mj-ea"/>
                <a:ea typeface="+mj-ea"/>
                <a:cs typeface="Times New Roman" pitchFamily="18" charset="0"/>
              </a:rPr>
              <a:t>—</a:t>
            </a:r>
            <a:r>
              <a:rPr lang="zh-CN" altLang="en-US" b="1">
                <a:solidFill>
                  <a:schemeClr val="accent1"/>
                </a:solidFill>
                <a:latin typeface="+mj-ea"/>
                <a:ea typeface="+mj-ea"/>
              </a:rPr>
              <a:t>有规律，表示碰撞的基本特征。</a:t>
            </a:r>
          </a:p>
        </p:txBody>
      </p:sp>
      <p:pic>
        <p:nvPicPr>
          <p:cNvPr id="169002" name="Picture 42" descr="p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75" y="1071563"/>
            <a:ext cx="4714875"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026"/>
          <p:cNvSpPr>
            <a:spLocks noChangeArrowheads="1"/>
          </p:cNvSpPr>
          <p:nvPr/>
        </p:nvSpPr>
        <p:spPr bwMode="auto">
          <a:xfrm>
            <a:off x="0" y="0"/>
            <a:ext cx="9144000" cy="106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3600" b="1">
                <a:solidFill>
                  <a:schemeClr val="tx2"/>
                </a:solidFill>
                <a:cs typeface="Arial" panose="020B0604020202020204" pitchFamily="34" charset="0"/>
              </a:rPr>
              <a:t>§5.7   </a:t>
            </a:r>
            <a:r>
              <a:rPr lang="zh-CN" altLang="en-US" sz="3600" b="1">
                <a:solidFill>
                  <a:schemeClr val="tx2"/>
                </a:solidFill>
                <a:cs typeface="Arial" panose="020B0604020202020204" pitchFamily="34" charset="0"/>
              </a:rPr>
              <a:t>分子的平均碰撞次数及平均自由程 </a:t>
            </a:r>
            <a:r>
              <a:rPr lang="en-US" altLang="zh-CN" sz="2800" b="1">
                <a:solidFill>
                  <a:schemeClr val="accent2"/>
                </a:solidFill>
                <a:cs typeface="Arial" panose="020B0604020202020204" pitchFamily="34" charset="0"/>
              </a:rPr>
              <a:t>mean collision times and mean free path of molecular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16900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68963"/>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168999"/>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69000"/>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168964"/>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69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autoUpdateAnimBg="0"/>
      <p:bldP spid="168964" grpId="0" autoUpdateAnimBg="0"/>
      <p:bldP spid="168999" grpId="0" autoUpdateAnimBg="0"/>
      <p:bldP spid="169000" grpId="0" autoUpdateAnimBg="0"/>
      <p:bldP spid="169001" grpId="0" autoUpdateAnimBg="0"/>
      <p:bldP spid="10"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45" name="Text Box 1045"/>
          <p:cNvSpPr txBox="1">
            <a:spLocks noChangeArrowheads="1"/>
          </p:cNvSpPr>
          <p:nvPr/>
        </p:nvSpPr>
        <p:spPr bwMode="auto">
          <a:xfrm>
            <a:off x="785813" y="4572000"/>
            <a:ext cx="2709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cs typeface="Arial" panose="020B0604020202020204" pitchFamily="34" charset="0"/>
              </a:rPr>
              <a:t>气体分子自由程</a:t>
            </a:r>
          </a:p>
        </p:txBody>
      </p:sp>
      <p:grpSp>
        <p:nvGrpSpPr>
          <p:cNvPr id="2" name="Group 1047"/>
          <p:cNvGrpSpPr>
            <a:grpSpLocks/>
          </p:cNvGrpSpPr>
          <p:nvPr/>
        </p:nvGrpSpPr>
        <p:grpSpPr bwMode="auto">
          <a:xfrm>
            <a:off x="5257800" y="257175"/>
            <a:ext cx="3657600" cy="1816100"/>
            <a:chOff x="3312" y="858"/>
            <a:chExt cx="2304" cy="1144"/>
          </a:xfrm>
        </p:grpSpPr>
        <p:sp>
          <p:nvSpPr>
            <p:cNvPr id="53272" name="Text Box 1048"/>
            <p:cNvSpPr txBox="1">
              <a:spLocks noChangeArrowheads="1"/>
            </p:cNvSpPr>
            <p:nvPr/>
          </p:nvSpPr>
          <p:spPr bwMode="auto">
            <a:xfrm>
              <a:off x="3312" y="858"/>
              <a:ext cx="2304" cy="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cs typeface="Arial" panose="020B0604020202020204" pitchFamily="34" charset="0"/>
                </a:rPr>
                <a:t>一个分子连续两次碰撞之间经历的平均 自由路程叫</a:t>
              </a:r>
              <a:r>
                <a:rPr lang="zh-CN" altLang="en-US" sz="2800" b="1">
                  <a:solidFill>
                    <a:schemeClr val="accent2"/>
                  </a:solidFill>
                  <a:cs typeface="Arial" panose="020B0604020202020204" pitchFamily="34" charset="0"/>
                </a:rPr>
                <a:t>平均自由程   </a:t>
              </a:r>
              <a:r>
                <a:rPr lang="zh-CN" altLang="en-US" sz="2800" b="1" i="1">
                  <a:solidFill>
                    <a:schemeClr val="accent2"/>
                  </a:solidFill>
                  <a:cs typeface="Arial" panose="020B0604020202020204" pitchFamily="34" charset="0"/>
                  <a:sym typeface="Symbol" panose="05050102010706020507" pitchFamily="18" charset="2"/>
                </a:rPr>
                <a:t></a:t>
              </a:r>
              <a:endParaRPr lang="zh-CN" altLang="en-US" sz="2800" b="1">
                <a:cs typeface="Arial" panose="020B0604020202020204" pitchFamily="34" charset="0"/>
              </a:endParaRPr>
            </a:p>
          </p:txBody>
        </p:sp>
        <p:sp>
          <p:nvSpPr>
            <p:cNvPr id="52249" name="Line 1049"/>
            <p:cNvSpPr>
              <a:spLocks noChangeShapeType="1"/>
            </p:cNvSpPr>
            <p:nvPr/>
          </p:nvSpPr>
          <p:spPr bwMode="auto">
            <a:xfrm>
              <a:off x="4416" y="1584"/>
              <a:ext cx="192" cy="0"/>
            </a:xfrm>
            <a:prstGeom prst="line">
              <a:avLst/>
            </a:prstGeom>
            <a:noFill/>
            <a:ln w="9525">
              <a:solidFill>
                <a:schemeClr val="accent2"/>
              </a:solidFill>
              <a:round/>
              <a:headEnd/>
              <a:tailEnd/>
            </a:ln>
            <a:effectLst/>
          </p:spPr>
          <p:txBody>
            <a:bodyPr wrap="none" anchor="ctr"/>
            <a:lstStyle/>
            <a:p>
              <a:pPr eaLnBrk="1" hangingPunct="1">
                <a:defRPr/>
              </a:pPr>
              <a:endParaRPr lang="en-US" sz="2800">
                <a:effectLst>
                  <a:outerShdw blurRad="38100" dist="38100" dir="2700000" algn="tl">
                    <a:srgbClr val="000000">
                      <a:alpha val="43137"/>
                    </a:srgbClr>
                  </a:outerShdw>
                </a:effectLst>
              </a:endParaRPr>
            </a:p>
          </p:txBody>
        </p:sp>
      </p:grpSp>
      <p:grpSp>
        <p:nvGrpSpPr>
          <p:cNvPr id="3" name="Group 1050"/>
          <p:cNvGrpSpPr>
            <a:grpSpLocks/>
          </p:cNvGrpSpPr>
          <p:nvPr/>
        </p:nvGrpSpPr>
        <p:grpSpPr bwMode="auto">
          <a:xfrm>
            <a:off x="4999038" y="3073400"/>
            <a:ext cx="3643312" cy="1384300"/>
            <a:chOff x="3175" y="2632"/>
            <a:chExt cx="1862" cy="872"/>
          </a:xfrm>
        </p:grpSpPr>
        <p:sp>
          <p:nvSpPr>
            <p:cNvPr id="53270" name="Text Box 1051"/>
            <p:cNvSpPr txBox="1">
              <a:spLocks noChangeArrowheads="1"/>
            </p:cNvSpPr>
            <p:nvPr/>
          </p:nvSpPr>
          <p:spPr bwMode="auto">
            <a:xfrm>
              <a:off x="3175" y="2632"/>
              <a:ext cx="1862"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cs typeface="Arial" panose="020B0604020202020204" pitchFamily="34" charset="0"/>
                </a:rPr>
                <a:t>一个分子单位时间里</a:t>
              </a:r>
            </a:p>
            <a:p>
              <a:pPr eaLnBrk="1" hangingPunct="1">
                <a:spcBef>
                  <a:spcPct val="0"/>
                </a:spcBef>
                <a:buClrTx/>
                <a:buFontTx/>
                <a:buNone/>
              </a:pPr>
              <a:r>
                <a:rPr lang="zh-CN" altLang="en-US" sz="2800" b="1">
                  <a:cs typeface="Arial" panose="020B0604020202020204" pitchFamily="34" charset="0"/>
                </a:rPr>
                <a:t>受到平均碰撞次数叫</a:t>
              </a:r>
            </a:p>
            <a:p>
              <a:pPr eaLnBrk="1" hangingPunct="1">
                <a:spcBef>
                  <a:spcPct val="0"/>
                </a:spcBef>
                <a:buClrTx/>
                <a:buFontTx/>
                <a:buNone/>
              </a:pPr>
              <a:r>
                <a:rPr lang="zh-CN" altLang="en-US" sz="2800" b="1">
                  <a:solidFill>
                    <a:schemeClr val="accent2"/>
                  </a:solidFill>
                  <a:cs typeface="Arial" panose="020B0604020202020204" pitchFamily="34" charset="0"/>
                </a:rPr>
                <a:t>平均碰撞频率  </a:t>
              </a:r>
              <a:r>
                <a:rPr lang="en-US" altLang="zh-CN" sz="2800" b="1" i="1">
                  <a:solidFill>
                    <a:schemeClr val="accent2"/>
                  </a:solidFill>
                  <a:cs typeface="Arial" panose="020B0604020202020204" pitchFamily="34" charset="0"/>
                </a:rPr>
                <a:t>Z</a:t>
              </a:r>
              <a:endParaRPr lang="en-US" altLang="zh-CN" sz="2800" b="1">
                <a:cs typeface="Arial" panose="020B0604020202020204" pitchFamily="34" charset="0"/>
              </a:endParaRPr>
            </a:p>
          </p:txBody>
        </p:sp>
        <p:sp>
          <p:nvSpPr>
            <p:cNvPr id="52252" name="Line 1052"/>
            <p:cNvSpPr>
              <a:spLocks noChangeShapeType="1"/>
            </p:cNvSpPr>
            <p:nvPr/>
          </p:nvSpPr>
          <p:spPr bwMode="auto">
            <a:xfrm>
              <a:off x="4380" y="3216"/>
              <a:ext cx="240" cy="0"/>
            </a:xfrm>
            <a:prstGeom prst="line">
              <a:avLst/>
            </a:prstGeom>
            <a:noFill/>
            <a:ln w="9525">
              <a:solidFill>
                <a:schemeClr val="accent2"/>
              </a:solidFill>
              <a:round/>
              <a:headEnd/>
              <a:tailEnd/>
            </a:ln>
            <a:effectLst/>
          </p:spPr>
          <p:txBody>
            <a:bodyPr wrap="none" anchor="ctr"/>
            <a:lstStyle/>
            <a:p>
              <a:pPr eaLnBrk="1" hangingPunct="1">
                <a:defRPr/>
              </a:pPr>
              <a:endParaRPr lang="en-US" sz="2800">
                <a:effectLst>
                  <a:outerShdw blurRad="38100" dist="38100" dir="2700000" algn="tl">
                    <a:srgbClr val="000000">
                      <a:alpha val="43137"/>
                    </a:srgbClr>
                  </a:outerShdw>
                </a:effectLst>
              </a:endParaRPr>
            </a:p>
          </p:txBody>
        </p:sp>
      </p:grpSp>
      <p:sp>
        <p:nvSpPr>
          <p:cNvPr id="53267" name="Text Box 1055"/>
          <p:cNvSpPr txBox="1">
            <a:spLocks noChangeArrowheads="1"/>
          </p:cNvSpPr>
          <p:nvPr/>
        </p:nvSpPr>
        <p:spPr bwMode="auto">
          <a:xfrm>
            <a:off x="0" y="5357731"/>
            <a:ext cx="6286500" cy="138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b="1">
                <a:cs typeface="Arial" panose="020B0604020202020204" pitchFamily="34" charset="0"/>
              </a:rPr>
              <a:t>单位时间内分子经历的平均距离      </a:t>
            </a:r>
            <a:r>
              <a:rPr lang="en-US" altLang="zh-CN" sz="2800" b="1">
                <a:cs typeface="Arial" panose="020B0604020202020204" pitchFamily="34" charset="0"/>
              </a:rPr>
              <a:t> </a:t>
            </a:r>
            <a:r>
              <a:rPr lang="zh-CN" altLang="en-US" sz="2800" b="1">
                <a:cs typeface="Arial" panose="020B0604020202020204" pitchFamily="34" charset="0"/>
              </a:rPr>
              <a:t>，与分子的平均速率       和平均碰撞次数</a:t>
            </a:r>
          </a:p>
          <a:p>
            <a:pPr eaLnBrk="1" hangingPunct="1">
              <a:spcBef>
                <a:spcPct val="0"/>
              </a:spcBef>
              <a:buClrTx/>
              <a:buFontTx/>
              <a:buNone/>
            </a:pPr>
            <a:r>
              <a:rPr lang="en-US" altLang="zh-CN" sz="2800" b="1">
                <a:cs typeface="Arial" panose="020B0604020202020204" pitchFamily="34" charset="0"/>
              </a:rPr>
              <a:t>  </a:t>
            </a:r>
            <a:r>
              <a:rPr lang="zh-CN" altLang="en-US" sz="2800" b="1">
                <a:cs typeface="Arial" panose="020B0604020202020204" pitchFamily="34" charset="0"/>
              </a:rPr>
              <a:t>之间满足：</a:t>
            </a:r>
          </a:p>
        </p:txBody>
      </p:sp>
      <p:sp>
        <p:nvSpPr>
          <p:cNvPr id="52267" name="Rectangle 1067"/>
          <p:cNvSpPr>
            <a:spLocks noChangeArrowheads="1"/>
          </p:cNvSpPr>
          <p:nvPr/>
        </p:nvSpPr>
        <p:spPr bwMode="auto">
          <a:xfrm>
            <a:off x="5572125" y="1714500"/>
            <a:ext cx="249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800" b="1">
                <a:solidFill>
                  <a:schemeClr val="folHlink"/>
                </a:solidFill>
                <a:cs typeface="Arial" panose="020B0604020202020204" pitchFamily="34" charset="0"/>
              </a:rPr>
              <a:t>mean free path</a:t>
            </a:r>
          </a:p>
        </p:txBody>
      </p:sp>
      <p:sp>
        <p:nvSpPr>
          <p:cNvPr id="52268" name="Rectangle 1068"/>
          <p:cNvSpPr>
            <a:spLocks noChangeArrowheads="1"/>
          </p:cNvSpPr>
          <p:nvPr/>
        </p:nvSpPr>
        <p:spPr bwMode="auto">
          <a:xfrm>
            <a:off x="5181600" y="4572000"/>
            <a:ext cx="3416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a:solidFill>
                  <a:schemeClr val="folHlink"/>
                </a:solidFill>
                <a:cs typeface="Arial" panose="020B0604020202020204" pitchFamily="34" charset="0"/>
              </a:rPr>
              <a:t>mean collision frequency</a:t>
            </a:r>
          </a:p>
        </p:txBody>
      </p:sp>
      <p:pic>
        <p:nvPicPr>
          <p:cNvPr id="53257" name="Picture 1069" descr="CBDE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85750" y="214313"/>
            <a:ext cx="4062413" cy="406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 name="Object 11">
            <a:extLst>
              <a:ext uri="{FF2B5EF4-FFF2-40B4-BE49-F238E27FC236}">
                <a16:creationId xmlns:a16="http://schemas.microsoft.com/office/drawing/2014/main" id="{C23C2046-62FD-4291-A9C9-E602473E38E5}"/>
              </a:ext>
            </a:extLst>
          </p:cNvPr>
          <p:cNvGraphicFramePr>
            <a:graphicFrameLocks noChangeAspect="1"/>
          </p:cNvGraphicFramePr>
          <p:nvPr>
            <p:extLst>
              <p:ext uri="{D42A27DB-BD31-4B8C-83A1-F6EECF244321}">
                <p14:modId xmlns:p14="http://schemas.microsoft.com/office/powerpoint/2010/main" val="2587339074"/>
              </p:ext>
            </p:extLst>
          </p:nvPr>
        </p:nvGraphicFramePr>
        <p:xfrm>
          <a:off x="5230813" y="5410200"/>
          <a:ext cx="493712" cy="434975"/>
        </p:xfrm>
        <a:graphic>
          <a:graphicData uri="http://schemas.openxmlformats.org/presentationml/2006/ole">
            <mc:AlternateContent xmlns:mc="http://schemas.openxmlformats.org/markup-compatibility/2006">
              <mc:Choice xmlns:v="urn:schemas-microsoft-com:vml" Requires="v">
                <p:oleObj spid="_x0000_s72770" name="Equation" r:id="rId4" imgW="152280" imgH="203040" progId="Equation.DSMT4">
                  <p:embed/>
                </p:oleObj>
              </mc:Choice>
              <mc:Fallback>
                <p:oleObj name="Equation" r:id="rId4" imgW="152280" imgH="203040" progId="Equation.DSMT4">
                  <p:embed/>
                  <p:pic>
                    <p:nvPicPr>
                      <p:cNvPr id="172043" name="Object 11"/>
                      <p:cNvPicPr>
                        <a:picLocks noChangeAspect="1" noChangeArrowheads="1"/>
                      </p:cNvPicPr>
                      <p:nvPr/>
                    </p:nvPicPr>
                    <p:blipFill>
                      <a:blip r:embed="rId5"/>
                      <a:srcRect/>
                      <a:stretch>
                        <a:fillRect/>
                      </a:stretch>
                    </p:blipFill>
                    <p:spPr bwMode="auto">
                      <a:xfrm>
                        <a:off x="5230813" y="5410200"/>
                        <a:ext cx="493712" cy="434975"/>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11">
            <a:extLst>
              <a:ext uri="{FF2B5EF4-FFF2-40B4-BE49-F238E27FC236}">
                <a16:creationId xmlns:a16="http://schemas.microsoft.com/office/drawing/2014/main" id="{FC62C541-E250-4CE2-B416-63310177EE7A}"/>
              </a:ext>
            </a:extLst>
          </p:cNvPr>
          <p:cNvGraphicFramePr>
            <a:graphicFrameLocks noChangeAspect="1"/>
          </p:cNvGraphicFramePr>
          <p:nvPr>
            <p:extLst>
              <p:ext uri="{D42A27DB-BD31-4B8C-83A1-F6EECF244321}">
                <p14:modId xmlns:p14="http://schemas.microsoft.com/office/powerpoint/2010/main" val="1780470818"/>
              </p:ext>
            </p:extLst>
          </p:nvPr>
        </p:nvGraphicFramePr>
        <p:xfrm>
          <a:off x="3018770" y="5844480"/>
          <a:ext cx="454025" cy="451218"/>
        </p:xfrm>
        <a:graphic>
          <a:graphicData uri="http://schemas.openxmlformats.org/presentationml/2006/ole">
            <mc:AlternateContent xmlns:mc="http://schemas.openxmlformats.org/markup-compatibility/2006">
              <mc:Choice xmlns:v="urn:schemas-microsoft-com:vml" Requires="v">
                <p:oleObj spid="_x0000_s72771" name="Equation" r:id="rId6" imgW="139680" imgH="164880" progId="Equation.DSMT4">
                  <p:embed/>
                </p:oleObj>
              </mc:Choice>
              <mc:Fallback>
                <p:oleObj name="Equation" r:id="rId6" imgW="139680" imgH="164880" progId="Equation.DSMT4">
                  <p:embed/>
                  <p:pic>
                    <p:nvPicPr>
                      <p:cNvPr id="26" name="Object 11">
                        <a:extLst>
                          <a:ext uri="{FF2B5EF4-FFF2-40B4-BE49-F238E27FC236}">
                            <a16:creationId xmlns:a16="http://schemas.microsoft.com/office/drawing/2014/main" id="{C23C2046-62FD-4291-A9C9-E602473E38E5}"/>
                          </a:ext>
                        </a:extLst>
                      </p:cNvPr>
                      <p:cNvPicPr>
                        <a:picLocks noChangeAspect="1" noChangeArrowheads="1"/>
                      </p:cNvPicPr>
                      <p:nvPr/>
                    </p:nvPicPr>
                    <p:blipFill>
                      <a:blip r:embed="rId7"/>
                      <a:srcRect/>
                      <a:stretch>
                        <a:fillRect/>
                      </a:stretch>
                    </p:blipFill>
                    <p:spPr bwMode="auto">
                      <a:xfrm>
                        <a:off x="3018770" y="5844480"/>
                        <a:ext cx="454025" cy="451218"/>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graphicFrame>
        <p:nvGraphicFramePr>
          <p:cNvPr id="28" name="Object 11">
            <a:extLst>
              <a:ext uri="{FF2B5EF4-FFF2-40B4-BE49-F238E27FC236}">
                <a16:creationId xmlns:a16="http://schemas.microsoft.com/office/drawing/2014/main" id="{A6A5C001-4E34-4F56-8C18-8F60C9669E65}"/>
              </a:ext>
            </a:extLst>
          </p:cNvPr>
          <p:cNvGraphicFramePr>
            <a:graphicFrameLocks noChangeAspect="1"/>
          </p:cNvGraphicFramePr>
          <p:nvPr>
            <p:extLst>
              <p:ext uri="{D42A27DB-BD31-4B8C-83A1-F6EECF244321}">
                <p14:modId xmlns:p14="http://schemas.microsoft.com/office/powerpoint/2010/main" val="384394252"/>
              </p:ext>
            </p:extLst>
          </p:nvPr>
        </p:nvGraphicFramePr>
        <p:xfrm>
          <a:off x="6100210" y="5825330"/>
          <a:ext cx="493712" cy="407987"/>
        </p:xfrm>
        <a:graphic>
          <a:graphicData uri="http://schemas.openxmlformats.org/presentationml/2006/ole">
            <mc:AlternateContent xmlns:mc="http://schemas.openxmlformats.org/markup-compatibility/2006">
              <mc:Choice xmlns:v="urn:schemas-microsoft-com:vml" Requires="v">
                <p:oleObj spid="_x0000_s72772" name="Equation" r:id="rId8" imgW="152280" imgH="190440" progId="Equation.DSMT4">
                  <p:embed/>
                </p:oleObj>
              </mc:Choice>
              <mc:Fallback>
                <p:oleObj name="Equation" r:id="rId8" imgW="152280" imgH="190440" progId="Equation.DSMT4">
                  <p:embed/>
                  <p:pic>
                    <p:nvPicPr>
                      <p:cNvPr id="26" name="Object 11">
                        <a:extLst>
                          <a:ext uri="{FF2B5EF4-FFF2-40B4-BE49-F238E27FC236}">
                            <a16:creationId xmlns:a16="http://schemas.microsoft.com/office/drawing/2014/main" id="{C23C2046-62FD-4291-A9C9-E602473E38E5}"/>
                          </a:ext>
                        </a:extLst>
                      </p:cNvPr>
                      <p:cNvPicPr>
                        <a:picLocks noChangeAspect="1" noChangeArrowheads="1"/>
                      </p:cNvPicPr>
                      <p:nvPr/>
                    </p:nvPicPr>
                    <p:blipFill>
                      <a:blip r:embed="rId9"/>
                      <a:srcRect/>
                      <a:stretch>
                        <a:fillRect/>
                      </a:stretch>
                    </p:blipFill>
                    <p:spPr bwMode="auto">
                      <a:xfrm>
                        <a:off x="6100210" y="5825330"/>
                        <a:ext cx="493712" cy="407987"/>
                      </a:xfrm>
                      <a:prstGeom prst="rect">
                        <a:avLst/>
                      </a:prstGeom>
                      <a:gradFill rotWithShape="0">
                        <a:gsLst>
                          <a:gs pos="0">
                            <a:schemeClr val="accent1"/>
                          </a:gs>
                          <a:gs pos="50000">
                            <a:srgbClr val="FFFFFF"/>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1">
            <a:extLst>
              <a:ext uri="{FF2B5EF4-FFF2-40B4-BE49-F238E27FC236}">
                <a16:creationId xmlns:a16="http://schemas.microsoft.com/office/drawing/2014/main" id="{ACD3B2A2-F0C1-431F-A798-83DAF53EEAEA}"/>
              </a:ext>
            </a:extLst>
          </p:cNvPr>
          <p:cNvGraphicFramePr>
            <a:graphicFrameLocks noChangeAspect="1"/>
          </p:cNvGraphicFramePr>
          <p:nvPr>
            <p:extLst>
              <p:ext uri="{D42A27DB-BD31-4B8C-83A1-F6EECF244321}">
                <p14:modId xmlns:p14="http://schemas.microsoft.com/office/powerpoint/2010/main" val="1438874357"/>
              </p:ext>
            </p:extLst>
          </p:nvPr>
        </p:nvGraphicFramePr>
        <p:xfrm>
          <a:off x="7352774" y="5594349"/>
          <a:ext cx="1274763" cy="869950"/>
        </p:xfrm>
        <a:graphic>
          <a:graphicData uri="http://schemas.openxmlformats.org/presentationml/2006/ole">
            <mc:AlternateContent xmlns:mc="http://schemas.openxmlformats.org/markup-compatibility/2006">
              <mc:Choice xmlns:v="urn:schemas-microsoft-com:vml" Requires="v">
                <p:oleObj spid="_x0000_s72773" name="Equation" r:id="rId10" imgW="393480" imgH="406080" progId="Equation.DSMT4">
                  <p:embed/>
                </p:oleObj>
              </mc:Choice>
              <mc:Fallback>
                <p:oleObj name="Equation" r:id="rId10" imgW="393480" imgH="406080" progId="Equation.DSMT4">
                  <p:embed/>
                  <p:pic>
                    <p:nvPicPr>
                      <p:cNvPr id="28" name="Object 11">
                        <a:extLst>
                          <a:ext uri="{FF2B5EF4-FFF2-40B4-BE49-F238E27FC236}">
                            <a16:creationId xmlns:a16="http://schemas.microsoft.com/office/drawing/2014/main" id="{A6A5C001-4E34-4F56-8C18-8F60C9669E65}"/>
                          </a:ext>
                        </a:extLst>
                      </p:cNvPr>
                      <p:cNvPicPr>
                        <a:picLocks noChangeAspect="1" noChangeArrowheads="1"/>
                      </p:cNvPicPr>
                      <p:nvPr/>
                    </p:nvPicPr>
                    <p:blipFill>
                      <a:blip r:embed="rId11"/>
                      <a:srcRect/>
                      <a:stretch>
                        <a:fillRect/>
                      </a:stretch>
                    </p:blipFill>
                    <p:spPr bwMode="auto">
                      <a:xfrm>
                        <a:off x="7352774" y="5594349"/>
                        <a:ext cx="1274763" cy="869950"/>
                      </a:xfrm>
                      <a:prstGeom prst="rect">
                        <a:avLst/>
                      </a:prstGeom>
                      <a:gradFill rotWithShape="0">
                        <a:gsLst>
                          <a:gs pos="0">
                            <a:schemeClr val="accent1"/>
                          </a:gs>
                          <a:gs pos="50000">
                            <a:srgbClr val="FFFFFF"/>
                          </a:gs>
                          <a:gs pos="100000">
                            <a:schemeClr val="accent1"/>
                          </a:gs>
                        </a:gsLst>
                        <a:lin ang="5400000" scaled="1"/>
                      </a:gradFill>
                      <a:ln>
                        <a:noFill/>
                      </a:ln>
                      <a:effectLs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45"/>
                                        </p:tgtEl>
                                        <p:attrNameLst>
                                          <p:attrName>style.visibility</p:attrName>
                                        </p:attrNameLst>
                                      </p:cBhvr>
                                      <p:to>
                                        <p:strVal val="visible"/>
                                      </p:to>
                                    </p:set>
                                    <p:anim calcmode="lin" valueType="num">
                                      <p:cBhvr additive="base">
                                        <p:cTn id="7" dur="500" fill="hold"/>
                                        <p:tgtEl>
                                          <p:spTgt spid="52245"/>
                                        </p:tgtEl>
                                        <p:attrNameLst>
                                          <p:attrName>ppt_x</p:attrName>
                                        </p:attrNameLst>
                                      </p:cBhvr>
                                      <p:tavLst>
                                        <p:tav tm="0">
                                          <p:val>
                                            <p:strVal val="0-#ppt_w/2"/>
                                          </p:val>
                                        </p:tav>
                                        <p:tav tm="100000">
                                          <p:val>
                                            <p:strVal val="#ppt_x"/>
                                          </p:val>
                                        </p:tav>
                                      </p:tavLst>
                                    </p:anim>
                                    <p:anim calcmode="lin" valueType="num">
                                      <p:cBhvr additive="base">
                                        <p:cTn id="8" dur="500" fill="hold"/>
                                        <p:tgtEl>
                                          <p:spTgt spid="5224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2267">
                                            <p:txEl>
                                              <p:pRg st="0" end="0"/>
                                            </p:txEl>
                                          </p:spTgt>
                                        </p:tgtEl>
                                        <p:attrNameLst>
                                          <p:attrName>style.visibility</p:attrName>
                                        </p:attrNameLst>
                                      </p:cBhvr>
                                      <p:to>
                                        <p:strVal val="visible"/>
                                      </p:to>
                                    </p:set>
                                    <p:animEffect transition="in" filter="wipe(left)">
                                      <p:cBhvr>
                                        <p:cTn id="19" dur="500"/>
                                        <p:tgtEl>
                                          <p:spTgt spid="52267">
                                            <p:txEl>
                                              <p:pRg st="0" end="0"/>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2"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1+#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2268">
                                            <p:txEl>
                                              <p:pRg st="0" end="0"/>
                                            </p:txEl>
                                          </p:spTgt>
                                        </p:tgtEl>
                                        <p:attrNameLst>
                                          <p:attrName>style.visibility</p:attrName>
                                        </p:attrNameLst>
                                      </p:cBhvr>
                                      <p:to>
                                        <p:strVal val="visible"/>
                                      </p:to>
                                    </p:set>
                                    <p:animEffect transition="in" filter="wipe(left)">
                                      <p:cBhvr>
                                        <p:cTn id="30" dur="500"/>
                                        <p:tgtEl>
                                          <p:spTgt spid="52268">
                                            <p:txEl>
                                              <p:pRg st="0" end="0"/>
                                            </p:txEl>
                                          </p:spTgt>
                                        </p:tgtEl>
                                      </p:cBhvr>
                                    </p:animEffec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45" grpId="0" autoUpdateAnimBg="0"/>
      <p:bldP spid="52267" grpId="0" build="p" autoUpdateAnimBg="0"/>
      <p:bldP spid="52268"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
          <p:cNvGrpSpPr>
            <a:grpSpLocks/>
          </p:cNvGrpSpPr>
          <p:nvPr/>
        </p:nvGrpSpPr>
        <p:grpSpPr bwMode="auto">
          <a:xfrm>
            <a:off x="593725" y="457200"/>
            <a:ext cx="2370138" cy="457200"/>
            <a:chOff x="374" y="288"/>
            <a:chExt cx="1493" cy="288"/>
          </a:xfrm>
        </p:grpSpPr>
        <p:sp>
          <p:nvSpPr>
            <p:cNvPr id="54324" name="Text Box 3"/>
            <p:cNvSpPr txBox="1">
              <a:spLocks noChangeArrowheads="1"/>
            </p:cNvSpPr>
            <p:nvPr/>
          </p:nvSpPr>
          <p:spPr bwMode="auto">
            <a:xfrm>
              <a:off x="374" y="288"/>
              <a:ext cx="149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solidFill>
                    <a:schemeClr val="accent2"/>
                  </a:solidFill>
                  <a:cs typeface="Arial" panose="020B0604020202020204" pitchFamily="34" charset="0"/>
                </a:rPr>
                <a:t>平均碰撞频率  </a:t>
              </a:r>
              <a:r>
                <a:rPr lang="en-US" altLang="zh-CN" sz="2400" b="1" i="1">
                  <a:solidFill>
                    <a:schemeClr val="accent2"/>
                  </a:solidFill>
                  <a:cs typeface="Arial" panose="020B0604020202020204" pitchFamily="34" charset="0"/>
                </a:rPr>
                <a:t>Z</a:t>
              </a:r>
              <a:endParaRPr lang="en-US" altLang="zh-CN" sz="2400" b="1">
                <a:cs typeface="Arial" panose="020B0604020202020204" pitchFamily="34" charset="0"/>
              </a:endParaRPr>
            </a:p>
          </p:txBody>
        </p:sp>
        <p:sp>
          <p:nvSpPr>
            <p:cNvPr id="53252" name="Line 4"/>
            <p:cNvSpPr>
              <a:spLocks noChangeShapeType="1"/>
            </p:cNvSpPr>
            <p:nvPr/>
          </p:nvSpPr>
          <p:spPr bwMode="auto">
            <a:xfrm>
              <a:off x="1680" y="336"/>
              <a:ext cx="144" cy="0"/>
            </a:xfrm>
            <a:prstGeom prst="line">
              <a:avLst/>
            </a:prstGeom>
            <a:noFill/>
            <a:ln w="9525">
              <a:solidFill>
                <a:schemeClr val="accent2"/>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grpSp>
        <p:nvGrpSpPr>
          <p:cNvPr id="3" name="Group 5"/>
          <p:cNvGrpSpPr>
            <a:grpSpLocks/>
          </p:cNvGrpSpPr>
          <p:nvPr/>
        </p:nvGrpSpPr>
        <p:grpSpPr bwMode="auto">
          <a:xfrm>
            <a:off x="165100" y="4791080"/>
            <a:ext cx="9067801" cy="461963"/>
            <a:chOff x="104" y="3162"/>
            <a:chExt cx="5712" cy="291"/>
          </a:xfrm>
        </p:grpSpPr>
        <p:sp>
          <p:nvSpPr>
            <p:cNvPr id="54322" name="Text Box 6"/>
            <p:cNvSpPr txBox="1">
              <a:spLocks noChangeArrowheads="1"/>
            </p:cNvSpPr>
            <p:nvPr/>
          </p:nvSpPr>
          <p:spPr bwMode="auto">
            <a:xfrm>
              <a:off x="104" y="3162"/>
              <a:ext cx="57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设直径为</a:t>
              </a:r>
              <a:r>
                <a:rPr lang="en-US" altLang="zh-CN" sz="2400" b="1">
                  <a:cs typeface="Arial" panose="020B0604020202020204" pitchFamily="34" charset="0"/>
                </a:rPr>
                <a:t>d</a:t>
              </a:r>
              <a:r>
                <a:rPr lang="zh-CN" altLang="en-US" sz="2400" b="1">
                  <a:cs typeface="Arial" panose="020B0604020202020204" pitchFamily="34" charset="0"/>
                </a:rPr>
                <a:t>的分子 </a:t>
              </a:r>
              <a:r>
                <a:rPr lang="en-US" altLang="zh-CN" sz="2400" b="1">
                  <a:cs typeface="Arial" panose="020B0604020202020204" pitchFamily="34" charset="0"/>
                </a:rPr>
                <a:t>A </a:t>
              </a:r>
              <a:r>
                <a:rPr lang="zh-CN" altLang="en-US" sz="2400" b="1">
                  <a:cs typeface="Arial" panose="020B0604020202020204" pitchFamily="34" charset="0"/>
                </a:rPr>
                <a:t>以相对平均速率 </a:t>
              </a:r>
              <a:r>
                <a:rPr lang="en-US" altLang="zh-CN" sz="2400" b="1" i="1">
                  <a:cs typeface="Arial" panose="020B0604020202020204" pitchFamily="34" charset="0"/>
                </a:rPr>
                <a:t>u </a:t>
              </a:r>
              <a:r>
                <a:rPr lang="zh-CN" altLang="en-US" sz="2400" b="1">
                  <a:cs typeface="Arial" panose="020B0604020202020204" pitchFamily="34" charset="0"/>
                </a:rPr>
                <a:t>运动，其它分子可设为静止</a:t>
              </a:r>
            </a:p>
          </p:txBody>
        </p:sp>
        <p:sp>
          <p:nvSpPr>
            <p:cNvPr id="53255" name="Line 7"/>
            <p:cNvSpPr>
              <a:spLocks noChangeShapeType="1"/>
            </p:cNvSpPr>
            <p:nvPr/>
          </p:nvSpPr>
          <p:spPr bwMode="auto">
            <a:xfrm flipV="1">
              <a:off x="3243" y="3214"/>
              <a:ext cx="127" cy="2"/>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sp>
        <p:nvSpPr>
          <p:cNvPr id="53256" name="Text Box 8"/>
          <p:cNvSpPr txBox="1">
            <a:spLocks noChangeArrowheads="1"/>
          </p:cNvSpPr>
          <p:nvPr/>
        </p:nvSpPr>
        <p:spPr bwMode="auto">
          <a:xfrm>
            <a:off x="62706" y="5460361"/>
            <a:ext cx="88190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在运动方向上，以 </a:t>
            </a:r>
            <a:r>
              <a:rPr lang="en-US" altLang="zh-CN" sz="2400" b="1" i="1">
                <a:cs typeface="Arial" panose="020B0604020202020204" pitchFamily="34" charset="0"/>
              </a:rPr>
              <a:t>d </a:t>
            </a:r>
            <a:r>
              <a:rPr lang="zh-CN" altLang="en-US" sz="2400" b="1">
                <a:cs typeface="Arial" panose="020B0604020202020204" pitchFamily="34" charset="0"/>
              </a:rPr>
              <a:t>为半径的圆柱体内的分子都将与分子</a:t>
            </a:r>
            <a:r>
              <a:rPr lang="en-US" altLang="zh-CN" sz="2400" b="1">
                <a:cs typeface="Arial" panose="020B0604020202020204" pitchFamily="34" charset="0"/>
              </a:rPr>
              <a:t>A </a:t>
            </a:r>
            <a:r>
              <a:rPr lang="zh-CN" altLang="en-US" sz="2400" b="1">
                <a:cs typeface="Arial" panose="020B0604020202020204" pitchFamily="34" charset="0"/>
              </a:rPr>
              <a:t>碰撞</a:t>
            </a:r>
          </a:p>
        </p:txBody>
      </p:sp>
      <p:sp>
        <p:nvSpPr>
          <p:cNvPr id="53257" name="Text Box 9"/>
          <p:cNvSpPr txBox="1">
            <a:spLocks noChangeArrowheads="1"/>
          </p:cNvSpPr>
          <p:nvPr/>
        </p:nvSpPr>
        <p:spPr bwMode="auto">
          <a:xfrm>
            <a:off x="746125" y="6172200"/>
            <a:ext cx="5913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该圆柱体的面积 </a:t>
            </a:r>
            <a:r>
              <a:rPr lang="zh-CN" altLang="en-US" sz="2400" b="1" i="1">
                <a:cs typeface="Arial" panose="020B0604020202020204" pitchFamily="34" charset="0"/>
                <a:sym typeface="Symbol" panose="05050102010706020507" pitchFamily="18" charset="2"/>
              </a:rPr>
              <a:t></a:t>
            </a:r>
            <a:r>
              <a:rPr lang="zh-CN" altLang="en-US" sz="2400" b="1">
                <a:cs typeface="Arial" panose="020B0604020202020204" pitchFamily="34" charset="0"/>
                <a:sym typeface="Symbol" panose="05050102010706020507" pitchFamily="18" charset="2"/>
              </a:rPr>
              <a:t> </a:t>
            </a:r>
            <a:r>
              <a:rPr lang="zh-CN" altLang="en-US" sz="2400" b="1">
                <a:cs typeface="Arial" panose="020B0604020202020204" pitchFamily="34" charset="0"/>
              </a:rPr>
              <a:t>就叫 </a:t>
            </a:r>
            <a:r>
              <a:rPr lang="zh-CN" altLang="en-US" sz="2400" b="1">
                <a:solidFill>
                  <a:schemeClr val="accent2"/>
                </a:solidFill>
                <a:cs typeface="Arial" panose="020B0604020202020204" pitchFamily="34" charset="0"/>
              </a:rPr>
              <a:t>碰撞截面    </a:t>
            </a:r>
            <a:r>
              <a:rPr lang="zh-CN" altLang="en-US" sz="2400" b="1" i="1">
                <a:solidFill>
                  <a:srgbClr val="00FFFF"/>
                </a:solidFill>
                <a:cs typeface="Arial" panose="020B0604020202020204" pitchFamily="34" charset="0"/>
                <a:sym typeface="Symbol" panose="05050102010706020507" pitchFamily="18" charset="2"/>
              </a:rPr>
              <a:t> </a:t>
            </a:r>
            <a:r>
              <a:rPr lang="en-US" altLang="zh-CN" sz="2400" b="1" i="1">
                <a:solidFill>
                  <a:srgbClr val="00FFFF"/>
                </a:solidFill>
                <a:cs typeface="Arial" panose="020B0604020202020204" pitchFamily="34" charset="0"/>
                <a:sym typeface="Symbol" panose="05050102010706020507" pitchFamily="18" charset="2"/>
              </a:rPr>
              <a:t>=  d</a:t>
            </a:r>
            <a:r>
              <a:rPr lang="en-US" altLang="zh-CN" sz="2400" b="1" i="1" baseline="30000">
                <a:solidFill>
                  <a:srgbClr val="00FFFF"/>
                </a:solidFill>
                <a:cs typeface="Arial" panose="020B0604020202020204" pitchFamily="34" charset="0"/>
                <a:sym typeface="Symbol" panose="05050102010706020507" pitchFamily="18" charset="2"/>
              </a:rPr>
              <a:t>2</a:t>
            </a:r>
            <a:endParaRPr lang="en-US" altLang="zh-CN" sz="2400" b="1">
              <a:solidFill>
                <a:srgbClr val="00FFFF"/>
              </a:solidFill>
              <a:cs typeface="Arial" panose="020B0604020202020204" pitchFamily="34" charset="0"/>
              <a:sym typeface="Symbol" panose="05050102010706020507" pitchFamily="18" charset="2"/>
            </a:endParaRPr>
          </a:p>
        </p:txBody>
      </p:sp>
      <p:grpSp>
        <p:nvGrpSpPr>
          <p:cNvPr id="4" name="Group 10"/>
          <p:cNvGrpSpPr>
            <a:grpSpLocks/>
          </p:cNvGrpSpPr>
          <p:nvPr/>
        </p:nvGrpSpPr>
        <p:grpSpPr bwMode="auto">
          <a:xfrm>
            <a:off x="756807" y="838201"/>
            <a:ext cx="5943600" cy="3657600"/>
            <a:chOff x="480" y="528"/>
            <a:chExt cx="3744" cy="2304"/>
          </a:xfrm>
        </p:grpSpPr>
        <p:grpSp>
          <p:nvGrpSpPr>
            <p:cNvPr id="54279" name="Group 11"/>
            <p:cNvGrpSpPr>
              <a:grpSpLocks/>
            </p:cNvGrpSpPr>
            <p:nvPr/>
          </p:nvGrpSpPr>
          <p:grpSpPr bwMode="auto">
            <a:xfrm>
              <a:off x="480" y="528"/>
              <a:ext cx="3744" cy="2304"/>
              <a:chOff x="480" y="528"/>
              <a:chExt cx="3744" cy="2304"/>
            </a:xfrm>
          </p:grpSpPr>
          <p:sp>
            <p:nvSpPr>
              <p:cNvPr id="53260" name="Line 12"/>
              <p:cNvSpPr>
                <a:spLocks noChangeShapeType="1"/>
              </p:cNvSpPr>
              <p:nvPr/>
            </p:nvSpPr>
            <p:spPr bwMode="auto">
              <a:xfrm flipV="1">
                <a:off x="480" y="1008"/>
                <a:ext cx="1680" cy="672"/>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1" name="Line 13"/>
              <p:cNvSpPr>
                <a:spLocks noChangeShapeType="1"/>
              </p:cNvSpPr>
              <p:nvPr/>
            </p:nvSpPr>
            <p:spPr bwMode="auto">
              <a:xfrm>
                <a:off x="2160" y="1008"/>
                <a:ext cx="768" cy="288"/>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2" name="Line 14"/>
              <p:cNvSpPr>
                <a:spLocks noChangeShapeType="1"/>
              </p:cNvSpPr>
              <p:nvPr/>
            </p:nvSpPr>
            <p:spPr bwMode="auto">
              <a:xfrm flipV="1">
                <a:off x="2928" y="1056"/>
                <a:ext cx="1296" cy="24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3" name="Line 15"/>
              <p:cNvSpPr>
                <a:spLocks noChangeShapeType="1"/>
              </p:cNvSpPr>
              <p:nvPr/>
            </p:nvSpPr>
            <p:spPr bwMode="auto">
              <a:xfrm flipV="1">
                <a:off x="720" y="1728"/>
                <a:ext cx="1440" cy="576"/>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4" name="Line 16"/>
              <p:cNvSpPr>
                <a:spLocks noChangeShapeType="1"/>
              </p:cNvSpPr>
              <p:nvPr/>
            </p:nvSpPr>
            <p:spPr bwMode="auto">
              <a:xfrm>
                <a:off x="2160" y="1728"/>
                <a:ext cx="768" cy="288"/>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5" name="Line 17"/>
              <p:cNvSpPr>
                <a:spLocks noChangeShapeType="1"/>
              </p:cNvSpPr>
              <p:nvPr/>
            </p:nvSpPr>
            <p:spPr bwMode="auto">
              <a:xfrm flipV="1">
                <a:off x="2928" y="1776"/>
                <a:ext cx="1296" cy="24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6" name="Oval 18" descr="50%"/>
              <p:cNvSpPr>
                <a:spLocks noChangeArrowheads="1"/>
              </p:cNvSpPr>
              <p:nvPr/>
            </p:nvSpPr>
            <p:spPr bwMode="auto">
              <a:xfrm>
                <a:off x="960" y="1632"/>
                <a:ext cx="288" cy="288"/>
              </a:xfrm>
              <a:prstGeom prst="ellipse">
                <a:avLst/>
              </a:prstGeom>
              <a:pattFill prst="pct50">
                <a:fgClr>
                  <a:srgbClr val="000000"/>
                </a:fgClr>
                <a:bgClr>
                  <a:srgbClr val="FFFFFF"/>
                </a:bgClr>
              </a:patt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7" name="Oval 19"/>
              <p:cNvSpPr>
                <a:spLocks noChangeArrowheads="1"/>
              </p:cNvSpPr>
              <p:nvPr/>
            </p:nvSpPr>
            <p:spPr bwMode="auto">
              <a:xfrm>
                <a:off x="1536" y="1776"/>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8" name="Oval 20"/>
              <p:cNvSpPr>
                <a:spLocks noChangeArrowheads="1"/>
              </p:cNvSpPr>
              <p:nvPr/>
            </p:nvSpPr>
            <p:spPr bwMode="auto">
              <a:xfrm>
                <a:off x="2256" y="1776"/>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69" name="Oval 21"/>
              <p:cNvSpPr>
                <a:spLocks noChangeArrowheads="1"/>
              </p:cNvSpPr>
              <p:nvPr/>
            </p:nvSpPr>
            <p:spPr bwMode="auto">
              <a:xfrm>
                <a:off x="1680" y="912"/>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0" name="Oval 22"/>
              <p:cNvSpPr>
                <a:spLocks noChangeArrowheads="1"/>
              </p:cNvSpPr>
              <p:nvPr/>
            </p:nvSpPr>
            <p:spPr bwMode="auto">
              <a:xfrm>
                <a:off x="1320" y="2487"/>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1" name="Oval 23"/>
              <p:cNvSpPr>
                <a:spLocks noChangeArrowheads="1"/>
              </p:cNvSpPr>
              <p:nvPr/>
            </p:nvSpPr>
            <p:spPr bwMode="auto">
              <a:xfrm>
                <a:off x="940" y="1350"/>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2" name="Oval 24"/>
              <p:cNvSpPr>
                <a:spLocks noChangeArrowheads="1"/>
              </p:cNvSpPr>
              <p:nvPr/>
            </p:nvSpPr>
            <p:spPr bwMode="auto">
              <a:xfrm>
                <a:off x="3168" y="2112"/>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3" name="Oval 25"/>
              <p:cNvSpPr>
                <a:spLocks noChangeArrowheads="1"/>
              </p:cNvSpPr>
              <p:nvPr/>
            </p:nvSpPr>
            <p:spPr bwMode="auto">
              <a:xfrm>
                <a:off x="2928" y="528"/>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4" name="Oval 26"/>
              <p:cNvSpPr>
                <a:spLocks noChangeArrowheads="1"/>
              </p:cNvSpPr>
              <p:nvPr/>
            </p:nvSpPr>
            <p:spPr bwMode="auto">
              <a:xfrm>
                <a:off x="3792" y="864"/>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5" name="Freeform 27"/>
              <p:cNvSpPr>
                <a:spLocks/>
              </p:cNvSpPr>
              <p:nvPr/>
            </p:nvSpPr>
            <p:spPr bwMode="auto">
              <a:xfrm rot="-1186984">
                <a:off x="522" y="1662"/>
                <a:ext cx="102" cy="690"/>
              </a:xfrm>
              <a:custGeom>
                <a:avLst/>
                <a:gdLst/>
                <a:ahLst/>
                <a:cxnLst>
                  <a:cxn ang="0">
                    <a:pos x="89" y="0"/>
                  </a:cxn>
                  <a:cxn ang="0">
                    <a:pos x="0" y="256"/>
                  </a:cxn>
                  <a:cxn ang="0">
                    <a:pos x="25" y="537"/>
                  </a:cxn>
                  <a:cxn ang="0">
                    <a:pos x="64" y="651"/>
                  </a:cxn>
                  <a:cxn ang="0">
                    <a:pos x="102" y="690"/>
                  </a:cxn>
                </a:cxnLst>
                <a:rect l="0" t="0" r="r" b="b"/>
                <a:pathLst>
                  <a:path w="102" h="690">
                    <a:moveTo>
                      <a:pt x="89" y="0"/>
                    </a:moveTo>
                    <a:cubicBezTo>
                      <a:pt x="41" y="75"/>
                      <a:pt x="22" y="170"/>
                      <a:pt x="0" y="256"/>
                    </a:cubicBezTo>
                    <a:cubicBezTo>
                      <a:pt x="4" y="316"/>
                      <a:pt x="3" y="455"/>
                      <a:pt x="25" y="537"/>
                    </a:cubicBezTo>
                    <a:cubicBezTo>
                      <a:pt x="25" y="537"/>
                      <a:pt x="57" y="632"/>
                      <a:pt x="64" y="651"/>
                    </a:cubicBezTo>
                    <a:cubicBezTo>
                      <a:pt x="70" y="668"/>
                      <a:pt x="102" y="690"/>
                      <a:pt x="102" y="690"/>
                    </a:cubicBezTo>
                  </a:path>
                </a:pathLst>
              </a:custGeom>
              <a:noFill/>
              <a:ln w="9525" cap="flat" cmpd="sng">
                <a:solidFill>
                  <a:schemeClr val="tx1"/>
                </a:solidFill>
                <a:prstDash val="solid"/>
                <a:round/>
                <a:headEnd type="none" w="med" len="med"/>
                <a:tailEnd type="non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6" name="Freeform 28"/>
              <p:cNvSpPr>
                <a:spLocks/>
              </p:cNvSpPr>
              <p:nvPr/>
            </p:nvSpPr>
            <p:spPr bwMode="auto">
              <a:xfrm rot="-1118912">
                <a:off x="575" y="1591"/>
                <a:ext cx="150" cy="749"/>
              </a:xfrm>
              <a:custGeom>
                <a:avLst/>
                <a:gdLst/>
                <a:ahLst/>
                <a:cxnLst>
                  <a:cxn ang="0">
                    <a:pos x="12" y="0"/>
                  </a:cxn>
                  <a:cxn ang="0">
                    <a:pos x="64" y="191"/>
                  </a:cxn>
                  <a:cxn ang="0">
                    <a:pos x="76" y="268"/>
                  </a:cxn>
                  <a:cxn ang="0">
                    <a:pos x="102" y="344"/>
                  </a:cxn>
                  <a:cxn ang="0">
                    <a:pos x="38" y="676"/>
                  </a:cxn>
                  <a:cxn ang="0">
                    <a:pos x="0" y="740"/>
                  </a:cxn>
                </a:cxnLst>
                <a:rect l="0" t="0" r="r" b="b"/>
                <a:pathLst>
                  <a:path w="102" h="740">
                    <a:moveTo>
                      <a:pt x="12" y="0"/>
                    </a:moveTo>
                    <a:cubicBezTo>
                      <a:pt x="30" y="61"/>
                      <a:pt x="51" y="129"/>
                      <a:pt x="64" y="191"/>
                    </a:cubicBezTo>
                    <a:cubicBezTo>
                      <a:pt x="69" y="216"/>
                      <a:pt x="70" y="243"/>
                      <a:pt x="76" y="268"/>
                    </a:cubicBezTo>
                    <a:cubicBezTo>
                      <a:pt x="82" y="294"/>
                      <a:pt x="102" y="344"/>
                      <a:pt x="102" y="344"/>
                    </a:cubicBezTo>
                    <a:cubicBezTo>
                      <a:pt x="92" y="474"/>
                      <a:pt x="79" y="557"/>
                      <a:pt x="38" y="676"/>
                    </a:cubicBezTo>
                    <a:cubicBezTo>
                      <a:pt x="30" y="699"/>
                      <a:pt x="11" y="718"/>
                      <a:pt x="0" y="740"/>
                    </a:cubicBezTo>
                  </a:path>
                </a:pathLst>
              </a:custGeom>
              <a:noFill/>
              <a:ln w="9525" cap="flat" cmpd="sng">
                <a:solidFill>
                  <a:schemeClr val="tx1"/>
                </a:solidFill>
                <a:prstDash val="dash"/>
                <a:round/>
                <a:headEnd type="none" w="med" len="med"/>
                <a:tailEnd type="non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7" name="Line 29"/>
              <p:cNvSpPr>
                <a:spLocks noChangeShapeType="1"/>
              </p:cNvSpPr>
              <p:nvPr/>
            </p:nvSpPr>
            <p:spPr bwMode="auto">
              <a:xfrm flipV="1">
                <a:off x="1488" y="1392"/>
                <a:ext cx="672" cy="24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8" name="Line 30"/>
              <p:cNvSpPr>
                <a:spLocks noChangeShapeType="1"/>
              </p:cNvSpPr>
              <p:nvPr/>
            </p:nvSpPr>
            <p:spPr bwMode="auto">
              <a:xfrm>
                <a:off x="2160" y="1392"/>
                <a:ext cx="768" cy="288"/>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79" name="Line 31"/>
              <p:cNvSpPr>
                <a:spLocks noChangeShapeType="1"/>
              </p:cNvSpPr>
              <p:nvPr/>
            </p:nvSpPr>
            <p:spPr bwMode="auto">
              <a:xfrm flipV="1">
                <a:off x="2928" y="1440"/>
                <a:ext cx="1296" cy="24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80" name="Oval 32" descr="50%"/>
              <p:cNvSpPr>
                <a:spLocks noChangeArrowheads="1"/>
              </p:cNvSpPr>
              <p:nvPr/>
            </p:nvSpPr>
            <p:spPr bwMode="auto">
              <a:xfrm>
                <a:off x="2784" y="1536"/>
                <a:ext cx="288" cy="288"/>
              </a:xfrm>
              <a:prstGeom prst="ellipse">
                <a:avLst/>
              </a:prstGeom>
              <a:noFill/>
              <a:ln w="9525">
                <a:solidFill>
                  <a:schemeClr val="tx1"/>
                </a:solidFill>
                <a:prstDash val="dash"/>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81" name="Oval 33" descr="50%"/>
              <p:cNvSpPr>
                <a:spLocks noChangeArrowheads="1"/>
              </p:cNvSpPr>
              <p:nvPr/>
            </p:nvSpPr>
            <p:spPr bwMode="auto">
              <a:xfrm>
                <a:off x="2064" y="1056"/>
                <a:ext cx="288" cy="288"/>
              </a:xfrm>
              <a:prstGeom prst="ellipse">
                <a:avLst/>
              </a:prstGeom>
              <a:noFill/>
              <a:ln w="9525">
                <a:solidFill>
                  <a:schemeClr val="tx1"/>
                </a:solidFill>
                <a:prstDash val="dash"/>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82" name="Oval 34" descr="50%"/>
              <p:cNvSpPr>
                <a:spLocks noChangeArrowheads="1"/>
              </p:cNvSpPr>
              <p:nvPr/>
            </p:nvSpPr>
            <p:spPr bwMode="auto">
              <a:xfrm>
                <a:off x="3744" y="1296"/>
                <a:ext cx="288" cy="288"/>
              </a:xfrm>
              <a:prstGeom prst="ellipse">
                <a:avLst/>
              </a:prstGeom>
              <a:noFill/>
              <a:ln w="9525">
                <a:solidFill>
                  <a:schemeClr val="tx1"/>
                </a:solidFill>
                <a:prstDash val="dash"/>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83" name="Line 35"/>
              <p:cNvSpPr>
                <a:spLocks noChangeShapeType="1"/>
              </p:cNvSpPr>
              <p:nvPr/>
            </p:nvSpPr>
            <p:spPr bwMode="auto">
              <a:xfrm flipV="1">
                <a:off x="1200" y="1632"/>
                <a:ext cx="288" cy="96"/>
              </a:xfrm>
              <a:prstGeom prst="line">
                <a:avLst/>
              </a:prstGeom>
              <a:noFill/>
              <a:ln w="9525">
                <a:solidFill>
                  <a:schemeClr val="tx1"/>
                </a:solidFill>
                <a:round/>
                <a:headEn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84" name="Line 36"/>
              <p:cNvSpPr>
                <a:spLocks noChangeShapeType="1"/>
              </p:cNvSpPr>
              <p:nvPr/>
            </p:nvSpPr>
            <p:spPr bwMode="auto">
              <a:xfrm flipV="1">
                <a:off x="720" y="1872"/>
                <a:ext cx="240" cy="96"/>
              </a:xfrm>
              <a:prstGeom prst="line">
                <a:avLst/>
              </a:prstGeom>
              <a:noFill/>
              <a:ln w="9525">
                <a:solidFill>
                  <a:schemeClr val="tx1"/>
                </a:solidFill>
                <a:round/>
                <a:headEn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4309" name="Text Box 37"/>
              <p:cNvSpPr txBox="1">
                <a:spLocks noChangeArrowheads="1"/>
              </p:cNvSpPr>
              <p:nvPr/>
            </p:nvSpPr>
            <p:spPr bwMode="auto">
              <a:xfrm>
                <a:off x="833" y="192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cs typeface="Arial" panose="020B0604020202020204" pitchFamily="34" charset="0"/>
                  </a:rPr>
                  <a:t>A</a:t>
                </a:r>
              </a:p>
            </p:txBody>
          </p:sp>
          <p:sp>
            <p:nvSpPr>
              <p:cNvPr id="53286" name="Line 38"/>
              <p:cNvSpPr>
                <a:spLocks noChangeShapeType="1"/>
              </p:cNvSpPr>
              <p:nvPr/>
            </p:nvSpPr>
            <p:spPr bwMode="auto">
              <a:xfrm flipV="1">
                <a:off x="624" y="2256"/>
                <a:ext cx="0" cy="384"/>
              </a:xfrm>
              <a:prstGeom prst="line">
                <a:avLst/>
              </a:prstGeom>
              <a:noFill/>
              <a:ln w="9525">
                <a:solidFill>
                  <a:schemeClr val="tx1"/>
                </a:solidFill>
                <a:round/>
                <a:headEn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4311" name="Text Box 39"/>
              <p:cNvSpPr txBox="1">
                <a:spLocks noChangeArrowheads="1"/>
              </p:cNvSpPr>
              <p:nvPr/>
            </p:nvSpPr>
            <p:spPr bwMode="auto">
              <a:xfrm>
                <a:off x="604" y="2544"/>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sym typeface="Symbol" panose="05050102010706020507" pitchFamily="18" charset="2"/>
                  </a:rPr>
                  <a:t></a:t>
                </a:r>
                <a:endParaRPr lang="en-US" altLang="zh-CN" sz="2400" b="1">
                  <a:cs typeface="Arial" panose="020B0604020202020204" pitchFamily="34" charset="0"/>
                </a:endParaRPr>
              </a:p>
            </p:txBody>
          </p:sp>
          <p:sp>
            <p:nvSpPr>
              <p:cNvPr id="53288" name="Line 40"/>
              <p:cNvSpPr>
                <a:spLocks noChangeShapeType="1"/>
              </p:cNvSpPr>
              <p:nvPr/>
            </p:nvSpPr>
            <p:spPr bwMode="auto">
              <a:xfrm>
                <a:off x="1536" y="1920"/>
                <a:ext cx="0" cy="432"/>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89" name="Line 41"/>
              <p:cNvSpPr>
                <a:spLocks noChangeShapeType="1"/>
              </p:cNvSpPr>
              <p:nvPr/>
            </p:nvSpPr>
            <p:spPr bwMode="auto">
              <a:xfrm>
                <a:off x="1824" y="1872"/>
                <a:ext cx="0" cy="432"/>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4314" name="Text Box 42"/>
              <p:cNvSpPr txBox="1">
                <a:spLocks noChangeArrowheads="1"/>
              </p:cNvSpPr>
              <p:nvPr/>
            </p:nvSpPr>
            <p:spPr bwMode="auto">
              <a:xfrm>
                <a:off x="1558" y="216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rPr>
                  <a:t>d</a:t>
                </a:r>
              </a:p>
            </p:txBody>
          </p:sp>
          <p:sp>
            <p:nvSpPr>
              <p:cNvPr id="53291" name="Line 43"/>
              <p:cNvSpPr>
                <a:spLocks noChangeShapeType="1"/>
              </p:cNvSpPr>
              <p:nvPr/>
            </p:nvSpPr>
            <p:spPr bwMode="auto">
              <a:xfrm>
                <a:off x="1536" y="2160"/>
                <a:ext cx="288" cy="0"/>
              </a:xfrm>
              <a:prstGeom prst="line">
                <a:avLst/>
              </a:prstGeom>
              <a:noFill/>
              <a:ln w="9525">
                <a:solidFill>
                  <a:schemeClr val="tx1"/>
                </a:solidFill>
                <a:round/>
                <a:headEnd type="triangle" w="med" len="me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92" name="Line 44"/>
              <p:cNvSpPr>
                <a:spLocks noChangeShapeType="1"/>
              </p:cNvSpPr>
              <p:nvPr/>
            </p:nvSpPr>
            <p:spPr bwMode="auto">
              <a:xfrm>
                <a:off x="1632" y="1248"/>
                <a:ext cx="144" cy="288"/>
              </a:xfrm>
              <a:prstGeom prst="line">
                <a:avLst/>
              </a:prstGeom>
              <a:noFill/>
              <a:ln w="9525">
                <a:solidFill>
                  <a:schemeClr val="tx1"/>
                </a:solidFill>
                <a:round/>
                <a:headEnd type="triangle" w="med" len="me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93" name="Line 45"/>
              <p:cNvSpPr>
                <a:spLocks noChangeShapeType="1"/>
              </p:cNvSpPr>
              <p:nvPr/>
            </p:nvSpPr>
            <p:spPr bwMode="auto">
              <a:xfrm>
                <a:off x="1776" y="1536"/>
                <a:ext cx="96" cy="288"/>
              </a:xfrm>
              <a:prstGeom prst="line">
                <a:avLst/>
              </a:prstGeom>
              <a:noFill/>
              <a:ln w="9525">
                <a:solidFill>
                  <a:schemeClr val="tx1"/>
                </a:solidFill>
                <a:round/>
                <a:headEnd type="triangle" w="med" len="med"/>
                <a:tailEnd type="triangle" w="med" len="me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4318" name="Text Box 46"/>
              <p:cNvSpPr txBox="1">
                <a:spLocks noChangeArrowheads="1"/>
              </p:cNvSpPr>
              <p:nvPr/>
            </p:nvSpPr>
            <p:spPr bwMode="auto">
              <a:xfrm>
                <a:off x="1872" y="14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rPr>
                  <a:t>d</a:t>
                </a:r>
              </a:p>
            </p:txBody>
          </p:sp>
          <p:sp>
            <p:nvSpPr>
              <p:cNvPr id="54319" name="Text Box 47"/>
              <p:cNvSpPr txBox="1">
                <a:spLocks noChangeArrowheads="1"/>
              </p:cNvSpPr>
              <p:nvPr/>
            </p:nvSpPr>
            <p:spPr bwMode="auto">
              <a:xfrm>
                <a:off x="1776" y="120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rPr>
                  <a:t>d</a:t>
                </a:r>
              </a:p>
            </p:txBody>
          </p:sp>
          <p:sp>
            <p:nvSpPr>
              <p:cNvPr id="53296" name="Oval 48"/>
              <p:cNvSpPr>
                <a:spLocks noChangeArrowheads="1"/>
              </p:cNvSpPr>
              <p:nvPr/>
            </p:nvSpPr>
            <p:spPr bwMode="auto">
              <a:xfrm>
                <a:off x="2064" y="864"/>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297" name="Oval 49"/>
              <p:cNvSpPr>
                <a:spLocks noChangeArrowheads="1"/>
              </p:cNvSpPr>
              <p:nvPr/>
            </p:nvSpPr>
            <p:spPr bwMode="auto">
              <a:xfrm>
                <a:off x="2784" y="1776"/>
                <a:ext cx="288" cy="288"/>
              </a:xfrm>
              <a:prstGeom prst="ellipse">
                <a:avLst/>
              </a:prstGeom>
              <a:solidFill>
                <a:srgbClr val="009999"/>
              </a:solidFill>
              <a:ln w="9525">
                <a:no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sp>
          <p:nvSpPr>
            <p:cNvPr id="54280" name="Text Box 50"/>
            <p:cNvSpPr txBox="1">
              <a:spLocks noChangeArrowheads="1"/>
            </p:cNvSpPr>
            <p:nvPr/>
          </p:nvSpPr>
          <p:spPr bwMode="auto">
            <a:xfrm>
              <a:off x="1233" y="139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rPr>
                <a:t>u</a:t>
              </a:r>
            </a:p>
          </p:txBody>
        </p:sp>
        <p:sp>
          <p:nvSpPr>
            <p:cNvPr id="54281" name="Text Box 51"/>
            <p:cNvSpPr txBox="1">
              <a:spLocks noChangeArrowheads="1"/>
            </p:cNvSpPr>
            <p:nvPr/>
          </p:nvSpPr>
          <p:spPr bwMode="auto">
            <a:xfrm>
              <a:off x="720" y="1632"/>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i="1">
                  <a:cs typeface="Arial" panose="020B0604020202020204" pitchFamily="34" charset="0"/>
                </a:rPr>
                <a:t>u</a:t>
              </a:r>
            </a:p>
          </p:txBody>
        </p:sp>
        <p:sp>
          <p:nvSpPr>
            <p:cNvPr id="53300" name="Line 52"/>
            <p:cNvSpPr>
              <a:spLocks noChangeShapeType="1"/>
            </p:cNvSpPr>
            <p:nvPr/>
          </p:nvSpPr>
          <p:spPr bwMode="auto">
            <a:xfrm>
              <a:off x="768" y="1680"/>
              <a:ext cx="144"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3301" name="Line 53"/>
            <p:cNvSpPr>
              <a:spLocks noChangeShapeType="1"/>
            </p:cNvSpPr>
            <p:nvPr/>
          </p:nvSpPr>
          <p:spPr bwMode="auto">
            <a:xfrm>
              <a:off x="1296" y="1440"/>
              <a:ext cx="192"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3256"/>
                                        </p:tgtEl>
                                        <p:attrNameLst>
                                          <p:attrName>style.visibility</p:attrName>
                                        </p:attrNameLst>
                                      </p:cBhvr>
                                      <p:to>
                                        <p:strVal val="visible"/>
                                      </p:to>
                                    </p:set>
                                    <p:anim calcmode="lin" valueType="num">
                                      <p:cBhvr additive="base">
                                        <p:cTn id="18" dur="500" fill="hold"/>
                                        <p:tgtEl>
                                          <p:spTgt spid="53256"/>
                                        </p:tgtEl>
                                        <p:attrNameLst>
                                          <p:attrName>ppt_x</p:attrName>
                                        </p:attrNameLst>
                                      </p:cBhvr>
                                      <p:tavLst>
                                        <p:tav tm="0">
                                          <p:val>
                                            <p:strVal val="0-#ppt_w/2"/>
                                          </p:val>
                                        </p:tav>
                                        <p:tav tm="100000">
                                          <p:val>
                                            <p:strVal val="#ppt_x"/>
                                          </p:val>
                                        </p:tav>
                                      </p:tavLst>
                                    </p:anim>
                                    <p:anim calcmode="lin" valueType="num">
                                      <p:cBhvr additive="base">
                                        <p:cTn id="19" dur="500" fill="hold"/>
                                        <p:tgtEl>
                                          <p:spTgt spid="53256"/>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53257"/>
                                        </p:tgtEl>
                                        <p:attrNameLst>
                                          <p:attrName>style.visibility</p:attrName>
                                        </p:attrNameLst>
                                      </p:cBhvr>
                                      <p:to>
                                        <p:strVal val="visible"/>
                                      </p:to>
                                    </p:set>
                                    <p:anim calcmode="lin" valueType="num">
                                      <p:cBhvr additive="base">
                                        <p:cTn id="24" dur="500" fill="hold"/>
                                        <p:tgtEl>
                                          <p:spTgt spid="53257"/>
                                        </p:tgtEl>
                                        <p:attrNameLst>
                                          <p:attrName>ppt_x</p:attrName>
                                        </p:attrNameLst>
                                      </p:cBhvr>
                                      <p:tavLst>
                                        <p:tav tm="0">
                                          <p:val>
                                            <p:strVal val="#ppt_x"/>
                                          </p:val>
                                        </p:tav>
                                        <p:tav tm="100000">
                                          <p:val>
                                            <p:strVal val="#ppt_x"/>
                                          </p:val>
                                        </p:tav>
                                      </p:tavLst>
                                    </p:anim>
                                    <p:anim calcmode="lin" valueType="num">
                                      <p:cBhvr additive="base">
                                        <p:cTn id="25" dur="500" fill="hold"/>
                                        <p:tgtEl>
                                          <p:spTgt spid="532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6" grpId="0" autoUpdateAnimBg="0"/>
      <p:bldP spid="53257"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298" name="Group 2"/>
          <p:cNvGrpSpPr>
            <a:grpSpLocks/>
          </p:cNvGrpSpPr>
          <p:nvPr/>
        </p:nvGrpSpPr>
        <p:grpSpPr bwMode="auto">
          <a:xfrm>
            <a:off x="141288" y="73025"/>
            <a:ext cx="4305300" cy="830263"/>
            <a:chOff x="470" y="218"/>
            <a:chExt cx="3966" cy="523"/>
          </a:xfrm>
        </p:grpSpPr>
        <p:sp>
          <p:nvSpPr>
            <p:cNvPr id="55313" name="Text Box 3"/>
            <p:cNvSpPr txBox="1">
              <a:spLocks noChangeArrowheads="1"/>
            </p:cNvSpPr>
            <p:nvPr/>
          </p:nvSpPr>
          <p:spPr bwMode="auto">
            <a:xfrm>
              <a:off x="470" y="218"/>
              <a:ext cx="396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单位时间内分子 </a:t>
              </a:r>
              <a:r>
                <a:rPr lang="en-US" altLang="zh-CN" sz="2400" b="1">
                  <a:cs typeface="Arial" panose="020B0604020202020204" pitchFamily="34" charset="0"/>
                </a:rPr>
                <a:t>A </a:t>
              </a:r>
              <a:r>
                <a:rPr lang="zh-CN" altLang="en-US" sz="2400" b="1">
                  <a:cs typeface="Arial" panose="020B0604020202020204" pitchFamily="34" charset="0"/>
                </a:rPr>
                <a:t>走 </a:t>
              </a:r>
              <a:r>
                <a:rPr lang="en-US" altLang="zh-CN" sz="2400" b="1" i="1">
                  <a:cs typeface="Arial" panose="020B0604020202020204" pitchFamily="34" charset="0"/>
                </a:rPr>
                <a:t>u </a:t>
              </a:r>
              <a:r>
                <a:rPr lang="en-US" altLang="zh-CN" sz="2400" b="1" i="1">
                  <a:solidFill>
                    <a:srgbClr val="FF0000"/>
                  </a:solidFill>
                  <a:cs typeface="Arial" panose="020B0604020202020204" pitchFamily="34" charset="0"/>
                </a:rPr>
                <a:t> </a:t>
              </a:r>
              <a:r>
                <a:rPr lang="zh-CN" altLang="en-US" sz="2400" b="1">
                  <a:cs typeface="Arial" panose="020B0604020202020204" pitchFamily="34" charset="0"/>
                </a:rPr>
                <a:t>，</a:t>
              </a:r>
              <a:endParaRPr lang="en-US" altLang="zh-CN" sz="2400" b="1">
                <a:cs typeface="Arial" panose="020B0604020202020204" pitchFamily="34" charset="0"/>
              </a:endParaRPr>
            </a:p>
            <a:p>
              <a:pPr eaLnBrk="1" hangingPunct="1">
                <a:spcBef>
                  <a:spcPct val="0"/>
                </a:spcBef>
                <a:buClrTx/>
                <a:buFontTx/>
                <a:buNone/>
              </a:pPr>
              <a:r>
                <a:rPr lang="zh-CN" altLang="en-US" sz="2400" b="1">
                  <a:cs typeface="Arial" panose="020B0604020202020204" pitchFamily="34" charset="0"/>
                </a:rPr>
                <a:t>相应的圆柱体体积为 </a:t>
              </a:r>
              <a:r>
                <a:rPr lang="en-US" altLang="zh-CN" sz="2400" b="1" i="1">
                  <a:cs typeface="Arial" panose="020B0604020202020204" pitchFamily="34" charset="0"/>
                </a:rPr>
                <a:t>u </a:t>
              </a:r>
              <a:r>
                <a:rPr lang="en-US" altLang="zh-CN" sz="2400" b="1" i="1" baseline="-25000">
                  <a:cs typeface="Arial" panose="020B0604020202020204" pitchFamily="34" charset="0"/>
                </a:rPr>
                <a:t> </a:t>
              </a:r>
              <a:r>
                <a:rPr lang="en-US" altLang="zh-CN" sz="2400" b="1" i="1">
                  <a:cs typeface="Arial" panose="020B0604020202020204" pitchFamily="34" charset="0"/>
                  <a:sym typeface="Symbol" panose="05050102010706020507" pitchFamily="18" charset="2"/>
                </a:rPr>
                <a:t></a:t>
              </a:r>
              <a:r>
                <a:rPr lang="en-US" altLang="zh-CN" sz="2400" b="1">
                  <a:cs typeface="Arial" panose="020B0604020202020204" pitchFamily="34" charset="0"/>
                  <a:sym typeface="Symbol" panose="05050102010706020507" pitchFamily="18" charset="2"/>
                </a:rPr>
                <a:t> </a:t>
              </a:r>
              <a:r>
                <a:rPr lang="zh-CN" altLang="en-US" sz="2400" b="1">
                  <a:cs typeface="Arial" panose="020B0604020202020204" pitchFamily="34" charset="0"/>
                  <a:sym typeface="Symbol" panose="05050102010706020507" pitchFamily="18" charset="2"/>
                </a:rPr>
                <a:t>， 则</a:t>
              </a:r>
            </a:p>
          </p:txBody>
        </p:sp>
        <p:sp>
          <p:nvSpPr>
            <p:cNvPr id="54277" name="Line 5"/>
            <p:cNvSpPr>
              <a:spLocks noChangeShapeType="1"/>
            </p:cNvSpPr>
            <p:nvPr/>
          </p:nvSpPr>
          <p:spPr bwMode="auto">
            <a:xfrm>
              <a:off x="3227" y="291"/>
              <a:ext cx="145"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grpSp>
        <p:nvGrpSpPr>
          <p:cNvPr id="3" name="Group 6"/>
          <p:cNvGrpSpPr>
            <a:grpSpLocks/>
          </p:cNvGrpSpPr>
          <p:nvPr/>
        </p:nvGrpSpPr>
        <p:grpSpPr bwMode="auto">
          <a:xfrm>
            <a:off x="1282700" y="1446213"/>
            <a:ext cx="1384300" cy="461962"/>
            <a:chOff x="808" y="911"/>
            <a:chExt cx="872" cy="291"/>
          </a:xfrm>
        </p:grpSpPr>
        <p:sp>
          <p:nvSpPr>
            <p:cNvPr id="55310" name="Text Box 7"/>
            <p:cNvSpPr txBox="1">
              <a:spLocks noChangeArrowheads="1"/>
            </p:cNvSpPr>
            <p:nvPr/>
          </p:nvSpPr>
          <p:spPr bwMode="auto">
            <a:xfrm>
              <a:off x="808" y="911"/>
              <a:ext cx="87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1" i="1">
                  <a:cs typeface="Arial" panose="020B0604020202020204" pitchFamily="34" charset="0"/>
                </a:rPr>
                <a:t>Z = n u </a:t>
              </a:r>
              <a:r>
                <a:rPr lang="en-US" altLang="zh-CN" sz="2400" b="1" i="1">
                  <a:cs typeface="Arial" panose="020B0604020202020204" pitchFamily="34" charset="0"/>
                  <a:sym typeface="Symbol" panose="05050102010706020507" pitchFamily="18" charset="2"/>
                </a:rPr>
                <a:t></a:t>
              </a:r>
            </a:p>
          </p:txBody>
        </p:sp>
        <p:sp>
          <p:nvSpPr>
            <p:cNvPr id="54280" name="Line 8"/>
            <p:cNvSpPr>
              <a:spLocks noChangeShapeType="1"/>
            </p:cNvSpPr>
            <p:nvPr/>
          </p:nvSpPr>
          <p:spPr bwMode="auto">
            <a:xfrm>
              <a:off x="1344" y="960"/>
              <a:ext cx="144"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54281" name="Line 9"/>
            <p:cNvSpPr>
              <a:spLocks noChangeShapeType="1"/>
            </p:cNvSpPr>
            <p:nvPr/>
          </p:nvSpPr>
          <p:spPr bwMode="auto">
            <a:xfrm>
              <a:off x="864" y="912"/>
              <a:ext cx="144"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grpSp>
        <p:nvGrpSpPr>
          <p:cNvPr id="5" name="Group 20"/>
          <p:cNvGrpSpPr>
            <a:grpSpLocks/>
          </p:cNvGrpSpPr>
          <p:nvPr/>
        </p:nvGrpSpPr>
        <p:grpSpPr bwMode="auto">
          <a:xfrm>
            <a:off x="1555750" y="4514850"/>
            <a:ext cx="2120900" cy="457200"/>
            <a:chOff x="980" y="2278"/>
            <a:chExt cx="1336" cy="288"/>
          </a:xfrm>
        </p:grpSpPr>
        <p:sp>
          <p:nvSpPr>
            <p:cNvPr id="55308" name="Text Box 21"/>
            <p:cNvSpPr txBox="1">
              <a:spLocks noChangeArrowheads="1"/>
            </p:cNvSpPr>
            <p:nvPr/>
          </p:nvSpPr>
          <p:spPr bwMode="auto">
            <a:xfrm>
              <a:off x="980" y="2278"/>
              <a:ext cx="1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solidFill>
                    <a:schemeClr val="accent2"/>
                  </a:solidFill>
                  <a:cs typeface="Arial" panose="020B0604020202020204" pitchFamily="34" charset="0"/>
                </a:rPr>
                <a:t>平均自由程   </a:t>
              </a:r>
              <a:r>
                <a:rPr lang="zh-CN" altLang="en-US" sz="2400" b="1" i="1">
                  <a:solidFill>
                    <a:schemeClr val="accent2"/>
                  </a:solidFill>
                  <a:cs typeface="Arial" panose="020B0604020202020204" pitchFamily="34" charset="0"/>
                  <a:sym typeface="Symbol" panose="05050102010706020507" pitchFamily="18" charset="2"/>
                </a:rPr>
                <a:t></a:t>
              </a:r>
              <a:endParaRPr lang="zh-CN" altLang="en-US" sz="2400" b="1">
                <a:solidFill>
                  <a:schemeClr val="accent2"/>
                </a:solidFill>
                <a:cs typeface="Arial" panose="020B0604020202020204" pitchFamily="34" charset="0"/>
                <a:sym typeface="Symbol" panose="05050102010706020507" pitchFamily="18" charset="2"/>
              </a:endParaRPr>
            </a:p>
          </p:txBody>
        </p:sp>
        <p:sp>
          <p:nvSpPr>
            <p:cNvPr id="54294" name="Line 22"/>
            <p:cNvSpPr>
              <a:spLocks noChangeShapeType="1"/>
            </p:cNvSpPr>
            <p:nvPr/>
          </p:nvSpPr>
          <p:spPr bwMode="auto">
            <a:xfrm>
              <a:off x="2112" y="2278"/>
              <a:ext cx="144" cy="0"/>
            </a:xfrm>
            <a:prstGeom prst="line">
              <a:avLst/>
            </a:prstGeom>
            <a:noFill/>
            <a:ln w="9525">
              <a:solidFill>
                <a:schemeClr val="accent2"/>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grpSp>
      <p:pic>
        <p:nvPicPr>
          <p:cNvPr id="55301"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7050" y="-39688"/>
            <a:ext cx="3448050" cy="1885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 name="Line 5"/>
          <p:cNvSpPr>
            <a:spLocks noChangeShapeType="1"/>
          </p:cNvSpPr>
          <p:nvPr/>
        </p:nvSpPr>
        <p:spPr bwMode="auto">
          <a:xfrm>
            <a:off x="3119438" y="549275"/>
            <a:ext cx="157162" cy="0"/>
          </a:xfrm>
          <a:prstGeom prst="line">
            <a:avLst/>
          </a:prstGeom>
          <a:noFill/>
          <a:ln w="9525">
            <a:solidFill>
              <a:schemeClr val="tx1"/>
            </a:solidFill>
            <a:round/>
            <a:headEnd/>
            <a:tailEnd/>
          </a:ln>
          <a:effectLst/>
        </p:spPr>
        <p:txBody>
          <a:bodyPr wrap="none" anchor="ctr"/>
          <a:lstStyle/>
          <a:p>
            <a:pPr eaLnBrk="1" hangingPunct="1">
              <a:defRPr/>
            </a:pPr>
            <a:endParaRPr lang="en-US">
              <a:effectLst>
                <a:outerShdw blurRad="38100" dist="38100" dir="2700000" algn="tl">
                  <a:srgbClr val="000000">
                    <a:alpha val="43137"/>
                  </a:srgbClr>
                </a:outerShdw>
              </a:effectLst>
            </a:endParaRPr>
          </a:p>
        </p:txBody>
      </p:sp>
      <p:sp>
        <p:nvSpPr>
          <p:cNvPr id="45" name="Text Box 46"/>
          <p:cNvSpPr txBox="1">
            <a:spLocks noChangeArrowheads="1"/>
          </p:cNvSpPr>
          <p:nvPr/>
        </p:nvSpPr>
        <p:spPr bwMode="auto">
          <a:xfrm>
            <a:off x="617538" y="2241550"/>
            <a:ext cx="46085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a:cs typeface="Arial" panose="020B0604020202020204" pitchFamily="34" charset="0"/>
              </a:rPr>
              <a:t>平均相对速率和平均速率的关系</a:t>
            </a:r>
          </a:p>
        </p:txBody>
      </p:sp>
      <p:graphicFrame>
        <p:nvGraphicFramePr>
          <p:cNvPr id="46" name="Object 40"/>
          <p:cNvGraphicFramePr>
            <a:graphicFrameLocks noChangeAspect="1"/>
          </p:cNvGraphicFramePr>
          <p:nvPr/>
        </p:nvGraphicFramePr>
        <p:xfrm>
          <a:off x="2505075" y="2897188"/>
          <a:ext cx="1543050" cy="511175"/>
        </p:xfrm>
        <a:graphic>
          <a:graphicData uri="http://schemas.openxmlformats.org/presentationml/2006/ole">
            <mc:AlternateContent xmlns:mc="http://schemas.openxmlformats.org/markup-compatibility/2006">
              <mc:Choice xmlns:v="urn:schemas-microsoft-com:vml" Requires="v">
                <p:oleObj spid="_x0000_s55514" name="Equation" r:id="rId4" imgW="609425" imgH="180778" progId="Equation.DSMT4">
                  <p:embed/>
                </p:oleObj>
              </mc:Choice>
              <mc:Fallback>
                <p:oleObj name="Equation" r:id="rId4" imgW="609425" imgH="180778" progId="Equation.DSMT4">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5075" y="2897188"/>
                        <a:ext cx="1543050" cy="5111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110413" y="2400300"/>
            <a:ext cx="14763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 name="Object 40"/>
          <p:cNvGraphicFramePr>
            <a:graphicFrameLocks noChangeAspect="1"/>
          </p:cNvGraphicFramePr>
          <p:nvPr/>
        </p:nvGraphicFramePr>
        <p:xfrm>
          <a:off x="1954213" y="3667125"/>
          <a:ext cx="2330450" cy="511175"/>
        </p:xfrm>
        <a:graphic>
          <a:graphicData uri="http://schemas.openxmlformats.org/presentationml/2006/ole">
            <mc:AlternateContent xmlns:mc="http://schemas.openxmlformats.org/markup-compatibility/2006">
              <mc:Choice xmlns:v="urn:schemas-microsoft-com:vml" Requires="v">
                <p:oleObj spid="_x0000_s55515" name="Equation" r:id="rId7" imgW="943099" imgH="180778" progId="Equation.DSMT4">
                  <p:embed/>
                </p:oleObj>
              </mc:Choice>
              <mc:Fallback>
                <p:oleObj name="Equation" r:id="rId7" imgW="943099" imgH="180778" progId="Equation.DSMT4">
                  <p:embed/>
                  <p:pic>
                    <p:nvPicPr>
                      <p:cNvPr id="0" name="Object 4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4213" y="3667125"/>
                        <a:ext cx="2330450" cy="5111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 name="Object 40"/>
          <p:cNvGraphicFramePr>
            <a:graphicFrameLocks noChangeAspect="1"/>
          </p:cNvGraphicFramePr>
          <p:nvPr>
            <p:extLst>
              <p:ext uri="{D42A27DB-BD31-4B8C-83A1-F6EECF244321}">
                <p14:modId xmlns:p14="http://schemas.microsoft.com/office/powerpoint/2010/main" val="2220762834"/>
              </p:ext>
            </p:extLst>
          </p:nvPr>
        </p:nvGraphicFramePr>
        <p:xfrm>
          <a:off x="3923928" y="4581559"/>
          <a:ext cx="4389438" cy="1022350"/>
        </p:xfrm>
        <a:graphic>
          <a:graphicData uri="http://schemas.openxmlformats.org/presentationml/2006/ole">
            <mc:AlternateContent xmlns:mc="http://schemas.openxmlformats.org/markup-compatibility/2006">
              <mc:Choice xmlns:v="urn:schemas-microsoft-com:vml" Requires="v">
                <p:oleObj spid="_x0000_s55516" name="Equation" r:id="rId9" imgW="1800156" imgH="390564" progId="Equation.DSMT4">
                  <p:embed/>
                </p:oleObj>
              </mc:Choice>
              <mc:Fallback>
                <p:oleObj name="Equation" r:id="rId9" imgW="1800156" imgH="390564" progId="Equation.DSMT4">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3928" y="4581559"/>
                        <a:ext cx="4389438" cy="10223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9">
            <a:extLst>
              <a:ext uri="{FF2B5EF4-FFF2-40B4-BE49-F238E27FC236}">
                <a16:creationId xmlns:a16="http://schemas.microsoft.com/office/drawing/2014/main" id="{BAE318DD-3615-40E4-A374-59E7ED018DD7}"/>
              </a:ext>
            </a:extLst>
          </p:cNvPr>
          <p:cNvGraphicFramePr/>
          <p:nvPr>
            <p:extLst>
              <p:ext uri="{D42A27DB-BD31-4B8C-83A1-F6EECF244321}">
                <p14:modId xmlns:p14="http://schemas.microsoft.com/office/powerpoint/2010/main" val="2596352714"/>
              </p:ext>
            </p:extLst>
          </p:nvPr>
        </p:nvGraphicFramePr>
        <p:xfrm>
          <a:off x="5417602" y="6143156"/>
          <a:ext cx="1576387" cy="576263"/>
        </p:xfrm>
        <a:graphic>
          <a:graphicData uri="http://schemas.openxmlformats.org/presentationml/2006/ole">
            <mc:AlternateContent xmlns:mc="http://schemas.openxmlformats.org/markup-compatibility/2006">
              <mc:Choice xmlns:v="urn:schemas-microsoft-com:vml" Requires="v">
                <p:oleObj spid="_x0000_s55517" name="Equation" r:id="rId11" imgW="14630400" imgH="4876800" progId="Equation.DSMT4">
                  <p:embed/>
                </p:oleObj>
              </mc:Choice>
              <mc:Fallback>
                <p:oleObj name="Equation" r:id="rId11" imgW="14630400" imgH="4876800" progId="Equation.DSMT4">
                  <p:embed/>
                  <p:pic>
                    <p:nvPicPr>
                      <p:cNvPr id="63497" name="Object 9"/>
                      <p:cNvPicPr>
                        <a:picLocks noChangeArrowheads="1"/>
                      </p:cNvPicPr>
                      <p:nvPr/>
                    </p:nvPicPr>
                    <p:blipFill>
                      <a:blip r:embed="rId12"/>
                      <a:srcRect/>
                      <a:stretch>
                        <a:fillRect/>
                      </a:stretch>
                    </p:blipFill>
                    <p:spPr bwMode="auto">
                      <a:xfrm>
                        <a:off x="5417602" y="6143156"/>
                        <a:ext cx="1576387" cy="576263"/>
                      </a:xfrm>
                      <a:prstGeom prst="rect">
                        <a:avLst/>
                      </a:prstGeom>
                      <a:solidFill>
                        <a:schemeClr val="accent2"/>
                      </a:solidFill>
                      <a:ln>
                        <a:noFill/>
                      </a:ln>
                      <a:effectLst/>
                      <a:extLst/>
                    </p:spPr>
                  </p:pic>
                </p:oleObj>
              </mc:Fallback>
            </mc:AlternateContent>
          </a:graphicData>
        </a:graphic>
      </p:graphicFrame>
      <p:sp>
        <p:nvSpPr>
          <p:cNvPr id="4" name="箭头: 下 3">
            <a:extLst>
              <a:ext uri="{FF2B5EF4-FFF2-40B4-BE49-F238E27FC236}">
                <a16:creationId xmlns:a16="http://schemas.microsoft.com/office/drawing/2014/main" id="{D05984D3-CF80-4521-944D-2C859B17DB3B}"/>
              </a:ext>
            </a:extLst>
          </p:cNvPr>
          <p:cNvSpPr/>
          <p:nvPr/>
        </p:nvSpPr>
        <p:spPr bwMode="auto">
          <a:xfrm flipV="1">
            <a:off x="6205796" y="5654732"/>
            <a:ext cx="189447" cy="498469"/>
          </a:xfrm>
          <a:prstGeom prst="downArrow">
            <a:avLst/>
          </a:prstGeom>
          <a:solidFill>
            <a:schemeClr val="accent1"/>
          </a:solidFill>
          <a:ln w="12700" cap="flat"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0-#ppt_w/2"/>
                                          </p:val>
                                        </p:tav>
                                        <p:tav tm="100000">
                                          <p:val>
                                            <p:strVal val="#ppt_x"/>
                                          </p:val>
                                        </p:tav>
                                      </p:tavLst>
                                    </p:anim>
                                    <p:anim calcmode="lin" valueType="num">
                                      <p:cBhvr additive="base">
                                        <p:cTn id="14"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0-#ppt_w/2"/>
                                          </p:val>
                                        </p:tav>
                                        <p:tav tm="100000">
                                          <p:val>
                                            <p:strVal val="#ppt_x"/>
                                          </p:val>
                                        </p:tav>
                                      </p:tavLst>
                                    </p:anim>
                                    <p:anim calcmode="lin" valueType="num">
                                      <p:cBhvr additive="base">
                                        <p:cTn id="3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utoUpdateAnimBg="0"/>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nvSpPr>
        <p:spPr bwMode="auto">
          <a:xfrm>
            <a:off x="1066800" y="5029200"/>
            <a:ext cx="304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800" b="1">
                <a:cs typeface="Arial" panose="020B0604020202020204" pitchFamily="34" charset="0"/>
                <a:sym typeface="Symbol" panose="05050102010706020507" pitchFamily="18" charset="2"/>
              </a:rPr>
              <a:t>（</a:t>
            </a:r>
            <a:r>
              <a:rPr kumimoji="0" lang="en-US" altLang="zh-CN" sz="2800" b="1">
                <a:cs typeface="Arial" panose="020B0604020202020204" pitchFamily="34" charset="0"/>
                <a:sym typeface="Symbol" panose="05050102010706020507" pitchFamily="18" charset="2"/>
              </a:rPr>
              <a:t>2</a:t>
            </a:r>
            <a:r>
              <a:rPr kumimoji="0" lang="zh-CN" altLang="en-US" sz="2800" b="1">
                <a:cs typeface="Arial" panose="020B0604020202020204" pitchFamily="34" charset="0"/>
                <a:sym typeface="Symbol" panose="05050102010706020507" pitchFamily="18" charset="2"/>
              </a:rPr>
              <a:t>）平均速率：</a:t>
            </a:r>
          </a:p>
        </p:txBody>
      </p:sp>
      <p:sp>
        <p:nvSpPr>
          <p:cNvPr id="70662" name="Rectangle 6"/>
          <p:cNvSpPr>
            <a:spLocks noChangeArrowheads="1"/>
          </p:cNvSpPr>
          <p:nvPr/>
        </p:nvSpPr>
        <p:spPr bwMode="auto">
          <a:xfrm>
            <a:off x="304800" y="228600"/>
            <a:ext cx="8534400" cy="1922463"/>
          </a:xfrm>
          <a:prstGeom prst="rect">
            <a:avLst/>
          </a:prstGeom>
          <a:noFill/>
          <a:ln w="12700">
            <a:noFill/>
            <a:miter lim="800000"/>
            <a:headEnd type="none" w="sm" len="sm"/>
            <a:tailEnd type="none" w="sm" len="sm"/>
          </a:ln>
          <a:effectLst/>
        </p:spPr>
        <p:txBody>
          <a:bodyPr>
            <a:spAutoFit/>
          </a:bodyPr>
          <a:lstStyle/>
          <a:p>
            <a:pPr eaLnBrk="1" hangingPunct="1">
              <a:defRPr/>
            </a:pPr>
            <a:r>
              <a:rPr kumimoji="0" lang="zh-CN" altLang="en-US" sz="3600" dirty="0">
                <a:solidFill>
                  <a:schemeClr val="folHlink"/>
                </a:solidFill>
                <a:effectLst>
                  <a:outerShdw blurRad="38100" dist="38100" dir="2700000" algn="tl">
                    <a:srgbClr val="FFFFFF"/>
                  </a:outerShdw>
                </a:effectLst>
                <a:ea typeface="华文行楷" pitchFamily="2" charset="-122"/>
              </a:rPr>
              <a:t>例题</a:t>
            </a:r>
            <a:r>
              <a:rPr kumimoji="0" lang="en-US" altLang="zh-CN" sz="3600" dirty="0">
                <a:solidFill>
                  <a:schemeClr val="folHlink"/>
                </a:solidFill>
                <a:effectLst>
                  <a:outerShdw blurRad="38100" dist="38100" dir="2700000" algn="tl">
                    <a:srgbClr val="FFFFFF"/>
                  </a:outerShdw>
                </a:effectLst>
                <a:ea typeface="华文行楷" pitchFamily="2" charset="-122"/>
              </a:rPr>
              <a:t> </a:t>
            </a:r>
            <a:r>
              <a:rPr kumimoji="0" lang="zh-CN" altLang="en-US" sz="2800" b="1" dirty="0"/>
              <a:t>在标准状态下，</a:t>
            </a:r>
            <a:r>
              <a:rPr kumimoji="0" lang="en-US" altLang="zh-CN" sz="2800" b="1" dirty="0"/>
              <a:t>1 m</a:t>
            </a:r>
            <a:r>
              <a:rPr kumimoji="0" lang="en-US" altLang="zh-CN" sz="2800" b="1" baseline="30000" dirty="0"/>
              <a:t>3</a:t>
            </a:r>
            <a:r>
              <a:rPr kumimoji="0" lang="en-US" altLang="zh-CN" sz="2800" b="1" dirty="0"/>
              <a:t> </a:t>
            </a:r>
            <a:r>
              <a:rPr kumimoji="0" lang="zh-CN" altLang="en-US" sz="2800" b="1" dirty="0"/>
              <a:t>中有多少个氮气分子？氮气分子的平均速率为多少？平均自由程为多少？平均碰撞次数为多少？设氮分子的平均有效直径 </a:t>
            </a:r>
            <a:r>
              <a:rPr kumimoji="0" lang="en-US" altLang="zh-CN" sz="2800" b="1" dirty="0"/>
              <a:t>d =3.76×10</a:t>
            </a:r>
            <a:r>
              <a:rPr kumimoji="0" lang="en-US" altLang="zh-CN" sz="2800" b="1" baseline="30000" dirty="0"/>
              <a:t>-10</a:t>
            </a:r>
            <a:r>
              <a:rPr kumimoji="0" lang="en-US" altLang="zh-CN" sz="2800" b="1" dirty="0"/>
              <a:t>m.</a:t>
            </a:r>
          </a:p>
        </p:txBody>
      </p:sp>
      <p:graphicFrame>
        <p:nvGraphicFramePr>
          <p:cNvPr id="70665" name="Object 9"/>
          <p:cNvGraphicFramePr>
            <a:graphicFrameLocks noChangeAspect="1"/>
          </p:cNvGraphicFramePr>
          <p:nvPr/>
        </p:nvGraphicFramePr>
        <p:xfrm>
          <a:off x="5600700" y="2298700"/>
          <a:ext cx="2949575" cy="808038"/>
        </p:xfrm>
        <a:graphic>
          <a:graphicData uri="http://schemas.openxmlformats.org/presentationml/2006/ole">
            <mc:AlternateContent xmlns:mc="http://schemas.openxmlformats.org/markup-compatibility/2006">
              <mc:Choice xmlns:v="urn:schemas-microsoft-com:vml" Requires="v">
                <p:oleObj spid="_x0000_s56591" name="公式" r:id="rId4" imgW="1435100" imgH="393700" progId="Equation.3">
                  <p:embed/>
                </p:oleObj>
              </mc:Choice>
              <mc:Fallback>
                <p:oleObj name="公式" r:id="rId4" imgW="1435100" imgH="3937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0700" y="2298700"/>
                        <a:ext cx="2949575" cy="80803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70" name="Rectangle 14"/>
          <p:cNvSpPr>
            <a:spLocks noChangeArrowheads="1"/>
          </p:cNvSpPr>
          <p:nvPr/>
        </p:nvSpPr>
        <p:spPr bwMode="auto">
          <a:xfrm>
            <a:off x="304800" y="2362200"/>
            <a:ext cx="5124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800" b="1">
                <a:solidFill>
                  <a:schemeClr val="accent2"/>
                </a:solidFill>
                <a:cs typeface="Arial" panose="020B0604020202020204" pitchFamily="34" charset="0"/>
              </a:rPr>
              <a:t>解题思路    </a:t>
            </a:r>
            <a:r>
              <a:rPr kumimoji="0" lang="en-US" altLang="zh-CN" sz="2800" b="1">
                <a:cs typeface="Arial" panose="020B0604020202020204" pitchFamily="34" charset="0"/>
              </a:rPr>
              <a:t>n </a:t>
            </a:r>
            <a:r>
              <a:rPr kumimoji="0" lang="zh-CN" altLang="en-US" sz="2800" b="1">
                <a:cs typeface="Arial" panose="020B0604020202020204" pitchFamily="34" charset="0"/>
              </a:rPr>
              <a:t>可用两种方法求得</a:t>
            </a:r>
          </a:p>
        </p:txBody>
      </p:sp>
      <p:graphicFrame>
        <p:nvGraphicFramePr>
          <p:cNvPr id="70671" name="Object 15"/>
          <p:cNvGraphicFramePr>
            <a:graphicFrameLocks noChangeAspect="1"/>
          </p:cNvGraphicFramePr>
          <p:nvPr>
            <p:extLst>
              <p:ext uri="{D42A27DB-BD31-4B8C-83A1-F6EECF244321}">
                <p14:modId xmlns:p14="http://schemas.microsoft.com/office/powerpoint/2010/main" val="1062524100"/>
              </p:ext>
            </p:extLst>
          </p:nvPr>
        </p:nvGraphicFramePr>
        <p:xfrm>
          <a:off x="1691680" y="3144044"/>
          <a:ext cx="4654550" cy="801688"/>
        </p:xfrm>
        <a:graphic>
          <a:graphicData uri="http://schemas.openxmlformats.org/presentationml/2006/ole">
            <mc:AlternateContent xmlns:mc="http://schemas.openxmlformats.org/markup-compatibility/2006">
              <mc:Choice xmlns:v="urn:schemas-microsoft-com:vml" Requires="v">
                <p:oleObj spid="_x0000_s56592" name="公式" r:id="rId6" imgW="2425700" imgH="419100" progId="Equation.3">
                  <p:embed/>
                </p:oleObj>
              </mc:Choice>
              <mc:Fallback>
                <p:oleObj name="公式" r:id="rId6" imgW="2425700" imgH="419100" progId="Equation.3">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1680" y="3144044"/>
                        <a:ext cx="4654550" cy="8016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72" name="Rectangle 16"/>
          <p:cNvSpPr>
            <a:spLocks noChangeArrowheads="1"/>
          </p:cNvSpPr>
          <p:nvPr/>
        </p:nvSpPr>
        <p:spPr bwMode="auto">
          <a:xfrm>
            <a:off x="45685" y="3252787"/>
            <a:ext cx="1797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800" b="1">
                <a:cs typeface="Arial" panose="020B0604020202020204" pitchFamily="34" charset="0"/>
                <a:sym typeface="Symbol" panose="05050102010706020507" pitchFamily="18" charset="2"/>
              </a:rPr>
              <a:t>解</a:t>
            </a:r>
            <a:r>
              <a:rPr kumimoji="0" lang="zh-CN" altLang="en-US" sz="2800" b="1">
                <a:cs typeface="Arial" panose="020B0604020202020204" pitchFamily="34" charset="0"/>
                <a:sym typeface="Wingdings" panose="05000000000000000000" pitchFamily="2" charset="2"/>
              </a:rPr>
              <a:t>：（</a:t>
            </a:r>
            <a:r>
              <a:rPr kumimoji="0" lang="en-US" altLang="zh-CN" sz="2800" b="1">
                <a:cs typeface="Arial" panose="020B0604020202020204" pitchFamily="34" charset="0"/>
                <a:sym typeface="Wingdings" panose="05000000000000000000" pitchFamily="2" charset="2"/>
              </a:rPr>
              <a:t>1</a:t>
            </a:r>
            <a:r>
              <a:rPr kumimoji="0" lang="zh-CN" altLang="en-US" sz="2800" b="1">
                <a:cs typeface="Arial" panose="020B0604020202020204" pitchFamily="34" charset="0"/>
                <a:sym typeface="Wingdings" panose="05000000000000000000" pitchFamily="2" charset="2"/>
              </a:rPr>
              <a:t>）</a:t>
            </a:r>
            <a:endParaRPr kumimoji="0" lang="zh-CN" altLang="en-US" sz="2800" b="1">
              <a:cs typeface="Arial" panose="020B0604020202020204" pitchFamily="34" charset="0"/>
              <a:sym typeface="Symbol" panose="05050102010706020507" pitchFamily="18" charset="2"/>
            </a:endParaRPr>
          </a:p>
        </p:txBody>
      </p:sp>
      <p:sp>
        <p:nvSpPr>
          <p:cNvPr id="70673" name="Rectangle 17"/>
          <p:cNvSpPr>
            <a:spLocks noChangeArrowheads="1"/>
          </p:cNvSpPr>
          <p:nvPr/>
        </p:nvSpPr>
        <p:spPr bwMode="auto">
          <a:xfrm>
            <a:off x="1371600" y="4191000"/>
            <a:ext cx="9017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800" b="1">
                <a:cs typeface="Arial" panose="020B0604020202020204" pitchFamily="34" charset="0"/>
                <a:sym typeface="Symbol" panose="05050102010706020507" pitchFamily="18" charset="2"/>
              </a:rPr>
              <a:t>或：</a:t>
            </a:r>
          </a:p>
        </p:txBody>
      </p:sp>
      <p:graphicFrame>
        <p:nvGraphicFramePr>
          <p:cNvPr id="70674" name="Object 18"/>
          <p:cNvGraphicFramePr>
            <a:graphicFrameLocks noChangeAspect="1"/>
          </p:cNvGraphicFramePr>
          <p:nvPr/>
        </p:nvGraphicFramePr>
        <p:xfrm>
          <a:off x="2209800" y="4191000"/>
          <a:ext cx="5638800" cy="819150"/>
        </p:xfrm>
        <a:graphic>
          <a:graphicData uri="http://schemas.openxmlformats.org/presentationml/2006/ole">
            <mc:AlternateContent xmlns:mc="http://schemas.openxmlformats.org/markup-compatibility/2006">
              <mc:Choice xmlns:v="urn:schemas-microsoft-com:vml" Requires="v">
                <p:oleObj spid="_x0000_s56593" name="公式" r:id="rId8" imgW="2882900" imgH="419100" progId="Equation.3">
                  <p:embed/>
                </p:oleObj>
              </mc:Choice>
              <mc:Fallback>
                <p:oleObj name="公式" r:id="rId8" imgW="2882900" imgH="419100" progId="Equation.3">
                  <p:embed/>
                  <p:pic>
                    <p:nvPicPr>
                      <p:cNvPr id="0" name="Object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4191000"/>
                        <a:ext cx="5638800" cy="8191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75" name="Object 19"/>
          <p:cNvGraphicFramePr>
            <a:graphicFrameLocks noChangeAspect="1"/>
          </p:cNvGraphicFramePr>
          <p:nvPr/>
        </p:nvGraphicFramePr>
        <p:xfrm>
          <a:off x="2397125" y="5673725"/>
          <a:ext cx="5761038" cy="819150"/>
        </p:xfrm>
        <a:graphic>
          <a:graphicData uri="http://schemas.openxmlformats.org/presentationml/2006/ole">
            <mc:AlternateContent xmlns:mc="http://schemas.openxmlformats.org/markup-compatibility/2006">
              <mc:Choice xmlns:v="urn:schemas-microsoft-com:vml" Requires="v">
                <p:oleObj spid="_x0000_s56594" name="Equation" r:id="rId10" imgW="3124200" imgH="444500" progId="Equation.DSMT4">
                  <p:embed/>
                </p:oleObj>
              </mc:Choice>
              <mc:Fallback>
                <p:oleObj name="Equation" r:id="rId10" imgW="3124200" imgH="444500" progId="Equation.DSMT4">
                  <p:embed/>
                  <p:pic>
                    <p:nvPicPr>
                      <p:cNvPr id="0"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97125" y="5673725"/>
                        <a:ext cx="5761038" cy="8191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a:extLst>
              <a:ext uri="{FF2B5EF4-FFF2-40B4-BE49-F238E27FC236}">
                <a16:creationId xmlns:a16="http://schemas.microsoft.com/office/drawing/2014/main" id="{C7C8B257-C2B4-4FCC-AE81-65CBB2EAA502}"/>
              </a:ext>
            </a:extLst>
          </p:cNvPr>
          <p:cNvSpPr/>
          <p:nvPr/>
        </p:nvSpPr>
        <p:spPr>
          <a:xfrm>
            <a:off x="6444208" y="3198691"/>
            <a:ext cx="2322091" cy="830997"/>
          </a:xfrm>
          <a:prstGeom prst="rect">
            <a:avLst/>
          </a:prstGeom>
        </p:spPr>
        <p:txBody>
          <a:bodyPr wrap="square">
            <a:spAutoFit/>
          </a:bodyPr>
          <a:lstStyle/>
          <a:p>
            <a:r>
              <a:rPr kumimoji="0" lang="zh-CN" altLang="en-US" b="1"/>
              <a:t>在</a:t>
            </a:r>
            <a:r>
              <a:rPr lang="zh-CN" altLang="en-US"/>
              <a:t>标准下</a:t>
            </a:r>
            <a:r>
              <a:rPr lang="en-US" altLang="zh-CN"/>
              <a:t>1</a:t>
            </a:r>
            <a:r>
              <a:rPr lang="zh-CN" altLang="en-US"/>
              <a:t>摩尔体积是 </a:t>
            </a:r>
            <a:r>
              <a:rPr lang="en-US" altLang="zh-CN"/>
              <a:t>22.4 </a:t>
            </a:r>
            <a:r>
              <a:rPr lang="zh-CN" altLang="en-US"/>
              <a:t>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62">
                                            <p:txEl>
                                              <p:pRg st="0" end="0"/>
                                            </p:txEl>
                                          </p:spTgt>
                                        </p:tgtEl>
                                        <p:attrNameLst>
                                          <p:attrName>style.visibility</p:attrName>
                                        </p:attrNameLst>
                                      </p:cBhvr>
                                      <p:to>
                                        <p:strVal val="visible"/>
                                      </p:to>
                                    </p:set>
                                    <p:animEffect transition="in" filter="wipe(left)">
                                      <p:cBhvr>
                                        <p:cTn id="7" dur="500"/>
                                        <p:tgtEl>
                                          <p:spTgt spid="706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0670">
                                            <p:txEl>
                                              <p:pRg st="0" end="0"/>
                                            </p:txEl>
                                          </p:spTgt>
                                        </p:tgtEl>
                                        <p:attrNameLst>
                                          <p:attrName>style.visibility</p:attrName>
                                        </p:attrNameLst>
                                      </p:cBhvr>
                                      <p:to>
                                        <p:strVal val="visible"/>
                                      </p:to>
                                    </p:set>
                                    <p:animEffect transition="in" filter="wipe(left)">
                                      <p:cBhvr>
                                        <p:cTn id="12" dur="500"/>
                                        <p:tgtEl>
                                          <p:spTgt spid="7067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0665"/>
                                        </p:tgtEl>
                                        <p:attrNameLst>
                                          <p:attrName>style.visibility</p:attrName>
                                        </p:attrNameLst>
                                      </p:cBhvr>
                                      <p:to>
                                        <p:strVal val="visible"/>
                                      </p:to>
                                    </p:set>
                                    <p:animEffect transition="in" filter="wipe(left)">
                                      <p:cBhvr>
                                        <p:cTn id="17" dur="500"/>
                                        <p:tgtEl>
                                          <p:spTgt spid="7066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70672"/>
                                        </p:tgtEl>
                                        <p:attrNameLst>
                                          <p:attrName>style.visibility</p:attrName>
                                        </p:attrNameLst>
                                      </p:cBhvr>
                                      <p:to>
                                        <p:strVal val="visible"/>
                                      </p:to>
                                    </p:set>
                                    <p:anim calcmode="lin" valueType="num">
                                      <p:cBhvr additive="base">
                                        <p:cTn id="22" dur="500" fill="hold"/>
                                        <p:tgtEl>
                                          <p:spTgt spid="70672"/>
                                        </p:tgtEl>
                                        <p:attrNameLst>
                                          <p:attrName>ppt_x</p:attrName>
                                        </p:attrNameLst>
                                      </p:cBhvr>
                                      <p:tavLst>
                                        <p:tav tm="0">
                                          <p:val>
                                            <p:strVal val="0-#ppt_w/2"/>
                                          </p:val>
                                        </p:tav>
                                        <p:tav tm="100000">
                                          <p:val>
                                            <p:strVal val="#ppt_x"/>
                                          </p:val>
                                        </p:tav>
                                      </p:tavLst>
                                    </p:anim>
                                    <p:anim calcmode="lin" valueType="num">
                                      <p:cBhvr additive="base">
                                        <p:cTn id="23" dur="500" fill="hold"/>
                                        <p:tgtEl>
                                          <p:spTgt spid="70672"/>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0671"/>
                                        </p:tgtEl>
                                        <p:attrNameLst>
                                          <p:attrName>style.visibility</p:attrName>
                                        </p:attrNameLst>
                                      </p:cBhvr>
                                      <p:to>
                                        <p:strVal val="visible"/>
                                      </p:to>
                                    </p:set>
                                    <p:animEffect transition="in" filter="wipe(left)">
                                      <p:cBhvr>
                                        <p:cTn id="28" dur="500"/>
                                        <p:tgtEl>
                                          <p:spTgt spid="7067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0673"/>
                                        </p:tgtEl>
                                        <p:attrNameLst>
                                          <p:attrName>style.visibility</p:attrName>
                                        </p:attrNameLst>
                                      </p:cBhvr>
                                      <p:to>
                                        <p:strVal val="visible"/>
                                      </p:to>
                                    </p:set>
                                    <p:anim calcmode="lin" valueType="num">
                                      <p:cBhvr additive="base">
                                        <p:cTn id="37" dur="500" fill="hold"/>
                                        <p:tgtEl>
                                          <p:spTgt spid="70673"/>
                                        </p:tgtEl>
                                        <p:attrNameLst>
                                          <p:attrName>ppt_x</p:attrName>
                                        </p:attrNameLst>
                                      </p:cBhvr>
                                      <p:tavLst>
                                        <p:tav tm="0">
                                          <p:val>
                                            <p:strVal val="0-#ppt_w/2"/>
                                          </p:val>
                                        </p:tav>
                                        <p:tav tm="100000">
                                          <p:val>
                                            <p:strVal val="#ppt_x"/>
                                          </p:val>
                                        </p:tav>
                                      </p:tavLst>
                                    </p:anim>
                                    <p:anim calcmode="lin" valueType="num">
                                      <p:cBhvr additive="base">
                                        <p:cTn id="38" dur="500" fill="hold"/>
                                        <p:tgtEl>
                                          <p:spTgt spid="7067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0674"/>
                                        </p:tgtEl>
                                        <p:attrNameLst>
                                          <p:attrName>style.visibility</p:attrName>
                                        </p:attrNameLst>
                                      </p:cBhvr>
                                      <p:to>
                                        <p:strVal val="visible"/>
                                      </p:to>
                                    </p:set>
                                    <p:animEffect transition="in" filter="wipe(left)">
                                      <p:cBhvr>
                                        <p:cTn id="43" dur="500"/>
                                        <p:tgtEl>
                                          <p:spTgt spid="70674"/>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grpId="0" nodeType="clickEffect">
                                  <p:stCondLst>
                                    <p:cond delay="0"/>
                                  </p:stCondLst>
                                  <p:childTnLst>
                                    <p:set>
                                      <p:cBhvr>
                                        <p:cTn id="47" dur="1" fill="hold">
                                          <p:stCondLst>
                                            <p:cond delay="0"/>
                                          </p:stCondLst>
                                        </p:cTn>
                                        <p:tgtEl>
                                          <p:spTgt spid="70658"/>
                                        </p:tgtEl>
                                        <p:attrNameLst>
                                          <p:attrName>style.visibility</p:attrName>
                                        </p:attrNameLst>
                                      </p:cBhvr>
                                      <p:to>
                                        <p:strVal val="visible"/>
                                      </p:to>
                                    </p:set>
                                    <p:anim calcmode="lin" valueType="num">
                                      <p:cBhvr additive="base">
                                        <p:cTn id="48" dur="500" fill="hold"/>
                                        <p:tgtEl>
                                          <p:spTgt spid="70658"/>
                                        </p:tgtEl>
                                        <p:attrNameLst>
                                          <p:attrName>ppt_x</p:attrName>
                                        </p:attrNameLst>
                                      </p:cBhvr>
                                      <p:tavLst>
                                        <p:tav tm="0">
                                          <p:val>
                                            <p:strVal val="0-#ppt_w/2"/>
                                          </p:val>
                                        </p:tav>
                                        <p:tav tm="100000">
                                          <p:val>
                                            <p:strVal val="#ppt_x"/>
                                          </p:val>
                                        </p:tav>
                                      </p:tavLst>
                                    </p:anim>
                                    <p:anim calcmode="lin" valueType="num">
                                      <p:cBhvr additive="base">
                                        <p:cTn id="49" dur="500" fill="hold"/>
                                        <p:tgtEl>
                                          <p:spTgt spid="70658"/>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70675"/>
                                        </p:tgtEl>
                                        <p:attrNameLst>
                                          <p:attrName>style.visibility</p:attrName>
                                        </p:attrNameLst>
                                      </p:cBhvr>
                                      <p:to>
                                        <p:strVal val="visible"/>
                                      </p:to>
                                    </p:set>
                                    <p:animEffect transition="in" filter="wipe(left)">
                                      <p:cBhvr>
                                        <p:cTn id="54" dur="500"/>
                                        <p:tgtEl>
                                          <p:spTgt spid="70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autoUpdateAnimBg="0"/>
      <p:bldP spid="70662" grpId="0" build="p" autoUpdateAnimBg="0"/>
      <p:bldP spid="70670" grpId="0" build="p" autoUpdateAnimBg="0"/>
      <p:bldP spid="70672" grpId="0" autoUpdateAnimBg="0"/>
      <p:bldP spid="70673" grpId="0" autoUpdateAnimBg="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ChangeArrowheads="1"/>
          </p:cNvSpPr>
          <p:nvPr/>
        </p:nvSpPr>
        <p:spPr bwMode="auto">
          <a:xfrm>
            <a:off x="228600" y="304800"/>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800" b="1">
                <a:cs typeface="Arial" panose="020B0604020202020204" pitchFamily="34" charset="0"/>
                <a:sym typeface="Symbol" panose="05050102010706020507" pitchFamily="18" charset="2"/>
              </a:rPr>
              <a:t>（</a:t>
            </a:r>
            <a:r>
              <a:rPr kumimoji="0" lang="en-US" altLang="zh-CN" sz="2800" b="1">
                <a:cs typeface="Arial" panose="020B0604020202020204" pitchFamily="34" charset="0"/>
                <a:sym typeface="Symbol" panose="05050102010706020507" pitchFamily="18" charset="2"/>
              </a:rPr>
              <a:t>3</a:t>
            </a:r>
            <a:r>
              <a:rPr kumimoji="0" lang="zh-CN" altLang="en-US" sz="2800" b="1">
                <a:cs typeface="Arial" panose="020B0604020202020204" pitchFamily="34" charset="0"/>
                <a:sym typeface="Symbol" panose="05050102010706020507" pitchFamily="18" charset="2"/>
              </a:rPr>
              <a:t>）平均碰撞次数：</a:t>
            </a:r>
          </a:p>
        </p:txBody>
      </p:sp>
      <p:graphicFrame>
        <p:nvGraphicFramePr>
          <p:cNvPr id="73732" name="Object 1028"/>
          <p:cNvGraphicFramePr>
            <a:graphicFrameLocks noChangeAspect="1"/>
          </p:cNvGraphicFramePr>
          <p:nvPr/>
        </p:nvGraphicFramePr>
        <p:xfrm>
          <a:off x="838200" y="914400"/>
          <a:ext cx="8012113" cy="1016000"/>
        </p:xfrm>
        <a:graphic>
          <a:graphicData uri="http://schemas.openxmlformats.org/presentationml/2006/ole">
            <mc:AlternateContent xmlns:mc="http://schemas.openxmlformats.org/markup-compatibility/2006">
              <mc:Choice xmlns:v="urn:schemas-microsoft-com:vml" Requires="v">
                <p:oleObj spid="_x0000_s57476" name="公式" r:id="rId3" imgW="3898900" imgH="495300" progId="Equation.3">
                  <p:embed/>
                </p:oleObj>
              </mc:Choice>
              <mc:Fallback>
                <p:oleObj name="公式" r:id="rId3" imgW="3898900" imgH="495300" progId="Equation.3">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914400"/>
                        <a:ext cx="8012113" cy="10160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39" name="Rectangle 1035"/>
          <p:cNvSpPr>
            <a:spLocks noChangeArrowheads="1"/>
          </p:cNvSpPr>
          <p:nvPr/>
        </p:nvSpPr>
        <p:spPr bwMode="auto">
          <a:xfrm>
            <a:off x="304800" y="2057400"/>
            <a:ext cx="365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zh-CN" altLang="en-US" sz="2800" b="1">
                <a:cs typeface="Arial" panose="020B0604020202020204" pitchFamily="34" charset="0"/>
                <a:sym typeface="Symbol" panose="05050102010706020507" pitchFamily="18" charset="2"/>
              </a:rPr>
              <a:t>（</a:t>
            </a:r>
            <a:r>
              <a:rPr kumimoji="0" lang="en-US" altLang="zh-CN" sz="2800" b="1">
                <a:cs typeface="Arial" panose="020B0604020202020204" pitchFamily="34" charset="0"/>
                <a:sym typeface="Symbol" panose="05050102010706020507" pitchFamily="18" charset="2"/>
              </a:rPr>
              <a:t>4</a:t>
            </a:r>
            <a:r>
              <a:rPr kumimoji="0" lang="zh-CN" altLang="en-US" sz="2800" b="1">
                <a:cs typeface="Arial" panose="020B0604020202020204" pitchFamily="34" charset="0"/>
                <a:sym typeface="Symbol" panose="05050102010706020507" pitchFamily="18" charset="2"/>
              </a:rPr>
              <a:t>）平均自由程：</a:t>
            </a:r>
          </a:p>
        </p:txBody>
      </p:sp>
      <p:graphicFrame>
        <p:nvGraphicFramePr>
          <p:cNvPr id="73740" name="Object 1036"/>
          <p:cNvGraphicFramePr>
            <a:graphicFrameLocks noChangeAspect="1"/>
          </p:cNvGraphicFramePr>
          <p:nvPr/>
        </p:nvGraphicFramePr>
        <p:xfrm>
          <a:off x="1143000" y="2667000"/>
          <a:ext cx="7467600" cy="1439863"/>
        </p:xfrm>
        <a:graphic>
          <a:graphicData uri="http://schemas.openxmlformats.org/presentationml/2006/ole">
            <mc:AlternateContent xmlns:mc="http://schemas.openxmlformats.org/markup-compatibility/2006">
              <mc:Choice xmlns:v="urn:schemas-microsoft-com:vml" Requires="v">
                <p:oleObj spid="_x0000_s57477" name="公式" r:id="rId5" imgW="3556000" imgH="685800" progId="Equation.3">
                  <p:embed/>
                </p:oleObj>
              </mc:Choice>
              <mc:Fallback>
                <p:oleObj name="公式" r:id="rId5" imgW="3556000" imgH="685800" progId="Equation.3">
                  <p:embed/>
                  <p:pic>
                    <p:nvPicPr>
                      <p:cNvPr id="0" name="Object 10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2667000"/>
                        <a:ext cx="7467600" cy="143986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0"/>
                                        </p:tgtEl>
                                        <p:attrNameLst>
                                          <p:attrName>style.visibility</p:attrName>
                                        </p:attrNameLst>
                                      </p:cBhvr>
                                      <p:to>
                                        <p:strVal val="visible"/>
                                      </p:to>
                                    </p:set>
                                    <p:anim calcmode="lin" valueType="num">
                                      <p:cBhvr additive="base">
                                        <p:cTn id="7" dur="500" fill="hold"/>
                                        <p:tgtEl>
                                          <p:spTgt spid="73730"/>
                                        </p:tgtEl>
                                        <p:attrNameLst>
                                          <p:attrName>ppt_x</p:attrName>
                                        </p:attrNameLst>
                                      </p:cBhvr>
                                      <p:tavLst>
                                        <p:tav tm="0">
                                          <p:val>
                                            <p:strVal val="0-#ppt_w/2"/>
                                          </p:val>
                                        </p:tav>
                                        <p:tav tm="100000">
                                          <p:val>
                                            <p:strVal val="#ppt_x"/>
                                          </p:val>
                                        </p:tav>
                                      </p:tavLst>
                                    </p:anim>
                                    <p:anim calcmode="lin" valueType="num">
                                      <p:cBhvr additive="base">
                                        <p:cTn id="8" dur="500" fill="hold"/>
                                        <p:tgtEl>
                                          <p:spTgt spid="737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73732"/>
                                        </p:tgtEl>
                                        <p:attrNameLst>
                                          <p:attrName>style.visibility</p:attrName>
                                        </p:attrNameLst>
                                      </p:cBhvr>
                                      <p:to>
                                        <p:strVal val="visible"/>
                                      </p:to>
                                    </p:set>
                                    <p:animEffect transition="in" filter="wipe(left)">
                                      <p:cBhvr>
                                        <p:cTn id="13" dur="500"/>
                                        <p:tgtEl>
                                          <p:spTgt spid="7373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3739"/>
                                        </p:tgtEl>
                                        <p:attrNameLst>
                                          <p:attrName>style.visibility</p:attrName>
                                        </p:attrNameLst>
                                      </p:cBhvr>
                                      <p:to>
                                        <p:strVal val="visible"/>
                                      </p:to>
                                    </p:set>
                                    <p:anim calcmode="lin" valueType="num">
                                      <p:cBhvr additive="base">
                                        <p:cTn id="18" dur="500" fill="hold"/>
                                        <p:tgtEl>
                                          <p:spTgt spid="73739"/>
                                        </p:tgtEl>
                                        <p:attrNameLst>
                                          <p:attrName>ppt_x</p:attrName>
                                        </p:attrNameLst>
                                      </p:cBhvr>
                                      <p:tavLst>
                                        <p:tav tm="0">
                                          <p:val>
                                            <p:strVal val="0-#ppt_w/2"/>
                                          </p:val>
                                        </p:tav>
                                        <p:tav tm="100000">
                                          <p:val>
                                            <p:strVal val="#ppt_x"/>
                                          </p:val>
                                        </p:tav>
                                      </p:tavLst>
                                    </p:anim>
                                    <p:anim calcmode="lin" valueType="num">
                                      <p:cBhvr additive="base">
                                        <p:cTn id="19" dur="500" fill="hold"/>
                                        <p:tgtEl>
                                          <p:spTgt spid="73739"/>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73740"/>
                                        </p:tgtEl>
                                        <p:attrNameLst>
                                          <p:attrName>style.visibility</p:attrName>
                                        </p:attrNameLst>
                                      </p:cBhvr>
                                      <p:to>
                                        <p:strVal val="visible"/>
                                      </p:to>
                                    </p:set>
                                    <p:animEffect transition="in" filter="wipe(left)">
                                      <p:cBhvr>
                                        <p:cTn id="24" dur="500"/>
                                        <p:tgtEl>
                                          <p:spTgt spid="73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utoUpdateAnimBg="0"/>
      <p:bldP spid="73739"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1">
            <a:extLst>
              <a:ext uri="{FF2B5EF4-FFF2-40B4-BE49-F238E27FC236}">
                <a16:creationId xmlns:a16="http://schemas.microsoft.com/office/drawing/2014/main" id="{60A34738-3F46-4208-95A6-09907991D5D4}"/>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7A2B509-927F-4DFA-9B02-F249517393F8}" type="slidenum">
              <a:rPr kumimoji="0" lang="en-US" altLang="zh-CN" sz="1400" smtClean="0">
                <a:latin typeface="Arial" panose="020B0604020202020204" pitchFamily="34" charset="0"/>
              </a:rPr>
              <a:pPr>
                <a:spcBef>
                  <a:spcPct val="0"/>
                </a:spcBef>
                <a:buFontTx/>
                <a:buNone/>
              </a:pPr>
              <a:t>47</a:t>
            </a:fld>
            <a:endParaRPr kumimoji="0" lang="en-US" altLang="zh-CN" sz="1400">
              <a:latin typeface="Arial" panose="020B0604020202020204" pitchFamily="34" charset="0"/>
            </a:endParaRPr>
          </a:p>
        </p:txBody>
      </p:sp>
      <p:pic>
        <p:nvPicPr>
          <p:cNvPr id="9219" name="Picture 2">
            <a:extLst>
              <a:ext uri="{FF2B5EF4-FFF2-40B4-BE49-F238E27FC236}">
                <a16:creationId xmlns:a16="http://schemas.microsoft.com/office/drawing/2014/main" id="{FA8F4C64-2AA3-4958-B0F9-89BFE1CEE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86" r="8034" b="21039"/>
          <a:stretch>
            <a:fillRect/>
          </a:stretch>
        </p:blipFill>
        <p:spPr bwMode="auto">
          <a:xfrm>
            <a:off x="-468560" y="836612"/>
            <a:ext cx="6913563"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矩形 1">
            <a:extLst>
              <a:ext uri="{FF2B5EF4-FFF2-40B4-BE49-F238E27FC236}">
                <a16:creationId xmlns:a16="http://schemas.microsoft.com/office/drawing/2014/main" id="{803DD6B3-F3A9-4CFA-A1F8-2DD44310176B}"/>
              </a:ext>
            </a:extLst>
          </p:cNvPr>
          <p:cNvSpPr>
            <a:spLocks noChangeArrowheads="1"/>
          </p:cNvSpPr>
          <p:nvPr/>
        </p:nvSpPr>
        <p:spPr bwMode="auto">
          <a:xfrm>
            <a:off x="247650" y="720725"/>
            <a:ext cx="11715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kumimoji="0" lang="zh-CN" altLang="en-US" sz="2800" i="0">
                <a:solidFill>
                  <a:srgbClr val="FF0000"/>
                </a:solidFill>
                <a:ea typeface="华文行楷" panose="02010800040101010101" pitchFamily="2" charset="-122"/>
              </a:rPr>
              <a:t>例题</a:t>
            </a:r>
            <a:r>
              <a:rPr kumimoji="0" lang="en-US" altLang="zh-CN" sz="2800" i="0">
                <a:solidFill>
                  <a:srgbClr val="FF0000"/>
                </a:solidFill>
                <a:ea typeface="华文行楷" panose="02010800040101010101" pitchFamily="2" charset="-122"/>
              </a:rPr>
              <a:t>2 </a:t>
            </a:r>
            <a:endParaRPr lang="zh-CN" altLang="en-US" sz="2800"/>
          </a:p>
        </p:txBody>
      </p:sp>
      <p:pic>
        <p:nvPicPr>
          <p:cNvPr id="9221" name="Picture 4" descr="https://img14.360buyimg.com/pop/jfs/t16936/118/1904533595/316862/b1d2ecdd/5adad3a7N6416dfb7.jpg">
            <a:extLst>
              <a:ext uri="{FF2B5EF4-FFF2-40B4-BE49-F238E27FC236}">
                <a16:creationId xmlns:a16="http://schemas.microsoft.com/office/drawing/2014/main" id="{69371C0E-22BB-42A6-96CE-3BA278F8CE6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5408" r="-798"/>
          <a:stretch>
            <a:fillRect/>
          </a:stretch>
        </p:blipFill>
        <p:spPr bwMode="auto">
          <a:xfrm>
            <a:off x="6262688" y="720725"/>
            <a:ext cx="2801937" cy="262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2" descr="https://t8.baidu.com/it/u=239113291,2150853958&amp;fm=193">
            <a:extLst>
              <a:ext uri="{FF2B5EF4-FFF2-40B4-BE49-F238E27FC236}">
                <a16:creationId xmlns:a16="http://schemas.microsoft.com/office/drawing/2014/main" id="{6E6D1B2D-0444-4956-AEF3-4D887A2F913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r="604" b="3799"/>
          <a:stretch>
            <a:fillRect/>
          </a:stretch>
        </p:blipFill>
        <p:spPr bwMode="auto">
          <a:xfrm>
            <a:off x="6264275" y="3321050"/>
            <a:ext cx="2713038"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fld id="{9495C24C-5E4F-4138-8829-DF61D969F25E}" type="slidenum">
              <a:rPr kumimoji="0" lang="en-US" altLang="zh-CN" sz="1400" smtClean="0">
                <a:latin typeface="Arial" panose="020B0604020202020204" pitchFamily="34" charset="0"/>
              </a:rPr>
              <a:pPr>
                <a:spcBef>
                  <a:spcPct val="0"/>
                </a:spcBef>
                <a:buClrTx/>
                <a:buFontTx/>
                <a:buNone/>
              </a:pPr>
              <a:t>48</a:t>
            </a:fld>
            <a:endParaRPr kumimoji="0" lang="en-US" altLang="zh-CN" sz="1400">
              <a:latin typeface="Arial" panose="020B0604020202020204" pitchFamily="34" charset="0"/>
            </a:endParaRPr>
          </a:p>
        </p:txBody>
      </p:sp>
      <p:sp>
        <p:nvSpPr>
          <p:cNvPr id="3" name="TextBox 2"/>
          <p:cNvSpPr txBox="1"/>
          <p:nvPr/>
        </p:nvSpPr>
        <p:spPr>
          <a:xfrm>
            <a:off x="4286250" y="428625"/>
            <a:ext cx="1316038" cy="769938"/>
          </a:xfrm>
          <a:prstGeom prst="rect">
            <a:avLst/>
          </a:prstGeom>
          <a:noFill/>
        </p:spPr>
        <p:txBody>
          <a:bodyPr wrap="none">
            <a:spAutoFit/>
          </a:bodyPr>
          <a:lstStyle/>
          <a:p>
            <a:pPr eaLnBrk="1" hangingPunct="1">
              <a:defRPr/>
            </a:pPr>
            <a:r>
              <a:rPr lang="zh-CN" altLang="en-US" sz="4400" b="1" dirty="0">
                <a:solidFill>
                  <a:srgbClr val="FF0000"/>
                </a:solidFill>
                <a:effectLst>
                  <a:outerShdw blurRad="38100" dist="38100" dir="2700000" algn="tl">
                    <a:srgbClr val="000000">
                      <a:alpha val="43137"/>
                    </a:srgbClr>
                  </a:outerShdw>
                </a:effectLst>
              </a:rPr>
              <a:t>作业</a:t>
            </a:r>
            <a:endParaRPr lang="en-US" sz="4400" b="1" dirty="0">
              <a:solidFill>
                <a:srgbClr val="FF0000"/>
              </a:solidFill>
              <a:effectLst>
                <a:outerShdw blurRad="38100" dist="38100" dir="2700000" algn="tl">
                  <a:srgbClr val="000000">
                    <a:alpha val="43137"/>
                  </a:srgbClr>
                </a:outerShdw>
              </a:effectLst>
            </a:endParaRPr>
          </a:p>
        </p:txBody>
      </p:sp>
      <p:sp>
        <p:nvSpPr>
          <p:cNvPr id="59396" name="Rectangle 3"/>
          <p:cNvSpPr txBox="1">
            <a:spLocks noChangeArrowheads="1"/>
          </p:cNvSpPr>
          <p:nvPr/>
        </p:nvSpPr>
        <p:spPr bwMode="auto">
          <a:xfrm>
            <a:off x="827584" y="2420888"/>
            <a:ext cx="7777162"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tx2"/>
              </a:buClr>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2"/>
              </a:buClr>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tx2"/>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4800"/>
              <a:t>5-11</a:t>
            </a:r>
            <a:r>
              <a:rPr lang="zh-CN" altLang="en-US" sz="4800"/>
              <a:t>、</a:t>
            </a:r>
            <a:r>
              <a:rPr lang="en-US" altLang="zh-CN" sz="4800"/>
              <a:t>5-12</a:t>
            </a:r>
            <a:r>
              <a:rPr lang="zh-CN" altLang="en-US" sz="4800"/>
              <a:t>、</a:t>
            </a:r>
            <a:r>
              <a:rPr lang="en-US" altLang="zh-CN" sz="4800"/>
              <a:t>5-14</a:t>
            </a:r>
            <a:r>
              <a:rPr lang="zh-CN" altLang="en-US" sz="4800"/>
              <a:t>、</a:t>
            </a:r>
            <a:r>
              <a:rPr lang="en-US" altLang="zh-CN" sz="4800"/>
              <a:t>5-17</a:t>
            </a:r>
            <a:r>
              <a:rPr lang="zh-CN" altLang="en-US" sz="4800"/>
              <a:t>、</a:t>
            </a:r>
            <a:r>
              <a:rPr lang="en-US" altLang="zh-CN" sz="4800"/>
              <a:t>5-20</a:t>
            </a:r>
            <a:r>
              <a:rPr lang="zh-CN" altLang="en-US" sz="4800"/>
              <a:t>、</a:t>
            </a:r>
            <a:r>
              <a:rPr lang="en-US" altLang="zh-CN" sz="4800"/>
              <a:t>5-21</a:t>
            </a:r>
          </a:p>
          <a:p>
            <a:pPr eaLnBrk="1" hangingPunct="1">
              <a:lnSpc>
                <a:spcPct val="80000"/>
              </a:lnSpc>
            </a:pPr>
            <a:endParaRPr lang="en-US" altLang="zh-CN" sz="4800"/>
          </a:p>
        </p:txBody>
      </p:sp>
    </p:spTree>
    <p:extLst>
      <p:ext uri="{BB962C8B-B14F-4D97-AF65-F5344CB8AC3E}">
        <p14:creationId xmlns:p14="http://schemas.microsoft.com/office/powerpoint/2010/main" val="4058030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537151EE-8DF9-4416-BBC7-2BCD61A6CA07}"/>
              </a:ext>
            </a:extLst>
          </p:cNvPr>
          <p:cNvSpPr txBox="1">
            <a:spLocks noChangeArrowheads="1"/>
          </p:cNvSpPr>
          <p:nvPr/>
        </p:nvSpPr>
        <p:spPr bwMode="auto">
          <a:xfrm>
            <a:off x="1295400" y="79375"/>
            <a:ext cx="6553200" cy="708025"/>
          </a:xfrm>
          <a:prstGeom prst="rect">
            <a:avLst/>
          </a:prstGeom>
          <a:noFill/>
          <a:ln w="12700">
            <a:noFill/>
            <a:miter lim="800000"/>
            <a:headEnd type="none" w="sm" len="sm"/>
            <a:tailEnd type="none" w="sm" len="sm"/>
          </a:ln>
          <a:effectLst/>
        </p:spPr>
        <p:txBody>
          <a:bodyPr>
            <a:spAutoFit/>
          </a:bodyPr>
          <a:lstStyle/>
          <a:p>
            <a:pPr algn="ctr" eaLnBrk="1" hangingPunct="1">
              <a:spcBef>
                <a:spcPct val="50000"/>
              </a:spcBef>
              <a:defRPr/>
            </a:pPr>
            <a:r>
              <a:rPr lang="zh-CN" altLang="en-US" sz="4000">
                <a:solidFill>
                  <a:srgbClr val="FF3300"/>
                </a:solidFill>
                <a:effectLst>
                  <a:outerShdw blurRad="38100" dist="38100" dir="2700000" algn="tl">
                    <a:srgbClr val="FFFFFF"/>
                  </a:outerShdw>
                </a:effectLst>
                <a:ea typeface="华文行楷" pitchFamily="2" charset="-122"/>
              </a:rPr>
              <a:t>第五章</a:t>
            </a:r>
            <a:r>
              <a:rPr lang="zh-CN" altLang="en-US" sz="4000" dirty="0">
                <a:solidFill>
                  <a:srgbClr val="FF3300"/>
                </a:solidFill>
                <a:effectLst>
                  <a:outerShdw blurRad="38100" dist="38100" dir="2700000" algn="tl">
                    <a:srgbClr val="FFFFFF"/>
                  </a:outerShdw>
                </a:effectLst>
                <a:ea typeface="华文行楷" pitchFamily="2" charset="-122"/>
              </a:rPr>
              <a:t>主要内容回顾</a:t>
            </a:r>
          </a:p>
        </p:txBody>
      </p:sp>
      <p:sp>
        <p:nvSpPr>
          <p:cNvPr id="59395" name="Text Box 3">
            <a:extLst>
              <a:ext uri="{FF2B5EF4-FFF2-40B4-BE49-F238E27FC236}">
                <a16:creationId xmlns:a16="http://schemas.microsoft.com/office/drawing/2014/main" id="{29A151F5-D642-4920-ACA0-C10D7ADA7594}"/>
              </a:ext>
            </a:extLst>
          </p:cNvPr>
          <p:cNvSpPr txBox="1">
            <a:spLocks noChangeArrowheads="1"/>
          </p:cNvSpPr>
          <p:nvPr/>
        </p:nvSpPr>
        <p:spPr bwMode="auto">
          <a:xfrm>
            <a:off x="-71438" y="768350"/>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1</a:t>
            </a:r>
            <a:r>
              <a:rPr lang="zh-CN" altLang="en-US" sz="2400" b="1">
                <a:cs typeface="Arial" panose="020B0604020202020204" pitchFamily="34" charset="0"/>
              </a:rPr>
              <a:t>、理想气体状态方程：</a:t>
            </a:r>
          </a:p>
        </p:txBody>
      </p:sp>
      <p:graphicFrame>
        <p:nvGraphicFramePr>
          <p:cNvPr id="61484" name="Object 44">
            <a:extLst>
              <a:ext uri="{FF2B5EF4-FFF2-40B4-BE49-F238E27FC236}">
                <a16:creationId xmlns:a16="http://schemas.microsoft.com/office/drawing/2014/main" id="{ED0FECF1-F998-4A50-8179-C393D21B6275}"/>
              </a:ext>
            </a:extLst>
          </p:cNvPr>
          <p:cNvGraphicFramePr>
            <a:graphicFrameLocks noChangeAspect="1"/>
          </p:cNvGraphicFramePr>
          <p:nvPr/>
        </p:nvGraphicFramePr>
        <p:xfrm>
          <a:off x="3419475" y="692150"/>
          <a:ext cx="1735138" cy="546100"/>
        </p:xfrm>
        <a:graphic>
          <a:graphicData uri="http://schemas.openxmlformats.org/presentationml/2006/ole">
            <mc:AlternateContent xmlns:mc="http://schemas.openxmlformats.org/markup-compatibility/2006">
              <mc:Choice xmlns:v="urn:schemas-microsoft-com:vml" Requires="v">
                <p:oleObj spid="_x0000_s78934" name="Equation" r:id="rId4" imgW="1231366" imgH="393529" progId="Equation.DSMT4">
                  <p:embed/>
                </p:oleObj>
              </mc:Choice>
              <mc:Fallback>
                <p:oleObj name="Equation" r:id="rId4" imgW="1231366" imgH="393529" progId="Equation.DSMT4">
                  <p:embed/>
                  <p:pic>
                    <p:nvPicPr>
                      <p:cNvPr id="61484" name="Object 44">
                        <a:extLst>
                          <a:ext uri="{FF2B5EF4-FFF2-40B4-BE49-F238E27FC236}">
                            <a16:creationId xmlns:a16="http://schemas.microsoft.com/office/drawing/2014/main" id="{ED0FECF1-F998-4A50-8179-C393D21B627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475" y="692150"/>
                        <a:ext cx="1735138" cy="5461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85" name="Object 45">
            <a:extLst>
              <a:ext uri="{FF2B5EF4-FFF2-40B4-BE49-F238E27FC236}">
                <a16:creationId xmlns:a16="http://schemas.microsoft.com/office/drawing/2014/main" id="{CAE46EDA-3D8F-4C38-9A98-93F082353D7A}"/>
              </a:ext>
            </a:extLst>
          </p:cNvPr>
          <p:cNvGraphicFramePr>
            <a:graphicFrameLocks noChangeAspect="1"/>
          </p:cNvGraphicFramePr>
          <p:nvPr/>
        </p:nvGraphicFramePr>
        <p:xfrm>
          <a:off x="5321300" y="704850"/>
          <a:ext cx="1071563" cy="582613"/>
        </p:xfrm>
        <a:graphic>
          <a:graphicData uri="http://schemas.openxmlformats.org/presentationml/2006/ole">
            <mc:AlternateContent xmlns:mc="http://schemas.openxmlformats.org/markup-compatibility/2006">
              <mc:Choice xmlns:v="urn:schemas-microsoft-com:vml" Requires="v">
                <p:oleObj spid="_x0000_s78935" name="公式" r:id="rId6" imgW="748975" imgH="406224" progId="Equation.3">
                  <p:embed/>
                </p:oleObj>
              </mc:Choice>
              <mc:Fallback>
                <p:oleObj name="公式" r:id="rId6" imgW="748975" imgH="406224" progId="Equation.3">
                  <p:embed/>
                  <p:pic>
                    <p:nvPicPr>
                      <p:cNvPr id="61485" name="Object 45">
                        <a:extLst>
                          <a:ext uri="{FF2B5EF4-FFF2-40B4-BE49-F238E27FC236}">
                            <a16:creationId xmlns:a16="http://schemas.microsoft.com/office/drawing/2014/main" id="{CAE46EDA-3D8F-4C38-9A98-93F082353D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1300" y="704850"/>
                        <a:ext cx="1071563" cy="5826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398" name="Text Box 6">
            <a:extLst>
              <a:ext uri="{FF2B5EF4-FFF2-40B4-BE49-F238E27FC236}">
                <a16:creationId xmlns:a16="http://schemas.microsoft.com/office/drawing/2014/main" id="{ADDAAE95-FD5E-4528-A610-EEC7923EFC65}"/>
              </a:ext>
            </a:extLst>
          </p:cNvPr>
          <p:cNvSpPr txBox="1">
            <a:spLocks noChangeArrowheads="1"/>
          </p:cNvSpPr>
          <p:nvPr/>
        </p:nvSpPr>
        <p:spPr bwMode="auto">
          <a:xfrm>
            <a:off x="-71438" y="1389063"/>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2</a:t>
            </a:r>
            <a:r>
              <a:rPr lang="zh-CN" altLang="en-US" sz="2400" b="1">
                <a:cs typeface="Arial" panose="020B0604020202020204" pitchFamily="34" charset="0"/>
              </a:rPr>
              <a:t>、理想气体压强公式：</a:t>
            </a:r>
          </a:p>
        </p:txBody>
      </p:sp>
      <p:graphicFrame>
        <p:nvGraphicFramePr>
          <p:cNvPr id="61486" name="Object 46">
            <a:extLst>
              <a:ext uri="{FF2B5EF4-FFF2-40B4-BE49-F238E27FC236}">
                <a16:creationId xmlns:a16="http://schemas.microsoft.com/office/drawing/2014/main" id="{59564A7E-2FFA-46E0-9B84-9B25AA73E56A}"/>
              </a:ext>
            </a:extLst>
          </p:cNvPr>
          <p:cNvGraphicFramePr>
            <a:graphicFrameLocks noChangeAspect="1"/>
          </p:cNvGraphicFramePr>
          <p:nvPr/>
        </p:nvGraphicFramePr>
        <p:xfrm>
          <a:off x="3205163" y="1422400"/>
          <a:ext cx="2078037" cy="688975"/>
        </p:xfrm>
        <a:graphic>
          <a:graphicData uri="http://schemas.openxmlformats.org/presentationml/2006/ole">
            <mc:AlternateContent xmlns:mc="http://schemas.openxmlformats.org/markup-compatibility/2006">
              <mc:Choice xmlns:v="urn:schemas-microsoft-com:vml" Requires="v">
                <p:oleObj spid="_x0000_s78936" name="Equation" r:id="rId8" imgW="1180588" imgH="393529" progId="Equation.DSMT4">
                  <p:embed/>
                </p:oleObj>
              </mc:Choice>
              <mc:Fallback>
                <p:oleObj name="Equation" r:id="rId8" imgW="1180588" imgH="393529" progId="Equation.DSMT4">
                  <p:embed/>
                  <p:pic>
                    <p:nvPicPr>
                      <p:cNvPr id="61486" name="Object 46">
                        <a:extLst>
                          <a:ext uri="{FF2B5EF4-FFF2-40B4-BE49-F238E27FC236}">
                            <a16:creationId xmlns:a16="http://schemas.microsoft.com/office/drawing/2014/main" id="{59564A7E-2FFA-46E0-9B84-9B25AA73E56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5163" y="1422400"/>
                        <a:ext cx="2078037" cy="688975"/>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01" name="Text Box 9">
            <a:extLst>
              <a:ext uri="{FF2B5EF4-FFF2-40B4-BE49-F238E27FC236}">
                <a16:creationId xmlns:a16="http://schemas.microsoft.com/office/drawing/2014/main" id="{DEFE98FE-7DC0-4632-BCD6-4BE52BD10391}"/>
              </a:ext>
            </a:extLst>
          </p:cNvPr>
          <p:cNvSpPr txBox="1">
            <a:spLocks noChangeArrowheads="1"/>
          </p:cNvSpPr>
          <p:nvPr/>
        </p:nvSpPr>
        <p:spPr bwMode="auto">
          <a:xfrm>
            <a:off x="5562600" y="1382713"/>
            <a:ext cx="2286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b="1">
                <a:cs typeface="Arial" panose="020B0604020202020204" pitchFamily="34" charset="0"/>
              </a:rPr>
              <a:t>p = n kT</a:t>
            </a:r>
          </a:p>
        </p:txBody>
      </p:sp>
      <p:sp>
        <p:nvSpPr>
          <p:cNvPr id="59402" name="Text Box 10">
            <a:extLst>
              <a:ext uri="{FF2B5EF4-FFF2-40B4-BE49-F238E27FC236}">
                <a16:creationId xmlns:a16="http://schemas.microsoft.com/office/drawing/2014/main" id="{A13AAAF8-A93E-4805-BC8A-518B31719172}"/>
              </a:ext>
            </a:extLst>
          </p:cNvPr>
          <p:cNvSpPr txBox="1">
            <a:spLocks noChangeArrowheads="1"/>
          </p:cNvSpPr>
          <p:nvPr/>
        </p:nvSpPr>
        <p:spPr bwMode="auto">
          <a:xfrm>
            <a:off x="-26988" y="2162175"/>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3</a:t>
            </a:r>
            <a:r>
              <a:rPr lang="zh-CN" altLang="en-US" sz="2400" b="1">
                <a:cs typeface="Arial" panose="020B0604020202020204" pitchFamily="34" charset="0"/>
              </a:rPr>
              <a:t>、理想气体温度公式：</a:t>
            </a:r>
          </a:p>
        </p:txBody>
      </p:sp>
      <p:graphicFrame>
        <p:nvGraphicFramePr>
          <p:cNvPr id="61487" name="Object 47">
            <a:extLst>
              <a:ext uri="{FF2B5EF4-FFF2-40B4-BE49-F238E27FC236}">
                <a16:creationId xmlns:a16="http://schemas.microsoft.com/office/drawing/2014/main" id="{9F46DFA9-2247-49C3-88FD-7CEF62B90588}"/>
              </a:ext>
            </a:extLst>
          </p:cNvPr>
          <p:cNvGraphicFramePr>
            <a:graphicFrameLocks noChangeAspect="1"/>
          </p:cNvGraphicFramePr>
          <p:nvPr/>
        </p:nvGraphicFramePr>
        <p:xfrm>
          <a:off x="3419475" y="2168525"/>
          <a:ext cx="2052638" cy="708025"/>
        </p:xfrm>
        <a:graphic>
          <a:graphicData uri="http://schemas.openxmlformats.org/presentationml/2006/ole">
            <mc:AlternateContent xmlns:mc="http://schemas.openxmlformats.org/markup-compatibility/2006">
              <mc:Choice xmlns:v="urn:schemas-microsoft-com:vml" Requires="v">
                <p:oleObj spid="_x0000_s78937" name="Equation" r:id="rId10" imgW="1143000" imgH="393700" progId="Equation.DSMT4">
                  <p:embed/>
                </p:oleObj>
              </mc:Choice>
              <mc:Fallback>
                <p:oleObj name="Equation" r:id="rId10" imgW="1143000" imgH="393700" progId="Equation.DSMT4">
                  <p:embed/>
                  <p:pic>
                    <p:nvPicPr>
                      <p:cNvPr id="61487" name="Object 47">
                        <a:extLst>
                          <a:ext uri="{FF2B5EF4-FFF2-40B4-BE49-F238E27FC236}">
                            <a16:creationId xmlns:a16="http://schemas.microsoft.com/office/drawing/2014/main" id="{9F46DFA9-2247-49C3-88FD-7CEF62B905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19475" y="2168525"/>
                        <a:ext cx="2052638" cy="7080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411" name="Text Box 19">
            <a:extLst>
              <a:ext uri="{FF2B5EF4-FFF2-40B4-BE49-F238E27FC236}">
                <a16:creationId xmlns:a16="http://schemas.microsoft.com/office/drawing/2014/main" id="{DC7BEEA3-4526-499C-BC22-4E01CA974581}"/>
              </a:ext>
            </a:extLst>
          </p:cNvPr>
          <p:cNvSpPr txBox="1">
            <a:spLocks noChangeArrowheads="1"/>
          </p:cNvSpPr>
          <p:nvPr/>
        </p:nvSpPr>
        <p:spPr bwMode="auto">
          <a:xfrm>
            <a:off x="71438" y="2894013"/>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4</a:t>
            </a:r>
            <a:r>
              <a:rPr lang="zh-CN" altLang="en-US" sz="2400" b="1">
                <a:cs typeface="Arial" panose="020B0604020202020204" pitchFamily="34" charset="0"/>
              </a:rPr>
              <a:t>、理想气体内能：</a:t>
            </a:r>
          </a:p>
        </p:txBody>
      </p:sp>
      <p:graphicFrame>
        <p:nvGraphicFramePr>
          <p:cNvPr id="61488" name="Object 48">
            <a:extLst>
              <a:ext uri="{FF2B5EF4-FFF2-40B4-BE49-F238E27FC236}">
                <a16:creationId xmlns:a16="http://schemas.microsoft.com/office/drawing/2014/main" id="{58C24B67-F289-498D-B1E3-BF5C6DC03CE7}"/>
              </a:ext>
            </a:extLst>
          </p:cNvPr>
          <p:cNvGraphicFramePr>
            <a:graphicFrameLocks noChangeAspect="1"/>
          </p:cNvGraphicFramePr>
          <p:nvPr/>
        </p:nvGraphicFramePr>
        <p:xfrm>
          <a:off x="2876550" y="2884488"/>
          <a:ext cx="1428750" cy="641350"/>
        </p:xfrm>
        <a:graphic>
          <a:graphicData uri="http://schemas.openxmlformats.org/presentationml/2006/ole">
            <mc:AlternateContent xmlns:mc="http://schemas.openxmlformats.org/markup-compatibility/2006">
              <mc:Choice xmlns:v="urn:schemas-microsoft-com:vml" Requires="v">
                <p:oleObj spid="_x0000_s78938" name="Equation" r:id="rId12" imgW="875920" imgH="393529" progId="Equation.DSMT4">
                  <p:embed/>
                </p:oleObj>
              </mc:Choice>
              <mc:Fallback>
                <p:oleObj name="Equation" r:id="rId12" imgW="875920" imgH="393529" progId="Equation.DSMT4">
                  <p:embed/>
                  <p:pic>
                    <p:nvPicPr>
                      <p:cNvPr id="61488" name="Object 48">
                        <a:extLst>
                          <a:ext uri="{FF2B5EF4-FFF2-40B4-BE49-F238E27FC236}">
                            <a16:creationId xmlns:a16="http://schemas.microsoft.com/office/drawing/2014/main" id="{58C24B67-F289-498D-B1E3-BF5C6DC03CE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76550" y="2884488"/>
                        <a:ext cx="1428750" cy="641350"/>
                      </a:xfrm>
                      <a:prstGeom prst="rect">
                        <a:avLst/>
                      </a:prstGeom>
                      <a:solidFill>
                        <a:srgbClr val="66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9">
            <a:extLst>
              <a:ext uri="{FF2B5EF4-FFF2-40B4-BE49-F238E27FC236}">
                <a16:creationId xmlns:a16="http://schemas.microsoft.com/office/drawing/2014/main" id="{7F84DE54-4E88-4329-880C-0F29D5008463}"/>
              </a:ext>
            </a:extLst>
          </p:cNvPr>
          <p:cNvSpPr txBox="1">
            <a:spLocks noChangeArrowheads="1"/>
          </p:cNvSpPr>
          <p:nvPr/>
        </p:nvSpPr>
        <p:spPr bwMode="auto">
          <a:xfrm>
            <a:off x="-57150" y="3570288"/>
            <a:ext cx="388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5</a:t>
            </a:r>
            <a:r>
              <a:rPr lang="zh-CN" altLang="en-US" sz="2400" b="1">
                <a:cs typeface="Arial" panose="020B0604020202020204" pitchFamily="34" charset="0"/>
              </a:rPr>
              <a:t>、速率分布函数：</a:t>
            </a:r>
          </a:p>
        </p:txBody>
      </p:sp>
      <p:sp>
        <p:nvSpPr>
          <p:cNvPr id="15" name="Text Box 2">
            <a:extLst>
              <a:ext uri="{FF2B5EF4-FFF2-40B4-BE49-F238E27FC236}">
                <a16:creationId xmlns:a16="http://schemas.microsoft.com/office/drawing/2014/main" id="{8A6D4E3D-6F43-4570-8BAC-BC38359C4106}"/>
              </a:ext>
            </a:extLst>
          </p:cNvPr>
          <p:cNvSpPr txBox="1">
            <a:spLocks noChangeArrowheads="1"/>
          </p:cNvSpPr>
          <p:nvPr/>
        </p:nvSpPr>
        <p:spPr bwMode="auto">
          <a:xfrm>
            <a:off x="4287838" y="3060700"/>
            <a:ext cx="5000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FF9900"/>
              </a:buClr>
              <a:buFont typeface="Wingdings" panose="05000000000000000000" pitchFamily="2" charset="2"/>
              <a:buChar char="l"/>
            </a:pPr>
            <a:r>
              <a:rPr lang="zh-CN" altLang="en-US" sz="2000" b="1">
                <a:solidFill>
                  <a:srgbClr val="FFFF00"/>
                </a:solidFill>
                <a:ea typeface="楷体_GB2312" pitchFamily="49" charset="-122"/>
              </a:rPr>
              <a:t>物理意义：</a:t>
            </a:r>
            <a:r>
              <a:rPr lang="zh-CN" altLang="en-US" sz="2000" b="1">
                <a:solidFill>
                  <a:srgbClr val="FFFF00"/>
                </a:solidFill>
                <a:cs typeface="Arial" panose="020B0604020202020204" pitchFamily="34" charset="0"/>
              </a:rPr>
              <a:t>速率在</a:t>
            </a:r>
            <a:r>
              <a:rPr lang="zh-CN" altLang="en-US" sz="2000" b="1">
                <a:solidFill>
                  <a:srgbClr val="FFFF00"/>
                </a:solidFill>
                <a:ea typeface="楷体_GB2312" pitchFamily="49" charset="-122"/>
              </a:rPr>
              <a:t> </a:t>
            </a:r>
            <a:r>
              <a:rPr lang="en-US" altLang="zh-CN" sz="2000" b="1">
                <a:solidFill>
                  <a:srgbClr val="FFFF00"/>
                </a:solidFill>
                <a:ea typeface="楷体_GB2312" pitchFamily="49" charset="-122"/>
              </a:rPr>
              <a:t>v </a:t>
            </a:r>
            <a:r>
              <a:rPr lang="zh-CN" altLang="en-US" sz="2000" b="1">
                <a:solidFill>
                  <a:srgbClr val="FFFF00"/>
                </a:solidFill>
                <a:cs typeface="Arial" panose="020B0604020202020204" pitchFamily="34" charset="0"/>
              </a:rPr>
              <a:t>附近，单位速率区间的分子数占总分子数的概率，或概率密度。</a:t>
            </a:r>
          </a:p>
        </p:txBody>
      </p:sp>
      <p:graphicFrame>
        <p:nvGraphicFramePr>
          <p:cNvPr id="16" name="Object 14">
            <a:extLst>
              <a:ext uri="{FF2B5EF4-FFF2-40B4-BE49-F238E27FC236}">
                <a16:creationId xmlns:a16="http://schemas.microsoft.com/office/drawing/2014/main" id="{9EA803B0-5F49-498E-935C-409188AE3BC0}"/>
              </a:ext>
            </a:extLst>
          </p:cNvPr>
          <p:cNvGraphicFramePr>
            <a:graphicFrameLocks noChangeAspect="1"/>
          </p:cNvGraphicFramePr>
          <p:nvPr/>
        </p:nvGraphicFramePr>
        <p:xfrm>
          <a:off x="2490788" y="3517900"/>
          <a:ext cx="1428750" cy="723900"/>
        </p:xfrm>
        <a:graphic>
          <a:graphicData uri="http://schemas.openxmlformats.org/presentationml/2006/ole">
            <mc:AlternateContent xmlns:mc="http://schemas.openxmlformats.org/markup-compatibility/2006">
              <mc:Choice xmlns:v="urn:schemas-microsoft-com:vml" Requires="v">
                <p:oleObj spid="_x0000_s78939" name="公式" r:id="rId14" imgW="799753" imgH="406224" progId="Equation.3">
                  <p:embed/>
                </p:oleObj>
              </mc:Choice>
              <mc:Fallback>
                <p:oleObj name="公式" r:id="rId14" imgW="799753" imgH="406224" progId="Equation.3">
                  <p:embed/>
                  <p:pic>
                    <p:nvPicPr>
                      <p:cNvPr id="16" name="Object 14">
                        <a:extLst>
                          <a:ext uri="{FF2B5EF4-FFF2-40B4-BE49-F238E27FC236}">
                            <a16:creationId xmlns:a16="http://schemas.microsoft.com/office/drawing/2014/main" id="{9EA803B0-5F49-498E-935C-409188AE3BC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90788" y="3517900"/>
                        <a:ext cx="1428750" cy="72390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048">
            <a:extLst>
              <a:ext uri="{FF2B5EF4-FFF2-40B4-BE49-F238E27FC236}">
                <a16:creationId xmlns:a16="http://schemas.microsoft.com/office/drawing/2014/main" id="{1F7112F7-149D-4FD9-B6CA-6573D051C384}"/>
              </a:ext>
            </a:extLst>
          </p:cNvPr>
          <p:cNvGraphicFramePr>
            <a:graphicFrameLocks noChangeAspect="1"/>
          </p:cNvGraphicFramePr>
          <p:nvPr/>
        </p:nvGraphicFramePr>
        <p:xfrm>
          <a:off x="1144588" y="4578350"/>
          <a:ext cx="2084387" cy="587375"/>
        </p:xfrm>
        <a:graphic>
          <a:graphicData uri="http://schemas.openxmlformats.org/presentationml/2006/ole">
            <mc:AlternateContent xmlns:mc="http://schemas.openxmlformats.org/markup-compatibility/2006">
              <mc:Choice xmlns:v="urn:schemas-microsoft-com:vml" Requires="v">
                <p:oleObj spid="_x0000_s78940" name="Equation" r:id="rId16" imgW="2082800" imgH="482600" progId="Equation.DSMT4">
                  <p:embed/>
                </p:oleObj>
              </mc:Choice>
              <mc:Fallback>
                <p:oleObj name="Equation" r:id="rId16" imgW="2082800" imgH="482600" progId="Equation.DSMT4">
                  <p:embed/>
                  <p:pic>
                    <p:nvPicPr>
                      <p:cNvPr id="18" name="Object 1048">
                        <a:extLst>
                          <a:ext uri="{FF2B5EF4-FFF2-40B4-BE49-F238E27FC236}">
                            <a16:creationId xmlns:a16="http://schemas.microsoft.com/office/drawing/2014/main" id="{1F7112F7-149D-4FD9-B6CA-6573D051C38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144588" y="4578350"/>
                        <a:ext cx="2084387" cy="587375"/>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049">
            <a:extLst>
              <a:ext uri="{FF2B5EF4-FFF2-40B4-BE49-F238E27FC236}">
                <a16:creationId xmlns:a16="http://schemas.microsoft.com/office/drawing/2014/main" id="{CA19D131-7D89-419E-B650-A3662E96CE85}"/>
              </a:ext>
            </a:extLst>
          </p:cNvPr>
          <p:cNvGraphicFramePr>
            <a:graphicFrameLocks noChangeAspect="1"/>
          </p:cNvGraphicFramePr>
          <p:nvPr/>
        </p:nvGraphicFramePr>
        <p:xfrm>
          <a:off x="3590925" y="4559300"/>
          <a:ext cx="2490788" cy="582613"/>
        </p:xfrm>
        <a:graphic>
          <a:graphicData uri="http://schemas.openxmlformats.org/presentationml/2006/ole">
            <mc:AlternateContent xmlns:mc="http://schemas.openxmlformats.org/markup-compatibility/2006">
              <mc:Choice xmlns:v="urn:schemas-microsoft-com:vml" Requires="v">
                <p:oleObj spid="_x0000_s78941" name="Equation" r:id="rId18" imgW="2057400" imgH="482600" progId="Equation.DSMT4">
                  <p:embed/>
                </p:oleObj>
              </mc:Choice>
              <mc:Fallback>
                <p:oleObj name="Equation" r:id="rId18" imgW="2057400" imgH="482600" progId="Equation.DSMT4">
                  <p:embed/>
                  <p:pic>
                    <p:nvPicPr>
                      <p:cNvPr id="19" name="Object 1049">
                        <a:extLst>
                          <a:ext uri="{FF2B5EF4-FFF2-40B4-BE49-F238E27FC236}">
                            <a16:creationId xmlns:a16="http://schemas.microsoft.com/office/drawing/2014/main" id="{CA19D131-7D89-419E-B650-A3662E96CE85}"/>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90925" y="4559300"/>
                        <a:ext cx="2490788" cy="582613"/>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1050">
            <a:extLst>
              <a:ext uri="{FF2B5EF4-FFF2-40B4-BE49-F238E27FC236}">
                <a16:creationId xmlns:a16="http://schemas.microsoft.com/office/drawing/2014/main" id="{81809A1F-71B0-444B-9A13-8C0D271BEC8F}"/>
              </a:ext>
            </a:extLst>
          </p:cNvPr>
          <p:cNvGraphicFramePr>
            <a:graphicFrameLocks noChangeAspect="1"/>
          </p:cNvGraphicFramePr>
          <p:nvPr/>
        </p:nvGraphicFramePr>
        <p:xfrm>
          <a:off x="6192838" y="4475163"/>
          <a:ext cx="2922587" cy="660400"/>
        </p:xfrm>
        <a:graphic>
          <a:graphicData uri="http://schemas.openxmlformats.org/presentationml/2006/ole">
            <mc:AlternateContent xmlns:mc="http://schemas.openxmlformats.org/markup-compatibility/2006">
              <mc:Choice xmlns:v="urn:schemas-microsoft-com:vml" Requires="v">
                <p:oleObj spid="_x0000_s78942" name="Equation" r:id="rId20" imgW="2133600" imgH="482600" progId="Equation.DSMT4">
                  <p:embed/>
                </p:oleObj>
              </mc:Choice>
              <mc:Fallback>
                <p:oleObj name="Equation" r:id="rId20" imgW="2133600" imgH="482600" progId="Equation.DSMT4">
                  <p:embed/>
                  <p:pic>
                    <p:nvPicPr>
                      <p:cNvPr id="20" name="Object 1050">
                        <a:extLst>
                          <a:ext uri="{FF2B5EF4-FFF2-40B4-BE49-F238E27FC236}">
                            <a16:creationId xmlns:a16="http://schemas.microsoft.com/office/drawing/2014/main" id="{81809A1F-71B0-444B-9A13-8C0D271BEC8F}"/>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192838" y="4475163"/>
                        <a:ext cx="2922587" cy="660400"/>
                      </a:xfrm>
                      <a:prstGeom prst="rect">
                        <a:avLst/>
                      </a:prstGeom>
                      <a:gradFill rotWithShape="0">
                        <a:gsLst>
                          <a:gs pos="0">
                            <a:schemeClr val="accent1"/>
                          </a:gs>
                          <a:gs pos="50000">
                            <a:srgbClr val="FFFFFF"/>
                          </a:gs>
                          <a:gs pos="100000">
                            <a:schemeClr val="accent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19">
            <a:extLst>
              <a:ext uri="{FF2B5EF4-FFF2-40B4-BE49-F238E27FC236}">
                <a16:creationId xmlns:a16="http://schemas.microsoft.com/office/drawing/2014/main" id="{721914F8-119D-447A-BDFF-48197936FF22}"/>
              </a:ext>
            </a:extLst>
          </p:cNvPr>
          <p:cNvSpPr txBox="1">
            <a:spLocks noChangeArrowheads="1"/>
          </p:cNvSpPr>
          <p:nvPr/>
        </p:nvSpPr>
        <p:spPr bwMode="auto">
          <a:xfrm>
            <a:off x="-30163" y="4186238"/>
            <a:ext cx="38862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6</a:t>
            </a:r>
            <a:r>
              <a:rPr lang="zh-CN" altLang="en-US" sz="2400" b="1">
                <a:cs typeface="Arial" panose="020B0604020202020204" pitchFamily="34" charset="0"/>
              </a:rPr>
              <a:t>、三种速率：</a:t>
            </a:r>
          </a:p>
        </p:txBody>
      </p:sp>
      <p:sp>
        <p:nvSpPr>
          <p:cNvPr id="22" name="Text Box 19">
            <a:extLst>
              <a:ext uri="{FF2B5EF4-FFF2-40B4-BE49-F238E27FC236}">
                <a16:creationId xmlns:a16="http://schemas.microsoft.com/office/drawing/2014/main" id="{16BA1F2C-A6C2-480E-A59C-38E3959761B2}"/>
              </a:ext>
            </a:extLst>
          </p:cNvPr>
          <p:cNvSpPr txBox="1">
            <a:spLocks noChangeArrowheads="1"/>
          </p:cNvSpPr>
          <p:nvPr/>
        </p:nvSpPr>
        <p:spPr bwMode="auto">
          <a:xfrm>
            <a:off x="-26988" y="5329238"/>
            <a:ext cx="4959351"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cs typeface="Arial" panose="020B0604020202020204" pitchFamily="34" charset="0"/>
              </a:rPr>
              <a:t>7</a:t>
            </a:r>
            <a:r>
              <a:rPr lang="zh-CN" altLang="en-US" sz="2400" b="1">
                <a:cs typeface="Arial" panose="020B0604020202020204" pitchFamily="34" charset="0"/>
              </a:rPr>
              <a:t>、平均自由程和平均碰撞频率</a:t>
            </a:r>
          </a:p>
        </p:txBody>
      </p:sp>
      <p:graphicFrame>
        <p:nvGraphicFramePr>
          <p:cNvPr id="23" name="Object 40">
            <a:extLst>
              <a:ext uri="{FF2B5EF4-FFF2-40B4-BE49-F238E27FC236}">
                <a16:creationId xmlns:a16="http://schemas.microsoft.com/office/drawing/2014/main" id="{089334F9-7C21-46FA-8AF0-9750828264D8}"/>
              </a:ext>
            </a:extLst>
          </p:cNvPr>
          <p:cNvGraphicFramePr>
            <a:graphicFrameLocks noChangeAspect="1"/>
          </p:cNvGraphicFramePr>
          <p:nvPr/>
        </p:nvGraphicFramePr>
        <p:xfrm>
          <a:off x="1020763" y="5999163"/>
          <a:ext cx="2330450" cy="511175"/>
        </p:xfrm>
        <a:graphic>
          <a:graphicData uri="http://schemas.openxmlformats.org/presentationml/2006/ole">
            <mc:AlternateContent xmlns:mc="http://schemas.openxmlformats.org/markup-compatibility/2006">
              <mc:Choice xmlns:v="urn:schemas-microsoft-com:vml" Requires="v">
                <p:oleObj spid="_x0000_s78943" name="Equation" r:id="rId22" imgW="800640" imgH="146880" progId="Equation.DSMT4">
                  <p:embed/>
                </p:oleObj>
              </mc:Choice>
              <mc:Fallback>
                <p:oleObj name="Equation" r:id="rId22" imgW="800640" imgH="146880" progId="Equation.DSMT4">
                  <p:embed/>
                  <p:pic>
                    <p:nvPicPr>
                      <p:cNvPr id="23" name="Object 40">
                        <a:extLst>
                          <a:ext uri="{FF2B5EF4-FFF2-40B4-BE49-F238E27FC236}">
                            <a16:creationId xmlns:a16="http://schemas.microsoft.com/office/drawing/2014/main" id="{089334F9-7C21-46FA-8AF0-9750828264D8}"/>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20763" y="5999163"/>
                        <a:ext cx="2330450" cy="5111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40">
            <a:extLst>
              <a:ext uri="{FF2B5EF4-FFF2-40B4-BE49-F238E27FC236}">
                <a16:creationId xmlns:a16="http://schemas.microsoft.com/office/drawing/2014/main" id="{ADAEFBA1-2E34-4B63-B776-21292FD4C14C}"/>
              </a:ext>
            </a:extLst>
          </p:cNvPr>
          <p:cNvGraphicFramePr>
            <a:graphicFrameLocks noChangeAspect="1"/>
          </p:cNvGraphicFramePr>
          <p:nvPr/>
        </p:nvGraphicFramePr>
        <p:xfrm>
          <a:off x="4408488" y="5789613"/>
          <a:ext cx="3678237" cy="857250"/>
        </p:xfrm>
        <a:graphic>
          <a:graphicData uri="http://schemas.openxmlformats.org/presentationml/2006/ole">
            <mc:AlternateContent xmlns:mc="http://schemas.openxmlformats.org/markup-compatibility/2006">
              <mc:Choice xmlns:v="urn:schemas-microsoft-com:vml" Requires="v">
                <p:oleObj spid="_x0000_s78944" name="Equation" r:id="rId24" imgW="1535760" imgH="326160" progId="Equation.DSMT4">
                  <p:embed/>
                </p:oleObj>
              </mc:Choice>
              <mc:Fallback>
                <p:oleObj name="Equation" r:id="rId24" imgW="1535760" imgH="326160" progId="Equation.DSMT4">
                  <p:embed/>
                  <p:pic>
                    <p:nvPicPr>
                      <p:cNvPr id="24" name="Object 40">
                        <a:extLst>
                          <a:ext uri="{FF2B5EF4-FFF2-40B4-BE49-F238E27FC236}">
                            <a16:creationId xmlns:a16="http://schemas.microsoft.com/office/drawing/2014/main" id="{ADAEFBA1-2E34-4B63-B776-21292FD4C14C}"/>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408488" y="5789613"/>
                        <a:ext cx="3678237" cy="85725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6">
            <a:extLst>
              <a:ext uri="{FF2B5EF4-FFF2-40B4-BE49-F238E27FC236}">
                <a16:creationId xmlns:a16="http://schemas.microsoft.com/office/drawing/2014/main" id="{CF617DC6-0DB6-42CC-B1E3-5B2C09472EE0}"/>
              </a:ext>
            </a:extLst>
          </p:cNvPr>
          <p:cNvGraphicFramePr>
            <a:graphicFrameLocks noChangeAspect="1"/>
          </p:cNvGraphicFramePr>
          <p:nvPr/>
        </p:nvGraphicFramePr>
        <p:xfrm>
          <a:off x="4656138" y="3721100"/>
          <a:ext cx="2220912" cy="663575"/>
        </p:xfrm>
        <a:graphic>
          <a:graphicData uri="http://schemas.openxmlformats.org/presentationml/2006/ole">
            <mc:AlternateContent xmlns:mc="http://schemas.openxmlformats.org/markup-compatibility/2006">
              <mc:Choice xmlns:v="urn:schemas-microsoft-com:vml" Requires="v">
                <p:oleObj spid="_x0000_s78945" name="Equation" r:id="rId26" imgW="1828800" imgH="546100" progId="Equation.DSMT4">
                  <p:embed/>
                </p:oleObj>
              </mc:Choice>
              <mc:Fallback>
                <p:oleObj name="Equation" r:id="rId26" imgW="1828800" imgH="546100" progId="Equation.DSMT4">
                  <p:embed/>
                  <p:pic>
                    <p:nvPicPr>
                      <p:cNvPr id="25" name="Object 6">
                        <a:extLst>
                          <a:ext uri="{FF2B5EF4-FFF2-40B4-BE49-F238E27FC236}">
                            <a16:creationId xmlns:a16="http://schemas.microsoft.com/office/drawing/2014/main" id="{CF617DC6-0DB6-42CC-B1E3-5B2C09472EE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656138" y="3721100"/>
                        <a:ext cx="2220912" cy="663575"/>
                      </a:xfrm>
                      <a:prstGeom prst="rect">
                        <a:avLst/>
                      </a:prstGeom>
                      <a:solidFill>
                        <a:schemeClr val="tx1"/>
                      </a:solidFill>
                      <a:ln w="9525">
                        <a:solidFill>
                          <a:schemeClr val="tx1"/>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additive="base">
                                        <p:cTn id="7" dur="500" fill="hold"/>
                                        <p:tgtEl>
                                          <p:spTgt spid="59394"/>
                                        </p:tgtEl>
                                        <p:attrNameLst>
                                          <p:attrName>ppt_x</p:attrName>
                                        </p:attrNameLst>
                                      </p:cBhvr>
                                      <p:tavLst>
                                        <p:tav tm="0">
                                          <p:val>
                                            <p:strVal val="0-#ppt_w/2"/>
                                          </p:val>
                                        </p:tav>
                                        <p:tav tm="100000">
                                          <p:val>
                                            <p:strVal val="#ppt_x"/>
                                          </p:val>
                                        </p:tav>
                                      </p:tavLst>
                                    </p:anim>
                                    <p:anim calcmode="lin" valueType="num">
                                      <p:cBhvr additive="base">
                                        <p:cTn id="8" dur="500" fill="hold"/>
                                        <p:tgtEl>
                                          <p:spTgt spid="593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9395"/>
                                        </p:tgtEl>
                                        <p:attrNameLst>
                                          <p:attrName>style.visibility</p:attrName>
                                        </p:attrNameLst>
                                      </p:cBhvr>
                                      <p:to>
                                        <p:strVal val="visible"/>
                                      </p:to>
                                    </p:set>
                                    <p:anim calcmode="lin" valueType="num">
                                      <p:cBhvr additive="base">
                                        <p:cTn id="13" dur="500" fill="hold"/>
                                        <p:tgtEl>
                                          <p:spTgt spid="59395"/>
                                        </p:tgtEl>
                                        <p:attrNameLst>
                                          <p:attrName>ppt_x</p:attrName>
                                        </p:attrNameLst>
                                      </p:cBhvr>
                                      <p:tavLst>
                                        <p:tav tm="0">
                                          <p:val>
                                            <p:strVal val="0-#ppt_w/2"/>
                                          </p:val>
                                        </p:tav>
                                        <p:tav tm="100000">
                                          <p:val>
                                            <p:strVal val="#ppt_x"/>
                                          </p:val>
                                        </p:tav>
                                      </p:tavLst>
                                    </p:anim>
                                    <p:anim calcmode="lin" valueType="num">
                                      <p:cBhvr additive="base">
                                        <p:cTn id="14" dur="500" fill="hold"/>
                                        <p:tgtEl>
                                          <p:spTgt spid="5939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61484"/>
                                        </p:tgtEl>
                                        <p:attrNameLst>
                                          <p:attrName>style.visibility</p:attrName>
                                        </p:attrNameLst>
                                      </p:cBhvr>
                                      <p:to>
                                        <p:strVal val="visible"/>
                                      </p:to>
                                    </p:set>
                                    <p:anim calcmode="lin" valueType="num">
                                      <p:cBhvr additive="base">
                                        <p:cTn id="19" dur="500" fill="hold"/>
                                        <p:tgtEl>
                                          <p:spTgt spid="61484"/>
                                        </p:tgtEl>
                                        <p:attrNameLst>
                                          <p:attrName>ppt_x</p:attrName>
                                        </p:attrNameLst>
                                      </p:cBhvr>
                                      <p:tavLst>
                                        <p:tav tm="0">
                                          <p:val>
                                            <p:strVal val="0-#ppt_w/2"/>
                                          </p:val>
                                        </p:tav>
                                        <p:tav tm="100000">
                                          <p:val>
                                            <p:strVal val="#ppt_x"/>
                                          </p:val>
                                        </p:tav>
                                      </p:tavLst>
                                    </p:anim>
                                    <p:anim calcmode="lin" valueType="num">
                                      <p:cBhvr additive="base">
                                        <p:cTn id="20" dur="500" fill="hold"/>
                                        <p:tgtEl>
                                          <p:spTgt spid="6148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61485"/>
                                        </p:tgtEl>
                                        <p:attrNameLst>
                                          <p:attrName>style.visibility</p:attrName>
                                        </p:attrNameLst>
                                      </p:cBhvr>
                                      <p:to>
                                        <p:strVal val="visible"/>
                                      </p:to>
                                    </p:set>
                                    <p:anim calcmode="lin" valueType="num">
                                      <p:cBhvr additive="base">
                                        <p:cTn id="25" dur="500" fill="hold"/>
                                        <p:tgtEl>
                                          <p:spTgt spid="61485"/>
                                        </p:tgtEl>
                                        <p:attrNameLst>
                                          <p:attrName>ppt_x</p:attrName>
                                        </p:attrNameLst>
                                      </p:cBhvr>
                                      <p:tavLst>
                                        <p:tav tm="0">
                                          <p:val>
                                            <p:strVal val="1+#ppt_w/2"/>
                                          </p:val>
                                        </p:tav>
                                        <p:tav tm="100000">
                                          <p:val>
                                            <p:strVal val="#ppt_x"/>
                                          </p:val>
                                        </p:tav>
                                      </p:tavLst>
                                    </p:anim>
                                    <p:anim calcmode="lin" valueType="num">
                                      <p:cBhvr additive="base">
                                        <p:cTn id="26" dur="500" fill="hold"/>
                                        <p:tgtEl>
                                          <p:spTgt spid="61485"/>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9398"/>
                                        </p:tgtEl>
                                        <p:attrNameLst>
                                          <p:attrName>style.visibility</p:attrName>
                                        </p:attrNameLst>
                                      </p:cBhvr>
                                      <p:to>
                                        <p:strVal val="visible"/>
                                      </p:to>
                                    </p:set>
                                    <p:anim calcmode="lin" valueType="num">
                                      <p:cBhvr additive="base">
                                        <p:cTn id="31" dur="500" fill="hold"/>
                                        <p:tgtEl>
                                          <p:spTgt spid="59398"/>
                                        </p:tgtEl>
                                        <p:attrNameLst>
                                          <p:attrName>ppt_x</p:attrName>
                                        </p:attrNameLst>
                                      </p:cBhvr>
                                      <p:tavLst>
                                        <p:tav tm="0">
                                          <p:val>
                                            <p:strVal val="0-#ppt_w/2"/>
                                          </p:val>
                                        </p:tav>
                                        <p:tav tm="100000">
                                          <p:val>
                                            <p:strVal val="#ppt_x"/>
                                          </p:val>
                                        </p:tav>
                                      </p:tavLst>
                                    </p:anim>
                                    <p:anim calcmode="lin" valueType="num">
                                      <p:cBhvr additive="base">
                                        <p:cTn id="32" dur="500" fill="hold"/>
                                        <p:tgtEl>
                                          <p:spTgt spid="59398"/>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61486"/>
                                        </p:tgtEl>
                                        <p:attrNameLst>
                                          <p:attrName>style.visibility</p:attrName>
                                        </p:attrNameLst>
                                      </p:cBhvr>
                                      <p:to>
                                        <p:strVal val="visible"/>
                                      </p:to>
                                    </p:set>
                                    <p:anim calcmode="lin" valueType="num">
                                      <p:cBhvr additive="base">
                                        <p:cTn id="37" dur="500" fill="hold"/>
                                        <p:tgtEl>
                                          <p:spTgt spid="61486"/>
                                        </p:tgtEl>
                                        <p:attrNameLst>
                                          <p:attrName>ppt_x</p:attrName>
                                        </p:attrNameLst>
                                      </p:cBhvr>
                                      <p:tavLst>
                                        <p:tav tm="0">
                                          <p:val>
                                            <p:strVal val="0-#ppt_w/2"/>
                                          </p:val>
                                        </p:tav>
                                        <p:tav tm="100000">
                                          <p:val>
                                            <p:strVal val="#ppt_x"/>
                                          </p:val>
                                        </p:tav>
                                      </p:tavLst>
                                    </p:anim>
                                    <p:anim calcmode="lin" valueType="num">
                                      <p:cBhvr additive="base">
                                        <p:cTn id="38" dur="500" fill="hold"/>
                                        <p:tgtEl>
                                          <p:spTgt spid="61486"/>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9401"/>
                                        </p:tgtEl>
                                        <p:attrNameLst>
                                          <p:attrName>style.visibility</p:attrName>
                                        </p:attrNameLst>
                                      </p:cBhvr>
                                      <p:to>
                                        <p:strVal val="visible"/>
                                      </p:to>
                                    </p:set>
                                    <p:anim calcmode="lin" valueType="num">
                                      <p:cBhvr additive="base">
                                        <p:cTn id="43" dur="500" fill="hold"/>
                                        <p:tgtEl>
                                          <p:spTgt spid="59401"/>
                                        </p:tgtEl>
                                        <p:attrNameLst>
                                          <p:attrName>ppt_x</p:attrName>
                                        </p:attrNameLst>
                                      </p:cBhvr>
                                      <p:tavLst>
                                        <p:tav tm="0">
                                          <p:val>
                                            <p:strVal val="1+#ppt_w/2"/>
                                          </p:val>
                                        </p:tav>
                                        <p:tav tm="100000">
                                          <p:val>
                                            <p:strVal val="#ppt_x"/>
                                          </p:val>
                                        </p:tav>
                                      </p:tavLst>
                                    </p:anim>
                                    <p:anim calcmode="lin" valueType="num">
                                      <p:cBhvr additive="base">
                                        <p:cTn id="44" dur="500" fill="hold"/>
                                        <p:tgtEl>
                                          <p:spTgt spid="59401"/>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9402"/>
                                        </p:tgtEl>
                                        <p:attrNameLst>
                                          <p:attrName>style.visibility</p:attrName>
                                        </p:attrNameLst>
                                      </p:cBhvr>
                                      <p:to>
                                        <p:strVal val="visible"/>
                                      </p:to>
                                    </p:set>
                                    <p:anim calcmode="lin" valueType="num">
                                      <p:cBhvr additive="base">
                                        <p:cTn id="49" dur="500" fill="hold"/>
                                        <p:tgtEl>
                                          <p:spTgt spid="59402"/>
                                        </p:tgtEl>
                                        <p:attrNameLst>
                                          <p:attrName>ppt_x</p:attrName>
                                        </p:attrNameLst>
                                      </p:cBhvr>
                                      <p:tavLst>
                                        <p:tav tm="0">
                                          <p:val>
                                            <p:strVal val="0-#ppt_w/2"/>
                                          </p:val>
                                        </p:tav>
                                        <p:tav tm="100000">
                                          <p:val>
                                            <p:strVal val="#ppt_x"/>
                                          </p:val>
                                        </p:tav>
                                      </p:tavLst>
                                    </p:anim>
                                    <p:anim calcmode="lin" valueType="num">
                                      <p:cBhvr additive="base">
                                        <p:cTn id="50" dur="500" fill="hold"/>
                                        <p:tgtEl>
                                          <p:spTgt spid="59402"/>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nodeType="clickEffect">
                                  <p:stCondLst>
                                    <p:cond delay="0"/>
                                  </p:stCondLst>
                                  <p:childTnLst>
                                    <p:set>
                                      <p:cBhvr>
                                        <p:cTn id="54" dur="1" fill="hold">
                                          <p:stCondLst>
                                            <p:cond delay="0"/>
                                          </p:stCondLst>
                                        </p:cTn>
                                        <p:tgtEl>
                                          <p:spTgt spid="61487"/>
                                        </p:tgtEl>
                                        <p:attrNameLst>
                                          <p:attrName>style.visibility</p:attrName>
                                        </p:attrNameLst>
                                      </p:cBhvr>
                                      <p:to>
                                        <p:strVal val="visible"/>
                                      </p:to>
                                    </p:set>
                                    <p:anim calcmode="lin" valueType="num">
                                      <p:cBhvr additive="base">
                                        <p:cTn id="55" dur="500" fill="hold"/>
                                        <p:tgtEl>
                                          <p:spTgt spid="61487"/>
                                        </p:tgtEl>
                                        <p:attrNameLst>
                                          <p:attrName>ppt_x</p:attrName>
                                        </p:attrNameLst>
                                      </p:cBhvr>
                                      <p:tavLst>
                                        <p:tav tm="0">
                                          <p:val>
                                            <p:strVal val="1+#ppt_w/2"/>
                                          </p:val>
                                        </p:tav>
                                        <p:tav tm="100000">
                                          <p:val>
                                            <p:strVal val="#ppt_x"/>
                                          </p:val>
                                        </p:tav>
                                      </p:tavLst>
                                    </p:anim>
                                    <p:anim calcmode="lin" valueType="num">
                                      <p:cBhvr additive="base">
                                        <p:cTn id="56" dur="500" fill="hold"/>
                                        <p:tgtEl>
                                          <p:spTgt spid="61487"/>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59411"/>
                                        </p:tgtEl>
                                        <p:attrNameLst>
                                          <p:attrName>style.visibility</p:attrName>
                                        </p:attrNameLst>
                                      </p:cBhvr>
                                      <p:to>
                                        <p:strVal val="visible"/>
                                      </p:to>
                                    </p:set>
                                    <p:anim calcmode="lin" valueType="num">
                                      <p:cBhvr additive="base">
                                        <p:cTn id="61" dur="500" fill="hold"/>
                                        <p:tgtEl>
                                          <p:spTgt spid="59411"/>
                                        </p:tgtEl>
                                        <p:attrNameLst>
                                          <p:attrName>ppt_x</p:attrName>
                                        </p:attrNameLst>
                                      </p:cBhvr>
                                      <p:tavLst>
                                        <p:tav tm="0">
                                          <p:val>
                                            <p:strVal val="0-#ppt_w/2"/>
                                          </p:val>
                                        </p:tav>
                                        <p:tav tm="100000">
                                          <p:val>
                                            <p:strVal val="#ppt_x"/>
                                          </p:val>
                                        </p:tav>
                                      </p:tavLst>
                                    </p:anim>
                                    <p:anim calcmode="lin" valueType="num">
                                      <p:cBhvr additive="base">
                                        <p:cTn id="62" dur="500" fill="hold"/>
                                        <p:tgtEl>
                                          <p:spTgt spid="59411"/>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2" fill="hold" nodeType="clickEffect">
                                  <p:stCondLst>
                                    <p:cond delay="0"/>
                                  </p:stCondLst>
                                  <p:childTnLst>
                                    <p:set>
                                      <p:cBhvr>
                                        <p:cTn id="66" dur="1" fill="hold">
                                          <p:stCondLst>
                                            <p:cond delay="0"/>
                                          </p:stCondLst>
                                        </p:cTn>
                                        <p:tgtEl>
                                          <p:spTgt spid="61488"/>
                                        </p:tgtEl>
                                        <p:attrNameLst>
                                          <p:attrName>style.visibility</p:attrName>
                                        </p:attrNameLst>
                                      </p:cBhvr>
                                      <p:to>
                                        <p:strVal val="visible"/>
                                      </p:to>
                                    </p:set>
                                    <p:anim calcmode="lin" valueType="num">
                                      <p:cBhvr additive="base">
                                        <p:cTn id="67" dur="500" fill="hold"/>
                                        <p:tgtEl>
                                          <p:spTgt spid="61488"/>
                                        </p:tgtEl>
                                        <p:attrNameLst>
                                          <p:attrName>ppt_x</p:attrName>
                                        </p:attrNameLst>
                                      </p:cBhvr>
                                      <p:tavLst>
                                        <p:tav tm="0">
                                          <p:val>
                                            <p:strVal val="1+#ppt_w/2"/>
                                          </p:val>
                                        </p:tav>
                                        <p:tav tm="100000">
                                          <p:val>
                                            <p:strVal val="#ppt_x"/>
                                          </p:val>
                                        </p:tav>
                                      </p:tavLst>
                                    </p:anim>
                                    <p:anim calcmode="lin" valueType="num">
                                      <p:cBhvr additive="base">
                                        <p:cTn id="68" dur="500" fill="hold"/>
                                        <p:tgtEl>
                                          <p:spTgt spid="61488"/>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additive="base">
                                        <p:cTn id="73" dur="500" fill="hold"/>
                                        <p:tgtEl>
                                          <p:spTgt spid="13"/>
                                        </p:tgtEl>
                                        <p:attrNameLst>
                                          <p:attrName>ppt_x</p:attrName>
                                        </p:attrNameLst>
                                      </p:cBhvr>
                                      <p:tavLst>
                                        <p:tav tm="0">
                                          <p:val>
                                            <p:strVal val="0-#ppt_w/2"/>
                                          </p:val>
                                        </p:tav>
                                        <p:tav tm="100000">
                                          <p:val>
                                            <p:strVal val="#ppt_x"/>
                                          </p:val>
                                        </p:tav>
                                      </p:tavLst>
                                    </p:anim>
                                    <p:anim calcmode="lin" valueType="num">
                                      <p:cBhvr additive="base">
                                        <p:cTn id="7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5">
                                            <p:txEl>
                                              <p:pRg st="0" end="0"/>
                                            </p:txEl>
                                          </p:spTgt>
                                        </p:tgtEl>
                                        <p:attrNameLst>
                                          <p:attrName>style.visibility</p:attrName>
                                        </p:attrNameLst>
                                      </p:cBhvr>
                                      <p:to>
                                        <p:strVal val="visible"/>
                                      </p:to>
                                    </p:set>
                                    <p:animEffect transition="in" filter="wipe(left)">
                                      <p:cBhvr>
                                        <p:cTn id="84" dur="500"/>
                                        <p:tgtEl>
                                          <p:spTgt spid="15">
                                            <p:txEl>
                                              <p:pRg st="0" end="0"/>
                                            </p:txEl>
                                          </p:spTgt>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wipe(left)">
                                      <p:cBhvr>
                                        <p:cTn id="89" dur="500"/>
                                        <p:tgtEl>
                                          <p:spTgt spid="25"/>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 presetClass="entr" presetSubtype="8"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0-#ppt_w/2"/>
                                          </p:val>
                                        </p:tav>
                                        <p:tav tm="100000">
                                          <p:val>
                                            <p:strVal val="#ppt_x"/>
                                          </p:val>
                                        </p:tav>
                                      </p:tavLst>
                                    </p:anim>
                                    <p:anim calcmode="lin" valueType="num">
                                      <p:cBhvr additive="base">
                                        <p:cTn id="95"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8"/>
                                        </p:tgtEl>
                                        <p:attrNameLst>
                                          <p:attrName>style.visibility</p:attrName>
                                        </p:attrNameLst>
                                      </p:cBhvr>
                                      <p:to>
                                        <p:strVal val="visible"/>
                                      </p:to>
                                    </p:set>
                                    <p:animEffect transition="in" filter="wipe(left)">
                                      <p:cBhvr>
                                        <p:cTn id="100" dur="500"/>
                                        <p:tgtEl>
                                          <p:spTgt spid="1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19"/>
                                        </p:tgtEl>
                                        <p:attrNameLst>
                                          <p:attrName>style.visibility</p:attrName>
                                        </p:attrNameLst>
                                      </p:cBhvr>
                                      <p:to>
                                        <p:strVal val="visible"/>
                                      </p:to>
                                    </p:set>
                                    <p:animEffect transition="in" filter="wipe(left)">
                                      <p:cBhvr>
                                        <p:cTn id="105" dur="500"/>
                                        <p:tgtEl>
                                          <p:spTgt spid="19"/>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20"/>
                                        </p:tgtEl>
                                        <p:attrNameLst>
                                          <p:attrName>style.visibility</p:attrName>
                                        </p:attrNameLst>
                                      </p:cBhvr>
                                      <p:to>
                                        <p:strVal val="visible"/>
                                      </p:to>
                                    </p:set>
                                    <p:animEffect transition="in" filter="wipe(left)">
                                      <p:cBhvr>
                                        <p:cTn id="110" dur="500"/>
                                        <p:tgtEl>
                                          <p:spTgt spid="2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 presetClass="entr" presetSubtype="8"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anim calcmode="lin" valueType="num">
                                      <p:cBhvr additive="base">
                                        <p:cTn id="115" dur="500" fill="hold"/>
                                        <p:tgtEl>
                                          <p:spTgt spid="22"/>
                                        </p:tgtEl>
                                        <p:attrNameLst>
                                          <p:attrName>ppt_x</p:attrName>
                                        </p:attrNameLst>
                                      </p:cBhvr>
                                      <p:tavLst>
                                        <p:tav tm="0">
                                          <p:val>
                                            <p:strVal val="0-#ppt_w/2"/>
                                          </p:val>
                                        </p:tav>
                                        <p:tav tm="100000">
                                          <p:val>
                                            <p:strVal val="#ppt_x"/>
                                          </p:val>
                                        </p:tav>
                                      </p:tavLst>
                                    </p:anim>
                                    <p:anim calcmode="lin" valueType="num">
                                      <p:cBhvr additive="base">
                                        <p:cTn id="116"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nodeType="clickEffect">
                                  <p:stCondLst>
                                    <p:cond delay="0"/>
                                  </p:stCondLst>
                                  <p:childTnLst>
                                    <p:set>
                                      <p:cBhvr>
                                        <p:cTn id="120" dur="1" fill="hold">
                                          <p:stCondLst>
                                            <p:cond delay="0"/>
                                          </p:stCondLst>
                                        </p:cTn>
                                        <p:tgtEl>
                                          <p:spTgt spid="23"/>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autoUpdateAnimBg="0"/>
      <p:bldP spid="59395" grpId="0" autoUpdateAnimBg="0"/>
      <p:bldP spid="59398" grpId="0" autoUpdateAnimBg="0"/>
      <p:bldP spid="59401" grpId="0" autoUpdateAnimBg="0"/>
      <p:bldP spid="59402" grpId="0" autoUpdateAnimBg="0"/>
      <p:bldP spid="59411" grpId="0" autoUpdateAnimBg="0"/>
      <p:bldP spid="13" grpId="0" autoUpdateAnimBg="0"/>
      <p:bldP spid="15" grpId="0" build="p" bldLvl="2" autoUpdateAnimBg="0"/>
      <p:bldP spid="21" grpId="0" autoUpdateAnimBg="0"/>
      <p:bldP spid="22" grpId="0" autoUpdateAnimBg="0"/>
    </p:bldLst>
  </p:timing>
</p:sld>
</file>

<file path=ppt/theme/theme1.xml><?xml version="1.0" encoding="utf-8"?>
<a:theme xmlns:a="http://schemas.openxmlformats.org/drawingml/2006/main" name="Fireball">
  <a:themeElements>
    <a:clrScheme name="">
      <a:dk1>
        <a:srgbClr val="CC9900"/>
      </a:dk1>
      <a:lt1>
        <a:srgbClr val="FFFFFF"/>
      </a:lt1>
      <a:dk2>
        <a:srgbClr val="000000"/>
      </a:dk2>
      <a:lt2>
        <a:srgbClr val="FFFF00"/>
      </a:lt2>
      <a:accent1>
        <a:srgbClr val="FFFF00"/>
      </a:accent1>
      <a:accent2>
        <a:srgbClr val="00FFFF"/>
      </a:accent2>
      <a:accent3>
        <a:srgbClr val="AAAAAA"/>
      </a:accent3>
      <a:accent4>
        <a:srgbClr val="DADADA"/>
      </a:accent4>
      <a:accent5>
        <a:srgbClr val="FFFFAA"/>
      </a:accent5>
      <a:accent6>
        <a:srgbClr val="00E7E7"/>
      </a:accent6>
      <a:hlink>
        <a:srgbClr val="FF66FF"/>
      </a:hlink>
      <a:folHlink>
        <a:srgbClr val="00FF00"/>
      </a:folHlink>
    </a:clrScheme>
    <a:fontScheme name="Fireball">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defRPr>
        </a:defPPr>
      </a:lstStyle>
    </a:lnDef>
  </a:objectDefaults>
  <a:extraClrSchemeLst>
    <a:extraClrScheme>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clrMap bg1="dk2" tx1="lt1" bg2="dk1" tx2="lt2" accent1="accent1" accent2="accent2" accent3="accent3" accent4="accent4" accent5="accent5" accent6="accent6" hlink="hlink" folHlink="folHlink"/>
    </a:extraClrScheme>
    <a:extraClrScheme>
      <a:clrScheme name="Fireball 2">
        <a:dk1>
          <a:srgbClr val="000000"/>
        </a:dk1>
        <a:lt1>
          <a:srgbClr val="FFFFFF"/>
        </a:lt1>
        <a:dk2>
          <a:srgbClr val="FF9900"/>
        </a:dk2>
        <a:lt2>
          <a:srgbClr val="5F5F5F"/>
        </a:lt2>
        <a:accent1>
          <a:srgbClr val="FF9933"/>
        </a:accent1>
        <a:accent2>
          <a:srgbClr val="CC0066"/>
        </a:accent2>
        <a:accent3>
          <a:srgbClr val="FFFFFF"/>
        </a:accent3>
        <a:accent4>
          <a:srgbClr val="000000"/>
        </a:accent4>
        <a:accent5>
          <a:srgbClr val="FFCAAD"/>
        </a:accent5>
        <a:accent6>
          <a:srgbClr val="B9005C"/>
        </a:accent6>
        <a:hlink>
          <a:srgbClr val="CC00CC"/>
        </a:hlink>
        <a:folHlink>
          <a:srgbClr val="990099"/>
        </a:folHlink>
      </a:clrScheme>
      <a:clrMap bg1="lt1" tx1="dk1" bg2="lt2" tx2="dk2" accent1="accent1" accent2="accent2" accent3="accent3" accent4="accent4" accent5="accent5" accent6="accent6" hlink="hlink" folHlink="folHlink"/>
    </a:extraClrScheme>
    <a:extraClrScheme>
      <a:clrScheme name="Fireball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7738</TotalTime>
  <Words>4905</Words>
  <Application>Microsoft Office PowerPoint</Application>
  <PresentationFormat>全屏显示(4:3)</PresentationFormat>
  <Paragraphs>312</Paragraphs>
  <Slides>49</Slides>
  <Notes>6</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4</vt:i4>
      </vt:variant>
      <vt:variant>
        <vt:lpstr>幻灯片标题</vt:lpstr>
      </vt:variant>
      <vt:variant>
        <vt:i4>49</vt:i4>
      </vt:variant>
    </vt:vector>
  </HeadingPairs>
  <TitlesOfParts>
    <vt:vector size="67" baseType="lpstr">
      <vt:lpstr>PMingLiU</vt:lpstr>
      <vt:lpstr>黑体</vt:lpstr>
      <vt:lpstr>华文新魏</vt:lpstr>
      <vt:lpstr>华文行楷</vt:lpstr>
      <vt:lpstr>楷体_GB2312</vt:lpstr>
      <vt:lpstr>宋体</vt:lpstr>
      <vt:lpstr>微软雅黑</vt:lpstr>
      <vt:lpstr>Arial</vt:lpstr>
      <vt:lpstr>Cambria Math</vt:lpstr>
      <vt:lpstr>Century Schoolbook</vt:lpstr>
      <vt:lpstr>Symbol</vt:lpstr>
      <vt:lpstr>Times New Roman</vt:lpstr>
      <vt:lpstr>Wingdings</vt:lpstr>
      <vt:lpstr>Fireball</vt:lpstr>
      <vt:lpstr>Equation</vt:lpstr>
      <vt:lpstr>公式</vt:lpstr>
      <vt:lpstr>Picture</vt:lpstr>
      <vt:lpstr>BMP 图像</vt:lpstr>
      <vt:lpstr>PowerPoint 演示文稿</vt:lpstr>
      <vt:lpstr>PowerPoint 演示文稿</vt:lpstr>
      <vt:lpstr>PowerPoint 演示文稿</vt:lpstr>
      <vt:lpstr>PowerPoint 演示文稿</vt:lpstr>
      <vt:lpstr>玻耳兹曼（Boltzmann L E ） (1844-1906）</vt:lpstr>
      <vt:lpstr>PowerPoint 演示文稿</vt:lpstr>
      <vt:lpstr>奥托．斯特恩Otto Stern(1888-1969 ) </vt:lpstr>
      <vt:lpstr>葛正权   (1896-1988）</vt:lpstr>
      <vt:lpstr>葛正权-生平概况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东北大学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气体动理论</dc:title>
  <dc:subject>大学物理</dc:subject>
  <dc:creator>耿平</dc:creator>
  <cp:lastModifiedBy>Songyou Wang</cp:lastModifiedBy>
  <cp:revision>361</cp:revision>
  <dcterms:created xsi:type="dcterms:W3CDTF">2001-03-26T04:26:22Z</dcterms:created>
  <dcterms:modified xsi:type="dcterms:W3CDTF">2025-11-05T09:13:04Z</dcterms:modified>
</cp:coreProperties>
</file>