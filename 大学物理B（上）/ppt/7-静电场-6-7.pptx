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764" r:id="rId2"/>
    <p:sldId id="571" r:id="rId3"/>
    <p:sldId id="694" r:id="rId4"/>
    <p:sldId id="695" r:id="rId5"/>
    <p:sldId id="696" r:id="rId6"/>
    <p:sldId id="767" r:id="rId7"/>
    <p:sldId id="768" r:id="rId8"/>
    <p:sldId id="769" r:id="rId9"/>
    <p:sldId id="770" r:id="rId10"/>
    <p:sldId id="701" r:id="rId11"/>
    <p:sldId id="702" r:id="rId12"/>
    <p:sldId id="703" r:id="rId13"/>
    <p:sldId id="771" r:id="rId14"/>
    <p:sldId id="772" r:id="rId15"/>
    <p:sldId id="773" r:id="rId16"/>
    <p:sldId id="567" r:id="rId17"/>
    <p:sldId id="706" r:id="rId18"/>
    <p:sldId id="774" r:id="rId19"/>
    <p:sldId id="775" r:id="rId20"/>
    <p:sldId id="776" r:id="rId21"/>
    <p:sldId id="777" r:id="rId22"/>
    <p:sldId id="712" r:id="rId23"/>
    <p:sldId id="778" r:id="rId24"/>
    <p:sldId id="779" r:id="rId25"/>
    <p:sldId id="780" r:id="rId26"/>
    <p:sldId id="781" r:id="rId27"/>
    <p:sldId id="782" r:id="rId28"/>
    <p:sldId id="783" r:id="rId29"/>
    <p:sldId id="727" r:id="rId30"/>
    <p:sldId id="784" r:id="rId31"/>
    <p:sldId id="785" r:id="rId32"/>
    <p:sldId id="708" r:id="rId33"/>
    <p:sldId id="709" r:id="rId34"/>
    <p:sldId id="710" r:id="rId35"/>
    <p:sldId id="711" r:id="rId36"/>
    <p:sldId id="713" r:id="rId37"/>
    <p:sldId id="714" r:id="rId38"/>
    <p:sldId id="715" r:id="rId39"/>
    <p:sldId id="716" r:id="rId40"/>
    <p:sldId id="717" r:id="rId41"/>
    <p:sldId id="718" r:id="rId42"/>
    <p:sldId id="719" r:id="rId43"/>
    <p:sldId id="720" r:id="rId44"/>
    <p:sldId id="721" r:id="rId45"/>
    <p:sldId id="722" r:id="rId46"/>
    <p:sldId id="723" r:id="rId47"/>
    <p:sldId id="724" r:id="rId48"/>
    <p:sldId id="725" r:id="rId49"/>
    <p:sldId id="726" r:id="rId50"/>
    <p:sldId id="527" r:id="rId51"/>
    <p:sldId id="738" r:id="rId52"/>
    <p:sldId id="739" r:id="rId53"/>
    <p:sldId id="732" r:id="rId54"/>
    <p:sldId id="530" r:id="rId55"/>
    <p:sldId id="531" r:id="rId56"/>
    <p:sldId id="532" r:id="rId57"/>
    <p:sldId id="741" r:id="rId58"/>
    <p:sldId id="742" r:id="rId59"/>
    <p:sldId id="579" r:id="rId60"/>
    <p:sldId id="580" r:id="rId61"/>
    <p:sldId id="585" r:id="rId62"/>
    <p:sldId id="586" r:id="rId63"/>
    <p:sldId id="587" r:id="rId64"/>
    <p:sldId id="588" r:id="rId65"/>
    <p:sldId id="705" r:id="rId66"/>
    <p:sldId id="260" r:id="rId67"/>
    <p:sldId id="590" r:id="rId68"/>
    <p:sldId id="704" r:id="rId69"/>
    <p:sldId id="733" r:id="rId70"/>
    <p:sldId id="707" r:id="rId71"/>
    <p:sldId id="734" r:id="rId72"/>
    <p:sldId id="592" r:id="rId73"/>
    <p:sldId id="539" r:id="rId74"/>
    <p:sldId id="540" r:id="rId75"/>
    <p:sldId id="743" r:id="rId76"/>
    <p:sldId id="697" r:id="rId77"/>
    <p:sldId id="698" r:id="rId78"/>
    <p:sldId id="699" r:id="rId79"/>
    <p:sldId id="700" r:id="rId80"/>
    <p:sldId id="766" r:id="rId81"/>
    <p:sldId id="740" r:id="rId82"/>
  </p:sldIdLst>
  <p:sldSz cx="9144000" cy="6858000" type="screen4x3"/>
  <p:notesSz cx="6858000" cy="9144000"/>
  <p:defaultTextStyle>
    <a:defPPr>
      <a:defRPr lang="zh-CN"/>
    </a:defPPr>
    <a:lvl1pPr algn="l" rtl="0" eaLnBrk="0" fontAlgn="base" hangingPunct="0">
      <a:spcBef>
        <a:spcPct val="0"/>
      </a:spcBef>
      <a:spcAft>
        <a:spcPct val="0"/>
      </a:spcAft>
      <a:defRPr kumimoji="1" sz="2000" kern="1200">
        <a:solidFill>
          <a:srgbClr val="FF3300"/>
        </a:solidFill>
        <a:latin typeface="Times New Roman" panose="02020603050405020304" pitchFamily="18" charset="0"/>
        <a:ea typeface="楷体_GB2312"/>
        <a:cs typeface="楷体_GB2312"/>
      </a:defRPr>
    </a:lvl1pPr>
    <a:lvl2pPr marL="457200" algn="l" rtl="0" eaLnBrk="0" fontAlgn="base" hangingPunct="0">
      <a:spcBef>
        <a:spcPct val="0"/>
      </a:spcBef>
      <a:spcAft>
        <a:spcPct val="0"/>
      </a:spcAft>
      <a:defRPr kumimoji="1" sz="2000" kern="1200">
        <a:solidFill>
          <a:srgbClr val="FF3300"/>
        </a:solidFill>
        <a:latin typeface="Times New Roman" panose="02020603050405020304" pitchFamily="18" charset="0"/>
        <a:ea typeface="楷体_GB2312"/>
        <a:cs typeface="楷体_GB2312"/>
      </a:defRPr>
    </a:lvl2pPr>
    <a:lvl3pPr marL="914400" algn="l" rtl="0" eaLnBrk="0" fontAlgn="base" hangingPunct="0">
      <a:spcBef>
        <a:spcPct val="0"/>
      </a:spcBef>
      <a:spcAft>
        <a:spcPct val="0"/>
      </a:spcAft>
      <a:defRPr kumimoji="1" sz="2000" kern="1200">
        <a:solidFill>
          <a:srgbClr val="FF3300"/>
        </a:solidFill>
        <a:latin typeface="Times New Roman" panose="02020603050405020304" pitchFamily="18" charset="0"/>
        <a:ea typeface="楷体_GB2312"/>
        <a:cs typeface="楷体_GB2312"/>
      </a:defRPr>
    </a:lvl3pPr>
    <a:lvl4pPr marL="1371600" algn="l" rtl="0" eaLnBrk="0" fontAlgn="base" hangingPunct="0">
      <a:spcBef>
        <a:spcPct val="0"/>
      </a:spcBef>
      <a:spcAft>
        <a:spcPct val="0"/>
      </a:spcAft>
      <a:defRPr kumimoji="1" sz="2000" kern="1200">
        <a:solidFill>
          <a:srgbClr val="FF3300"/>
        </a:solidFill>
        <a:latin typeface="Times New Roman" panose="02020603050405020304" pitchFamily="18" charset="0"/>
        <a:ea typeface="楷体_GB2312"/>
        <a:cs typeface="楷体_GB2312"/>
      </a:defRPr>
    </a:lvl4pPr>
    <a:lvl5pPr marL="1828800" algn="l" rtl="0" eaLnBrk="0" fontAlgn="base" hangingPunct="0">
      <a:spcBef>
        <a:spcPct val="0"/>
      </a:spcBef>
      <a:spcAft>
        <a:spcPct val="0"/>
      </a:spcAft>
      <a:defRPr kumimoji="1" sz="2000" kern="1200">
        <a:solidFill>
          <a:srgbClr val="FF3300"/>
        </a:solidFill>
        <a:latin typeface="Times New Roman" panose="02020603050405020304" pitchFamily="18" charset="0"/>
        <a:ea typeface="楷体_GB2312"/>
        <a:cs typeface="楷体_GB2312"/>
      </a:defRPr>
    </a:lvl5pPr>
    <a:lvl6pPr marL="2286000" algn="l" defTabSz="914400" rtl="0" eaLnBrk="1" latinLnBrk="0" hangingPunct="1">
      <a:defRPr kumimoji="1" sz="2000" kern="1200">
        <a:solidFill>
          <a:srgbClr val="FF3300"/>
        </a:solidFill>
        <a:latin typeface="Times New Roman" panose="02020603050405020304" pitchFamily="18" charset="0"/>
        <a:ea typeface="楷体_GB2312"/>
        <a:cs typeface="楷体_GB2312"/>
      </a:defRPr>
    </a:lvl6pPr>
    <a:lvl7pPr marL="2743200" algn="l" defTabSz="914400" rtl="0" eaLnBrk="1" latinLnBrk="0" hangingPunct="1">
      <a:defRPr kumimoji="1" sz="2000" kern="1200">
        <a:solidFill>
          <a:srgbClr val="FF3300"/>
        </a:solidFill>
        <a:latin typeface="Times New Roman" panose="02020603050405020304" pitchFamily="18" charset="0"/>
        <a:ea typeface="楷体_GB2312"/>
        <a:cs typeface="楷体_GB2312"/>
      </a:defRPr>
    </a:lvl7pPr>
    <a:lvl8pPr marL="3200400" algn="l" defTabSz="914400" rtl="0" eaLnBrk="1" latinLnBrk="0" hangingPunct="1">
      <a:defRPr kumimoji="1" sz="2000" kern="1200">
        <a:solidFill>
          <a:srgbClr val="FF3300"/>
        </a:solidFill>
        <a:latin typeface="Times New Roman" panose="02020603050405020304" pitchFamily="18" charset="0"/>
        <a:ea typeface="楷体_GB2312"/>
        <a:cs typeface="楷体_GB2312"/>
      </a:defRPr>
    </a:lvl8pPr>
    <a:lvl9pPr marL="3657600" algn="l" defTabSz="914400" rtl="0" eaLnBrk="1" latinLnBrk="0" hangingPunct="1">
      <a:defRPr kumimoji="1" sz="2000" kern="1200">
        <a:solidFill>
          <a:srgbClr val="FF3300"/>
        </a:solidFill>
        <a:latin typeface="Times New Roman"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33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9933"/>
    <a:srgbClr val="003366"/>
    <a:srgbClr val="66FF66"/>
    <a:srgbClr val="66FFFF"/>
    <a:srgbClr val="FFFF00"/>
    <a:srgbClr val="000000"/>
    <a:srgbClr val="008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3875" autoAdjust="0"/>
  </p:normalViewPr>
  <p:slideViewPr>
    <p:cSldViewPr>
      <p:cViewPr varScale="1">
        <p:scale>
          <a:sx n="60" d="100"/>
          <a:sy n="60" d="100"/>
        </p:scale>
        <p:origin x="1388" y="52"/>
      </p:cViewPr>
      <p:guideLst>
        <p:guide orient="horz" pos="2160"/>
        <p:guide pos="2880"/>
      </p:guideLst>
    </p:cSldViewPr>
  </p:slideViewPr>
  <p:outlineViewPr>
    <p:cViewPr>
      <p:scale>
        <a:sx n="33" d="100"/>
        <a:sy n="33" d="100"/>
      </p:scale>
      <p:origin x="0" y="-7332"/>
    </p:cViewPr>
  </p:outlineViewPr>
  <p:notesTextViewPr>
    <p:cViewPr>
      <p:scale>
        <a:sx n="3" d="2"/>
        <a:sy n="3" d="2"/>
      </p:scale>
      <p:origin x="0" y="0"/>
    </p:cViewPr>
  </p:notesTextViewPr>
  <p:sorterViewPr>
    <p:cViewPr varScale="1">
      <p:scale>
        <a:sx n="1" d="1"/>
        <a:sy n="1" d="1"/>
      </p:scale>
      <p:origin x="0" y="-2069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image" Target="../media/image20.wmf"/><Relationship Id="rId3" Type="http://schemas.openxmlformats.org/officeDocument/2006/relationships/image" Target="../media/image10.wmf"/><Relationship Id="rId7" Type="http://schemas.openxmlformats.org/officeDocument/2006/relationships/image" Target="../media/image14.wmf"/><Relationship Id="rId12" Type="http://schemas.openxmlformats.org/officeDocument/2006/relationships/image" Target="../media/image19.wmf"/><Relationship Id="rId17" Type="http://schemas.openxmlformats.org/officeDocument/2006/relationships/image" Target="../media/image24.wmf"/><Relationship Id="rId2" Type="http://schemas.openxmlformats.org/officeDocument/2006/relationships/image" Target="../media/image9.wmf"/><Relationship Id="rId16" Type="http://schemas.openxmlformats.org/officeDocument/2006/relationships/image" Target="../media/image23.wmf"/><Relationship Id="rId1" Type="http://schemas.openxmlformats.org/officeDocument/2006/relationships/image" Target="../media/image8.wmf"/><Relationship Id="rId6" Type="http://schemas.openxmlformats.org/officeDocument/2006/relationships/image" Target="../media/image13.wmf"/><Relationship Id="rId11" Type="http://schemas.openxmlformats.org/officeDocument/2006/relationships/image" Target="../media/image18.wmf"/><Relationship Id="rId5" Type="http://schemas.openxmlformats.org/officeDocument/2006/relationships/image" Target="../media/image12.wmf"/><Relationship Id="rId15" Type="http://schemas.openxmlformats.org/officeDocument/2006/relationships/image" Target="../media/image22.wmf"/><Relationship Id="rId10" Type="http://schemas.openxmlformats.org/officeDocument/2006/relationships/image" Target="../media/image17.wmf"/><Relationship Id="rId4" Type="http://schemas.openxmlformats.org/officeDocument/2006/relationships/image" Target="../media/image11.wmf"/><Relationship Id="rId9" Type="http://schemas.openxmlformats.org/officeDocument/2006/relationships/image" Target="../media/image16.wmf"/><Relationship Id="rId14"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2.wmf"/><Relationship Id="rId5" Type="http://schemas.openxmlformats.org/officeDocument/2006/relationships/image" Target="../media/image31.wmf"/><Relationship Id="rId4"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5.w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5" Type="http://schemas.openxmlformats.org/officeDocument/2006/relationships/image" Target="../media/image54.wmf"/><Relationship Id="rId4"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59.wmf"/><Relationship Id="rId7" Type="http://schemas.openxmlformats.org/officeDocument/2006/relationships/image" Target="../media/image63.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image" Target="../media/image66.wmf"/><Relationship Id="rId7" Type="http://schemas.openxmlformats.org/officeDocument/2006/relationships/image" Target="../media/image69.wmf"/><Relationship Id="rId2" Type="http://schemas.openxmlformats.org/officeDocument/2006/relationships/image" Target="../media/image61.wmf"/><Relationship Id="rId1" Type="http://schemas.openxmlformats.org/officeDocument/2006/relationships/image" Target="../media/image57.wmf"/><Relationship Id="rId6" Type="http://schemas.openxmlformats.org/officeDocument/2006/relationships/image" Target="../media/image68.wmf"/><Relationship Id="rId5" Type="http://schemas.openxmlformats.org/officeDocument/2006/relationships/image" Target="../media/image67.wmf"/><Relationship Id="rId10" Type="http://schemas.openxmlformats.org/officeDocument/2006/relationships/image" Target="../media/image71.wmf"/><Relationship Id="rId4" Type="http://schemas.openxmlformats.org/officeDocument/2006/relationships/image" Target="../media/image60.wmf"/><Relationship Id="rId9"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image" Target="../media/image81.wmf"/><Relationship Id="rId7" Type="http://schemas.openxmlformats.org/officeDocument/2006/relationships/image" Target="../media/image85.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84.wmf"/><Relationship Id="rId5" Type="http://schemas.openxmlformats.org/officeDocument/2006/relationships/image" Target="../media/image83.wmf"/><Relationship Id="rId4" Type="http://schemas.openxmlformats.org/officeDocument/2006/relationships/image" Target="../media/image82.wmf"/><Relationship Id="rId9" Type="http://schemas.openxmlformats.org/officeDocument/2006/relationships/image" Target="../media/image8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5.wmf"/><Relationship Id="rId7" Type="http://schemas.openxmlformats.org/officeDocument/2006/relationships/image" Target="../media/image98.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6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image" Target="../media/image107.wmf"/><Relationship Id="rId7" Type="http://schemas.openxmlformats.org/officeDocument/2006/relationships/image" Target="../media/image99.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9" Type="http://schemas.openxmlformats.org/officeDocument/2006/relationships/image" Target="../media/image112.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 Id="rId4" Type="http://schemas.openxmlformats.org/officeDocument/2006/relationships/image" Target="../media/image116.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26.emf"/><Relationship Id="rId3" Type="http://schemas.openxmlformats.org/officeDocument/2006/relationships/image" Target="../media/image121.wmf"/><Relationship Id="rId7" Type="http://schemas.openxmlformats.org/officeDocument/2006/relationships/image" Target="../media/image125.emf"/><Relationship Id="rId12" Type="http://schemas.openxmlformats.org/officeDocument/2006/relationships/image" Target="../media/image130.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4.emf"/><Relationship Id="rId11" Type="http://schemas.openxmlformats.org/officeDocument/2006/relationships/image" Target="../media/image129.wmf"/><Relationship Id="rId5" Type="http://schemas.openxmlformats.org/officeDocument/2006/relationships/image" Target="../media/image123.wmf"/><Relationship Id="rId10" Type="http://schemas.openxmlformats.org/officeDocument/2006/relationships/image" Target="../media/image128.wmf"/><Relationship Id="rId4" Type="http://schemas.openxmlformats.org/officeDocument/2006/relationships/image" Target="../media/image122.wmf"/><Relationship Id="rId9" Type="http://schemas.openxmlformats.org/officeDocument/2006/relationships/image" Target="../media/image127.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44.emf"/><Relationship Id="rId3" Type="http://schemas.openxmlformats.org/officeDocument/2006/relationships/image" Target="../media/image139.wmf"/><Relationship Id="rId7" Type="http://schemas.openxmlformats.org/officeDocument/2006/relationships/image" Target="../media/image143.wmf"/><Relationship Id="rId2" Type="http://schemas.openxmlformats.org/officeDocument/2006/relationships/image" Target="../media/image138.wmf"/><Relationship Id="rId1" Type="http://schemas.openxmlformats.org/officeDocument/2006/relationships/image" Target="../media/image137.wmf"/><Relationship Id="rId6" Type="http://schemas.openxmlformats.org/officeDocument/2006/relationships/image" Target="../media/image142.wmf"/><Relationship Id="rId5" Type="http://schemas.openxmlformats.org/officeDocument/2006/relationships/image" Target="../media/image141.emf"/><Relationship Id="rId4" Type="http://schemas.openxmlformats.org/officeDocument/2006/relationships/image" Target="../media/image140.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image" Target="../media/image153.wmf"/><Relationship Id="rId3" Type="http://schemas.openxmlformats.org/officeDocument/2006/relationships/image" Target="../media/image99.wmf"/><Relationship Id="rId7" Type="http://schemas.openxmlformats.org/officeDocument/2006/relationships/image" Target="../media/image147.wmf"/><Relationship Id="rId12" Type="http://schemas.openxmlformats.org/officeDocument/2006/relationships/image" Target="../media/image152.wmf"/><Relationship Id="rId2" Type="http://schemas.openxmlformats.org/officeDocument/2006/relationships/image" Target="../media/image100.wmf"/><Relationship Id="rId1" Type="http://schemas.openxmlformats.org/officeDocument/2006/relationships/image" Target="../media/image145.wmf"/><Relationship Id="rId6" Type="http://schemas.openxmlformats.org/officeDocument/2006/relationships/image" Target="../media/image11.wmf"/><Relationship Id="rId11" Type="http://schemas.openxmlformats.org/officeDocument/2006/relationships/image" Target="../media/image151.wmf"/><Relationship Id="rId5" Type="http://schemas.openxmlformats.org/officeDocument/2006/relationships/image" Target="../media/image14.wmf"/><Relationship Id="rId15" Type="http://schemas.openxmlformats.org/officeDocument/2006/relationships/image" Target="../media/image155.wmf"/><Relationship Id="rId10" Type="http://schemas.openxmlformats.org/officeDocument/2006/relationships/image" Target="../media/image150.wmf"/><Relationship Id="rId4" Type="http://schemas.openxmlformats.org/officeDocument/2006/relationships/image" Target="../media/image146.wmf"/><Relationship Id="rId9" Type="http://schemas.openxmlformats.org/officeDocument/2006/relationships/image" Target="../media/image149.wmf"/><Relationship Id="rId14" Type="http://schemas.openxmlformats.org/officeDocument/2006/relationships/image" Target="../media/image15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39.wmf"/><Relationship Id="rId7" Type="http://schemas.openxmlformats.org/officeDocument/2006/relationships/image" Target="../media/image161.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60.wmf"/><Relationship Id="rId5" Type="http://schemas.openxmlformats.org/officeDocument/2006/relationships/image" Target="../media/image159.wmf"/><Relationship Id="rId4" Type="http://schemas.openxmlformats.org/officeDocument/2006/relationships/image" Target="../media/image158.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image" Target="../media/image164.wmf"/><Relationship Id="rId7" Type="http://schemas.openxmlformats.org/officeDocument/2006/relationships/image" Target="../media/image3.wmf"/><Relationship Id="rId2" Type="http://schemas.openxmlformats.org/officeDocument/2006/relationships/image" Target="../media/image163.wmf"/><Relationship Id="rId1" Type="http://schemas.openxmlformats.org/officeDocument/2006/relationships/image" Target="../media/image162.w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2.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75.wmf"/><Relationship Id="rId3" Type="http://schemas.openxmlformats.org/officeDocument/2006/relationships/image" Target="../media/image170.wmf"/><Relationship Id="rId7" Type="http://schemas.openxmlformats.org/officeDocument/2006/relationships/image" Target="../media/image174.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7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78.png"/></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81.emf"/><Relationship Id="rId2" Type="http://schemas.openxmlformats.org/officeDocument/2006/relationships/image" Target="../media/image180.emf"/><Relationship Id="rId1" Type="http://schemas.openxmlformats.org/officeDocument/2006/relationships/image" Target="../media/image179.emf"/><Relationship Id="rId5" Type="http://schemas.openxmlformats.org/officeDocument/2006/relationships/image" Target="../media/image183.emf"/><Relationship Id="rId4" Type="http://schemas.openxmlformats.org/officeDocument/2006/relationships/image" Target="../media/image182.e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92.emf"/><Relationship Id="rId13" Type="http://schemas.openxmlformats.org/officeDocument/2006/relationships/image" Target="../media/image197.emf"/><Relationship Id="rId3" Type="http://schemas.openxmlformats.org/officeDocument/2006/relationships/image" Target="../media/image187.emf"/><Relationship Id="rId7" Type="http://schemas.openxmlformats.org/officeDocument/2006/relationships/image" Target="../media/image191.emf"/><Relationship Id="rId12" Type="http://schemas.openxmlformats.org/officeDocument/2006/relationships/image" Target="../media/image196.emf"/><Relationship Id="rId2" Type="http://schemas.openxmlformats.org/officeDocument/2006/relationships/image" Target="../media/image186.emf"/><Relationship Id="rId16" Type="http://schemas.openxmlformats.org/officeDocument/2006/relationships/image" Target="../media/image200.emf"/><Relationship Id="rId1" Type="http://schemas.openxmlformats.org/officeDocument/2006/relationships/image" Target="../media/image185.emf"/><Relationship Id="rId6" Type="http://schemas.openxmlformats.org/officeDocument/2006/relationships/image" Target="../media/image190.wmf"/><Relationship Id="rId11" Type="http://schemas.openxmlformats.org/officeDocument/2006/relationships/image" Target="../media/image195.emf"/><Relationship Id="rId5" Type="http://schemas.openxmlformats.org/officeDocument/2006/relationships/image" Target="../media/image189.wmf"/><Relationship Id="rId15" Type="http://schemas.openxmlformats.org/officeDocument/2006/relationships/image" Target="../media/image199.emf"/><Relationship Id="rId10" Type="http://schemas.openxmlformats.org/officeDocument/2006/relationships/image" Target="../media/image194.emf"/><Relationship Id="rId4" Type="http://schemas.openxmlformats.org/officeDocument/2006/relationships/image" Target="../media/image188.wmf"/><Relationship Id="rId9" Type="http://schemas.openxmlformats.org/officeDocument/2006/relationships/image" Target="../media/image193.emf"/><Relationship Id="rId14" Type="http://schemas.openxmlformats.org/officeDocument/2006/relationships/image" Target="../media/image198.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03.emf"/><Relationship Id="rId2" Type="http://schemas.openxmlformats.org/officeDocument/2006/relationships/image" Target="../media/image202.emf"/><Relationship Id="rId1" Type="http://schemas.openxmlformats.org/officeDocument/2006/relationships/image" Target="../media/image201.emf"/><Relationship Id="rId4" Type="http://schemas.openxmlformats.org/officeDocument/2006/relationships/image" Target="../media/image204.e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12.emf"/><Relationship Id="rId3" Type="http://schemas.openxmlformats.org/officeDocument/2006/relationships/image" Target="../media/image207.emf"/><Relationship Id="rId7" Type="http://schemas.openxmlformats.org/officeDocument/2006/relationships/image" Target="../media/image211.emf"/><Relationship Id="rId2" Type="http://schemas.openxmlformats.org/officeDocument/2006/relationships/image" Target="../media/image206.emf"/><Relationship Id="rId1" Type="http://schemas.openxmlformats.org/officeDocument/2006/relationships/image" Target="../media/image205.emf"/><Relationship Id="rId6" Type="http://schemas.openxmlformats.org/officeDocument/2006/relationships/image" Target="../media/image210.emf"/><Relationship Id="rId5" Type="http://schemas.openxmlformats.org/officeDocument/2006/relationships/image" Target="../media/image209.emf"/><Relationship Id="rId4" Type="http://schemas.openxmlformats.org/officeDocument/2006/relationships/image" Target="../media/image208.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6.emf"/><Relationship Id="rId2" Type="http://schemas.openxmlformats.org/officeDocument/2006/relationships/image" Target="../media/image215.emf"/><Relationship Id="rId1" Type="http://schemas.openxmlformats.org/officeDocument/2006/relationships/image" Target="../media/image214.emf"/><Relationship Id="rId6" Type="http://schemas.openxmlformats.org/officeDocument/2006/relationships/image" Target="../media/image219.emf"/><Relationship Id="rId5" Type="http://schemas.openxmlformats.org/officeDocument/2006/relationships/image" Target="../media/image218.emf"/><Relationship Id="rId4" Type="http://schemas.openxmlformats.org/officeDocument/2006/relationships/image" Target="../media/image217.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27.emf"/><Relationship Id="rId13" Type="http://schemas.openxmlformats.org/officeDocument/2006/relationships/image" Target="../media/image219.emf"/><Relationship Id="rId3" Type="http://schemas.openxmlformats.org/officeDocument/2006/relationships/image" Target="../media/image222.emf"/><Relationship Id="rId7" Type="http://schemas.openxmlformats.org/officeDocument/2006/relationships/image" Target="../media/image226.emf"/><Relationship Id="rId12" Type="http://schemas.openxmlformats.org/officeDocument/2006/relationships/image" Target="../media/image218.emf"/><Relationship Id="rId2" Type="http://schemas.openxmlformats.org/officeDocument/2006/relationships/image" Target="../media/image221.emf"/><Relationship Id="rId1" Type="http://schemas.openxmlformats.org/officeDocument/2006/relationships/image" Target="../media/image220.emf"/><Relationship Id="rId6" Type="http://schemas.openxmlformats.org/officeDocument/2006/relationships/image" Target="../media/image225.emf"/><Relationship Id="rId11" Type="http://schemas.openxmlformats.org/officeDocument/2006/relationships/image" Target="../media/image230.emf"/><Relationship Id="rId5" Type="http://schemas.openxmlformats.org/officeDocument/2006/relationships/image" Target="../media/image224.emf"/><Relationship Id="rId10" Type="http://schemas.openxmlformats.org/officeDocument/2006/relationships/image" Target="../media/image229.emf"/><Relationship Id="rId4" Type="http://schemas.openxmlformats.org/officeDocument/2006/relationships/image" Target="../media/image223.emf"/><Relationship Id="rId9" Type="http://schemas.openxmlformats.org/officeDocument/2006/relationships/image" Target="../media/image228.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38.emf"/><Relationship Id="rId3" Type="http://schemas.openxmlformats.org/officeDocument/2006/relationships/image" Target="../media/image233.emf"/><Relationship Id="rId7" Type="http://schemas.openxmlformats.org/officeDocument/2006/relationships/image" Target="../media/image237.emf"/><Relationship Id="rId2" Type="http://schemas.openxmlformats.org/officeDocument/2006/relationships/image" Target="../media/image232.emf"/><Relationship Id="rId1" Type="http://schemas.openxmlformats.org/officeDocument/2006/relationships/image" Target="../media/image231.emf"/><Relationship Id="rId6" Type="http://schemas.openxmlformats.org/officeDocument/2006/relationships/image" Target="../media/image236.emf"/><Relationship Id="rId5" Type="http://schemas.openxmlformats.org/officeDocument/2006/relationships/image" Target="../media/image235.emf"/><Relationship Id="rId4" Type="http://schemas.openxmlformats.org/officeDocument/2006/relationships/image" Target="../media/image234.emf"/><Relationship Id="rId9" Type="http://schemas.openxmlformats.org/officeDocument/2006/relationships/image" Target="../media/image239.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40.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41.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249.png"/><Relationship Id="rId1" Type="http://schemas.openxmlformats.org/officeDocument/2006/relationships/image" Target="../media/image248.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52.emf"/><Relationship Id="rId2" Type="http://schemas.openxmlformats.org/officeDocument/2006/relationships/image" Target="../media/image251.emf"/><Relationship Id="rId1" Type="http://schemas.openxmlformats.org/officeDocument/2006/relationships/image" Target="../media/image250.emf"/><Relationship Id="rId4" Type="http://schemas.openxmlformats.org/officeDocument/2006/relationships/image" Target="../media/image253.e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 Id="rId5" Type="http://schemas.openxmlformats.org/officeDocument/2006/relationships/image" Target="../media/image258.wmf"/><Relationship Id="rId4" Type="http://schemas.openxmlformats.org/officeDocument/2006/relationships/image" Target="../media/image257.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72.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80.wmf"/><Relationship Id="rId1" Type="http://schemas.openxmlformats.org/officeDocument/2006/relationships/image" Target="../media/image279.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82.wmf"/><Relationship Id="rId1" Type="http://schemas.openxmlformats.org/officeDocument/2006/relationships/image" Target="../media/image28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8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88.wmf"/><Relationship Id="rId2" Type="http://schemas.openxmlformats.org/officeDocument/2006/relationships/image" Target="../media/image287.wmf"/><Relationship Id="rId1" Type="http://schemas.openxmlformats.org/officeDocument/2006/relationships/image" Target="../media/image286.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294.wmf"/><Relationship Id="rId1" Type="http://schemas.openxmlformats.org/officeDocument/2006/relationships/image" Target="../media/image293.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83.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306.png"/><Relationship Id="rId1" Type="http://schemas.openxmlformats.org/officeDocument/2006/relationships/image" Target="../media/image305.png"/></Relationships>
</file>

<file path=ppt/drawings/_rels/vmlDrawing52.vml.rels><?xml version="1.0" encoding="UTF-8" standalone="yes"?>
<Relationships xmlns="http://schemas.openxmlformats.org/package/2006/relationships"><Relationship Id="rId8" Type="http://schemas.openxmlformats.org/officeDocument/2006/relationships/image" Target="../media/image325.wmf"/><Relationship Id="rId3" Type="http://schemas.openxmlformats.org/officeDocument/2006/relationships/image" Target="../media/image320.wmf"/><Relationship Id="rId7" Type="http://schemas.openxmlformats.org/officeDocument/2006/relationships/image" Target="../media/image324.wmf"/><Relationship Id="rId2" Type="http://schemas.openxmlformats.org/officeDocument/2006/relationships/image" Target="../media/image319.wmf"/><Relationship Id="rId1" Type="http://schemas.openxmlformats.org/officeDocument/2006/relationships/image" Target="../media/image318.wmf"/><Relationship Id="rId6" Type="http://schemas.openxmlformats.org/officeDocument/2006/relationships/image" Target="../media/image323.wmf"/><Relationship Id="rId11" Type="http://schemas.openxmlformats.org/officeDocument/2006/relationships/image" Target="../media/image328.wmf"/><Relationship Id="rId5" Type="http://schemas.openxmlformats.org/officeDocument/2006/relationships/image" Target="../media/image322.wmf"/><Relationship Id="rId10" Type="http://schemas.openxmlformats.org/officeDocument/2006/relationships/image" Target="../media/image327.wmf"/><Relationship Id="rId4" Type="http://schemas.openxmlformats.org/officeDocument/2006/relationships/image" Target="../media/image321.wmf"/><Relationship Id="rId9" Type="http://schemas.openxmlformats.org/officeDocument/2006/relationships/image" Target="../media/image326.wmf"/></Relationships>
</file>

<file path=ppt/drawings/_rels/vmlDrawing53.vml.rels><?xml version="1.0" encoding="UTF-8" standalone="yes"?>
<Relationships xmlns="http://schemas.openxmlformats.org/package/2006/relationships"><Relationship Id="rId8" Type="http://schemas.openxmlformats.org/officeDocument/2006/relationships/image" Target="../media/image336.wmf"/><Relationship Id="rId3" Type="http://schemas.openxmlformats.org/officeDocument/2006/relationships/image" Target="../media/image331.wmf"/><Relationship Id="rId7" Type="http://schemas.openxmlformats.org/officeDocument/2006/relationships/image" Target="../media/image335.wmf"/><Relationship Id="rId2" Type="http://schemas.openxmlformats.org/officeDocument/2006/relationships/image" Target="../media/image330.wmf"/><Relationship Id="rId1" Type="http://schemas.openxmlformats.org/officeDocument/2006/relationships/image" Target="../media/image329.wmf"/><Relationship Id="rId6" Type="http://schemas.openxmlformats.org/officeDocument/2006/relationships/image" Target="../media/image334.wmf"/><Relationship Id="rId5" Type="http://schemas.openxmlformats.org/officeDocument/2006/relationships/image" Target="../media/image333.wmf"/><Relationship Id="rId4" Type="http://schemas.openxmlformats.org/officeDocument/2006/relationships/image" Target="../media/image332.wmf"/><Relationship Id="rId9" Type="http://schemas.openxmlformats.org/officeDocument/2006/relationships/image" Target="../media/image328.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341.wmf"/><Relationship Id="rId2" Type="http://schemas.openxmlformats.org/officeDocument/2006/relationships/image" Target="../media/image340.wmf"/><Relationship Id="rId1" Type="http://schemas.openxmlformats.org/officeDocument/2006/relationships/image" Target="../media/image339.wmf"/><Relationship Id="rId5" Type="http://schemas.openxmlformats.org/officeDocument/2006/relationships/image" Target="../media/image343.wmf"/><Relationship Id="rId4" Type="http://schemas.openxmlformats.org/officeDocument/2006/relationships/image" Target="../media/image342.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46.wmf"/><Relationship Id="rId2" Type="http://schemas.openxmlformats.org/officeDocument/2006/relationships/image" Target="../media/image345.wmf"/><Relationship Id="rId1" Type="http://schemas.openxmlformats.org/officeDocument/2006/relationships/image" Target="../media/image344.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346.wmf"/><Relationship Id="rId2" Type="http://schemas.openxmlformats.org/officeDocument/2006/relationships/image" Target="../media/image345.wmf"/><Relationship Id="rId1" Type="http://schemas.openxmlformats.org/officeDocument/2006/relationships/image" Target="../media/image3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20000"/>
              </a:spcBef>
              <a:defRPr sz="1200" b="1">
                <a:ea typeface="楷体_GB2312" pitchFamily="49" charset="-122"/>
                <a:cs typeface="+mn-cs"/>
              </a:defRPr>
            </a:lvl1pPr>
          </a:lstStyle>
          <a:p>
            <a:pPr>
              <a:defRPr/>
            </a:pPr>
            <a:endParaRPr lang="en-US" altLang="zh-CN"/>
          </a:p>
        </p:txBody>
      </p:sp>
      <p:sp>
        <p:nvSpPr>
          <p:cNvPr id="21504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20000"/>
              </a:spcBef>
              <a:defRPr sz="1200" b="1">
                <a:ea typeface="楷体_GB2312" pitchFamily="49" charset="-122"/>
                <a:cs typeface="+mn-cs"/>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1504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1504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20000"/>
              </a:spcBef>
              <a:defRPr sz="1200" b="1">
                <a:ea typeface="楷体_GB2312" pitchFamily="49" charset="-122"/>
                <a:cs typeface="+mn-cs"/>
              </a:defRPr>
            </a:lvl1pPr>
          </a:lstStyle>
          <a:p>
            <a:pPr>
              <a:defRPr/>
            </a:pPr>
            <a:endParaRPr lang="en-US" altLang="zh-CN"/>
          </a:p>
        </p:txBody>
      </p:sp>
      <p:sp>
        <p:nvSpPr>
          <p:cNvPr id="21504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20000"/>
              </a:spcBef>
              <a:defRPr sz="1200" b="1" smtClean="0"/>
            </a:lvl1pPr>
          </a:lstStyle>
          <a:p>
            <a:pPr>
              <a:defRPr/>
            </a:pPr>
            <a:fld id="{C89F589A-FC67-44C5-8EB1-B6E170C8EA96}" type="slidenum">
              <a:rPr lang="en-US" altLang="zh-CN"/>
              <a:pPr>
                <a:defRPr/>
              </a:pPr>
              <a:t>‹#›</a:t>
            </a:fld>
            <a:endParaRPr lang="en-US" altLang="zh-CN"/>
          </a:p>
        </p:txBody>
      </p:sp>
    </p:spTree>
    <p:extLst>
      <p:ext uri="{BB962C8B-B14F-4D97-AF65-F5344CB8AC3E}">
        <p14:creationId xmlns:p14="http://schemas.microsoft.com/office/powerpoint/2010/main" val="22802850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baike.baidu.com/item/%E8%BF%88%E5%85%8B%E5%B0%94%C2%B7%E6%B3%95%E6%8B%89%E7%AC%AC/314733?fromModule=lemma_inlink" TargetMode="External"/><Relationship Id="rId3" Type="http://schemas.openxmlformats.org/officeDocument/2006/relationships/hyperlink" Target="https://baike.baidu.com/item/%E5%9B%BD%E9%99%85%E5%8D%95%E4%BD%8D%E5%88%B6/1189599?fromModule=lemma_inlink" TargetMode="External"/><Relationship Id="rId7" Type="http://schemas.openxmlformats.org/officeDocument/2006/relationships/hyperlink" Target="https://baike.baidu.com/item/%E7%94%B5%E7%A3%81%E6%84%9F%E5%BA%94%E7%8E%B0%E8%B1%A1/5976728?fromModule=lemma_inlink" TargetMode="External"/><Relationship Id="rId2" Type="http://schemas.openxmlformats.org/officeDocument/2006/relationships/slide" Target="../slides/slide62.xml"/><Relationship Id="rId1" Type="http://schemas.openxmlformats.org/officeDocument/2006/relationships/notesMaster" Target="../notesMasters/notesMaster1.xml"/><Relationship Id="rId6" Type="http://schemas.openxmlformats.org/officeDocument/2006/relationships/hyperlink" Target="https://baike.baidu.com/item/%E4%BC%8F%E7%89%B9/5490202?fromModule=lemma_inlink" TargetMode="External"/><Relationship Id="rId5" Type="http://schemas.openxmlformats.org/officeDocument/2006/relationships/hyperlink" Target="https://baike.baidu.com/item/%E5%BA%93%E4%BB%91/2936003?fromModule=lemma_inlink" TargetMode="External"/><Relationship Id="rId4" Type="http://schemas.openxmlformats.org/officeDocument/2006/relationships/hyperlink" Target="https://baike.baidu.com/item/%E7%94%B5%E5%AE%B9%E5%99%A8/1087619?fromModule=lemma_inlink"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2</a:t>
            </a:fld>
            <a:endParaRPr lang="en-US" altLang="zh-CN"/>
          </a:p>
        </p:txBody>
      </p:sp>
    </p:spTree>
    <p:extLst>
      <p:ext uri="{BB962C8B-B14F-4D97-AF65-F5344CB8AC3E}">
        <p14:creationId xmlns:p14="http://schemas.microsoft.com/office/powerpoint/2010/main" val="2901903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4</a:t>
            </a:fld>
            <a:endParaRPr lang="en-US" altLang="zh-CN"/>
          </a:p>
        </p:txBody>
      </p:sp>
    </p:spTree>
    <p:extLst>
      <p:ext uri="{BB962C8B-B14F-4D97-AF65-F5344CB8AC3E}">
        <p14:creationId xmlns:p14="http://schemas.microsoft.com/office/powerpoint/2010/main" val="3203263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8</a:t>
            </a:fld>
            <a:endParaRPr lang="en-US" altLang="zh-CN"/>
          </a:p>
        </p:txBody>
      </p:sp>
    </p:spTree>
    <p:extLst>
      <p:ext uri="{BB962C8B-B14F-4D97-AF65-F5344CB8AC3E}">
        <p14:creationId xmlns:p14="http://schemas.microsoft.com/office/powerpoint/2010/main" val="3305132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21</a:t>
            </a:fld>
            <a:endParaRPr lang="en-US" altLang="zh-CN"/>
          </a:p>
        </p:txBody>
      </p:sp>
    </p:spTree>
    <p:extLst>
      <p:ext uri="{BB962C8B-B14F-4D97-AF65-F5344CB8AC3E}">
        <p14:creationId xmlns:p14="http://schemas.microsoft.com/office/powerpoint/2010/main" val="608760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A7D4466-FB22-4BAC-B8FF-AAF271F23CF1}" type="slidenum">
              <a:rPr lang="en-US" altLang="zh-CN" smtClean="0"/>
              <a:pPr>
                <a:defRPr/>
              </a:pPr>
              <a:t>30</a:t>
            </a:fld>
            <a:endParaRPr lang="en-US" altLang="zh-CN"/>
          </a:p>
        </p:txBody>
      </p:sp>
    </p:spTree>
    <p:extLst>
      <p:ext uri="{BB962C8B-B14F-4D97-AF65-F5344CB8AC3E}">
        <p14:creationId xmlns:p14="http://schemas.microsoft.com/office/powerpoint/2010/main" val="1630448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9C69240-9CCE-4C05-950A-9B56AA7897F0}" type="slidenum">
              <a:rPr lang="en-US" altLang="zh-CN">
                <a:solidFill>
                  <a:srgbClr val="FF3300"/>
                </a:solidFill>
                <a:ea typeface="楷体_GB2312"/>
              </a:rPr>
              <a:pPr>
                <a:spcBef>
                  <a:spcPct val="0"/>
                </a:spcBef>
              </a:pPr>
              <a:t>44</a:t>
            </a:fld>
            <a:endParaRPr lang="en-US" altLang="zh-CN">
              <a:solidFill>
                <a:srgbClr val="FF3300"/>
              </a:solidFill>
              <a:ea typeface="楷体_GB2312"/>
            </a:endParaRPr>
          </a:p>
        </p:txBody>
      </p:sp>
      <p:sp>
        <p:nvSpPr>
          <p:cNvPr id="17411" name="Rectangle 2"/>
          <p:cNvSpPr>
            <a:spLocks noGrp="1" noRot="1" noChangeAspect="1" noChangeArrowheads="1" noTextEdit="1"/>
          </p:cNvSpPr>
          <p:nvPr>
            <p:ph type="sldImg"/>
          </p:nvPr>
        </p:nvSpPr>
        <p:spPr>
          <a:xfrm>
            <a:off x="1143000" y="687388"/>
            <a:ext cx="4572000" cy="3429000"/>
          </a:xfrm>
          <a:ln/>
        </p:spPr>
      </p:sp>
      <p:sp>
        <p:nvSpPr>
          <p:cNvPr id="17412" name="Rectangle 3"/>
          <p:cNvSpPr>
            <a:spLocks noGrp="1" noChangeArrowheads="1"/>
          </p:cNvSpPr>
          <p:nvPr>
            <p:ph type="body" idx="1"/>
          </p:nvPr>
        </p:nvSpPr>
        <p:spPr>
          <a:xfrm>
            <a:off x="912813" y="4343400"/>
            <a:ext cx="5032375"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lstStyle/>
          <a:p>
            <a:pPr eaLnBrk="1" hangingPunct="1">
              <a:spcBef>
                <a:spcPct val="0"/>
              </a:spcBef>
            </a:pPr>
            <a:endParaRPr lang="el-GR" altLang="zh-CN">
              <a:solidFill>
                <a:srgbClr val="000000"/>
              </a:solidFill>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1709011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gradFill rotWithShape="0">
          <a:gsLst>
            <a:gs pos="0">
              <a:srgbClr val="000000"/>
            </a:gs>
            <a:gs pos="20000">
              <a:srgbClr val="000040"/>
            </a:gs>
            <a:gs pos="50000">
              <a:srgbClr val="400040"/>
            </a:gs>
            <a:gs pos="75000">
              <a:srgbClr val="8F0040"/>
            </a:gs>
            <a:gs pos="89999">
              <a:srgbClr val="F27300"/>
            </a:gs>
            <a:gs pos="100000">
              <a:srgbClr val="FFBF00"/>
            </a:gs>
          </a:gsLst>
          <a:lin ang="5400000" scaled="1"/>
        </a:gradFill>
        <a:effectLst/>
      </p:bgPr>
    </p:bg>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4D15EE4-682B-4106-8DA5-8582F5805513}" type="slidenum">
              <a:rPr lang="en-US" altLang="zh-CN">
                <a:solidFill>
                  <a:srgbClr val="FF3300"/>
                </a:solidFill>
                <a:ea typeface="楷体_GB2312"/>
              </a:rPr>
              <a:pPr>
                <a:spcBef>
                  <a:spcPct val="0"/>
                </a:spcBef>
              </a:pPr>
              <a:t>45</a:t>
            </a:fld>
            <a:endParaRPr lang="en-US" altLang="zh-CN">
              <a:solidFill>
                <a:srgbClr val="FF3300"/>
              </a:solidFill>
              <a:ea typeface="楷体_GB2312"/>
            </a:endParaRPr>
          </a:p>
        </p:txBody>
      </p:sp>
      <p:sp>
        <p:nvSpPr>
          <p:cNvPr id="19459" name="Rectangle 2"/>
          <p:cNvSpPr>
            <a:spLocks noGrp="1" noRot="1" noChangeAspect="1" noChangeArrowheads="1" noTextEdit="1"/>
          </p:cNvSpPr>
          <p:nvPr>
            <p:ph type="sldImg"/>
          </p:nvPr>
        </p:nvSpPr>
        <p:spPr>
          <a:xfrm>
            <a:off x="1143000" y="687388"/>
            <a:ext cx="4572000" cy="3429000"/>
          </a:xfrm>
          <a:ln/>
        </p:spPr>
      </p:sp>
      <p:sp>
        <p:nvSpPr>
          <p:cNvPr id="19460" name="Rectangle 3"/>
          <p:cNvSpPr>
            <a:spLocks noGrp="1" noChangeArrowheads="1"/>
          </p:cNvSpPr>
          <p:nvPr>
            <p:ph type="body" idx="1"/>
          </p:nvPr>
        </p:nvSpPr>
        <p:spPr>
          <a:xfrm>
            <a:off x="912813" y="4343400"/>
            <a:ext cx="5032375" cy="41132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lstStyle/>
          <a:p>
            <a:pPr eaLnBrk="1" hangingPunct="1">
              <a:spcBef>
                <a:spcPct val="0"/>
              </a:spcBef>
            </a:pPr>
            <a:endParaRPr lang="el-GR" altLang="zh-CN">
              <a:solidFill>
                <a:srgbClr val="000000"/>
              </a:solidFill>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658336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000" b="0" i="0" kern="1200">
                <a:solidFill>
                  <a:schemeClr val="tx1"/>
                </a:solidFill>
                <a:effectLst/>
                <a:latin typeface="Times New Roman" pitchFamily="18" charset="0"/>
                <a:ea typeface="宋体" charset="-122"/>
                <a:cs typeface="+mn-cs"/>
              </a:rPr>
              <a:t>法拉（</a:t>
            </a:r>
            <a:r>
              <a:rPr kumimoji="1" lang="en-US" altLang="zh-CN" sz="1000" b="0" i="0" kern="1200">
                <a:solidFill>
                  <a:schemeClr val="tx1"/>
                </a:solidFill>
                <a:effectLst/>
                <a:latin typeface="Times New Roman" pitchFamily="18" charset="0"/>
                <a:ea typeface="宋体" charset="-122"/>
                <a:cs typeface="+mn-cs"/>
              </a:rPr>
              <a:t>farad</a:t>
            </a:r>
            <a:r>
              <a:rPr kumimoji="1" lang="zh-CN" altLang="en-US" sz="1000" b="0" i="0" kern="1200">
                <a:solidFill>
                  <a:schemeClr val="tx1"/>
                </a:solidFill>
                <a:effectLst/>
                <a:latin typeface="Times New Roman" pitchFamily="18" charset="0"/>
                <a:ea typeface="宋体" charset="-122"/>
                <a:cs typeface="+mn-cs"/>
              </a:rPr>
              <a:t>，符号为</a:t>
            </a:r>
            <a:r>
              <a:rPr kumimoji="1" lang="en-US" altLang="zh-CN" sz="1000" b="0" i="0" kern="1200">
                <a:solidFill>
                  <a:schemeClr val="tx1"/>
                </a:solidFill>
                <a:effectLst/>
                <a:latin typeface="Times New Roman" pitchFamily="18" charset="0"/>
                <a:ea typeface="宋体" charset="-122"/>
                <a:cs typeface="+mn-cs"/>
              </a:rPr>
              <a:t>F</a:t>
            </a:r>
            <a:r>
              <a:rPr kumimoji="1" lang="zh-CN" altLang="en-US" sz="1000" b="0" i="0" kern="1200">
                <a:solidFill>
                  <a:schemeClr val="tx1"/>
                </a:solidFill>
                <a:effectLst/>
                <a:latin typeface="Times New Roman" pitchFamily="18" charset="0"/>
                <a:ea typeface="宋体" charset="-122"/>
                <a:cs typeface="+mn-cs"/>
              </a:rPr>
              <a:t>）是</a:t>
            </a:r>
            <a:r>
              <a:rPr kumimoji="1" lang="zh-CN" altLang="en-US" sz="1000" b="0" i="0" u="none" strike="noStrike" kern="1200">
                <a:solidFill>
                  <a:schemeClr val="tx1"/>
                </a:solidFill>
                <a:effectLst/>
                <a:latin typeface="Times New Roman" pitchFamily="18" charset="0"/>
                <a:ea typeface="宋体" charset="-122"/>
                <a:cs typeface="+mn-cs"/>
                <a:hlinkClick r:id="rId3"/>
              </a:rPr>
              <a:t>国际单位制</a:t>
            </a:r>
            <a:r>
              <a:rPr kumimoji="1" lang="zh-CN" altLang="en-US" sz="1000" b="0" i="0" kern="1200">
                <a:solidFill>
                  <a:schemeClr val="tx1"/>
                </a:solidFill>
                <a:effectLst/>
                <a:latin typeface="Times New Roman" pitchFamily="18" charset="0"/>
                <a:ea typeface="宋体" charset="-122"/>
                <a:cs typeface="+mn-cs"/>
              </a:rPr>
              <a:t>（</a:t>
            </a:r>
            <a:r>
              <a:rPr kumimoji="1" lang="en-US" altLang="zh-CN" sz="1000" b="0" i="0" kern="1200">
                <a:solidFill>
                  <a:schemeClr val="tx1"/>
                </a:solidFill>
                <a:effectLst/>
                <a:latin typeface="Times New Roman" pitchFamily="18" charset="0"/>
                <a:ea typeface="宋体" charset="-122"/>
                <a:cs typeface="+mn-cs"/>
              </a:rPr>
              <a:t>SI</a:t>
            </a:r>
            <a:r>
              <a:rPr kumimoji="1" lang="zh-CN" altLang="en-US" sz="1000" b="0" i="0" kern="1200">
                <a:solidFill>
                  <a:schemeClr val="tx1"/>
                </a:solidFill>
                <a:effectLst/>
                <a:latin typeface="Times New Roman" pitchFamily="18" charset="0"/>
                <a:ea typeface="宋体" charset="-122"/>
                <a:cs typeface="+mn-cs"/>
              </a:rPr>
              <a:t>）中电容的标准单位。简称“法”，单位符号是</a:t>
            </a:r>
            <a:r>
              <a:rPr kumimoji="1" lang="en-US" altLang="zh-CN" sz="1000" b="0" i="0" kern="1200">
                <a:solidFill>
                  <a:schemeClr val="tx1"/>
                </a:solidFill>
                <a:effectLst/>
                <a:latin typeface="Times New Roman" pitchFamily="18" charset="0"/>
                <a:ea typeface="宋体" charset="-122"/>
                <a:cs typeface="+mn-cs"/>
              </a:rPr>
              <a:t>F</a:t>
            </a:r>
            <a:r>
              <a:rPr kumimoji="1" lang="zh-CN" altLang="en-US" sz="1000" b="0" i="0" kern="1200">
                <a:solidFill>
                  <a:schemeClr val="tx1"/>
                </a:solidFill>
                <a:effectLst/>
                <a:latin typeface="Times New Roman" pitchFamily="18" charset="0"/>
                <a:ea typeface="宋体" charset="-122"/>
                <a:cs typeface="+mn-cs"/>
              </a:rPr>
              <a:t>。如果一个</a:t>
            </a:r>
            <a:r>
              <a:rPr kumimoji="1" lang="zh-CN" altLang="en-US" sz="1000" b="0" i="0" u="none" strike="noStrike" kern="1200">
                <a:solidFill>
                  <a:schemeClr val="tx1"/>
                </a:solidFill>
                <a:effectLst/>
                <a:latin typeface="Times New Roman" pitchFamily="18" charset="0"/>
                <a:ea typeface="宋体" charset="-122"/>
                <a:cs typeface="+mn-cs"/>
                <a:hlinkClick r:id="rId4"/>
              </a:rPr>
              <a:t>电容器</a:t>
            </a:r>
            <a:r>
              <a:rPr kumimoji="1" lang="zh-CN" altLang="en-US" sz="1000" b="0" i="0" kern="1200">
                <a:solidFill>
                  <a:schemeClr val="tx1"/>
                </a:solidFill>
                <a:effectLst/>
                <a:latin typeface="Times New Roman" pitchFamily="18" charset="0"/>
                <a:ea typeface="宋体" charset="-122"/>
                <a:cs typeface="+mn-cs"/>
              </a:rPr>
              <a:t>带</a:t>
            </a:r>
            <a:r>
              <a:rPr kumimoji="1" lang="en-US" altLang="zh-CN" sz="1000" b="0" i="0" kern="1200">
                <a:solidFill>
                  <a:schemeClr val="tx1"/>
                </a:solidFill>
                <a:effectLst/>
                <a:latin typeface="Times New Roman" pitchFamily="18" charset="0"/>
                <a:ea typeface="宋体" charset="-122"/>
                <a:cs typeface="+mn-cs"/>
              </a:rPr>
              <a:t>1</a:t>
            </a:r>
            <a:r>
              <a:rPr kumimoji="1" lang="zh-CN" altLang="en-US" sz="1000" b="0" i="0" u="none" strike="noStrike" kern="1200">
                <a:solidFill>
                  <a:schemeClr val="tx1"/>
                </a:solidFill>
                <a:effectLst/>
                <a:latin typeface="Times New Roman" pitchFamily="18" charset="0"/>
                <a:ea typeface="宋体" charset="-122"/>
                <a:cs typeface="+mn-cs"/>
                <a:hlinkClick r:id="rId5"/>
              </a:rPr>
              <a:t>库仑</a:t>
            </a:r>
            <a:r>
              <a:rPr kumimoji="1" lang="zh-CN" altLang="en-US" sz="1000" b="0" i="0" kern="1200">
                <a:solidFill>
                  <a:schemeClr val="tx1"/>
                </a:solidFill>
                <a:effectLst/>
                <a:latin typeface="Times New Roman" pitchFamily="18" charset="0"/>
                <a:ea typeface="宋体" charset="-122"/>
                <a:cs typeface="+mn-cs"/>
              </a:rPr>
              <a:t>电量时，两极板间电势差是</a:t>
            </a:r>
            <a:r>
              <a:rPr kumimoji="1" lang="en-US" altLang="zh-CN" sz="1000" b="0" i="0" kern="1200">
                <a:solidFill>
                  <a:schemeClr val="tx1"/>
                </a:solidFill>
                <a:effectLst/>
                <a:latin typeface="Times New Roman" pitchFamily="18" charset="0"/>
                <a:ea typeface="宋体" charset="-122"/>
                <a:cs typeface="+mn-cs"/>
              </a:rPr>
              <a:t>1</a:t>
            </a:r>
            <a:r>
              <a:rPr kumimoji="1" lang="zh-CN" altLang="en-US" sz="1000" b="0" i="0" u="none" strike="noStrike" kern="1200">
                <a:solidFill>
                  <a:schemeClr val="tx1"/>
                </a:solidFill>
                <a:effectLst/>
                <a:latin typeface="Times New Roman" pitchFamily="18" charset="0"/>
                <a:ea typeface="宋体" charset="-122"/>
                <a:cs typeface="+mn-cs"/>
                <a:hlinkClick r:id="rId6"/>
              </a:rPr>
              <a:t>伏特</a:t>
            </a:r>
            <a:r>
              <a:rPr kumimoji="1" lang="zh-CN" altLang="en-US" sz="1000" b="0" i="0" kern="1200">
                <a:solidFill>
                  <a:schemeClr val="tx1"/>
                </a:solidFill>
                <a:effectLst/>
                <a:latin typeface="Times New Roman" pitchFamily="18" charset="0"/>
                <a:ea typeface="宋体" charset="-122"/>
                <a:cs typeface="+mn-cs"/>
              </a:rPr>
              <a:t>，这个电容器的电容就是</a:t>
            </a:r>
            <a:r>
              <a:rPr kumimoji="1" lang="en-US" altLang="zh-CN" sz="1000" b="0" i="0" kern="1200">
                <a:solidFill>
                  <a:schemeClr val="tx1"/>
                </a:solidFill>
                <a:effectLst/>
                <a:latin typeface="Times New Roman" pitchFamily="18" charset="0"/>
                <a:ea typeface="宋体" charset="-122"/>
                <a:cs typeface="+mn-cs"/>
              </a:rPr>
              <a:t>1</a:t>
            </a:r>
            <a:r>
              <a:rPr kumimoji="1" lang="zh-CN" altLang="en-US" sz="1000" b="0" i="0" kern="1200">
                <a:solidFill>
                  <a:schemeClr val="tx1"/>
                </a:solidFill>
                <a:effectLst/>
                <a:latin typeface="Times New Roman" pitchFamily="18" charset="0"/>
                <a:ea typeface="宋体" charset="-122"/>
                <a:cs typeface="+mn-cs"/>
              </a:rPr>
              <a:t>法拉，即</a:t>
            </a:r>
            <a:r>
              <a:rPr kumimoji="1" lang="en-US" altLang="zh-CN" sz="1000" b="0" i="0" kern="1200">
                <a:solidFill>
                  <a:schemeClr val="tx1"/>
                </a:solidFill>
                <a:effectLst/>
                <a:latin typeface="Times New Roman" pitchFamily="18" charset="0"/>
                <a:ea typeface="宋体" charset="-122"/>
                <a:cs typeface="+mn-cs"/>
              </a:rPr>
              <a:t>1F=1 C/V</a:t>
            </a:r>
            <a:r>
              <a:rPr kumimoji="1" lang="zh-CN" altLang="en-US" sz="1000" b="0" i="0" kern="1200">
                <a:solidFill>
                  <a:schemeClr val="tx1"/>
                </a:solidFill>
                <a:effectLst/>
                <a:latin typeface="Times New Roman" pitchFamily="18" charset="0"/>
                <a:ea typeface="宋体" charset="-122"/>
                <a:cs typeface="+mn-cs"/>
              </a:rPr>
              <a:t>（</a:t>
            </a:r>
            <a:r>
              <a:rPr kumimoji="1" lang="en-US" altLang="zh-CN" sz="1000" b="0" i="0" kern="1200">
                <a:solidFill>
                  <a:schemeClr val="tx1"/>
                </a:solidFill>
                <a:effectLst/>
                <a:latin typeface="Times New Roman" pitchFamily="18" charset="0"/>
                <a:ea typeface="宋体" charset="-122"/>
                <a:cs typeface="+mn-cs"/>
              </a:rPr>
              <a:t>1</a:t>
            </a:r>
            <a:r>
              <a:rPr kumimoji="1" lang="zh-CN" altLang="en-US" sz="1000" b="0" i="0" kern="1200">
                <a:solidFill>
                  <a:schemeClr val="tx1"/>
                </a:solidFill>
                <a:effectLst/>
                <a:latin typeface="Times New Roman" pitchFamily="18" charset="0"/>
                <a:ea typeface="宋体" charset="-122"/>
                <a:cs typeface="+mn-cs"/>
              </a:rPr>
              <a:t>法等于</a:t>
            </a:r>
            <a:r>
              <a:rPr kumimoji="1" lang="en-US" altLang="zh-CN" sz="1000" b="0" i="0" kern="1200">
                <a:solidFill>
                  <a:schemeClr val="tx1"/>
                </a:solidFill>
                <a:effectLst/>
                <a:latin typeface="Times New Roman" pitchFamily="18" charset="0"/>
                <a:ea typeface="宋体" charset="-122"/>
                <a:cs typeface="+mn-cs"/>
              </a:rPr>
              <a:t>1</a:t>
            </a:r>
            <a:r>
              <a:rPr kumimoji="1" lang="zh-CN" altLang="en-US" sz="1000" b="0" i="0" kern="1200">
                <a:solidFill>
                  <a:schemeClr val="tx1"/>
                </a:solidFill>
                <a:effectLst/>
                <a:latin typeface="Times New Roman" pitchFamily="18" charset="0"/>
                <a:ea typeface="宋体" charset="-122"/>
                <a:cs typeface="+mn-cs"/>
              </a:rPr>
              <a:t>库仑每伏）。</a:t>
            </a:r>
          </a:p>
          <a:p>
            <a:r>
              <a:rPr kumimoji="1" lang="zh-CN" altLang="en-US" sz="1000" b="0" i="0" kern="1200">
                <a:solidFill>
                  <a:schemeClr val="tx1"/>
                </a:solidFill>
                <a:effectLst/>
                <a:latin typeface="Times New Roman" pitchFamily="18" charset="0"/>
                <a:ea typeface="宋体" charset="-122"/>
                <a:cs typeface="+mn-cs"/>
              </a:rPr>
              <a:t>此单位是以发现</a:t>
            </a:r>
            <a:r>
              <a:rPr kumimoji="1" lang="zh-CN" altLang="en-US" sz="1000" b="0" i="0" u="none" strike="noStrike" kern="1200">
                <a:solidFill>
                  <a:schemeClr val="tx1"/>
                </a:solidFill>
                <a:effectLst/>
                <a:latin typeface="Times New Roman" pitchFamily="18" charset="0"/>
                <a:ea typeface="宋体" charset="-122"/>
                <a:cs typeface="+mn-cs"/>
                <a:hlinkClick r:id="rId7"/>
              </a:rPr>
              <a:t>电磁感应现象</a:t>
            </a:r>
            <a:r>
              <a:rPr kumimoji="1" lang="zh-CN" altLang="en-US" sz="1000" b="0" i="0" kern="1200">
                <a:solidFill>
                  <a:schemeClr val="tx1"/>
                </a:solidFill>
                <a:effectLst/>
                <a:latin typeface="Times New Roman" pitchFamily="18" charset="0"/>
                <a:ea typeface="宋体" charset="-122"/>
                <a:cs typeface="+mn-cs"/>
              </a:rPr>
              <a:t>的英国物理学家</a:t>
            </a:r>
            <a:r>
              <a:rPr kumimoji="1" lang="zh-CN" altLang="en-US" sz="1000" b="0" i="0" u="none" strike="noStrike" kern="1200">
                <a:solidFill>
                  <a:schemeClr val="tx1"/>
                </a:solidFill>
                <a:effectLst/>
                <a:latin typeface="Times New Roman" pitchFamily="18" charset="0"/>
                <a:ea typeface="宋体" charset="-122"/>
                <a:cs typeface="+mn-cs"/>
                <a:hlinkClick r:id="rId8"/>
              </a:rPr>
              <a:t>迈克尔</a:t>
            </a:r>
            <a:r>
              <a:rPr kumimoji="1" lang="en-US" altLang="zh-CN" sz="1000" b="0" i="0" u="none" strike="noStrike" kern="1200">
                <a:solidFill>
                  <a:schemeClr val="tx1"/>
                </a:solidFill>
                <a:effectLst/>
                <a:latin typeface="Times New Roman" pitchFamily="18" charset="0"/>
                <a:ea typeface="宋体" charset="-122"/>
                <a:cs typeface="+mn-cs"/>
                <a:hlinkClick r:id="rId8"/>
              </a:rPr>
              <a:t>·</a:t>
            </a:r>
            <a:r>
              <a:rPr kumimoji="1" lang="zh-CN" altLang="en-US" sz="1000" b="0" i="0" u="none" strike="noStrike" kern="1200">
                <a:solidFill>
                  <a:schemeClr val="tx1"/>
                </a:solidFill>
                <a:effectLst/>
                <a:latin typeface="Times New Roman" pitchFamily="18" charset="0"/>
                <a:ea typeface="宋体" charset="-122"/>
                <a:cs typeface="+mn-cs"/>
                <a:hlinkClick r:id="rId8"/>
              </a:rPr>
              <a:t>法拉第</a:t>
            </a:r>
            <a:r>
              <a:rPr kumimoji="1" lang="zh-CN" altLang="en-US" sz="1000" b="0" i="0" u="none" strike="noStrike" kern="1200">
                <a:solidFill>
                  <a:schemeClr val="tx1"/>
                </a:solidFill>
                <a:effectLst/>
                <a:latin typeface="Times New Roman" pitchFamily="18" charset="0"/>
                <a:ea typeface="宋体" charset="-122"/>
                <a:cs typeface="+mn-cs"/>
              </a:rPr>
              <a:t>（</a:t>
            </a:r>
            <a:r>
              <a:rPr kumimoji="1" lang="en-US" altLang="zh-CN" sz="1000" b="0" i="0" kern="1200">
                <a:solidFill>
                  <a:schemeClr val="tx1"/>
                </a:solidFill>
                <a:effectLst/>
                <a:latin typeface="Times New Roman" pitchFamily="18" charset="0"/>
                <a:ea typeface="宋体" charset="-122"/>
                <a:cs typeface="+mn-cs"/>
              </a:rPr>
              <a:t>Michael Faraday</a:t>
            </a:r>
            <a:r>
              <a:rPr kumimoji="1" lang="zh-CN" altLang="en-US" sz="1000" b="0" i="0" u="none" strike="noStrike" kern="1200">
                <a:solidFill>
                  <a:schemeClr val="tx1"/>
                </a:solidFill>
                <a:effectLst/>
                <a:latin typeface="Times New Roman" pitchFamily="18" charset="0"/>
                <a:ea typeface="宋体" charset="-122"/>
                <a:cs typeface="+mn-cs"/>
              </a:rPr>
              <a:t>）</a:t>
            </a:r>
            <a:r>
              <a:rPr kumimoji="1" lang="zh-CN" altLang="en-US" sz="1000" b="0" i="0" kern="1200">
                <a:solidFill>
                  <a:schemeClr val="tx1"/>
                </a:solidFill>
                <a:effectLst/>
                <a:latin typeface="Times New Roman" pitchFamily="18" charset="0"/>
                <a:ea typeface="宋体" charset="-122"/>
                <a:cs typeface="+mn-cs"/>
              </a:rPr>
              <a:t>的名字而命名的。</a:t>
            </a:r>
          </a:p>
          <a:p>
            <a:endParaRPr lang="zh-CN" altLang="en-US"/>
          </a:p>
        </p:txBody>
      </p:sp>
      <p:sp>
        <p:nvSpPr>
          <p:cNvPr id="4" name="灯片编号占位符 3"/>
          <p:cNvSpPr>
            <a:spLocks noGrp="1"/>
          </p:cNvSpPr>
          <p:nvPr>
            <p:ph type="sldNum" sz="quarter" idx="5"/>
          </p:nvPr>
        </p:nvSpPr>
        <p:spPr/>
        <p:txBody>
          <a:bodyPr/>
          <a:lstStyle/>
          <a:p>
            <a:pPr>
              <a:defRPr/>
            </a:pPr>
            <a:fld id="{C89F589A-FC67-44C5-8EB1-B6E170C8EA96}" type="slidenum">
              <a:rPr lang="en-US" altLang="zh-CN" smtClean="0"/>
              <a:pPr>
                <a:defRPr/>
              </a:pPr>
              <a:t>62</a:t>
            </a:fld>
            <a:endParaRPr lang="en-US" altLang="zh-CN"/>
          </a:p>
        </p:txBody>
      </p:sp>
    </p:spTree>
    <p:extLst>
      <p:ext uri="{BB962C8B-B14F-4D97-AF65-F5344CB8AC3E}">
        <p14:creationId xmlns:p14="http://schemas.microsoft.com/office/powerpoint/2010/main" val="3183109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20000"/>
              </a:spcBef>
            </a:pPr>
            <a:fld id="{4736107B-E220-4A2D-A203-88955521418B}" type="slidenum">
              <a:rPr lang="zh-TW" altLang="en-US">
                <a:solidFill>
                  <a:srgbClr val="FF3300"/>
                </a:solidFill>
                <a:ea typeface="楷体_GB2312"/>
              </a:rPr>
              <a:pPr>
                <a:spcBef>
                  <a:spcPct val="20000"/>
                </a:spcBef>
              </a:pPr>
              <a:t>68</a:t>
            </a:fld>
            <a:endParaRPr lang="en-US" altLang="zh-TW">
              <a:solidFill>
                <a:srgbClr val="FF3300"/>
              </a:solidFill>
              <a:ea typeface="楷体_GB2312"/>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r>
              <a:rPr lang="en-US" altLang="en-US" b="1">
                <a:ea typeface="宋体" panose="02010600030101010101" pitchFamily="2" charset="-122"/>
              </a:rPr>
              <a:t>Figure 26.14 </a:t>
            </a:r>
            <a:r>
              <a:rPr lang="en-US" altLang="en-US">
                <a:ea typeface="宋体" panose="02010600030101010101" pitchFamily="2" charset="-122"/>
              </a:rPr>
              <a:t>In a hospital or at an emergency scene, you might see a patient being revived with a defibrillator. The defibrillator’s paddles are applied to the patient’s chest, and an electric shock is sent through the chest cavity. The aim of this technique is to restore the heart’s normal rhythm pattern. </a:t>
            </a:r>
            <a:r>
              <a:rPr lang="en-US" altLang="en-US" i="1">
                <a:ea typeface="宋体" panose="02010600030101010101" pitchFamily="2" charset="-122"/>
              </a:rPr>
              <a:t>Adam Hart- Davis/ SPL/ Custom Medical Stock</a:t>
            </a:r>
          </a:p>
        </p:txBody>
      </p:sp>
    </p:spTree>
    <p:extLst>
      <p:ext uri="{BB962C8B-B14F-4D97-AF65-F5344CB8AC3E}">
        <p14:creationId xmlns:p14="http://schemas.microsoft.com/office/powerpoint/2010/main" val="585460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C79D8CA-6EF3-46C0-B112-9CF302B9B8FB}" type="slidenum">
              <a:rPr lang="en-US" altLang="zh-CN"/>
              <a:pPr>
                <a:defRPr/>
              </a:pPr>
              <a:t>‹#›</a:t>
            </a:fld>
            <a:endParaRPr lang="en-US" altLang="zh-CN"/>
          </a:p>
        </p:txBody>
      </p:sp>
    </p:spTree>
    <p:extLst>
      <p:ext uri="{BB962C8B-B14F-4D97-AF65-F5344CB8AC3E}">
        <p14:creationId xmlns:p14="http://schemas.microsoft.com/office/powerpoint/2010/main" val="146285677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1800065-EA11-46C3-8A32-A1EE6049E8FB}" type="slidenum">
              <a:rPr lang="en-US" altLang="zh-CN"/>
              <a:pPr>
                <a:defRPr/>
              </a:pPr>
              <a:t>‹#›</a:t>
            </a:fld>
            <a:endParaRPr lang="en-US" altLang="zh-CN"/>
          </a:p>
        </p:txBody>
      </p:sp>
    </p:spTree>
    <p:extLst>
      <p:ext uri="{BB962C8B-B14F-4D97-AF65-F5344CB8AC3E}">
        <p14:creationId xmlns:p14="http://schemas.microsoft.com/office/powerpoint/2010/main" val="2513991796"/>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5101D97-AD1C-4AA4-A682-08CE97F71EC5}" type="slidenum">
              <a:rPr lang="en-US" altLang="zh-CN"/>
              <a:pPr>
                <a:defRPr/>
              </a:pPr>
              <a:t>‹#›</a:t>
            </a:fld>
            <a:endParaRPr lang="en-US" altLang="zh-CN"/>
          </a:p>
        </p:txBody>
      </p:sp>
    </p:spTree>
    <p:extLst>
      <p:ext uri="{BB962C8B-B14F-4D97-AF65-F5344CB8AC3E}">
        <p14:creationId xmlns:p14="http://schemas.microsoft.com/office/powerpoint/2010/main" val="1246840972"/>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E5ED693-0CB8-47BF-9050-A459780181F3}" type="slidenum">
              <a:rPr lang="en-US" altLang="zh-CN"/>
              <a:pPr>
                <a:defRPr/>
              </a:pPr>
              <a:t>‹#›</a:t>
            </a:fld>
            <a:endParaRPr lang="en-US" altLang="zh-CN"/>
          </a:p>
        </p:txBody>
      </p:sp>
    </p:spTree>
    <p:extLst>
      <p:ext uri="{BB962C8B-B14F-4D97-AF65-F5344CB8AC3E}">
        <p14:creationId xmlns:p14="http://schemas.microsoft.com/office/powerpoint/2010/main" val="3405872914"/>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00E0646-1EE2-4F39-BA40-537A48CC3CC1}" type="slidenum">
              <a:rPr lang="en-US" altLang="zh-CN"/>
              <a:pPr>
                <a:defRPr/>
              </a:pPr>
              <a:t>‹#›</a:t>
            </a:fld>
            <a:endParaRPr lang="en-US" altLang="zh-CN"/>
          </a:p>
        </p:txBody>
      </p:sp>
    </p:spTree>
    <p:extLst>
      <p:ext uri="{BB962C8B-B14F-4D97-AF65-F5344CB8AC3E}">
        <p14:creationId xmlns:p14="http://schemas.microsoft.com/office/powerpoint/2010/main" val="449563727"/>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9B83CF6-5A62-45C8-88FB-CA7B534D5311}" type="slidenum">
              <a:rPr lang="en-US" altLang="zh-CN"/>
              <a:pPr>
                <a:defRPr/>
              </a:pPr>
              <a:t>‹#›</a:t>
            </a:fld>
            <a:endParaRPr lang="en-US" altLang="zh-CN"/>
          </a:p>
        </p:txBody>
      </p:sp>
    </p:spTree>
    <p:extLst>
      <p:ext uri="{BB962C8B-B14F-4D97-AF65-F5344CB8AC3E}">
        <p14:creationId xmlns:p14="http://schemas.microsoft.com/office/powerpoint/2010/main" val="25388954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BD6AB2F2-DD46-4C58-AE6B-CC799C5BDCBF}" type="slidenum">
              <a:rPr lang="en-US" altLang="zh-CN"/>
              <a:pPr>
                <a:defRPr/>
              </a:pPr>
              <a:t>‹#›</a:t>
            </a:fld>
            <a:endParaRPr lang="en-US" altLang="zh-CN"/>
          </a:p>
        </p:txBody>
      </p:sp>
    </p:spTree>
    <p:extLst>
      <p:ext uri="{BB962C8B-B14F-4D97-AF65-F5344CB8AC3E}">
        <p14:creationId xmlns:p14="http://schemas.microsoft.com/office/powerpoint/2010/main" val="32914393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F96DE1E-38D1-43C6-827F-074B52C05D49}" type="slidenum">
              <a:rPr lang="en-US" altLang="zh-CN"/>
              <a:pPr>
                <a:defRPr/>
              </a:pPr>
              <a:t>‹#›</a:t>
            </a:fld>
            <a:endParaRPr lang="en-US" altLang="zh-CN"/>
          </a:p>
        </p:txBody>
      </p:sp>
    </p:spTree>
    <p:extLst>
      <p:ext uri="{BB962C8B-B14F-4D97-AF65-F5344CB8AC3E}">
        <p14:creationId xmlns:p14="http://schemas.microsoft.com/office/powerpoint/2010/main" val="74901318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6DF5BE5-6A71-4C83-963C-A27C278E6855}" type="slidenum">
              <a:rPr lang="en-US" altLang="zh-CN"/>
              <a:pPr>
                <a:defRPr/>
              </a:pPr>
              <a:t>‹#›</a:t>
            </a:fld>
            <a:endParaRPr lang="en-US" altLang="zh-CN"/>
          </a:p>
        </p:txBody>
      </p:sp>
    </p:spTree>
    <p:extLst>
      <p:ext uri="{BB962C8B-B14F-4D97-AF65-F5344CB8AC3E}">
        <p14:creationId xmlns:p14="http://schemas.microsoft.com/office/powerpoint/2010/main" val="577142889"/>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0EA1DD1-7FDC-47C3-B98A-925E8C31E7F3}" type="slidenum">
              <a:rPr lang="en-US" altLang="zh-CN"/>
              <a:pPr>
                <a:defRPr/>
              </a:pPr>
              <a:t>‹#›</a:t>
            </a:fld>
            <a:endParaRPr lang="en-US" altLang="zh-CN"/>
          </a:p>
        </p:txBody>
      </p:sp>
    </p:spTree>
    <p:extLst>
      <p:ext uri="{BB962C8B-B14F-4D97-AF65-F5344CB8AC3E}">
        <p14:creationId xmlns:p14="http://schemas.microsoft.com/office/powerpoint/2010/main" val="3397689941"/>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21D7A5C-0BDA-4008-9B72-5752D7E1A20B}" type="slidenum">
              <a:rPr lang="en-US" altLang="zh-CN"/>
              <a:pPr>
                <a:defRPr/>
              </a:pPr>
              <a:t>‹#›</a:t>
            </a:fld>
            <a:endParaRPr lang="en-US" altLang="zh-CN"/>
          </a:p>
        </p:txBody>
      </p:sp>
    </p:spTree>
    <p:extLst>
      <p:ext uri="{BB962C8B-B14F-4D97-AF65-F5344CB8AC3E}">
        <p14:creationId xmlns:p14="http://schemas.microsoft.com/office/powerpoint/2010/main" val="1290480733"/>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6A5782F-1243-434C-A93B-5773F440E938}" type="slidenum">
              <a:rPr lang="en-US" altLang="zh-CN"/>
              <a:pPr>
                <a:defRPr/>
              </a:pPr>
              <a:t>‹#›</a:t>
            </a:fld>
            <a:endParaRPr lang="en-US" altLang="zh-CN"/>
          </a:p>
        </p:txBody>
      </p:sp>
    </p:spTree>
    <p:extLst>
      <p:ext uri="{BB962C8B-B14F-4D97-AF65-F5344CB8AC3E}">
        <p14:creationId xmlns:p14="http://schemas.microsoft.com/office/powerpoint/2010/main" val="3474232026"/>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a:solidFill>
                  <a:schemeClr val="tx1"/>
                </a:solidFill>
                <a:ea typeface="+mn-ea"/>
                <a:cs typeface="+mn-cs"/>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solidFill>
                  <a:schemeClr val="tx1"/>
                </a:solidFill>
                <a:ea typeface="+mn-ea"/>
                <a:cs typeface="+mn-cs"/>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smtClean="0">
                <a:solidFill>
                  <a:schemeClr val="tx1"/>
                </a:solidFill>
                <a:ea typeface="宋体" panose="02010600030101010101" pitchFamily="2" charset="-122"/>
              </a:defRPr>
            </a:lvl1pPr>
          </a:lstStyle>
          <a:p>
            <a:pPr>
              <a:defRPr/>
            </a:pPr>
            <a:fld id="{99DEBFAF-75B1-40E9-BD1A-E09F754655F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image" Target="../media/image5.emf"/><Relationship Id="rId5" Type="http://schemas.openxmlformats.org/officeDocument/2006/relationships/oleObject" Target="../embeddings/oleObject2.bin"/><Relationship Id="rId10" Type="http://schemas.openxmlformats.org/officeDocument/2006/relationships/oleObject" Target="../embeddings/oleObject4.bin"/><Relationship Id="rId4" Type="http://schemas.openxmlformats.org/officeDocument/2006/relationships/image" Target="../media/image2.wmf"/><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2.wmf"/><Relationship Id="rId4"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13" Type="http://schemas.openxmlformats.org/officeDocument/2006/relationships/oleObject" Target="../embeddings/oleObject12.bin"/><Relationship Id="rId18" Type="http://schemas.openxmlformats.org/officeDocument/2006/relationships/image" Target="../media/image15.wmf"/><Relationship Id="rId26" Type="http://schemas.openxmlformats.org/officeDocument/2006/relationships/image" Target="../media/image19.wmf"/><Relationship Id="rId3" Type="http://schemas.openxmlformats.org/officeDocument/2006/relationships/oleObject" Target="../embeddings/oleObject7.bin"/><Relationship Id="rId21" Type="http://schemas.openxmlformats.org/officeDocument/2006/relationships/oleObject" Target="../embeddings/oleObject16.bin"/><Relationship Id="rId34" Type="http://schemas.openxmlformats.org/officeDocument/2006/relationships/image" Target="../media/image23.wmf"/><Relationship Id="rId7" Type="http://schemas.openxmlformats.org/officeDocument/2006/relationships/oleObject" Target="../embeddings/oleObject9.bin"/><Relationship Id="rId12" Type="http://schemas.openxmlformats.org/officeDocument/2006/relationships/image" Target="../media/image12.wmf"/><Relationship Id="rId17" Type="http://schemas.openxmlformats.org/officeDocument/2006/relationships/oleObject" Target="../embeddings/oleObject14.bin"/><Relationship Id="rId25" Type="http://schemas.openxmlformats.org/officeDocument/2006/relationships/oleObject" Target="../embeddings/oleObject18.bin"/><Relationship Id="rId33" Type="http://schemas.openxmlformats.org/officeDocument/2006/relationships/oleObject" Target="../embeddings/oleObject22.bin"/><Relationship Id="rId2" Type="http://schemas.openxmlformats.org/officeDocument/2006/relationships/slideLayout" Target="../slideLayouts/slideLayout7.xml"/><Relationship Id="rId16" Type="http://schemas.openxmlformats.org/officeDocument/2006/relationships/image" Target="../media/image14.wmf"/><Relationship Id="rId20" Type="http://schemas.openxmlformats.org/officeDocument/2006/relationships/image" Target="../media/image16.wmf"/><Relationship Id="rId29" Type="http://schemas.openxmlformats.org/officeDocument/2006/relationships/oleObject" Target="../embeddings/oleObject20.bin"/><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1.bin"/><Relationship Id="rId24" Type="http://schemas.openxmlformats.org/officeDocument/2006/relationships/image" Target="../media/image18.wmf"/><Relationship Id="rId32" Type="http://schemas.openxmlformats.org/officeDocument/2006/relationships/image" Target="../media/image22.wmf"/><Relationship Id="rId5" Type="http://schemas.openxmlformats.org/officeDocument/2006/relationships/oleObject" Target="../embeddings/oleObject8.bin"/><Relationship Id="rId15" Type="http://schemas.openxmlformats.org/officeDocument/2006/relationships/oleObject" Target="../embeddings/oleObject13.bin"/><Relationship Id="rId23" Type="http://schemas.openxmlformats.org/officeDocument/2006/relationships/oleObject" Target="../embeddings/oleObject17.bin"/><Relationship Id="rId28" Type="http://schemas.openxmlformats.org/officeDocument/2006/relationships/image" Target="../media/image20.wmf"/><Relationship Id="rId36" Type="http://schemas.openxmlformats.org/officeDocument/2006/relationships/image" Target="../media/image24.wmf"/><Relationship Id="rId10" Type="http://schemas.openxmlformats.org/officeDocument/2006/relationships/image" Target="../media/image11.wmf"/><Relationship Id="rId19" Type="http://schemas.openxmlformats.org/officeDocument/2006/relationships/oleObject" Target="../embeddings/oleObject15.bin"/><Relationship Id="rId31" Type="http://schemas.openxmlformats.org/officeDocument/2006/relationships/oleObject" Target="../embeddings/oleObject21.bin"/><Relationship Id="rId4" Type="http://schemas.openxmlformats.org/officeDocument/2006/relationships/image" Target="../media/image8.wmf"/><Relationship Id="rId9" Type="http://schemas.openxmlformats.org/officeDocument/2006/relationships/oleObject" Target="../embeddings/oleObject10.bin"/><Relationship Id="rId14" Type="http://schemas.openxmlformats.org/officeDocument/2006/relationships/image" Target="../media/image13.wmf"/><Relationship Id="rId22" Type="http://schemas.openxmlformats.org/officeDocument/2006/relationships/image" Target="../media/image17.wmf"/><Relationship Id="rId27" Type="http://schemas.openxmlformats.org/officeDocument/2006/relationships/oleObject" Target="../embeddings/oleObject19.bin"/><Relationship Id="rId30" Type="http://schemas.openxmlformats.org/officeDocument/2006/relationships/image" Target="../media/image21.wmf"/><Relationship Id="rId35" Type="http://schemas.openxmlformats.org/officeDocument/2006/relationships/oleObject" Target="../embeddings/oleObject23.bin"/><Relationship Id="rId8" Type="http://schemas.openxmlformats.org/officeDocument/2006/relationships/image" Target="../media/image10.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2.xml"/><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25.bin"/><Relationship Id="rId5" Type="http://schemas.openxmlformats.org/officeDocument/2006/relationships/image" Target="../media/image25.wmf"/><Relationship Id="rId4" Type="http://schemas.openxmlformats.org/officeDocument/2006/relationships/oleObject" Target="../embeddings/oleObject24.bin"/><Relationship Id="rId9" Type="http://schemas.openxmlformats.org/officeDocument/2006/relationships/image" Target="../media/image27.wmf"/></Relationships>
</file>

<file path=ppt/slides/_rels/slide5.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8.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30.bin"/><Relationship Id="rId1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3.wmf"/><Relationship Id="rId5" Type="http://schemas.openxmlformats.org/officeDocument/2006/relationships/oleObject" Target="../embeddings/oleObject34.bin"/><Relationship Id="rId4" Type="http://schemas.openxmlformats.org/officeDocument/2006/relationships/image" Target="../media/image32.wmf"/></Relationships>
</file>

<file path=ppt/slides/_rels/slide7.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5.wmf"/><Relationship Id="rId5" Type="http://schemas.openxmlformats.org/officeDocument/2006/relationships/oleObject" Target="../embeddings/oleObject36.bin"/><Relationship Id="rId4" Type="http://schemas.openxmlformats.org/officeDocument/2006/relationships/image" Target="../media/image34.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40.wmf"/><Relationship Id="rId18" Type="http://schemas.openxmlformats.org/officeDocument/2006/relationships/image" Target="../media/image6.png"/><Relationship Id="rId3" Type="http://schemas.openxmlformats.org/officeDocument/2006/relationships/notesSlide" Target="../notesSlides/notesSlide3.xml"/><Relationship Id="rId7" Type="http://schemas.openxmlformats.org/officeDocument/2006/relationships/image" Target="../media/image37.wmf"/><Relationship Id="rId12" Type="http://schemas.openxmlformats.org/officeDocument/2006/relationships/oleObject" Target="../embeddings/oleObject42.bin"/><Relationship Id="rId17" Type="http://schemas.openxmlformats.org/officeDocument/2006/relationships/image" Target="../media/image42.wmf"/><Relationship Id="rId2" Type="http://schemas.openxmlformats.org/officeDocument/2006/relationships/slideLayout" Target="../slideLayouts/slideLayout7.xml"/><Relationship Id="rId16" Type="http://schemas.openxmlformats.org/officeDocument/2006/relationships/oleObject" Target="../embeddings/oleObject44.bin"/><Relationship Id="rId1" Type="http://schemas.openxmlformats.org/officeDocument/2006/relationships/vmlDrawing" Target="../drawings/vmlDrawing8.vml"/><Relationship Id="rId6" Type="http://schemas.openxmlformats.org/officeDocument/2006/relationships/oleObject" Target="../embeddings/oleObject39.bin"/><Relationship Id="rId11" Type="http://schemas.openxmlformats.org/officeDocument/2006/relationships/image" Target="../media/image39.wmf"/><Relationship Id="rId5" Type="http://schemas.openxmlformats.org/officeDocument/2006/relationships/image" Target="../media/image36.wmf"/><Relationship Id="rId15" Type="http://schemas.openxmlformats.org/officeDocument/2006/relationships/image" Target="../media/image41.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38.wmf"/><Relationship Id="rId14" Type="http://schemas.openxmlformats.org/officeDocument/2006/relationships/oleObject" Target="../embeddings/oleObject43.bin"/></Relationships>
</file>

<file path=ppt/slides/_rels/slide9.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4.wmf"/><Relationship Id="rId5" Type="http://schemas.openxmlformats.org/officeDocument/2006/relationships/oleObject" Target="../embeddings/oleObject46.bin"/><Relationship Id="rId4" Type="http://schemas.openxmlformats.org/officeDocument/2006/relationships/image" Target="../media/image43.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49.jpeg"/><Relationship Id="rId7" Type="http://schemas.openxmlformats.org/officeDocument/2006/relationships/image" Target="../media/image47.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49.bin"/><Relationship Id="rId5" Type="http://schemas.openxmlformats.org/officeDocument/2006/relationships/image" Target="../media/image46.wmf"/><Relationship Id="rId4" Type="http://schemas.openxmlformats.org/officeDocument/2006/relationships/oleObject" Target="../embeddings/oleObject48.bin"/><Relationship Id="rId9" Type="http://schemas.openxmlformats.org/officeDocument/2006/relationships/image" Target="../media/image48.wmf"/></Relationships>
</file>

<file path=ppt/slides/_rels/slide11.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54.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51.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54.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6.wmf"/><Relationship Id="rId5" Type="http://schemas.openxmlformats.org/officeDocument/2006/relationships/oleObject" Target="../embeddings/oleObject57.bin"/><Relationship Id="rId4" Type="http://schemas.openxmlformats.org/officeDocument/2006/relationships/image" Target="../media/image55.wmf"/></Relationships>
</file>

<file path=ppt/slides/_rels/slide13.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63.bin"/><Relationship Id="rId18" Type="http://schemas.openxmlformats.org/officeDocument/2006/relationships/image" Target="../media/image64.wmf"/><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61.wmf"/><Relationship Id="rId17" Type="http://schemas.openxmlformats.org/officeDocument/2006/relationships/oleObject" Target="../embeddings/oleObject65.bin"/><Relationship Id="rId2" Type="http://schemas.openxmlformats.org/officeDocument/2006/relationships/slideLayout" Target="../slideLayouts/slideLayout7.xml"/><Relationship Id="rId16" Type="http://schemas.openxmlformats.org/officeDocument/2006/relationships/image" Target="../media/image63.wmf"/><Relationship Id="rId1" Type="http://schemas.openxmlformats.org/officeDocument/2006/relationships/vmlDrawing" Target="../drawings/vmlDrawing13.vml"/><Relationship Id="rId6" Type="http://schemas.openxmlformats.org/officeDocument/2006/relationships/image" Target="../media/image58.wmf"/><Relationship Id="rId11" Type="http://schemas.openxmlformats.org/officeDocument/2006/relationships/oleObject" Target="../embeddings/oleObject62.bin"/><Relationship Id="rId5" Type="http://schemas.openxmlformats.org/officeDocument/2006/relationships/oleObject" Target="../embeddings/oleObject59.bin"/><Relationship Id="rId15" Type="http://schemas.openxmlformats.org/officeDocument/2006/relationships/oleObject" Target="../embeddings/oleObject64.bin"/><Relationship Id="rId10" Type="http://schemas.openxmlformats.org/officeDocument/2006/relationships/image" Target="../media/image60.wmf"/><Relationship Id="rId19" Type="http://schemas.openxmlformats.org/officeDocument/2006/relationships/image" Target="../media/image65.png"/><Relationship Id="rId4" Type="http://schemas.openxmlformats.org/officeDocument/2006/relationships/image" Target="../media/image57.wmf"/><Relationship Id="rId9" Type="http://schemas.openxmlformats.org/officeDocument/2006/relationships/oleObject" Target="../embeddings/oleObject61.bin"/><Relationship Id="rId14" Type="http://schemas.openxmlformats.org/officeDocument/2006/relationships/image" Target="../media/image62.wmf"/></Relationships>
</file>

<file path=ppt/slides/_rels/slide14.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71.bin"/><Relationship Id="rId18" Type="http://schemas.openxmlformats.org/officeDocument/2006/relationships/image" Target="../media/image70.wmf"/><Relationship Id="rId3" Type="http://schemas.openxmlformats.org/officeDocument/2006/relationships/oleObject" Target="../embeddings/oleObject66.bin"/><Relationship Id="rId21" Type="http://schemas.openxmlformats.org/officeDocument/2006/relationships/oleObject" Target="../embeddings/oleObject75.bin"/><Relationship Id="rId7" Type="http://schemas.openxmlformats.org/officeDocument/2006/relationships/oleObject" Target="../embeddings/oleObject68.bin"/><Relationship Id="rId12" Type="http://schemas.openxmlformats.org/officeDocument/2006/relationships/image" Target="../media/image67.wmf"/><Relationship Id="rId17" Type="http://schemas.openxmlformats.org/officeDocument/2006/relationships/oleObject" Target="../embeddings/oleObject73.bin"/><Relationship Id="rId2" Type="http://schemas.openxmlformats.org/officeDocument/2006/relationships/slideLayout" Target="../slideLayouts/slideLayout7.xml"/><Relationship Id="rId16" Type="http://schemas.openxmlformats.org/officeDocument/2006/relationships/image" Target="../media/image69.wmf"/><Relationship Id="rId20" Type="http://schemas.openxmlformats.org/officeDocument/2006/relationships/image" Target="../media/image59.wmf"/><Relationship Id="rId1" Type="http://schemas.openxmlformats.org/officeDocument/2006/relationships/vmlDrawing" Target="../drawings/vmlDrawing14.vml"/><Relationship Id="rId6" Type="http://schemas.openxmlformats.org/officeDocument/2006/relationships/image" Target="../media/image61.wmf"/><Relationship Id="rId11" Type="http://schemas.openxmlformats.org/officeDocument/2006/relationships/oleObject" Target="../embeddings/oleObject70.bin"/><Relationship Id="rId24" Type="http://schemas.openxmlformats.org/officeDocument/2006/relationships/image" Target="../media/image73.png"/><Relationship Id="rId5" Type="http://schemas.openxmlformats.org/officeDocument/2006/relationships/oleObject" Target="../embeddings/oleObject67.bin"/><Relationship Id="rId15" Type="http://schemas.openxmlformats.org/officeDocument/2006/relationships/oleObject" Target="../embeddings/oleObject72.bin"/><Relationship Id="rId23" Type="http://schemas.openxmlformats.org/officeDocument/2006/relationships/image" Target="../media/image72.png"/><Relationship Id="rId10" Type="http://schemas.openxmlformats.org/officeDocument/2006/relationships/image" Target="../media/image60.wmf"/><Relationship Id="rId19" Type="http://schemas.openxmlformats.org/officeDocument/2006/relationships/oleObject" Target="../embeddings/oleObject74.bin"/><Relationship Id="rId4" Type="http://schemas.openxmlformats.org/officeDocument/2006/relationships/image" Target="../media/image57.wmf"/><Relationship Id="rId9" Type="http://schemas.openxmlformats.org/officeDocument/2006/relationships/oleObject" Target="../embeddings/oleObject69.bin"/><Relationship Id="rId14" Type="http://schemas.openxmlformats.org/officeDocument/2006/relationships/image" Target="../media/image68.wmf"/><Relationship Id="rId22" Type="http://schemas.openxmlformats.org/officeDocument/2006/relationships/image" Target="../media/image71.wmf"/></Relationships>
</file>

<file path=ppt/slides/_rels/slide15.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5.wmf"/><Relationship Id="rId5" Type="http://schemas.openxmlformats.org/officeDocument/2006/relationships/oleObject" Target="../embeddings/oleObject77.bin"/><Relationship Id="rId10" Type="http://schemas.openxmlformats.org/officeDocument/2006/relationships/image" Target="../media/image78.png"/><Relationship Id="rId4" Type="http://schemas.openxmlformats.org/officeDocument/2006/relationships/image" Target="../media/image74.wmf"/><Relationship Id="rId9" Type="http://schemas.openxmlformats.org/officeDocument/2006/relationships/image" Target="../media/image77.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83.wmf"/><Relationship Id="rId18" Type="http://schemas.openxmlformats.org/officeDocument/2006/relationships/oleObject" Target="../embeddings/oleObject86.bin"/><Relationship Id="rId3" Type="http://schemas.openxmlformats.org/officeDocument/2006/relationships/image" Target="../media/image88.png"/><Relationship Id="rId21" Type="http://schemas.openxmlformats.org/officeDocument/2006/relationships/image" Target="../media/image87.wmf"/><Relationship Id="rId7" Type="http://schemas.openxmlformats.org/officeDocument/2006/relationships/image" Target="../media/image80.wmf"/><Relationship Id="rId12" Type="http://schemas.openxmlformats.org/officeDocument/2006/relationships/oleObject" Target="../embeddings/oleObject83.bin"/><Relationship Id="rId17" Type="http://schemas.openxmlformats.org/officeDocument/2006/relationships/image" Target="../media/image85.wmf"/><Relationship Id="rId2" Type="http://schemas.openxmlformats.org/officeDocument/2006/relationships/slideLayout" Target="../slideLayouts/slideLayout7.xml"/><Relationship Id="rId16" Type="http://schemas.openxmlformats.org/officeDocument/2006/relationships/oleObject" Target="../embeddings/oleObject85.bin"/><Relationship Id="rId20" Type="http://schemas.openxmlformats.org/officeDocument/2006/relationships/oleObject" Target="../embeddings/oleObject87.bin"/><Relationship Id="rId1" Type="http://schemas.openxmlformats.org/officeDocument/2006/relationships/vmlDrawing" Target="../drawings/vmlDrawing16.vml"/><Relationship Id="rId6" Type="http://schemas.openxmlformats.org/officeDocument/2006/relationships/oleObject" Target="../embeddings/oleObject80.bin"/><Relationship Id="rId11" Type="http://schemas.openxmlformats.org/officeDocument/2006/relationships/image" Target="../media/image82.wmf"/><Relationship Id="rId5" Type="http://schemas.openxmlformats.org/officeDocument/2006/relationships/image" Target="../media/image79.wmf"/><Relationship Id="rId15" Type="http://schemas.openxmlformats.org/officeDocument/2006/relationships/image" Target="../media/image84.wmf"/><Relationship Id="rId23" Type="http://schemas.openxmlformats.org/officeDocument/2006/relationships/image" Target="../media/image72.png"/><Relationship Id="rId10" Type="http://schemas.openxmlformats.org/officeDocument/2006/relationships/oleObject" Target="../embeddings/oleObject82.bin"/><Relationship Id="rId19" Type="http://schemas.openxmlformats.org/officeDocument/2006/relationships/image" Target="../media/image86.wmf"/><Relationship Id="rId4" Type="http://schemas.openxmlformats.org/officeDocument/2006/relationships/oleObject" Target="../embeddings/oleObject79.bin"/><Relationship Id="rId9" Type="http://schemas.openxmlformats.org/officeDocument/2006/relationships/image" Target="../media/image81.wmf"/><Relationship Id="rId14" Type="http://schemas.openxmlformats.org/officeDocument/2006/relationships/oleObject" Target="../embeddings/oleObject84.bin"/><Relationship Id="rId22" Type="http://schemas.openxmlformats.org/officeDocument/2006/relationships/image" Target="../media/image78.png"/></Relationships>
</file>

<file path=ppt/slides/_rels/slide17.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90.wmf"/><Relationship Id="rId5" Type="http://schemas.openxmlformats.org/officeDocument/2006/relationships/oleObject" Target="../embeddings/oleObject89.bin"/><Relationship Id="rId4" Type="http://schemas.openxmlformats.org/officeDocument/2006/relationships/image" Target="../media/image89.wmf"/><Relationship Id="rId9" Type="http://schemas.openxmlformats.org/officeDocument/2006/relationships/image" Target="../media/image92.png"/></Relationships>
</file>

<file path=ppt/slides/_rels/slide18.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96.bin"/><Relationship Id="rId3" Type="http://schemas.openxmlformats.org/officeDocument/2006/relationships/oleObject" Target="../embeddings/oleObject91.bin"/><Relationship Id="rId7" Type="http://schemas.openxmlformats.org/officeDocument/2006/relationships/oleObject" Target="../embeddings/oleObject93.bin"/><Relationship Id="rId12" Type="http://schemas.openxmlformats.org/officeDocument/2006/relationships/image" Target="../media/image96.wmf"/><Relationship Id="rId2" Type="http://schemas.openxmlformats.org/officeDocument/2006/relationships/slideLayout" Target="../slideLayouts/slideLayout7.xml"/><Relationship Id="rId16" Type="http://schemas.openxmlformats.org/officeDocument/2006/relationships/image" Target="../media/image98.wmf"/><Relationship Id="rId1" Type="http://schemas.openxmlformats.org/officeDocument/2006/relationships/vmlDrawing" Target="../drawings/vmlDrawing18.vml"/><Relationship Id="rId6" Type="http://schemas.openxmlformats.org/officeDocument/2006/relationships/image" Target="../media/image94.wmf"/><Relationship Id="rId11" Type="http://schemas.openxmlformats.org/officeDocument/2006/relationships/oleObject" Target="../embeddings/oleObject95.bin"/><Relationship Id="rId5" Type="http://schemas.openxmlformats.org/officeDocument/2006/relationships/oleObject" Target="../embeddings/oleObject92.bin"/><Relationship Id="rId15" Type="http://schemas.openxmlformats.org/officeDocument/2006/relationships/oleObject" Target="../embeddings/oleObject97.bin"/><Relationship Id="rId10" Type="http://schemas.openxmlformats.org/officeDocument/2006/relationships/image" Target="../media/image60.wmf"/><Relationship Id="rId4" Type="http://schemas.openxmlformats.org/officeDocument/2006/relationships/image" Target="../media/image93.wmf"/><Relationship Id="rId9" Type="http://schemas.openxmlformats.org/officeDocument/2006/relationships/oleObject" Target="../embeddings/oleObject94.bin"/><Relationship Id="rId14" Type="http://schemas.openxmlformats.org/officeDocument/2006/relationships/image" Target="../media/image97.wmf"/></Relationships>
</file>

<file path=ppt/slides/_rels/slide19.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00.wmf"/><Relationship Id="rId5" Type="http://schemas.openxmlformats.org/officeDocument/2006/relationships/oleObject" Target="../embeddings/oleObject99.bin"/><Relationship Id="rId4" Type="http://schemas.openxmlformats.org/officeDocument/2006/relationships/image" Target="../media/image99.wmf"/></Relationships>
</file>

<file path=ppt/slides/_rels/slide2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hyperlink" Target="dengshimian.swf" TargetMode="External"/><Relationship Id="rId1" Type="http://schemas.openxmlformats.org/officeDocument/2006/relationships/slideLayout" Target="../slideLayouts/slideLayout7.xml"/><Relationship Id="rId5" Type="http://schemas.openxmlformats.org/officeDocument/2006/relationships/image" Target="../media/image104.png"/><Relationship Id="rId4" Type="http://schemas.openxmlformats.org/officeDocument/2006/relationships/image" Target="../media/image103.png"/></Relationships>
</file>

<file path=ppt/slides/_rels/slide21.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oleObject" Target="../embeddings/oleObject105.bin"/><Relationship Id="rId18" Type="http://schemas.openxmlformats.org/officeDocument/2006/relationships/image" Target="../media/image99.wmf"/><Relationship Id="rId3" Type="http://schemas.openxmlformats.org/officeDocument/2006/relationships/notesSlide" Target="../notesSlides/notesSlide4.xml"/><Relationship Id="rId21" Type="http://schemas.openxmlformats.org/officeDocument/2006/relationships/oleObject" Target="../embeddings/oleObject109.bin"/><Relationship Id="rId7" Type="http://schemas.openxmlformats.org/officeDocument/2006/relationships/oleObject" Target="../embeddings/oleObject102.bin"/><Relationship Id="rId12" Type="http://schemas.openxmlformats.org/officeDocument/2006/relationships/image" Target="../media/image108.wmf"/><Relationship Id="rId17" Type="http://schemas.openxmlformats.org/officeDocument/2006/relationships/oleObject" Target="../embeddings/oleObject107.bin"/><Relationship Id="rId2" Type="http://schemas.openxmlformats.org/officeDocument/2006/relationships/slideLayout" Target="../slideLayouts/slideLayout7.xml"/><Relationship Id="rId16" Type="http://schemas.openxmlformats.org/officeDocument/2006/relationships/image" Target="../media/image110.wmf"/><Relationship Id="rId20" Type="http://schemas.openxmlformats.org/officeDocument/2006/relationships/image" Target="../media/image111.wmf"/><Relationship Id="rId1" Type="http://schemas.openxmlformats.org/officeDocument/2006/relationships/vmlDrawing" Target="../drawings/vmlDrawing20.vml"/><Relationship Id="rId6" Type="http://schemas.openxmlformats.org/officeDocument/2006/relationships/image" Target="../media/image105.wmf"/><Relationship Id="rId11" Type="http://schemas.openxmlformats.org/officeDocument/2006/relationships/oleObject" Target="../embeddings/oleObject104.bin"/><Relationship Id="rId5" Type="http://schemas.openxmlformats.org/officeDocument/2006/relationships/oleObject" Target="../embeddings/oleObject101.bin"/><Relationship Id="rId15" Type="http://schemas.openxmlformats.org/officeDocument/2006/relationships/oleObject" Target="../embeddings/oleObject106.bin"/><Relationship Id="rId10" Type="http://schemas.openxmlformats.org/officeDocument/2006/relationships/image" Target="../media/image107.wmf"/><Relationship Id="rId19" Type="http://schemas.openxmlformats.org/officeDocument/2006/relationships/oleObject" Target="../embeddings/oleObject108.bin"/><Relationship Id="rId4" Type="http://schemas.openxmlformats.org/officeDocument/2006/relationships/hyperlink" Target="hdsm.swf" TargetMode="External"/><Relationship Id="rId9" Type="http://schemas.openxmlformats.org/officeDocument/2006/relationships/oleObject" Target="../embeddings/oleObject103.bin"/><Relationship Id="rId14" Type="http://schemas.openxmlformats.org/officeDocument/2006/relationships/image" Target="../media/image109.wmf"/><Relationship Id="rId22" Type="http://schemas.openxmlformats.org/officeDocument/2006/relationships/image" Target="../media/image112.wmf"/></Relationships>
</file>

<file path=ppt/slides/_rels/slide22.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oleObject" Target="../embeddings/oleObject110.bin"/><Relationship Id="rId7" Type="http://schemas.openxmlformats.org/officeDocument/2006/relationships/image" Target="../media/image117.png"/><Relationship Id="rId12" Type="http://schemas.openxmlformats.org/officeDocument/2006/relationships/image" Target="../media/image116.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14.wmf"/><Relationship Id="rId11" Type="http://schemas.openxmlformats.org/officeDocument/2006/relationships/oleObject" Target="../embeddings/oleObject113.bin"/><Relationship Id="rId5" Type="http://schemas.openxmlformats.org/officeDocument/2006/relationships/oleObject" Target="../embeddings/oleObject111.bin"/><Relationship Id="rId10" Type="http://schemas.openxmlformats.org/officeDocument/2006/relationships/image" Target="../media/image115.wmf"/><Relationship Id="rId4" Type="http://schemas.openxmlformats.org/officeDocument/2006/relationships/image" Target="../media/image113.wmf"/><Relationship Id="rId9" Type="http://schemas.openxmlformats.org/officeDocument/2006/relationships/oleObject" Target="../embeddings/oleObject112.bin"/></Relationships>
</file>

<file path=ppt/slides/_rels/slide23.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oleObject" Target="../embeddings/oleObject119.bin"/><Relationship Id="rId18" Type="http://schemas.openxmlformats.org/officeDocument/2006/relationships/image" Target="../media/image126.emf"/><Relationship Id="rId26" Type="http://schemas.openxmlformats.org/officeDocument/2006/relationships/image" Target="../media/image130.wmf"/><Relationship Id="rId3" Type="http://schemas.openxmlformats.org/officeDocument/2006/relationships/oleObject" Target="../embeddings/oleObject114.bin"/><Relationship Id="rId21" Type="http://schemas.openxmlformats.org/officeDocument/2006/relationships/oleObject" Target="../embeddings/oleObject123.bin"/><Relationship Id="rId7" Type="http://schemas.openxmlformats.org/officeDocument/2006/relationships/oleObject" Target="../embeddings/oleObject116.bin"/><Relationship Id="rId12" Type="http://schemas.openxmlformats.org/officeDocument/2006/relationships/image" Target="../media/image123.wmf"/><Relationship Id="rId17" Type="http://schemas.openxmlformats.org/officeDocument/2006/relationships/oleObject" Target="../embeddings/oleObject121.bin"/><Relationship Id="rId25" Type="http://schemas.openxmlformats.org/officeDocument/2006/relationships/oleObject" Target="../embeddings/oleObject125.bin"/><Relationship Id="rId2" Type="http://schemas.openxmlformats.org/officeDocument/2006/relationships/slideLayout" Target="../slideLayouts/slideLayout7.xml"/><Relationship Id="rId16" Type="http://schemas.openxmlformats.org/officeDocument/2006/relationships/image" Target="../media/image125.emf"/><Relationship Id="rId20" Type="http://schemas.openxmlformats.org/officeDocument/2006/relationships/image" Target="../media/image127.emf"/><Relationship Id="rId1" Type="http://schemas.openxmlformats.org/officeDocument/2006/relationships/vmlDrawing" Target="../drawings/vmlDrawing22.vml"/><Relationship Id="rId6" Type="http://schemas.openxmlformats.org/officeDocument/2006/relationships/image" Target="../media/image120.wmf"/><Relationship Id="rId11" Type="http://schemas.openxmlformats.org/officeDocument/2006/relationships/oleObject" Target="../embeddings/oleObject118.bin"/><Relationship Id="rId24" Type="http://schemas.openxmlformats.org/officeDocument/2006/relationships/image" Target="../media/image129.wmf"/><Relationship Id="rId5" Type="http://schemas.openxmlformats.org/officeDocument/2006/relationships/oleObject" Target="../embeddings/oleObject115.bin"/><Relationship Id="rId15" Type="http://schemas.openxmlformats.org/officeDocument/2006/relationships/oleObject" Target="../embeddings/oleObject120.bin"/><Relationship Id="rId23" Type="http://schemas.openxmlformats.org/officeDocument/2006/relationships/oleObject" Target="../embeddings/oleObject124.bin"/><Relationship Id="rId10" Type="http://schemas.openxmlformats.org/officeDocument/2006/relationships/image" Target="../media/image122.wmf"/><Relationship Id="rId19" Type="http://schemas.openxmlformats.org/officeDocument/2006/relationships/oleObject" Target="../embeddings/oleObject122.bin"/><Relationship Id="rId4" Type="http://schemas.openxmlformats.org/officeDocument/2006/relationships/image" Target="../media/image119.wmf"/><Relationship Id="rId9" Type="http://schemas.openxmlformats.org/officeDocument/2006/relationships/oleObject" Target="../embeddings/oleObject117.bin"/><Relationship Id="rId14" Type="http://schemas.openxmlformats.org/officeDocument/2006/relationships/image" Target="../media/image124.emf"/><Relationship Id="rId22" Type="http://schemas.openxmlformats.org/officeDocument/2006/relationships/image" Target="../media/image12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6.bin"/><Relationship Id="rId7" Type="http://schemas.openxmlformats.org/officeDocument/2006/relationships/image" Target="../media/image133.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32.wmf"/><Relationship Id="rId5" Type="http://schemas.openxmlformats.org/officeDocument/2006/relationships/oleObject" Target="../embeddings/oleObject127.bin"/><Relationship Id="rId4" Type="http://schemas.openxmlformats.org/officeDocument/2006/relationships/image" Target="../media/image131.wmf"/></Relationships>
</file>

<file path=ppt/slides/_rels/slide25.x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oleObject" Target="../embeddings/oleObject128.bin"/><Relationship Id="rId7" Type="http://schemas.openxmlformats.org/officeDocument/2006/relationships/oleObject" Target="../embeddings/oleObject130.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35.wmf"/><Relationship Id="rId5" Type="http://schemas.openxmlformats.org/officeDocument/2006/relationships/oleObject" Target="../embeddings/oleObject129.bin"/><Relationship Id="rId4" Type="http://schemas.openxmlformats.org/officeDocument/2006/relationships/image" Target="../media/image134.wmf"/></Relationships>
</file>

<file path=ppt/slides/_rels/slide26.xml.rels><?xml version="1.0" encoding="UTF-8" standalone="yes"?>
<Relationships xmlns="http://schemas.openxmlformats.org/package/2006/relationships"><Relationship Id="rId8" Type="http://schemas.openxmlformats.org/officeDocument/2006/relationships/image" Target="../media/image139.wmf"/><Relationship Id="rId13" Type="http://schemas.openxmlformats.org/officeDocument/2006/relationships/oleObject" Target="../embeddings/oleObject136.bin"/><Relationship Id="rId18" Type="http://schemas.openxmlformats.org/officeDocument/2006/relationships/oleObject" Target="../embeddings/oleObject139.bin"/><Relationship Id="rId3" Type="http://schemas.openxmlformats.org/officeDocument/2006/relationships/oleObject" Target="../embeddings/oleObject131.bin"/><Relationship Id="rId7" Type="http://schemas.openxmlformats.org/officeDocument/2006/relationships/oleObject" Target="../embeddings/oleObject133.bin"/><Relationship Id="rId12" Type="http://schemas.openxmlformats.org/officeDocument/2006/relationships/image" Target="../media/image141.emf"/><Relationship Id="rId17" Type="http://schemas.openxmlformats.org/officeDocument/2006/relationships/oleObject" Target="../embeddings/oleObject138.bin"/><Relationship Id="rId2" Type="http://schemas.openxmlformats.org/officeDocument/2006/relationships/slideLayout" Target="../slideLayouts/slideLayout7.xml"/><Relationship Id="rId16" Type="http://schemas.openxmlformats.org/officeDocument/2006/relationships/image" Target="../media/image143.wmf"/><Relationship Id="rId1" Type="http://schemas.openxmlformats.org/officeDocument/2006/relationships/vmlDrawing" Target="../drawings/vmlDrawing25.vml"/><Relationship Id="rId6" Type="http://schemas.openxmlformats.org/officeDocument/2006/relationships/image" Target="../media/image138.wmf"/><Relationship Id="rId11" Type="http://schemas.openxmlformats.org/officeDocument/2006/relationships/oleObject" Target="../embeddings/oleObject135.bin"/><Relationship Id="rId5" Type="http://schemas.openxmlformats.org/officeDocument/2006/relationships/oleObject" Target="../embeddings/oleObject132.bin"/><Relationship Id="rId15" Type="http://schemas.openxmlformats.org/officeDocument/2006/relationships/oleObject" Target="../embeddings/oleObject137.bin"/><Relationship Id="rId10" Type="http://schemas.openxmlformats.org/officeDocument/2006/relationships/image" Target="../media/image140.wmf"/><Relationship Id="rId19" Type="http://schemas.openxmlformats.org/officeDocument/2006/relationships/image" Target="../media/image144.emf"/><Relationship Id="rId4" Type="http://schemas.openxmlformats.org/officeDocument/2006/relationships/image" Target="../media/image137.wmf"/><Relationship Id="rId9" Type="http://schemas.openxmlformats.org/officeDocument/2006/relationships/oleObject" Target="../embeddings/oleObject134.bin"/><Relationship Id="rId14" Type="http://schemas.openxmlformats.org/officeDocument/2006/relationships/image" Target="../media/image142.wmf"/></Relationships>
</file>

<file path=ppt/slides/_rels/slide27.x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oleObject" Target="../embeddings/oleObject145.bin"/><Relationship Id="rId18" Type="http://schemas.openxmlformats.org/officeDocument/2006/relationships/image" Target="../media/image148.wmf"/><Relationship Id="rId26" Type="http://schemas.openxmlformats.org/officeDocument/2006/relationships/image" Target="../media/image152.wmf"/><Relationship Id="rId3" Type="http://schemas.openxmlformats.org/officeDocument/2006/relationships/oleObject" Target="../embeddings/oleObject140.bin"/><Relationship Id="rId21" Type="http://schemas.openxmlformats.org/officeDocument/2006/relationships/oleObject" Target="../embeddings/oleObject149.bin"/><Relationship Id="rId7" Type="http://schemas.openxmlformats.org/officeDocument/2006/relationships/oleObject" Target="../embeddings/oleObject142.bin"/><Relationship Id="rId12" Type="http://schemas.openxmlformats.org/officeDocument/2006/relationships/image" Target="../media/image14.wmf"/><Relationship Id="rId17" Type="http://schemas.openxmlformats.org/officeDocument/2006/relationships/oleObject" Target="../embeddings/oleObject147.bin"/><Relationship Id="rId25" Type="http://schemas.openxmlformats.org/officeDocument/2006/relationships/oleObject" Target="../embeddings/oleObject151.bin"/><Relationship Id="rId2" Type="http://schemas.openxmlformats.org/officeDocument/2006/relationships/slideLayout" Target="../slideLayouts/slideLayout7.xml"/><Relationship Id="rId16" Type="http://schemas.openxmlformats.org/officeDocument/2006/relationships/image" Target="../media/image147.wmf"/><Relationship Id="rId20" Type="http://schemas.openxmlformats.org/officeDocument/2006/relationships/image" Target="../media/image149.wmf"/><Relationship Id="rId29" Type="http://schemas.openxmlformats.org/officeDocument/2006/relationships/oleObject" Target="../embeddings/oleObject153.bin"/><Relationship Id="rId1" Type="http://schemas.openxmlformats.org/officeDocument/2006/relationships/vmlDrawing" Target="../drawings/vmlDrawing26.vml"/><Relationship Id="rId6" Type="http://schemas.openxmlformats.org/officeDocument/2006/relationships/image" Target="../media/image100.wmf"/><Relationship Id="rId11" Type="http://schemas.openxmlformats.org/officeDocument/2006/relationships/oleObject" Target="../embeddings/oleObject144.bin"/><Relationship Id="rId24" Type="http://schemas.openxmlformats.org/officeDocument/2006/relationships/image" Target="../media/image151.wmf"/><Relationship Id="rId32" Type="http://schemas.openxmlformats.org/officeDocument/2006/relationships/image" Target="../media/image155.wmf"/><Relationship Id="rId5" Type="http://schemas.openxmlformats.org/officeDocument/2006/relationships/oleObject" Target="../embeddings/oleObject141.bin"/><Relationship Id="rId15" Type="http://schemas.openxmlformats.org/officeDocument/2006/relationships/oleObject" Target="../embeddings/oleObject146.bin"/><Relationship Id="rId23" Type="http://schemas.openxmlformats.org/officeDocument/2006/relationships/oleObject" Target="../embeddings/oleObject150.bin"/><Relationship Id="rId28" Type="http://schemas.openxmlformats.org/officeDocument/2006/relationships/image" Target="../media/image153.wmf"/><Relationship Id="rId10" Type="http://schemas.openxmlformats.org/officeDocument/2006/relationships/image" Target="../media/image146.wmf"/><Relationship Id="rId19" Type="http://schemas.openxmlformats.org/officeDocument/2006/relationships/oleObject" Target="../embeddings/oleObject148.bin"/><Relationship Id="rId31" Type="http://schemas.openxmlformats.org/officeDocument/2006/relationships/oleObject" Target="../embeddings/oleObject154.bin"/><Relationship Id="rId4" Type="http://schemas.openxmlformats.org/officeDocument/2006/relationships/image" Target="../media/image145.wmf"/><Relationship Id="rId9" Type="http://schemas.openxmlformats.org/officeDocument/2006/relationships/oleObject" Target="../embeddings/oleObject143.bin"/><Relationship Id="rId14" Type="http://schemas.openxmlformats.org/officeDocument/2006/relationships/image" Target="../media/image11.wmf"/><Relationship Id="rId22" Type="http://schemas.openxmlformats.org/officeDocument/2006/relationships/image" Target="../media/image150.wmf"/><Relationship Id="rId27" Type="http://schemas.openxmlformats.org/officeDocument/2006/relationships/oleObject" Target="../embeddings/oleObject152.bin"/><Relationship Id="rId30" Type="http://schemas.openxmlformats.org/officeDocument/2006/relationships/image" Target="../media/image154.wmf"/></Relationships>
</file>

<file path=ppt/slides/_rels/slide28.xml.rels><?xml version="1.0" encoding="UTF-8" standalone="yes"?>
<Relationships xmlns="http://schemas.openxmlformats.org/package/2006/relationships"><Relationship Id="rId8" Type="http://schemas.openxmlformats.org/officeDocument/2006/relationships/image" Target="../media/image139.wmf"/><Relationship Id="rId13" Type="http://schemas.openxmlformats.org/officeDocument/2006/relationships/oleObject" Target="../embeddings/oleObject160.bin"/><Relationship Id="rId3" Type="http://schemas.openxmlformats.org/officeDocument/2006/relationships/oleObject" Target="../embeddings/oleObject155.bin"/><Relationship Id="rId7" Type="http://schemas.openxmlformats.org/officeDocument/2006/relationships/oleObject" Target="../embeddings/oleObject157.bin"/><Relationship Id="rId12" Type="http://schemas.openxmlformats.org/officeDocument/2006/relationships/image" Target="../media/image159.wmf"/><Relationship Id="rId17" Type="http://schemas.openxmlformats.org/officeDocument/2006/relationships/image" Target="../media/image161.wmf"/><Relationship Id="rId2" Type="http://schemas.openxmlformats.org/officeDocument/2006/relationships/slideLayout" Target="../slideLayouts/slideLayout7.xml"/><Relationship Id="rId16" Type="http://schemas.openxmlformats.org/officeDocument/2006/relationships/oleObject" Target="../embeddings/oleObject162.bin"/><Relationship Id="rId1" Type="http://schemas.openxmlformats.org/officeDocument/2006/relationships/vmlDrawing" Target="../drawings/vmlDrawing27.vml"/><Relationship Id="rId6" Type="http://schemas.openxmlformats.org/officeDocument/2006/relationships/image" Target="../media/image157.wmf"/><Relationship Id="rId11" Type="http://schemas.openxmlformats.org/officeDocument/2006/relationships/oleObject" Target="../embeddings/oleObject159.bin"/><Relationship Id="rId5" Type="http://schemas.openxmlformats.org/officeDocument/2006/relationships/oleObject" Target="../embeddings/oleObject156.bin"/><Relationship Id="rId15" Type="http://schemas.openxmlformats.org/officeDocument/2006/relationships/image" Target="../media/image160.wmf"/><Relationship Id="rId10" Type="http://schemas.openxmlformats.org/officeDocument/2006/relationships/image" Target="../media/image158.wmf"/><Relationship Id="rId4" Type="http://schemas.openxmlformats.org/officeDocument/2006/relationships/image" Target="../media/image156.wmf"/><Relationship Id="rId9" Type="http://schemas.openxmlformats.org/officeDocument/2006/relationships/oleObject" Target="../embeddings/oleObject158.bin"/><Relationship Id="rId14" Type="http://schemas.openxmlformats.org/officeDocument/2006/relationships/oleObject" Target="../embeddings/oleObject161.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65.bin"/><Relationship Id="rId13" Type="http://schemas.openxmlformats.org/officeDocument/2006/relationships/image" Target="../media/image165.wmf"/><Relationship Id="rId18" Type="http://schemas.openxmlformats.org/officeDocument/2006/relationships/oleObject" Target="../embeddings/oleObject170.bin"/><Relationship Id="rId3" Type="http://schemas.openxmlformats.org/officeDocument/2006/relationships/notesSlide" Target="../notesSlides/notesSlide5.xml"/><Relationship Id="rId7" Type="http://schemas.openxmlformats.org/officeDocument/2006/relationships/image" Target="../media/image163.wmf"/><Relationship Id="rId12" Type="http://schemas.openxmlformats.org/officeDocument/2006/relationships/oleObject" Target="../embeddings/oleObject167.bin"/><Relationship Id="rId17" Type="http://schemas.openxmlformats.org/officeDocument/2006/relationships/image" Target="../media/image3.wmf"/><Relationship Id="rId2" Type="http://schemas.openxmlformats.org/officeDocument/2006/relationships/slideLayout" Target="../slideLayouts/slideLayout7.xml"/><Relationship Id="rId16" Type="http://schemas.openxmlformats.org/officeDocument/2006/relationships/oleObject" Target="../embeddings/oleObject169.bin"/><Relationship Id="rId1" Type="http://schemas.openxmlformats.org/officeDocument/2006/relationships/vmlDrawing" Target="../drawings/vmlDrawing28.vml"/><Relationship Id="rId6" Type="http://schemas.openxmlformats.org/officeDocument/2006/relationships/oleObject" Target="../embeddings/oleObject164.bin"/><Relationship Id="rId11" Type="http://schemas.openxmlformats.org/officeDocument/2006/relationships/image" Target="../media/image2.wmf"/><Relationship Id="rId5" Type="http://schemas.openxmlformats.org/officeDocument/2006/relationships/image" Target="../media/image162.wmf"/><Relationship Id="rId15" Type="http://schemas.openxmlformats.org/officeDocument/2006/relationships/image" Target="../media/image166.wmf"/><Relationship Id="rId10" Type="http://schemas.openxmlformats.org/officeDocument/2006/relationships/oleObject" Target="../embeddings/oleObject166.bin"/><Relationship Id="rId19" Type="http://schemas.openxmlformats.org/officeDocument/2006/relationships/image" Target="../media/image167.wmf"/><Relationship Id="rId4" Type="http://schemas.openxmlformats.org/officeDocument/2006/relationships/oleObject" Target="../embeddings/oleObject163.bin"/><Relationship Id="rId9" Type="http://schemas.openxmlformats.org/officeDocument/2006/relationships/image" Target="../media/image164.wmf"/><Relationship Id="rId14" Type="http://schemas.openxmlformats.org/officeDocument/2006/relationships/oleObject" Target="../embeddings/oleObject168.bin"/></Relationships>
</file>

<file path=ppt/slides/_rels/slide31.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76.bin"/><Relationship Id="rId18" Type="http://schemas.openxmlformats.org/officeDocument/2006/relationships/image" Target="../media/image175.wmf"/><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172.wmf"/><Relationship Id="rId17" Type="http://schemas.openxmlformats.org/officeDocument/2006/relationships/oleObject" Target="../embeddings/oleObject178.bin"/><Relationship Id="rId2" Type="http://schemas.openxmlformats.org/officeDocument/2006/relationships/slideLayout" Target="../slideLayouts/slideLayout7.xml"/><Relationship Id="rId16" Type="http://schemas.openxmlformats.org/officeDocument/2006/relationships/image" Target="../media/image174.wmf"/><Relationship Id="rId1" Type="http://schemas.openxmlformats.org/officeDocument/2006/relationships/vmlDrawing" Target="../drawings/vmlDrawing29.vml"/><Relationship Id="rId6" Type="http://schemas.openxmlformats.org/officeDocument/2006/relationships/image" Target="../media/image169.wmf"/><Relationship Id="rId11" Type="http://schemas.openxmlformats.org/officeDocument/2006/relationships/oleObject" Target="../embeddings/oleObject175.bin"/><Relationship Id="rId5" Type="http://schemas.openxmlformats.org/officeDocument/2006/relationships/oleObject" Target="../embeddings/oleObject172.bin"/><Relationship Id="rId15" Type="http://schemas.openxmlformats.org/officeDocument/2006/relationships/oleObject" Target="../embeddings/oleObject177.bin"/><Relationship Id="rId10" Type="http://schemas.openxmlformats.org/officeDocument/2006/relationships/image" Target="../media/image171.wmf"/><Relationship Id="rId4" Type="http://schemas.openxmlformats.org/officeDocument/2006/relationships/image" Target="../media/image168.wmf"/><Relationship Id="rId9" Type="http://schemas.openxmlformats.org/officeDocument/2006/relationships/oleObject" Target="../embeddings/oleObject174.bin"/><Relationship Id="rId14" Type="http://schemas.openxmlformats.org/officeDocument/2006/relationships/image" Target="../media/image173.wmf"/></Relationships>
</file>

<file path=ppt/slides/_rels/slide32.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slideLayout" Target="../slideLayouts/slideLayout7.xml"/><Relationship Id="rId1" Type="http://schemas.openxmlformats.org/officeDocument/2006/relationships/vmlDrawing" Target="../drawings/vmlDrawing30.vml"/><Relationship Id="rId5" Type="http://schemas.openxmlformats.org/officeDocument/2006/relationships/image" Target="../media/image176.emf"/><Relationship Id="rId4" Type="http://schemas.openxmlformats.org/officeDocument/2006/relationships/oleObject" Target="../embeddings/oleObject179.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80.bin"/><Relationship Id="rId2" Type="http://schemas.openxmlformats.org/officeDocument/2006/relationships/slideLayout" Target="../slideLayouts/slideLayout7.xml"/><Relationship Id="rId1" Type="http://schemas.openxmlformats.org/officeDocument/2006/relationships/vmlDrawing" Target="../drawings/vmlDrawing31.vml"/><Relationship Id="rId4" Type="http://schemas.openxmlformats.org/officeDocument/2006/relationships/image" Target="../media/image178.png"/></Relationships>
</file>

<file path=ppt/slides/_rels/slide34.xml.rels><?xml version="1.0" encoding="UTF-8" standalone="yes"?>
<Relationships xmlns="http://schemas.openxmlformats.org/package/2006/relationships"><Relationship Id="rId8" Type="http://schemas.openxmlformats.org/officeDocument/2006/relationships/image" Target="../media/image181.emf"/><Relationship Id="rId13" Type="http://schemas.openxmlformats.org/officeDocument/2006/relationships/image" Target="../media/image184.gif"/><Relationship Id="rId3" Type="http://schemas.openxmlformats.org/officeDocument/2006/relationships/oleObject" Target="../embeddings/oleObject181.bin"/><Relationship Id="rId7" Type="http://schemas.openxmlformats.org/officeDocument/2006/relationships/oleObject" Target="../embeddings/oleObject183.bin"/><Relationship Id="rId12" Type="http://schemas.openxmlformats.org/officeDocument/2006/relationships/image" Target="../media/image183.e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80.emf"/><Relationship Id="rId11" Type="http://schemas.openxmlformats.org/officeDocument/2006/relationships/oleObject" Target="../embeddings/oleObject185.bin"/><Relationship Id="rId5" Type="http://schemas.openxmlformats.org/officeDocument/2006/relationships/oleObject" Target="../embeddings/oleObject182.bin"/><Relationship Id="rId10" Type="http://schemas.openxmlformats.org/officeDocument/2006/relationships/image" Target="../media/image182.emf"/><Relationship Id="rId4" Type="http://schemas.openxmlformats.org/officeDocument/2006/relationships/image" Target="../media/image179.emf"/><Relationship Id="rId9" Type="http://schemas.openxmlformats.org/officeDocument/2006/relationships/oleObject" Target="../embeddings/oleObject184.bin"/></Relationships>
</file>

<file path=ppt/slides/_rels/slide35.xml.rels><?xml version="1.0" encoding="UTF-8" standalone="yes"?>
<Relationships xmlns="http://schemas.openxmlformats.org/package/2006/relationships"><Relationship Id="rId13" Type="http://schemas.openxmlformats.org/officeDocument/2006/relationships/oleObject" Target="../embeddings/oleObject191.bin"/><Relationship Id="rId18" Type="http://schemas.openxmlformats.org/officeDocument/2006/relationships/image" Target="../media/image192.emf"/><Relationship Id="rId26" Type="http://schemas.openxmlformats.org/officeDocument/2006/relationships/image" Target="../media/image196.emf"/><Relationship Id="rId3" Type="http://schemas.openxmlformats.org/officeDocument/2006/relationships/oleObject" Target="../embeddings/oleObject186.bin"/><Relationship Id="rId21" Type="http://schemas.openxmlformats.org/officeDocument/2006/relationships/oleObject" Target="../embeddings/oleObject195.bin"/><Relationship Id="rId34" Type="http://schemas.openxmlformats.org/officeDocument/2006/relationships/image" Target="../media/image200.emf"/><Relationship Id="rId7" Type="http://schemas.openxmlformats.org/officeDocument/2006/relationships/oleObject" Target="../embeddings/oleObject188.bin"/><Relationship Id="rId12" Type="http://schemas.openxmlformats.org/officeDocument/2006/relationships/image" Target="../media/image189.wmf"/><Relationship Id="rId17" Type="http://schemas.openxmlformats.org/officeDocument/2006/relationships/oleObject" Target="../embeddings/oleObject193.bin"/><Relationship Id="rId25" Type="http://schemas.openxmlformats.org/officeDocument/2006/relationships/oleObject" Target="../embeddings/oleObject197.bin"/><Relationship Id="rId33" Type="http://schemas.openxmlformats.org/officeDocument/2006/relationships/oleObject" Target="../embeddings/oleObject201.bin"/><Relationship Id="rId2" Type="http://schemas.openxmlformats.org/officeDocument/2006/relationships/slideLayout" Target="../slideLayouts/slideLayout7.xml"/><Relationship Id="rId16" Type="http://schemas.openxmlformats.org/officeDocument/2006/relationships/image" Target="../media/image191.emf"/><Relationship Id="rId20" Type="http://schemas.openxmlformats.org/officeDocument/2006/relationships/image" Target="../media/image193.emf"/><Relationship Id="rId29" Type="http://schemas.openxmlformats.org/officeDocument/2006/relationships/oleObject" Target="../embeddings/oleObject199.bin"/><Relationship Id="rId1" Type="http://schemas.openxmlformats.org/officeDocument/2006/relationships/vmlDrawing" Target="../drawings/vmlDrawing33.vml"/><Relationship Id="rId6" Type="http://schemas.openxmlformats.org/officeDocument/2006/relationships/image" Target="../media/image186.emf"/><Relationship Id="rId11" Type="http://schemas.openxmlformats.org/officeDocument/2006/relationships/oleObject" Target="../embeddings/oleObject190.bin"/><Relationship Id="rId24" Type="http://schemas.openxmlformats.org/officeDocument/2006/relationships/image" Target="../media/image195.emf"/><Relationship Id="rId32" Type="http://schemas.openxmlformats.org/officeDocument/2006/relationships/image" Target="../media/image199.emf"/><Relationship Id="rId5" Type="http://schemas.openxmlformats.org/officeDocument/2006/relationships/oleObject" Target="../embeddings/oleObject187.bin"/><Relationship Id="rId15" Type="http://schemas.openxmlformats.org/officeDocument/2006/relationships/oleObject" Target="../embeddings/oleObject192.bin"/><Relationship Id="rId23" Type="http://schemas.openxmlformats.org/officeDocument/2006/relationships/oleObject" Target="../embeddings/oleObject196.bin"/><Relationship Id="rId28" Type="http://schemas.openxmlformats.org/officeDocument/2006/relationships/image" Target="../media/image197.emf"/><Relationship Id="rId10" Type="http://schemas.openxmlformats.org/officeDocument/2006/relationships/image" Target="../media/image188.wmf"/><Relationship Id="rId19" Type="http://schemas.openxmlformats.org/officeDocument/2006/relationships/oleObject" Target="../embeddings/oleObject194.bin"/><Relationship Id="rId31" Type="http://schemas.openxmlformats.org/officeDocument/2006/relationships/oleObject" Target="../embeddings/oleObject200.bin"/><Relationship Id="rId4" Type="http://schemas.openxmlformats.org/officeDocument/2006/relationships/image" Target="../media/image185.emf"/><Relationship Id="rId9" Type="http://schemas.openxmlformats.org/officeDocument/2006/relationships/oleObject" Target="../embeddings/oleObject189.bin"/><Relationship Id="rId14" Type="http://schemas.openxmlformats.org/officeDocument/2006/relationships/image" Target="../media/image190.wmf"/><Relationship Id="rId22" Type="http://schemas.openxmlformats.org/officeDocument/2006/relationships/image" Target="../media/image194.emf"/><Relationship Id="rId27" Type="http://schemas.openxmlformats.org/officeDocument/2006/relationships/oleObject" Target="../embeddings/oleObject198.bin"/><Relationship Id="rId30" Type="http://schemas.openxmlformats.org/officeDocument/2006/relationships/image" Target="../media/image198.emf"/><Relationship Id="rId8" Type="http://schemas.openxmlformats.org/officeDocument/2006/relationships/image" Target="../media/image187.emf"/></Relationships>
</file>

<file path=ppt/slides/_rels/slide36.xml.rels><?xml version="1.0" encoding="UTF-8" standalone="yes"?>
<Relationships xmlns="http://schemas.openxmlformats.org/package/2006/relationships"><Relationship Id="rId8" Type="http://schemas.openxmlformats.org/officeDocument/2006/relationships/image" Target="../media/image203.emf"/><Relationship Id="rId3" Type="http://schemas.openxmlformats.org/officeDocument/2006/relationships/oleObject" Target="../embeddings/oleObject202.bin"/><Relationship Id="rId7" Type="http://schemas.openxmlformats.org/officeDocument/2006/relationships/oleObject" Target="../embeddings/oleObject204.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202.emf"/><Relationship Id="rId5" Type="http://schemas.openxmlformats.org/officeDocument/2006/relationships/oleObject" Target="../embeddings/oleObject203.bin"/><Relationship Id="rId10" Type="http://schemas.openxmlformats.org/officeDocument/2006/relationships/image" Target="../media/image204.emf"/><Relationship Id="rId4" Type="http://schemas.openxmlformats.org/officeDocument/2006/relationships/image" Target="../media/image201.emf"/><Relationship Id="rId9" Type="http://schemas.openxmlformats.org/officeDocument/2006/relationships/oleObject" Target="../embeddings/oleObject205.bin"/></Relationships>
</file>

<file path=ppt/slides/_rels/slide37.xml.rels><?xml version="1.0" encoding="UTF-8" standalone="yes"?>
<Relationships xmlns="http://schemas.openxmlformats.org/package/2006/relationships"><Relationship Id="rId8" Type="http://schemas.openxmlformats.org/officeDocument/2006/relationships/image" Target="../media/image207.emf"/><Relationship Id="rId13" Type="http://schemas.openxmlformats.org/officeDocument/2006/relationships/oleObject" Target="../embeddings/oleObject211.bin"/><Relationship Id="rId18" Type="http://schemas.openxmlformats.org/officeDocument/2006/relationships/image" Target="../media/image212.emf"/><Relationship Id="rId3" Type="http://schemas.openxmlformats.org/officeDocument/2006/relationships/oleObject" Target="../embeddings/oleObject206.bin"/><Relationship Id="rId7" Type="http://schemas.openxmlformats.org/officeDocument/2006/relationships/oleObject" Target="../embeddings/oleObject208.bin"/><Relationship Id="rId12" Type="http://schemas.openxmlformats.org/officeDocument/2006/relationships/image" Target="../media/image209.emf"/><Relationship Id="rId17" Type="http://schemas.openxmlformats.org/officeDocument/2006/relationships/oleObject" Target="../embeddings/oleObject213.bin"/><Relationship Id="rId2" Type="http://schemas.openxmlformats.org/officeDocument/2006/relationships/slideLayout" Target="../slideLayouts/slideLayout7.xml"/><Relationship Id="rId16" Type="http://schemas.openxmlformats.org/officeDocument/2006/relationships/image" Target="../media/image211.emf"/><Relationship Id="rId20" Type="http://schemas.openxmlformats.org/officeDocument/2006/relationships/image" Target="../media/image213.png"/><Relationship Id="rId1" Type="http://schemas.openxmlformats.org/officeDocument/2006/relationships/vmlDrawing" Target="../drawings/vmlDrawing35.vml"/><Relationship Id="rId6" Type="http://schemas.openxmlformats.org/officeDocument/2006/relationships/image" Target="../media/image206.emf"/><Relationship Id="rId11" Type="http://schemas.openxmlformats.org/officeDocument/2006/relationships/oleObject" Target="../embeddings/oleObject210.bin"/><Relationship Id="rId5" Type="http://schemas.openxmlformats.org/officeDocument/2006/relationships/oleObject" Target="../embeddings/oleObject207.bin"/><Relationship Id="rId15" Type="http://schemas.openxmlformats.org/officeDocument/2006/relationships/oleObject" Target="../embeddings/oleObject212.bin"/><Relationship Id="rId10" Type="http://schemas.openxmlformats.org/officeDocument/2006/relationships/image" Target="../media/image208.emf"/><Relationship Id="rId19" Type="http://schemas.openxmlformats.org/officeDocument/2006/relationships/hyperlink" Target="https://iknow-pic.cdn.bcebos.com/1b4c510fd9f9d72a478438efdf2a2834359bbb5b" TargetMode="External"/><Relationship Id="rId4" Type="http://schemas.openxmlformats.org/officeDocument/2006/relationships/image" Target="../media/image205.emf"/><Relationship Id="rId9" Type="http://schemas.openxmlformats.org/officeDocument/2006/relationships/oleObject" Target="../embeddings/oleObject209.bin"/><Relationship Id="rId14" Type="http://schemas.openxmlformats.org/officeDocument/2006/relationships/image" Target="../media/image210.emf"/></Relationships>
</file>

<file path=ppt/slides/_rels/slide38.xml.rels><?xml version="1.0" encoding="UTF-8" standalone="yes"?>
<Relationships xmlns="http://schemas.openxmlformats.org/package/2006/relationships"><Relationship Id="rId8" Type="http://schemas.openxmlformats.org/officeDocument/2006/relationships/image" Target="../media/image216.emf"/><Relationship Id="rId13" Type="http://schemas.openxmlformats.org/officeDocument/2006/relationships/oleObject" Target="../embeddings/oleObject219.bin"/><Relationship Id="rId3" Type="http://schemas.openxmlformats.org/officeDocument/2006/relationships/oleObject" Target="../embeddings/oleObject214.bin"/><Relationship Id="rId7" Type="http://schemas.openxmlformats.org/officeDocument/2006/relationships/oleObject" Target="../embeddings/oleObject216.bin"/><Relationship Id="rId12" Type="http://schemas.openxmlformats.org/officeDocument/2006/relationships/image" Target="../media/image218.e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215.emf"/><Relationship Id="rId11" Type="http://schemas.openxmlformats.org/officeDocument/2006/relationships/oleObject" Target="../embeddings/oleObject218.bin"/><Relationship Id="rId5" Type="http://schemas.openxmlformats.org/officeDocument/2006/relationships/oleObject" Target="../embeddings/oleObject215.bin"/><Relationship Id="rId10" Type="http://schemas.openxmlformats.org/officeDocument/2006/relationships/image" Target="../media/image217.emf"/><Relationship Id="rId4" Type="http://schemas.openxmlformats.org/officeDocument/2006/relationships/image" Target="../media/image214.emf"/><Relationship Id="rId9" Type="http://schemas.openxmlformats.org/officeDocument/2006/relationships/oleObject" Target="../embeddings/oleObject217.bin"/><Relationship Id="rId14" Type="http://schemas.openxmlformats.org/officeDocument/2006/relationships/image" Target="../media/image219.emf"/></Relationships>
</file>

<file path=ppt/slides/_rels/slide39.xml.rels><?xml version="1.0" encoding="UTF-8" standalone="yes"?>
<Relationships xmlns="http://schemas.openxmlformats.org/package/2006/relationships"><Relationship Id="rId8" Type="http://schemas.openxmlformats.org/officeDocument/2006/relationships/image" Target="../media/image222.emf"/><Relationship Id="rId13" Type="http://schemas.openxmlformats.org/officeDocument/2006/relationships/oleObject" Target="../embeddings/oleObject225.bin"/><Relationship Id="rId18" Type="http://schemas.openxmlformats.org/officeDocument/2006/relationships/image" Target="../media/image227.emf"/><Relationship Id="rId26" Type="http://schemas.openxmlformats.org/officeDocument/2006/relationships/image" Target="../media/image218.emf"/><Relationship Id="rId3" Type="http://schemas.openxmlformats.org/officeDocument/2006/relationships/oleObject" Target="../embeddings/oleObject220.bin"/><Relationship Id="rId21" Type="http://schemas.openxmlformats.org/officeDocument/2006/relationships/oleObject" Target="../embeddings/oleObject229.bin"/><Relationship Id="rId7" Type="http://schemas.openxmlformats.org/officeDocument/2006/relationships/oleObject" Target="../embeddings/oleObject222.bin"/><Relationship Id="rId12" Type="http://schemas.openxmlformats.org/officeDocument/2006/relationships/image" Target="../media/image224.emf"/><Relationship Id="rId17" Type="http://schemas.openxmlformats.org/officeDocument/2006/relationships/oleObject" Target="../embeddings/oleObject227.bin"/><Relationship Id="rId25" Type="http://schemas.openxmlformats.org/officeDocument/2006/relationships/oleObject" Target="../embeddings/oleObject218.bin"/><Relationship Id="rId2" Type="http://schemas.openxmlformats.org/officeDocument/2006/relationships/slideLayout" Target="../slideLayouts/slideLayout7.xml"/><Relationship Id="rId16" Type="http://schemas.openxmlformats.org/officeDocument/2006/relationships/image" Target="../media/image226.emf"/><Relationship Id="rId20" Type="http://schemas.openxmlformats.org/officeDocument/2006/relationships/image" Target="../media/image228.emf"/><Relationship Id="rId1" Type="http://schemas.openxmlformats.org/officeDocument/2006/relationships/vmlDrawing" Target="../drawings/vmlDrawing37.vml"/><Relationship Id="rId6" Type="http://schemas.openxmlformats.org/officeDocument/2006/relationships/image" Target="../media/image221.emf"/><Relationship Id="rId11" Type="http://schemas.openxmlformats.org/officeDocument/2006/relationships/oleObject" Target="../embeddings/oleObject224.bin"/><Relationship Id="rId24" Type="http://schemas.openxmlformats.org/officeDocument/2006/relationships/image" Target="../media/image230.emf"/><Relationship Id="rId5" Type="http://schemas.openxmlformats.org/officeDocument/2006/relationships/oleObject" Target="../embeddings/oleObject221.bin"/><Relationship Id="rId15" Type="http://schemas.openxmlformats.org/officeDocument/2006/relationships/oleObject" Target="../embeddings/oleObject226.bin"/><Relationship Id="rId23" Type="http://schemas.openxmlformats.org/officeDocument/2006/relationships/oleObject" Target="../embeddings/oleObject230.bin"/><Relationship Id="rId28" Type="http://schemas.openxmlformats.org/officeDocument/2006/relationships/image" Target="../media/image219.emf"/><Relationship Id="rId10" Type="http://schemas.openxmlformats.org/officeDocument/2006/relationships/image" Target="../media/image223.emf"/><Relationship Id="rId19" Type="http://schemas.openxmlformats.org/officeDocument/2006/relationships/oleObject" Target="../embeddings/oleObject228.bin"/><Relationship Id="rId4" Type="http://schemas.openxmlformats.org/officeDocument/2006/relationships/image" Target="../media/image220.emf"/><Relationship Id="rId9" Type="http://schemas.openxmlformats.org/officeDocument/2006/relationships/oleObject" Target="../embeddings/oleObject223.bin"/><Relationship Id="rId14" Type="http://schemas.openxmlformats.org/officeDocument/2006/relationships/image" Target="../media/image225.emf"/><Relationship Id="rId22" Type="http://schemas.openxmlformats.org/officeDocument/2006/relationships/image" Target="../media/image229.emf"/><Relationship Id="rId27" Type="http://schemas.openxmlformats.org/officeDocument/2006/relationships/oleObject" Target="../embeddings/oleObject219.bin"/></Relationships>
</file>

<file path=ppt/slides/_rels/slide40.xml.rels><?xml version="1.0" encoding="UTF-8" standalone="yes"?>
<Relationships xmlns="http://schemas.openxmlformats.org/package/2006/relationships"><Relationship Id="rId8" Type="http://schemas.openxmlformats.org/officeDocument/2006/relationships/image" Target="../media/image233.emf"/><Relationship Id="rId13" Type="http://schemas.openxmlformats.org/officeDocument/2006/relationships/oleObject" Target="../embeddings/oleObject236.bin"/><Relationship Id="rId18" Type="http://schemas.openxmlformats.org/officeDocument/2006/relationships/image" Target="../media/image238.emf"/><Relationship Id="rId3" Type="http://schemas.openxmlformats.org/officeDocument/2006/relationships/oleObject" Target="../embeddings/oleObject231.bin"/><Relationship Id="rId7" Type="http://schemas.openxmlformats.org/officeDocument/2006/relationships/oleObject" Target="../embeddings/oleObject233.bin"/><Relationship Id="rId12" Type="http://schemas.openxmlformats.org/officeDocument/2006/relationships/image" Target="../media/image235.emf"/><Relationship Id="rId17" Type="http://schemas.openxmlformats.org/officeDocument/2006/relationships/oleObject" Target="../embeddings/oleObject238.bin"/><Relationship Id="rId2" Type="http://schemas.openxmlformats.org/officeDocument/2006/relationships/slideLayout" Target="../slideLayouts/slideLayout7.xml"/><Relationship Id="rId16" Type="http://schemas.openxmlformats.org/officeDocument/2006/relationships/image" Target="../media/image237.emf"/><Relationship Id="rId20" Type="http://schemas.openxmlformats.org/officeDocument/2006/relationships/image" Target="../media/image239.emf"/><Relationship Id="rId1" Type="http://schemas.openxmlformats.org/officeDocument/2006/relationships/vmlDrawing" Target="../drawings/vmlDrawing38.vml"/><Relationship Id="rId6" Type="http://schemas.openxmlformats.org/officeDocument/2006/relationships/image" Target="../media/image232.emf"/><Relationship Id="rId11" Type="http://schemas.openxmlformats.org/officeDocument/2006/relationships/oleObject" Target="../embeddings/oleObject235.bin"/><Relationship Id="rId5" Type="http://schemas.openxmlformats.org/officeDocument/2006/relationships/oleObject" Target="../embeddings/oleObject232.bin"/><Relationship Id="rId15" Type="http://schemas.openxmlformats.org/officeDocument/2006/relationships/oleObject" Target="../embeddings/oleObject237.bin"/><Relationship Id="rId10" Type="http://schemas.openxmlformats.org/officeDocument/2006/relationships/image" Target="../media/image234.emf"/><Relationship Id="rId19" Type="http://schemas.openxmlformats.org/officeDocument/2006/relationships/oleObject" Target="../embeddings/oleObject239.bin"/><Relationship Id="rId4" Type="http://schemas.openxmlformats.org/officeDocument/2006/relationships/image" Target="../media/image231.emf"/><Relationship Id="rId9" Type="http://schemas.openxmlformats.org/officeDocument/2006/relationships/oleObject" Target="../embeddings/oleObject234.bin"/><Relationship Id="rId14" Type="http://schemas.openxmlformats.org/officeDocument/2006/relationships/image" Target="../media/image236.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40.bin"/><Relationship Id="rId2" Type="http://schemas.openxmlformats.org/officeDocument/2006/relationships/slideLayout" Target="../slideLayouts/slideLayout7.xml"/><Relationship Id="rId1" Type="http://schemas.openxmlformats.org/officeDocument/2006/relationships/vmlDrawing" Target="../drawings/vmlDrawing39.vml"/><Relationship Id="rId5" Type="http://schemas.openxmlformats.org/officeDocument/2006/relationships/image" Target="../media/image240.wmf"/><Relationship Id="rId4" Type="http://schemas.openxmlformats.org/officeDocument/2006/relationships/oleObject" Target="../embeddings/oleObject241.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42.bin"/><Relationship Id="rId2" Type="http://schemas.openxmlformats.org/officeDocument/2006/relationships/slideLayout" Target="../slideLayouts/slideLayout7.xml"/><Relationship Id="rId1" Type="http://schemas.openxmlformats.org/officeDocument/2006/relationships/vmlDrawing" Target="../drawings/vmlDrawing40.vml"/><Relationship Id="rId5" Type="http://schemas.openxmlformats.org/officeDocument/2006/relationships/image" Target="../media/image242.gif"/><Relationship Id="rId4" Type="http://schemas.openxmlformats.org/officeDocument/2006/relationships/image" Target="../media/image241.wmf"/></Relationships>
</file>

<file path=ppt/slides/_rels/slide44.xml.rels><?xml version="1.0" encoding="UTF-8" standalone="yes"?>
<Relationships xmlns="http://schemas.openxmlformats.org/package/2006/relationships"><Relationship Id="rId3" Type="http://schemas.openxmlformats.org/officeDocument/2006/relationships/image" Target="../media/image243.jpe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45.jpg"/><Relationship Id="rId4" Type="http://schemas.openxmlformats.org/officeDocument/2006/relationships/image" Target="../media/image244.jpeg"/></Relationships>
</file>

<file path=ppt/slides/_rels/slide45.xml.rels><?xml version="1.0" encoding="UTF-8" standalone="yes"?>
<Relationships xmlns="http://schemas.openxmlformats.org/package/2006/relationships"><Relationship Id="rId3" Type="http://schemas.openxmlformats.org/officeDocument/2006/relationships/image" Target="../media/image246.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hyperlink" Target="https://www.bilibili.com/video/BV1dt411z7Zj/?p=11"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43.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249.png"/><Relationship Id="rId5" Type="http://schemas.openxmlformats.org/officeDocument/2006/relationships/oleObject" Target="../embeddings/oleObject244.bin"/><Relationship Id="rId4" Type="http://schemas.openxmlformats.org/officeDocument/2006/relationships/image" Target="../media/image248.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252.emf"/><Relationship Id="rId3" Type="http://schemas.openxmlformats.org/officeDocument/2006/relationships/oleObject" Target="../embeddings/oleObject245.bin"/><Relationship Id="rId7" Type="http://schemas.openxmlformats.org/officeDocument/2006/relationships/oleObject" Target="../embeddings/oleObject247.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251.emf"/><Relationship Id="rId5" Type="http://schemas.openxmlformats.org/officeDocument/2006/relationships/oleObject" Target="../embeddings/oleObject246.bin"/><Relationship Id="rId10" Type="http://schemas.openxmlformats.org/officeDocument/2006/relationships/image" Target="../media/image253.emf"/><Relationship Id="rId4" Type="http://schemas.openxmlformats.org/officeDocument/2006/relationships/image" Target="../media/image250.emf"/><Relationship Id="rId9" Type="http://schemas.openxmlformats.org/officeDocument/2006/relationships/oleObject" Target="../embeddings/oleObject248.bin"/></Relationships>
</file>

<file path=ppt/slides/_rels/slide50.xml.rels><?xml version="1.0" encoding="UTF-8" standalone="yes"?>
<Relationships xmlns="http://schemas.openxmlformats.org/package/2006/relationships"><Relationship Id="rId8" Type="http://schemas.openxmlformats.org/officeDocument/2006/relationships/image" Target="../media/image256.wmf"/><Relationship Id="rId3" Type="http://schemas.openxmlformats.org/officeDocument/2006/relationships/oleObject" Target="../embeddings/oleObject249.bin"/><Relationship Id="rId7" Type="http://schemas.openxmlformats.org/officeDocument/2006/relationships/oleObject" Target="../embeddings/oleObject251.bin"/><Relationship Id="rId12" Type="http://schemas.openxmlformats.org/officeDocument/2006/relationships/image" Target="../media/image258.wmf"/><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255.wmf"/><Relationship Id="rId11" Type="http://schemas.openxmlformats.org/officeDocument/2006/relationships/oleObject" Target="../embeddings/oleObject253.bin"/><Relationship Id="rId5" Type="http://schemas.openxmlformats.org/officeDocument/2006/relationships/oleObject" Target="../embeddings/oleObject250.bin"/><Relationship Id="rId10" Type="http://schemas.openxmlformats.org/officeDocument/2006/relationships/image" Target="../media/image257.wmf"/><Relationship Id="rId4" Type="http://schemas.openxmlformats.org/officeDocument/2006/relationships/image" Target="../media/image254.wmf"/><Relationship Id="rId9" Type="http://schemas.openxmlformats.org/officeDocument/2006/relationships/oleObject" Target="../embeddings/oleObject252.bin"/></Relationships>
</file>

<file path=ppt/slides/_rels/slide51.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slideLayout" Target="../slideLayouts/slideLayout7.xml"/><Relationship Id="rId5" Type="http://schemas.openxmlformats.org/officeDocument/2006/relationships/image" Target="../media/image262.png"/><Relationship Id="rId4" Type="http://schemas.openxmlformats.org/officeDocument/2006/relationships/image" Target="../media/image261.png"/></Relationships>
</file>

<file path=ppt/slides/_rels/slide52.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66.png"/><Relationship Id="rId4" Type="http://schemas.openxmlformats.org/officeDocument/2006/relationships/image" Target="../media/image265.png"/></Relationships>
</file>

<file path=ppt/slides/_rels/slide53.xml.rels><?xml version="1.0" encoding="UTF-8" standalone="yes"?>
<Relationships xmlns="http://schemas.openxmlformats.org/package/2006/relationships"><Relationship Id="rId2" Type="http://schemas.openxmlformats.org/officeDocument/2006/relationships/image" Target="../media/image26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54.bin"/><Relationship Id="rId2" Type="http://schemas.openxmlformats.org/officeDocument/2006/relationships/slideLayout" Target="../slideLayouts/slideLayout7.xml"/><Relationship Id="rId1" Type="http://schemas.openxmlformats.org/officeDocument/2006/relationships/vmlDrawing" Target="../drawings/vmlDrawing44.vml"/><Relationship Id="rId4" Type="http://schemas.openxmlformats.org/officeDocument/2006/relationships/image" Target="../media/image272.wmf"/></Relationships>
</file>

<file path=ppt/slides/_rels/slide58.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image" Target="../media/image273.png"/><Relationship Id="rId1" Type="http://schemas.openxmlformats.org/officeDocument/2006/relationships/slideLayout" Target="../slideLayouts/slideLayout7.xml"/><Relationship Id="rId5" Type="http://schemas.openxmlformats.org/officeDocument/2006/relationships/image" Target="../media/image276.png"/><Relationship Id="rId4" Type="http://schemas.openxmlformats.org/officeDocument/2006/relationships/image" Target="../media/image275.png"/></Relationships>
</file>

<file path=ppt/slides/_rels/slide59.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7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https://www.bilibili.com/video/BV1dt411z7Zj?p=14" TargetMode="External"/><Relationship Id="rId7" Type="http://schemas.openxmlformats.org/officeDocument/2006/relationships/image" Target="../media/image280.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oleObject" Target="../embeddings/oleObject256.bin"/><Relationship Id="rId5" Type="http://schemas.openxmlformats.org/officeDocument/2006/relationships/image" Target="../media/image279.wmf"/><Relationship Id="rId4" Type="http://schemas.openxmlformats.org/officeDocument/2006/relationships/oleObject" Target="../embeddings/oleObject255.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82.w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258.bin"/><Relationship Id="rId5" Type="http://schemas.openxmlformats.org/officeDocument/2006/relationships/image" Target="../media/image281.wmf"/><Relationship Id="rId4" Type="http://schemas.openxmlformats.org/officeDocument/2006/relationships/oleObject" Target="../embeddings/oleObject257.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59.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85.png"/><Relationship Id="rId5" Type="http://schemas.openxmlformats.org/officeDocument/2006/relationships/image" Target="../media/image284.png"/><Relationship Id="rId4" Type="http://schemas.openxmlformats.org/officeDocument/2006/relationships/image" Target="../media/image283.wmf"/></Relationships>
</file>

<file path=ppt/slides/_rels/slide64.xml.rels><?xml version="1.0" encoding="UTF-8" standalone="yes"?>
<Relationships xmlns="http://schemas.openxmlformats.org/package/2006/relationships"><Relationship Id="rId8" Type="http://schemas.openxmlformats.org/officeDocument/2006/relationships/image" Target="../media/image288.wmf"/><Relationship Id="rId3" Type="http://schemas.openxmlformats.org/officeDocument/2006/relationships/oleObject" Target="../embeddings/oleObject260.bin"/><Relationship Id="rId7" Type="http://schemas.openxmlformats.org/officeDocument/2006/relationships/oleObject" Target="../embeddings/oleObject262.bin"/><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287.wmf"/><Relationship Id="rId5" Type="http://schemas.openxmlformats.org/officeDocument/2006/relationships/oleObject" Target="../embeddings/oleObject261.bin"/><Relationship Id="rId4" Type="http://schemas.openxmlformats.org/officeDocument/2006/relationships/image" Target="../media/image286.wmf"/></Relationships>
</file>

<file path=ppt/slides/_rels/slide65.xml.rels><?xml version="1.0" encoding="UTF-8" standalone="yes"?>
<Relationships xmlns="http://schemas.openxmlformats.org/package/2006/relationships"><Relationship Id="rId3" Type="http://schemas.openxmlformats.org/officeDocument/2006/relationships/image" Target="../media/image290.jpeg"/><Relationship Id="rId2" Type="http://schemas.openxmlformats.org/officeDocument/2006/relationships/image" Target="../media/image289.jpeg"/><Relationship Id="rId1" Type="http://schemas.openxmlformats.org/officeDocument/2006/relationships/slideLayout" Target="../slideLayouts/slideLayout7.xml"/><Relationship Id="rId5" Type="http://schemas.openxmlformats.org/officeDocument/2006/relationships/image" Target="../media/image292.jpg"/><Relationship Id="rId4" Type="http://schemas.openxmlformats.org/officeDocument/2006/relationships/image" Target="../media/image291.jpeg"/></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63.bin"/><Relationship Id="rId7" Type="http://schemas.openxmlformats.org/officeDocument/2006/relationships/image" Target="../media/image294.wmf"/><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264.bin"/><Relationship Id="rId5" Type="http://schemas.openxmlformats.org/officeDocument/2006/relationships/image" Target="../media/image295.jpeg"/><Relationship Id="rId4" Type="http://schemas.openxmlformats.org/officeDocument/2006/relationships/image" Target="../media/image293.wmf"/></Relationships>
</file>

<file path=ppt/slides/_rels/slide67.xml.rels><?xml version="1.0" encoding="UTF-8" standalone="yes"?>
<Relationships xmlns="http://schemas.openxmlformats.org/package/2006/relationships"><Relationship Id="rId3" Type="http://schemas.openxmlformats.org/officeDocument/2006/relationships/hyperlink" Target="http://www1.hrbust.edu.cn/xstd/students/dx/elec/single/top.htm" TargetMode="External"/><Relationship Id="rId7" Type="http://schemas.openxmlformats.org/officeDocument/2006/relationships/image" Target="../media/image297.png"/><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283.wmf"/><Relationship Id="rId5" Type="http://schemas.openxmlformats.org/officeDocument/2006/relationships/oleObject" Target="../embeddings/oleObject259.bin"/><Relationship Id="rId4" Type="http://schemas.openxmlformats.org/officeDocument/2006/relationships/image" Target="../media/image296.png"/></Relationships>
</file>

<file path=ppt/slides/_rels/slide68.xml.rels><?xml version="1.0" encoding="UTF-8" standalone="yes"?>
<Relationships xmlns="http://schemas.openxmlformats.org/package/2006/relationships"><Relationship Id="rId3" Type="http://schemas.openxmlformats.org/officeDocument/2006/relationships/image" Target="../media/image298.jpe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99.jpeg"/><Relationship Id="rId4" Type="http://schemas.openxmlformats.org/officeDocument/2006/relationships/hyperlink" Target="https://haokan.baidu.com/v?vid=7443974852662603228&amp;pd=bjh&amp;fr=bjhauthor&amp;type=video"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0.png"/><Relationship Id="rId1" Type="http://schemas.openxmlformats.org/officeDocument/2006/relationships/slideLayout" Target="../slideLayouts/slideLayout6.xml"/><Relationship Id="rId6" Type="http://schemas.openxmlformats.org/officeDocument/2006/relationships/image" Target="../media/image304.png"/><Relationship Id="rId5" Type="http://schemas.openxmlformats.org/officeDocument/2006/relationships/image" Target="../media/image303.png"/><Relationship Id="rId4" Type="http://schemas.openxmlformats.org/officeDocument/2006/relationships/image" Target="../media/image302.png"/></Relationships>
</file>

<file path=ppt/slides/_rels/slide70.xml.rels><?xml version="1.0" encoding="UTF-8" standalone="yes"?>
<Relationships xmlns="http://schemas.openxmlformats.org/package/2006/relationships"><Relationship Id="rId8" Type="http://schemas.openxmlformats.org/officeDocument/2006/relationships/image" Target="../media/image308.jpeg"/><Relationship Id="rId3" Type="http://schemas.openxmlformats.org/officeDocument/2006/relationships/oleObject" Target="../embeddings/oleObject265.bin"/><Relationship Id="rId7" Type="http://schemas.openxmlformats.org/officeDocument/2006/relationships/image" Target="../media/image307.jpeg"/><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306.png"/><Relationship Id="rId5" Type="http://schemas.openxmlformats.org/officeDocument/2006/relationships/oleObject" Target="../embeddings/oleObject266.bin"/><Relationship Id="rId4" Type="http://schemas.openxmlformats.org/officeDocument/2006/relationships/image" Target="../media/image305.png"/></Relationships>
</file>

<file path=ppt/slides/_rels/slide71.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09.png"/><Relationship Id="rId1" Type="http://schemas.openxmlformats.org/officeDocument/2006/relationships/slideLayout" Target="../slideLayouts/slideLayout7.xml"/><Relationship Id="rId5" Type="http://schemas.openxmlformats.org/officeDocument/2006/relationships/image" Target="../media/image312.png"/><Relationship Id="rId4" Type="http://schemas.openxmlformats.org/officeDocument/2006/relationships/image" Target="../media/image311.png"/></Relationships>
</file>

<file path=ppt/slides/_rels/slide72.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image" Target="../media/image313.png"/><Relationship Id="rId1" Type="http://schemas.openxmlformats.org/officeDocument/2006/relationships/slideLayout" Target="../slideLayouts/slideLayout2.xml"/><Relationship Id="rId6" Type="http://schemas.openxmlformats.org/officeDocument/2006/relationships/image" Target="../media/image317.png"/><Relationship Id="rId5" Type="http://schemas.openxmlformats.org/officeDocument/2006/relationships/image" Target="../media/image316.png"/><Relationship Id="rId4" Type="http://schemas.openxmlformats.org/officeDocument/2006/relationships/image" Target="../media/image315.png"/></Relationships>
</file>

<file path=ppt/slides/_rels/slide73.xml.rels><?xml version="1.0" encoding="UTF-8" standalone="yes"?>
<Relationships xmlns="http://schemas.openxmlformats.org/package/2006/relationships"><Relationship Id="rId8" Type="http://schemas.openxmlformats.org/officeDocument/2006/relationships/image" Target="../media/image320.wmf"/><Relationship Id="rId13" Type="http://schemas.openxmlformats.org/officeDocument/2006/relationships/oleObject" Target="../embeddings/oleObject272.bin"/><Relationship Id="rId18" Type="http://schemas.openxmlformats.org/officeDocument/2006/relationships/image" Target="../media/image325.wmf"/><Relationship Id="rId3" Type="http://schemas.openxmlformats.org/officeDocument/2006/relationships/oleObject" Target="../embeddings/oleObject267.bin"/><Relationship Id="rId21" Type="http://schemas.openxmlformats.org/officeDocument/2006/relationships/oleObject" Target="../embeddings/oleObject276.bin"/><Relationship Id="rId7" Type="http://schemas.openxmlformats.org/officeDocument/2006/relationships/oleObject" Target="../embeddings/oleObject269.bin"/><Relationship Id="rId12" Type="http://schemas.openxmlformats.org/officeDocument/2006/relationships/image" Target="../media/image322.wmf"/><Relationship Id="rId17" Type="http://schemas.openxmlformats.org/officeDocument/2006/relationships/oleObject" Target="../embeddings/oleObject274.bin"/><Relationship Id="rId2" Type="http://schemas.openxmlformats.org/officeDocument/2006/relationships/slideLayout" Target="../slideLayouts/slideLayout7.xml"/><Relationship Id="rId16" Type="http://schemas.openxmlformats.org/officeDocument/2006/relationships/image" Target="../media/image324.wmf"/><Relationship Id="rId20" Type="http://schemas.openxmlformats.org/officeDocument/2006/relationships/image" Target="../media/image326.wmf"/><Relationship Id="rId1" Type="http://schemas.openxmlformats.org/officeDocument/2006/relationships/vmlDrawing" Target="../drawings/vmlDrawing52.vml"/><Relationship Id="rId6" Type="http://schemas.openxmlformats.org/officeDocument/2006/relationships/image" Target="../media/image319.wmf"/><Relationship Id="rId11" Type="http://schemas.openxmlformats.org/officeDocument/2006/relationships/oleObject" Target="../embeddings/oleObject271.bin"/><Relationship Id="rId24" Type="http://schemas.openxmlformats.org/officeDocument/2006/relationships/image" Target="../media/image328.wmf"/><Relationship Id="rId5" Type="http://schemas.openxmlformats.org/officeDocument/2006/relationships/oleObject" Target="../embeddings/oleObject268.bin"/><Relationship Id="rId15" Type="http://schemas.openxmlformats.org/officeDocument/2006/relationships/oleObject" Target="../embeddings/oleObject273.bin"/><Relationship Id="rId23" Type="http://schemas.openxmlformats.org/officeDocument/2006/relationships/oleObject" Target="../embeddings/oleObject277.bin"/><Relationship Id="rId10" Type="http://schemas.openxmlformats.org/officeDocument/2006/relationships/image" Target="../media/image321.wmf"/><Relationship Id="rId19" Type="http://schemas.openxmlformats.org/officeDocument/2006/relationships/oleObject" Target="../embeddings/oleObject275.bin"/><Relationship Id="rId4" Type="http://schemas.openxmlformats.org/officeDocument/2006/relationships/image" Target="../media/image318.wmf"/><Relationship Id="rId9" Type="http://schemas.openxmlformats.org/officeDocument/2006/relationships/oleObject" Target="../embeddings/oleObject270.bin"/><Relationship Id="rId14" Type="http://schemas.openxmlformats.org/officeDocument/2006/relationships/image" Target="../media/image323.wmf"/><Relationship Id="rId22" Type="http://schemas.openxmlformats.org/officeDocument/2006/relationships/image" Target="../media/image327.wmf"/></Relationships>
</file>

<file path=ppt/slides/_rels/slide74.xml.rels><?xml version="1.0" encoding="UTF-8" standalone="yes"?>
<Relationships xmlns="http://schemas.openxmlformats.org/package/2006/relationships"><Relationship Id="rId8" Type="http://schemas.openxmlformats.org/officeDocument/2006/relationships/image" Target="../media/image331.wmf"/><Relationship Id="rId13" Type="http://schemas.openxmlformats.org/officeDocument/2006/relationships/oleObject" Target="../embeddings/oleObject283.bin"/><Relationship Id="rId18" Type="http://schemas.openxmlformats.org/officeDocument/2006/relationships/image" Target="../media/image336.wmf"/><Relationship Id="rId3" Type="http://schemas.openxmlformats.org/officeDocument/2006/relationships/oleObject" Target="../embeddings/oleObject278.bin"/><Relationship Id="rId7" Type="http://schemas.openxmlformats.org/officeDocument/2006/relationships/oleObject" Target="../embeddings/oleObject280.bin"/><Relationship Id="rId12" Type="http://schemas.openxmlformats.org/officeDocument/2006/relationships/image" Target="../media/image333.wmf"/><Relationship Id="rId17" Type="http://schemas.openxmlformats.org/officeDocument/2006/relationships/oleObject" Target="../embeddings/oleObject285.bin"/><Relationship Id="rId2" Type="http://schemas.openxmlformats.org/officeDocument/2006/relationships/slideLayout" Target="../slideLayouts/slideLayout7.xml"/><Relationship Id="rId16" Type="http://schemas.openxmlformats.org/officeDocument/2006/relationships/image" Target="../media/image335.wmf"/><Relationship Id="rId20" Type="http://schemas.openxmlformats.org/officeDocument/2006/relationships/image" Target="../media/image328.wmf"/><Relationship Id="rId1" Type="http://schemas.openxmlformats.org/officeDocument/2006/relationships/vmlDrawing" Target="../drawings/vmlDrawing53.vml"/><Relationship Id="rId6" Type="http://schemas.openxmlformats.org/officeDocument/2006/relationships/image" Target="../media/image330.wmf"/><Relationship Id="rId11" Type="http://schemas.openxmlformats.org/officeDocument/2006/relationships/oleObject" Target="../embeddings/oleObject282.bin"/><Relationship Id="rId5" Type="http://schemas.openxmlformats.org/officeDocument/2006/relationships/oleObject" Target="../embeddings/oleObject279.bin"/><Relationship Id="rId15" Type="http://schemas.openxmlformats.org/officeDocument/2006/relationships/oleObject" Target="../embeddings/oleObject284.bin"/><Relationship Id="rId10" Type="http://schemas.openxmlformats.org/officeDocument/2006/relationships/image" Target="../media/image332.wmf"/><Relationship Id="rId19" Type="http://schemas.openxmlformats.org/officeDocument/2006/relationships/oleObject" Target="../embeddings/oleObject286.bin"/><Relationship Id="rId4" Type="http://schemas.openxmlformats.org/officeDocument/2006/relationships/image" Target="../media/image329.wmf"/><Relationship Id="rId9" Type="http://schemas.openxmlformats.org/officeDocument/2006/relationships/oleObject" Target="../embeddings/oleObject281.bin"/><Relationship Id="rId14" Type="http://schemas.openxmlformats.org/officeDocument/2006/relationships/image" Target="../media/image334.wmf"/></Relationships>
</file>

<file path=ppt/slides/_rels/slide75.xml.rels><?xml version="1.0" encoding="UTF-8" standalone="yes"?>
<Relationships xmlns="http://schemas.openxmlformats.org/package/2006/relationships"><Relationship Id="rId8" Type="http://schemas.openxmlformats.org/officeDocument/2006/relationships/hyperlink" Target="https://www.baidu.com/s?wd=%E4%B8%89%E5%85%83%E4%B9%99%E4%B8%99%E6%A9%A1%E8%83%B6&amp;rsv_idx=2&amp;tn=68018901_16_pg&amp;usm=4&amp;ie=utf-8&amp;rsv_pq=87046b7b00007ac3&amp;oq=EPDM%E6%98%AF%E4%BB%80%E4%B9%88%E6%9D%90%E6%96%99&amp;rsv_t=2036F4U5s3VLGswOUfXadAsy5OtXkaaRWgOecpgR7%2BGG9xvm0PqmboMCV8oUJF9rJOhzMJw&amp;rsv_dl=re_dqa_generate&amp;sa=re_dqa_generate" TargetMode="External"/><Relationship Id="rId3" Type="http://schemas.openxmlformats.org/officeDocument/2006/relationships/image" Target="../media/image338.jpg"/><Relationship Id="rId7" Type="http://schemas.openxmlformats.org/officeDocument/2006/relationships/hyperlink" Target="https://www.baidu.com/s?wd=EPDM&amp;rsv_idx=2&amp;tn=68018901_16_pg&amp;usm=4&amp;ie=utf-8&amp;rsv_pq=87046b7b00007ac3&amp;oq=EPDM%E6%98%AF%E4%BB%80%E4%B9%88%E6%9D%90%E6%96%99&amp;rsv_t=6e343uXbcD6Z4pM2QmqSJDqbmPtBB9W0q6BgY4A2wf9407bfi5C65iHSQKOFrfZVPpwWC68&amp;rsv_dl=re_dqa_generate&amp;sa=re_dqa_generate" TargetMode="External"/><Relationship Id="rId2" Type="http://schemas.openxmlformats.org/officeDocument/2006/relationships/image" Target="../media/image337.jpg"/><Relationship Id="rId1" Type="http://schemas.openxmlformats.org/officeDocument/2006/relationships/slideLayout" Target="../slideLayouts/slideLayout7.xml"/><Relationship Id="rId6" Type="http://schemas.openxmlformats.org/officeDocument/2006/relationships/hyperlink" Target="https://www.baidu.com/s?wd=XLPE&amp;rsv_idx=2&amp;tn=68018901_16_pg&amp;usm=3&amp;ie=utf-8&amp;rsv_pq=83d70a640000abb4&amp;oq=XLPE%E6%98%AF%E4%BB%80%E4%B9%88%E6%9D%90%E6%96%99&amp;rsv_t=39daQTtzyuJWwH3JWPF9D9PSYZZTr8AIsCgbXjwTfYDwn9hmh2ySnQiTbgJ%2B8NvbPto3dHQ&amp;rsv_dl=re_dqa_generate&amp;sa=re_dqa_generate" TargetMode="External"/><Relationship Id="rId5" Type="http://schemas.openxmlformats.org/officeDocument/2006/relationships/hyperlink" Target="https://www.baidu.com/s?wd=PVC&amp;rsv_idx=2&amp;tn=68018901_16_pg&amp;usm=2&amp;ie=utf-8&amp;rsv_pq=901fb3e00000523c&amp;oq=pvc%E6%98%AF%E4%BB%80%E4%B9%88%E6%9D%90%E6%96%99&amp;rsv_t=e07bOheHtncUh6j5x3h6ZmBSFtWeYtIbSy%2FMRck%2FPXzZqIFej4FHmHKZpDj6S%2BKF286Thgk&amp;rsv_dl=re_dqa_generate&amp;sa=re_dqa_generate" TargetMode="External"/><Relationship Id="rId4" Type="http://schemas.openxmlformats.org/officeDocument/2006/relationships/hyperlink" Target="http://image.baidu.com/search/redirect?tn=redirect&amp;word=j&amp;juid=6152CF&amp;sign=ciwecczaaa&amp;url=http://guangfu.bjx.com.cn/m/?l%3D1%26v%3D510795&amp;objurl=http://img01.bjx.com.cn/news/UploadFile/201405/2014051412593544.jpg"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341.wmf"/><Relationship Id="rId3" Type="http://schemas.openxmlformats.org/officeDocument/2006/relationships/oleObject" Target="../embeddings/oleObject287.bin"/><Relationship Id="rId7" Type="http://schemas.openxmlformats.org/officeDocument/2006/relationships/oleObject" Target="../embeddings/oleObject289.bin"/><Relationship Id="rId12" Type="http://schemas.openxmlformats.org/officeDocument/2006/relationships/image" Target="../media/image343.wmf"/><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340.wmf"/><Relationship Id="rId11" Type="http://schemas.openxmlformats.org/officeDocument/2006/relationships/oleObject" Target="../embeddings/oleObject291.bin"/><Relationship Id="rId5" Type="http://schemas.openxmlformats.org/officeDocument/2006/relationships/oleObject" Target="../embeddings/oleObject288.bin"/><Relationship Id="rId10" Type="http://schemas.openxmlformats.org/officeDocument/2006/relationships/image" Target="../media/image342.wmf"/><Relationship Id="rId4" Type="http://schemas.openxmlformats.org/officeDocument/2006/relationships/image" Target="../media/image339.wmf"/><Relationship Id="rId9" Type="http://schemas.openxmlformats.org/officeDocument/2006/relationships/oleObject" Target="../embeddings/oleObject290.bin"/></Relationships>
</file>

<file path=ppt/slides/_rels/slide78.xml.rels><?xml version="1.0" encoding="UTF-8" standalone="yes"?>
<Relationships xmlns="http://schemas.openxmlformats.org/package/2006/relationships"><Relationship Id="rId8" Type="http://schemas.openxmlformats.org/officeDocument/2006/relationships/image" Target="../media/image346.wmf"/><Relationship Id="rId3" Type="http://schemas.openxmlformats.org/officeDocument/2006/relationships/oleObject" Target="../embeddings/oleObject292.bin"/><Relationship Id="rId7" Type="http://schemas.openxmlformats.org/officeDocument/2006/relationships/oleObject" Target="../embeddings/oleObject294.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345.wmf"/><Relationship Id="rId5" Type="http://schemas.openxmlformats.org/officeDocument/2006/relationships/oleObject" Target="../embeddings/oleObject293.bin"/><Relationship Id="rId4" Type="http://schemas.openxmlformats.org/officeDocument/2006/relationships/image" Target="../media/image344.wmf"/></Relationships>
</file>

<file path=ppt/slides/_rels/slide79.xml.rels><?xml version="1.0" encoding="UTF-8" standalone="yes"?>
<Relationships xmlns="http://schemas.openxmlformats.org/package/2006/relationships"><Relationship Id="rId8" Type="http://schemas.openxmlformats.org/officeDocument/2006/relationships/image" Target="../media/image346.wmf"/><Relationship Id="rId3" Type="http://schemas.openxmlformats.org/officeDocument/2006/relationships/oleObject" Target="../embeddings/oleObject295.bin"/><Relationship Id="rId7" Type="http://schemas.openxmlformats.org/officeDocument/2006/relationships/oleObject" Target="../embeddings/oleObject297.bin"/><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image" Target="../media/image345.wmf"/><Relationship Id="rId5" Type="http://schemas.openxmlformats.org/officeDocument/2006/relationships/oleObject" Target="../embeddings/oleObject296.bin"/><Relationship Id="rId4" Type="http://schemas.openxmlformats.org/officeDocument/2006/relationships/image" Target="../media/image344.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979613" y="188913"/>
            <a:ext cx="5905500" cy="923925"/>
          </a:xfrm>
          <a:prstGeom prst="rect">
            <a:avLst/>
          </a:prstGeom>
          <a:solidFill>
            <a:srgbClr val="FFCC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5400">
                <a:solidFill>
                  <a:srgbClr val="0000FF"/>
                </a:solidFill>
                <a:ea typeface="楷体_GB2312"/>
              </a:rPr>
              <a:t>静电场内容回顾</a:t>
            </a:r>
            <a:endParaRPr lang="zh-CN" altLang="en-US" sz="4000">
              <a:solidFill>
                <a:srgbClr val="0000FF"/>
              </a:solidFill>
              <a:ea typeface="楷体_GB2312"/>
            </a:endParaRPr>
          </a:p>
        </p:txBody>
      </p:sp>
      <p:sp>
        <p:nvSpPr>
          <p:cNvPr id="29699" name="Text Box 3"/>
          <p:cNvSpPr txBox="1">
            <a:spLocks noChangeArrowheads="1"/>
          </p:cNvSpPr>
          <p:nvPr/>
        </p:nvSpPr>
        <p:spPr bwMode="auto">
          <a:xfrm>
            <a:off x="451942" y="3644900"/>
            <a:ext cx="1150937" cy="48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CC3300"/>
                </a:solidFill>
                <a:ea typeface="楷体_GB2312"/>
              </a:rPr>
              <a:t>静电场</a:t>
            </a:r>
            <a:endParaRPr lang="zh-CN" altLang="en-US" sz="2500">
              <a:solidFill>
                <a:srgbClr val="0000FF"/>
              </a:solidFill>
              <a:ea typeface="楷体_GB2312"/>
            </a:endParaRPr>
          </a:p>
        </p:txBody>
      </p:sp>
      <p:sp>
        <p:nvSpPr>
          <p:cNvPr id="29700" name="Text Box 4"/>
          <p:cNvSpPr txBox="1">
            <a:spLocks noChangeArrowheads="1"/>
          </p:cNvSpPr>
          <p:nvPr/>
        </p:nvSpPr>
        <p:spPr bwMode="auto">
          <a:xfrm>
            <a:off x="1534617" y="2125663"/>
            <a:ext cx="1210588"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库仑定律</a:t>
            </a:r>
          </a:p>
        </p:txBody>
      </p:sp>
      <p:sp>
        <p:nvSpPr>
          <p:cNvPr id="29701" name="Text Box 5"/>
          <p:cNvSpPr txBox="1">
            <a:spLocks noChangeArrowheads="1"/>
          </p:cNvSpPr>
          <p:nvPr/>
        </p:nvSpPr>
        <p:spPr bwMode="auto">
          <a:xfrm>
            <a:off x="5743098" y="2103377"/>
            <a:ext cx="1210588"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高斯定理</a:t>
            </a:r>
          </a:p>
        </p:txBody>
      </p:sp>
      <p:sp>
        <p:nvSpPr>
          <p:cNvPr id="29702" name="Text Box 6"/>
          <p:cNvSpPr txBox="1">
            <a:spLocks noChangeArrowheads="1"/>
          </p:cNvSpPr>
          <p:nvPr/>
        </p:nvSpPr>
        <p:spPr bwMode="auto">
          <a:xfrm>
            <a:off x="1761629" y="5097463"/>
            <a:ext cx="1210588"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环路定理</a:t>
            </a:r>
          </a:p>
        </p:txBody>
      </p:sp>
      <p:sp>
        <p:nvSpPr>
          <p:cNvPr id="29703" name="Text Box 7"/>
          <p:cNvSpPr txBox="1">
            <a:spLocks noChangeArrowheads="1"/>
          </p:cNvSpPr>
          <p:nvPr/>
        </p:nvSpPr>
        <p:spPr bwMode="auto">
          <a:xfrm>
            <a:off x="6465192" y="5061977"/>
            <a:ext cx="697627"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电势</a:t>
            </a:r>
          </a:p>
        </p:txBody>
      </p:sp>
      <p:sp>
        <p:nvSpPr>
          <p:cNvPr id="29704" name="Text Box 8"/>
          <p:cNvSpPr txBox="1">
            <a:spLocks noChangeArrowheads="1"/>
          </p:cNvSpPr>
          <p:nvPr/>
        </p:nvSpPr>
        <p:spPr bwMode="auto">
          <a:xfrm>
            <a:off x="7251004" y="3574256"/>
            <a:ext cx="1470025" cy="482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电势梯度</a:t>
            </a:r>
          </a:p>
        </p:txBody>
      </p:sp>
      <p:sp>
        <p:nvSpPr>
          <p:cNvPr id="29705" name="Text Box 9"/>
          <p:cNvSpPr txBox="1">
            <a:spLocks noChangeArrowheads="1"/>
          </p:cNvSpPr>
          <p:nvPr/>
        </p:nvSpPr>
        <p:spPr bwMode="auto">
          <a:xfrm>
            <a:off x="321767" y="2125663"/>
            <a:ext cx="503237"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力</a:t>
            </a:r>
          </a:p>
        </p:txBody>
      </p:sp>
      <p:sp>
        <p:nvSpPr>
          <p:cNvPr id="29706" name="Text Box 10"/>
          <p:cNvSpPr txBox="1">
            <a:spLocks noChangeArrowheads="1"/>
          </p:cNvSpPr>
          <p:nvPr/>
        </p:nvSpPr>
        <p:spPr bwMode="auto">
          <a:xfrm>
            <a:off x="10617" y="4792663"/>
            <a:ext cx="8223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0000FF"/>
                </a:solidFill>
                <a:ea typeface="楷体_GB2312"/>
              </a:rPr>
              <a:t>能量</a:t>
            </a:r>
          </a:p>
        </p:txBody>
      </p:sp>
      <p:sp>
        <p:nvSpPr>
          <p:cNvPr id="29707" name="AutoShape 11"/>
          <p:cNvSpPr>
            <a:spLocks noChangeArrowheads="1"/>
          </p:cNvSpPr>
          <p:nvPr/>
        </p:nvSpPr>
        <p:spPr bwMode="auto">
          <a:xfrm flipV="1">
            <a:off x="898029" y="4291013"/>
            <a:ext cx="685800" cy="14478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8" name="AutoShape 12"/>
          <p:cNvSpPr>
            <a:spLocks noChangeArrowheads="1"/>
          </p:cNvSpPr>
          <p:nvPr/>
        </p:nvSpPr>
        <p:spPr bwMode="auto">
          <a:xfrm>
            <a:off x="832942" y="1989138"/>
            <a:ext cx="701675" cy="15240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0" name="AutoShape 14"/>
          <p:cNvSpPr>
            <a:spLocks noChangeArrowheads="1"/>
          </p:cNvSpPr>
          <p:nvPr/>
        </p:nvSpPr>
        <p:spPr bwMode="auto">
          <a:xfrm>
            <a:off x="6005584" y="5173662"/>
            <a:ext cx="421374" cy="184824"/>
          </a:xfrm>
          <a:prstGeom prst="rightArrow">
            <a:avLst>
              <a:gd name="adj1" fmla="val 50000"/>
              <a:gd name="adj2" fmla="val 125000"/>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9711" name="AutoShape 15"/>
          <p:cNvSpPr>
            <a:spLocks noChangeArrowheads="1"/>
          </p:cNvSpPr>
          <p:nvPr/>
        </p:nvSpPr>
        <p:spPr bwMode="auto">
          <a:xfrm>
            <a:off x="7470080" y="4198938"/>
            <a:ext cx="990600" cy="12192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2" name="AutoShape 16"/>
          <p:cNvSpPr>
            <a:spLocks noChangeArrowheads="1"/>
          </p:cNvSpPr>
          <p:nvPr/>
        </p:nvSpPr>
        <p:spPr bwMode="auto">
          <a:xfrm flipV="1">
            <a:off x="7398643" y="2125663"/>
            <a:ext cx="1025525" cy="1306512"/>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13" name="Object 17"/>
          <p:cNvGraphicFramePr>
            <a:graphicFrameLocks noChangeAspect="1"/>
          </p:cNvGraphicFramePr>
          <p:nvPr>
            <p:extLst/>
          </p:nvPr>
        </p:nvGraphicFramePr>
        <p:xfrm>
          <a:off x="1979117" y="5745163"/>
          <a:ext cx="1728787" cy="731837"/>
        </p:xfrm>
        <a:graphic>
          <a:graphicData uri="http://schemas.openxmlformats.org/presentationml/2006/ole">
            <mc:AlternateContent xmlns:mc="http://schemas.openxmlformats.org/markup-compatibility/2006">
              <mc:Choice xmlns:v="urn:schemas-microsoft-com:vml" Requires="v">
                <p:oleObj spid="_x0000_s78882" name="公式" r:id="rId3" imgW="685800" imgH="292100" progId="Equation.3">
                  <p:embed/>
                </p:oleObj>
              </mc:Choice>
              <mc:Fallback>
                <p:oleObj name="公式" r:id="rId3" imgW="685800" imgH="292100" progId="Equation.3">
                  <p:embed/>
                  <p:pic>
                    <p:nvPicPr>
                      <p:cNvPr id="29713"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117" y="5745163"/>
                        <a:ext cx="1728787" cy="73183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4" name="Object 18"/>
          <p:cNvGraphicFramePr>
            <a:graphicFrameLocks noChangeAspect="1"/>
          </p:cNvGraphicFramePr>
          <p:nvPr>
            <p:extLst/>
          </p:nvPr>
        </p:nvGraphicFramePr>
        <p:xfrm>
          <a:off x="6041330" y="1361281"/>
          <a:ext cx="1944687" cy="666750"/>
        </p:xfrm>
        <a:graphic>
          <a:graphicData uri="http://schemas.openxmlformats.org/presentationml/2006/ole">
            <mc:AlternateContent xmlns:mc="http://schemas.openxmlformats.org/markup-compatibility/2006">
              <mc:Choice xmlns:v="urn:schemas-microsoft-com:vml" Requires="v">
                <p:oleObj spid="_x0000_s78883" name="Equation" r:id="rId5" imgW="1180588" imgH="431613" progId="Equation.DSMT4">
                  <p:embed/>
                </p:oleObj>
              </mc:Choice>
              <mc:Fallback>
                <p:oleObj name="Equation" r:id="rId5" imgW="1180588" imgH="431613" progId="Equation.DSMT4">
                  <p:embed/>
                  <p:pic>
                    <p:nvPicPr>
                      <p:cNvPr id="29714"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1330" y="1361281"/>
                        <a:ext cx="1944687" cy="6667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5" name="Object 19"/>
          <p:cNvGraphicFramePr>
            <a:graphicFrameLocks noChangeAspect="1"/>
          </p:cNvGraphicFramePr>
          <p:nvPr>
            <p:extLst/>
          </p:nvPr>
        </p:nvGraphicFramePr>
        <p:xfrm>
          <a:off x="5117364" y="3686663"/>
          <a:ext cx="1998663" cy="577850"/>
        </p:xfrm>
        <a:graphic>
          <a:graphicData uri="http://schemas.openxmlformats.org/presentationml/2006/ole">
            <mc:AlternateContent xmlns:mc="http://schemas.openxmlformats.org/markup-compatibility/2006">
              <mc:Choice xmlns:v="urn:schemas-microsoft-com:vml" Requires="v">
                <p:oleObj spid="_x0000_s78884" name="Equation" r:id="rId7" imgW="787320" imgH="228600" progId="Equation.DSMT4">
                  <p:embed/>
                </p:oleObj>
              </mc:Choice>
              <mc:Fallback>
                <p:oleObj name="Equation" r:id="rId7" imgW="787320" imgH="228600" progId="Equation.DSMT4">
                  <p:embed/>
                  <p:pic>
                    <p:nvPicPr>
                      <p:cNvPr id="29715"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17364" y="3686663"/>
                        <a:ext cx="1998663" cy="5778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16" name="Rectangle 20"/>
          <p:cNvSpPr>
            <a:spLocks noChangeArrowheads="1"/>
          </p:cNvSpPr>
          <p:nvPr/>
        </p:nvSpPr>
        <p:spPr bwMode="auto">
          <a:xfrm>
            <a:off x="2865252" y="1714838"/>
            <a:ext cx="392112" cy="473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i="1">
                <a:solidFill>
                  <a:srgbClr val="0000FF"/>
                </a:solidFill>
                <a:ea typeface="楷体_GB2312"/>
              </a:rPr>
              <a:t>E</a:t>
            </a:r>
          </a:p>
        </p:txBody>
      </p:sp>
      <p:sp>
        <p:nvSpPr>
          <p:cNvPr id="29717" name="Rectangle 21"/>
          <p:cNvSpPr>
            <a:spLocks noChangeArrowheads="1"/>
          </p:cNvSpPr>
          <p:nvPr/>
        </p:nvSpPr>
        <p:spPr bwMode="auto">
          <a:xfrm>
            <a:off x="5980088" y="4746995"/>
            <a:ext cx="392112" cy="47923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i="1">
                <a:solidFill>
                  <a:srgbClr val="0000FF"/>
                </a:solidFill>
                <a:ea typeface="楷体_GB2312"/>
              </a:rPr>
              <a:t>V</a:t>
            </a:r>
          </a:p>
        </p:txBody>
      </p:sp>
      <p:sp>
        <p:nvSpPr>
          <p:cNvPr id="22" name="AutoShape 13">
            <a:extLst>
              <a:ext uri="{FF2B5EF4-FFF2-40B4-BE49-F238E27FC236}">
                <a16:creationId xmlns:a16="http://schemas.microsoft.com/office/drawing/2014/main" id="{6680DA0C-4120-4972-8F0A-A9DCCECA664C}"/>
              </a:ext>
            </a:extLst>
          </p:cNvPr>
          <p:cNvSpPr>
            <a:spLocks noChangeArrowheads="1"/>
          </p:cNvSpPr>
          <p:nvPr/>
        </p:nvSpPr>
        <p:spPr bwMode="auto">
          <a:xfrm>
            <a:off x="2843808" y="2220745"/>
            <a:ext cx="466180" cy="222250"/>
          </a:xfrm>
          <a:prstGeom prst="rightArrow">
            <a:avLst>
              <a:gd name="adj1" fmla="val 50000"/>
              <a:gd name="adj2" fmla="val 108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4" name="Text Box 4">
            <a:extLst>
              <a:ext uri="{FF2B5EF4-FFF2-40B4-BE49-F238E27FC236}">
                <a16:creationId xmlns:a16="http://schemas.microsoft.com/office/drawing/2014/main" id="{8349597B-D337-4768-9895-79088A86303A}"/>
              </a:ext>
            </a:extLst>
          </p:cNvPr>
          <p:cNvSpPr txBox="1">
            <a:spLocks noChangeArrowheads="1"/>
          </p:cNvSpPr>
          <p:nvPr/>
        </p:nvSpPr>
        <p:spPr bwMode="auto">
          <a:xfrm>
            <a:off x="3319747" y="2131815"/>
            <a:ext cx="1723549"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点电荷的电场</a:t>
            </a:r>
          </a:p>
        </p:txBody>
      </p:sp>
      <p:sp>
        <p:nvSpPr>
          <p:cNvPr id="25" name="AutoShape 13">
            <a:extLst>
              <a:ext uri="{FF2B5EF4-FFF2-40B4-BE49-F238E27FC236}">
                <a16:creationId xmlns:a16="http://schemas.microsoft.com/office/drawing/2014/main" id="{CCDE7C9A-0FF7-4F93-988E-16587C751C96}"/>
              </a:ext>
            </a:extLst>
          </p:cNvPr>
          <p:cNvSpPr>
            <a:spLocks noChangeArrowheads="1"/>
          </p:cNvSpPr>
          <p:nvPr/>
        </p:nvSpPr>
        <p:spPr bwMode="auto">
          <a:xfrm>
            <a:off x="5117364" y="2264908"/>
            <a:ext cx="466180" cy="222250"/>
          </a:xfrm>
          <a:prstGeom prst="rightArrow">
            <a:avLst>
              <a:gd name="adj1" fmla="val 50000"/>
              <a:gd name="adj2" fmla="val 108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6" name="Rectangle 20">
            <a:extLst>
              <a:ext uri="{FF2B5EF4-FFF2-40B4-BE49-F238E27FC236}">
                <a16:creationId xmlns:a16="http://schemas.microsoft.com/office/drawing/2014/main" id="{931D8C1A-E70B-49E3-847A-E72E0D3F92F7}"/>
              </a:ext>
            </a:extLst>
          </p:cNvPr>
          <p:cNvSpPr>
            <a:spLocks noChangeArrowheads="1"/>
          </p:cNvSpPr>
          <p:nvPr/>
        </p:nvSpPr>
        <p:spPr bwMode="auto">
          <a:xfrm>
            <a:off x="5133707" y="1700808"/>
            <a:ext cx="392112" cy="473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500" i="1">
                <a:solidFill>
                  <a:srgbClr val="0000FF"/>
                </a:solidFill>
                <a:ea typeface="楷体_GB2312"/>
              </a:rPr>
              <a:t>E</a:t>
            </a:r>
          </a:p>
        </p:txBody>
      </p:sp>
      <p:sp>
        <p:nvSpPr>
          <p:cNvPr id="27" name="AutoShape 14">
            <a:extLst>
              <a:ext uri="{FF2B5EF4-FFF2-40B4-BE49-F238E27FC236}">
                <a16:creationId xmlns:a16="http://schemas.microsoft.com/office/drawing/2014/main" id="{B95627C4-AE60-46A3-9A1F-225AD1B213D3}"/>
              </a:ext>
            </a:extLst>
          </p:cNvPr>
          <p:cNvSpPr>
            <a:spLocks noChangeArrowheads="1"/>
          </p:cNvSpPr>
          <p:nvPr/>
        </p:nvSpPr>
        <p:spPr bwMode="auto">
          <a:xfrm>
            <a:off x="3034919" y="5205359"/>
            <a:ext cx="355798" cy="201294"/>
          </a:xfrm>
          <a:prstGeom prst="rightArrow">
            <a:avLst>
              <a:gd name="adj1" fmla="val 50000"/>
              <a:gd name="adj2" fmla="val 125000"/>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 name="Text Box 6">
            <a:extLst>
              <a:ext uri="{FF2B5EF4-FFF2-40B4-BE49-F238E27FC236}">
                <a16:creationId xmlns:a16="http://schemas.microsoft.com/office/drawing/2014/main" id="{9922948A-4019-499B-BC91-D4254B7BC70F}"/>
              </a:ext>
            </a:extLst>
          </p:cNvPr>
          <p:cNvSpPr txBox="1">
            <a:spLocks noChangeArrowheads="1"/>
          </p:cNvSpPr>
          <p:nvPr/>
        </p:nvSpPr>
        <p:spPr bwMode="auto">
          <a:xfrm>
            <a:off x="3355828" y="5105951"/>
            <a:ext cx="1210588"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保守力场</a:t>
            </a:r>
          </a:p>
        </p:txBody>
      </p:sp>
      <p:sp>
        <p:nvSpPr>
          <p:cNvPr id="30" name="Text Box 6">
            <a:extLst>
              <a:ext uri="{FF2B5EF4-FFF2-40B4-BE49-F238E27FC236}">
                <a16:creationId xmlns:a16="http://schemas.microsoft.com/office/drawing/2014/main" id="{7532E8D8-E746-40E3-B946-F18A22A347BA}"/>
              </a:ext>
            </a:extLst>
          </p:cNvPr>
          <p:cNvSpPr txBox="1">
            <a:spLocks noChangeArrowheads="1"/>
          </p:cNvSpPr>
          <p:nvPr/>
        </p:nvSpPr>
        <p:spPr bwMode="auto">
          <a:xfrm>
            <a:off x="4946862" y="5089865"/>
            <a:ext cx="954107"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rgbClr val="0000FF"/>
                </a:solidFill>
                <a:ea typeface="楷体_GB2312"/>
              </a:rPr>
              <a:t>电势能</a:t>
            </a:r>
          </a:p>
        </p:txBody>
      </p:sp>
      <p:sp>
        <p:nvSpPr>
          <p:cNvPr id="31" name="AutoShape 14">
            <a:extLst>
              <a:ext uri="{FF2B5EF4-FFF2-40B4-BE49-F238E27FC236}">
                <a16:creationId xmlns:a16="http://schemas.microsoft.com/office/drawing/2014/main" id="{DA090726-709A-463F-9D76-30000D007A5F}"/>
              </a:ext>
            </a:extLst>
          </p:cNvPr>
          <p:cNvSpPr>
            <a:spLocks noChangeArrowheads="1"/>
          </p:cNvSpPr>
          <p:nvPr/>
        </p:nvSpPr>
        <p:spPr bwMode="auto">
          <a:xfrm>
            <a:off x="4577586" y="5221829"/>
            <a:ext cx="421374" cy="184824"/>
          </a:xfrm>
          <a:prstGeom prst="rightArrow">
            <a:avLst>
              <a:gd name="adj1" fmla="val 50000"/>
              <a:gd name="adj2" fmla="val 125000"/>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pic>
        <p:nvPicPr>
          <p:cNvPr id="32" name="图片 31">
            <a:extLst>
              <a:ext uri="{FF2B5EF4-FFF2-40B4-BE49-F238E27FC236}">
                <a16:creationId xmlns:a16="http://schemas.microsoft.com/office/drawing/2014/main" id="{97FE2D2F-6D0E-451A-80FB-291F35557199}"/>
              </a:ext>
            </a:extLst>
          </p:cNvPr>
          <p:cNvPicPr>
            <a:picLocks noChangeAspect="1"/>
          </p:cNvPicPr>
          <p:nvPr/>
        </p:nvPicPr>
        <p:blipFill>
          <a:blip r:embed="rId9"/>
          <a:stretch>
            <a:fillRect/>
          </a:stretch>
        </p:blipFill>
        <p:spPr>
          <a:xfrm>
            <a:off x="5115794" y="6043872"/>
            <a:ext cx="3605235" cy="421391"/>
          </a:xfrm>
          <a:prstGeom prst="rect">
            <a:avLst/>
          </a:prstGeom>
          <a:solidFill>
            <a:srgbClr val="FFFF00"/>
          </a:solidFill>
          <a:ln>
            <a:solidFill>
              <a:schemeClr val="accent1"/>
            </a:solidFill>
          </a:ln>
        </p:spPr>
      </p:pic>
      <p:sp>
        <p:nvSpPr>
          <p:cNvPr id="3" name="箭头: 下 2">
            <a:extLst>
              <a:ext uri="{FF2B5EF4-FFF2-40B4-BE49-F238E27FC236}">
                <a16:creationId xmlns:a16="http://schemas.microsoft.com/office/drawing/2014/main" id="{1A4B7AEF-138B-439E-BC43-042BE849E870}"/>
              </a:ext>
            </a:extLst>
          </p:cNvPr>
          <p:cNvSpPr/>
          <p:nvPr/>
        </p:nvSpPr>
        <p:spPr bwMode="auto">
          <a:xfrm>
            <a:off x="3961122" y="4780786"/>
            <a:ext cx="178830" cy="281191"/>
          </a:xfrm>
          <a:prstGeom prst="downArrow">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000" b="0" i="0" u="none" strike="noStrike" cap="none" normalizeH="0" baseline="0">
              <a:ln>
                <a:noFill/>
              </a:ln>
              <a:solidFill>
                <a:srgbClr val="FF3300"/>
              </a:solidFill>
              <a:effectLst/>
              <a:latin typeface="Times New Roman" pitchFamily="18" charset="0"/>
              <a:ea typeface="楷体_GB2312" pitchFamily="49" charset="-122"/>
            </a:endParaRPr>
          </a:p>
        </p:txBody>
      </p:sp>
      <p:sp>
        <p:nvSpPr>
          <p:cNvPr id="5" name="箭头: 上 4">
            <a:extLst>
              <a:ext uri="{FF2B5EF4-FFF2-40B4-BE49-F238E27FC236}">
                <a16:creationId xmlns:a16="http://schemas.microsoft.com/office/drawing/2014/main" id="{DB079B40-6C40-477A-BF9A-42DE44142B1F}"/>
              </a:ext>
            </a:extLst>
          </p:cNvPr>
          <p:cNvSpPr/>
          <p:nvPr/>
        </p:nvSpPr>
        <p:spPr bwMode="auto">
          <a:xfrm>
            <a:off x="6372200" y="5506061"/>
            <a:ext cx="288032" cy="498845"/>
          </a:xfrm>
          <a:prstGeom prst="upArrow">
            <a:avLst/>
          </a:pr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2000" b="0" i="0" u="none" strike="noStrike" cap="none" normalizeH="0" baseline="0">
              <a:ln>
                <a:noFill/>
              </a:ln>
              <a:solidFill>
                <a:srgbClr val="FF3300"/>
              </a:solidFill>
              <a:effectLst/>
              <a:latin typeface="Times New Roman" pitchFamily="18" charset="0"/>
              <a:ea typeface="楷体_GB2312" pitchFamily="49" charset="-122"/>
            </a:endParaRPr>
          </a:p>
        </p:txBody>
      </p:sp>
      <p:graphicFrame>
        <p:nvGraphicFramePr>
          <p:cNvPr id="6" name="对象 5">
            <a:extLst>
              <a:ext uri="{FF2B5EF4-FFF2-40B4-BE49-F238E27FC236}">
                <a16:creationId xmlns:a16="http://schemas.microsoft.com/office/drawing/2014/main" id="{2445A55F-F691-4F38-9EF3-751BC5547CDE}"/>
              </a:ext>
            </a:extLst>
          </p:cNvPr>
          <p:cNvGraphicFramePr>
            <a:graphicFrameLocks noChangeAspect="1"/>
          </p:cNvGraphicFramePr>
          <p:nvPr>
            <p:extLst>
              <p:ext uri="{D42A27DB-BD31-4B8C-83A1-F6EECF244321}">
                <p14:modId xmlns:p14="http://schemas.microsoft.com/office/powerpoint/2010/main" val="3919599296"/>
              </p:ext>
            </p:extLst>
          </p:nvPr>
        </p:nvGraphicFramePr>
        <p:xfrm>
          <a:off x="2636775" y="4322674"/>
          <a:ext cx="3472673" cy="414033"/>
        </p:xfrm>
        <a:graphic>
          <a:graphicData uri="http://schemas.openxmlformats.org/presentationml/2006/ole">
            <mc:AlternateContent xmlns:mc="http://schemas.openxmlformats.org/markup-compatibility/2006">
              <mc:Choice xmlns:v="urn:schemas-microsoft-com:vml" Requires="v">
                <p:oleObj spid="_x0000_s78885" name="Equation" r:id="rId10" imgW="6564010" imgH="783388" progId="Equation.DSMT4">
                  <p:embed/>
                </p:oleObj>
              </mc:Choice>
              <mc:Fallback>
                <p:oleObj name="Equation" r:id="rId10" imgW="6564010" imgH="783388" progId="Equation.DSMT4">
                  <p:embed/>
                  <p:pic>
                    <p:nvPicPr>
                      <p:cNvPr id="0" name=""/>
                      <p:cNvPicPr/>
                      <p:nvPr/>
                    </p:nvPicPr>
                    <p:blipFill>
                      <a:blip r:embed="rId11"/>
                      <a:stretch>
                        <a:fillRect/>
                      </a:stretch>
                    </p:blipFill>
                    <p:spPr>
                      <a:xfrm>
                        <a:off x="2636775" y="4322674"/>
                        <a:ext cx="3472673" cy="414033"/>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277797871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ChangeArrowheads="1"/>
          </p:cNvSpPr>
          <p:nvPr/>
        </p:nvSpPr>
        <p:spPr bwMode="auto">
          <a:xfrm>
            <a:off x="331886" y="82103"/>
            <a:ext cx="8459788" cy="378783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000">
                <a:solidFill>
                  <a:srgbClr val="FF3300"/>
                </a:solidFill>
                <a:ea typeface="楷体_GB2312"/>
              </a:rPr>
              <a:t>静电场的重要对外表现</a:t>
            </a:r>
            <a:br>
              <a:rPr lang="zh-CN" altLang="en-US" sz="3000">
                <a:solidFill>
                  <a:srgbClr val="FF3300"/>
                </a:solidFill>
                <a:ea typeface="楷体_GB2312"/>
              </a:rPr>
            </a:br>
            <a:r>
              <a:rPr lang="en-US" altLang="zh-CN" sz="3000">
                <a:ea typeface="楷体_GB2312"/>
              </a:rPr>
              <a:t>(1) </a:t>
            </a:r>
            <a:r>
              <a:rPr lang="zh-CN" altLang="en-US" sz="3000">
                <a:ea typeface="楷体_GB2312"/>
              </a:rPr>
              <a:t>引入静电场中的任何带电体都要受到电场所施加的力的作用，库仑力实际上就是这种电场力。</a:t>
            </a:r>
          </a:p>
          <a:p>
            <a:pPr eaLnBrk="1" hangingPunct="1">
              <a:spcBef>
                <a:spcPct val="0"/>
              </a:spcBef>
              <a:buFontTx/>
              <a:buNone/>
            </a:pPr>
            <a:r>
              <a:rPr lang="zh-CN" altLang="en-US" sz="3000">
                <a:solidFill>
                  <a:srgbClr val="FF3300"/>
                </a:solidFill>
                <a:ea typeface="楷体_GB2312"/>
              </a:rPr>
              <a:t>由此引入了电场强度的概念</a:t>
            </a:r>
          </a:p>
          <a:p>
            <a:pPr eaLnBrk="1" hangingPunct="1">
              <a:spcBef>
                <a:spcPct val="0"/>
              </a:spcBef>
              <a:buFontTx/>
              <a:buNone/>
            </a:pPr>
            <a:br>
              <a:rPr lang="zh-CN" altLang="en-US" sz="3000">
                <a:ea typeface="楷体_GB2312"/>
              </a:rPr>
            </a:br>
            <a:r>
              <a:rPr lang="en-US" altLang="zh-CN" sz="3000">
                <a:ea typeface="楷体_GB2312"/>
              </a:rPr>
              <a:t>(2) </a:t>
            </a:r>
            <a:r>
              <a:rPr lang="zh-CN" altLang="en-US" sz="3000">
                <a:ea typeface="楷体_GB2312"/>
              </a:rPr>
              <a:t>当引入静电场中的带电体在电场中移动时，电场力就对它作功。</a:t>
            </a:r>
            <a:r>
              <a:rPr lang="zh-CN" altLang="en-US" sz="3000">
                <a:solidFill>
                  <a:srgbClr val="FF3300"/>
                </a:solidFill>
                <a:ea typeface="楷体_GB2312"/>
              </a:rPr>
              <a:t> </a:t>
            </a:r>
          </a:p>
          <a:p>
            <a:pPr eaLnBrk="1" hangingPunct="1">
              <a:spcBef>
                <a:spcPct val="0"/>
              </a:spcBef>
              <a:buFontTx/>
              <a:buNone/>
            </a:pPr>
            <a:r>
              <a:rPr lang="zh-CN" altLang="en-US" sz="3000">
                <a:solidFill>
                  <a:srgbClr val="FF3300"/>
                </a:solidFill>
                <a:ea typeface="楷体_GB2312"/>
              </a:rPr>
              <a:t>根据做功的特点，引入电势的概念。</a:t>
            </a:r>
          </a:p>
        </p:txBody>
      </p:sp>
      <p:sp>
        <p:nvSpPr>
          <p:cNvPr id="3" name="Text Box 23">
            <a:extLst>
              <a:ext uri="{FF2B5EF4-FFF2-40B4-BE49-F238E27FC236}">
                <a16:creationId xmlns:a16="http://schemas.microsoft.com/office/drawing/2014/main" id="{C8A13510-BC8C-48AE-A87C-1B67800CE63A}"/>
              </a:ext>
            </a:extLst>
          </p:cNvPr>
          <p:cNvSpPr txBox="1">
            <a:spLocks noChangeArrowheads="1"/>
          </p:cNvSpPr>
          <p:nvPr/>
        </p:nvSpPr>
        <p:spPr bwMode="auto">
          <a:xfrm>
            <a:off x="15330" y="5971097"/>
            <a:ext cx="7596337" cy="479235"/>
          </a:xfrm>
          <a:prstGeom prst="rect">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FF3300"/>
                </a:solidFill>
                <a:ea typeface="楷体_GB2312"/>
              </a:rPr>
              <a:t>静电场环路定理：</a:t>
            </a:r>
            <a:r>
              <a:rPr lang="zh-CN" altLang="en-US" sz="2500">
                <a:ea typeface="楷体_GB2312"/>
              </a:rPr>
              <a:t>在静电场中，电场强度的环流为零。</a:t>
            </a:r>
          </a:p>
        </p:txBody>
      </p:sp>
      <p:sp>
        <p:nvSpPr>
          <p:cNvPr id="4" name="Text Box 9">
            <a:extLst>
              <a:ext uri="{FF2B5EF4-FFF2-40B4-BE49-F238E27FC236}">
                <a16:creationId xmlns:a16="http://schemas.microsoft.com/office/drawing/2014/main" id="{E9F51BC1-9028-4E2A-9F0C-F8E348FD415A}"/>
              </a:ext>
            </a:extLst>
          </p:cNvPr>
          <p:cNvSpPr txBox="1">
            <a:spLocks noChangeArrowheads="1"/>
          </p:cNvSpPr>
          <p:nvPr/>
        </p:nvSpPr>
        <p:spPr bwMode="auto">
          <a:xfrm>
            <a:off x="107504" y="3905411"/>
            <a:ext cx="9180513" cy="1633397"/>
          </a:xfrm>
          <a:prstGeom prst="rect">
            <a:avLst/>
          </a:prstGeom>
          <a:noFill/>
          <a:ln w="127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FF0000"/>
                </a:solidFill>
                <a:ea typeface="楷体_GB2312"/>
              </a:rPr>
              <a:t>静电场做功特点：</a:t>
            </a:r>
            <a:r>
              <a:rPr lang="zh-CN" altLang="en-US" sz="2500">
                <a:ea typeface="楷体_GB2312"/>
              </a:rPr>
              <a:t>在真空中，一试探电荷在静电场中移动时，静电场力对它所作的功，仅与</a:t>
            </a:r>
            <a:r>
              <a:rPr lang="zh-CN" altLang="en-US" sz="2500">
                <a:solidFill>
                  <a:schemeClr val="hlink"/>
                </a:solidFill>
                <a:ea typeface="楷体_GB2312"/>
              </a:rPr>
              <a:t>试探电荷的电量、起点与终点位置有关， </a:t>
            </a:r>
            <a:r>
              <a:rPr lang="zh-CN" altLang="en-US" sz="2500">
                <a:ea typeface="楷体_GB2312"/>
              </a:rPr>
              <a:t>而与试探电荷所经过的路径无关。</a:t>
            </a:r>
            <a:r>
              <a:rPr lang="zh-CN" altLang="en-US" sz="2500">
                <a:solidFill>
                  <a:schemeClr val="hlink"/>
                </a:solidFill>
                <a:ea typeface="楷体_GB2312"/>
              </a:rPr>
              <a:t>静电场力也是保守力，静电场是保守力场。</a:t>
            </a:r>
          </a:p>
        </p:txBody>
      </p:sp>
      <p:graphicFrame>
        <p:nvGraphicFramePr>
          <p:cNvPr id="5" name="Object 21">
            <a:extLst>
              <a:ext uri="{FF2B5EF4-FFF2-40B4-BE49-F238E27FC236}">
                <a16:creationId xmlns:a16="http://schemas.microsoft.com/office/drawing/2014/main" id="{5127FA61-F96E-4FC4-9454-1AAE023D838B}"/>
              </a:ext>
            </a:extLst>
          </p:cNvPr>
          <p:cNvGraphicFramePr>
            <a:graphicFrameLocks noChangeAspect="1"/>
          </p:cNvGraphicFramePr>
          <p:nvPr>
            <p:extLst/>
          </p:nvPr>
        </p:nvGraphicFramePr>
        <p:xfrm>
          <a:off x="7594221" y="5951839"/>
          <a:ext cx="1461995" cy="618911"/>
        </p:xfrm>
        <a:graphic>
          <a:graphicData uri="http://schemas.openxmlformats.org/presentationml/2006/ole">
            <mc:AlternateContent xmlns:mc="http://schemas.openxmlformats.org/markup-compatibility/2006">
              <mc:Choice xmlns:v="urn:schemas-microsoft-com:vml" Requires="v">
                <p:oleObj spid="_x0000_s79890" name="Equation" r:id="rId4" imgW="685800" imgH="292100" progId="Equation.DSMT4">
                  <p:embed/>
                </p:oleObj>
              </mc:Choice>
              <mc:Fallback>
                <p:oleObj name="Equation" r:id="rId4" imgW="685800" imgH="292100" progId="Equation.DSMT4">
                  <p:embed/>
                  <p:pic>
                    <p:nvPicPr>
                      <p:cNvPr id="5" name="Object 21">
                        <a:extLst>
                          <a:ext uri="{FF2B5EF4-FFF2-40B4-BE49-F238E27FC236}">
                            <a16:creationId xmlns:a16="http://schemas.microsoft.com/office/drawing/2014/main" id="{5127FA61-F96E-4FC4-9454-1AAE023D83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4221" y="5951839"/>
                        <a:ext cx="1461995" cy="618911"/>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6" name="Object 6">
            <a:extLst>
              <a:ext uri="{FF2B5EF4-FFF2-40B4-BE49-F238E27FC236}">
                <a16:creationId xmlns:a16="http://schemas.microsoft.com/office/drawing/2014/main" id="{D15BC1E1-0C82-40ED-95E6-3018704B85FE}"/>
              </a:ext>
            </a:extLst>
          </p:cNvPr>
          <p:cNvGraphicFramePr>
            <a:graphicFrameLocks noChangeAspect="1"/>
          </p:cNvGraphicFramePr>
          <p:nvPr>
            <p:extLst/>
          </p:nvPr>
        </p:nvGraphicFramePr>
        <p:xfrm>
          <a:off x="3419872" y="5125777"/>
          <a:ext cx="1872208" cy="826062"/>
        </p:xfrm>
        <a:graphic>
          <a:graphicData uri="http://schemas.openxmlformats.org/presentationml/2006/ole">
            <mc:AlternateContent xmlns:mc="http://schemas.openxmlformats.org/markup-compatibility/2006">
              <mc:Choice xmlns:v="urn:schemas-microsoft-com:vml" Requires="v">
                <p:oleObj spid="_x0000_s79891" name="Equation" r:id="rId6" imgW="863280" imgH="380880" progId="Equation.DSMT4">
                  <p:embed/>
                </p:oleObj>
              </mc:Choice>
              <mc:Fallback>
                <p:oleObj name="Equation" r:id="rId6" imgW="863280" imgH="380880" progId="Equation.DSMT4">
                  <p:embed/>
                  <p:pic>
                    <p:nvPicPr>
                      <p:cNvPr id="6" name="Object 6">
                        <a:extLst>
                          <a:ext uri="{FF2B5EF4-FFF2-40B4-BE49-F238E27FC236}">
                            <a16:creationId xmlns:a16="http://schemas.microsoft.com/office/drawing/2014/main" id="{D15BC1E1-0C82-40ED-95E6-3018704B85FE}"/>
                          </a:ext>
                        </a:extLst>
                      </p:cNvPr>
                      <p:cNvPicPr>
                        <a:picLocks noChangeAspect="1" noChangeArrowheads="1"/>
                      </p:cNvPicPr>
                      <p:nvPr/>
                    </p:nvPicPr>
                    <p:blipFill>
                      <a:blip r:embed="rId7"/>
                      <a:srcRect/>
                      <a:stretch>
                        <a:fillRect/>
                      </a:stretch>
                    </p:blipFill>
                    <p:spPr bwMode="auto">
                      <a:xfrm>
                        <a:off x="3419872" y="5125777"/>
                        <a:ext cx="1872208" cy="826062"/>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wipe(down)">
                                      <p:cBhvr>
                                        <p:cTn id="7" dur="500"/>
                                        <p:tgtEl>
                                          <p:spTgt spid="21606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76200" y="715963"/>
            <a:ext cx="533400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一、静电场力所作的功</a:t>
            </a:r>
          </a:p>
        </p:txBody>
      </p:sp>
      <p:sp>
        <p:nvSpPr>
          <p:cNvPr id="4099" name="Text Box 4"/>
          <p:cNvSpPr txBox="1">
            <a:spLocks noChangeArrowheads="1"/>
          </p:cNvSpPr>
          <p:nvPr/>
        </p:nvSpPr>
        <p:spPr bwMode="auto">
          <a:xfrm>
            <a:off x="1763713" y="0"/>
            <a:ext cx="6297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a:solidFill>
                  <a:srgbClr val="FF3300"/>
                </a:solidFill>
                <a:ea typeface="楷体_GB2312"/>
              </a:rPr>
              <a:t>7-4  </a:t>
            </a:r>
            <a:r>
              <a:rPr lang="zh-CN" altLang="en-US" sz="3600">
                <a:solidFill>
                  <a:srgbClr val="FF3300"/>
                </a:solidFill>
                <a:ea typeface="楷体_GB2312"/>
              </a:rPr>
              <a:t>静电场的环路定理  电势能</a:t>
            </a:r>
            <a:endParaRPr lang="zh-CN" altLang="en-US" sz="2800" b="0">
              <a:ea typeface="楷体_GB2312"/>
            </a:endParaRPr>
          </a:p>
        </p:txBody>
      </p:sp>
      <p:sp>
        <p:nvSpPr>
          <p:cNvPr id="4100" name="Text Box 5"/>
          <p:cNvSpPr txBox="1">
            <a:spLocks noChangeArrowheads="1"/>
          </p:cNvSpPr>
          <p:nvPr/>
        </p:nvSpPr>
        <p:spPr bwMode="auto">
          <a:xfrm>
            <a:off x="685800" y="1752600"/>
            <a:ext cx="50292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点电荷</a:t>
            </a:r>
            <a:r>
              <a:rPr lang="en-US" altLang="zh-CN" sz="2400">
                <a:ea typeface="楷体_GB2312"/>
              </a:rPr>
              <a:t>+</a:t>
            </a:r>
            <a:r>
              <a:rPr lang="en-US" altLang="zh-CN" sz="2400" i="1">
                <a:ea typeface="楷体_GB2312"/>
              </a:rPr>
              <a:t>q</a:t>
            </a:r>
            <a:r>
              <a:rPr lang="zh-CN" altLang="en-US" sz="2400">
                <a:ea typeface="楷体_GB2312"/>
              </a:rPr>
              <a:t>固定于原点</a:t>
            </a:r>
            <a:r>
              <a:rPr lang="en-US" altLang="zh-CN" sz="2400">
                <a:ea typeface="楷体_GB2312"/>
              </a:rPr>
              <a:t>O</a:t>
            </a:r>
            <a:r>
              <a:rPr lang="zh-CN" altLang="en-US" sz="2400">
                <a:ea typeface="楷体_GB2312"/>
              </a:rPr>
              <a:t>，试探电荷</a:t>
            </a:r>
            <a:r>
              <a:rPr lang="en-US" altLang="zh-CN" sz="2400">
                <a:ea typeface="楷体_GB2312"/>
              </a:rPr>
              <a:t>+</a:t>
            </a:r>
            <a:r>
              <a:rPr lang="en-US" altLang="zh-CN" sz="2400" i="1">
                <a:ea typeface="楷体_GB2312"/>
              </a:rPr>
              <a:t>q</a:t>
            </a:r>
            <a:r>
              <a:rPr lang="en-US" altLang="zh-CN" sz="2400" baseline="-25000">
                <a:ea typeface="楷体_GB2312"/>
              </a:rPr>
              <a:t>0</a:t>
            </a:r>
            <a:r>
              <a:rPr lang="zh-CN" altLang="en-US" sz="2400">
                <a:ea typeface="楷体_GB2312"/>
              </a:rPr>
              <a:t>在</a:t>
            </a:r>
            <a:r>
              <a:rPr lang="en-US" altLang="zh-CN" sz="2400" i="1">
                <a:ea typeface="楷体_GB2312"/>
              </a:rPr>
              <a:t>q</a:t>
            </a:r>
            <a:r>
              <a:rPr lang="zh-CN" altLang="en-US" sz="2400">
                <a:ea typeface="楷体_GB2312"/>
              </a:rPr>
              <a:t>的电场中由</a:t>
            </a:r>
            <a:r>
              <a:rPr lang="en-US" altLang="zh-CN" sz="2400">
                <a:ea typeface="楷体_GB2312"/>
              </a:rPr>
              <a:t>A</a:t>
            </a:r>
            <a:r>
              <a:rPr lang="zh-CN" altLang="en-US" sz="2400">
                <a:ea typeface="楷体_GB2312"/>
              </a:rPr>
              <a:t>点沿任意路径</a:t>
            </a:r>
            <a:r>
              <a:rPr lang="en-US" altLang="zh-CN" sz="2400">
                <a:ea typeface="楷体_GB2312"/>
              </a:rPr>
              <a:t>ACB</a:t>
            </a:r>
            <a:r>
              <a:rPr lang="zh-CN" altLang="en-US" sz="2400">
                <a:ea typeface="楷体_GB2312"/>
              </a:rPr>
              <a:t>到达</a:t>
            </a:r>
            <a:r>
              <a:rPr lang="en-US" altLang="zh-CN" sz="2400">
                <a:ea typeface="楷体_GB2312"/>
              </a:rPr>
              <a:t>B</a:t>
            </a:r>
            <a:r>
              <a:rPr lang="zh-CN" altLang="en-US" sz="2400">
                <a:ea typeface="楷体_GB2312"/>
              </a:rPr>
              <a:t>点，取微元</a:t>
            </a:r>
            <a:r>
              <a:rPr lang="en-US" altLang="zh-CN" sz="2400">
                <a:solidFill>
                  <a:srgbClr val="0066FF"/>
                </a:solidFill>
                <a:ea typeface="楷体_GB2312"/>
              </a:rPr>
              <a:t>d</a:t>
            </a:r>
            <a:r>
              <a:rPr lang="en-US" altLang="zh-CN" sz="2400" i="1">
                <a:solidFill>
                  <a:srgbClr val="0066FF"/>
                </a:solidFill>
                <a:ea typeface="楷体_GB2312"/>
              </a:rPr>
              <a:t>l</a:t>
            </a:r>
            <a:r>
              <a:rPr lang="zh-CN" altLang="en-US" sz="2400">
                <a:ea typeface="楷体_GB2312"/>
              </a:rPr>
              <a:t>，电场力对</a:t>
            </a:r>
            <a:r>
              <a:rPr lang="en-US" altLang="zh-CN" sz="2400" i="1">
                <a:ea typeface="楷体_GB2312"/>
              </a:rPr>
              <a:t>q</a:t>
            </a:r>
            <a:r>
              <a:rPr lang="en-US" altLang="zh-CN" sz="2400" baseline="-25000">
                <a:ea typeface="楷体_GB2312"/>
              </a:rPr>
              <a:t>0</a:t>
            </a:r>
            <a:r>
              <a:rPr lang="zh-CN" altLang="en-US" sz="2400">
                <a:ea typeface="楷体_GB2312"/>
              </a:rPr>
              <a:t>的元功为</a:t>
            </a:r>
          </a:p>
        </p:txBody>
      </p:sp>
      <p:grpSp>
        <p:nvGrpSpPr>
          <p:cNvPr id="4101" name="Group 6"/>
          <p:cNvGrpSpPr>
            <a:grpSpLocks/>
          </p:cNvGrpSpPr>
          <p:nvPr/>
        </p:nvGrpSpPr>
        <p:grpSpPr bwMode="auto">
          <a:xfrm>
            <a:off x="6162675" y="685800"/>
            <a:ext cx="1978025" cy="2606675"/>
            <a:chOff x="3882" y="2064"/>
            <a:chExt cx="1246" cy="1642"/>
          </a:xfrm>
        </p:grpSpPr>
        <p:graphicFrame>
          <p:nvGraphicFramePr>
            <p:cNvPr id="4134" name="Object 7"/>
            <p:cNvGraphicFramePr>
              <a:graphicFrameLocks noChangeAspect="1"/>
            </p:cNvGraphicFramePr>
            <p:nvPr/>
          </p:nvGraphicFramePr>
          <p:xfrm>
            <a:off x="3888" y="2811"/>
            <a:ext cx="354" cy="463"/>
          </p:xfrm>
          <a:graphic>
            <a:graphicData uri="http://schemas.openxmlformats.org/presentationml/2006/ole">
              <mc:AlternateContent xmlns:mc="http://schemas.openxmlformats.org/markup-compatibility/2006">
                <mc:Choice xmlns:v="urn:schemas-microsoft-com:vml" Requires="v">
                  <p:oleObj spid="_x0000_s81034" name="公式" r:id="rId3" imgW="164885" imgH="215619" progId="Equation.3">
                    <p:embed/>
                  </p:oleObj>
                </mc:Choice>
                <mc:Fallback>
                  <p:oleObj name="公式" r:id="rId3" imgW="164885" imgH="215619" progId="Equation.3">
                    <p:embed/>
                    <p:pic>
                      <p:nvPicPr>
                        <p:cNvPr id="413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8" y="2811"/>
                          <a:ext cx="354"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35" name="Line 8"/>
            <p:cNvSpPr>
              <a:spLocks noChangeShapeType="1"/>
            </p:cNvSpPr>
            <p:nvPr/>
          </p:nvSpPr>
          <p:spPr bwMode="auto">
            <a:xfrm flipV="1">
              <a:off x="3882" y="2208"/>
              <a:ext cx="918" cy="1498"/>
            </a:xfrm>
            <a:prstGeom prst="line">
              <a:avLst/>
            </a:prstGeom>
            <a:noFill/>
            <a:ln w="412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36" name="Object 9"/>
            <p:cNvGraphicFramePr>
              <a:graphicFrameLocks noChangeAspect="1"/>
            </p:cNvGraphicFramePr>
            <p:nvPr/>
          </p:nvGraphicFramePr>
          <p:xfrm>
            <a:off x="4848" y="2064"/>
            <a:ext cx="280" cy="279"/>
          </p:xfrm>
          <a:graphic>
            <a:graphicData uri="http://schemas.openxmlformats.org/presentationml/2006/ole">
              <mc:AlternateContent xmlns:mc="http://schemas.openxmlformats.org/markup-compatibility/2006">
                <mc:Choice xmlns:v="urn:schemas-microsoft-com:vml" Requires="v">
                  <p:oleObj spid="_x0000_s81035" name="公式" r:id="rId5" imgW="164885" imgH="164885" progId="Equation.3">
                    <p:embed/>
                  </p:oleObj>
                </mc:Choice>
                <mc:Fallback>
                  <p:oleObj name="公式" r:id="rId5" imgW="164885" imgH="164885" progId="Equation.3">
                    <p:embed/>
                    <p:pic>
                      <p:nvPicPr>
                        <p:cNvPr id="4136"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8" y="2064"/>
                          <a:ext cx="280"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102" name="Group 10"/>
          <p:cNvGrpSpPr>
            <a:grpSpLocks/>
          </p:cNvGrpSpPr>
          <p:nvPr/>
        </p:nvGrpSpPr>
        <p:grpSpPr bwMode="auto">
          <a:xfrm>
            <a:off x="6197600" y="3124200"/>
            <a:ext cx="1820863" cy="669925"/>
            <a:chOff x="3904" y="3600"/>
            <a:chExt cx="1147" cy="422"/>
          </a:xfrm>
        </p:grpSpPr>
        <p:graphicFrame>
          <p:nvGraphicFramePr>
            <p:cNvPr id="4131" name="Object 11"/>
            <p:cNvGraphicFramePr>
              <a:graphicFrameLocks noChangeAspect="1"/>
            </p:cNvGraphicFramePr>
            <p:nvPr/>
          </p:nvGraphicFramePr>
          <p:xfrm>
            <a:off x="4234" y="3600"/>
            <a:ext cx="322" cy="422"/>
          </p:xfrm>
          <a:graphic>
            <a:graphicData uri="http://schemas.openxmlformats.org/presentationml/2006/ole">
              <mc:AlternateContent xmlns:mc="http://schemas.openxmlformats.org/markup-compatibility/2006">
                <mc:Choice xmlns:v="urn:schemas-microsoft-com:vml" Requires="v">
                  <p:oleObj spid="_x0000_s81036" name="公式" r:id="rId7" imgW="164885" imgH="215619" progId="Equation.3">
                    <p:embed/>
                  </p:oleObj>
                </mc:Choice>
                <mc:Fallback>
                  <p:oleObj name="公式" r:id="rId7" imgW="164885" imgH="215619" progId="Equation.3">
                    <p:embed/>
                    <p:pic>
                      <p:nvPicPr>
                        <p:cNvPr id="4131"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4" y="3600"/>
                          <a:ext cx="322"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32" name="Line 12"/>
            <p:cNvSpPr>
              <a:spLocks noChangeShapeType="1"/>
            </p:cNvSpPr>
            <p:nvPr/>
          </p:nvSpPr>
          <p:spPr bwMode="auto">
            <a:xfrm flipV="1">
              <a:off x="3904" y="3610"/>
              <a:ext cx="912" cy="96"/>
            </a:xfrm>
            <a:prstGeom prst="line">
              <a:avLst/>
            </a:prstGeom>
            <a:noFill/>
            <a:ln w="412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33" name="Object 13"/>
            <p:cNvGraphicFramePr>
              <a:graphicFrameLocks noChangeAspect="1"/>
            </p:cNvGraphicFramePr>
            <p:nvPr/>
          </p:nvGraphicFramePr>
          <p:xfrm>
            <a:off x="4763" y="3600"/>
            <a:ext cx="288" cy="288"/>
          </p:xfrm>
          <a:graphic>
            <a:graphicData uri="http://schemas.openxmlformats.org/presentationml/2006/ole">
              <mc:AlternateContent xmlns:mc="http://schemas.openxmlformats.org/markup-compatibility/2006">
                <mc:Choice xmlns:v="urn:schemas-microsoft-com:vml" Requires="v">
                  <p:oleObj spid="_x0000_s81037" name="公式" r:id="rId9" imgW="164885" imgH="164885" progId="Equation.3">
                    <p:embed/>
                  </p:oleObj>
                </mc:Choice>
                <mc:Fallback>
                  <p:oleObj name="公式" r:id="rId9" imgW="164885" imgH="164885" progId="Equation.3">
                    <p:embed/>
                    <p:pic>
                      <p:nvPicPr>
                        <p:cNvPr id="4133"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3" y="360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103" name="Text Box 14"/>
          <p:cNvSpPr txBox="1">
            <a:spLocks noChangeArrowheads="1"/>
          </p:cNvSpPr>
          <p:nvPr/>
        </p:nvSpPr>
        <p:spPr bwMode="auto">
          <a:xfrm>
            <a:off x="517525" y="1209675"/>
            <a:ext cx="405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1</a:t>
            </a:r>
            <a:r>
              <a:rPr lang="zh-CN" altLang="en-US" sz="2800">
                <a:solidFill>
                  <a:srgbClr val="3333FF"/>
                </a:solidFill>
                <a:ea typeface="楷体_GB2312"/>
              </a:rPr>
              <a:t>、点电荷电场</a:t>
            </a:r>
            <a:endParaRPr lang="zh-CN" altLang="en-US" sz="3600">
              <a:solidFill>
                <a:srgbClr val="FF3300"/>
              </a:solidFill>
              <a:ea typeface="楷体_GB2312"/>
            </a:endParaRPr>
          </a:p>
        </p:txBody>
      </p:sp>
      <p:sp>
        <p:nvSpPr>
          <p:cNvPr id="4104" name="Freeform 15"/>
          <p:cNvSpPr>
            <a:spLocks/>
          </p:cNvSpPr>
          <p:nvPr/>
        </p:nvSpPr>
        <p:spPr bwMode="auto">
          <a:xfrm>
            <a:off x="7620000" y="914400"/>
            <a:ext cx="381000" cy="2209800"/>
          </a:xfrm>
          <a:custGeom>
            <a:avLst/>
            <a:gdLst>
              <a:gd name="T0" fmla="*/ 0 w 240"/>
              <a:gd name="T1" fmla="*/ 2147483646 h 1392"/>
              <a:gd name="T2" fmla="*/ 2147483646 w 240"/>
              <a:gd name="T3" fmla="*/ 2147483646 h 1392"/>
              <a:gd name="T4" fmla="*/ 0 w 240"/>
              <a:gd name="T5" fmla="*/ 0 h 1392"/>
              <a:gd name="T6" fmla="*/ 0 60000 65536"/>
              <a:gd name="T7" fmla="*/ 0 60000 65536"/>
              <a:gd name="T8" fmla="*/ 0 60000 65536"/>
            </a:gdLst>
            <a:ahLst/>
            <a:cxnLst>
              <a:cxn ang="T6">
                <a:pos x="T0" y="T1"/>
              </a:cxn>
              <a:cxn ang="T7">
                <a:pos x="T2" y="T3"/>
              </a:cxn>
              <a:cxn ang="T8">
                <a:pos x="T4" y="T5"/>
              </a:cxn>
            </a:cxnLst>
            <a:rect l="0" t="0" r="r" b="b"/>
            <a:pathLst>
              <a:path w="240" h="1392">
                <a:moveTo>
                  <a:pt x="0" y="1392"/>
                </a:moveTo>
                <a:cubicBezTo>
                  <a:pt x="120" y="1196"/>
                  <a:pt x="240" y="1000"/>
                  <a:pt x="240" y="768"/>
                </a:cubicBezTo>
                <a:cubicBezTo>
                  <a:pt x="240" y="536"/>
                  <a:pt x="40" y="128"/>
                  <a:pt x="0" y="0"/>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05" name="Group 16"/>
          <p:cNvGrpSpPr>
            <a:grpSpLocks/>
          </p:cNvGrpSpPr>
          <p:nvPr/>
        </p:nvGrpSpPr>
        <p:grpSpPr bwMode="auto">
          <a:xfrm>
            <a:off x="5727700" y="2895600"/>
            <a:ext cx="468313" cy="533400"/>
            <a:chOff x="3608" y="3456"/>
            <a:chExt cx="295" cy="336"/>
          </a:xfrm>
        </p:grpSpPr>
        <p:sp>
          <p:nvSpPr>
            <p:cNvPr id="4129" name="Oval 17"/>
            <p:cNvSpPr>
              <a:spLocks noChangeArrowheads="1"/>
            </p:cNvSpPr>
            <p:nvPr/>
          </p:nvSpPr>
          <p:spPr bwMode="auto">
            <a:xfrm>
              <a:off x="3833" y="3664"/>
              <a:ext cx="70" cy="7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4130" name="Object 18"/>
            <p:cNvGraphicFramePr>
              <a:graphicFrameLocks noChangeAspect="1"/>
            </p:cNvGraphicFramePr>
            <p:nvPr/>
          </p:nvGraphicFramePr>
          <p:xfrm>
            <a:off x="3608" y="3456"/>
            <a:ext cx="258" cy="336"/>
          </p:xfrm>
          <a:graphic>
            <a:graphicData uri="http://schemas.openxmlformats.org/presentationml/2006/ole">
              <mc:AlternateContent xmlns:mc="http://schemas.openxmlformats.org/markup-compatibility/2006">
                <mc:Choice xmlns:v="urn:schemas-microsoft-com:vml" Requires="v">
                  <p:oleObj spid="_x0000_s81038" name="公式" r:id="rId11" imgW="126780" imgH="164814" progId="Equation.3">
                    <p:embed/>
                  </p:oleObj>
                </mc:Choice>
                <mc:Fallback>
                  <p:oleObj name="公式" r:id="rId11" imgW="126780" imgH="164814" progId="Equation.3">
                    <p:embed/>
                    <p:pic>
                      <p:nvPicPr>
                        <p:cNvPr id="413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8" y="3456"/>
                          <a:ext cx="25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106" name="Group 19"/>
          <p:cNvGrpSpPr>
            <a:grpSpLocks/>
          </p:cNvGrpSpPr>
          <p:nvPr/>
        </p:nvGrpSpPr>
        <p:grpSpPr bwMode="auto">
          <a:xfrm>
            <a:off x="6156325" y="1150938"/>
            <a:ext cx="2919413" cy="2133600"/>
            <a:chOff x="3888" y="2064"/>
            <a:chExt cx="1839" cy="1344"/>
          </a:xfrm>
        </p:grpSpPr>
        <p:sp>
          <p:nvSpPr>
            <p:cNvPr id="4119" name="Line 20"/>
            <p:cNvSpPr>
              <a:spLocks noChangeShapeType="1"/>
            </p:cNvSpPr>
            <p:nvPr/>
          </p:nvSpPr>
          <p:spPr bwMode="auto">
            <a:xfrm flipV="1">
              <a:off x="3888" y="2448"/>
              <a:ext cx="1104" cy="959"/>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20" name="Object 21"/>
            <p:cNvGraphicFramePr>
              <a:graphicFrameLocks noChangeAspect="1"/>
            </p:cNvGraphicFramePr>
            <p:nvPr/>
          </p:nvGraphicFramePr>
          <p:xfrm>
            <a:off x="4751" y="2592"/>
            <a:ext cx="281" cy="300"/>
          </p:xfrm>
          <a:graphic>
            <a:graphicData uri="http://schemas.openxmlformats.org/presentationml/2006/ole">
              <mc:AlternateContent xmlns:mc="http://schemas.openxmlformats.org/markup-compatibility/2006">
                <mc:Choice xmlns:v="urn:schemas-microsoft-com:vml" Requires="v">
                  <p:oleObj spid="_x0000_s81039" name="公式" r:id="rId13" imgW="164814" imgH="177492" progId="Equation.3">
                    <p:embed/>
                  </p:oleObj>
                </mc:Choice>
                <mc:Fallback>
                  <p:oleObj name="公式" r:id="rId13" imgW="164814" imgH="177492" progId="Equation.3">
                    <p:embed/>
                    <p:pic>
                      <p:nvPicPr>
                        <p:cNvPr id="412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1" y="2592"/>
                          <a:ext cx="28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21" name="Line 22"/>
            <p:cNvSpPr>
              <a:spLocks noChangeShapeType="1"/>
            </p:cNvSpPr>
            <p:nvPr/>
          </p:nvSpPr>
          <p:spPr bwMode="auto">
            <a:xfrm flipV="1">
              <a:off x="3888" y="2448"/>
              <a:ext cx="1680" cy="96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122" name="Object 23"/>
            <p:cNvGraphicFramePr>
              <a:graphicFrameLocks noChangeAspect="1"/>
            </p:cNvGraphicFramePr>
            <p:nvPr/>
          </p:nvGraphicFramePr>
          <p:xfrm>
            <a:off x="4645" y="2930"/>
            <a:ext cx="247" cy="322"/>
          </p:xfrm>
          <a:graphic>
            <a:graphicData uri="http://schemas.openxmlformats.org/presentationml/2006/ole">
              <mc:AlternateContent xmlns:mc="http://schemas.openxmlformats.org/markup-compatibility/2006">
                <mc:Choice xmlns:v="urn:schemas-microsoft-com:vml" Requires="v">
                  <p:oleObj spid="_x0000_s81040" name="公式" r:id="rId15" imgW="126780" imgH="164814" progId="Equation.3">
                    <p:embed/>
                  </p:oleObj>
                </mc:Choice>
                <mc:Fallback>
                  <p:oleObj name="公式" r:id="rId15" imgW="126780" imgH="164814" progId="Equation.3">
                    <p:embed/>
                    <p:pic>
                      <p:nvPicPr>
                        <p:cNvPr id="4122"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5" y="2930"/>
                          <a:ext cx="247"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23" name="Object 24"/>
            <p:cNvGraphicFramePr>
              <a:graphicFrameLocks noChangeAspect="1"/>
            </p:cNvGraphicFramePr>
            <p:nvPr/>
          </p:nvGraphicFramePr>
          <p:xfrm>
            <a:off x="4379" y="2544"/>
            <a:ext cx="322" cy="322"/>
          </p:xfrm>
          <a:graphic>
            <a:graphicData uri="http://schemas.openxmlformats.org/presentationml/2006/ole">
              <mc:AlternateContent xmlns:mc="http://schemas.openxmlformats.org/markup-compatibility/2006">
                <mc:Choice xmlns:v="urn:schemas-microsoft-com:vml" Requires="v">
                  <p:oleObj spid="_x0000_s81041" name="公式" r:id="rId17" imgW="164885" imgH="164885" progId="Equation.3">
                    <p:embed/>
                  </p:oleObj>
                </mc:Choice>
                <mc:Fallback>
                  <p:oleObj name="公式" r:id="rId17" imgW="164885" imgH="164885" progId="Equation.3">
                    <p:embed/>
                    <p:pic>
                      <p:nvPicPr>
                        <p:cNvPr id="4123"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79" y="2544"/>
                          <a:ext cx="322"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24" name="Object 25"/>
            <p:cNvGraphicFramePr>
              <a:graphicFrameLocks noChangeAspect="1"/>
            </p:cNvGraphicFramePr>
            <p:nvPr/>
          </p:nvGraphicFramePr>
          <p:xfrm>
            <a:off x="4656" y="2256"/>
            <a:ext cx="375" cy="347"/>
          </p:xfrm>
          <a:graphic>
            <a:graphicData uri="http://schemas.openxmlformats.org/presentationml/2006/ole">
              <mc:AlternateContent xmlns:mc="http://schemas.openxmlformats.org/markup-compatibility/2006">
                <mc:Choice xmlns:v="urn:schemas-microsoft-com:vml" Requires="v">
                  <p:oleObj spid="_x0000_s81042" name="公式" r:id="rId19" imgW="190335" imgH="177646" progId="Equation.3">
                    <p:embed/>
                  </p:oleObj>
                </mc:Choice>
                <mc:Fallback>
                  <p:oleObj name="公式" r:id="rId19" imgW="190335" imgH="177646" progId="Equation.3">
                    <p:embed/>
                    <p:pic>
                      <p:nvPicPr>
                        <p:cNvPr id="4124" name="Object 2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56" y="2256"/>
                          <a:ext cx="375"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25" name="Object 26"/>
            <p:cNvGraphicFramePr>
              <a:graphicFrameLocks noChangeAspect="1"/>
            </p:cNvGraphicFramePr>
            <p:nvPr/>
          </p:nvGraphicFramePr>
          <p:xfrm>
            <a:off x="4992" y="2064"/>
            <a:ext cx="375" cy="397"/>
          </p:xfrm>
          <a:graphic>
            <a:graphicData uri="http://schemas.openxmlformats.org/presentationml/2006/ole">
              <mc:AlternateContent xmlns:mc="http://schemas.openxmlformats.org/markup-compatibility/2006">
                <mc:Choice xmlns:v="urn:schemas-microsoft-com:vml" Requires="v">
                  <p:oleObj spid="_x0000_s81043" name="公式" r:id="rId21" imgW="190417" imgH="203112" progId="Equation.3">
                    <p:embed/>
                  </p:oleObj>
                </mc:Choice>
                <mc:Fallback>
                  <p:oleObj name="公式" r:id="rId21" imgW="190417" imgH="203112" progId="Equation.3">
                    <p:embed/>
                    <p:pic>
                      <p:nvPicPr>
                        <p:cNvPr id="4125" name="Object 2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92" y="2064"/>
                          <a:ext cx="375" cy="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26" name="Object 27"/>
            <p:cNvGraphicFramePr>
              <a:graphicFrameLocks noChangeAspect="1"/>
            </p:cNvGraphicFramePr>
            <p:nvPr/>
          </p:nvGraphicFramePr>
          <p:xfrm>
            <a:off x="5064" y="2628"/>
            <a:ext cx="273" cy="446"/>
          </p:xfrm>
          <a:graphic>
            <a:graphicData uri="http://schemas.openxmlformats.org/presentationml/2006/ole">
              <mc:AlternateContent xmlns:mc="http://schemas.openxmlformats.org/markup-compatibility/2006">
                <mc:Choice xmlns:v="urn:schemas-microsoft-com:vml" Requires="v">
                  <p:oleObj spid="_x0000_s81044" name="Equation" r:id="rId23" imgW="139700" imgH="228600" progId="Equation.DSMT4">
                    <p:embed/>
                  </p:oleObj>
                </mc:Choice>
                <mc:Fallback>
                  <p:oleObj name="Equation" r:id="rId23" imgW="139700" imgH="228600" progId="Equation.DSMT4">
                    <p:embed/>
                    <p:pic>
                      <p:nvPicPr>
                        <p:cNvPr id="4126"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64" y="2628"/>
                          <a:ext cx="273"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27" name="Text Box 28"/>
            <p:cNvSpPr txBox="1">
              <a:spLocks noChangeArrowheads="1"/>
            </p:cNvSpPr>
            <p:nvPr/>
          </p:nvSpPr>
          <p:spPr bwMode="auto">
            <a:xfrm>
              <a:off x="5462" y="2154"/>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prstDash val="lg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E</a:t>
              </a:r>
              <a:endParaRPr lang="en-US" altLang="zh-CN" sz="3600">
                <a:solidFill>
                  <a:srgbClr val="FF3300"/>
                </a:solidFill>
                <a:ea typeface="楷体_GB2312"/>
              </a:endParaRPr>
            </a:p>
          </p:txBody>
        </p:sp>
        <p:graphicFrame>
          <p:nvGraphicFramePr>
            <p:cNvPr id="4128" name="Object 29"/>
            <p:cNvGraphicFramePr>
              <a:graphicFrameLocks noChangeAspect="1"/>
            </p:cNvGraphicFramePr>
            <p:nvPr/>
          </p:nvGraphicFramePr>
          <p:xfrm>
            <a:off x="5042" y="2377"/>
            <a:ext cx="275" cy="347"/>
          </p:xfrm>
          <a:graphic>
            <a:graphicData uri="http://schemas.openxmlformats.org/presentationml/2006/ole">
              <mc:AlternateContent xmlns:mc="http://schemas.openxmlformats.org/markup-compatibility/2006">
                <mc:Choice xmlns:v="urn:schemas-microsoft-com:vml" Requires="v">
                  <p:oleObj spid="_x0000_s81045" name="公式" r:id="rId25" imgW="139579" imgH="177646" progId="Equation.3">
                    <p:embed/>
                  </p:oleObj>
                </mc:Choice>
                <mc:Fallback>
                  <p:oleObj name="公式" r:id="rId25" imgW="139579" imgH="177646" progId="Equation.3">
                    <p:embed/>
                    <p:pic>
                      <p:nvPicPr>
                        <p:cNvPr id="4128" name="Object 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042" y="2377"/>
                          <a:ext cx="275"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107" name="Line 30"/>
          <p:cNvSpPr>
            <a:spLocks noChangeShapeType="1"/>
          </p:cNvSpPr>
          <p:nvPr/>
        </p:nvSpPr>
        <p:spPr bwMode="auto">
          <a:xfrm flipH="1" flipV="1">
            <a:off x="7772400" y="1925960"/>
            <a:ext cx="230188" cy="306387"/>
          </a:xfrm>
          <a:prstGeom prst="line">
            <a:avLst/>
          </a:prstGeom>
          <a:noFill/>
          <a:ln w="5715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 name="Line 31"/>
          <p:cNvSpPr>
            <a:spLocks noChangeShapeType="1"/>
          </p:cNvSpPr>
          <p:nvPr/>
        </p:nvSpPr>
        <p:spPr bwMode="auto">
          <a:xfrm flipH="1" flipV="1">
            <a:off x="7923213" y="1752600"/>
            <a:ext cx="76200" cy="457200"/>
          </a:xfrm>
          <a:prstGeom prst="line">
            <a:avLst/>
          </a:prstGeom>
          <a:noFill/>
          <a:ln w="381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7120" name="Object 32"/>
          <p:cNvGraphicFramePr>
            <a:graphicFrameLocks noChangeAspect="1"/>
          </p:cNvGraphicFramePr>
          <p:nvPr/>
        </p:nvGraphicFramePr>
        <p:xfrm>
          <a:off x="438150" y="3352800"/>
          <a:ext cx="2971800" cy="539750"/>
        </p:xfrm>
        <a:graphic>
          <a:graphicData uri="http://schemas.openxmlformats.org/presentationml/2006/ole">
            <mc:AlternateContent xmlns:mc="http://schemas.openxmlformats.org/markup-compatibility/2006">
              <mc:Choice xmlns:v="urn:schemas-microsoft-com:vml" Requires="v">
                <p:oleObj spid="_x0000_s81046" name="公式" r:id="rId27" imgW="1320227" imgH="241195" progId="Equation.3">
                  <p:embed/>
                </p:oleObj>
              </mc:Choice>
              <mc:Fallback>
                <p:oleObj name="公式" r:id="rId27" imgW="1320227" imgH="241195" progId="Equation.3">
                  <p:embed/>
                  <p:pic>
                    <p:nvPicPr>
                      <p:cNvPr id="217120" name="Object 3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8150" y="3352800"/>
                        <a:ext cx="297180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7121" name="Object 33"/>
          <p:cNvGraphicFramePr>
            <a:graphicFrameLocks noChangeAspect="1"/>
          </p:cNvGraphicFramePr>
          <p:nvPr/>
        </p:nvGraphicFramePr>
        <p:xfrm>
          <a:off x="468313" y="3822700"/>
          <a:ext cx="1968500" cy="939800"/>
        </p:xfrm>
        <a:graphic>
          <a:graphicData uri="http://schemas.openxmlformats.org/presentationml/2006/ole">
            <mc:AlternateContent xmlns:mc="http://schemas.openxmlformats.org/markup-compatibility/2006">
              <mc:Choice xmlns:v="urn:schemas-microsoft-com:vml" Requires="v">
                <p:oleObj spid="_x0000_s81047" name="Equation" r:id="rId29" imgW="901309" imgH="431613" progId="Equation.DSMT4">
                  <p:embed/>
                </p:oleObj>
              </mc:Choice>
              <mc:Fallback>
                <p:oleObj name="Equation" r:id="rId29" imgW="901309" imgH="431613" progId="Equation.DSMT4">
                  <p:embed/>
                  <p:pic>
                    <p:nvPicPr>
                      <p:cNvPr id="217121" name="Object 3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68313" y="3822700"/>
                        <a:ext cx="1968500"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7122" name="Object 34"/>
          <p:cNvGraphicFramePr>
            <a:graphicFrameLocks noChangeAspect="1"/>
          </p:cNvGraphicFramePr>
          <p:nvPr/>
        </p:nvGraphicFramePr>
        <p:xfrm>
          <a:off x="533400" y="4737100"/>
          <a:ext cx="4581525" cy="908050"/>
        </p:xfrm>
        <a:graphic>
          <a:graphicData uri="http://schemas.openxmlformats.org/presentationml/2006/ole">
            <mc:AlternateContent xmlns:mc="http://schemas.openxmlformats.org/markup-compatibility/2006">
              <mc:Choice xmlns:v="urn:schemas-microsoft-com:vml" Requires="v">
                <p:oleObj spid="_x0000_s81048" name="Equation" r:id="rId31" imgW="2171700" imgH="431800" progId="Equation.DSMT4">
                  <p:embed/>
                </p:oleObj>
              </mc:Choice>
              <mc:Fallback>
                <p:oleObj name="Equation" r:id="rId31" imgW="2171700" imgH="431800" progId="Equation.DSMT4">
                  <p:embed/>
                  <p:pic>
                    <p:nvPicPr>
                      <p:cNvPr id="217122" name="Object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33400" y="4737100"/>
                        <a:ext cx="4581525"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7123" name="Object 35"/>
          <p:cNvGraphicFramePr>
            <a:graphicFrameLocks noChangeAspect="1"/>
          </p:cNvGraphicFramePr>
          <p:nvPr/>
        </p:nvGraphicFramePr>
        <p:xfrm>
          <a:off x="1177925" y="5729288"/>
          <a:ext cx="4584700" cy="1090612"/>
        </p:xfrm>
        <a:graphic>
          <a:graphicData uri="http://schemas.openxmlformats.org/presentationml/2006/ole">
            <mc:AlternateContent xmlns:mc="http://schemas.openxmlformats.org/markup-compatibility/2006">
              <mc:Choice xmlns:v="urn:schemas-microsoft-com:vml" Requires="v">
                <p:oleObj spid="_x0000_s81049" name="公式" r:id="rId33" imgW="2082800" imgH="495300" progId="Equation.3">
                  <p:embed/>
                </p:oleObj>
              </mc:Choice>
              <mc:Fallback>
                <p:oleObj name="公式" r:id="rId33" imgW="2082800" imgH="495300" progId="Equation.3">
                  <p:embed/>
                  <p:pic>
                    <p:nvPicPr>
                      <p:cNvPr id="217123" name="Object 3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177925" y="5729288"/>
                        <a:ext cx="4584700" cy="109061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7124" name="Text Box 36"/>
          <p:cNvSpPr txBox="1">
            <a:spLocks noChangeArrowheads="1"/>
          </p:cNvSpPr>
          <p:nvPr/>
        </p:nvSpPr>
        <p:spPr bwMode="auto">
          <a:xfrm>
            <a:off x="6096000" y="3886200"/>
            <a:ext cx="2835275" cy="2679837"/>
          </a:xfrm>
          <a:prstGeom prst="rect">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在点电荷的非匀强电场中，电场力对试探电荷所作的功与其移动时起始位置与终了位置有关，与其所经历的路径无关。</a:t>
            </a:r>
            <a:endParaRPr lang="zh-CN" altLang="en-US" sz="3600">
              <a:solidFill>
                <a:srgbClr val="FF3300"/>
              </a:solidFill>
              <a:ea typeface="楷体_GB2312"/>
            </a:endParaRPr>
          </a:p>
        </p:txBody>
      </p:sp>
      <p:sp>
        <p:nvSpPr>
          <p:cNvPr id="4114" name="Text Box 37"/>
          <p:cNvSpPr txBox="1">
            <a:spLocks noChangeArrowheads="1"/>
          </p:cNvSpPr>
          <p:nvPr/>
        </p:nvSpPr>
        <p:spPr bwMode="auto">
          <a:xfrm>
            <a:off x="5795963" y="3284538"/>
            <a:ext cx="536575" cy="6413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1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O</a:t>
            </a:r>
          </a:p>
        </p:txBody>
      </p:sp>
      <p:graphicFrame>
        <p:nvGraphicFramePr>
          <p:cNvPr id="217126" name="Object 38"/>
          <p:cNvGraphicFramePr>
            <a:graphicFrameLocks noChangeAspect="1"/>
          </p:cNvGraphicFramePr>
          <p:nvPr/>
        </p:nvGraphicFramePr>
        <p:xfrm>
          <a:off x="3348038" y="4076700"/>
          <a:ext cx="2447925" cy="519113"/>
        </p:xfrm>
        <a:graphic>
          <a:graphicData uri="http://schemas.openxmlformats.org/presentationml/2006/ole">
            <mc:AlternateContent xmlns:mc="http://schemas.openxmlformats.org/markup-compatibility/2006">
              <mc:Choice xmlns:v="urn:schemas-microsoft-com:vml" Requires="v">
                <p:oleObj spid="_x0000_s81050" name="公式" r:id="rId35" imgW="837836" imgH="177723" progId="Equation.3">
                  <p:embed/>
                </p:oleObj>
              </mc:Choice>
              <mc:Fallback>
                <p:oleObj name="公式" r:id="rId35" imgW="837836" imgH="177723" progId="Equation.3">
                  <p:embed/>
                  <p:pic>
                    <p:nvPicPr>
                      <p:cNvPr id="217126" name="Object 3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348038" y="4076700"/>
                        <a:ext cx="2447925" cy="51911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16" name="Group 41"/>
          <p:cNvGrpSpPr>
            <a:grpSpLocks/>
          </p:cNvGrpSpPr>
          <p:nvPr/>
        </p:nvGrpSpPr>
        <p:grpSpPr bwMode="auto">
          <a:xfrm>
            <a:off x="8027988" y="1989138"/>
            <a:ext cx="892175" cy="641350"/>
            <a:chOff x="5057" y="1253"/>
            <a:chExt cx="562" cy="404"/>
          </a:xfrm>
        </p:grpSpPr>
        <p:sp>
          <p:nvSpPr>
            <p:cNvPr id="4117" name="Line 39"/>
            <p:cNvSpPr>
              <a:spLocks noChangeShapeType="1"/>
            </p:cNvSpPr>
            <p:nvPr/>
          </p:nvSpPr>
          <p:spPr bwMode="auto">
            <a:xfrm flipV="1">
              <a:off x="5057" y="1253"/>
              <a:ext cx="227" cy="136"/>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118" name="Text Box 40"/>
            <p:cNvSpPr txBox="1">
              <a:spLocks noChangeArrowheads="1"/>
            </p:cNvSpPr>
            <p:nvPr/>
          </p:nvSpPr>
          <p:spPr bwMode="auto">
            <a:xfrm>
              <a:off x="5329" y="1253"/>
              <a:ext cx="290"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chemeClr val="hlink"/>
                  </a:solidFill>
                  <a:ea typeface="楷体_GB2312"/>
                </a:rPr>
                <a:t>F</a:t>
              </a:r>
            </a:p>
          </p:txBody>
        </p:sp>
      </p:grpSp>
      <p:sp>
        <p:nvSpPr>
          <p:cNvPr id="41" name="Line 30">
            <a:extLst>
              <a:ext uri="{FF2B5EF4-FFF2-40B4-BE49-F238E27FC236}">
                <a16:creationId xmlns:a16="http://schemas.microsoft.com/office/drawing/2014/main" id="{7087374B-7290-4384-8CC9-514940DB8A2C}"/>
              </a:ext>
            </a:extLst>
          </p:cNvPr>
          <p:cNvSpPr>
            <a:spLocks noChangeShapeType="1"/>
          </p:cNvSpPr>
          <p:nvPr/>
        </p:nvSpPr>
        <p:spPr bwMode="auto">
          <a:xfrm flipH="1" flipV="1">
            <a:off x="8014220" y="1772816"/>
            <a:ext cx="230188" cy="306387"/>
          </a:xfrm>
          <a:prstGeom prst="line">
            <a:avLst/>
          </a:prstGeom>
          <a:noFill/>
          <a:ln w="5715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a:extLst>
              <a:ext uri="{FF2B5EF4-FFF2-40B4-BE49-F238E27FC236}">
                <a16:creationId xmlns:a16="http://schemas.microsoft.com/office/drawing/2014/main" id="{C3FF11EC-44B9-4E76-9346-D70EE5290D69}"/>
              </a:ext>
            </a:extLst>
          </p:cNvPr>
          <p:cNvSpPr/>
          <p:nvPr/>
        </p:nvSpPr>
        <p:spPr>
          <a:xfrm>
            <a:off x="7826779" y="2641570"/>
            <a:ext cx="397866" cy="400110"/>
          </a:xfrm>
          <a:prstGeom prst="rect">
            <a:avLst/>
          </a:prstGeom>
        </p:spPr>
        <p:txBody>
          <a:bodyPr wrap="none">
            <a:spAutoFit/>
          </a:bodyPr>
          <a:lstStyle/>
          <a:p>
            <a:r>
              <a:rPr lang="en-US" altLang="zh-CN" i="1"/>
              <a:t>q</a:t>
            </a:r>
            <a:r>
              <a:rPr lang="en-US" altLang="zh-CN" baseline="-25000"/>
              <a:t>0</a:t>
            </a:r>
            <a:endParaRPr lang="zh-CN" altLang="en-US"/>
          </a:p>
        </p:txBody>
      </p:sp>
    </p:spTree>
    <p:extLst>
      <p:ext uri="{BB962C8B-B14F-4D97-AF65-F5344CB8AC3E}">
        <p14:creationId xmlns:p14="http://schemas.microsoft.com/office/powerpoint/2010/main" val="182335299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7120"/>
                                        </p:tgtEl>
                                        <p:attrNameLst>
                                          <p:attrName>style.visibility</p:attrName>
                                        </p:attrNameLst>
                                      </p:cBhvr>
                                      <p:to>
                                        <p:strVal val="visible"/>
                                      </p:to>
                                    </p:set>
                                    <p:animEffect transition="in" filter="wipe(left)">
                                      <p:cBhvr>
                                        <p:cTn id="7" dur="500"/>
                                        <p:tgtEl>
                                          <p:spTgt spid="2171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7121"/>
                                        </p:tgtEl>
                                        <p:attrNameLst>
                                          <p:attrName>style.visibility</p:attrName>
                                        </p:attrNameLst>
                                      </p:cBhvr>
                                      <p:to>
                                        <p:strVal val="visible"/>
                                      </p:to>
                                    </p:set>
                                    <p:animEffect transition="in" filter="wipe(left)">
                                      <p:cBhvr>
                                        <p:cTn id="12" dur="500"/>
                                        <p:tgtEl>
                                          <p:spTgt spid="2171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17122"/>
                                        </p:tgtEl>
                                        <p:attrNameLst>
                                          <p:attrName>style.visibility</p:attrName>
                                        </p:attrNameLst>
                                      </p:cBhvr>
                                      <p:to>
                                        <p:strVal val="visible"/>
                                      </p:to>
                                    </p:set>
                                    <p:animEffect transition="in" filter="wipe(left)">
                                      <p:cBhvr>
                                        <p:cTn id="17" dur="500"/>
                                        <p:tgtEl>
                                          <p:spTgt spid="2171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17126"/>
                                        </p:tgtEl>
                                        <p:attrNameLst>
                                          <p:attrName>style.visibility</p:attrName>
                                        </p:attrNameLst>
                                      </p:cBhvr>
                                      <p:to>
                                        <p:strVal val="visible"/>
                                      </p:to>
                                    </p:set>
                                    <p:animEffect transition="in" filter="wipe(down)">
                                      <p:cBhvr>
                                        <p:cTn id="22" dur="500"/>
                                        <p:tgtEl>
                                          <p:spTgt spid="2171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17123"/>
                                        </p:tgtEl>
                                        <p:attrNameLst>
                                          <p:attrName>style.visibility</p:attrName>
                                        </p:attrNameLst>
                                      </p:cBhvr>
                                      <p:to>
                                        <p:strVal val="visible"/>
                                      </p:to>
                                    </p:set>
                                    <p:animEffect transition="in" filter="wipe(left)">
                                      <p:cBhvr>
                                        <p:cTn id="27" dur="500"/>
                                        <p:tgtEl>
                                          <p:spTgt spid="2171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7124">
                                            <p:bg/>
                                          </p:spTgt>
                                        </p:tgtEl>
                                        <p:attrNameLst>
                                          <p:attrName>style.visibility</p:attrName>
                                        </p:attrNameLst>
                                      </p:cBhvr>
                                      <p:to>
                                        <p:strVal val="visible"/>
                                      </p:to>
                                    </p:set>
                                    <p:animEffect transition="in" filter="wipe(left)">
                                      <p:cBhvr>
                                        <p:cTn id="32" dur="75"/>
                                        <p:tgtEl>
                                          <p:spTgt spid="217124">
                                            <p:bg/>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217124">
                                            <p:txEl>
                                              <p:pRg st="0" end="0"/>
                                            </p:txEl>
                                          </p:spTgt>
                                        </p:tgtEl>
                                        <p:attrNameLst>
                                          <p:attrName>style.visibility</p:attrName>
                                        </p:attrNameLst>
                                      </p:cBhvr>
                                      <p:to>
                                        <p:strVal val="visible"/>
                                      </p:to>
                                    </p:set>
                                    <p:animEffect transition="in" filter="wipe(left)">
                                      <p:cBhvr>
                                        <p:cTn id="37" dur="75"/>
                                        <p:tgtEl>
                                          <p:spTgt spid="2171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4" grpId="0" build="p"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90513" y="142875"/>
            <a:ext cx="4586287"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2</a:t>
            </a:r>
            <a:r>
              <a:rPr lang="zh-CN" altLang="en-US" sz="2800">
                <a:solidFill>
                  <a:srgbClr val="3333FF"/>
                </a:solidFill>
                <a:ea typeface="楷体_GB2312"/>
              </a:rPr>
              <a:t>、任意带电体电场</a:t>
            </a:r>
            <a:endParaRPr lang="zh-CN" altLang="en-US" sz="3600">
              <a:solidFill>
                <a:srgbClr val="FF3300"/>
              </a:solidFill>
              <a:ea typeface="楷体_GB2312"/>
            </a:endParaRPr>
          </a:p>
        </p:txBody>
      </p:sp>
      <p:sp>
        <p:nvSpPr>
          <p:cNvPr id="5123" name="Text Box 3"/>
          <p:cNvSpPr txBox="1">
            <a:spLocks noChangeArrowheads="1"/>
          </p:cNvSpPr>
          <p:nvPr/>
        </p:nvSpPr>
        <p:spPr bwMode="auto">
          <a:xfrm>
            <a:off x="457200" y="685800"/>
            <a:ext cx="822960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任意带电体都可以看成由许多点电荷组成的点电荷系，根据叠加原理可知，点电荷系的场强为各点电荷场强的叠加</a:t>
            </a:r>
          </a:p>
        </p:txBody>
      </p:sp>
      <p:graphicFrame>
        <p:nvGraphicFramePr>
          <p:cNvPr id="5124" name="Object 4"/>
          <p:cNvGraphicFramePr>
            <a:graphicFrameLocks noChangeAspect="1"/>
          </p:cNvGraphicFramePr>
          <p:nvPr/>
        </p:nvGraphicFramePr>
        <p:xfrm>
          <a:off x="1600200" y="1600200"/>
          <a:ext cx="2514600" cy="531813"/>
        </p:xfrm>
        <a:graphic>
          <a:graphicData uri="http://schemas.openxmlformats.org/presentationml/2006/ole">
            <mc:AlternateContent xmlns:mc="http://schemas.openxmlformats.org/markup-compatibility/2006">
              <mc:Choice xmlns:v="urn:schemas-microsoft-com:vml" Requires="v">
                <p:oleObj spid="_x0000_s81946" name="公式" r:id="rId4" imgW="1079500" imgH="228600" progId="Equation.3">
                  <p:embed/>
                </p:oleObj>
              </mc:Choice>
              <mc:Fallback>
                <p:oleObj name="公式" r:id="rId4" imgW="1079500" imgH="228600" progId="Equation.3">
                  <p:embed/>
                  <p:pic>
                    <p:nvPicPr>
                      <p:cNvPr id="512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1600200"/>
                        <a:ext cx="2514600" cy="5318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5" name="Text Box 5"/>
          <p:cNvSpPr txBox="1">
            <a:spLocks noChangeArrowheads="1"/>
          </p:cNvSpPr>
          <p:nvPr/>
        </p:nvSpPr>
        <p:spPr bwMode="auto">
          <a:xfrm>
            <a:off x="595313" y="2132856"/>
            <a:ext cx="5424487"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任意点电荷系的电场力所作的功为</a:t>
            </a:r>
          </a:p>
        </p:txBody>
      </p:sp>
      <p:graphicFrame>
        <p:nvGraphicFramePr>
          <p:cNvPr id="5126" name="Object 6"/>
          <p:cNvGraphicFramePr>
            <a:graphicFrameLocks noChangeAspect="1"/>
          </p:cNvGraphicFramePr>
          <p:nvPr>
            <p:extLst/>
          </p:nvPr>
        </p:nvGraphicFramePr>
        <p:xfrm>
          <a:off x="1743076" y="2688481"/>
          <a:ext cx="6029325" cy="869950"/>
        </p:xfrm>
        <a:graphic>
          <a:graphicData uri="http://schemas.openxmlformats.org/presentationml/2006/ole">
            <mc:AlternateContent xmlns:mc="http://schemas.openxmlformats.org/markup-compatibility/2006">
              <mc:Choice xmlns:v="urn:schemas-microsoft-com:vml" Requires="v">
                <p:oleObj spid="_x0000_s81947" name="Equation" r:id="rId6" imgW="2641600" imgH="381000" progId="Equation.3">
                  <p:embed/>
                </p:oleObj>
              </mc:Choice>
              <mc:Fallback>
                <p:oleObj name="Equation" r:id="rId6" imgW="2641600" imgH="381000" progId="Equation.3">
                  <p:embed/>
                  <p:pic>
                    <p:nvPicPr>
                      <p:cNvPr id="512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3076" y="2688481"/>
                        <a:ext cx="6029325" cy="8699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7" name="Text Box 7"/>
          <p:cNvSpPr txBox="1">
            <a:spLocks noChangeArrowheads="1"/>
          </p:cNvSpPr>
          <p:nvPr/>
        </p:nvSpPr>
        <p:spPr bwMode="auto">
          <a:xfrm>
            <a:off x="134043" y="3527475"/>
            <a:ext cx="8830446" cy="83317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每一项均与路径无关，故它们的代数和也必然与路径无关。因此，</a:t>
            </a:r>
            <a:r>
              <a:rPr lang="zh-CN" altLang="en-US" sz="2400">
                <a:solidFill>
                  <a:srgbClr val="FF0000"/>
                </a:solidFill>
                <a:ea typeface="楷体_GB2312"/>
              </a:rPr>
              <a:t>电场力是保守力。</a:t>
            </a:r>
          </a:p>
        </p:txBody>
      </p:sp>
      <p:sp>
        <p:nvSpPr>
          <p:cNvPr id="5128" name="Text Box 3"/>
          <p:cNvSpPr txBox="1">
            <a:spLocks noChangeArrowheads="1"/>
          </p:cNvSpPr>
          <p:nvPr/>
        </p:nvSpPr>
        <p:spPr bwMode="auto">
          <a:xfrm>
            <a:off x="747713" y="5139134"/>
            <a:ext cx="4891087" cy="8334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在静电场中，将试探电荷沿闭合路径移到一周时，电场力所作的功为</a:t>
            </a:r>
          </a:p>
        </p:txBody>
      </p:sp>
      <p:graphicFrame>
        <p:nvGraphicFramePr>
          <p:cNvPr id="5129" name="Object 4"/>
          <p:cNvGraphicFramePr>
            <a:graphicFrameLocks noChangeAspect="1"/>
          </p:cNvGraphicFramePr>
          <p:nvPr>
            <p:extLst/>
          </p:nvPr>
        </p:nvGraphicFramePr>
        <p:xfrm>
          <a:off x="1290638" y="6032896"/>
          <a:ext cx="3438525" cy="852488"/>
        </p:xfrm>
        <a:graphic>
          <a:graphicData uri="http://schemas.openxmlformats.org/presentationml/2006/ole">
            <mc:AlternateContent xmlns:mc="http://schemas.openxmlformats.org/markup-compatibility/2006">
              <mc:Choice xmlns:v="urn:schemas-microsoft-com:vml" Requires="v">
                <p:oleObj spid="_x0000_s81948" name="公式" r:id="rId8" imgW="1536700" imgH="381000" progId="Equation.3">
                  <p:embed/>
                </p:oleObj>
              </mc:Choice>
              <mc:Fallback>
                <p:oleObj name="公式" r:id="rId8" imgW="1536700" imgH="381000" progId="Equation.3">
                  <p:embed/>
                  <p:pic>
                    <p:nvPicPr>
                      <p:cNvPr id="5129"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0638" y="6032896"/>
                        <a:ext cx="3438525" cy="8524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30" name="Group 5"/>
          <p:cNvGrpSpPr>
            <a:grpSpLocks/>
          </p:cNvGrpSpPr>
          <p:nvPr/>
        </p:nvGrpSpPr>
        <p:grpSpPr bwMode="auto">
          <a:xfrm>
            <a:off x="5943600" y="4489450"/>
            <a:ext cx="2590800" cy="2209800"/>
            <a:chOff x="3744" y="768"/>
            <a:chExt cx="1632" cy="1392"/>
          </a:xfrm>
        </p:grpSpPr>
        <p:sp>
          <p:nvSpPr>
            <p:cNvPr id="5140" name="Freeform 6"/>
            <p:cNvSpPr>
              <a:spLocks/>
            </p:cNvSpPr>
            <p:nvPr/>
          </p:nvSpPr>
          <p:spPr bwMode="auto">
            <a:xfrm>
              <a:off x="3744" y="768"/>
              <a:ext cx="1488" cy="816"/>
            </a:xfrm>
            <a:custGeom>
              <a:avLst/>
              <a:gdLst>
                <a:gd name="T0" fmla="*/ 0 w 1488"/>
                <a:gd name="T1" fmla="*/ 816 h 816"/>
                <a:gd name="T2" fmla="*/ 720 w 1488"/>
                <a:gd name="T3" fmla="*/ 240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236" y="596"/>
                    <a:pt x="472" y="376"/>
                    <a:pt x="720" y="240"/>
                  </a:cubicBezTo>
                  <a:cubicBezTo>
                    <a:pt x="968" y="104"/>
                    <a:pt x="1360" y="40"/>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5141" name="Freeform 7"/>
            <p:cNvSpPr>
              <a:spLocks/>
            </p:cNvSpPr>
            <p:nvPr/>
          </p:nvSpPr>
          <p:spPr bwMode="auto">
            <a:xfrm>
              <a:off x="3840" y="1008"/>
              <a:ext cx="1488" cy="816"/>
            </a:xfrm>
            <a:custGeom>
              <a:avLst/>
              <a:gdLst>
                <a:gd name="T0" fmla="*/ 0 w 1488"/>
                <a:gd name="T1" fmla="*/ 816 h 816"/>
                <a:gd name="T2" fmla="*/ 912 w 1488"/>
                <a:gd name="T3" fmla="*/ 192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332" y="572"/>
                    <a:pt x="664" y="328"/>
                    <a:pt x="912" y="192"/>
                  </a:cubicBezTo>
                  <a:cubicBezTo>
                    <a:pt x="1160" y="56"/>
                    <a:pt x="1392" y="32"/>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5142" name="Freeform 8"/>
            <p:cNvSpPr>
              <a:spLocks/>
            </p:cNvSpPr>
            <p:nvPr/>
          </p:nvSpPr>
          <p:spPr bwMode="auto">
            <a:xfrm>
              <a:off x="3888" y="1344"/>
              <a:ext cx="1488" cy="816"/>
            </a:xfrm>
            <a:custGeom>
              <a:avLst/>
              <a:gdLst>
                <a:gd name="T0" fmla="*/ 0 w 1488"/>
                <a:gd name="T1" fmla="*/ 816 h 816"/>
                <a:gd name="T2" fmla="*/ 912 w 1488"/>
                <a:gd name="T3" fmla="*/ 192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332" y="572"/>
                    <a:pt x="664" y="328"/>
                    <a:pt x="912" y="192"/>
                  </a:cubicBezTo>
                  <a:cubicBezTo>
                    <a:pt x="1160" y="56"/>
                    <a:pt x="1392" y="32"/>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5131" name="Group 9"/>
          <p:cNvGrpSpPr>
            <a:grpSpLocks/>
          </p:cNvGrpSpPr>
          <p:nvPr/>
        </p:nvGrpSpPr>
        <p:grpSpPr bwMode="auto">
          <a:xfrm>
            <a:off x="6310313" y="4260850"/>
            <a:ext cx="1879600" cy="2185988"/>
            <a:chOff x="3975" y="144"/>
            <a:chExt cx="1184" cy="1377"/>
          </a:xfrm>
        </p:grpSpPr>
        <p:sp>
          <p:nvSpPr>
            <p:cNvPr id="5136" name="Freeform 10"/>
            <p:cNvSpPr>
              <a:spLocks/>
            </p:cNvSpPr>
            <p:nvPr/>
          </p:nvSpPr>
          <p:spPr bwMode="auto">
            <a:xfrm>
              <a:off x="4080" y="478"/>
              <a:ext cx="912" cy="768"/>
            </a:xfrm>
            <a:custGeom>
              <a:avLst/>
              <a:gdLst>
                <a:gd name="T0" fmla="*/ 0 w 912"/>
                <a:gd name="T1" fmla="*/ 768 h 768"/>
                <a:gd name="T2" fmla="*/ 288 w 912"/>
                <a:gd name="T3" fmla="*/ 192 h 768"/>
                <a:gd name="T4" fmla="*/ 912 w 912"/>
                <a:gd name="T5" fmla="*/ 0 h 768"/>
                <a:gd name="T6" fmla="*/ 0 60000 65536"/>
                <a:gd name="T7" fmla="*/ 0 60000 65536"/>
                <a:gd name="T8" fmla="*/ 0 60000 65536"/>
              </a:gdLst>
              <a:ahLst/>
              <a:cxnLst>
                <a:cxn ang="T6">
                  <a:pos x="T0" y="T1"/>
                </a:cxn>
                <a:cxn ang="T7">
                  <a:pos x="T2" y="T3"/>
                </a:cxn>
                <a:cxn ang="T8">
                  <a:pos x="T4" y="T5"/>
                </a:cxn>
              </a:cxnLst>
              <a:rect l="0" t="0" r="r" b="b"/>
              <a:pathLst>
                <a:path w="912" h="768">
                  <a:moveTo>
                    <a:pt x="0" y="768"/>
                  </a:moveTo>
                  <a:cubicBezTo>
                    <a:pt x="68" y="544"/>
                    <a:pt x="136" y="320"/>
                    <a:pt x="288" y="192"/>
                  </a:cubicBezTo>
                  <a:cubicBezTo>
                    <a:pt x="440" y="64"/>
                    <a:pt x="808" y="32"/>
                    <a:pt x="912" y="0"/>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5137" name="Text Box 11"/>
            <p:cNvSpPr txBox="1">
              <a:spLocks noChangeArrowheads="1"/>
            </p:cNvSpPr>
            <p:nvPr/>
          </p:nvSpPr>
          <p:spPr bwMode="auto">
            <a:xfrm>
              <a:off x="3975" y="119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A</a:t>
              </a:r>
              <a:endParaRPr lang="en-US" altLang="zh-CN" sz="3600">
                <a:solidFill>
                  <a:srgbClr val="FF3300"/>
                </a:solidFill>
                <a:ea typeface="楷体_GB2312"/>
              </a:endParaRPr>
            </a:p>
          </p:txBody>
        </p:sp>
        <p:sp>
          <p:nvSpPr>
            <p:cNvPr id="5138" name="Text Box 12"/>
            <p:cNvSpPr txBox="1">
              <a:spLocks noChangeArrowheads="1"/>
            </p:cNvSpPr>
            <p:nvPr/>
          </p:nvSpPr>
          <p:spPr bwMode="auto">
            <a:xfrm>
              <a:off x="4224" y="38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B</a:t>
              </a:r>
              <a:endParaRPr lang="en-US" altLang="zh-CN" sz="3600">
                <a:solidFill>
                  <a:srgbClr val="FF3300"/>
                </a:solidFill>
                <a:ea typeface="楷体_GB2312"/>
              </a:endParaRPr>
            </a:p>
          </p:txBody>
        </p:sp>
        <p:sp>
          <p:nvSpPr>
            <p:cNvPr id="5139" name="Text Box 13"/>
            <p:cNvSpPr txBox="1">
              <a:spLocks noChangeArrowheads="1"/>
            </p:cNvSpPr>
            <p:nvPr/>
          </p:nvSpPr>
          <p:spPr bwMode="auto">
            <a:xfrm>
              <a:off x="4896" y="14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C</a:t>
              </a:r>
              <a:endParaRPr lang="en-US" altLang="zh-CN" sz="3600">
                <a:solidFill>
                  <a:srgbClr val="FF3300"/>
                </a:solidFill>
                <a:ea typeface="楷体_GB2312"/>
              </a:endParaRPr>
            </a:p>
          </p:txBody>
        </p:sp>
      </p:grpSp>
      <p:grpSp>
        <p:nvGrpSpPr>
          <p:cNvPr id="5132" name="Group 14"/>
          <p:cNvGrpSpPr>
            <a:grpSpLocks/>
          </p:cNvGrpSpPr>
          <p:nvPr/>
        </p:nvGrpSpPr>
        <p:grpSpPr bwMode="auto">
          <a:xfrm>
            <a:off x="6477000" y="4794250"/>
            <a:ext cx="1447800" cy="1509713"/>
            <a:chOff x="4080" y="480"/>
            <a:chExt cx="912" cy="951"/>
          </a:xfrm>
        </p:grpSpPr>
        <p:sp>
          <p:nvSpPr>
            <p:cNvPr id="5134" name="Freeform 15"/>
            <p:cNvSpPr>
              <a:spLocks/>
            </p:cNvSpPr>
            <p:nvPr/>
          </p:nvSpPr>
          <p:spPr bwMode="auto">
            <a:xfrm>
              <a:off x="4080" y="480"/>
              <a:ext cx="912" cy="768"/>
            </a:xfrm>
            <a:custGeom>
              <a:avLst/>
              <a:gdLst>
                <a:gd name="T0" fmla="*/ 912 w 912"/>
                <a:gd name="T1" fmla="*/ 0 h 768"/>
                <a:gd name="T2" fmla="*/ 624 w 912"/>
                <a:gd name="T3" fmla="*/ 576 h 768"/>
                <a:gd name="T4" fmla="*/ 0 w 912"/>
                <a:gd name="T5" fmla="*/ 768 h 768"/>
                <a:gd name="T6" fmla="*/ 0 60000 65536"/>
                <a:gd name="T7" fmla="*/ 0 60000 65536"/>
                <a:gd name="T8" fmla="*/ 0 60000 65536"/>
              </a:gdLst>
              <a:ahLst/>
              <a:cxnLst>
                <a:cxn ang="T6">
                  <a:pos x="T0" y="T1"/>
                </a:cxn>
                <a:cxn ang="T7">
                  <a:pos x="T2" y="T3"/>
                </a:cxn>
                <a:cxn ang="T8">
                  <a:pos x="T4" y="T5"/>
                </a:cxn>
              </a:cxnLst>
              <a:rect l="0" t="0" r="r" b="b"/>
              <a:pathLst>
                <a:path w="912" h="768">
                  <a:moveTo>
                    <a:pt x="912" y="0"/>
                  </a:moveTo>
                  <a:cubicBezTo>
                    <a:pt x="844" y="224"/>
                    <a:pt x="776" y="448"/>
                    <a:pt x="624" y="576"/>
                  </a:cubicBezTo>
                  <a:cubicBezTo>
                    <a:pt x="472" y="704"/>
                    <a:pt x="104" y="736"/>
                    <a:pt x="0" y="768"/>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5135" name="Text Box 16"/>
            <p:cNvSpPr txBox="1">
              <a:spLocks noChangeArrowheads="1"/>
            </p:cNvSpPr>
            <p:nvPr/>
          </p:nvSpPr>
          <p:spPr bwMode="auto">
            <a:xfrm>
              <a:off x="4656" y="1104"/>
              <a:ext cx="276"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D</a:t>
              </a:r>
              <a:endParaRPr lang="en-US" altLang="zh-CN" sz="3600">
                <a:solidFill>
                  <a:srgbClr val="FF3300"/>
                </a:solidFill>
                <a:ea typeface="楷体_GB2312"/>
              </a:endParaRPr>
            </a:p>
          </p:txBody>
        </p:sp>
      </p:grpSp>
      <p:sp>
        <p:nvSpPr>
          <p:cNvPr id="5133" name="Text Box 2"/>
          <p:cNvSpPr txBox="1">
            <a:spLocks noChangeArrowheads="1"/>
          </p:cNvSpPr>
          <p:nvPr/>
        </p:nvSpPr>
        <p:spPr bwMode="auto">
          <a:xfrm>
            <a:off x="23813" y="4480321"/>
            <a:ext cx="57150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二、静电场的环路定理</a:t>
            </a:r>
          </a:p>
        </p:txBody>
      </p:sp>
    </p:spTree>
    <p:extLst>
      <p:ext uri="{BB962C8B-B14F-4D97-AF65-F5344CB8AC3E}">
        <p14:creationId xmlns:p14="http://schemas.microsoft.com/office/powerpoint/2010/main" val="203536857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p:bldP spid="5125" grpId="0"/>
      <p:bldP spid="5127" grpId="0"/>
      <p:bldP spid="5128" grpId="0"/>
      <p:bldP spid="51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4"/>
          <p:cNvGraphicFramePr>
            <a:graphicFrameLocks noChangeAspect="1"/>
          </p:cNvGraphicFramePr>
          <p:nvPr/>
        </p:nvGraphicFramePr>
        <p:xfrm>
          <a:off x="179388" y="44450"/>
          <a:ext cx="3438525" cy="852488"/>
        </p:xfrm>
        <a:graphic>
          <a:graphicData uri="http://schemas.openxmlformats.org/presentationml/2006/ole">
            <mc:AlternateContent xmlns:mc="http://schemas.openxmlformats.org/markup-compatibility/2006">
              <mc:Choice xmlns:v="urn:schemas-microsoft-com:vml" Requires="v">
                <p:oleObj spid="_x0000_s82994" name="公式" r:id="rId3" imgW="1536700" imgH="381000" progId="Equation.3">
                  <p:embed/>
                </p:oleObj>
              </mc:Choice>
              <mc:Fallback>
                <p:oleObj name="公式" r:id="rId3" imgW="1536700" imgH="381000" progId="Equation.3">
                  <p:embed/>
                  <p:pic>
                    <p:nvPicPr>
                      <p:cNvPr id="614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44450"/>
                        <a:ext cx="3438525" cy="8524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147" name="Group 5"/>
          <p:cNvGrpSpPr>
            <a:grpSpLocks/>
          </p:cNvGrpSpPr>
          <p:nvPr/>
        </p:nvGrpSpPr>
        <p:grpSpPr bwMode="auto">
          <a:xfrm>
            <a:off x="6373813" y="139700"/>
            <a:ext cx="2590800" cy="2209800"/>
            <a:chOff x="3744" y="768"/>
            <a:chExt cx="1632" cy="1392"/>
          </a:xfrm>
        </p:grpSpPr>
        <p:sp>
          <p:nvSpPr>
            <p:cNvPr id="6165" name="Freeform 6"/>
            <p:cNvSpPr>
              <a:spLocks/>
            </p:cNvSpPr>
            <p:nvPr/>
          </p:nvSpPr>
          <p:spPr bwMode="auto">
            <a:xfrm>
              <a:off x="3744" y="768"/>
              <a:ext cx="1488" cy="816"/>
            </a:xfrm>
            <a:custGeom>
              <a:avLst/>
              <a:gdLst>
                <a:gd name="T0" fmla="*/ 0 w 1488"/>
                <a:gd name="T1" fmla="*/ 816 h 816"/>
                <a:gd name="T2" fmla="*/ 720 w 1488"/>
                <a:gd name="T3" fmla="*/ 240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236" y="596"/>
                    <a:pt x="472" y="376"/>
                    <a:pt x="720" y="240"/>
                  </a:cubicBezTo>
                  <a:cubicBezTo>
                    <a:pt x="968" y="104"/>
                    <a:pt x="1360" y="40"/>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6166" name="Freeform 7"/>
            <p:cNvSpPr>
              <a:spLocks/>
            </p:cNvSpPr>
            <p:nvPr/>
          </p:nvSpPr>
          <p:spPr bwMode="auto">
            <a:xfrm>
              <a:off x="3840" y="1008"/>
              <a:ext cx="1488" cy="816"/>
            </a:xfrm>
            <a:custGeom>
              <a:avLst/>
              <a:gdLst>
                <a:gd name="T0" fmla="*/ 0 w 1488"/>
                <a:gd name="T1" fmla="*/ 816 h 816"/>
                <a:gd name="T2" fmla="*/ 912 w 1488"/>
                <a:gd name="T3" fmla="*/ 192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332" y="572"/>
                    <a:pt x="664" y="328"/>
                    <a:pt x="912" y="192"/>
                  </a:cubicBezTo>
                  <a:cubicBezTo>
                    <a:pt x="1160" y="56"/>
                    <a:pt x="1392" y="32"/>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6167" name="Freeform 8"/>
            <p:cNvSpPr>
              <a:spLocks/>
            </p:cNvSpPr>
            <p:nvPr/>
          </p:nvSpPr>
          <p:spPr bwMode="auto">
            <a:xfrm>
              <a:off x="3888" y="1344"/>
              <a:ext cx="1488" cy="816"/>
            </a:xfrm>
            <a:custGeom>
              <a:avLst/>
              <a:gdLst>
                <a:gd name="T0" fmla="*/ 0 w 1488"/>
                <a:gd name="T1" fmla="*/ 816 h 816"/>
                <a:gd name="T2" fmla="*/ 912 w 1488"/>
                <a:gd name="T3" fmla="*/ 192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332" y="572"/>
                    <a:pt x="664" y="328"/>
                    <a:pt x="912" y="192"/>
                  </a:cubicBezTo>
                  <a:cubicBezTo>
                    <a:pt x="1160" y="56"/>
                    <a:pt x="1392" y="32"/>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6148" name="Group 9"/>
          <p:cNvGrpSpPr>
            <a:grpSpLocks/>
          </p:cNvGrpSpPr>
          <p:nvPr/>
        </p:nvGrpSpPr>
        <p:grpSpPr bwMode="auto">
          <a:xfrm>
            <a:off x="6724650" y="-88900"/>
            <a:ext cx="1879600" cy="2185988"/>
            <a:chOff x="3975" y="144"/>
            <a:chExt cx="1184" cy="1377"/>
          </a:xfrm>
        </p:grpSpPr>
        <p:sp>
          <p:nvSpPr>
            <p:cNvPr id="6161" name="Freeform 10"/>
            <p:cNvSpPr>
              <a:spLocks/>
            </p:cNvSpPr>
            <p:nvPr/>
          </p:nvSpPr>
          <p:spPr bwMode="auto">
            <a:xfrm>
              <a:off x="4080" y="478"/>
              <a:ext cx="912" cy="768"/>
            </a:xfrm>
            <a:custGeom>
              <a:avLst/>
              <a:gdLst>
                <a:gd name="T0" fmla="*/ 0 w 912"/>
                <a:gd name="T1" fmla="*/ 768 h 768"/>
                <a:gd name="T2" fmla="*/ 288 w 912"/>
                <a:gd name="T3" fmla="*/ 192 h 768"/>
                <a:gd name="T4" fmla="*/ 912 w 912"/>
                <a:gd name="T5" fmla="*/ 0 h 768"/>
                <a:gd name="T6" fmla="*/ 0 60000 65536"/>
                <a:gd name="T7" fmla="*/ 0 60000 65536"/>
                <a:gd name="T8" fmla="*/ 0 60000 65536"/>
              </a:gdLst>
              <a:ahLst/>
              <a:cxnLst>
                <a:cxn ang="T6">
                  <a:pos x="T0" y="T1"/>
                </a:cxn>
                <a:cxn ang="T7">
                  <a:pos x="T2" y="T3"/>
                </a:cxn>
                <a:cxn ang="T8">
                  <a:pos x="T4" y="T5"/>
                </a:cxn>
              </a:cxnLst>
              <a:rect l="0" t="0" r="r" b="b"/>
              <a:pathLst>
                <a:path w="912" h="768">
                  <a:moveTo>
                    <a:pt x="0" y="768"/>
                  </a:moveTo>
                  <a:cubicBezTo>
                    <a:pt x="68" y="544"/>
                    <a:pt x="136" y="320"/>
                    <a:pt x="288" y="192"/>
                  </a:cubicBezTo>
                  <a:cubicBezTo>
                    <a:pt x="440" y="64"/>
                    <a:pt x="808" y="32"/>
                    <a:pt x="912" y="0"/>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6162" name="Text Box 11"/>
            <p:cNvSpPr txBox="1">
              <a:spLocks noChangeArrowheads="1"/>
            </p:cNvSpPr>
            <p:nvPr/>
          </p:nvSpPr>
          <p:spPr bwMode="auto">
            <a:xfrm>
              <a:off x="3975" y="119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A</a:t>
              </a:r>
              <a:endParaRPr lang="en-US" altLang="zh-CN" sz="3600">
                <a:solidFill>
                  <a:srgbClr val="FF3300"/>
                </a:solidFill>
                <a:ea typeface="楷体_GB2312"/>
              </a:endParaRPr>
            </a:p>
          </p:txBody>
        </p:sp>
        <p:sp>
          <p:nvSpPr>
            <p:cNvPr id="6163" name="Text Box 12"/>
            <p:cNvSpPr txBox="1">
              <a:spLocks noChangeArrowheads="1"/>
            </p:cNvSpPr>
            <p:nvPr/>
          </p:nvSpPr>
          <p:spPr bwMode="auto">
            <a:xfrm>
              <a:off x="4224" y="38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B</a:t>
              </a:r>
              <a:endParaRPr lang="en-US" altLang="zh-CN" sz="3600">
                <a:solidFill>
                  <a:srgbClr val="FF3300"/>
                </a:solidFill>
                <a:ea typeface="楷体_GB2312"/>
              </a:endParaRPr>
            </a:p>
          </p:txBody>
        </p:sp>
        <p:sp>
          <p:nvSpPr>
            <p:cNvPr id="6164" name="Text Box 13"/>
            <p:cNvSpPr txBox="1">
              <a:spLocks noChangeArrowheads="1"/>
            </p:cNvSpPr>
            <p:nvPr/>
          </p:nvSpPr>
          <p:spPr bwMode="auto">
            <a:xfrm>
              <a:off x="4896" y="14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C</a:t>
              </a:r>
              <a:endParaRPr lang="en-US" altLang="zh-CN" sz="3600">
                <a:solidFill>
                  <a:srgbClr val="FF3300"/>
                </a:solidFill>
                <a:ea typeface="楷体_GB2312"/>
              </a:endParaRPr>
            </a:p>
          </p:txBody>
        </p:sp>
      </p:grpSp>
      <p:grpSp>
        <p:nvGrpSpPr>
          <p:cNvPr id="6149" name="Group 14"/>
          <p:cNvGrpSpPr>
            <a:grpSpLocks/>
          </p:cNvGrpSpPr>
          <p:nvPr/>
        </p:nvGrpSpPr>
        <p:grpSpPr bwMode="auto">
          <a:xfrm>
            <a:off x="6907213" y="444500"/>
            <a:ext cx="1447800" cy="1509713"/>
            <a:chOff x="4080" y="480"/>
            <a:chExt cx="912" cy="951"/>
          </a:xfrm>
        </p:grpSpPr>
        <p:sp>
          <p:nvSpPr>
            <p:cNvPr id="6159" name="Freeform 15"/>
            <p:cNvSpPr>
              <a:spLocks/>
            </p:cNvSpPr>
            <p:nvPr/>
          </p:nvSpPr>
          <p:spPr bwMode="auto">
            <a:xfrm>
              <a:off x="4080" y="480"/>
              <a:ext cx="912" cy="768"/>
            </a:xfrm>
            <a:custGeom>
              <a:avLst/>
              <a:gdLst>
                <a:gd name="T0" fmla="*/ 912 w 912"/>
                <a:gd name="T1" fmla="*/ 0 h 768"/>
                <a:gd name="T2" fmla="*/ 624 w 912"/>
                <a:gd name="T3" fmla="*/ 576 h 768"/>
                <a:gd name="T4" fmla="*/ 0 w 912"/>
                <a:gd name="T5" fmla="*/ 768 h 768"/>
                <a:gd name="T6" fmla="*/ 0 60000 65536"/>
                <a:gd name="T7" fmla="*/ 0 60000 65536"/>
                <a:gd name="T8" fmla="*/ 0 60000 65536"/>
              </a:gdLst>
              <a:ahLst/>
              <a:cxnLst>
                <a:cxn ang="T6">
                  <a:pos x="T0" y="T1"/>
                </a:cxn>
                <a:cxn ang="T7">
                  <a:pos x="T2" y="T3"/>
                </a:cxn>
                <a:cxn ang="T8">
                  <a:pos x="T4" y="T5"/>
                </a:cxn>
              </a:cxnLst>
              <a:rect l="0" t="0" r="r" b="b"/>
              <a:pathLst>
                <a:path w="912" h="768">
                  <a:moveTo>
                    <a:pt x="912" y="0"/>
                  </a:moveTo>
                  <a:cubicBezTo>
                    <a:pt x="844" y="224"/>
                    <a:pt x="776" y="448"/>
                    <a:pt x="624" y="576"/>
                  </a:cubicBezTo>
                  <a:cubicBezTo>
                    <a:pt x="472" y="704"/>
                    <a:pt x="104" y="736"/>
                    <a:pt x="0" y="768"/>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6160" name="Text Box 16"/>
            <p:cNvSpPr txBox="1">
              <a:spLocks noChangeArrowheads="1"/>
            </p:cNvSpPr>
            <p:nvPr/>
          </p:nvSpPr>
          <p:spPr bwMode="auto">
            <a:xfrm>
              <a:off x="4656" y="1104"/>
              <a:ext cx="276"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D</a:t>
              </a:r>
              <a:endParaRPr lang="en-US" altLang="zh-CN" sz="3600">
                <a:solidFill>
                  <a:srgbClr val="FF3300"/>
                </a:solidFill>
                <a:ea typeface="楷体_GB2312"/>
              </a:endParaRPr>
            </a:p>
          </p:txBody>
        </p:sp>
      </p:grpSp>
      <p:graphicFrame>
        <p:nvGraphicFramePr>
          <p:cNvPr id="6150" name="Object 17"/>
          <p:cNvGraphicFramePr>
            <a:graphicFrameLocks noChangeAspect="1"/>
          </p:cNvGraphicFramePr>
          <p:nvPr/>
        </p:nvGraphicFramePr>
        <p:xfrm>
          <a:off x="3548063" y="-11113"/>
          <a:ext cx="3140075" cy="779463"/>
        </p:xfrm>
        <a:graphic>
          <a:graphicData uri="http://schemas.openxmlformats.org/presentationml/2006/ole">
            <mc:AlternateContent xmlns:mc="http://schemas.openxmlformats.org/markup-compatibility/2006">
              <mc:Choice xmlns:v="urn:schemas-microsoft-com:vml" Requires="v">
                <p:oleObj spid="_x0000_s82995" name="公式" r:id="rId5" imgW="1536700" imgH="381000" progId="Equation.3">
                  <p:embed/>
                </p:oleObj>
              </mc:Choice>
              <mc:Fallback>
                <p:oleObj name="公式" r:id="rId5" imgW="1536700" imgH="381000" progId="Equation.3">
                  <p:embed/>
                  <p:pic>
                    <p:nvPicPr>
                      <p:cNvPr id="615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8063" y="-11113"/>
                        <a:ext cx="3140075" cy="7794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1" name="Object 18"/>
          <p:cNvGraphicFramePr>
            <a:graphicFrameLocks noChangeAspect="1"/>
          </p:cNvGraphicFramePr>
          <p:nvPr/>
        </p:nvGraphicFramePr>
        <p:xfrm>
          <a:off x="3762375" y="1917700"/>
          <a:ext cx="2962275" cy="863600"/>
        </p:xfrm>
        <a:graphic>
          <a:graphicData uri="http://schemas.openxmlformats.org/presentationml/2006/ole">
            <mc:AlternateContent xmlns:mc="http://schemas.openxmlformats.org/markup-compatibility/2006">
              <mc:Choice xmlns:v="urn:schemas-microsoft-com:vml" Requires="v">
                <p:oleObj spid="_x0000_s82996" name="公式" r:id="rId7" imgW="1308100" imgH="381000" progId="Equation.3">
                  <p:embed/>
                </p:oleObj>
              </mc:Choice>
              <mc:Fallback>
                <p:oleObj name="公式" r:id="rId7" imgW="1308100" imgH="381000" progId="Equation.3">
                  <p:embed/>
                  <p:pic>
                    <p:nvPicPr>
                      <p:cNvPr id="6151"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62375" y="1917700"/>
                        <a:ext cx="2962275" cy="8636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2" name="Object 19"/>
          <p:cNvGraphicFramePr>
            <a:graphicFrameLocks noChangeAspect="1"/>
          </p:cNvGraphicFramePr>
          <p:nvPr/>
        </p:nvGraphicFramePr>
        <p:xfrm>
          <a:off x="287338" y="877888"/>
          <a:ext cx="3727450" cy="774700"/>
        </p:xfrm>
        <a:graphic>
          <a:graphicData uri="http://schemas.openxmlformats.org/presentationml/2006/ole">
            <mc:AlternateContent xmlns:mc="http://schemas.openxmlformats.org/markup-compatibility/2006">
              <mc:Choice xmlns:v="urn:schemas-microsoft-com:vml" Requires="v">
                <p:oleObj spid="_x0000_s82997" name="公式" r:id="rId9" imgW="1828800" imgH="381000" progId="Equation.3">
                  <p:embed/>
                </p:oleObj>
              </mc:Choice>
              <mc:Fallback>
                <p:oleObj name="公式" r:id="rId9" imgW="1828800" imgH="381000" progId="Equation.3">
                  <p:embed/>
                  <p:pic>
                    <p:nvPicPr>
                      <p:cNvPr id="6152"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338" y="877888"/>
                        <a:ext cx="3727450" cy="7747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3" name="Object 20"/>
          <p:cNvGraphicFramePr>
            <a:graphicFrameLocks noChangeAspect="1"/>
          </p:cNvGraphicFramePr>
          <p:nvPr/>
        </p:nvGraphicFramePr>
        <p:xfrm>
          <a:off x="487363" y="1701800"/>
          <a:ext cx="2574925" cy="679450"/>
        </p:xfrm>
        <a:graphic>
          <a:graphicData uri="http://schemas.openxmlformats.org/presentationml/2006/ole">
            <mc:AlternateContent xmlns:mc="http://schemas.openxmlformats.org/markup-compatibility/2006">
              <mc:Choice xmlns:v="urn:schemas-microsoft-com:vml" Requires="v">
                <p:oleObj spid="_x0000_s82998" name="公式" r:id="rId11" imgW="1054100" imgH="279400" progId="Equation.3">
                  <p:embed/>
                </p:oleObj>
              </mc:Choice>
              <mc:Fallback>
                <p:oleObj name="公式" r:id="rId11" imgW="1054100" imgH="279400" progId="Equation.3">
                  <p:embed/>
                  <p:pic>
                    <p:nvPicPr>
                      <p:cNvPr id="6153"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7363" y="1701800"/>
                        <a:ext cx="2574925" cy="679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4" name="Object 21"/>
          <p:cNvGraphicFramePr>
            <a:graphicFrameLocks noChangeAspect="1"/>
          </p:cNvGraphicFramePr>
          <p:nvPr/>
        </p:nvGraphicFramePr>
        <p:xfrm>
          <a:off x="496888" y="2349500"/>
          <a:ext cx="1905000" cy="806450"/>
        </p:xfrm>
        <a:graphic>
          <a:graphicData uri="http://schemas.openxmlformats.org/presentationml/2006/ole">
            <mc:AlternateContent xmlns:mc="http://schemas.openxmlformats.org/markup-compatibility/2006">
              <mc:Choice xmlns:v="urn:schemas-microsoft-com:vml" Requires="v">
                <p:oleObj spid="_x0000_s82999" name="公式" r:id="rId13" imgW="685800" imgH="292100" progId="Equation.3">
                  <p:embed/>
                </p:oleObj>
              </mc:Choice>
              <mc:Fallback>
                <p:oleObj name="公式" r:id="rId13" imgW="685800" imgH="292100" progId="Equation.3">
                  <p:embed/>
                  <p:pic>
                    <p:nvPicPr>
                      <p:cNvPr id="6154"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6888" y="2349500"/>
                        <a:ext cx="1905000" cy="8064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55" name="Text Box 22"/>
          <p:cNvSpPr txBox="1">
            <a:spLocks noChangeArrowheads="1"/>
          </p:cNvSpPr>
          <p:nvPr/>
        </p:nvSpPr>
        <p:spPr bwMode="auto">
          <a:xfrm>
            <a:off x="-36513" y="3219450"/>
            <a:ext cx="9180513" cy="465138"/>
          </a:xfrm>
          <a:prstGeom prst="rect">
            <a:avLst/>
          </a:prstGeom>
          <a:noFill/>
          <a:ln w="127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定义：</a:t>
            </a:r>
            <a:r>
              <a:rPr lang="zh-CN" altLang="en-US" sz="2400">
                <a:ea typeface="楷体_GB2312"/>
              </a:rPr>
              <a:t>电场强度沿任意闭合路径的线积分叫电场强度的环流。</a:t>
            </a:r>
          </a:p>
        </p:txBody>
      </p:sp>
      <p:sp>
        <p:nvSpPr>
          <p:cNvPr id="6156" name="Text Box 23"/>
          <p:cNvSpPr txBox="1">
            <a:spLocks noChangeArrowheads="1"/>
          </p:cNvSpPr>
          <p:nvPr/>
        </p:nvSpPr>
        <p:spPr bwMode="auto">
          <a:xfrm>
            <a:off x="-36513" y="3756025"/>
            <a:ext cx="9180513" cy="463550"/>
          </a:xfrm>
          <a:prstGeom prst="rect">
            <a:avLst/>
          </a:prstGeom>
          <a:solidFill>
            <a:srgbClr val="FFFF66"/>
          </a:solidFill>
          <a:ln w="127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静电场环路定理：</a:t>
            </a:r>
            <a:r>
              <a:rPr lang="zh-CN" altLang="en-US" sz="2400">
                <a:ea typeface="楷体_GB2312"/>
              </a:rPr>
              <a:t>在静电场中，电场强度的环流为零。</a:t>
            </a:r>
          </a:p>
        </p:txBody>
      </p:sp>
      <p:sp>
        <p:nvSpPr>
          <p:cNvPr id="6157" name="Text Box 23"/>
          <p:cNvSpPr txBox="1">
            <a:spLocks noChangeArrowheads="1"/>
          </p:cNvSpPr>
          <p:nvPr/>
        </p:nvSpPr>
        <p:spPr bwMode="auto">
          <a:xfrm>
            <a:off x="0" y="4332288"/>
            <a:ext cx="9144000" cy="833437"/>
          </a:xfrm>
          <a:prstGeom prst="rect">
            <a:avLst/>
          </a:prstGeom>
          <a:noFill/>
          <a:ln w="127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chemeClr val="accent2"/>
                </a:solidFill>
                <a:ea typeface="楷体_GB2312"/>
              </a:rPr>
              <a:t>静电场是</a:t>
            </a:r>
            <a:r>
              <a:rPr lang="zh-CN" altLang="en-US" sz="2400">
                <a:solidFill>
                  <a:srgbClr val="FF0000"/>
                </a:solidFill>
                <a:ea typeface="楷体_GB2312"/>
              </a:rPr>
              <a:t>有源</a:t>
            </a:r>
            <a:r>
              <a:rPr lang="zh-CN" altLang="en-US" sz="2400">
                <a:solidFill>
                  <a:schemeClr val="accent2"/>
                </a:solidFill>
                <a:ea typeface="楷体_GB2312"/>
              </a:rPr>
              <a:t>的</a:t>
            </a:r>
            <a:r>
              <a:rPr lang="zh-CN" altLang="en-US" sz="2400">
                <a:solidFill>
                  <a:srgbClr val="FF0000"/>
                </a:solidFill>
                <a:ea typeface="楷体_GB2312"/>
              </a:rPr>
              <a:t>保守力场</a:t>
            </a:r>
            <a:r>
              <a:rPr lang="zh-CN" altLang="en-US" sz="2400">
                <a:solidFill>
                  <a:schemeClr val="accent2"/>
                </a:solidFill>
                <a:ea typeface="楷体_GB2312"/>
              </a:rPr>
              <a:t>，由于电场线不闭合，即不形成旋涡，所以静电场是</a:t>
            </a:r>
            <a:r>
              <a:rPr lang="zh-CN" altLang="en-US" sz="2400">
                <a:solidFill>
                  <a:srgbClr val="FF0000"/>
                </a:solidFill>
                <a:ea typeface="楷体_GB2312"/>
              </a:rPr>
              <a:t>无旋场</a:t>
            </a:r>
            <a:r>
              <a:rPr lang="zh-CN" altLang="en-US" sz="2400">
                <a:solidFill>
                  <a:schemeClr val="accent2"/>
                </a:solidFill>
                <a:ea typeface="楷体_GB2312"/>
              </a:rPr>
              <a:t>。</a:t>
            </a:r>
          </a:p>
        </p:txBody>
      </p:sp>
      <p:sp>
        <p:nvSpPr>
          <p:cNvPr id="6158" name="Text Box 9"/>
          <p:cNvSpPr txBox="1">
            <a:spLocks noChangeArrowheads="1"/>
          </p:cNvSpPr>
          <p:nvPr/>
        </p:nvSpPr>
        <p:spPr bwMode="auto">
          <a:xfrm>
            <a:off x="-36513" y="5165725"/>
            <a:ext cx="9180513" cy="1689100"/>
          </a:xfrm>
          <a:prstGeom prst="rect">
            <a:avLst/>
          </a:prstGeom>
          <a:noFill/>
          <a:ln w="127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0000"/>
                </a:solidFill>
                <a:ea typeface="楷体_GB2312"/>
              </a:rPr>
              <a:t>结论：</a:t>
            </a:r>
            <a:r>
              <a:rPr lang="zh-CN" altLang="en-US" sz="2400">
                <a:ea typeface="楷体_GB2312"/>
              </a:rPr>
              <a:t>在真空中，一试探电荷在静电场中移动时，静电场力对它所作的功，仅与</a:t>
            </a:r>
            <a:r>
              <a:rPr lang="zh-CN" altLang="en-US" sz="2800">
                <a:solidFill>
                  <a:schemeClr val="hlink"/>
                </a:solidFill>
                <a:ea typeface="楷体_GB2312"/>
              </a:rPr>
              <a:t>试探电荷的电量、起点与终点位置有关</a:t>
            </a:r>
            <a:r>
              <a:rPr lang="zh-CN" altLang="en-US" sz="2400">
                <a:solidFill>
                  <a:schemeClr val="hlink"/>
                </a:solidFill>
                <a:ea typeface="楷体_GB2312"/>
              </a:rPr>
              <a:t>， </a:t>
            </a:r>
            <a:r>
              <a:rPr lang="zh-CN" altLang="en-US" sz="2400">
                <a:ea typeface="楷体_GB2312"/>
              </a:rPr>
              <a:t>而与试探电荷所经过的路径无关。</a:t>
            </a:r>
          </a:p>
          <a:p>
            <a:pPr eaLnBrk="1" hangingPunct="1">
              <a:spcBef>
                <a:spcPct val="0"/>
              </a:spcBef>
              <a:buFontTx/>
              <a:buNone/>
            </a:pPr>
            <a:r>
              <a:rPr lang="zh-CN" altLang="en-US" sz="2800">
                <a:solidFill>
                  <a:schemeClr val="hlink"/>
                </a:solidFill>
                <a:ea typeface="楷体_GB2312"/>
              </a:rPr>
              <a:t>静电场力也是保守力，静电场是保守力场。</a:t>
            </a:r>
          </a:p>
        </p:txBody>
      </p:sp>
    </p:spTree>
    <p:extLst>
      <p:ext uri="{BB962C8B-B14F-4D97-AF65-F5344CB8AC3E}">
        <p14:creationId xmlns:p14="http://schemas.microsoft.com/office/powerpoint/2010/main" val="4177396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33350" y="106363"/>
            <a:ext cx="3934594"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三、电势能和电势</a:t>
            </a:r>
          </a:p>
        </p:txBody>
      </p:sp>
      <p:sp>
        <p:nvSpPr>
          <p:cNvPr id="7171" name="Text Box 3"/>
          <p:cNvSpPr txBox="1">
            <a:spLocks noChangeArrowheads="1"/>
          </p:cNvSpPr>
          <p:nvPr/>
        </p:nvSpPr>
        <p:spPr bwMode="auto">
          <a:xfrm>
            <a:off x="457200" y="866775"/>
            <a:ext cx="4357688" cy="1276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FF3300"/>
                </a:solidFill>
                <a:ea typeface="楷体_GB2312"/>
              </a:rPr>
              <a:t>一）、电势能</a:t>
            </a:r>
            <a:endParaRPr lang="en-US" altLang="zh-CN" sz="2400">
              <a:ea typeface="楷体_GB2312"/>
            </a:endParaRPr>
          </a:p>
          <a:p>
            <a:pPr eaLnBrk="1" hangingPunct="1">
              <a:buFontTx/>
              <a:buNone/>
            </a:pPr>
            <a:r>
              <a:rPr lang="zh-CN" altLang="en-US" sz="2400">
                <a:ea typeface="楷体_GB2312"/>
              </a:rPr>
              <a:t>电荷在电场的一定位置上，具有一定的能量，叫做</a:t>
            </a:r>
            <a:r>
              <a:rPr lang="zh-CN" altLang="en-US" sz="2400">
                <a:solidFill>
                  <a:srgbClr val="FF3300"/>
                </a:solidFill>
                <a:ea typeface="楷体_GB2312"/>
              </a:rPr>
              <a:t>电势能</a:t>
            </a:r>
            <a:r>
              <a:rPr lang="zh-CN" altLang="en-US" sz="2400">
                <a:ea typeface="楷体_GB2312"/>
              </a:rPr>
              <a:t>。</a:t>
            </a:r>
            <a:endParaRPr lang="zh-CN" altLang="en-US" sz="3600">
              <a:solidFill>
                <a:srgbClr val="FF3300"/>
              </a:solidFill>
              <a:ea typeface="楷体_GB2312"/>
            </a:endParaRPr>
          </a:p>
        </p:txBody>
      </p:sp>
      <p:grpSp>
        <p:nvGrpSpPr>
          <p:cNvPr id="7172" name="Group 4"/>
          <p:cNvGrpSpPr>
            <a:grpSpLocks/>
          </p:cNvGrpSpPr>
          <p:nvPr/>
        </p:nvGrpSpPr>
        <p:grpSpPr bwMode="auto">
          <a:xfrm>
            <a:off x="5943600" y="152400"/>
            <a:ext cx="2590800" cy="2209800"/>
            <a:chOff x="3744" y="768"/>
            <a:chExt cx="1632" cy="1392"/>
          </a:xfrm>
        </p:grpSpPr>
        <p:sp>
          <p:nvSpPr>
            <p:cNvPr id="7184" name="Freeform 5"/>
            <p:cNvSpPr>
              <a:spLocks/>
            </p:cNvSpPr>
            <p:nvPr/>
          </p:nvSpPr>
          <p:spPr bwMode="auto">
            <a:xfrm>
              <a:off x="3744" y="768"/>
              <a:ext cx="1488" cy="816"/>
            </a:xfrm>
            <a:custGeom>
              <a:avLst/>
              <a:gdLst>
                <a:gd name="T0" fmla="*/ 0 w 1488"/>
                <a:gd name="T1" fmla="*/ 816 h 816"/>
                <a:gd name="T2" fmla="*/ 720 w 1488"/>
                <a:gd name="T3" fmla="*/ 240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236" y="596"/>
                    <a:pt x="472" y="376"/>
                    <a:pt x="720" y="240"/>
                  </a:cubicBezTo>
                  <a:cubicBezTo>
                    <a:pt x="968" y="104"/>
                    <a:pt x="1360" y="40"/>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7185" name="Freeform 6"/>
            <p:cNvSpPr>
              <a:spLocks/>
            </p:cNvSpPr>
            <p:nvPr/>
          </p:nvSpPr>
          <p:spPr bwMode="auto">
            <a:xfrm>
              <a:off x="3840" y="1008"/>
              <a:ext cx="1488" cy="816"/>
            </a:xfrm>
            <a:custGeom>
              <a:avLst/>
              <a:gdLst>
                <a:gd name="T0" fmla="*/ 0 w 1488"/>
                <a:gd name="T1" fmla="*/ 816 h 816"/>
                <a:gd name="T2" fmla="*/ 912 w 1488"/>
                <a:gd name="T3" fmla="*/ 192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332" y="572"/>
                    <a:pt x="664" y="328"/>
                    <a:pt x="912" y="192"/>
                  </a:cubicBezTo>
                  <a:cubicBezTo>
                    <a:pt x="1160" y="56"/>
                    <a:pt x="1392" y="32"/>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7186" name="Freeform 7"/>
            <p:cNvSpPr>
              <a:spLocks/>
            </p:cNvSpPr>
            <p:nvPr/>
          </p:nvSpPr>
          <p:spPr bwMode="auto">
            <a:xfrm>
              <a:off x="3888" y="1344"/>
              <a:ext cx="1488" cy="816"/>
            </a:xfrm>
            <a:custGeom>
              <a:avLst/>
              <a:gdLst>
                <a:gd name="T0" fmla="*/ 0 w 1488"/>
                <a:gd name="T1" fmla="*/ 816 h 816"/>
                <a:gd name="T2" fmla="*/ 912 w 1488"/>
                <a:gd name="T3" fmla="*/ 192 h 816"/>
                <a:gd name="T4" fmla="*/ 1488 w 1488"/>
                <a:gd name="T5" fmla="*/ 0 h 816"/>
                <a:gd name="T6" fmla="*/ 0 60000 65536"/>
                <a:gd name="T7" fmla="*/ 0 60000 65536"/>
                <a:gd name="T8" fmla="*/ 0 60000 65536"/>
              </a:gdLst>
              <a:ahLst/>
              <a:cxnLst>
                <a:cxn ang="T6">
                  <a:pos x="T0" y="T1"/>
                </a:cxn>
                <a:cxn ang="T7">
                  <a:pos x="T2" y="T3"/>
                </a:cxn>
                <a:cxn ang="T8">
                  <a:pos x="T4" y="T5"/>
                </a:cxn>
              </a:cxnLst>
              <a:rect l="0" t="0" r="r" b="b"/>
              <a:pathLst>
                <a:path w="1488" h="816">
                  <a:moveTo>
                    <a:pt x="0" y="816"/>
                  </a:moveTo>
                  <a:cubicBezTo>
                    <a:pt x="332" y="572"/>
                    <a:pt x="664" y="328"/>
                    <a:pt x="912" y="192"/>
                  </a:cubicBezTo>
                  <a:cubicBezTo>
                    <a:pt x="1160" y="56"/>
                    <a:pt x="1392" y="32"/>
                    <a:pt x="1488" y="0"/>
                  </a:cubicBezTo>
                </a:path>
              </a:pathLst>
            </a:custGeom>
            <a:noFill/>
            <a:ln w="12700" cap="flat" cmpd="sng">
              <a:solidFill>
                <a:srgbClr val="FF00FF"/>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7173" name="Freeform 8"/>
          <p:cNvSpPr>
            <a:spLocks/>
          </p:cNvSpPr>
          <p:nvPr/>
        </p:nvSpPr>
        <p:spPr bwMode="auto">
          <a:xfrm>
            <a:off x="6477000" y="758825"/>
            <a:ext cx="1447800" cy="1219200"/>
          </a:xfrm>
          <a:custGeom>
            <a:avLst/>
            <a:gdLst>
              <a:gd name="T0" fmla="*/ 0 w 912"/>
              <a:gd name="T1" fmla="*/ 2147483646 h 768"/>
              <a:gd name="T2" fmla="*/ 2147483646 w 912"/>
              <a:gd name="T3" fmla="*/ 2147483646 h 768"/>
              <a:gd name="T4" fmla="*/ 2147483646 w 912"/>
              <a:gd name="T5" fmla="*/ 0 h 768"/>
              <a:gd name="T6" fmla="*/ 0 60000 65536"/>
              <a:gd name="T7" fmla="*/ 0 60000 65536"/>
              <a:gd name="T8" fmla="*/ 0 60000 65536"/>
            </a:gdLst>
            <a:ahLst/>
            <a:cxnLst>
              <a:cxn ang="T6">
                <a:pos x="T0" y="T1"/>
              </a:cxn>
              <a:cxn ang="T7">
                <a:pos x="T2" y="T3"/>
              </a:cxn>
              <a:cxn ang="T8">
                <a:pos x="T4" y="T5"/>
              </a:cxn>
            </a:cxnLst>
            <a:rect l="0" t="0" r="r" b="b"/>
            <a:pathLst>
              <a:path w="912" h="768">
                <a:moveTo>
                  <a:pt x="0" y="768"/>
                </a:moveTo>
                <a:cubicBezTo>
                  <a:pt x="68" y="544"/>
                  <a:pt x="136" y="320"/>
                  <a:pt x="288" y="192"/>
                </a:cubicBezTo>
                <a:cubicBezTo>
                  <a:pt x="440" y="64"/>
                  <a:pt x="808" y="32"/>
                  <a:pt x="912" y="0"/>
                </a:cubicBez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nvGrpSpPr>
          <p:cNvPr id="7174" name="Group 9"/>
          <p:cNvGrpSpPr>
            <a:grpSpLocks/>
          </p:cNvGrpSpPr>
          <p:nvPr/>
        </p:nvGrpSpPr>
        <p:grpSpPr bwMode="auto">
          <a:xfrm>
            <a:off x="6310313" y="228600"/>
            <a:ext cx="1879600" cy="2185988"/>
            <a:chOff x="3975" y="624"/>
            <a:chExt cx="1184" cy="1377"/>
          </a:xfrm>
        </p:grpSpPr>
        <p:sp>
          <p:nvSpPr>
            <p:cNvPr id="7181" name="Text Box 10"/>
            <p:cNvSpPr txBox="1">
              <a:spLocks noChangeArrowheads="1"/>
            </p:cNvSpPr>
            <p:nvPr/>
          </p:nvSpPr>
          <p:spPr bwMode="auto">
            <a:xfrm>
              <a:off x="3975" y="167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A</a:t>
              </a:r>
              <a:endParaRPr lang="en-US" altLang="zh-CN" sz="3600">
                <a:solidFill>
                  <a:srgbClr val="FF3300"/>
                </a:solidFill>
                <a:ea typeface="楷体_GB2312"/>
              </a:endParaRPr>
            </a:p>
          </p:txBody>
        </p:sp>
        <p:sp>
          <p:nvSpPr>
            <p:cNvPr id="7182" name="Text Box 11"/>
            <p:cNvSpPr txBox="1">
              <a:spLocks noChangeArrowheads="1"/>
            </p:cNvSpPr>
            <p:nvPr/>
          </p:nvSpPr>
          <p:spPr bwMode="auto">
            <a:xfrm>
              <a:off x="4224" y="784"/>
              <a:ext cx="114"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zh-CN" sz="3600">
                <a:solidFill>
                  <a:srgbClr val="FF3300"/>
                </a:solidFill>
                <a:ea typeface="楷体_GB2312"/>
              </a:endParaRPr>
            </a:p>
          </p:txBody>
        </p:sp>
        <p:sp>
          <p:nvSpPr>
            <p:cNvPr id="7183" name="Text Box 12"/>
            <p:cNvSpPr txBox="1">
              <a:spLocks noChangeArrowheads="1"/>
            </p:cNvSpPr>
            <p:nvPr/>
          </p:nvSpPr>
          <p:spPr bwMode="auto">
            <a:xfrm>
              <a:off x="4896" y="624"/>
              <a:ext cx="263"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i="1">
                  <a:solidFill>
                    <a:srgbClr val="FF3300"/>
                  </a:solidFill>
                  <a:ea typeface="楷体_GB2312"/>
                </a:rPr>
                <a:t>B</a:t>
              </a:r>
              <a:endParaRPr lang="en-US" altLang="zh-CN" sz="3600">
                <a:solidFill>
                  <a:srgbClr val="FF3300"/>
                </a:solidFill>
                <a:ea typeface="楷体_GB2312"/>
              </a:endParaRPr>
            </a:p>
          </p:txBody>
        </p:sp>
      </p:grpSp>
      <p:sp>
        <p:nvSpPr>
          <p:cNvPr id="220173" name="Text Box 13"/>
          <p:cNvSpPr txBox="1">
            <a:spLocks noChangeArrowheads="1"/>
          </p:cNvSpPr>
          <p:nvPr/>
        </p:nvSpPr>
        <p:spPr bwMode="auto">
          <a:xfrm>
            <a:off x="468313" y="2747963"/>
            <a:ext cx="80645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静电场力对电荷所作的功等于电势能增量的负值。</a:t>
            </a:r>
          </a:p>
        </p:txBody>
      </p:sp>
      <p:graphicFrame>
        <p:nvGraphicFramePr>
          <p:cNvPr id="220174" name="Object 14"/>
          <p:cNvGraphicFramePr>
            <a:graphicFrameLocks noChangeAspect="1"/>
          </p:cNvGraphicFramePr>
          <p:nvPr/>
        </p:nvGraphicFramePr>
        <p:xfrm>
          <a:off x="1087438" y="3384550"/>
          <a:ext cx="6564312" cy="784225"/>
        </p:xfrm>
        <a:graphic>
          <a:graphicData uri="http://schemas.openxmlformats.org/presentationml/2006/ole">
            <mc:AlternateContent xmlns:mc="http://schemas.openxmlformats.org/markup-compatibility/2006">
              <mc:Choice xmlns:v="urn:schemas-microsoft-com:vml" Requires="v">
                <p:oleObj spid="_x0000_s83986" name="Equation" r:id="rId3" imgW="2743200" imgH="330200" progId="Equation.DSMT4">
                  <p:embed/>
                </p:oleObj>
              </mc:Choice>
              <mc:Fallback>
                <p:oleObj name="Equation" r:id="rId3" imgW="2743200" imgH="330200" progId="Equation.DSMT4">
                  <p:embed/>
                  <p:pic>
                    <p:nvPicPr>
                      <p:cNvPr id="220174"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438" y="3384550"/>
                        <a:ext cx="6564312" cy="784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0176" name="Text Box 16"/>
          <p:cNvSpPr txBox="1">
            <a:spLocks noChangeArrowheads="1"/>
          </p:cNvSpPr>
          <p:nvPr/>
        </p:nvSpPr>
        <p:spPr bwMode="auto">
          <a:xfrm>
            <a:off x="595313" y="4267200"/>
            <a:ext cx="7634287"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电势能的参考点选择也是任意的，若</a:t>
            </a:r>
            <a:r>
              <a:rPr lang="en-US" altLang="zh-CN" sz="2400" i="1">
                <a:ea typeface="楷体_GB2312"/>
              </a:rPr>
              <a:t>W</a:t>
            </a:r>
            <a:r>
              <a:rPr lang="en-US" altLang="zh-CN" sz="2400" i="1" baseline="-25000">
                <a:ea typeface="楷体_GB2312"/>
              </a:rPr>
              <a:t>PB</a:t>
            </a:r>
            <a:r>
              <a:rPr lang="en-US" altLang="zh-CN" sz="2400">
                <a:ea typeface="楷体_GB2312"/>
              </a:rPr>
              <a:t>=0</a:t>
            </a:r>
            <a:r>
              <a:rPr lang="zh-CN" altLang="en-US" sz="2400">
                <a:ea typeface="楷体_GB2312"/>
              </a:rPr>
              <a:t>，则电场中</a:t>
            </a:r>
            <a:r>
              <a:rPr lang="en-US" altLang="zh-CN" sz="2400">
                <a:ea typeface="楷体_GB2312"/>
              </a:rPr>
              <a:t>A</a:t>
            </a:r>
            <a:r>
              <a:rPr lang="zh-CN" altLang="en-US" sz="2400">
                <a:ea typeface="楷体_GB2312"/>
              </a:rPr>
              <a:t>点的电势能为：</a:t>
            </a:r>
          </a:p>
        </p:txBody>
      </p:sp>
      <p:graphicFrame>
        <p:nvGraphicFramePr>
          <p:cNvPr id="220177" name="Object 17"/>
          <p:cNvGraphicFramePr>
            <a:graphicFrameLocks noChangeAspect="1"/>
          </p:cNvGraphicFramePr>
          <p:nvPr/>
        </p:nvGraphicFramePr>
        <p:xfrm>
          <a:off x="3059113" y="4941888"/>
          <a:ext cx="2319337" cy="681037"/>
        </p:xfrm>
        <a:graphic>
          <a:graphicData uri="http://schemas.openxmlformats.org/presentationml/2006/ole">
            <mc:AlternateContent xmlns:mc="http://schemas.openxmlformats.org/markup-compatibility/2006">
              <mc:Choice xmlns:v="urn:schemas-microsoft-com:vml" Requires="v">
                <p:oleObj spid="_x0000_s83987" name="Equation" r:id="rId5" imgW="1117600" imgH="330200" progId="Equation.DSMT4">
                  <p:embed/>
                </p:oleObj>
              </mc:Choice>
              <mc:Fallback>
                <p:oleObj name="Equation" r:id="rId5" imgW="1117600" imgH="330200" progId="Equation.DSMT4">
                  <p:embed/>
                  <p:pic>
                    <p:nvPicPr>
                      <p:cNvPr id="220177"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113" y="4941888"/>
                        <a:ext cx="2319337" cy="68103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0178" name="Text Box 18"/>
          <p:cNvSpPr txBox="1">
            <a:spLocks noChangeArrowheads="1"/>
          </p:cNvSpPr>
          <p:nvPr/>
        </p:nvSpPr>
        <p:spPr bwMode="auto">
          <a:xfrm>
            <a:off x="755650" y="5837238"/>
            <a:ext cx="7704138" cy="83185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结论：试探电荷</a:t>
            </a:r>
            <a:r>
              <a:rPr lang="en-US" altLang="zh-CN" sz="2400" i="1">
                <a:ea typeface="楷体_GB2312"/>
              </a:rPr>
              <a:t>q</a:t>
            </a:r>
            <a:r>
              <a:rPr lang="en-US" altLang="zh-CN" sz="2400" baseline="-25000">
                <a:ea typeface="楷体_GB2312"/>
              </a:rPr>
              <a:t>0</a:t>
            </a:r>
            <a:r>
              <a:rPr lang="zh-CN" altLang="en-US" sz="2400">
                <a:ea typeface="楷体_GB2312"/>
              </a:rPr>
              <a:t>在电场中点</a:t>
            </a:r>
            <a:r>
              <a:rPr lang="en-US" altLang="zh-CN" sz="2400">
                <a:ea typeface="楷体_GB2312"/>
              </a:rPr>
              <a:t>A</a:t>
            </a:r>
            <a:r>
              <a:rPr lang="zh-CN" altLang="en-US" sz="2400">
                <a:ea typeface="楷体_GB2312"/>
              </a:rPr>
              <a:t>的电势能，在取值上等于把它从点</a:t>
            </a:r>
            <a:r>
              <a:rPr lang="en-US" altLang="zh-CN" sz="2400">
                <a:ea typeface="楷体_GB2312"/>
              </a:rPr>
              <a:t>A</a:t>
            </a:r>
            <a:r>
              <a:rPr lang="zh-CN" altLang="en-US" sz="2400">
                <a:ea typeface="楷体_GB2312"/>
              </a:rPr>
              <a:t>移到零电势能处的电场力所作的功。</a:t>
            </a:r>
            <a:endParaRPr lang="zh-CN" altLang="en-US" sz="3600">
              <a:solidFill>
                <a:srgbClr val="FF3300"/>
              </a:solidFill>
              <a:ea typeface="楷体_GB2312"/>
            </a:endParaRPr>
          </a:p>
        </p:txBody>
      </p:sp>
      <p:sp>
        <p:nvSpPr>
          <p:cNvPr id="7180" name="Text Box 19"/>
          <p:cNvSpPr txBox="1">
            <a:spLocks noChangeArrowheads="1"/>
          </p:cNvSpPr>
          <p:nvPr/>
        </p:nvSpPr>
        <p:spPr bwMode="auto">
          <a:xfrm>
            <a:off x="323850" y="2060575"/>
            <a:ext cx="53387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3300"/>
                </a:solidFill>
                <a:ea typeface="楷体_GB2312"/>
              </a:rPr>
              <a:t>保守力的功等于势能增量的负值。</a:t>
            </a:r>
          </a:p>
        </p:txBody>
      </p:sp>
    </p:spTree>
    <p:extLst>
      <p:ext uri="{BB962C8B-B14F-4D97-AF65-F5344CB8AC3E}">
        <p14:creationId xmlns:p14="http://schemas.microsoft.com/office/powerpoint/2010/main" val="98438939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20173"/>
                                        </p:tgtEl>
                                        <p:attrNameLst>
                                          <p:attrName>style.visibility</p:attrName>
                                        </p:attrNameLst>
                                      </p:cBhvr>
                                      <p:to>
                                        <p:strVal val="visible"/>
                                      </p:to>
                                    </p:set>
                                    <p:animEffect transition="in" filter="wipe(left)">
                                      <p:cBhvr>
                                        <p:cTn id="7" dur="75"/>
                                        <p:tgtEl>
                                          <p:spTgt spid="220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0174"/>
                                        </p:tgtEl>
                                        <p:attrNameLst>
                                          <p:attrName>style.visibility</p:attrName>
                                        </p:attrNameLst>
                                      </p:cBhvr>
                                      <p:to>
                                        <p:strVal val="visible"/>
                                      </p:to>
                                    </p:set>
                                    <p:animEffect transition="in" filter="wipe(left)">
                                      <p:cBhvr>
                                        <p:cTn id="12" dur="500"/>
                                        <p:tgtEl>
                                          <p:spTgt spid="2201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220176"/>
                                        </p:tgtEl>
                                        <p:attrNameLst>
                                          <p:attrName>style.visibility</p:attrName>
                                        </p:attrNameLst>
                                      </p:cBhvr>
                                      <p:to>
                                        <p:strVal val="visible"/>
                                      </p:to>
                                    </p:set>
                                    <p:animEffect transition="in" filter="wipe(left)">
                                      <p:cBhvr>
                                        <p:cTn id="17" dur="75"/>
                                        <p:tgtEl>
                                          <p:spTgt spid="2201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0177"/>
                                        </p:tgtEl>
                                        <p:attrNameLst>
                                          <p:attrName>style.visibility</p:attrName>
                                        </p:attrNameLst>
                                      </p:cBhvr>
                                      <p:to>
                                        <p:strVal val="visible"/>
                                      </p:to>
                                    </p:set>
                                    <p:animEffect transition="in" filter="wipe(left)">
                                      <p:cBhvr>
                                        <p:cTn id="22" dur="500"/>
                                        <p:tgtEl>
                                          <p:spTgt spid="2201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0178">
                                            <p:bg/>
                                          </p:spTgt>
                                        </p:tgtEl>
                                        <p:attrNameLst>
                                          <p:attrName>style.visibility</p:attrName>
                                        </p:attrNameLst>
                                      </p:cBhvr>
                                      <p:to>
                                        <p:strVal val="visible"/>
                                      </p:to>
                                    </p:set>
                                    <p:animEffect transition="in" filter="wipe(left)">
                                      <p:cBhvr>
                                        <p:cTn id="27" dur="75"/>
                                        <p:tgtEl>
                                          <p:spTgt spid="220178">
                                            <p:bg/>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220178">
                                            <p:txEl>
                                              <p:pRg st="0" end="0"/>
                                            </p:txEl>
                                          </p:spTgt>
                                        </p:tgtEl>
                                        <p:attrNameLst>
                                          <p:attrName>style.visibility</p:attrName>
                                        </p:attrNameLst>
                                      </p:cBhvr>
                                      <p:to>
                                        <p:strVal val="visible"/>
                                      </p:to>
                                    </p:set>
                                    <p:animEffect transition="in" filter="wipe(left)">
                                      <p:cBhvr>
                                        <p:cTn id="32" dur="75"/>
                                        <p:tgtEl>
                                          <p:spTgt spid="2201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3" grpId="0" autoUpdateAnimBg="0"/>
      <p:bldP spid="220176" grpId="0" autoUpdateAnimBg="0"/>
      <p:bldP spid="220178" grpId="0" build="p"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8" name="Text Box 4"/>
          <p:cNvSpPr txBox="1">
            <a:spLocks noChangeArrowheads="1"/>
          </p:cNvSpPr>
          <p:nvPr/>
        </p:nvSpPr>
        <p:spPr bwMode="auto">
          <a:xfrm>
            <a:off x="539750" y="1700213"/>
            <a:ext cx="8027988" cy="85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a:solidFill>
                  <a:schemeClr val="hlink"/>
                </a:solidFill>
                <a:ea typeface="楷体_GB2312"/>
              </a:rPr>
              <a:t>当电荷分布在有限空间时，一般令参考点为∞处，即</a:t>
            </a:r>
            <a:r>
              <a:rPr lang="en-US" altLang="zh-CN" sz="2800" b="0" i="1">
                <a:solidFill>
                  <a:schemeClr val="hlink"/>
                </a:solidFill>
                <a:ea typeface="楷体_GB2312"/>
              </a:rPr>
              <a:t>q</a:t>
            </a:r>
            <a:r>
              <a:rPr lang="en-US" altLang="zh-CN" sz="2800" b="0" i="1" baseline="-25000">
                <a:solidFill>
                  <a:schemeClr val="hlink"/>
                </a:solidFill>
                <a:ea typeface="楷体_GB2312"/>
              </a:rPr>
              <a:t>0 </a:t>
            </a:r>
            <a:r>
              <a:rPr lang="zh-CN" altLang="en-US" sz="2800">
                <a:solidFill>
                  <a:schemeClr val="hlink"/>
                </a:solidFill>
                <a:ea typeface="楷体_GB2312"/>
              </a:rPr>
              <a:t>在∞时，电势能</a:t>
            </a:r>
            <a:r>
              <a:rPr lang="en-US" altLang="zh-CN" sz="2800" b="0" i="1">
                <a:solidFill>
                  <a:schemeClr val="hlink"/>
                </a:solidFill>
                <a:ea typeface="楷体_GB2312"/>
              </a:rPr>
              <a:t>W</a:t>
            </a:r>
            <a:r>
              <a:rPr lang="en-US" altLang="zh-CN" sz="2800" baseline="-12000">
                <a:solidFill>
                  <a:schemeClr val="hlink"/>
                </a:solidFill>
                <a:ea typeface="楷体_GB2312"/>
              </a:rPr>
              <a:t>∞</a:t>
            </a:r>
            <a:r>
              <a:rPr lang="en-US" altLang="zh-CN" sz="2800">
                <a:solidFill>
                  <a:schemeClr val="hlink"/>
                </a:solidFill>
                <a:ea typeface="楷体_GB2312"/>
              </a:rPr>
              <a:t>=0</a:t>
            </a:r>
            <a:r>
              <a:rPr lang="zh-CN" altLang="en-US" sz="2800">
                <a:solidFill>
                  <a:schemeClr val="hlink"/>
                </a:solidFill>
                <a:ea typeface="楷体_GB2312"/>
              </a:rPr>
              <a:t>，则</a:t>
            </a:r>
            <a:r>
              <a:rPr lang="en-US" altLang="zh-CN" sz="2800" b="0" i="1">
                <a:solidFill>
                  <a:schemeClr val="hlink"/>
                </a:solidFill>
                <a:ea typeface="楷体_GB2312"/>
              </a:rPr>
              <a:t>A</a:t>
            </a:r>
            <a:r>
              <a:rPr lang="zh-CN" altLang="en-US" sz="2800">
                <a:solidFill>
                  <a:schemeClr val="hlink"/>
                </a:solidFill>
                <a:ea typeface="楷体_GB2312"/>
              </a:rPr>
              <a:t>点的电势能</a:t>
            </a:r>
          </a:p>
        </p:txBody>
      </p:sp>
      <p:sp>
        <p:nvSpPr>
          <p:cNvPr id="236549" name="Rectangle 5"/>
          <p:cNvSpPr>
            <a:spLocks noChangeArrowheads="1"/>
          </p:cNvSpPr>
          <p:nvPr/>
        </p:nvSpPr>
        <p:spPr bwMode="auto">
          <a:xfrm>
            <a:off x="265113" y="3503613"/>
            <a:ext cx="8642350" cy="1416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lIns="0" tIns="0" rIns="0" bIns="0">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66FF33"/>
              </a:buClr>
              <a:buFontTx/>
              <a:buNone/>
            </a:pPr>
            <a:r>
              <a:rPr lang="zh-CN" altLang="en-US" sz="2400">
                <a:solidFill>
                  <a:srgbClr val="FF0000"/>
                </a:solidFill>
                <a:ea typeface="楷体_GB2312"/>
              </a:rPr>
              <a:t>即：</a:t>
            </a:r>
            <a:r>
              <a:rPr lang="en-US" altLang="zh-CN" sz="2400">
                <a:solidFill>
                  <a:srgbClr val="FF0000"/>
                </a:solidFill>
                <a:ea typeface="楷体_GB2312"/>
              </a:rPr>
              <a:t>A</a:t>
            </a:r>
            <a:r>
              <a:rPr lang="zh-CN" altLang="en-US" sz="2400">
                <a:solidFill>
                  <a:srgbClr val="FF0000"/>
                </a:solidFill>
                <a:ea typeface="楷体_GB2312"/>
              </a:rPr>
              <a:t>点的电势能</a:t>
            </a:r>
            <a:r>
              <a:rPr lang="en-US" altLang="zh-CN" sz="2400" i="1">
                <a:solidFill>
                  <a:srgbClr val="FF0000"/>
                </a:solidFill>
                <a:ea typeface="楷体_GB2312"/>
              </a:rPr>
              <a:t>W</a:t>
            </a:r>
            <a:r>
              <a:rPr lang="en-US" altLang="zh-CN" sz="2800" i="1" baseline="-12000">
                <a:solidFill>
                  <a:srgbClr val="FF0000"/>
                </a:solidFill>
                <a:ea typeface="楷体_GB2312"/>
              </a:rPr>
              <a:t>A</a:t>
            </a:r>
            <a:r>
              <a:rPr lang="en-US" altLang="zh-CN" sz="2400">
                <a:ea typeface="楷体_GB2312"/>
              </a:rPr>
              <a:t> </a:t>
            </a:r>
            <a:r>
              <a:rPr lang="zh-CN" altLang="en-US" sz="2400">
                <a:ea typeface="楷体_GB2312"/>
              </a:rPr>
              <a:t>等于电荷</a:t>
            </a:r>
            <a:r>
              <a:rPr lang="en-US" altLang="zh-CN" sz="2800" i="1">
                <a:ea typeface="楷体_GB2312"/>
              </a:rPr>
              <a:t>q</a:t>
            </a:r>
            <a:r>
              <a:rPr lang="en-US" altLang="zh-CN" sz="2400" i="1" baseline="-16000">
                <a:ea typeface="楷体_GB2312"/>
              </a:rPr>
              <a:t>0</a:t>
            </a:r>
            <a:r>
              <a:rPr lang="zh-CN" altLang="en-US" sz="2400">
                <a:ea typeface="楷体_GB2312"/>
              </a:rPr>
              <a:t>自</a:t>
            </a:r>
            <a:r>
              <a:rPr lang="en-US" altLang="zh-CN" sz="2800" i="1">
                <a:ea typeface="楷体_GB2312"/>
              </a:rPr>
              <a:t>A</a:t>
            </a:r>
            <a:r>
              <a:rPr lang="zh-CN" altLang="en-US" sz="2400">
                <a:ea typeface="楷体_GB2312"/>
              </a:rPr>
              <a:t>点移至∞远电场力的功； 或</a:t>
            </a:r>
            <a:r>
              <a:rPr lang="en-US" altLang="zh-CN" sz="2400" i="1">
                <a:ea typeface="楷体_GB2312"/>
              </a:rPr>
              <a:t>W</a:t>
            </a:r>
            <a:r>
              <a:rPr lang="en-US" altLang="zh-CN" sz="2800" i="1" baseline="-12000">
                <a:ea typeface="楷体_GB2312"/>
              </a:rPr>
              <a:t>A</a:t>
            </a:r>
            <a:r>
              <a:rPr lang="en-US" altLang="zh-CN" sz="2400">
                <a:ea typeface="楷体_GB2312"/>
              </a:rPr>
              <a:t> </a:t>
            </a:r>
            <a:r>
              <a:rPr lang="zh-CN" altLang="en-US" sz="2400">
                <a:ea typeface="楷体_GB2312"/>
              </a:rPr>
              <a:t>等于电荷</a:t>
            </a:r>
            <a:r>
              <a:rPr lang="en-US" altLang="zh-CN" sz="2800" i="1">
                <a:ea typeface="楷体_GB2312"/>
              </a:rPr>
              <a:t>q</a:t>
            </a:r>
            <a:r>
              <a:rPr lang="en-US" altLang="zh-CN" sz="2400" i="1" baseline="-16000">
                <a:ea typeface="楷体_GB2312"/>
              </a:rPr>
              <a:t>0</a:t>
            </a:r>
            <a:r>
              <a:rPr lang="zh-CN" altLang="en-US" sz="2400">
                <a:ea typeface="楷体_GB2312"/>
              </a:rPr>
              <a:t>自∞远移至</a:t>
            </a:r>
            <a:r>
              <a:rPr lang="en-US" altLang="zh-CN" sz="2800" i="1">
                <a:ea typeface="楷体_GB2312"/>
              </a:rPr>
              <a:t>A</a:t>
            </a:r>
            <a:r>
              <a:rPr lang="zh-CN" altLang="en-US" sz="2400">
                <a:ea typeface="楷体_GB2312"/>
              </a:rPr>
              <a:t>点</a:t>
            </a:r>
            <a:r>
              <a:rPr lang="zh-CN" altLang="en-US" sz="2400">
                <a:solidFill>
                  <a:schemeClr val="folHlink"/>
                </a:solidFill>
                <a:ea typeface="楷体_GB2312"/>
              </a:rPr>
              <a:t>外力</a:t>
            </a:r>
            <a:r>
              <a:rPr lang="zh-CN" altLang="en-US" sz="2400">
                <a:ea typeface="楷体_GB2312"/>
              </a:rPr>
              <a:t>作的功。</a:t>
            </a:r>
          </a:p>
          <a:p>
            <a:pPr eaLnBrk="1" hangingPunct="1">
              <a:spcBef>
                <a:spcPct val="50000"/>
              </a:spcBef>
              <a:buClr>
                <a:srgbClr val="66FF33"/>
              </a:buClr>
              <a:buFontTx/>
              <a:buNone/>
            </a:pPr>
            <a:endParaRPr lang="zh-CN" altLang="en-US" sz="2400">
              <a:ea typeface="楷体_GB2312"/>
            </a:endParaRPr>
          </a:p>
        </p:txBody>
      </p:sp>
      <p:sp>
        <p:nvSpPr>
          <p:cNvPr id="236550" name="Text Box 6"/>
          <p:cNvSpPr txBox="1">
            <a:spLocks noChangeArrowheads="1"/>
          </p:cNvSpPr>
          <p:nvPr/>
        </p:nvSpPr>
        <p:spPr bwMode="auto">
          <a:xfrm>
            <a:off x="1058863" y="5016500"/>
            <a:ext cx="7543800" cy="163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66FF33"/>
              </a:buClr>
              <a:buFontTx/>
              <a:buNone/>
            </a:pPr>
            <a:r>
              <a:rPr lang="en-US" altLang="zh-CN" sz="2400">
                <a:ea typeface="楷体_GB2312"/>
              </a:rPr>
              <a:t>1</a:t>
            </a:r>
            <a:r>
              <a:rPr lang="zh-CN" altLang="en-US" sz="2400">
                <a:ea typeface="楷体_GB2312"/>
              </a:rPr>
              <a:t>、电势能属于电场（</a:t>
            </a:r>
            <a:r>
              <a:rPr lang="en-US" altLang="zh-CN" sz="2800" b="0" i="1">
                <a:ea typeface="楷体_GB2312"/>
              </a:rPr>
              <a:t>q </a:t>
            </a:r>
            <a:r>
              <a:rPr lang="zh-CN" altLang="en-US" sz="2400">
                <a:ea typeface="楷体_GB2312"/>
              </a:rPr>
              <a:t>激发）和试探电荷（</a:t>
            </a:r>
            <a:r>
              <a:rPr lang="en-US" altLang="zh-CN" sz="2800" b="0" i="1">
                <a:ea typeface="楷体_GB2312"/>
              </a:rPr>
              <a:t>q</a:t>
            </a:r>
            <a:r>
              <a:rPr lang="en-US" altLang="zh-CN" sz="2400" b="0" i="1" baseline="-16000">
                <a:ea typeface="楷体_GB2312"/>
              </a:rPr>
              <a:t>0 </a:t>
            </a:r>
            <a:r>
              <a:rPr lang="zh-CN" altLang="en-US" sz="2400">
                <a:ea typeface="楷体_GB2312"/>
              </a:rPr>
              <a:t>）共有；</a:t>
            </a:r>
          </a:p>
          <a:p>
            <a:pPr eaLnBrk="1" hangingPunct="1">
              <a:spcBef>
                <a:spcPct val="50000"/>
              </a:spcBef>
              <a:buClr>
                <a:srgbClr val="66FF33"/>
              </a:buClr>
              <a:buFontTx/>
              <a:buNone/>
            </a:pPr>
            <a:r>
              <a:rPr lang="en-US" altLang="zh-CN" sz="2400">
                <a:ea typeface="楷体_GB2312"/>
              </a:rPr>
              <a:t>2</a:t>
            </a:r>
            <a:r>
              <a:rPr lang="zh-CN" altLang="en-US" sz="2400">
                <a:ea typeface="楷体_GB2312"/>
              </a:rPr>
              <a:t>、电势能是标量，但是有正、有负；</a:t>
            </a:r>
          </a:p>
          <a:p>
            <a:pPr eaLnBrk="1" hangingPunct="1">
              <a:spcBef>
                <a:spcPct val="50000"/>
              </a:spcBef>
              <a:buClr>
                <a:srgbClr val="66FF33"/>
              </a:buClr>
              <a:buFontTx/>
              <a:buNone/>
            </a:pPr>
            <a:r>
              <a:rPr lang="en-US" altLang="zh-CN" sz="2400">
                <a:ea typeface="楷体_GB2312"/>
              </a:rPr>
              <a:t>3</a:t>
            </a:r>
            <a:r>
              <a:rPr lang="zh-CN" altLang="en-US" sz="2400">
                <a:ea typeface="楷体_GB2312"/>
              </a:rPr>
              <a:t>、电势能的参考点是可任选的。</a:t>
            </a:r>
          </a:p>
        </p:txBody>
      </p:sp>
      <p:graphicFrame>
        <p:nvGraphicFramePr>
          <p:cNvPr id="236551" name="Object 7"/>
          <p:cNvGraphicFramePr>
            <a:graphicFrameLocks noChangeAspect="1"/>
          </p:cNvGraphicFramePr>
          <p:nvPr/>
        </p:nvGraphicFramePr>
        <p:xfrm>
          <a:off x="3059113" y="2482850"/>
          <a:ext cx="2468562" cy="860425"/>
        </p:xfrm>
        <a:graphic>
          <a:graphicData uri="http://schemas.openxmlformats.org/presentationml/2006/ole">
            <mc:AlternateContent xmlns:mc="http://schemas.openxmlformats.org/markup-compatibility/2006">
              <mc:Choice xmlns:v="urn:schemas-microsoft-com:vml" Requires="v">
                <p:oleObj spid="_x0000_s85018" name="Equation" r:id="rId3" imgW="1066800" imgH="330200" progId="Equation.3">
                  <p:embed/>
                </p:oleObj>
              </mc:Choice>
              <mc:Fallback>
                <p:oleObj name="Equation" r:id="rId3" imgW="1066800" imgH="330200" progId="Equation.3">
                  <p:embed/>
                  <p:pic>
                    <p:nvPicPr>
                      <p:cNvPr id="2365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2482850"/>
                        <a:ext cx="246856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6553" name="Text Box 9"/>
          <p:cNvSpPr txBox="1">
            <a:spLocks noChangeArrowheads="1"/>
          </p:cNvSpPr>
          <p:nvPr/>
        </p:nvSpPr>
        <p:spPr bwMode="auto">
          <a:xfrm>
            <a:off x="265113" y="4735513"/>
            <a:ext cx="1908175" cy="368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a:solidFill>
                  <a:srgbClr val="FF0000"/>
                </a:solidFill>
                <a:ea typeface="楷体_GB2312"/>
              </a:rPr>
              <a:t>【</a:t>
            </a:r>
            <a:r>
              <a:rPr lang="zh-CN" altLang="en-US" sz="2400">
                <a:solidFill>
                  <a:srgbClr val="FF0000"/>
                </a:solidFill>
                <a:ea typeface="楷体_GB2312"/>
              </a:rPr>
              <a:t>讨论</a:t>
            </a:r>
            <a:r>
              <a:rPr lang="en-US" altLang="zh-CN" sz="2400">
                <a:solidFill>
                  <a:srgbClr val="FF0000"/>
                </a:solidFill>
                <a:ea typeface="楷体_GB2312"/>
              </a:rPr>
              <a:t>】</a:t>
            </a:r>
            <a:r>
              <a:rPr lang="zh-CN" altLang="en-US" sz="2400">
                <a:solidFill>
                  <a:srgbClr val="FF0000"/>
                </a:solidFill>
                <a:ea typeface="楷体_GB2312"/>
              </a:rPr>
              <a:t>：</a:t>
            </a:r>
          </a:p>
        </p:txBody>
      </p:sp>
      <p:graphicFrame>
        <p:nvGraphicFramePr>
          <p:cNvPr id="2" name="对象 1"/>
          <p:cNvGraphicFramePr>
            <a:graphicFrameLocks noChangeAspect="1"/>
          </p:cNvGraphicFramePr>
          <p:nvPr>
            <p:extLst/>
          </p:nvPr>
        </p:nvGraphicFramePr>
        <p:xfrm>
          <a:off x="3923928" y="577850"/>
          <a:ext cx="3270250" cy="1055688"/>
        </p:xfrm>
        <a:graphic>
          <a:graphicData uri="http://schemas.openxmlformats.org/presentationml/2006/ole">
            <mc:AlternateContent xmlns:mc="http://schemas.openxmlformats.org/markup-compatibility/2006">
              <mc:Choice xmlns:v="urn:schemas-microsoft-com:vml" Requires="v">
                <p:oleObj spid="_x0000_s85019" name="Equation" r:id="rId5" imgW="1650960" imgH="533160" progId="Equation.DSMT4">
                  <p:embed/>
                </p:oleObj>
              </mc:Choice>
              <mc:Fallback>
                <p:oleObj name="Equation" r:id="rId5" imgW="1650960" imgH="533160" progId="Equation.DSMT4">
                  <p:embed/>
                  <p:pic>
                    <p:nvPicPr>
                      <p:cNvPr id="2" name="对象 1"/>
                      <p:cNvPicPr>
                        <a:picLocks noChangeAspect="1" noChangeArrowheads="1"/>
                      </p:cNvPicPr>
                      <p:nvPr/>
                    </p:nvPicPr>
                    <p:blipFill>
                      <a:blip r:embed="rId6"/>
                      <a:srcRect/>
                      <a:stretch>
                        <a:fillRect/>
                      </a:stretch>
                    </p:blipFill>
                    <p:spPr bwMode="auto">
                      <a:xfrm>
                        <a:off x="3923928" y="577850"/>
                        <a:ext cx="3270250" cy="1055688"/>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3" name="对象 2"/>
          <p:cNvGraphicFramePr>
            <a:graphicFrameLocks noChangeAspect="1"/>
          </p:cNvGraphicFramePr>
          <p:nvPr>
            <p:extLst/>
          </p:nvPr>
        </p:nvGraphicFramePr>
        <p:xfrm>
          <a:off x="642335" y="621567"/>
          <a:ext cx="3293797" cy="967173"/>
        </p:xfrm>
        <a:graphic>
          <a:graphicData uri="http://schemas.openxmlformats.org/presentationml/2006/ole">
            <mc:AlternateContent xmlns:mc="http://schemas.openxmlformats.org/markup-compatibility/2006">
              <mc:Choice xmlns:v="urn:schemas-microsoft-com:vml" Requires="v">
                <p:oleObj spid="_x0000_s85020" name="Equation" r:id="rId7" imgW="1117600" imgH="330200" progId="Equation.DSMT4">
                  <p:embed/>
                </p:oleObj>
              </mc:Choice>
              <mc:Fallback>
                <p:oleObj name="Equation" r:id="rId7" imgW="1117600" imgH="330200" progId="Equation.DSMT4">
                  <p:embed/>
                  <p:pic>
                    <p:nvPicPr>
                      <p:cNvPr id="3"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335" y="621567"/>
                        <a:ext cx="3293797" cy="967173"/>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
        <p:nvSpPr>
          <p:cNvPr id="12" name="Text Box 4"/>
          <p:cNvSpPr txBox="1">
            <a:spLocks noChangeArrowheads="1"/>
          </p:cNvSpPr>
          <p:nvPr/>
        </p:nvSpPr>
        <p:spPr bwMode="auto">
          <a:xfrm>
            <a:off x="271463" y="0"/>
            <a:ext cx="8027987" cy="430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b="0">
                <a:solidFill>
                  <a:schemeClr val="hlink"/>
                </a:solidFill>
                <a:ea typeface="楷体_GB2312"/>
              </a:rPr>
              <a:t>点电荷电场中的电势能，</a:t>
            </a:r>
            <a:r>
              <a:rPr lang="en-US" altLang="zh-CN" sz="2800" b="0">
                <a:ea typeface="楷体_GB2312"/>
              </a:rPr>
              <a:t> </a:t>
            </a:r>
            <a:r>
              <a:rPr lang="zh-CN" altLang="en-US" sz="2800" b="0">
                <a:ea typeface="楷体_GB2312"/>
              </a:rPr>
              <a:t>当</a:t>
            </a:r>
            <a:r>
              <a:rPr lang="en-US" altLang="zh-CN" sz="2800" b="0" i="1">
                <a:ea typeface="楷体_GB2312"/>
              </a:rPr>
              <a:t>r</a:t>
            </a:r>
            <a:r>
              <a:rPr lang="en-US" altLang="zh-CN" sz="1000" b="0" i="1">
                <a:ea typeface="楷体_GB2312"/>
              </a:rPr>
              <a:t>B</a:t>
            </a:r>
            <a:r>
              <a:rPr lang="en-US" altLang="zh-CN" sz="2800" b="0">
                <a:ea typeface="楷体_GB2312"/>
              </a:rPr>
              <a:t>→∞</a:t>
            </a:r>
            <a:r>
              <a:rPr lang="zh-CN" altLang="en-US" sz="2800" b="0">
                <a:ea typeface="楷体_GB2312"/>
              </a:rPr>
              <a:t>时</a:t>
            </a:r>
            <a:r>
              <a:rPr lang="en-US" altLang="zh-CN" sz="2800" i="1">
                <a:ea typeface="楷体_GB2312"/>
              </a:rPr>
              <a:t>W</a:t>
            </a:r>
            <a:r>
              <a:rPr lang="en-US" altLang="zh-CN" sz="2800" i="1" baseline="-25000">
                <a:ea typeface="楷体_GB2312"/>
              </a:rPr>
              <a:t>PB</a:t>
            </a:r>
            <a:r>
              <a:rPr lang="en-US" altLang="zh-CN" sz="2800">
                <a:ea typeface="楷体_GB2312"/>
              </a:rPr>
              <a:t>=0</a:t>
            </a:r>
            <a:r>
              <a:rPr lang="zh-CN" altLang="en-US" sz="2800">
                <a:ea typeface="楷体_GB2312"/>
              </a:rPr>
              <a:t>，</a:t>
            </a:r>
            <a:endParaRPr lang="zh-CN" altLang="en-US" sz="2800">
              <a:solidFill>
                <a:schemeClr val="hlink"/>
              </a:solidFill>
              <a:ea typeface="楷体_GB2312"/>
            </a:endParaRPr>
          </a:p>
        </p:txBody>
      </p:sp>
    </p:spTree>
    <p:extLst>
      <p:ext uri="{BB962C8B-B14F-4D97-AF65-F5344CB8AC3E}">
        <p14:creationId xmlns:p14="http://schemas.microsoft.com/office/powerpoint/2010/main" val="97883180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36548"/>
                                        </p:tgtEl>
                                        <p:attrNameLst>
                                          <p:attrName>style.visibility</p:attrName>
                                        </p:attrNameLst>
                                      </p:cBhvr>
                                      <p:to>
                                        <p:strVal val="visible"/>
                                      </p:to>
                                    </p:set>
                                    <p:animEffect transition="in" filter="wipe(left)">
                                      <p:cBhvr>
                                        <p:cTn id="15" dur="500"/>
                                        <p:tgtEl>
                                          <p:spTgt spid="23654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36551"/>
                                        </p:tgtEl>
                                        <p:attrNameLst>
                                          <p:attrName>style.visibility</p:attrName>
                                        </p:attrNameLst>
                                      </p:cBhvr>
                                      <p:to>
                                        <p:strVal val="visible"/>
                                      </p:to>
                                    </p:set>
                                    <p:animEffect transition="in" filter="wipe(left)">
                                      <p:cBhvr>
                                        <p:cTn id="20" dur="500"/>
                                        <p:tgtEl>
                                          <p:spTgt spid="236551"/>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36549"/>
                                        </p:tgtEl>
                                        <p:attrNameLst>
                                          <p:attrName>style.visibility</p:attrName>
                                        </p:attrNameLst>
                                      </p:cBhvr>
                                      <p:to>
                                        <p:strVal val="visible"/>
                                      </p:to>
                                    </p:set>
                                    <p:animEffect transition="in" filter="wipe(left)">
                                      <p:cBhvr>
                                        <p:cTn id="24" dur="500"/>
                                        <p:tgtEl>
                                          <p:spTgt spid="23654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65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65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8" grpId="0" autoUpdateAnimBg="0"/>
      <p:bldP spid="236549" grpId="0" autoUpdateAnimBg="0"/>
      <p:bldP spid="236550" grpId="0"/>
      <p:bldP spid="236553"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323850" y="115888"/>
            <a:ext cx="382905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chemeClr val="folHlink"/>
                </a:solidFill>
                <a:latin typeface="Arial" panose="020B0604020202020204" pitchFamily="34" charset="0"/>
                <a:ea typeface="楷体_GB2312"/>
              </a:rPr>
              <a:t>二）、电势</a:t>
            </a:r>
          </a:p>
        </p:txBody>
      </p:sp>
      <p:sp>
        <p:nvSpPr>
          <p:cNvPr id="9219" name="Text Box 3"/>
          <p:cNvSpPr txBox="1">
            <a:spLocks noChangeArrowheads="1"/>
          </p:cNvSpPr>
          <p:nvPr/>
        </p:nvSpPr>
        <p:spPr bwMode="auto">
          <a:xfrm>
            <a:off x="0" y="620713"/>
            <a:ext cx="2587625"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3333FF"/>
                </a:solidFill>
                <a:ea typeface="楷体_GB2312"/>
              </a:rPr>
              <a:t>1</a:t>
            </a:r>
            <a:r>
              <a:rPr lang="zh-CN" altLang="en-US" sz="2800">
                <a:solidFill>
                  <a:srgbClr val="3333FF"/>
                </a:solidFill>
                <a:ea typeface="楷体_GB2312"/>
              </a:rPr>
              <a:t>、电势</a:t>
            </a:r>
            <a:endParaRPr lang="zh-CN" altLang="en-US" sz="3600">
              <a:solidFill>
                <a:srgbClr val="FF3300"/>
              </a:solidFill>
              <a:ea typeface="楷体_GB2312"/>
            </a:endParaRPr>
          </a:p>
        </p:txBody>
      </p:sp>
      <p:sp>
        <p:nvSpPr>
          <p:cNvPr id="221188" name="Text Box 4"/>
          <p:cNvSpPr txBox="1">
            <a:spLocks noChangeArrowheads="1"/>
          </p:cNvSpPr>
          <p:nvPr/>
        </p:nvSpPr>
        <p:spPr bwMode="auto">
          <a:xfrm>
            <a:off x="379011" y="2336066"/>
            <a:ext cx="8529513" cy="86395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500" dirty="0">
                <a:ea typeface="楷体_GB2312"/>
              </a:rPr>
              <a:t>比值 </a:t>
            </a:r>
            <a:r>
              <a:rPr lang="en-US" altLang="zh-CN" sz="2500" dirty="0">
                <a:ea typeface="楷体_GB2312"/>
              </a:rPr>
              <a:t>(</a:t>
            </a:r>
            <a:r>
              <a:rPr lang="en-US" altLang="zh-CN" sz="2500" i="1" dirty="0">
                <a:ea typeface="楷体_GB2312"/>
              </a:rPr>
              <a:t>W</a:t>
            </a:r>
            <a:r>
              <a:rPr lang="en-US" altLang="zh-CN" sz="2500" i="1" baseline="-25000" dirty="0">
                <a:ea typeface="楷体_GB2312"/>
              </a:rPr>
              <a:t>PA</a:t>
            </a:r>
            <a:r>
              <a:rPr lang="en-US" altLang="zh-CN" sz="2500" dirty="0">
                <a:ea typeface="楷体_GB2312"/>
              </a:rPr>
              <a:t>-</a:t>
            </a:r>
            <a:r>
              <a:rPr lang="en-US" altLang="zh-CN" sz="2500" i="1" dirty="0">
                <a:ea typeface="楷体_GB2312"/>
              </a:rPr>
              <a:t>W</a:t>
            </a:r>
            <a:r>
              <a:rPr lang="en-US" altLang="zh-CN" sz="2500" i="1" baseline="-25000" dirty="0">
                <a:ea typeface="楷体_GB2312"/>
              </a:rPr>
              <a:t>PB</a:t>
            </a:r>
            <a:r>
              <a:rPr lang="en-US" altLang="zh-CN" sz="2500" dirty="0">
                <a:ea typeface="楷体_GB2312"/>
              </a:rPr>
              <a:t>)/ </a:t>
            </a:r>
            <a:r>
              <a:rPr lang="en-US" altLang="zh-CN" sz="2500" i="1" dirty="0">
                <a:ea typeface="楷体_GB2312"/>
              </a:rPr>
              <a:t>q</a:t>
            </a:r>
            <a:r>
              <a:rPr lang="en-US" altLang="zh-CN" sz="2500" baseline="-25000" dirty="0">
                <a:ea typeface="楷体_GB2312"/>
              </a:rPr>
              <a:t>0</a:t>
            </a:r>
            <a:r>
              <a:rPr lang="zh-CN" altLang="en-US" sz="2500" dirty="0">
                <a:ea typeface="楷体_GB2312"/>
              </a:rPr>
              <a:t>与</a:t>
            </a:r>
            <a:r>
              <a:rPr lang="en-US" altLang="zh-CN" sz="2500" i="1" dirty="0">
                <a:ea typeface="楷体_GB2312"/>
              </a:rPr>
              <a:t>q</a:t>
            </a:r>
            <a:r>
              <a:rPr lang="en-US" altLang="zh-CN" sz="2500" baseline="-25000" dirty="0">
                <a:ea typeface="楷体_GB2312"/>
              </a:rPr>
              <a:t>0</a:t>
            </a:r>
            <a:r>
              <a:rPr lang="zh-CN" altLang="en-US" sz="2500" dirty="0">
                <a:ea typeface="楷体_GB2312"/>
              </a:rPr>
              <a:t>无关，只决定于电场的性质及场点的位置，所以这个比值是反映电场本身性质的物理量</a:t>
            </a:r>
            <a:r>
              <a:rPr lang="en-US" altLang="zh-CN" sz="2500" dirty="0">
                <a:ea typeface="楷体_GB2312"/>
              </a:rPr>
              <a:t>.</a:t>
            </a:r>
          </a:p>
        </p:txBody>
      </p:sp>
      <p:sp>
        <p:nvSpPr>
          <p:cNvPr id="221189" name="Text Box 5"/>
          <p:cNvSpPr txBox="1">
            <a:spLocks noChangeArrowheads="1"/>
          </p:cNvSpPr>
          <p:nvPr/>
        </p:nvSpPr>
        <p:spPr bwMode="auto">
          <a:xfrm>
            <a:off x="107504" y="3343835"/>
            <a:ext cx="8801020" cy="1017844"/>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000" dirty="0">
                <a:ea typeface="楷体_GB2312"/>
              </a:rPr>
              <a:t>静电场中带电体所具有的电势能与该带电体的电量的比值定义为电势。</a:t>
            </a:r>
            <a:endParaRPr lang="zh-CN" altLang="en-US" sz="3000" dirty="0">
              <a:solidFill>
                <a:srgbClr val="FF3300"/>
              </a:solidFill>
              <a:ea typeface="楷体_GB2312"/>
            </a:endParaRPr>
          </a:p>
        </p:txBody>
      </p:sp>
      <p:graphicFrame>
        <p:nvGraphicFramePr>
          <p:cNvPr id="221190" name="Object 6"/>
          <p:cNvGraphicFramePr>
            <a:graphicFrameLocks noChangeAspect="1"/>
          </p:cNvGraphicFramePr>
          <p:nvPr>
            <p:extLst/>
          </p:nvPr>
        </p:nvGraphicFramePr>
        <p:xfrm>
          <a:off x="311475" y="5172082"/>
          <a:ext cx="1865313" cy="531813"/>
        </p:xfrm>
        <a:graphic>
          <a:graphicData uri="http://schemas.openxmlformats.org/presentationml/2006/ole">
            <mc:AlternateContent xmlns:mc="http://schemas.openxmlformats.org/markup-compatibility/2006">
              <mc:Choice xmlns:v="urn:schemas-microsoft-com:vml" Requires="v">
                <p:oleObj spid="_x0000_s86074" name="公式" r:id="rId4" imgW="800100" imgH="228600" progId="Equation.3">
                  <p:embed/>
                </p:oleObj>
              </mc:Choice>
              <mc:Fallback>
                <p:oleObj name="公式" r:id="rId4" imgW="800100" imgH="228600" progId="Equation.3">
                  <p:embed/>
                  <p:pic>
                    <p:nvPicPr>
                      <p:cNvPr id="22119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475" y="5172082"/>
                        <a:ext cx="1865313" cy="5318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1191" name="Object 7"/>
          <p:cNvGraphicFramePr>
            <a:graphicFrameLocks noChangeAspect="1"/>
          </p:cNvGraphicFramePr>
          <p:nvPr>
            <p:extLst/>
          </p:nvPr>
        </p:nvGraphicFramePr>
        <p:xfrm>
          <a:off x="2869615" y="5156617"/>
          <a:ext cx="1893888" cy="531813"/>
        </p:xfrm>
        <a:graphic>
          <a:graphicData uri="http://schemas.openxmlformats.org/presentationml/2006/ole">
            <mc:AlternateContent xmlns:mc="http://schemas.openxmlformats.org/markup-compatibility/2006">
              <mc:Choice xmlns:v="urn:schemas-microsoft-com:vml" Requires="v">
                <p:oleObj spid="_x0000_s86075" name="公式" r:id="rId6" imgW="812447" imgH="228501" progId="Equation.3">
                  <p:embed/>
                </p:oleObj>
              </mc:Choice>
              <mc:Fallback>
                <p:oleObj name="公式" r:id="rId6" imgW="812447" imgH="228501" progId="Equation.3">
                  <p:embed/>
                  <p:pic>
                    <p:nvPicPr>
                      <p:cNvPr id="22119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69615" y="5156617"/>
                        <a:ext cx="1893888" cy="5318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1193" name="Text Box 9"/>
          <p:cNvSpPr txBox="1">
            <a:spLocks noChangeArrowheads="1"/>
          </p:cNvSpPr>
          <p:nvPr/>
        </p:nvSpPr>
        <p:spPr bwMode="auto">
          <a:xfrm>
            <a:off x="636127" y="5895311"/>
            <a:ext cx="4243029" cy="83317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dirty="0">
                <a:solidFill>
                  <a:srgbClr val="FF3300"/>
                </a:solidFill>
                <a:ea typeface="楷体_GB2312"/>
              </a:rPr>
              <a:t>当电荷分布在有限空间时</a:t>
            </a:r>
            <a:r>
              <a:rPr lang="zh-CN" altLang="en-US" sz="2400">
                <a:solidFill>
                  <a:srgbClr val="FF3300"/>
                </a:solidFill>
                <a:ea typeface="楷体_GB2312"/>
              </a:rPr>
              <a:t>，无穷远处</a:t>
            </a:r>
            <a:r>
              <a:rPr lang="zh-CN" altLang="en-US" sz="2400" dirty="0">
                <a:solidFill>
                  <a:srgbClr val="FF3300"/>
                </a:solidFill>
                <a:ea typeface="楷体_GB2312"/>
              </a:rPr>
              <a:t>的电势能和电势</a:t>
            </a:r>
            <a:r>
              <a:rPr lang="zh-CN" altLang="en-US" sz="2400">
                <a:solidFill>
                  <a:srgbClr val="FF3300"/>
                </a:solidFill>
                <a:ea typeface="楷体_GB2312"/>
              </a:rPr>
              <a:t>为零。</a:t>
            </a:r>
            <a:endParaRPr lang="zh-CN" altLang="en-US" sz="3600" dirty="0">
              <a:solidFill>
                <a:srgbClr val="FF3300"/>
              </a:solidFill>
              <a:ea typeface="楷体_GB2312"/>
            </a:endParaRPr>
          </a:p>
        </p:txBody>
      </p:sp>
      <p:graphicFrame>
        <p:nvGraphicFramePr>
          <p:cNvPr id="221194" name="Object 10"/>
          <p:cNvGraphicFramePr>
            <a:graphicFrameLocks noChangeAspect="1"/>
          </p:cNvGraphicFramePr>
          <p:nvPr>
            <p:extLst/>
          </p:nvPr>
        </p:nvGraphicFramePr>
        <p:xfrm>
          <a:off x="5523500" y="6009844"/>
          <a:ext cx="1816100" cy="701675"/>
        </p:xfrm>
        <a:graphic>
          <a:graphicData uri="http://schemas.openxmlformats.org/presentationml/2006/ole">
            <mc:AlternateContent xmlns:mc="http://schemas.openxmlformats.org/markup-compatibility/2006">
              <mc:Choice xmlns:v="urn:schemas-microsoft-com:vml" Requires="v">
                <p:oleObj spid="_x0000_s86076" name="公式" r:id="rId8" imgW="850531" imgH="330057" progId="Equation.3">
                  <p:embed/>
                </p:oleObj>
              </mc:Choice>
              <mc:Fallback>
                <p:oleObj name="公式" r:id="rId8" imgW="850531" imgH="330057" progId="Equation.3">
                  <p:embed/>
                  <p:pic>
                    <p:nvPicPr>
                      <p:cNvPr id="221194"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23500" y="6009844"/>
                        <a:ext cx="1816100" cy="7016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1196" name="Object 12"/>
          <p:cNvGraphicFramePr>
            <a:graphicFrameLocks noChangeAspect="1"/>
          </p:cNvGraphicFramePr>
          <p:nvPr>
            <p:extLst/>
          </p:nvPr>
        </p:nvGraphicFramePr>
        <p:xfrm>
          <a:off x="6379412" y="4848186"/>
          <a:ext cx="2524125" cy="701675"/>
        </p:xfrm>
        <a:graphic>
          <a:graphicData uri="http://schemas.openxmlformats.org/presentationml/2006/ole">
            <mc:AlternateContent xmlns:mc="http://schemas.openxmlformats.org/markup-compatibility/2006">
              <mc:Choice xmlns:v="urn:schemas-microsoft-com:vml" Requires="v">
                <p:oleObj spid="_x0000_s86077" name="Equation" r:id="rId10" imgW="1180588" imgH="330057" progId="Equation.DSMT4">
                  <p:embed/>
                </p:oleObj>
              </mc:Choice>
              <mc:Fallback>
                <p:oleObj name="Equation" r:id="rId10" imgW="1180588" imgH="330057" progId="Equation.DSMT4">
                  <p:embed/>
                  <p:pic>
                    <p:nvPicPr>
                      <p:cNvPr id="221196"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79412" y="4848186"/>
                        <a:ext cx="2524125" cy="7016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8" name="Object 13"/>
          <p:cNvGraphicFramePr>
            <a:graphicFrameLocks noChangeAspect="1"/>
          </p:cNvGraphicFramePr>
          <p:nvPr>
            <p:extLst/>
          </p:nvPr>
        </p:nvGraphicFramePr>
        <p:xfrm>
          <a:off x="4572000" y="1125538"/>
          <a:ext cx="3211513" cy="684212"/>
        </p:xfrm>
        <a:graphic>
          <a:graphicData uri="http://schemas.openxmlformats.org/presentationml/2006/ole">
            <mc:AlternateContent xmlns:mc="http://schemas.openxmlformats.org/markup-compatibility/2006">
              <mc:Choice xmlns:v="urn:schemas-microsoft-com:vml" Requires="v">
                <p:oleObj spid="_x0000_s86078" name="Equation" r:id="rId12" imgW="2108160" imgH="330120" progId="Equation.DSMT4">
                  <p:embed/>
                </p:oleObj>
              </mc:Choice>
              <mc:Fallback>
                <p:oleObj name="Equation" r:id="rId12" imgW="2108160" imgH="330120" progId="Equation.DSMT4">
                  <p:embed/>
                  <p:pic>
                    <p:nvPicPr>
                      <p:cNvPr id="9228" name="Object 13"/>
                      <p:cNvPicPr>
                        <a:picLocks noChangeAspect="1" noChangeArrowheads="1"/>
                      </p:cNvPicPr>
                      <p:nvPr/>
                    </p:nvPicPr>
                    <p:blipFill>
                      <a:blip r:embed="rId13"/>
                      <a:srcRect/>
                      <a:stretch>
                        <a:fillRect/>
                      </a:stretch>
                    </p:blipFill>
                    <p:spPr bwMode="auto">
                      <a:xfrm>
                        <a:off x="4572000" y="1125538"/>
                        <a:ext cx="321151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9" name="Text Box 14"/>
          <p:cNvSpPr txBox="1">
            <a:spLocks noChangeArrowheads="1"/>
          </p:cNvSpPr>
          <p:nvPr/>
        </p:nvSpPr>
        <p:spPr bwMode="auto">
          <a:xfrm>
            <a:off x="-180975" y="1268413"/>
            <a:ext cx="4386263"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800">
                <a:solidFill>
                  <a:srgbClr val="3333FF"/>
                </a:solidFill>
                <a:ea typeface="楷体_GB2312"/>
              </a:rPr>
              <a:t>根据电场力功的计算公式</a:t>
            </a:r>
            <a:endParaRPr lang="zh-CN" altLang="en-US" sz="3600">
              <a:solidFill>
                <a:srgbClr val="FF3300"/>
              </a:solidFill>
              <a:ea typeface="楷体_GB2312"/>
            </a:endParaRPr>
          </a:p>
        </p:txBody>
      </p:sp>
      <p:graphicFrame>
        <p:nvGraphicFramePr>
          <p:cNvPr id="14" name="Object 13"/>
          <p:cNvGraphicFramePr>
            <a:graphicFrameLocks noChangeAspect="1"/>
          </p:cNvGraphicFramePr>
          <p:nvPr>
            <p:extLst/>
          </p:nvPr>
        </p:nvGraphicFramePr>
        <p:xfrm>
          <a:off x="663575" y="1631950"/>
          <a:ext cx="4845050" cy="684213"/>
        </p:xfrm>
        <a:graphic>
          <a:graphicData uri="http://schemas.openxmlformats.org/presentationml/2006/ole">
            <mc:AlternateContent xmlns:mc="http://schemas.openxmlformats.org/markup-compatibility/2006">
              <mc:Choice xmlns:v="urn:schemas-microsoft-com:vml" Requires="v">
                <p:oleObj spid="_x0000_s86079" name="Equation" r:id="rId14" imgW="2781000" imgH="330120" progId="Equation.DSMT4">
                  <p:embed/>
                </p:oleObj>
              </mc:Choice>
              <mc:Fallback>
                <p:oleObj name="Equation" r:id="rId14" imgW="2781000" imgH="330120" progId="Equation.DSMT4">
                  <p:embed/>
                  <p:pic>
                    <p:nvPicPr>
                      <p:cNvPr id="14" name="Object 13"/>
                      <p:cNvPicPr>
                        <a:picLocks noChangeAspect="1" noChangeArrowheads="1"/>
                      </p:cNvPicPr>
                      <p:nvPr/>
                    </p:nvPicPr>
                    <p:blipFill>
                      <a:blip r:embed="rId15"/>
                      <a:srcRect/>
                      <a:stretch>
                        <a:fillRect/>
                      </a:stretch>
                    </p:blipFill>
                    <p:spPr bwMode="auto">
                      <a:xfrm>
                        <a:off x="663575" y="1631950"/>
                        <a:ext cx="4845050" cy="684213"/>
                      </a:xfrm>
                      <a:prstGeom prst="rect">
                        <a:avLst/>
                      </a:prstGeom>
                      <a:noFill/>
                      <a:ln>
                        <a:noFill/>
                      </a:ln>
                      <a:extLst/>
                    </p:spPr>
                  </p:pic>
                </p:oleObj>
              </mc:Fallback>
            </mc:AlternateContent>
          </a:graphicData>
        </a:graphic>
      </p:graphicFrame>
      <p:graphicFrame>
        <p:nvGraphicFramePr>
          <p:cNvPr id="15" name="Object 13">
            <a:extLst>
              <a:ext uri="{FF2B5EF4-FFF2-40B4-BE49-F238E27FC236}">
                <a16:creationId xmlns:a16="http://schemas.microsoft.com/office/drawing/2014/main" id="{BBC6A9FE-DBAD-404B-90DB-EE5FC7838F74}"/>
              </a:ext>
            </a:extLst>
          </p:cNvPr>
          <p:cNvGraphicFramePr>
            <a:graphicFrameLocks noChangeAspect="1"/>
          </p:cNvGraphicFramePr>
          <p:nvPr>
            <p:extLst/>
          </p:nvPr>
        </p:nvGraphicFramePr>
        <p:xfrm>
          <a:off x="214837" y="4279122"/>
          <a:ext cx="5862637" cy="684212"/>
        </p:xfrm>
        <a:graphic>
          <a:graphicData uri="http://schemas.openxmlformats.org/presentationml/2006/ole">
            <mc:AlternateContent xmlns:mc="http://schemas.openxmlformats.org/markup-compatibility/2006">
              <mc:Choice xmlns:v="urn:schemas-microsoft-com:vml" Requires="v">
                <p:oleObj spid="_x0000_s86080" name="Equation" r:id="rId16" imgW="3365280" imgH="330120" progId="Equation.DSMT4">
                  <p:embed/>
                </p:oleObj>
              </mc:Choice>
              <mc:Fallback>
                <p:oleObj name="Equation" r:id="rId16" imgW="3365280" imgH="330120" progId="Equation.DSMT4">
                  <p:embed/>
                  <p:pic>
                    <p:nvPicPr>
                      <p:cNvPr id="15" name="Object 13">
                        <a:extLst>
                          <a:ext uri="{FF2B5EF4-FFF2-40B4-BE49-F238E27FC236}">
                            <a16:creationId xmlns:a16="http://schemas.microsoft.com/office/drawing/2014/main" id="{BBC6A9FE-DBAD-404B-90DB-EE5FC7838F74}"/>
                          </a:ext>
                        </a:extLst>
                      </p:cNvPr>
                      <p:cNvPicPr>
                        <a:picLocks noChangeAspect="1" noChangeArrowheads="1"/>
                      </p:cNvPicPr>
                      <p:nvPr/>
                    </p:nvPicPr>
                    <p:blipFill>
                      <a:blip r:embed="rId17"/>
                      <a:srcRect/>
                      <a:stretch>
                        <a:fillRect/>
                      </a:stretch>
                    </p:blipFill>
                    <p:spPr bwMode="auto">
                      <a:xfrm>
                        <a:off x="214837" y="4279122"/>
                        <a:ext cx="5862637" cy="684212"/>
                      </a:xfrm>
                      <a:prstGeom prst="rect">
                        <a:avLst/>
                      </a:prstGeom>
                      <a:noFill/>
                      <a:ln>
                        <a:noFill/>
                      </a:ln>
                      <a:extLst/>
                    </p:spPr>
                  </p:pic>
                </p:oleObj>
              </mc:Fallback>
            </mc:AlternateContent>
          </a:graphicData>
        </a:graphic>
      </p:graphicFrame>
      <p:pic>
        <p:nvPicPr>
          <p:cNvPr id="4" name="图片 3">
            <a:extLst>
              <a:ext uri="{FF2B5EF4-FFF2-40B4-BE49-F238E27FC236}">
                <a16:creationId xmlns:a16="http://schemas.microsoft.com/office/drawing/2014/main" id="{60DCE8C1-EB91-428D-9C31-3C9FCF0DB1A1}"/>
              </a:ext>
            </a:extLst>
          </p:cNvPr>
          <p:cNvPicPr>
            <a:picLocks noChangeAspect="1"/>
          </p:cNvPicPr>
          <p:nvPr/>
        </p:nvPicPr>
        <p:blipFill>
          <a:blip r:embed="rId18"/>
          <a:stretch>
            <a:fillRect/>
          </a:stretch>
        </p:blipFill>
        <p:spPr>
          <a:xfrm>
            <a:off x="240463" y="4361679"/>
            <a:ext cx="5867400" cy="685800"/>
          </a:xfrm>
          <a:prstGeom prst="rect">
            <a:avLst/>
          </a:prstGeom>
        </p:spPr>
      </p:pic>
    </p:spTree>
    <p:extLst>
      <p:ext uri="{BB962C8B-B14F-4D97-AF65-F5344CB8AC3E}">
        <p14:creationId xmlns:p14="http://schemas.microsoft.com/office/powerpoint/2010/main" val="155942180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21188"/>
                                        </p:tgtEl>
                                        <p:attrNameLst>
                                          <p:attrName>style.visibility</p:attrName>
                                        </p:attrNameLst>
                                      </p:cBhvr>
                                      <p:to>
                                        <p:strVal val="visible"/>
                                      </p:to>
                                    </p:set>
                                    <p:animEffect transition="in" filter="wipe(left)">
                                      <p:cBhvr>
                                        <p:cTn id="7" dur="75"/>
                                        <p:tgtEl>
                                          <p:spTgt spid="221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21189"/>
                                        </p:tgtEl>
                                        <p:attrNameLst>
                                          <p:attrName>style.visibility</p:attrName>
                                        </p:attrNameLst>
                                      </p:cBhvr>
                                      <p:to>
                                        <p:strVal val="visible"/>
                                      </p:to>
                                    </p:set>
                                    <p:animEffect transition="in" filter="wipe(left)">
                                      <p:cBhvr>
                                        <p:cTn id="12" dur="75"/>
                                        <p:tgtEl>
                                          <p:spTgt spid="2211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21190"/>
                                        </p:tgtEl>
                                        <p:attrNameLst>
                                          <p:attrName>style.visibility</p:attrName>
                                        </p:attrNameLst>
                                      </p:cBhvr>
                                      <p:to>
                                        <p:strVal val="visible"/>
                                      </p:to>
                                    </p:set>
                                    <p:animEffect transition="in" filter="wipe(left)">
                                      <p:cBhvr>
                                        <p:cTn id="25" dur="500"/>
                                        <p:tgtEl>
                                          <p:spTgt spid="22119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21191"/>
                                        </p:tgtEl>
                                        <p:attrNameLst>
                                          <p:attrName>style.visibility</p:attrName>
                                        </p:attrNameLst>
                                      </p:cBhvr>
                                      <p:to>
                                        <p:strVal val="visible"/>
                                      </p:to>
                                    </p:set>
                                    <p:animEffect transition="in" filter="wipe(left)">
                                      <p:cBhvr>
                                        <p:cTn id="30" dur="500"/>
                                        <p:tgtEl>
                                          <p:spTgt spid="22119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1196"/>
                                        </p:tgtEl>
                                        <p:attrNameLst>
                                          <p:attrName>style.visibility</p:attrName>
                                        </p:attrNameLst>
                                      </p:cBhvr>
                                      <p:to>
                                        <p:strVal val="visible"/>
                                      </p:to>
                                    </p:set>
                                    <p:animEffect transition="in" filter="wipe(left)">
                                      <p:cBhvr>
                                        <p:cTn id="35" dur="500"/>
                                        <p:tgtEl>
                                          <p:spTgt spid="22119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iterate type="lt">
                                    <p:tmPct val="100000"/>
                                  </p:iterate>
                                  <p:childTnLst>
                                    <p:set>
                                      <p:cBhvr>
                                        <p:cTn id="39" dur="1" fill="hold">
                                          <p:stCondLst>
                                            <p:cond delay="0"/>
                                          </p:stCondLst>
                                        </p:cTn>
                                        <p:tgtEl>
                                          <p:spTgt spid="221193"/>
                                        </p:tgtEl>
                                        <p:attrNameLst>
                                          <p:attrName>style.visibility</p:attrName>
                                        </p:attrNameLst>
                                      </p:cBhvr>
                                      <p:to>
                                        <p:strVal val="visible"/>
                                      </p:to>
                                    </p:set>
                                    <p:animEffect transition="in" filter="wipe(left)">
                                      <p:cBhvr>
                                        <p:cTn id="40" dur="75"/>
                                        <p:tgtEl>
                                          <p:spTgt spid="22119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21194"/>
                                        </p:tgtEl>
                                        <p:attrNameLst>
                                          <p:attrName>style.visibility</p:attrName>
                                        </p:attrNameLst>
                                      </p:cBhvr>
                                      <p:to>
                                        <p:strVal val="visible"/>
                                      </p:to>
                                    </p:set>
                                    <p:animEffect transition="in" filter="wipe(left)">
                                      <p:cBhvr>
                                        <p:cTn id="45" dur="500"/>
                                        <p:tgtEl>
                                          <p:spTgt spid="221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utoUpdateAnimBg="0"/>
      <p:bldP spid="221189" grpId="0" animBg="1" autoUpdateAnimBg="0"/>
      <p:bldP spid="22119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8"/>
          <p:cNvSpPr txBox="1">
            <a:spLocks noChangeArrowheads="1"/>
          </p:cNvSpPr>
          <p:nvPr/>
        </p:nvSpPr>
        <p:spPr bwMode="auto">
          <a:xfrm>
            <a:off x="185738" y="620713"/>
            <a:ext cx="8958262" cy="3792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1"/>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
                <a:srgbClr val="66FF33"/>
              </a:buClr>
              <a:buFontTx/>
              <a:buNone/>
            </a:pPr>
            <a:r>
              <a:rPr lang="en-US" altLang="zh-CN" sz="2000">
                <a:ea typeface="楷体_GB2312"/>
              </a:rPr>
              <a:t>1</a:t>
            </a:r>
            <a:r>
              <a:rPr lang="zh-CN" altLang="en-US" sz="2000">
                <a:ea typeface="楷体_GB2312"/>
              </a:rPr>
              <a:t>、电势</a:t>
            </a:r>
            <a:r>
              <a:rPr lang="en-US" altLang="zh-CN" sz="2000" b="0" i="1">
                <a:ea typeface="楷体_GB2312"/>
              </a:rPr>
              <a:t>V</a:t>
            </a:r>
            <a:r>
              <a:rPr lang="en-US" altLang="zh-CN" sz="2000" b="0" i="1" baseline="-12000">
                <a:ea typeface="楷体_GB2312"/>
              </a:rPr>
              <a:t>A</a:t>
            </a:r>
            <a:r>
              <a:rPr lang="en-US" altLang="zh-CN" sz="2000">
                <a:ea typeface="楷体_GB2312"/>
              </a:rPr>
              <a:t> </a:t>
            </a:r>
            <a:r>
              <a:rPr lang="zh-CN" altLang="en-US" sz="2000">
                <a:ea typeface="楷体_GB2312"/>
              </a:rPr>
              <a:t>等于</a:t>
            </a:r>
            <a:r>
              <a:rPr lang="zh-CN" altLang="en-US" sz="2000">
                <a:solidFill>
                  <a:schemeClr val="folHlink"/>
                </a:solidFill>
                <a:ea typeface="楷体_GB2312"/>
              </a:rPr>
              <a:t>单位正电荷</a:t>
            </a:r>
            <a:r>
              <a:rPr lang="zh-CN" altLang="en-US" sz="2000">
                <a:ea typeface="楷体_GB2312"/>
              </a:rPr>
              <a:t>自</a:t>
            </a:r>
            <a:r>
              <a:rPr lang="en-US" altLang="zh-CN" sz="2000" b="0" i="1">
                <a:ea typeface="楷体_GB2312"/>
              </a:rPr>
              <a:t>A</a:t>
            </a:r>
            <a:r>
              <a:rPr lang="zh-CN" altLang="en-US" sz="2000">
                <a:ea typeface="楷体_GB2312"/>
              </a:rPr>
              <a:t>点移至∞远</a:t>
            </a:r>
            <a:r>
              <a:rPr lang="zh-CN" altLang="en-US" sz="2000">
                <a:solidFill>
                  <a:schemeClr val="folHlink"/>
                </a:solidFill>
                <a:ea typeface="楷体_GB2312"/>
              </a:rPr>
              <a:t>电场力</a:t>
            </a:r>
            <a:r>
              <a:rPr lang="zh-CN" altLang="en-US" sz="2000">
                <a:ea typeface="楷体_GB2312"/>
              </a:rPr>
              <a:t>的功，或等于</a:t>
            </a:r>
            <a:r>
              <a:rPr lang="zh-CN" altLang="en-US" sz="2000">
                <a:solidFill>
                  <a:schemeClr val="folHlink"/>
                </a:solidFill>
                <a:ea typeface="楷体_GB2312"/>
              </a:rPr>
              <a:t>单位正电荷</a:t>
            </a:r>
            <a:r>
              <a:rPr lang="zh-CN" altLang="en-US" sz="2000">
                <a:ea typeface="楷体_GB2312"/>
              </a:rPr>
              <a:t>自∞远移至</a:t>
            </a:r>
            <a:r>
              <a:rPr lang="en-US" altLang="zh-CN" sz="2000" b="0" i="1">
                <a:ea typeface="楷体_GB2312"/>
              </a:rPr>
              <a:t>A</a:t>
            </a:r>
            <a:r>
              <a:rPr lang="zh-CN" altLang="en-US" sz="2000">
                <a:ea typeface="楷体_GB2312"/>
              </a:rPr>
              <a:t>点</a:t>
            </a:r>
            <a:r>
              <a:rPr lang="zh-CN" altLang="en-US" sz="2000">
                <a:solidFill>
                  <a:schemeClr val="folHlink"/>
                </a:solidFill>
                <a:ea typeface="楷体_GB2312"/>
              </a:rPr>
              <a:t>外力的功</a:t>
            </a:r>
            <a:r>
              <a:rPr lang="zh-CN" altLang="en-US" sz="2000">
                <a:ea typeface="楷体_GB2312"/>
              </a:rPr>
              <a:t>；</a:t>
            </a:r>
          </a:p>
          <a:p>
            <a:pPr eaLnBrk="1" hangingPunct="1">
              <a:lnSpc>
                <a:spcPct val="150000"/>
              </a:lnSpc>
              <a:spcBef>
                <a:spcPct val="0"/>
              </a:spcBef>
              <a:buClr>
                <a:srgbClr val="66FF33"/>
              </a:buClr>
              <a:buFontTx/>
              <a:buNone/>
            </a:pPr>
            <a:r>
              <a:rPr lang="en-US" altLang="zh-CN" sz="2000">
                <a:ea typeface="楷体_GB2312"/>
              </a:rPr>
              <a:t>2</a:t>
            </a:r>
            <a:r>
              <a:rPr lang="zh-CN" altLang="en-US" sz="2000">
                <a:ea typeface="楷体_GB2312"/>
              </a:rPr>
              <a:t>、电势是标量，但是有正、有负；</a:t>
            </a:r>
          </a:p>
          <a:p>
            <a:pPr eaLnBrk="1" hangingPunct="1">
              <a:lnSpc>
                <a:spcPct val="150000"/>
              </a:lnSpc>
              <a:spcBef>
                <a:spcPct val="0"/>
              </a:spcBef>
              <a:buClr>
                <a:srgbClr val="66FF33"/>
              </a:buClr>
              <a:buFontTx/>
              <a:buNone/>
            </a:pPr>
            <a:r>
              <a:rPr lang="en-US" altLang="zh-CN" sz="2000">
                <a:ea typeface="楷体_GB2312"/>
              </a:rPr>
              <a:t>3</a:t>
            </a:r>
            <a:r>
              <a:rPr lang="zh-CN" altLang="en-US" sz="2000">
                <a:ea typeface="楷体_GB2312"/>
              </a:rPr>
              <a:t>、电势的单位：伏特 </a:t>
            </a:r>
            <a:r>
              <a:rPr lang="en-US" altLang="zh-CN" sz="2000">
                <a:ea typeface="楷体_GB2312"/>
              </a:rPr>
              <a:t>1V=1J.C</a:t>
            </a:r>
            <a:r>
              <a:rPr lang="en-US" altLang="zh-CN" sz="2000" baseline="30000">
                <a:ea typeface="楷体_GB2312"/>
              </a:rPr>
              <a:t>-1</a:t>
            </a:r>
            <a:r>
              <a:rPr lang="zh-CN" altLang="en-US" sz="2000">
                <a:ea typeface="楷体_GB2312"/>
              </a:rPr>
              <a:t>；</a:t>
            </a:r>
          </a:p>
          <a:p>
            <a:pPr eaLnBrk="1" hangingPunct="1">
              <a:lnSpc>
                <a:spcPct val="150000"/>
              </a:lnSpc>
              <a:spcBef>
                <a:spcPct val="0"/>
              </a:spcBef>
              <a:buClr>
                <a:srgbClr val="66FF33"/>
              </a:buClr>
              <a:buFontTx/>
              <a:buNone/>
            </a:pPr>
            <a:r>
              <a:rPr lang="en-US" altLang="zh-CN" sz="2000">
                <a:ea typeface="楷体_GB2312"/>
              </a:rPr>
              <a:t>4</a:t>
            </a:r>
            <a:r>
              <a:rPr lang="zh-CN" altLang="en-US" sz="2000">
                <a:ea typeface="楷体_GB2312"/>
              </a:rPr>
              <a:t>、电势具有相对意义</a:t>
            </a:r>
            <a:r>
              <a:rPr lang="en-US" altLang="zh-CN" sz="2000">
                <a:ea typeface="楷体_GB2312"/>
              </a:rPr>
              <a:t>,</a:t>
            </a:r>
            <a:r>
              <a:rPr lang="zh-CN" altLang="en-US" sz="2000">
                <a:ea typeface="楷体_GB2312"/>
              </a:rPr>
              <a:t>它决定于电势零点的选择。     </a:t>
            </a:r>
          </a:p>
          <a:p>
            <a:pPr eaLnBrk="1" hangingPunct="1">
              <a:lnSpc>
                <a:spcPct val="150000"/>
              </a:lnSpc>
              <a:buFontTx/>
              <a:buNone/>
            </a:pPr>
            <a:r>
              <a:rPr lang="zh-CN" altLang="en-US" sz="2000">
                <a:ea typeface="楷体_GB2312"/>
              </a:rPr>
              <a:t>   在理论计算中，通常选择无穷远处的电势为零；在实际工作中，通常</a:t>
            </a:r>
            <a:r>
              <a:rPr lang="zh-CN" altLang="en-US" sz="2000">
                <a:solidFill>
                  <a:srgbClr val="FF0000"/>
                </a:solidFill>
                <a:ea typeface="楷体_GB2312"/>
              </a:rPr>
              <a:t>选择地面的电势为零 </a:t>
            </a:r>
            <a:r>
              <a:rPr lang="zh-CN" altLang="en-US" sz="2000">
                <a:ea typeface="楷体_GB2312"/>
              </a:rPr>
              <a:t>但是对于“无限大”或“无限长”的带电体，只能在有限的范围内选取某点为电势的零点。</a:t>
            </a:r>
          </a:p>
        </p:txBody>
      </p:sp>
      <p:graphicFrame>
        <p:nvGraphicFramePr>
          <p:cNvPr id="10243" name="Object 16"/>
          <p:cNvGraphicFramePr>
            <a:graphicFrameLocks noChangeAspect="1"/>
          </p:cNvGraphicFramePr>
          <p:nvPr/>
        </p:nvGraphicFramePr>
        <p:xfrm>
          <a:off x="6011863" y="1412875"/>
          <a:ext cx="2771775" cy="1073150"/>
        </p:xfrm>
        <a:graphic>
          <a:graphicData uri="http://schemas.openxmlformats.org/presentationml/2006/ole">
            <mc:AlternateContent xmlns:mc="http://schemas.openxmlformats.org/markup-compatibility/2006">
              <mc:Choice xmlns:v="urn:schemas-microsoft-com:vml" Requires="v">
                <p:oleObj spid="_x0000_s87066" name="公式" r:id="rId3" imgW="850531" imgH="330057" progId="Equation.3">
                  <p:embed/>
                </p:oleObj>
              </mc:Choice>
              <mc:Fallback>
                <p:oleObj name="公式" r:id="rId3" imgW="850531" imgH="330057" progId="Equation.3">
                  <p:embed/>
                  <p:pic>
                    <p:nvPicPr>
                      <p:cNvPr id="10243"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1412875"/>
                        <a:ext cx="2771775" cy="10731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4" name="Text Box 17"/>
          <p:cNvSpPr txBox="1">
            <a:spLocks noChangeArrowheads="1"/>
          </p:cNvSpPr>
          <p:nvPr/>
        </p:nvSpPr>
        <p:spPr bwMode="auto">
          <a:xfrm>
            <a:off x="323850" y="188913"/>
            <a:ext cx="2074863"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3333FF"/>
                </a:solidFill>
                <a:ea typeface="楷体_GB2312"/>
              </a:rPr>
              <a:t>2</a:t>
            </a:r>
            <a:r>
              <a:rPr lang="zh-CN" altLang="en-US" sz="2800">
                <a:solidFill>
                  <a:srgbClr val="3333FF"/>
                </a:solidFill>
                <a:ea typeface="楷体_GB2312"/>
              </a:rPr>
              <a:t>、说明：</a:t>
            </a:r>
            <a:endParaRPr lang="zh-CN" altLang="en-US" sz="3600">
              <a:solidFill>
                <a:srgbClr val="FF3300"/>
              </a:solidFill>
              <a:ea typeface="楷体_GB2312"/>
            </a:endParaRPr>
          </a:p>
        </p:txBody>
      </p:sp>
      <p:sp>
        <p:nvSpPr>
          <p:cNvPr id="10245" name="Text Box 18"/>
          <p:cNvSpPr txBox="1">
            <a:spLocks noChangeArrowheads="1"/>
          </p:cNvSpPr>
          <p:nvPr/>
        </p:nvSpPr>
        <p:spPr bwMode="auto">
          <a:xfrm>
            <a:off x="179388" y="4616450"/>
            <a:ext cx="2232025"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3</a:t>
            </a:r>
            <a:r>
              <a:rPr lang="zh-CN" altLang="en-US" sz="2800">
                <a:solidFill>
                  <a:srgbClr val="3333FF"/>
                </a:solidFill>
                <a:ea typeface="楷体_GB2312"/>
              </a:rPr>
              <a:t>、电势差</a:t>
            </a:r>
            <a:endParaRPr lang="zh-CN" altLang="en-US" sz="3600">
              <a:solidFill>
                <a:srgbClr val="FF3300"/>
              </a:solidFill>
              <a:ea typeface="楷体_GB2312"/>
            </a:endParaRPr>
          </a:p>
        </p:txBody>
      </p:sp>
      <p:sp>
        <p:nvSpPr>
          <p:cNvPr id="10246" name="Text Box 19"/>
          <p:cNvSpPr txBox="1">
            <a:spLocks noChangeArrowheads="1"/>
          </p:cNvSpPr>
          <p:nvPr/>
        </p:nvSpPr>
        <p:spPr bwMode="auto">
          <a:xfrm>
            <a:off x="1906588" y="4637654"/>
            <a:ext cx="6986587" cy="71006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solidFill>
                  <a:schemeClr val="folHlink"/>
                </a:solidFill>
                <a:ea typeface="楷体_GB2312"/>
              </a:rPr>
              <a:t>在静电场中，任意两点</a:t>
            </a:r>
            <a:r>
              <a:rPr lang="en-US" altLang="zh-CN" sz="2000">
                <a:solidFill>
                  <a:schemeClr val="folHlink"/>
                </a:solidFill>
                <a:ea typeface="楷体_GB2312"/>
              </a:rPr>
              <a:t>A</a:t>
            </a:r>
            <a:r>
              <a:rPr lang="zh-CN" altLang="en-US" sz="2000">
                <a:solidFill>
                  <a:schemeClr val="folHlink"/>
                </a:solidFill>
                <a:ea typeface="楷体_GB2312"/>
              </a:rPr>
              <a:t>和点</a:t>
            </a:r>
            <a:r>
              <a:rPr lang="en-US" altLang="zh-CN" sz="2000">
                <a:solidFill>
                  <a:schemeClr val="folHlink"/>
                </a:solidFill>
                <a:ea typeface="楷体_GB2312"/>
              </a:rPr>
              <a:t>B</a:t>
            </a:r>
            <a:r>
              <a:rPr lang="zh-CN" altLang="en-US" sz="2000">
                <a:solidFill>
                  <a:schemeClr val="folHlink"/>
                </a:solidFill>
                <a:ea typeface="楷体_GB2312"/>
              </a:rPr>
              <a:t>之间的电势之差，称为</a:t>
            </a:r>
            <a:r>
              <a:rPr lang="zh-CN" altLang="en-US" sz="2000">
                <a:solidFill>
                  <a:schemeClr val="hlink"/>
                </a:solidFill>
                <a:ea typeface="楷体_GB2312"/>
              </a:rPr>
              <a:t>电势差</a:t>
            </a:r>
            <a:r>
              <a:rPr lang="zh-CN" altLang="en-US" sz="2000">
                <a:solidFill>
                  <a:schemeClr val="folHlink"/>
                </a:solidFill>
                <a:ea typeface="楷体_GB2312"/>
              </a:rPr>
              <a:t>，也叫</a:t>
            </a:r>
            <a:r>
              <a:rPr lang="zh-CN" altLang="en-US" sz="2000">
                <a:solidFill>
                  <a:schemeClr val="hlink"/>
                </a:solidFill>
                <a:ea typeface="楷体_GB2312"/>
              </a:rPr>
              <a:t>电压</a:t>
            </a:r>
            <a:r>
              <a:rPr lang="zh-CN" altLang="en-US" sz="2000">
                <a:solidFill>
                  <a:schemeClr val="folHlink"/>
                </a:solidFill>
                <a:ea typeface="楷体_GB2312"/>
              </a:rPr>
              <a:t>。</a:t>
            </a:r>
          </a:p>
        </p:txBody>
      </p:sp>
      <p:graphicFrame>
        <p:nvGraphicFramePr>
          <p:cNvPr id="10247" name="Object 20"/>
          <p:cNvGraphicFramePr>
            <a:graphicFrameLocks noChangeAspect="1"/>
          </p:cNvGraphicFramePr>
          <p:nvPr/>
        </p:nvGraphicFramePr>
        <p:xfrm>
          <a:off x="5364163" y="5013325"/>
          <a:ext cx="2841625" cy="565150"/>
        </p:xfrm>
        <a:graphic>
          <a:graphicData uri="http://schemas.openxmlformats.org/presentationml/2006/ole">
            <mc:AlternateContent xmlns:mc="http://schemas.openxmlformats.org/markup-compatibility/2006">
              <mc:Choice xmlns:v="urn:schemas-microsoft-com:vml" Requires="v">
                <p:oleObj spid="_x0000_s87067" name="公式" r:id="rId5" imgW="1459866" imgH="291973" progId="Equation.3">
                  <p:embed/>
                </p:oleObj>
              </mc:Choice>
              <mc:Fallback>
                <p:oleObj name="公式" r:id="rId5" imgW="1459866" imgH="291973" progId="Equation.3">
                  <p:embed/>
                  <p:pic>
                    <p:nvPicPr>
                      <p:cNvPr id="10247"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5013325"/>
                        <a:ext cx="2841625" cy="565150"/>
                      </a:xfrm>
                      <a:prstGeom prst="rect">
                        <a:avLst/>
                      </a:prstGeom>
                      <a:solidFill>
                        <a:srgbClr val="CCFFFF"/>
                      </a:solidFill>
                      <a:ln>
                        <a:noFill/>
                      </a:ln>
                      <a:effectLst/>
                      <a:extLs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8" name="Text Box 21"/>
          <p:cNvSpPr txBox="1">
            <a:spLocks noChangeArrowheads="1"/>
          </p:cNvSpPr>
          <p:nvPr/>
        </p:nvSpPr>
        <p:spPr bwMode="auto">
          <a:xfrm>
            <a:off x="107950" y="5568028"/>
            <a:ext cx="4824413" cy="1017844"/>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a:latin typeface="楷体_GB2312"/>
                <a:ea typeface="楷体_GB2312"/>
              </a:rPr>
              <a:t>静电场中任意两点</a:t>
            </a:r>
            <a:r>
              <a:rPr lang="en-US" altLang="zh-CN" sz="2000">
                <a:latin typeface="楷体_GB2312"/>
                <a:ea typeface="楷体_GB2312"/>
              </a:rPr>
              <a:t>A</a:t>
            </a:r>
            <a:r>
              <a:rPr lang="zh-CN" altLang="en-US" sz="2000">
                <a:latin typeface="楷体_GB2312"/>
                <a:ea typeface="楷体_GB2312"/>
              </a:rPr>
              <a:t>、</a:t>
            </a:r>
            <a:r>
              <a:rPr lang="en-US" altLang="zh-CN" sz="2000">
                <a:latin typeface="楷体_GB2312"/>
                <a:ea typeface="楷体_GB2312"/>
              </a:rPr>
              <a:t>B</a:t>
            </a:r>
            <a:r>
              <a:rPr lang="zh-CN" altLang="en-US" sz="2000">
                <a:latin typeface="楷体_GB2312"/>
                <a:ea typeface="楷体_GB2312"/>
              </a:rPr>
              <a:t>之间的电势差，在数值上等于把</a:t>
            </a:r>
            <a:r>
              <a:rPr lang="zh-CN" altLang="en-US" sz="2000">
                <a:solidFill>
                  <a:schemeClr val="hlink"/>
                </a:solidFill>
                <a:latin typeface="楷体_GB2312"/>
                <a:ea typeface="楷体_GB2312"/>
              </a:rPr>
              <a:t>单位正电荷</a:t>
            </a:r>
            <a:r>
              <a:rPr lang="zh-CN" altLang="en-US" sz="2000">
                <a:latin typeface="楷体_GB2312"/>
                <a:ea typeface="楷体_GB2312"/>
              </a:rPr>
              <a:t>从点</a:t>
            </a:r>
            <a:r>
              <a:rPr lang="en-US" altLang="zh-CN" sz="2000">
                <a:latin typeface="楷体_GB2312"/>
                <a:ea typeface="楷体_GB2312"/>
              </a:rPr>
              <a:t>A</a:t>
            </a:r>
            <a:r>
              <a:rPr lang="zh-CN" altLang="en-US" sz="2000">
                <a:latin typeface="楷体_GB2312"/>
                <a:ea typeface="楷体_GB2312"/>
              </a:rPr>
              <a:t>移到点</a:t>
            </a:r>
            <a:r>
              <a:rPr lang="en-US" altLang="zh-CN" sz="2000">
                <a:latin typeface="楷体_GB2312"/>
                <a:ea typeface="楷体_GB2312"/>
              </a:rPr>
              <a:t>B</a:t>
            </a:r>
            <a:r>
              <a:rPr lang="zh-CN" altLang="en-US" sz="2000">
                <a:latin typeface="楷体_GB2312"/>
                <a:ea typeface="楷体_GB2312"/>
              </a:rPr>
              <a:t>时，静电场力所作的功。</a:t>
            </a:r>
          </a:p>
        </p:txBody>
      </p:sp>
      <p:graphicFrame>
        <p:nvGraphicFramePr>
          <p:cNvPr id="10249" name="Object 22"/>
          <p:cNvGraphicFramePr>
            <a:graphicFrameLocks noChangeAspect="1"/>
          </p:cNvGraphicFramePr>
          <p:nvPr/>
        </p:nvGraphicFramePr>
        <p:xfrm>
          <a:off x="4895850" y="5749925"/>
          <a:ext cx="4248150" cy="903288"/>
        </p:xfrm>
        <a:graphic>
          <a:graphicData uri="http://schemas.openxmlformats.org/presentationml/2006/ole">
            <mc:AlternateContent xmlns:mc="http://schemas.openxmlformats.org/markup-compatibility/2006">
              <mc:Choice xmlns:v="urn:schemas-microsoft-com:vml" Requires="v">
                <p:oleObj spid="_x0000_s87068" name="公式" r:id="rId7" imgW="2209800" imgH="469900" progId="Equation.3">
                  <p:embed/>
                </p:oleObj>
              </mc:Choice>
              <mc:Fallback>
                <p:oleObj name="公式" r:id="rId7" imgW="2209800" imgH="469900" progId="Equation.3">
                  <p:embed/>
                  <p:pic>
                    <p:nvPicPr>
                      <p:cNvPr id="10249"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5850" y="5749925"/>
                        <a:ext cx="4248150" cy="903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82489125"/>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6" descr="25-08"/>
          <p:cNvPicPr>
            <a:picLocks noChangeAspect="1" noChangeArrowheads="1"/>
          </p:cNvPicPr>
          <p:nvPr/>
        </p:nvPicPr>
        <p:blipFill>
          <a:blip r:embed="rId3">
            <a:extLst>
              <a:ext uri="{28A0092B-C50C-407E-A947-70E740481C1C}">
                <a14:useLocalDpi xmlns:a14="http://schemas.microsoft.com/office/drawing/2010/main" val="0"/>
              </a:ext>
            </a:extLst>
          </a:blip>
          <a:srcRect b="9767"/>
          <a:stretch>
            <a:fillRect/>
          </a:stretch>
        </p:blipFill>
        <p:spPr bwMode="auto">
          <a:xfrm>
            <a:off x="6156325" y="188913"/>
            <a:ext cx="2524125" cy="213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3234" name="Text Box 2"/>
          <p:cNvSpPr txBox="1">
            <a:spLocks noChangeArrowheads="1"/>
          </p:cNvSpPr>
          <p:nvPr/>
        </p:nvSpPr>
        <p:spPr bwMode="auto">
          <a:xfrm>
            <a:off x="114300" y="2825750"/>
            <a:ext cx="38100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solidFill>
                  <a:schemeClr val="folHlink"/>
                </a:solidFill>
                <a:latin typeface="Arial" panose="020B0604020202020204" pitchFamily="34" charset="0"/>
                <a:ea typeface="楷体_GB2312"/>
              </a:rPr>
              <a:t>2</a:t>
            </a:r>
            <a:r>
              <a:rPr lang="zh-CN" altLang="en-US">
                <a:solidFill>
                  <a:schemeClr val="folHlink"/>
                </a:solidFill>
                <a:latin typeface="Arial" panose="020B0604020202020204" pitchFamily="34" charset="0"/>
                <a:ea typeface="楷体_GB2312"/>
              </a:rPr>
              <a:t>、电势叠加原理 </a:t>
            </a:r>
          </a:p>
        </p:txBody>
      </p:sp>
      <p:sp>
        <p:nvSpPr>
          <p:cNvPr id="223235" name="Text Box 3"/>
          <p:cNvSpPr txBox="1">
            <a:spLocks noChangeArrowheads="1"/>
          </p:cNvSpPr>
          <p:nvPr/>
        </p:nvSpPr>
        <p:spPr bwMode="auto">
          <a:xfrm>
            <a:off x="0" y="3535363"/>
            <a:ext cx="4500563"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1)</a:t>
            </a:r>
            <a:r>
              <a:rPr lang="zh-CN" altLang="en-US" sz="2800">
                <a:solidFill>
                  <a:srgbClr val="3333FF"/>
                </a:solidFill>
                <a:ea typeface="楷体_GB2312"/>
              </a:rPr>
              <a:t>、点电荷系电场的电势</a:t>
            </a:r>
            <a:endParaRPr lang="zh-CN" altLang="en-US" sz="3600">
              <a:solidFill>
                <a:srgbClr val="FF3300"/>
              </a:solidFill>
              <a:ea typeface="楷体_GB2312"/>
            </a:endParaRPr>
          </a:p>
        </p:txBody>
      </p:sp>
      <p:sp>
        <p:nvSpPr>
          <p:cNvPr id="223236" name="Text Box 4"/>
          <p:cNvSpPr txBox="1">
            <a:spLocks noChangeArrowheads="1"/>
          </p:cNvSpPr>
          <p:nvPr/>
        </p:nvSpPr>
        <p:spPr bwMode="auto">
          <a:xfrm>
            <a:off x="0" y="4237038"/>
            <a:ext cx="58674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电场由几个点电荷</a:t>
            </a:r>
            <a:r>
              <a:rPr lang="en-US" altLang="zh-CN" sz="2400" i="1">
                <a:ea typeface="楷体_GB2312"/>
              </a:rPr>
              <a:t>q</a:t>
            </a:r>
            <a:r>
              <a:rPr lang="en-US" altLang="zh-CN" sz="2400" baseline="-25000">
                <a:ea typeface="楷体_GB2312"/>
              </a:rPr>
              <a:t>1</a:t>
            </a:r>
            <a:r>
              <a:rPr lang="zh-CN" altLang="en-US" sz="2400">
                <a:ea typeface="楷体_GB2312"/>
              </a:rPr>
              <a:t>，</a:t>
            </a:r>
            <a:r>
              <a:rPr lang="en-US" altLang="zh-CN" sz="2400" i="1">
                <a:ea typeface="楷体_GB2312"/>
              </a:rPr>
              <a:t>q</a:t>
            </a:r>
            <a:r>
              <a:rPr lang="en-US" altLang="zh-CN" sz="2400" baseline="-25000">
                <a:ea typeface="楷体_GB2312"/>
              </a:rPr>
              <a:t>2</a:t>
            </a:r>
            <a:r>
              <a:rPr lang="zh-CN" altLang="en-US" sz="2400">
                <a:ea typeface="楷体_GB2312"/>
              </a:rPr>
              <a:t>，</a:t>
            </a:r>
            <a:r>
              <a:rPr lang="en-US" altLang="zh-CN" sz="2400">
                <a:ea typeface="楷体_GB2312"/>
              </a:rPr>
              <a:t>…</a:t>
            </a:r>
            <a:r>
              <a:rPr lang="zh-CN" altLang="en-US" sz="2400">
                <a:ea typeface="楷体_GB2312"/>
              </a:rPr>
              <a:t>，</a:t>
            </a:r>
            <a:r>
              <a:rPr lang="en-US" altLang="zh-CN" sz="2400" i="1">
                <a:ea typeface="楷体_GB2312"/>
              </a:rPr>
              <a:t>q</a:t>
            </a:r>
            <a:r>
              <a:rPr lang="en-US" altLang="zh-CN" sz="2400" baseline="-25000">
                <a:ea typeface="楷体_GB2312"/>
              </a:rPr>
              <a:t>n</a:t>
            </a:r>
            <a:r>
              <a:rPr lang="zh-CN" altLang="en-US" sz="2400">
                <a:ea typeface="楷体_GB2312"/>
              </a:rPr>
              <a:t>产生</a:t>
            </a:r>
          </a:p>
        </p:txBody>
      </p:sp>
      <p:graphicFrame>
        <p:nvGraphicFramePr>
          <p:cNvPr id="223237" name="Object 5"/>
          <p:cNvGraphicFramePr>
            <a:graphicFrameLocks noChangeAspect="1"/>
          </p:cNvGraphicFramePr>
          <p:nvPr/>
        </p:nvGraphicFramePr>
        <p:xfrm>
          <a:off x="5580063" y="4197350"/>
          <a:ext cx="1447800" cy="600075"/>
        </p:xfrm>
        <a:graphic>
          <a:graphicData uri="http://schemas.openxmlformats.org/presentationml/2006/ole">
            <mc:AlternateContent xmlns:mc="http://schemas.openxmlformats.org/markup-compatibility/2006">
              <mc:Choice xmlns:v="urn:schemas-microsoft-com:vml" Requires="v">
                <p:oleObj spid="_x0000_s88090" name="公式" r:id="rId4" imgW="672808" imgH="253890" progId="Equation.3">
                  <p:embed/>
                </p:oleObj>
              </mc:Choice>
              <mc:Fallback>
                <p:oleObj name="公式" r:id="rId4" imgW="672808" imgH="253890" progId="Equation.3">
                  <p:embed/>
                  <p:pic>
                    <p:nvPicPr>
                      <p:cNvPr id="2232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4197350"/>
                        <a:ext cx="1447800" cy="6000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8" name="Object 6"/>
          <p:cNvGraphicFramePr>
            <a:graphicFrameLocks noChangeAspect="1"/>
          </p:cNvGraphicFramePr>
          <p:nvPr/>
        </p:nvGraphicFramePr>
        <p:xfrm>
          <a:off x="1776413" y="4910138"/>
          <a:ext cx="6181725" cy="620712"/>
        </p:xfrm>
        <a:graphic>
          <a:graphicData uri="http://schemas.openxmlformats.org/presentationml/2006/ole">
            <mc:AlternateContent xmlns:mc="http://schemas.openxmlformats.org/markup-compatibility/2006">
              <mc:Choice xmlns:v="urn:schemas-microsoft-com:vml" Requires="v">
                <p:oleObj spid="_x0000_s88091" name="Equation" r:id="rId6" imgW="2895600" imgH="292100" progId="Equation.DSMT4">
                  <p:embed/>
                </p:oleObj>
              </mc:Choice>
              <mc:Fallback>
                <p:oleObj name="Equation" r:id="rId6" imgW="2895600" imgH="292100" progId="Equation.DSMT4">
                  <p:embed/>
                  <p:pic>
                    <p:nvPicPr>
                      <p:cNvPr id="22323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6413" y="4910138"/>
                        <a:ext cx="6181725" cy="620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3239" name="Text Box 7"/>
          <p:cNvSpPr txBox="1">
            <a:spLocks noChangeArrowheads="1"/>
          </p:cNvSpPr>
          <p:nvPr/>
        </p:nvSpPr>
        <p:spPr bwMode="auto">
          <a:xfrm>
            <a:off x="107950" y="5765800"/>
            <a:ext cx="8893175" cy="83185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点电荷系所激发的电场中某点的电势，等于各点电荷单独存在时在该点的电势的代数和。这个结论叫做静电场的</a:t>
            </a:r>
            <a:r>
              <a:rPr lang="zh-CN" altLang="en-US" sz="2400">
                <a:solidFill>
                  <a:srgbClr val="FF3300"/>
                </a:solidFill>
                <a:ea typeface="楷体_GB2312"/>
              </a:rPr>
              <a:t>电势叠加原理</a:t>
            </a:r>
            <a:r>
              <a:rPr lang="zh-CN" altLang="en-US" sz="2400">
                <a:ea typeface="楷体_GB2312"/>
              </a:rPr>
              <a:t>。</a:t>
            </a:r>
          </a:p>
        </p:txBody>
      </p:sp>
      <p:sp>
        <p:nvSpPr>
          <p:cNvPr id="11273" name="Text Box 8"/>
          <p:cNvSpPr txBox="1">
            <a:spLocks noChangeArrowheads="1"/>
          </p:cNvSpPr>
          <p:nvPr/>
        </p:nvSpPr>
        <p:spPr bwMode="auto">
          <a:xfrm>
            <a:off x="42863" y="904875"/>
            <a:ext cx="51054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a:solidFill>
                  <a:schemeClr val="folHlink"/>
                </a:solidFill>
                <a:latin typeface="Arial" panose="020B0604020202020204" pitchFamily="34" charset="0"/>
                <a:ea typeface="楷体_GB2312"/>
              </a:rPr>
              <a:t>1</a:t>
            </a:r>
            <a:r>
              <a:rPr lang="zh-CN" altLang="en-US" sz="2800">
                <a:solidFill>
                  <a:schemeClr val="folHlink"/>
                </a:solidFill>
                <a:latin typeface="Arial" panose="020B0604020202020204" pitchFamily="34" charset="0"/>
                <a:ea typeface="楷体_GB2312"/>
              </a:rPr>
              <a:t>、点电荷电场的电势</a:t>
            </a:r>
          </a:p>
        </p:txBody>
      </p:sp>
      <p:graphicFrame>
        <p:nvGraphicFramePr>
          <p:cNvPr id="223241" name="Object 9"/>
          <p:cNvGraphicFramePr>
            <a:graphicFrameLocks noChangeAspect="1"/>
          </p:cNvGraphicFramePr>
          <p:nvPr/>
        </p:nvGraphicFramePr>
        <p:xfrm>
          <a:off x="439738" y="1457325"/>
          <a:ext cx="4910137" cy="1108075"/>
        </p:xfrm>
        <a:graphic>
          <a:graphicData uri="http://schemas.openxmlformats.org/presentationml/2006/ole">
            <mc:AlternateContent xmlns:mc="http://schemas.openxmlformats.org/markup-compatibility/2006">
              <mc:Choice xmlns:v="urn:schemas-microsoft-com:vml" Requires="v">
                <p:oleObj spid="_x0000_s88092" name="公式" r:id="rId8" imgW="2082800" imgH="469900" progId="Equation.3">
                  <p:embed/>
                </p:oleObj>
              </mc:Choice>
              <mc:Fallback>
                <p:oleObj name="公式" r:id="rId8" imgW="2082800" imgH="469900" progId="Equation.3">
                  <p:embed/>
                  <p:pic>
                    <p:nvPicPr>
                      <p:cNvPr id="223241"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738" y="1457325"/>
                        <a:ext cx="4910137" cy="1108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5" name="Text Box 10"/>
          <p:cNvSpPr txBox="1">
            <a:spLocks noChangeArrowheads="1"/>
          </p:cNvSpPr>
          <p:nvPr/>
        </p:nvSpPr>
        <p:spPr bwMode="auto">
          <a:xfrm>
            <a:off x="1476375" y="188913"/>
            <a:ext cx="5105400"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a:solidFill>
                  <a:schemeClr val="folHlink"/>
                </a:solidFill>
                <a:latin typeface="Arial" panose="020B0604020202020204" pitchFamily="34" charset="0"/>
                <a:ea typeface="楷体_GB2312"/>
              </a:rPr>
              <a:t>四、电势的计算</a:t>
            </a:r>
          </a:p>
        </p:txBody>
      </p:sp>
      <p:sp>
        <p:nvSpPr>
          <p:cNvPr id="223243" name="Text Box 11"/>
          <p:cNvSpPr txBox="1">
            <a:spLocks noChangeArrowheads="1"/>
          </p:cNvSpPr>
          <p:nvPr/>
        </p:nvSpPr>
        <p:spPr bwMode="auto">
          <a:xfrm>
            <a:off x="5575300" y="2341563"/>
            <a:ext cx="3419475" cy="16351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正电荷的电势为正，离电荷越远，电势越低；</a:t>
            </a:r>
          </a:p>
          <a:p>
            <a:pPr eaLnBrk="1" hangingPunct="1">
              <a:buFontTx/>
              <a:buNone/>
            </a:pPr>
            <a:r>
              <a:rPr lang="zh-CN" altLang="en-US" sz="2400">
                <a:ea typeface="楷体_GB2312"/>
              </a:rPr>
              <a:t>负电荷的电势为负，离电荷越远，电势越高。</a:t>
            </a:r>
          </a:p>
        </p:txBody>
      </p:sp>
    </p:spTree>
    <p:extLst>
      <p:ext uri="{BB962C8B-B14F-4D97-AF65-F5344CB8AC3E}">
        <p14:creationId xmlns:p14="http://schemas.microsoft.com/office/powerpoint/2010/main" val="387986312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3241"/>
                                        </p:tgtEl>
                                        <p:attrNameLst>
                                          <p:attrName>style.visibility</p:attrName>
                                        </p:attrNameLst>
                                      </p:cBhvr>
                                      <p:to>
                                        <p:strVal val="visible"/>
                                      </p:to>
                                    </p:set>
                                    <p:animEffect transition="in" filter="wipe(left)">
                                      <p:cBhvr>
                                        <p:cTn id="7" dur="500"/>
                                        <p:tgtEl>
                                          <p:spTgt spid="2232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3243">
                                            <p:bg/>
                                          </p:spTgt>
                                        </p:tgtEl>
                                        <p:attrNameLst>
                                          <p:attrName>style.visibility</p:attrName>
                                        </p:attrNameLst>
                                      </p:cBhvr>
                                      <p:to>
                                        <p:strVal val="visible"/>
                                      </p:to>
                                    </p:set>
                                    <p:animEffect transition="in" filter="wipe(left)">
                                      <p:cBhvr>
                                        <p:cTn id="16" dur="500"/>
                                        <p:tgtEl>
                                          <p:spTgt spid="223243">
                                            <p:bg/>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3243">
                                            <p:txEl>
                                              <p:pRg st="0" end="0"/>
                                            </p:txEl>
                                          </p:spTgt>
                                        </p:tgtEl>
                                        <p:attrNameLst>
                                          <p:attrName>style.visibility</p:attrName>
                                        </p:attrNameLst>
                                      </p:cBhvr>
                                      <p:to>
                                        <p:strVal val="visible"/>
                                      </p:to>
                                    </p:set>
                                    <p:animEffect transition="in" filter="wipe(left)">
                                      <p:cBhvr>
                                        <p:cTn id="21" dur="500"/>
                                        <p:tgtEl>
                                          <p:spTgt spid="223243">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3243">
                                            <p:txEl>
                                              <p:pRg st="1" end="1"/>
                                            </p:txEl>
                                          </p:spTgt>
                                        </p:tgtEl>
                                        <p:attrNameLst>
                                          <p:attrName>style.visibility</p:attrName>
                                        </p:attrNameLst>
                                      </p:cBhvr>
                                      <p:to>
                                        <p:strVal val="visible"/>
                                      </p:to>
                                    </p:set>
                                    <p:animEffect transition="in" filter="wipe(left)">
                                      <p:cBhvr>
                                        <p:cTn id="26" dur="500"/>
                                        <p:tgtEl>
                                          <p:spTgt spid="223243">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3234"/>
                                        </p:tgtEl>
                                        <p:attrNameLst>
                                          <p:attrName>style.visibility</p:attrName>
                                        </p:attrNameLst>
                                      </p:cBhvr>
                                      <p:to>
                                        <p:strVal val="visible"/>
                                      </p:to>
                                    </p:set>
                                    <p:animEffect transition="in" filter="wipe(left)">
                                      <p:cBhvr>
                                        <p:cTn id="31" dur="500"/>
                                        <p:tgtEl>
                                          <p:spTgt spid="22323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23235"/>
                                        </p:tgtEl>
                                        <p:attrNameLst>
                                          <p:attrName>style.visibility</p:attrName>
                                        </p:attrNameLst>
                                      </p:cBhvr>
                                      <p:to>
                                        <p:strVal val="visible"/>
                                      </p:to>
                                    </p:set>
                                    <p:animEffect transition="in" filter="wipe(left)">
                                      <p:cBhvr>
                                        <p:cTn id="36" dur="500"/>
                                        <p:tgtEl>
                                          <p:spTgt spid="22323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3236"/>
                                        </p:tgtEl>
                                        <p:attrNameLst>
                                          <p:attrName>style.visibility</p:attrName>
                                        </p:attrNameLst>
                                      </p:cBhvr>
                                      <p:to>
                                        <p:strVal val="visible"/>
                                      </p:to>
                                    </p:set>
                                    <p:animEffect transition="in" filter="wipe(left)">
                                      <p:cBhvr>
                                        <p:cTn id="41" dur="500"/>
                                        <p:tgtEl>
                                          <p:spTgt spid="22323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23237"/>
                                        </p:tgtEl>
                                        <p:attrNameLst>
                                          <p:attrName>style.visibility</p:attrName>
                                        </p:attrNameLst>
                                      </p:cBhvr>
                                      <p:to>
                                        <p:strVal val="visible"/>
                                      </p:to>
                                    </p:set>
                                    <p:animEffect transition="in" filter="wipe(left)">
                                      <p:cBhvr>
                                        <p:cTn id="46" dur="500"/>
                                        <p:tgtEl>
                                          <p:spTgt spid="22323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23238"/>
                                        </p:tgtEl>
                                        <p:attrNameLst>
                                          <p:attrName>style.visibility</p:attrName>
                                        </p:attrNameLst>
                                      </p:cBhvr>
                                      <p:to>
                                        <p:strVal val="visible"/>
                                      </p:to>
                                    </p:set>
                                    <p:animEffect transition="in" filter="wipe(left)">
                                      <p:cBhvr>
                                        <p:cTn id="51" dur="500"/>
                                        <p:tgtEl>
                                          <p:spTgt spid="22323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23239">
                                            <p:bg/>
                                          </p:spTgt>
                                        </p:tgtEl>
                                        <p:attrNameLst>
                                          <p:attrName>style.visibility</p:attrName>
                                        </p:attrNameLst>
                                      </p:cBhvr>
                                      <p:to>
                                        <p:strVal val="visible"/>
                                      </p:to>
                                    </p:set>
                                    <p:animEffect transition="in" filter="wipe(left)">
                                      <p:cBhvr>
                                        <p:cTn id="56" dur="75"/>
                                        <p:tgtEl>
                                          <p:spTgt spid="223239">
                                            <p:bg/>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iterate type="lt">
                                    <p:tmPct val="100000"/>
                                  </p:iterate>
                                  <p:childTnLst>
                                    <p:set>
                                      <p:cBhvr>
                                        <p:cTn id="60" dur="1" fill="hold">
                                          <p:stCondLst>
                                            <p:cond delay="0"/>
                                          </p:stCondLst>
                                        </p:cTn>
                                        <p:tgtEl>
                                          <p:spTgt spid="223239">
                                            <p:txEl>
                                              <p:pRg st="0" end="0"/>
                                            </p:txEl>
                                          </p:spTgt>
                                        </p:tgtEl>
                                        <p:attrNameLst>
                                          <p:attrName>style.visibility</p:attrName>
                                        </p:attrNameLst>
                                      </p:cBhvr>
                                      <p:to>
                                        <p:strVal val="visible"/>
                                      </p:to>
                                    </p:set>
                                    <p:animEffect transition="in" filter="wipe(left)">
                                      <p:cBhvr>
                                        <p:cTn id="61" dur="75"/>
                                        <p:tgtEl>
                                          <p:spTgt spid="2232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animBg="1" autoUpdateAnimBg="0"/>
      <p:bldP spid="223235" grpId="0" autoUpdateAnimBg="0"/>
      <p:bldP spid="223236" grpId="0" autoUpdateAnimBg="0"/>
      <p:bldP spid="223239" grpId="0" build="p" animBg="1" autoUpdateAnimBg="0"/>
      <p:bldP spid="223243" grpId="0" build="p"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50825" y="549275"/>
            <a:ext cx="5164138"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2)</a:t>
            </a:r>
            <a:r>
              <a:rPr lang="zh-CN" altLang="en-US" sz="2800">
                <a:solidFill>
                  <a:srgbClr val="3333FF"/>
                </a:solidFill>
                <a:ea typeface="楷体_GB2312"/>
              </a:rPr>
              <a:t>、连续分布电荷电场的电势</a:t>
            </a:r>
            <a:endParaRPr lang="zh-CN" altLang="en-US" sz="3600">
              <a:solidFill>
                <a:srgbClr val="FF3300"/>
              </a:solidFill>
              <a:ea typeface="楷体_GB2312"/>
            </a:endParaRPr>
          </a:p>
        </p:txBody>
      </p:sp>
      <p:grpSp>
        <p:nvGrpSpPr>
          <p:cNvPr id="12291" name="Group 3"/>
          <p:cNvGrpSpPr>
            <a:grpSpLocks/>
          </p:cNvGrpSpPr>
          <p:nvPr/>
        </p:nvGrpSpPr>
        <p:grpSpPr bwMode="auto">
          <a:xfrm>
            <a:off x="5776913" y="1322388"/>
            <a:ext cx="3116262" cy="2757487"/>
            <a:chOff x="3750" y="2966"/>
            <a:chExt cx="1384" cy="983"/>
          </a:xfrm>
        </p:grpSpPr>
        <p:sp>
          <p:nvSpPr>
            <p:cNvPr id="12303" name="Freeform 4"/>
            <p:cNvSpPr>
              <a:spLocks/>
            </p:cNvSpPr>
            <p:nvPr/>
          </p:nvSpPr>
          <p:spPr bwMode="auto">
            <a:xfrm>
              <a:off x="3750" y="2966"/>
              <a:ext cx="759" cy="656"/>
            </a:xfrm>
            <a:custGeom>
              <a:avLst/>
              <a:gdLst>
                <a:gd name="T0" fmla="*/ 184 w 759"/>
                <a:gd name="T1" fmla="*/ 67 h 656"/>
                <a:gd name="T2" fmla="*/ 62 w 759"/>
                <a:gd name="T3" fmla="*/ 200 h 656"/>
                <a:gd name="T4" fmla="*/ 6 w 759"/>
                <a:gd name="T5" fmla="*/ 300 h 656"/>
                <a:gd name="T6" fmla="*/ 17 w 759"/>
                <a:gd name="T7" fmla="*/ 545 h 656"/>
                <a:gd name="T8" fmla="*/ 62 w 759"/>
                <a:gd name="T9" fmla="*/ 567 h 656"/>
                <a:gd name="T10" fmla="*/ 217 w 759"/>
                <a:gd name="T11" fmla="*/ 656 h 656"/>
                <a:gd name="T12" fmla="*/ 539 w 759"/>
                <a:gd name="T13" fmla="*/ 645 h 656"/>
                <a:gd name="T14" fmla="*/ 595 w 759"/>
                <a:gd name="T15" fmla="*/ 600 h 656"/>
                <a:gd name="T16" fmla="*/ 728 w 759"/>
                <a:gd name="T17" fmla="*/ 411 h 656"/>
                <a:gd name="T18" fmla="*/ 617 w 759"/>
                <a:gd name="T19" fmla="*/ 178 h 656"/>
                <a:gd name="T20" fmla="*/ 539 w 759"/>
                <a:gd name="T21" fmla="*/ 145 h 656"/>
                <a:gd name="T22" fmla="*/ 484 w 759"/>
                <a:gd name="T23" fmla="*/ 100 h 656"/>
                <a:gd name="T24" fmla="*/ 417 w 759"/>
                <a:gd name="T25" fmla="*/ 78 h 656"/>
                <a:gd name="T26" fmla="*/ 284 w 759"/>
                <a:gd name="T27" fmla="*/ 0 h 656"/>
                <a:gd name="T28" fmla="*/ 184 w 759"/>
                <a:gd name="T29" fmla="*/ 67 h 6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59" h="656">
                  <a:moveTo>
                    <a:pt x="184" y="67"/>
                  </a:moveTo>
                  <a:cubicBezTo>
                    <a:pt x="118" y="89"/>
                    <a:pt x="96" y="144"/>
                    <a:pt x="62" y="200"/>
                  </a:cubicBezTo>
                  <a:cubicBezTo>
                    <a:pt x="4" y="296"/>
                    <a:pt x="28" y="233"/>
                    <a:pt x="6" y="300"/>
                  </a:cubicBezTo>
                  <a:cubicBezTo>
                    <a:pt x="10" y="382"/>
                    <a:pt x="0" y="465"/>
                    <a:pt x="17" y="545"/>
                  </a:cubicBezTo>
                  <a:cubicBezTo>
                    <a:pt x="20" y="561"/>
                    <a:pt x="48" y="558"/>
                    <a:pt x="62" y="567"/>
                  </a:cubicBezTo>
                  <a:cubicBezTo>
                    <a:pt x="116" y="600"/>
                    <a:pt x="154" y="640"/>
                    <a:pt x="217" y="656"/>
                  </a:cubicBezTo>
                  <a:cubicBezTo>
                    <a:pt x="324" y="652"/>
                    <a:pt x="432" y="655"/>
                    <a:pt x="539" y="645"/>
                  </a:cubicBezTo>
                  <a:cubicBezTo>
                    <a:pt x="555" y="644"/>
                    <a:pt x="585" y="612"/>
                    <a:pt x="595" y="600"/>
                  </a:cubicBezTo>
                  <a:cubicBezTo>
                    <a:pt x="647" y="538"/>
                    <a:pt x="692" y="484"/>
                    <a:pt x="728" y="411"/>
                  </a:cubicBezTo>
                  <a:cubicBezTo>
                    <a:pt x="719" y="260"/>
                    <a:pt x="759" y="206"/>
                    <a:pt x="617" y="178"/>
                  </a:cubicBezTo>
                  <a:cubicBezTo>
                    <a:pt x="592" y="165"/>
                    <a:pt x="563" y="160"/>
                    <a:pt x="539" y="145"/>
                  </a:cubicBezTo>
                  <a:cubicBezTo>
                    <a:pt x="519" y="132"/>
                    <a:pt x="505" y="111"/>
                    <a:pt x="484" y="100"/>
                  </a:cubicBezTo>
                  <a:cubicBezTo>
                    <a:pt x="463" y="89"/>
                    <a:pt x="417" y="78"/>
                    <a:pt x="417" y="78"/>
                  </a:cubicBezTo>
                  <a:cubicBezTo>
                    <a:pt x="374" y="46"/>
                    <a:pt x="328" y="31"/>
                    <a:pt x="284" y="0"/>
                  </a:cubicBezTo>
                  <a:cubicBezTo>
                    <a:pt x="225" y="9"/>
                    <a:pt x="184" y="1"/>
                    <a:pt x="184" y="67"/>
                  </a:cubicBezTo>
                  <a:close/>
                </a:path>
              </a:pathLst>
            </a:custGeom>
            <a:solidFill>
              <a:srgbClr val="FFFF66"/>
            </a:solidFill>
            <a:ln w="9525" cap="flat" cmpd="sng">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2304" name="Line 5"/>
            <p:cNvSpPr>
              <a:spLocks noChangeShapeType="1"/>
            </p:cNvSpPr>
            <p:nvPr/>
          </p:nvSpPr>
          <p:spPr bwMode="auto">
            <a:xfrm>
              <a:off x="4080" y="3312"/>
              <a:ext cx="912" cy="43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2305" name="Text Box 6"/>
            <p:cNvSpPr txBox="1">
              <a:spLocks noChangeArrowheads="1"/>
            </p:cNvSpPr>
            <p:nvPr/>
          </p:nvSpPr>
          <p:spPr bwMode="auto">
            <a:xfrm>
              <a:off x="4944" y="3729"/>
              <a:ext cx="190" cy="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FF3300"/>
                  </a:solidFill>
                  <a:ea typeface="楷体_GB2312"/>
                </a:rPr>
                <a:t>P</a:t>
              </a:r>
              <a:endParaRPr lang="en-US" altLang="zh-CN" sz="3600">
                <a:solidFill>
                  <a:srgbClr val="FF3300"/>
                </a:solidFill>
                <a:ea typeface="楷体_GB2312"/>
              </a:endParaRPr>
            </a:p>
          </p:txBody>
        </p:sp>
        <p:sp>
          <p:nvSpPr>
            <p:cNvPr id="12306" name="Text Box 7"/>
            <p:cNvSpPr txBox="1">
              <a:spLocks noChangeArrowheads="1"/>
            </p:cNvSpPr>
            <p:nvPr/>
          </p:nvSpPr>
          <p:spPr bwMode="auto">
            <a:xfrm>
              <a:off x="4612" y="3275"/>
              <a:ext cx="162" cy="2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i="1">
                  <a:solidFill>
                    <a:srgbClr val="FF3300"/>
                  </a:solidFill>
                  <a:ea typeface="楷体_GB2312"/>
                </a:rPr>
                <a:t>r</a:t>
              </a:r>
              <a:endParaRPr lang="en-US" altLang="zh-CN" sz="3600">
                <a:solidFill>
                  <a:srgbClr val="FF3300"/>
                </a:solidFill>
                <a:ea typeface="楷体_GB2312"/>
              </a:endParaRPr>
            </a:p>
          </p:txBody>
        </p:sp>
        <p:sp>
          <p:nvSpPr>
            <p:cNvPr id="12307" name="Text Box 8"/>
            <p:cNvSpPr txBox="1">
              <a:spLocks noChangeArrowheads="1"/>
            </p:cNvSpPr>
            <p:nvPr/>
          </p:nvSpPr>
          <p:spPr bwMode="auto">
            <a:xfrm>
              <a:off x="4074" y="3029"/>
              <a:ext cx="266" cy="22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FF3300"/>
                  </a:solidFill>
                  <a:ea typeface="楷体_GB2312"/>
                </a:rPr>
                <a:t>d</a:t>
              </a:r>
              <a:r>
                <a:rPr lang="en-US" altLang="zh-CN" sz="2800" i="1">
                  <a:solidFill>
                    <a:srgbClr val="FF3300"/>
                  </a:solidFill>
                  <a:ea typeface="楷体_GB2312"/>
                </a:rPr>
                <a:t>q</a:t>
              </a:r>
              <a:endParaRPr lang="en-US" altLang="zh-CN" sz="3600">
                <a:solidFill>
                  <a:srgbClr val="FF3300"/>
                </a:solidFill>
                <a:ea typeface="楷体_GB2312"/>
              </a:endParaRPr>
            </a:p>
          </p:txBody>
        </p:sp>
      </p:grpSp>
      <p:graphicFrame>
        <p:nvGraphicFramePr>
          <p:cNvPr id="12292" name="Object 9"/>
          <p:cNvGraphicFramePr>
            <a:graphicFrameLocks noChangeAspect="1"/>
          </p:cNvGraphicFramePr>
          <p:nvPr/>
        </p:nvGraphicFramePr>
        <p:xfrm>
          <a:off x="2206625" y="1349375"/>
          <a:ext cx="1649413" cy="915988"/>
        </p:xfrm>
        <a:graphic>
          <a:graphicData uri="http://schemas.openxmlformats.org/presentationml/2006/ole">
            <mc:AlternateContent xmlns:mc="http://schemas.openxmlformats.org/markup-compatibility/2006">
              <mc:Choice xmlns:v="urn:schemas-microsoft-com:vml" Requires="v">
                <p:oleObj spid="_x0000_s89130" name="公式" r:id="rId3" imgW="774364" imgH="431613" progId="Equation.3">
                  <p:embed/>
                </p:oleObj>
              </mc:Choice>
              <mc:Fallback>
                <p:oleObj name="公式" r:id="rId3" imgW="774364" imgH="431613" progId="Equation.3">
                  <p:embed/>
                  <p:pic>
                    <p:nvPicPr>
                      <p:cNvPr id="12292"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625" y="1349375"/>
                        <a:ext cx="1649413" cy="9159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3" name="Object 10"/>
          <p:cNvGraphicFramePr>
            <a:graphicFrameLocks noChangeAspect="1"/>
          </p:cNvGraphicFramePr>
          <p:nvPr/>
        </p:nvGraphicFramePr>
        <p:xfrm>
          <a:off x="2157413" y="2547938"/>
          <a:ext cx="1874837" cy="1039812"/>
        </p:xfrm>
        <a:graphic>
          <a:graphicData uri="http://schemas.openxmlformats.org/presentationml/2006/ole">
            <mc:AlternateContent xmlns:mc="http://schemas.openxmlformats.org/markup-compatibility/2006">
              <mc:Choice xmlns:v="urn:schemas-microsoft-com:vml" Requires="v">
                <p:oleObj spid="_x0000_s89131" name="公式" r:id="rId5" imgW="774364" imgH="431613" progId="Equation.3">
                  <p:embed/>
                </p:oleObj>
              </mc:Choice>
              <mc:Fallback>
                <p:oleObj name="公式" r:id="rId5" imgW="774364" imgH="431613" progId="Equation.3">
                  <p:embed/>
                  <p:pic>
                    <p:nvPicPr>
                      <p:cNvPr id="12293"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7413" y="2547938"/>
                        <a:ext cx="1874837" cy="103981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4" name="Text Box 11"/>
          <p:cNvSpPr txBox="1">
            <a:spLocks noChangeArrowheads="1"/>
          </p:cNvSpPr>
          <p:nvPr/>
        </p:nvSpPr>
        <p:spPr bwMode="auto">
          <a:xfrm>
            <a:off x="684213" y="4079875"/>
            <a:ext cx="25622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线分布</a:t>
            </a:r>
          </a:p>
        </p:txBody>
      </p:sp>
      <p:graphicFrame>
        <p:nvGraphicFramePr>
          <p:cNvPr id="12295" name="Object 12"/>
          <p:cNvGraphicFramePr>
            <a:graphicFrameLocks noChangeAspect="1"/>
          </p:cNvGraphicFramePr>
          <p:nvPr/>
        </p:nvGraphicFramePr>
        <p:xfrm>
          <a:off x="3478213" y="3775075"/>
          <a:ext cx="1830387" cy="1030288"/>
        </p:xfrm>
        <a:graphic>
          <a:graphicData uri="http://schemas.openxmlformats.org/presentationml/2006/ole">
            <mc:AlternateContent xmlns:mc="http://schemas.openxmlformats.org/markup-compatibility/2006">
              <mc:Choice xmlns:v="urn:schemas-microsoft-com:vml" Requires="v">
                <p:oleObj spid="_x0000_s89132" name="Equation" r:id="rId7" imgW="787058" imgH="444307" progId="Equation.3">
                  <p:embed/>
                </p:oleObj>
              </mc:Choice>
              <mc:Fallback>
                <p:oleObj name="Equation" r:id="rId7" imgW="787058" imgH="444307" progId="Equation.3">
                  <p:embed/>
                  <p:pic>
                    <p:nvPicPr>
                      <p:cNvPr id="12295"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78213" y="3775075"/>
                        <a:ext cx="1830387" cy="1030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6" name="Text Box 13"/>
          <p:cNvSpPr txBox="1">
            <a:spLocks noChangeArrowheads="1"/>
          </p:cNvSpPr>
          <p:nvPr/>
        </p:nvSpPr>
        <p:spPr bwMode="auto">
          <a:xfrm>
            <a:off x="684213" y="5157788"/>
            <a:ext cx="2347912"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面分布</a:t>
            </a:r>
          </a:p>
        </p:txBody>
      </p:sp>
      <p:graphicFrame>
        <p:nvGraphicFramePr>
          <p:cNvPr id="12297" name="Object 14"/>
          <p:cNvGraphicFramePr>
            <a:graphicFrameLocks noChangeAspect="1"/>
          </p:cNvGraphicFramePr>
          <p:nvPr/>
        </p:nvGraphicFramePr>
        <p:xfrm>
          <a:off x="3535363" y="4929188"/>
          <a:ext cx="1965325" cy="965200"/>
        </p:xfrm>
        <a:graphic>
          <a:graphicData uri="http://schemas.openxmlformats.org/presentationml/2006/ole">
            <mc:AlternateContent xmlns:mc="http://schemas.openxmlformats.org/markup-compatibility/2006">
              <mc:Choice xmlns:v="urn:schemas-microsoft-com:vml" Requires="v">
                <p:oleObj spid="_x0000_s89133" name="Equation" r:id="rId9" imgW="901309" imgH="444307" progId="Equation.3">
                  <p:embed/>
                </p:oleObj>
              </mc:Choice>
              <mc:Fallback>
                <p:oleObj name="Equation" r:id="rId9" imgW="901309" imgH="444307" progId="Equation.3">
                  <p:embed/>
                  <p:pic>
                    <p:nvPicPr>
                      <p:cNvPr id="12297"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5363" y="4929188"/>
                        <a:ext cx="1965325" cy="965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8" name="Text Box 15"/>
          <p:cNvSpPr txBox="1">
            <a:spLocks noChangeArrowheads="1"/>
          </p:cNvSpPr>
          <p:nvPr/>
        </p:nvSpPr>
        <p:spPr bwMode="auto">
          <a:xfrm>
            <a:off x="755650" y="6096000"/>
            <a:ext cx="23399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体分布</a:t>
            </a:r>
          </a:p>
        </p:txBody>
      </p:sp>
      <p:graphicFrame>
        <p:nvGraphicFramePr>
          <p:cNvPr id="12299" name="Object 16"/>
          <p:cNvGraphicFramePr>
            <a:graphicFrameLocks noChangeAspect="1"/>
          </p:cNvGraphicFramePr>
          <p:nvPr/>
        </p:nvGraphicFramePr>
        <p:xfrm>
          <a:off x="3525838" y="5981700"/>
          <a:ext cx="1905000" cy="876300"/>
        </p:xfrm>
        <a:graphic>
          <a:graphicData uri="http://schemas.openxmlformats.org/presentationml/2006/ole">
            <mc:AlternateContent xmlns:mc="http://schemas.openxmlformats.org/markup-compatibility/2006">
              <mc:Choice xmlns:v="urn:schemas-microsoft-com:vml" Requires="v">
                <p:oleObj spid="_x0000_s89134" name="Equation" r:id="rId11" imgW="965200" imgH="444500" progId="Equation.3">
                  <p:embed/>
                </p:oleObj>
              </mc:Choice>
              <mc:Fallback>
                <p:oleObj name="Equation" r:id="rId11" imgW="965200" imgH="444500" progId="Equation.3">
                  <p:embed/>
                  <p:pic>
                    <p:nvPicPr>
                      <p:cNvPr id="12299"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5838" y="5981700"/>
                        <a:ext cx="1905000" cy="8763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0" name="Text Box 10"/>
          <p:cNvSpPr txBox="1">
            <a:spLocks noChangeArrowheads="1"/>
          </p:cNvSpPr>
          <p:nvPr/>
        </p:nvSpPr>
        <p:spPr bwMode="auto">
          <a:xfrm>
            <a:off x="5611813" y="4100513"/>
            <a:ext cx="30638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电荷线分布，</a:t>
            </a:r>
            <a:r>
              <a:rPr lang="en-US" altLang="zh-CN" sz="2400">
                <a:ea typeface="楷体_GB2312"/>
              </a:rPr>
              <a:t>d</a:t>
            </a:r>
            <a:r>
              <a:rPr lang="en-US" altLang="zh-CN" sz="2400" i="1">
                <a:ea typeface="楷体_GB2312"/>
              </a:rPr>
              <a:t>q</a:t>
            </a:r>
            <a:r>
              <a:rPr lang="en-US" altLang="zh-CN" sz="2400">
                <a:ea typeface="楷体_GB2312"/>
              </a:rPr>
              <a:t>=λd</a:t>
            </a:r>
            <a:r>
              <a:rPr lang="en-US" altLang="zh-CN" sz="2400" i="1">
                <a:ea typeface="楷体_GB2312"/>
              </a:rPr>
              <a:t>l</a:t>
            </a:r>
            <a:endParaRPr lang="en-US" altLang="zh-CN" sz="2400">
              <a:ea typeface="楷体_GB2312"/>
            </a:endParaRPr>
          </a:p>
        </p:txBody>
      </p:sp>
      <p:sp>
        <p:nvSpPr>
          <p:cNvPr id="12301" name="Text Box 9"/>
          <p:cNvSpPr txBox="1">
            <a:spLocks noChangeArrowheads="1"/>
          </p:cNvSpPr>
          <p:nvPr/>
        </p:nvSpPr>
        <p:spPr bwMode="auto">
          <a:xfrm>
            <a:off x="5654675" y="5175250"/>
            <a:ext cx="31496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电荷面分布，</a:t>
            </a:r>
            <a:r>
              <a:rPr lang="en-US" altLang="zh-CN" sz="2400">
                <a:ea typeface="楷体_GB2312"/>
              </a:rPr>
              <a:t>d</a:t>
            </a:r>
            <a:r>
              <a:rPr lang="en-US" altLang="zh-CN" sz="2400" i="1">
                <a:ea typeface="楷体_GB2312"/>
              </a:rPr>
              <a:t>q</a:t>
            </a:r>
            <a:r>
              <a:rPr lang="en-US" altLang="zh-CN" sz="2400">
                <a:ea typeface="楷体_GB2312"/>
              </a:rPr>
              <a:t>=σd</a:t>
            </a:r>
            <a:r>
              <a:rPr lang="en-US" altLang="zh-CN" sz="2400" i="1">
                <a:ea typeface="楷体_GB2312"/>
              </a:rPr>
              <a:t>S</a:t>
            </a:r>
            <a:endParaRPr lang="en-US" altLang="zh-CN" sz="2400">
              <a:ea typeface="楷体_GB2312"/>
            </a:endParaRPr>
          </a:p>
        </p:txBody>
      </p:sp>
      <p:sp>
        <p:nvSpPr>
          <p:cNvPr id="12302" name="Text Box 8"/>
          <p:cNvSpPr txBox="1">
            <a:spLocks noChangeArrowheads="1"/>
          </p:cNvSpPr>
          <p:nvPr/>
        </p:nvSpPr>
        <p:spPr bwMode="auto">
          <a:xfrm>
            <a:off x="5710238" y="6232525"/>
            <a:ext cx="3182937"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电荷体分布，</a:t>
            </a:r>
            <a:r>
              <a:rPr lang="en-US" altLang="zh-CN" sz="2400">
                <a:ea typeface="楷体_GB2312"/>
              </a:rPr>
              <a:t>d</a:t>
            </a:r>
            <a:r>
              <a:rPr lang="en-US" altLang="zh-CN" sz="2400" i="1">
                <a:ea typeface="楷体_GB2312"/>
              </a:rPr>
              <a:t>q</a:t>
            </a:r>
            <a:r>
              <a:rPr lang="en-US" altLang="zh-CN" sz="2400">
                <a:ea typeface="楷体_GB2312"/>
              </a:rPr>
              <a:t>=ρd</a:t>
            </a:r>
            <a:r>
              <a:rPr lang="en-US" altLang="zh-CN" sz="2400" i="1">
                <a:ea typeface="楷体_GB2312"/>
              </a:rPr>
              <a:t>V</a:t>
            </a:r>
            <a:endParaRPr lang="en-US" altLang="zh-CN" sz="2400">
              <a:ea typeface="楷体_GB2312"/>
            </a:endParaRPr>
          </a:p>
        </p:txBody>
      </p:sp>
    </p:spTree>
    <p:extLst>
      <p:ext uri="{BB962C8B-B14F-4D97-AF65-F5344CB8AC3E}">
        <p14:creationId xmlns:p14="http://schemas.microsoft.com/office/powerpoint/2010/main" val="1134425030"/>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76200" y="0"/>
            <a:ext cx="4114800"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3</a:t>
            </a:r>
            <a:r>
              <a:rPr lang="zh-CN" altLang="en-US" sz="2800">
                <a:solidFill>
                  <a:srgbClr val="3333FF"/>
                </a:solidFill>
                <a:ea typeface="楷体_GB2312"/>
              </a:rPr>
              <a:t>、电势的计算</a:t>
            </a:r>
            <a:endParaRPr lang="zh-CN" altLang="en-US" sz="2400">
              <a:ea typeface="楷体_GB2312"/>
            </a:endParaRPr>
          </a:p>
        </p:txBody>
      </p:sp>
      <p:sp>
        <p:nvSpPr>
          <p:cNvPr id="13315" name="Text Box 3"/>
          <p:cNvSpPr txBox="1">
            <a:spLocks noChangeArrowheads="1"/>
          </p:cNvSpPr>
          <p:nvPr/>
        </p:nvSpPr>
        <p:spPr bwMode="auto">
          <a:xfrm>
            <a:off x="609600" y="457200"/>
            <a:ext cx="41783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计算电势的方法有两种：</a:t>
            </a:r>
          </a:p>
        </p:txBody>
      </p:sp>
      <p:sp>
        <p:nvSpPr>
          <p:cNvPr id="13316" name="Text Box 4"/>
          <p:cNvSpPr txBox="1">
            <a:spLocks noChangeArrowheads="1"/>
          </p:cNvSpPr>
          <p:nvPr/>
        </p:nvSpPr>
        <p:spPr bwMode="auto">
          <a:xfrm>
            <a:off x="533400" y="990600"/>
            <a:ext cx="641508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ea typeface="楷体_GB2312"/>
              </a:rPr>
              <a:t>利用电势的定义式</a:t>
            </a:r>
          </a:p>
        </p:txBody>
      </p:sp>
      <p:graphicFrame>
        <p:nvGraphicFramePr>
          <p:cNvPr id="13317" name="Object 5"/>
          <p:cNvGraphicFramePr>
            <a:graphicFrameLocks noChangeAspect="1"/>
          </p:cNvGraphicFramePr>
          <p:nvPr/>
        </p:nvGraphicFramePr>
        <p:xfrm>
          <a:off x="1579563" y="1422400"/>
          <a:ext cx="2252662" cy="620713"/>
        </p:xfrm>
        <a:graphic>
          <a:graphicData uri="http://schemas.openxmlformats.org/presentationml/2006/ole">
            <mc:AlternateContent xmlns:mc="http://schemas.openxmlformats.org/markup-compatibility/2006">
              <mc:Choice xmlns:v="urn:schemas-microsoft-com:vml" Requires="v">
                <p:oleObj spid="_x0000_s90130" name="公式" r:id="rId3" imgW="1054100" imgH="292100" progId="Equation.3">
                  <p:embed/>
                </p:oleObj>
              </mc:Choice>
              <mc:Fallback>
                <p:oleObj name="公式" r:id="rId3" imgW="1054100" imgH="292100" progId="Equation.3">
                  <p:embed/>
                  <p:pic>
                    <p:nvPicPr>
                      <p:cNvPr id="1331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63" y="1422400"/>
                        <a:ext cx="2252662" cy="6207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8" name="Text Box 6"/>
          <p:cNvSpPr txBox="1">
            <a:spLocks noChangeArrowheads="1"/>
          </p:cNvSpPr>
          <p:nvPr/>
        </p:nvSpPr>
        <p:spPr bwMode="auto">
          <a:xfrm>
            <a:off x="595313" y="2414588"/>
            <a:ext cx="3255962"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ea typeface="楷体_GB2312"/>
              </a:rPr>
              <a:t>利用电势的叠加原理</a:t>
            </a:r>
          </a:p>
        </p:txBody>
      </p:sp>
      <p:graphicFrame>
        <p:nvGraphicFramePr>
          <p:cNvPr id="13319" name="Object 7"/>
          <p:cNvGraphicFramePr>
            <a:graphicFrameLocks noChangeAspect="1"/>
          </p:cNvGraphicFramePr>
          <p:nvPr/>
        </p:nvGraphicFramePr>
        <p:xfrm>
          <a:off x="1708150" y="2851150"/>
          <a:ext cx="1873250" cy="1039813"/>
        </p:xfrm>
        <a:graphic>
          <a:graphicData uri="http://schemas.openxmlformats.org/presentationml/2006/ole">
            <mc:AlternateContent xmlns:mc="http://schemas.openxmlformats.org/markup-compatibility/2006">
              <mc:Choice xmlns:v="urn:schemas-microsoft-com:vml" Requires="v">
                <p:oleObj spid="_x0000_s90131" name="公式" r:id="rId5" imgW="774364" imgH="431613" progId="Equation.3">
                  <p:embed/>
                </p:oleObj>
              </mc:Choice>
              <mc:Fallback>
                <p:oleObj name="公式" r:id="rId5" imgW="774364" imgH="431613" progId="Equation.3">
                  <p:embed/>
                  <p:pic>
                    <p:nvPicPr>
                      <p:cNvPr id="1331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8150" y="2851150"/>
                        <a:ext cx="1873250" cy="10398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0" name="Text Box 8"/>
          <p:cNvSpPr txBox="1">
            <a:spLocks noChangeArrowheads="1"/>
          </p:cNvSpPr>
          <p:nvPr/>
        </p:nvSpPr>
        <p:spPr bwMode="auto">
          <a:xfrm>
            <a:off x="250825" y="4325938"/>
            <a:ext cx="8359775" cy="22828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3333FF"/>
              </a:buClr>
              <a:buFont typeface="Wingdings" panose="05000000000000000000" pitchFamily="2" charset="2"/>
              <a:buChar char="$"/>
            </a:pPr>
            <a:r>
              <a:rPr lang="zh-CN" altLang="en-US" sz="2400">
                <a:ea typeface="楷体_GB2312"/>
              </a:rPr>
              <a:t>要求电荷的分布区域是已知的；</a:t>
            </a:r>
          </a:p>
          <a:p>
            <a:pPr eaLnBrk="1" hangingPunct="1">
              <a:spcBef>
                <a:spcPct val="0"/>
              </a:spcBef>
              <a:buClr>
                <a:srgbClr val="3333FF"/>
              </a:buClr>
              <a:buFont typeface="Wingdings" panose="05000000000000000000" pitchFamily="2" charset="2"/>
              <a:buChar char="$"/>
            </a:pPr>
            <a:r>
              <a:rPr lang="zh-CN" altLang="en-US" sz="2400">
                <a:ea typeface="楷体_GB2312"/>
              </a:rPr>
              <a:t>积分路径上的电场强度的函数形式要求已知或可求。</a:t>
            </a:r>
          </a:p>
          <a:p>
            <a:pPr eaLnBrk="1" hangingPunct="1">
              <a:spcBef>
                <a:spcPct val="0"/>
              </a:spcBef>
              <a:buClr>
                <a:srgbClr val="3333FF"/>
              </a:buClr>
              <a:buFont typeface="Wingdings" panose="05000000000000000000" pitchFamily="2" charset="2"/>
              <a:buChar char="$"/>
            </a:pPr>
            <a:r>
              <a:rPr lang="zh-CN" altLang="en-US" sz="2400">
                <a:ea typeface="楷体_GB2312"/>
              </a:rPr>
              <a:t>当电荷分布在有限的区域内，可以选择无穷远点作为电势的零点的；</a:t>
            </a:r>
          </a:p>
          <a:p>
            <a:pPr eaLnBrk="1" hangingPunct="1">
              <a:spcBef>
                <a:spcPct val="0"/>
              </a:spcBef>
              <a:buClr>
                <a:srgbClr val="3333FF"/>
              </a:buClr>
              <a:buFont typeface="Wingdings" panose="05000000000000000000" pitchFamily="2" charset="2"/>
              <a:buChar char="$"/>
            </a:pPr>
            <a:r>
              <a:rPr lang="zh-CN" altLang="en-US" sz="2400">
                <a:ea typeface="楷体_GB2312"/>
              </a:rPr>
              <a:t>而当激发电场的电荷分布延伸到无穷远时，只能根据具体问题的性质，在场中选择某点为电势的零点。</a:t>
            </a:r>
          </a:p>
        </p:txBody>
      </p:sp>
      <p:sp>
        <p:nvSpPr>
          <p:cNvPr id="13321" name="Rectangle 9"/>
          <p:cNvSpPr>
            <a:spLocks noChangeArrowheads="1"/>
          </p:cNvSpPr>
          <p:nvPr/>
        </p:nvSpPr>
        <p:spPr bwMode="auto">
          <a:xfrm>
            <a:off x="4284663" y="1916113"/>
            <a:ext cx="4419600" cy="173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75000"/>
              </a:lnSpc>
              <a:spcBef>
                <a:spcPct val="50000"/>
              </a:spcBef>
              <a:buFontTx/>
              <a:buNone/>
            </a:pPr>
            <a:r>
              <a:rPr lang="zh-CN" altLang="en-US" sz="2400">
                <a:solidFill>
                  <a:srgbClr val="FF3300"/>
                </a:solidFill>
                <a:ea typeface="楷体_GB2312"/>
              </a:rPr>
              <a:t>步骤</a:t>
            </a:r>
          </a:p>
          <a:p>
            <a:pPr>
              <a:lnSpc>
                <a:spcPct val="75000"/>
              </a:lnSpc>
              <a:spcBef>
                <a:spcPct val="50000"/>
              </a:spcBef>
              <a:buFontTx/>
              <a:buNone/>
            </a:pPr>
            <a:r>
              <a:rPr lang="en-US" altLang="zh-CN" sz="2400">
                <a:solidFill>
                  <a:srgbClr val="FF3300"/>
                </a:solidFill>
                <a:ea typeface="楷体_GB2312"/>
              </a:rPr>
              <a:t>(1)</a:t>
            </a:r>
            <a:r>
              <a:rPr lang="zh-CN" altLang="en-US" sz="2400">
                <a:solidFill>
                  <a:srgbClr val="FF3300"/>
                </a:solidFill>
                <a:ea typeface="楷体_GB2312"/>
              </a:rPr>
              <a:t>把带电体 </a:t>
            </a:r>
            <a:r>
              <a:rPr lang="zh-CN" altLang="en-US" sz="2400">
                <a:solidFill>
                  <a:srgbClr val="FF3300"/>
                </a:solidFill>
                <a:ea typeface="楷体_GB2312"/>
                <a:sym typeface="Symbol" panose="05050102010706020507" pitchFamily="18" charset="2"/>
              </a:rPr>
              <a:t></a:t>
            </a:r>
            <a:r>
              <a:rPr lang="zh-CN" altLang="en-US" sz="2400">
                <a:solidFill>
                  <a:srgbClr val="FF3300"/>
                </a:solidFill>
                <a:ea typeface="楷体_GB2312"/>
              </a:rPr>
              <a:t>分为无限多</a:t>
            </a:r>
            <a:r>
              <a:rPr lang="en-US" altLang="zh-CN" sz="2400">
                <a:solidFill>
                  <a:srgbClr val="FF3300"/>
                </a:solidFill>
                <a:ea typeface="楷体_GB2312"/>
              </a:rPr>
              <a:t>dq</a:t>
            </a:r>
          </a:p>
          <a:p>
            <a:pPr>
              <a:lnSpc>
                <a:spcPct val="75000"/>
              </a:lnSpc>
              <a:spcBef>
                <a:spcPct val="50000"/>
              </a:spcBef>
              <a:buFontTx/>
              <a:buNone/>
            </a:pPr>
            <a:r>
              <a:rPr lang="en-US" altLang="zh-CN" sz="2400">
                <a:solidFill>
                  <a:srgbClr val="FF3300"/>
                </a:solidFill>
                <a:ea typeface="楷体_GB2312"/>
              </a:rPr>
              <a:t>(2)</a:t>
            </a:r>
            <a:r>
              <a:rPr lang="zh-CN" altLang="en-US" sz="2400">
                <a:solidFill>
                  <a:srgbClr val="FF3300"/>
                </a:solidFill>
                <a:ea typeface="楷体_GB2312"/>
              </a:rPr>
              <a:t>由</a:t>
            </a:r>
            <a:r>
              <a:rPr lang="en-US" altLang="zh-CN" sz="2400">
                <a:solidFill>
                  <a:srgbClr val="FF3300"/>
                </a:solidFill>
                <a:ea typeface="楷体_GB2312"/>
              </a:rPr>
              <a:t>dq </a:t>
            </a:r>
            <a:r>
              <a:rPr lang="en-US" altLang="zh-CN" sz="2400">
                <a:solidFill>
                  <a:srgbClr val="FF3300"/>
                </a:solidFill>
                <a:ea typeface="楷体_GB2312"/>
                <a:sym typeface="Symbol" panose="05050102010706020507" pitchFamily="18" charset="2"/>
              </a:rPr>
              <a:t></a:t>
            </a:r>
            <a:r>
              <a:rPr lang="en-US" altLang="zh-CN" sz="2400">
                <a:solidFill>
                  <a:srgbClr val="FF3300"/>
                </a:solidFill>
                <a:ea typeface="楷体_GB2312"/>
              </a:rPr>
              <a:t> dV </a:t>
            </a:r>
            <a:endParaRPr lang="en-US" altLang="zh-CN" sz="2400" i="1">
              <a:solidFill>
                <a:srgbClr val="FF3300"/>
              </a:solidFill>
              <a:ea typeface="楷体_GB2312"/>
            </a:endParaRPr>
          </a:p>
          <a:p>
            <a:pPr>
              <a:lnSpc>
                <a:spcPct val="75000"/>
              </a:lnSpc>
              <a:spcBef>
                <a:spcPct val="50000"/>
              </a:spcBef>
              <a:buFontTx/>
              <a:buNone/>
            </a:pPr>
            <a:r>
              <a:rPr lang="en-US" altLang="zh-CN" sz="2400">
                <a:solidFill>
                  <a:srgbClr val="FF3300"/>
                </a:solidFill>
                <a:ea typeface="楷体_GB2312"/>
              </a:rPr>
              <a:t>(3)</a:t>
            </a:r>
            <a:r>
              <a:rPr lang="zh-CN" altLang="en-US" sz="2400">
                <a:solidFill>
                  <a:srgbClr val="FF3300"/>
                </a:solidFill>
                <a:ea typeface="楷体_GB2312"/>
              </a:rPr>
              <a:t>由</a:t>
            </a:r>
            <a:r>
              <a:rPr lang="en-US" altLang="zh-CN" sz="2400">
                <a:solidFill>
                  <a:srgbClr val="FF3300"/>
                </a:solidFill>
                <a:ea typeface="楷体_GB2312"/>
              </a:rPr>
              <a:t>d</a:t>
            </a:r>
            <a:r>
              <a:rPr lang="en-US" altLang="zh-CN" sz="2400" i="1">
                <a:solidFill>
                  <a:srgbClr val="FF3300"/>
                </a:solidFill>
                <a:ea typeface="楷体_GB2312"/>
              </a:rPr>
              <a:t>V</a:t>
            </a:r>
            <a:r>
              <a:rPr lang="en-US" altLang="zh-CN" sz="2400">
                <a:solidFill>
                  <a:srgbClr val="FF3300"/>
                </a:solidFill>
                <a:ea typeface="楷体_GB2312"/>
              </a:rPr>
              <a:t> </a:t>
            </a:r>
            <a:r>
              <a:rPr lang="en-US" altLang="zh-CN" sz="2400">
                <a:solidFill>
                  <a:srgbClr val="FF3300"/>
                </a:solidFill>
                <a:ea typeface="楷体_GB2312"/>
                <a:sym typeface="Symbol" panose="05050102010706020507" pitchFamily="18" charset="2"/>
              </a:rPr>
              <a:t></a:t>
            </a:r>
            <a:r>
              <a:rPr lang="en-US" altLang="zh-CN" sz="2400">
                <a:solidFill>
                  <a:srgbClr val="FF3300"/>
                </a:solidFill>
                <a:ea typeface="楷体_GB2312"/>
              </a:rPr>
              <a:t> </a:t>
            </a:r>
            <a:r>
              <a:rPr lang="en-US" altLang="zh-CN" sz="2400" i="1">
                <a:solidFill>
                  <a:srgbClr val="FF3300"/>
                </a:solidFill>
                <a:ea typeface="楷体_GB2312"/>
              </a:rPr>
              <a:t>V</a:t>
            </a:r>
            <a:r>
              <a:rPr lang="en-US" altLang="zh-CN" sz="2400">
                <a:solidFill>
                  <a:srgbClr val="FF3300"/>
                </a:solidFill>
                <a:ea typeface="楷体_GB2312"/>
              </a:rPr>
              <a:t> = </a:t>
            </a:r>
            <a:r>
              <a:rPr lang="en-US" altLang="zh-CN" sz="2400">
                <a:solidFill>
                  <a:srgbClr val="FF3300"/>
                </a:solidFill>
                <a:ea typeface="楷体_GB2312"/>
                <a:sym typeface="Symbol" panose="05050102010706020507" pitchFamily="18" charset="2"/>
              </a:rPr>
              <a:t></a:t>
            </a:r>
            <a:r>
              <a:rPr lang="en-US" altLang="zh-CN" sz="2400">
                <a:solidFill>
                  <a:srgbClr val="FF3300"/>
                </a:solidFill>
                <a:ea typeface="楷体_GB2312"/>
              </a:rPr>
              <a:t> dV</a:t>
            </a:r>
            <a:endParaRPr lang="en-US" altLang="zh-CN" sz="2000" i="1">
              <a:solidFill>
                <a:srgbClr val="FF3300"/>
              </a:solidFill>
              <a:ea typeface="楷体_GB2312"/>
            </a:endParaRPr>
          </a:p>
        </p:txBody>
      </p:sp>
    </p:spTree>
    <p:extLst>
      <p:ext uri="{BB962C8B-B14F-4D97-AF65-F5344CB8AC3E}">
        <p14:creationId xmlns:p14="http://schemas.microsoft.com/office/powerpoint/2010/main" val="1289178596"/>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ChangeArrowheads="1"/>
          </p:cNvSpPr>
          <p:nvPr/>
        </p:nvSpPr>
        <p:spPr bwMode="auto">
          <a:xfrm>
            <a:off x="6781800" y="0"/>
            <a:ext cx="2057400" cy="3581400"/>
          </a:xfrm>
          <a:prstGeom prst="rect">
            <a:avLst/>
          </a:prstGeom>
          <a:solidFill>
            <a:srgbClr val="FFFF99"/>
          </a:solidFill>
          <a:ln w="31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26307" name="Text Box 3"/>
          <p:cNvSpPr txBox="1">
            <a:spLocks noChangeArrowheads="1"/>
          </p:cNvSpPr>
          <p:nvPr/>
        </p:nvSpPr>
        <p:spPr bwMode="auto">
          <a:xfrm>
            <a:off x="76200" y="106363"/>
            <a:ext cx="53594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1</a:t>
            </a:r>
            <a:r>
              <a:rPr lang="zh-CN" altLang="en-US" sz="2400">
                <a:solidFill>
                  <a:srgbClr val="3333FF"/>
                </a:solidFill>
                <a:latin typeface="宋体" panose="02010600030101010101" pitchFamily="2" charset="-122"/>
                <a:ea typeface="楷体_GB2312"/>
              </a:rPr>
              <a:t>，均匀带电圆环轴线的电势。</a:t>
            </a:r>
            <a:endParaRPr lang="zh-CN" altLang="en-US">
              <a:solidFill>
                <a:srgbClr val="FF3300"/>
              </a:solidFill>
              <a:ea typeface="楷体_GB2312"/>
            </a:endParaRPr>
          </a:p>
        </p:txBody>
      </p:sp>
      <p:grpSp>
        <p:nvGrpSpPr>
          <p:cNvPr id="226308" name="Group 4"/>
          <p:cNvGrpSpPr>
            <a:grpSpLocks/>
          </p:cNvGrpSpPr>
          <p:nvPr/>
        </p:nvGrpSpPr>
        <p:grpSpPr bwMode="auto">
          <a:xfrm>
            <a:off x="6848475" y="228600"/>
            <a:ext cx="1990725" cy="3251200"/>
            <a:chOff x="4080" y="352"/>
            <a:chExt cx="1254" cy="2048"/>
          </a:xfrm>
        </p:grpSpPr>
        <p:sp>
          <p:nvSpPr>
            <p:cNvPr id="14356" name="Oval 5"/>
            <p:cNvSpPr>
              <a:spLocks noChangeArrowheads="1"/>
            </p:cNvSpPr>
            <p:nvPr/>
          </p:nvSpPr>
          <p:spPr bwMode="auto">
            <a:xfrm>
              <a:off x="4080" y="1824"/>
              <a:ext cx="1104" cy="240"/>
            </a:xfrm>
            <a:prstGeom prst="ellipse">
              <a:avLst/>
            </a:prstGeom>
            <a:noFill/>
            <a:ln w="41275">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4357" name="Line 6"/>
            <p:cNvSpPr>
              <a:spLocks noChangeShapeType="1"/>
            </p:cNvSpPr>
            <p:nvPr/>
          </p:nvSpPr>
          <p:spPr bwMode="auto">
            <a:xfrm flipV="1">
              <a:off x="4656" y="352"/>
              <a:ext cx="0" cy="1584"/>
            </a:xfrm>
            <a:prstGeom prst="line">
              <a:avLst/>
            </a:prstGeom>
            <a:noFill/>
            <a:ln w="412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58" name="Object 7"/>
            <p:cNvGraphicFramePr>
              <a:graphicFrameLocks noChangeAspect="1"/>
            </p:cNvGraphicFramePr>
            <p:nvPr/>
          </p:nvGraphicFramePr>
          <p:xfrm>
            <a:off x="4368" y="480"/>
            <a:ext cx="338" cy="221"/>
          </p:xfrm>
          <a:graphic>
            <a:graphicData uri="http://schemas.openxmlformats.org/presentationml/2006/ole">
              <mc:AlternateContent xmlns:mc="http://schemas.openxmlformats.org/markup-compatibility/2006">
                <mc:Choice xmlns:v="urn:schemas-microsoft-com:vml" Requires="v">
                  <p:oleObj spid="_x0000_s91202" name="公式" r:id="rId3" imgW="139700" imgH="139700" progId="Equation.3">
                    <p:embed/>
                  </p:oleObj>
                </mc:Choice>
                <mc:Fallback>
                  <p:oleObj name="公式" r:id="rId3" imgW="139700" imgH="139700" progId="Equation.3">
                    <p:embed/>
                    <p:pic>
                      <p:nvPicPr>
                        <p:cNvPr id="1435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 y="480"/>
                          <a:ext cx="338"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59" name="Object 8"/>
            <p:cNvGraphicFramePr>
              <a:graphicFrameLocks noChangeAspect="1"/>
            </p:cNvGraphicFramePr>
            <p:nvPr/>
          </p:nvGraphicFramePr>
          <p:xfrm>
            <a:off x="4306" y="1872"/>
            <a:ext cx="364" cy="238"/>
          </p:xfrm>
          <a:graphic>
            <a:graphicData uri="http://schemas.openxmlformats.org/presentationml/2006/ole">
              <mc:AlternateContent xmlns:mc="http://schemas.openxmlformats.org/markup-compatibility/2006">
                <mc:Choice xmlns:v="urn:schemas-microsoft-com:vml" Requires="v">
                  <p:oleObj spid="_x0000_s91203" name="公式" r:id="rId5" imgW="164885" imgH="164885" progId="Equation.3">
                    <p:embed/>
                  </p:oleObj>
                </mc:Choice>
                <mc:Fallback>
                  <p:oleObj name="公式" r:id="rId5" imgW="164885" imgH="164885" progId="Equation.3">
                    <p:embed/>
                    <p:pic>
                      <p:nvPicPr>
                        <p:cNvPr id="1435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6" y="1872"/>
                          <a:ext cx="364"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60" name="Object 9"/>
            <p:cNvGraphicFramePr>
              <a:graphicFrameLocks noChangeAspect="1"/>
            </p:cNvGraphicFramePr>
            <p:nvPr/>
          </p:nvGraphicFramePr>
          <p:xfrm>
            <a:off x="4896" y="1056"/>
            <a:ext cx="438" cy="319"/>
          </p:xfrm>
          <a:graphic>
            <a:graphicData uri="http://schemas.openxmlformats.org/presentationml/2006/ole">
              <mc:AlternateContent xmlns:mc="http://schemas.openxmlformats.org/markup-compatibility/2006">
                <mc:Choice xmlns:v="urn:schemas-microsoft-com:vml" Requires="v">
                  <p:oleObj spid="_x0000_s91204" name="公式" r:id="rId7" imgW="114102" imgH="126780" progId="Equation.3">
                    <p:embed/>
                  </p:oleObj>
                </mc:Choice>
                <mc:Fallback>
                  <p:oleObj name="公式" r:id="rId7" imgW="114102" imgH="126780" progId="Equation.3">
                    <p:embed/>
                    <p:pic>
                      <p:nvPicPr>
                        <p:cNvPr id="1436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6" y="1056"/>
                          <a:ext cx="438"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61" name="Line 10"/>
            <p:cNvSpPr>
              <a:spLocks noChangeShapeType="1"/>
            </p:cNvSpPr>
            <p:nvPr/>
          </p:nvSpPr>
          <p:spPr bwMode="auto">
            <a:xfrm flipH="1" flipV="1">
              <a:off x="4656" y="768"/>
              <a:ext cx="384" cy="1248"/>
            </a:xfrm>
            <a:prstGeom prst="line">
              <a:avLst/>
            </a:prstGeom>
            <a:noFill/>
            <a:ln w="412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2" name="Line 11"/>
            <p:cNvSpPr>
              <a:spLocks noChangeShapeType="1"/>
            </p:cNvSpPr>
            <p:nvPr/>
          </p:nvSpPr>
          <p:spPr bwMode="auto">
            <a:xfrm>
              <a:off x="4656" y="1920"/>
              <a:ext cx="384" cy="96"/>
            </a:xfrm>
            <a:prstGeom prst="line">
              <a:avLst/>
            </a:prstGeom>
            <a:noFill/>
            <a:ln w="41275">
              <a:solidFill>
                <a:srgbClr val="CC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63" name="Object 12"/>
            <p:cNvGraphicFramePr>
              <a:graphicFrameLocks noChangeAspect="1"/>
            </p:cNvGraphicFramePr>
            <p:nvPr/>
          </p:nvGraphicFramePr>
          <p:xfrm>
            <a:off x="4640" y="576"/>
            <a:ext cx="416" cy="363"/>
          </p:xfrm>
          <a:graphic>
            <a:graphicData uri="http://schemas.openxmlformats.org/presentationml/2006/ole">
              <mc:AlternateContent xmlns:mc="http://schemas.openxmlformats.org/markup-compatibility/2006">
                <mc:Choice xmlns:v="urn:schemas-microsoft-com:vml" Requires="v">
                  <p:oleObj spid="_x0000_s91205" name="公式" r:id="rId9" imgW="164885" imgH="164885" progId="Equation.3">
                    <p:embed/>
                  </p:oleObj>
                </mc:Choice>
                <mc:Fallback>
                  <p:oleObj name="公式" r:id="rId9" imgW="164885" imgH="164885" progId="Equation.3">
                    <p:embed/>
                    <p:pic>
                      <p:nvPicPr>
                        <p:cNvPr id="14363"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0" y="576"/>
                          <a:ext cx="41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64" name="Object 13"/>
            <p:cNvGraphicFramePr>
              <a:graphicFrameLocks noChangeAspect="1"/>
            </p:cNvGraphicFramePr>
            <p:nvPr/>
          </p:nvGraphicFramePr>
          <p:xfrm>
            <a:off x="4896" y="2000"/>
            <a:ext cx="370" cy="400"/>
          </p:xfrm>
          <a:graphic>
            <a:graphicData uri="http://schemas.openxmlformats.org/presentationml/2006/ole">
              <mc:AlternateContent xmlns:mc="http://schemas.openxmlformats.org/markup-compatibility/2006">
                <mc:Choice xmlns:v="urn:schemas-microsoft-com:vml" Requires="v">
                  <p:oleObj spid="_x0000_s91206" name="公式" r:id="rId11" imgW="203024" imgH="203024" progId="Equation.3">
                    <p:embed/>
                  </p:oleObj>
                </mc:Choice>
                <mc:Fallback>
                  <p:oleObj name="公式" r:id="rId11" imgW="203024" imgH="203024" progId="Equation.3">
                    <p:embed/>
                    <p:pic>
                      <p:nvPicPr>
                        <p:cNvPr id="14364"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6" y="2000"/>
                          <a:ext cx="370" cy="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6318" name="Text Box 14"/>
          <p:cNvSpPr txBox="1">
            <a:spLocks noChangeArrowheads="1"/>
          </p:cNvSpPr>
          <p:nvPr/>
        </p:nvSpPr>
        <p:spPr bwMode="auto">
          <a:xfrm>
            <a:off x="228600" y="685800"/>
            <a:ext cx="6430963"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已知电荷</a:t>
            </a:r>
            <a:r>
              <a:rPr lang="en-US" altLang="zh-CN" sz="2400" i="1">
                <a:ea typeface="楷体_GB2312"/>
              </a:rPr>
              <a:t>q </a:t>
            </a:r>
            <a:r>
              <a:rPr lang="zh-CN" altLang="en-US" sz="2400">
                <a:ea typeface="楷体_GB2312"/>
              </a:rPr>
              <a:t>均匀地分布在半径为</a:t>
            </a:r>
            <a:r>
              <a:rPr lang="en-US" altLang="zh-CN" sz="2400" i="1">
                <a:ea typeface="楷体_GB2312"/>
              </a:rPr>
              <a:t>R</a:t>
            </a:r>
            <a:r>
              <a:rPr lang="zh-CN" altLang="en-US" sz="2400">
                <a:ea typeface="楷体_GB2312"/>
              </a:rPr>
              <a:t>的圆环上，求圆环的轴线上与环心相距</a:t>
            </a:r>
            <a:r>
              <a:rPr lang="en-US" altLang="zh-CN" sz="2400" i="1">
                <a:ea typeface="楷体_GB2312"/>
              </a:rPr>
              <a:t>x </a:t>
            </a:r>
            <a:r>
              <a:rPr lang="zh-CN" altLang="en-US" sz="2400">
                <a:ea typeface="楷体_GB2312"/>
              </a:rPr>
              <a:t>的点的电势。</a:t>
            </a:r>
            <a:endParaRPr lang="zh-CN" altLang="en-US" sz="3600">
              <a:solidFill>
                <a:srgbClr val="FF3300"/>
              </a:solidFill>
              <a:ea typeface="楷体_GB2312"/>
            </a:endParaRPr>
          </a:p>
        </p:txBody>
      </p:sp>
      <p:sp>
        <p:nvSpPr>
          <p:cNvPr id="226319" name="Text Box 15"/>
          <p:cNvSpPr txBox="1">
            <a:spLocks noChangeArrowheads="1"/>
          </p:cNvSpPr>
          <p:nvPr/>
        </p:nvSpPr>
        <p:spPr bwMode="auto">
          <a:xfrm>
            <a:off x="304800" y="1447800"/>
            <a:ext cx="35496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解：在圆环上取一电荷元</a:t>
            </a:r>
          </a:p>
        </p:txBody>
      </p:sp>
      <p:graphicFrame>
        <p:nvGraphicFramePr>
          <p:cNvPr id="226320" name="Object 16"/>
          <p:cNvGraphicFramePr>
            <a:graphicFrameLocks noChangeAspect="1"/>
          </p:cNvGraphicFramePr>
          <p:nvPr>
            <p:extLst/>
          </p:nvPr>
        </p:nvGraphicFramePr>
        <p:xfrm>
          <a:off x="4003222" y="1668463"/>
          <a:ext cx="1890712" cy="971550"/>
        </p:xfrm>
        <a:graphic>
          <a:graphicData uri="http://schemas.openxmlformats.org/presentationml/2006/ole">
            <mc:AlternateContent xmlns:mc="http://schemas.openxmlformats.org/markup-compatibility/2006">
              <mc:Choice xmlns:v="urn:schemas-microsoft-com:vml" Requires="v">
                <p:oleObj spid="_x0000_s91207" name="公式" r:id="rId13" imgW="787058" imgH="406224" progId="Equation.3">
                  <p:embed/>
                </p:oleObj>
              </mc:Choice>
              <mc:Fallback>
                <p:oleObj name="公式" r:id="rId13" imgW="787058" imgH="406224" progId="Equation.3">
                  <p:embed/>
                  <p:pic>
                    <p:nvPicPr>
                      <p:cNvPr id="22632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03222" y="1668463"/>
                        <a:ext cx="1890712" cy="971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21" name="Text Box 17"/>
          <p:cNvSpPr txBox="1">
            <a:spLocks noChangeArrowheads="1"/>
          </p:cNvSpPr>
          <p:nvPr/>
        </p:nvSpPr>
        <p:spPr bwMode="auto">
          <a:xfrm>
            <a:off x="578286" y="2559844"/>
            <a:ext cx="26066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它在场点的电势为</a:t>
            </a:r>
          </a:p>
        </p:txBody>
      </p:sp>
      <p:graphicFrame>
        <p:nvGraphicFramePr>
          <p:cNvPr id="226322" name="Object 18"/>
          <p:cNvGraphicFramePr>
            <a:graphicFrameLocks noChangeAspect="1"/>
          </p:cNvGraphicFramePr>
          <p:nvPr>
            <p:extLst/>
          </p:nvPr>
        </p:nvGraphicFramePr>
        <p:xfrm>
          <a:off x="1378518" y="3162300"/>
          <a:ext cx="4060825" cy="1006475"/>
        </p:xfrm>
        <a:graphic>
          <a:graphicData uri="http://schemas.openxmlformats.org/presentationml/2006/ole">
            <mc:AlternateContent xmlns:mc="http://schemas.openxmlformats.org/markup-compatibility/2006">
              <mc:Choice xmlns:v="urn:schemas-microsoft-com:vml" Requires="v">
                <p:oleObj spid="_x0000_s91208" name="公式" r:id="rId15" imgW="1739900" imgH="431800" progId="Equation.3">
                  <p:embed/>
                </p:oleObj>
              </mc:Choice>
              <mc:Fallback>
                <p:oleObj name="公式" r:id="rId15" imgW="1739900" imgH="431800" progId="Equation.3">
                  <p:embed/>
                  <p:pic>
                    <p:nvPicPr>
                      <p:cNvPr id="226322"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78518" y="3162300"/>
                        <a:ext cx="4060825" cy="10064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23" name="Text Box 19"/>
          <p:cNvSpPr txBox="1">
            <a:spLocks noChangeArrowheads="1"/>
          </p:cNvSpPr>
          <p:nvPr/>
        </p:nvSpPr>
        <p:spPr bwMode="auto">
          <a:xfrm>
            <a:off x="169077" y="4175125"/>
            <a:ext cx="29210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积分得场点的电势为</a:t>
            </a:r>
          </a:p>
        </p:txBody>
      </p:sp>
      <p:graphicFrame>
        <p:nvGraphicFramePr>
          <p:cNvPr id="226324" name="Object 20"/>
          <p:cNvGraphicFramePr>
            <a:graphicFrameLocks noChangeAspect="1"/>
          </p:cNvGraphicFramePr>
          <p:nvPr>
            <p:extLst/>
          </p:nvPr>
        </p:nvGraphicFramePr>
        <p:xfrm>
          <a:off x="870752" y="4797425"/>
          <a:ext cx="5816600" cy="887413"/>
        </p:xfrm>
        <a:graphic>
          <a:graphicData uri="http://schemas.openxmlformats.org/presentationml/2006/ole">
            <mc:AlternateContent xmlns:mc="http://schemas.openxmlformats.org/markup-compatibility/2006">
              <mc:Choice xmlns:v="urn:schemas-microsoft-com:vml" Requires="v">
                <p:oleObj spid="_x0000_s91209" name="公式" r:id="rId17" imgW="2819400" imgH="431800" progId="Equation.3">
                  <p:embed/>
                </p:oleObj>
              </mc:Choice>
              <mc:Fallback>
                <p:oleObj name="公式" r:id="rId17" imgW="2819400" imgH="431800" progId="Equation.3">
                  <p:embed/>
                  <p:pic>
                    <p:nvPicPr>
                      <p:cNvPr id="226324"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0752" y="4797425"/>
                        <a:ext cx="5816600" cy="8874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6325" name="Group 21"/>
          <p:cNvGrpSpPr>
            <a:grpSpLocks/>
          </p:cNvGrpSpPr>
          <p:nvPr/>
        </p:nvGrpSpPr>
        <p:grpSpPr bwMode="auto">
          <a:xfrm>
            <a:off x="6323013" y="3703638"/>
            <a:ext cx="2516187" cy="2087562"/>
            <a:chOff x="3983" y="2160"/>
            <a:chExt cx="1585" cy="1315"/>
          </a:xfrm>
        </p:grpSpPr>
        <p:sp>
          <p:nvSpPr>
            <p:cNvPr id="14349" name="Line 22"/>
            <p:cNvSpPr>
              <a:spLocks noChangeShapeType="1"/>
            </p:cNvSpPr>
            <p:nvPr/>
          </p:nvSpPr>
          <p:spPr bwMode="auto">
            <a:xfrm>
              <a:off x="3983" y="3119"/>
              <a:ext cx="15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4350" name="Line 23"/>
            <p:cNvSpPr>
              <a:spLocks noChangeShapeType="1"/>
            </p:cNvSpPr>
            <p:nvPr/>
          </p:nvSpPr>
          <p:spPr bwMode="auto">
            <a:xfrm flipV="1">
              <a:off x="4800" y="2160"/>
              <a:ext cx="0" cy="115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4351" name="Line 24"/>
            <p:cNvSpPr>
              <a:spLocks noChangeShapeType="1"/>
            </p:cNvSpPr>
            <p:nvPr/>
          </p:nvSpPr>
          <p:spPr bwMode="auto">
            <a:xfrm>
              <a:off x="3984" y="2832"/>
              <a:ext cx="1584" cy="0"/>
            </a:xfrm>
            <a:prstGeom prst="line">
              <a:avLst/>
            </a:prstGeom>
            <a:noFill/>
            <a:ln w="381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4352" name="Freeform 25"/>
            <p:cNvSpPr>
              <a:spLocks/>
            </p:cNvSpPr>
            <p:nvPr/>
          </p:nvSpPr>
          <p:spPr bwMode="auto">
            <a:xfrm>
              <a:off x="4223" y="2350"/>
              <a:ext cx="576" cy="384"/>
            </a:xfrm>
            <a:custGeom>
              <a:avLst/>
              <a:gdLst>
                <a:gd name="T0" fmla="*/ 0 w 576"/>
                <a:gd name="T1" fmla="*/ 384 h 384"/>
                <a:gd name="T2" fmla="*/ 384 w 576"/>
                <a:gd name="T3" fmla="*/ 288 h 384"/>
                <a:gd name="T4" fmla="*/ 576 w 576"/>
                <a:gd name="T5" fmla="*/ 0 h 384"/>
                <a:gd name="T6" fmla="*/ 0 60000 65536"/>
                <a:gd name="T7" fmla="*/ 0 60000 65536"/>
                <a:gd name="T8" fmla="*/ 0 60000 65536"/>
              </a:gdLst>
              <a:ahLst/>
              <a:cxnLst>
                <a:cxn ang="T6">
                  <a:pos x="T0" y="T1"/>
                </a:cxn>
                <a:cxn ang="T7">
                  <a:pos x="T2" y="T3"/>
                </a:cxn>
                <a:cxn ang="T8">
                  <a:pos x="T4" y="T5"/>
                </a:cxn>
              </a:cxnLst>
              <a:rect l="0" t="0" r="r" b="b"/>
              <a:pathLst>
                <a:path w="576" h="384">
                  <a:moveTo>
                    <a:pt x="0" y="384"/>
                  </a:moveTo>
                  <a:cubicBezTo>
                    <a:pt x="144" y="368"/>
                    <a:pt x="288" y="352"/>
                    <a:pt x="384" y="288"/>
                  </a:cubicBezTo>
                  <a:cubicBezTo>
                    <a:pt x="480" y="224"/>
                    <a:pt x="528" y="112"/>
                    <a:pt x="576" y="0"/>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4353" name="Freeform 26"/>
            <p:cNvSpPr>
              <a:spLocks/>
            </p:cNvSpPr>
            <p:nvPr/>
          </p:nvSpPr>
          <p:spPr bwMode="auto">
            <a:xfrm>
              <a:off x="4800" y="2400"/>
              <a:ext cx="624" cy="344"/>
            </a:xfrm>
            <a:custGeom>
              <a:avLst/>
              <a:gdLst>
                <a:gd name="T0" fmla="*/ 624 w 624"/>
                <a:gd name="T1" fmla="*/ 336 h 344"/>
                <a:gd name="T2" fmla="*/ 240 w 624"/>
                <a:gd name="T3" fmla="*/ 288 h 344"/>
                <a:gd name="T4" fmla="*/ 0 w 624"/>
                <a:gd name="T5" fmla="*/ 0 h 344"/>
                <a:gd name="T6" fmla="*/ 0 60000 65536"/>
                <a:gd name="T7" fmla="*/ 0 60000 65536"/>
                <a:gd name="T8" fmla="*/ 0 60000 65536"/>
              </a:gdLst>
              <a:ahLst/>
              <a:cxnLst>
                <a:cxn ang="T6">
                  <a:pos x="T0" y="T1"/>
                </a:cxn>
                <a:cxn ang="T7">
                  <a:pos x="T2" y="T3"/>
                </a:cxn>
                <a:cxn ang="T8">
                  <a:pos x="T4" y="T5"/>
                </a:cxn>
              </a:cxnLst>
              <a:rect l="0" t="0" r="r" b="b"/>
              <a:pathLst>
                <a:path w="624" h="344">
                  <a:moveTo>
                    <a:pt x="624" y="336"/>
                  </a:moveTo>
                  <a:cubicBezTo>
                    <a:pt x="484" y="340"/>
                    <a:pt x="344" y="344"/>
                    <a:pt x="240" y="288"/>
                  </a:cubicBezTo>
                  <a:cubicBezTo>
                    <a:pt x="136" y="232"/>
                    <a:pt x="40" y="48"/>
                    <a:pt x="0" y="0"/>
                  </a:cubicBez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4354" name="Text Box 27"/>
            <p:cNvSpPr txBox="1">
              <a:spLocks noChangeArrowheads="1"/>
            </p:cNvSpPr>
            <p:nvPr/>
          </p:nvSpPr>
          <p:spPr bwMode="auto">
            <a:xfrm>
              <a:off x="4768" y="3120"/>
              <a:ext cx="253" cy="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400" i="1">
                  <a:solidFill>
                    <a:srgbClr val="FF3300"/>
                  </a:solidFill>
                  <a:ea typeface="楷体_GB2312"/>
                </a:rPr>
                <a:t>O</a:t>
              </a:r>
              <a:endParaRPr lang="en-US" altLang="zh-CN" sz="3600">
                <a:solidFill>
                  <a:srgbClr val="FF3300"/>
                </a:solidFill>
                <a:ea typeface="楷体_GB2312"/>
              </a:endParaRPr>
            </a:p>
          </p:txBody>
        </p:sp>
        <p:sp>
          <p:nvSpPr>
            <p:cNvPr id="14355" name="Text Box 28"/>
            <p:cNvSpPr txBox="1">
              <a:spLocks noChangeArrowheads="1"/>
            </p:cNvSpPr>
            <p:nvPr/>
          </p:nvSpPr>
          <p:spPr bwMode="auto">
            <a:xfrm>
              <a:off x="5263" y="3148"/>
              <a:ext cx="226"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i="1">
                  <a:solidFill>
                    <a:srgbClr val="FF3300"/>
                  </a:solidFill>
                  <a:ea typeface="楷体_GB2312"/>
                </a:rPr>
                <a:t>x</a:t>
              </a:r>
              <a:endParaRPr lang="en-US" altLang="zh-CN" sz="3600">
                <a:solidFill>
                  <a:srgbClr val="FF3300"/>
                </a:solidFill>
                <a:ea typeface="楷体_GB2312"/>
              </a:endParaRPr>
            </a:p>
          </p:txBody>
        </p:sp>
      </p:grpSp>
      <p:pic>
        <p:nvPicPr>
          <p:cNvPr id="2" name="图片 1">
            <a:extLst>
              <a:ext uri="{FF2B5EF4-FFF2-40B4-BE49-F238E27FC236}">
                <a16:creationId xmlns:a16="http://schemas.microsoft.com/office/drawing/2014/main" id="{CCEF5DC7-B524-48A5-8521-8563D86B97CB}"/>
              </a:ext>
            </a:extLst>
          </p:cNvPr>
          <p:cNvPicPr>
            <a:picLocks noChangeAspect="1"/>
          </p:cNvPicPr>
          <p:nvPr/>
        </p:nvPicPr>
        <p:blipFill>
          <a:blip r:embed="rId19"/>
          <a:stretch>
            <a:fillRect/>
          </a:stretch>
        </p:blipFill>
        <p:spPr>
          <a:xfrm>
            <a:off x="2482908" y="5866940"/>
            <a:ext cx="2592288" cy="968835"/>
          </a:xfrm>
          <a:prstGeom prst="rect">
            <a:avLst/>
          </a:prstGeom>
        </p:spPr>
      </p:pic>
      <p:sp>
        <p:nvSpPr>
          <p:cNvPr id="31" name="Text Box 19">
            <a:extLst>
              <a:ext uri="{FF2B5EF4-FFF2-40B4-BE49-F238E27FC236}">
                <a16:creationId xmlns:a16="http://schemas.microsoft.com/office/drawing/2014/main" id="{EB03C522-3758-4263-A41B-85516852D9AB}"/>
              </a:ext>
            </a:extLst>
          </p:cNvPr>
          <p:cNvSpPr txBox="1">
            <a:spLocks noChangeArrowheads="1"/>
          </p:cNvSpPr>
          <p:nvPr/>
        </p:nvSpPr>
        <p:spPr bwMode="auto">
          <a:xfrm>
            <a:off x="385554" y="6203877"/>
            <a:ext cx="3468896"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电场强度为</a:t>
            </a:r>
          </a:p>
        </p:txBody>
      </p:sp>
    </p:spTree>
    <p:extLst>
      <p:ext uri="{BB962C8B-B14F-4D97-AF65-F5344CB8AC3E}">
        <p14:creationId xmlns:p14="http://schemas.microsoft.com/office/powerpoint/2010/main" val="31561473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07"/>
                                        </p:tgtEl>
                                        <p:attrNameLst>
                                          <p:attrName>style.visibility</p:attrName>
                                        </p:attrNameLst>
                                      </p:cBhvr>
                                      <p:to>
                                        <p:strVal val="visible"/>
                                      </p:to>
                                    </p:set>
                                    <p:animEffect transition="in" filter="wipe(left)">
                                      <p:cBhvr>
                                        <p:cTn id="7" dur="500"/>
                                        <p:tgtEl>
                                          <p:spTgt spid="226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6306"/>
                                        </p:tgtEl>
                                        <p:attrNameLst>
                                          <p:attrName>style.visibility</p:attrName>
                                        </p:attrNameLst>
                                      </p:cBhvr>
                                      <p:to>
                                        <p:strVal val="visible"/>
                                      </p:to>
                                    </p:set>
                                    <p:animEffect transition="in" filter="dissolve">
                                      <p:cBhvr>
                                        <p:cTn id="12" dur="500"/>
                                        <p:tgtEl>
                                          <p:spTgt spid="2263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6308"/>
                                        </p:tgtEl>
                                        <p:attrNameLst>
                                          <p:attrName>style.visibility</p:attrName>
                                        </p:attrNameLst>
                                      </p:cBhvr>
                                      <p:to>
                                        <p:strVal val="visible"/>
                                      </p:to>
                                    </p:set>
                                    <p:animEffect transition="in" filter="wipe(left)">
                                      <p:cBhvr>
                                        <p:cTn id="17" dur="500"/>
                                        <p:tgtEl>
                                          <p:spTgt spid="2263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6318"/>
                                        </p:tgtEl>
                                        <p:attrNameLst>
                                          <p:attrName>style.visibility</p:attrName>
                                        </p:attrNameLst>
                                      </p:cBhvr>
                                      <p:to>
                                        <p:strVal val="visible"/>
                                      </p:to>
                                    </p:set>
                                    <p:animEffect transition="in" filter="wipe(left)">
                                      <p:cBhvr>
                                        <p:cTn id="22" dur="500"/>
                                        <p:tgtEl>
                                          <p:spTgt spid="2263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6319"/>
                                        </p:tgtEl>
                                        <p:attrNameLst>
                                          <p:attrName>style.visibility</p:attrName>
                                        </p:attrNameLst>
                                      </p:cBhvr>
                                      <p:to>
                                        <p:strVal val="visible"/>
                                      </p:to>
                                    </p:set>
                                    <p:animEffect transition="in" filter="wipe(left)">
                                      <p:cBhvr>
                                        <p:cTn id="27" dur="500"/>
                                        <p:tgtEl>
                                          <p:spTgt spid="2263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26320"/>
                                        </p:tgtEl>
                                        <p:attrNameLst>
                                          <p:attrName>style.visibility</p:attrName>
                                        </p:attrNameLst>
                                      </p:cBhvr>
                                      <p:to>
                                        <p:strVal val="visible"/>
                                      </p:to>
                                    </p:set>
                                    <p:animEffect transition="in" filter="wipe(left)">
                                      <p:cBhvr>
                                        <p:cTn id="32" dur="500"/>
                                        <p:tgtEl>
                                          <p:spTgt spid="2263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6321"/>
                                        </p:tgtEl>
                                        <p:attrNameLst>
                                          <p:attrName>style.visibility</p:attrName>
                                        </p:attrNameLst>
                                      </p:cBhvr>
                                      <p:to>
                                        <p:strVal val="visible"/>
                                      </p:to>
                                    </p:set>
                                    <p:animEffect transition="in" filter="wipe(left)">
                                      <p:cBhvr>
                                        <p:cTn id="37" dur="500"/>
                                        <p:tgtEl>
                                          <p:spTgt spid="2263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26322"/>
                                        </p:tgtEl>
                                        <p:attrNameLst>
                                          <p:attrName>style.visibility</p:attrName>
                                        </p:attrNameLst>
                                      </p:cBhvr>
                                      <p:to>
                                        <p:strVal val="visible"/>
                                      </p:to>
                                    </p:set>
                                    <p:animEffect transition="in" filter="wipe(left)">
                                      <p:cBhvr>
                                        <p:cTn id="42" dur="500"/>
                                        <p:tgtEl>
                                          <p:spTgt spid="2263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6323"/>
                                        </p:tgtEl>
                                        <p:attrNameLst>
                                          <p:attrName>style.visibility</p:attrName>
                                        </p:attrNameLst>
                                      </p:cBhvr>
                                      <p:to>
                                        <p:strVal val="visible"/>
                                      </p:to>
                                    </p:set>
                                    <p:animEffect transition="in" filter="wipe(left)">
                                      <p:cBhvr>
                                        <p:cTn id="47" dur="500"/>
                                        <p:tgtEl>
                                          <p:spTgt spid="2263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26324"/>
                                        </p:tgtEl>
                                        <p:attrNameLst>
                                          <p:attrName>style.visibility</p:attrName>
                                        </p:attrNameLst>
                                      </p:cBhvr>
                                      <p:to>
                                        <p:strVal val="visible"/>
                                      </p:to>
                                    </p:set>
                                    <p:animEffect transition="in" filter="wipe(left)">
                                      <p:cBhvr>
                                        <p:cTn id="52" dur="500"/>
                                        <p:tgtEl>
                                          <p:spTgt spid="22632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26325"/>
                                        </p:tgtEl>
                                        <p:attrNameLst>
                                          <p:attrName>style.visibility</p:attrName>
                                        </p:attrNameLst>
                                      </p:cBhvr>
                                      <p:to>
                                        <p:strVal val="visible"/>
                                      </p:to>
                                    </p:set>
                                    <p:animEffect transition="in" filter="wipe(left)">
                                      <p:cBhvr>
                                        <p:cTn id="57" dur="500"/>
                                        <p:tgtEl>
                                          <p:spTgt spid="2263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left)">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animBg="1"/>
      <p:bldP spid="226307" grpId="0" autoUpdateAnimBg="0"/>
      <p:bldP spid="226318" grpId="0" autoUpdateAnimBg="0"/>
      <p:bldP spid="226319" grpId="0" autoUpdateAnimBg="0"/>
      <p:bldP spid="226321" grpId="0" autoUpdateAnimBg="0"/>
      <p:bldP spid="226323" grpId="0" autoUpdateAnimBg="0"/>
      <p:bldP spid="3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6172200" y="76200"/>
            <a:ext cx="2895600" cy="3505200"/>
          </a:xfrm>
          <a:prstGeom prst="rect">
            <a:avLst/>
          </a:prstGeom>
          <a:solidFill>
            <a:srgbClr val="FFFF99"/>
          </a:solidFill>
          <a:ln w="31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5363" name="Text Box 3"/>
          <p:cNvSpPr txBox="1">
            <a:spLocks noChangeArrowheads="1"/>
          </p:cNvSpPr>
          <p:nvPr/>
        </p:nvSpPr>
        <p:spPr bwMode="auto">
          <a:xfrm>
            <a:off x="76200" y="106363"/>
            <a:ext cx="52165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2</a:t>
            </a:r>
            <a:r>
              <a:rPr lang="zh-CN" altLang="en-US" sz="2400">
                <a:solidFill>
                  <a:srgbClr val="3333FF"/>
                </a:solidFill>
                <a:latin typeface="宋体" panose="02010600030101010101" pitchFamily="2" charset="-122"/>
                <a:ea typeface="楷体_GB2312"/>
              </a:rPr>
              <a:t>，均匀带电圆盘轴线的电势。</a:t>
            </a:r>
            <a:endParaRPr lang="zh-CN" altLang="en-US">
              <a:solidFill>
                <a:srgbClr val="FF3300"/>
              </a:solidFill>
              <a:ea typeface="楷体_GB2312"/>
            </a:endParaRPr>
          </a:p>
        </p:txBody>
      </p:sp>
      <p:sp>
        <p:nvSpPr>
          <p:cNvPr id="15364" name="Text Box 4"/>
          <p:cNvSpPr txBox="1">
            <a:spLocks noChangeArrowheads="1"/>
          </p:cNvSpPr>
          <p:nvPr/>
        </p:nvSpPr>
        <p:spPr bwMode="auto">
          <a:xfrm>
            <a:off x="228600" y="533400"/>
            <a:ext cx="6110288"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已知电荷</a:t>
            </a:r>
            <a:r>
              <a:rPr lang="en-US" altLang="zh-CN" sz="2400" i="1">
                <a:ea typeface="楷体_GB2312"/>
              </a:rPr>
              <a:t>q</a:t>
            </a:r>
            <a:r>
              <a:rPr lang="zh-CN" altLang="en-US" sz="2400">
                <a:ea typeface="楷体_GB2312"/>
              </a:rPr>
              <a:t>均匀地分布在半径为</a:t>
            </a:r>
            <a:r>
              <a:rPr lang="en-US" altLang="zh-CN" sz="2400" i="1">
                <a:ea typeface="楷体_GB2312"/>
              </a:rPr>
              <a:t>a</a:t>
            </a:r>
            <a:r>
              <a:rPr lang="zh-CN" altLang="en-US" sz="2400">
                <a:ea typeface="楷体_GB2312"/>
              </a:rPr>
              <a:t>的圆盘上，求圆盘的轴线上与盘心相距</a:t>
            </a:r>
            <a:r>
              <a:rPr lang="en-US" altLang="zh-CN" sz="2400" i="1">
                <a:ea typeface="楷体_GB2312"/>
              </a:rPr>
              <a:t>x</a:t>
            </a:r>
            <a:r>
              <a:rPr lang="zh-CN" altLang="en-US" sz="2400">
                <a:ea typeface="楷体_GB2312"/>
              </a:rPr>
              <a:t>的点的电势。</a:t>
            </a:r>
            <a:endParaRPr lang="zh-CN" altLang="en-US" sz="3600">
              <a:solidFill>
                <a:srgbClr val="FF3300"/>
              </a:solidFill>
              <a:ea typeface="楷体_GB2312"/>
            </a:endParaRPr>
          </a:p>
        </p:txBody>
      </p:sp>
      <p:graphicFrame>
        <p:nvGraphicFramePr>
          <p:cNvPr id="15365" name="Object 8"/>
          <p:cNvGraphicFramePr>
            <a:graphicFrameLocks noChangeAspect="1"/>
          </p:cNvGraphicFramePr>
          <p:nvPr/>
        </p:nvGraphicFramePr>
        <p:xfrm>
          <a:off x="7305675" y="431800"/>
          <a:ext cx="536575" cy="350838"/>
        </p:xfrm>
        <a:graphic>
          <a:graphicData uri="http://schemas.openxmlformats.org/presentationml/2006/ole">
            <mc:AlternateContent xmlns:mc="http://schemas.openxmlformats.org/markup-compatibility/2006">
              <mc:Choice xmlns:v="urn:schemas-microsoft-com:vml" Requires="v">
                <p:oleObj spid="_x0000_s92242" name="公式" r:id="rId3" imgW="139700" imgH="139700" progId="Equation.3">
                  <p:embed/>
                </p:oleObj>
              </mc:Choice>
              <mc:Fallback>
                <p:oleObj name="公式" r:id="rId3" imgW="139700" imgH="139700" progId="Equation.3">
                  <p:embed/>
                  <p:pic>
                    <p:nvPicPr>
                      <p:cNvPr id="15365"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5675" y="431800"/>
                        <a:ext cx="5365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6" name="Object 14"/>
          <p:cNvGraphicFramePr>
            <a:graphicFrameLocks noChangeAspect="1"/>
          </p:cNvGraphicFramePr>
          <p:nvPr/>
        </p:nvGraphicFramePr>
        <p:xfrm>
          <a:off x="8143875" y="2844800"/>
          <a:ext cx="587375" cy="635000"/>
        </p:xfrm>
        <a:graphic>
          <a:graphicData uri="http://schemas.openxmlformats.org/presentationml/2006/ole">
            <mc:AlternateContent xmlns:mc="http://schemas.openxmlformats.org/markup-compatibility/2006">
              <mc:Choice xmlns:v="urn:schemas-microsoft-com:vml" Requires="v">
                <p:oleObj spid="_x0000_s92243" name="公式" r:id="rId5" imgW="203024" imgH="203024" progId="Equation.3">
                  <p:embed/>
                </p:oleObj>
              </mc:Choice>
              <mc:Fallback>
                <p:oleObj name="公式" r:id="rId5" imgW="203024" imgH="203024" progId="Equation.3">
                  <p:embed/>
                  <p:pic>
                    <p:nvPicPr>
                      <p:cNvPr id="15366"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43875" y="2844800"/>
                        <a:ext cx="587375"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7" name="Oval 15"/>
          <p:cNvSpPr>
            <a:spLocks noChangeArrowheads="1"/>
          </p:cNvSpPr>
          <p:nvPr/>
        </p:nvSpPr>
        <p:spPr bwMode="auto">
          <a:xfrm>
            <a:off x="6553200" y="2387600"/>
            <a:ext cx="2276475" cy="736600"/>
          </a:xfrm>
          <a:prstGeom prst="ellipse">
            <a:avLst/>
          </a:prstGeom>
          <a:solidFill>
            <a:srgbClr val="FF0000"/>
          </a:solidFill>
          <a:ln w="4127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nvGrpSpPr>
          <p:cNvPr id="15368" name="Group 27"/>
          <p:cNvGrpSpPr>
            <a:grpSpLocks/>
          </p:cNvGrpSpPr>
          <p:nvPr/>
        </p:nvGrpSpPr>
        <p:grpSpPr bwMode="auto">
          <a:xfrm>
            <a:off x="6248400" y="584200"/>
            <a:ext cx="2809875" cy="2768600"/>
            <a:chOff x="3936" y="368"/>
            <a:chExt cx="1770" cy="1744"/>
          </a:xfrm>
        </p:grpSpPr>
        <p:graphicFrame>
          <p:nvGraphicFramePr>
            <p:cNvPr id="15383" name="Object 9"/>
            <p:cNvGraphicFramePr>
              <a:graphicFrameLocks noChangeAspect="1"/>
            </p:cNvGraphicFramePr>
            <p:nvPr/>
          </p:nvGraphicFramePr>
          <p:xfrm>
            <a:off x="4651" y="1911"/>
            <a:ext cx="280" cy="201"/>
          </p:xfrm>
          <a:graphic>
            <a:graphicData uri="http://schemas.openxmlformats.org/presentationml/2006/ole">
              <mc:AlternateContent xmlns:mc="http://schemas.openxmlformats.org/markup-compatibility/2006">
                <mc:Choice xmlns:v="urn:schemas-microsoft-com:vml" Requires="v">
                  <p:oleObj spid="_x0000_s92244" name="公式" r:id="rId7" imgW="126835" imgH="139518" progId="Equation.3">
                    <p:embed/>
                  </p:oleObj>
                </mc:Choice>
                <mc:Fallback>
                  <p:oleObj name="公式" r:id="rId7" imgW="126835" imgH="139518" progId="Equation.3">
                    <p:embed/>
                    <p:pic>
                      <p:nvPicPr>
                        <p:cNvPr id="1538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1" y="1911"/>
                          <a:ext cx="280"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5384" name="Group 26"/>
            <p:cNvGrpSpPr>
              <a:grpSpLocks/>
            </p:cNvGrpSpPr>
            <p:nvPr/>
          </p:nvGrpSpPr>
          <p:grpSpPr bwMode="auto">
            <a:xfrm>
              <a:off x="3936" y="368"/>
              <a:ext cx="1770" cy="1744"/>
              <a:chOff x="3936" y="368"/>
              <a:chExt cx="1770" cy="1744"/>
            </a:xfrm>
          </p:grpSpPr>
          <p:graphicFrame>
            <p:nvGraphicFramePr>
              <p:cNvPr id="15385" name="Object 13"/>
              <p:cNvGraphicFramePr>
                <a:graphicFrameLocks noChangeAspect="1"/>
              </p:cNvGraphicFramePr>
              <p:nvPr/>
            </p:nvGraphicFramePr>
            <p:xfrm>
              <a:off x="4874" y="368"/>
              <a:ext cx="416" cy="363"/>
            </p:xfrm>
            <a:graphic>
              <a:graphicData uri="http://schemas.openxmlformats.org/presentationml/2006/ole">
                <mc:AlternateContent xmlns:mc="http://schemas.openxmlformats.org/markup-compatibility/2006">
                  <mc:Choice xmlns:v="urn:schemas-microsoft-com:vml" Requires="v">
                    <p:oleObj spid="_x0000_s92245" name="公式" r:id="rId9" imgW="164885" imgH="164885" progId="Equation.3">
                      <p:embed/>
                    </p:oleObj>
                  </mc:Choice>
                  <mc:Fallback>
                    <p:oleObj name="公式" r:id="rId9" imgW="164885" imgH="164885" progId="Equation.3">
                      <p:embed/>
                      <p:pic>
                        <p:nvPicPr>
                          <p:cNvPr id="15385"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4" y="368"/>
                            <a:ext cx="41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6" name="Oval 16"/>
              <p:cNvSpPr>
                <a:spLocks noChangeArrowheads="1"/>
              </p:cNvSpPr>
              <p:nvPr/>
            </p:nvSpPr>
            <p:spPr bwMode="auto">
              <a:xfrm>
                <a:off x="3936" y="1392"/>
                <a:ext cx="1770" cy="720"/>
              </a:xfrm>
              <a:prstGeom prst="ellipse">
                <a:avLst/>
              </a:prstGeom>
              <a:noFill/>
              <a:ln w="4127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pSp>
      </p:grpSp>
      <p:sp>
        <p:nvSpPr>
          <p:cNvPr id="15369" name="Text Box 18"/>
          <p:cNvSpPr txBox="1">
            <a:spLocks noChangeArrowheads="1"/>
          </p:cNvSpPr>
          <p:nvPr/>
        </p:nvSpPr>
        <p:spPr bwMode="auto">
          <a:xfrm>
            <a:off x="290513" y="1371600"/>
            <a:ext cx="5424487" cy="1187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解：在圆盘上取一半径为</a:t>
            </a:r>
            <a:r>
              <a:rPr lang="en-US" altLang="zh-CN" sz="2400" i="1">
                <a:ea typeface="楷体_GB2312"/>
              </a:rPr>
              <a:t>r</a:t>
            </a:r>
            <a:r>
              <a:rPr lang="zh-CN" altLang="en-US" sz="2400">
                <a:ea typeface="楷体_GB2312"/>
              </a:rPr>
              <a:t>，宽度为</a:t>
            </a:r>
            <a:r>
              <a:rPr lang="en-US" altLang="zh-CN" sz="2400">
                <a:ea typeface="楷体_GB2312"/>
              </a:rPr>
              <a:t>d</a:t>
            </a:r>
            <a:r>
              <a:rPr lang="en-US" altLang="zh-CN" sz="2400" i="1">
                <a:ea typeface="楷体_GB2312"/>
              </a:rPr>
              <a:t>r</a:t>
            </a:r>
            <a:r>
              <a:rPr lang="zh-CN" altLang="en-US" sz="2400">
                <a:ea typeface="楷体_GB2312"/>
              </a:rPr>
              <a:t>的圆环，其电量为</a:t>
            </a:r>
            <a:r>
              <a:rPr lang="en-US" altLang="zh-CN" sz="2400">
                <a:ea typeface="楷体_GB2312"/>
              </a:rPr>
              <a:t>d</a:t>
            </a:r>
            <a:r>
              <a:rPr lang="en-US" altLang="zh-CN" sz="2400" i="1">
                <a:ea typeface="楷体_GB2312"/>
              </a:rPr>
              <a:t>q</a:t>
            </a:r>
            <a:r>
              <a:rPr lang="en-US" altLang="zh-CN" sz="2400">
                <a:ea typeface="楷体_GB2312"/>
              </a:rPr>
              <a:t>=σ2</a:t>
            </a:r>
            <a:r>
              <a:rPr lang="en-US" altLang="zh-CN" sz="2400" i="1">
                <a:ea typeface="楷体_GB2312"/>
              </a:rPr>
              <a:t>πr</a:t>
            </a:r>
            <a:r>
              <a:rPr lang="en-US" altLang="zh-CN" sz="2400">
                <a:ea typeface="楷体_GB2312"/>
              </a:rPr>
              <a:t>d</a:t>
            </a:r>
            <a:r>
              <a:rPr lang="en-US" altLang="zh-CN" sz="2400" i="1">
                <a:ea typeface="楷体_GB2312"/>
              </a:rPr>
              <a:t>r</a:t>
            </a:r>
            <a:r>
              <a:rPr lang="zh-CN" altLang="en-US" sz="2400">
                <a:ea typeface="楷体_GB2312"/>
              </a:rPr>
              <a:t>，在场点的电势为</a:t>
            </a:r>
            <a:endParaRPr lang="zh-CN" altLang="en-US" sz="3600">
              <a:solidFill>
                <a:srgbClr val="FF3300"/>
              </a:solidFill>
              <a:ea typeface="楷体_GB2312"/>
            </a:endParaRPr>
          </a:p>
        </p:txBody>
      </p:sp>
      <p:graphicFrame>
        <p:nvGraphicFramePr>
          <p:cNvPr id="227347" name="Object 19"/>
          <p:cNvGraphicFramePr>
            <a:graphicFrameLocks noChangeAspect="1"/>
          </p:cNvGraphicFramePr>
          <p:nvPr/>
        </p:nvGraphicFramePr>
        <p:xfrm>
          <a:off x="336550" y="2525713"/>
          <a:ext cx="5538788" cy="868362"/>
        </p:xfrm>
        <a:graphic>
          <a:graphicData uri="http://schemas.openxmlformats.org/presentationml/2006/ole">
            <mc:AlternateContent xmlns:mc="http://schemas.openxmlformats.org/markup-compatibility/2006">
              <mc:Choice xmlns:v="urn:schemas-microsoft-com:vml" Requires="v">
                <p:oleObj spid="_x0000_s92246" name="公式" r:id="rId11" imgW="2743200" imgH="431800" progId="Equation.3">
                  <p:embed/>
                </p:oleObj>
              </mc:Choice>
              <mc:Fallback>
                <p:oleObj name="公式" r:id="rId11" imgW="2743200" imgH="431800" progId="Equation.3">
                  <p:embed/>
                  <p:pic>
                    <p:nvPicPr>
                      <p:cNvPr id="227347"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6550" y="2525713"/>
                        <a:ext cx="5538788" cy="8683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7348" name="Text Box 20"/>
          <p:cNvSpPr txBox="1">
            <a:spLocks noChangeArrowheads="1"/>
          </p:cNvSpPr>
          <p:nvPr/>
        </p:nvSpPr>
        <p:spPr bwMode="auto">
          <a:xfrm>
            <a:off x="304800" y="3352800"/>
            <a:ext cx="29210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积分得场点的电势为</a:t>
            </a:r>
          </a:p>
        </p:txBody>
      </p:sp>
      <p:graphicFrame>
        <p:nvGraphicFramePr>
          <p:cNvPr id="227349" name="Object 21"/>
          <p:cNvGraphicFramePr>
            <a:graphicFrameLocks noChangeAspect="1"/>
          </p:cNvGraphicFramePr>
          <p:nvPr/>
        </p:nvGraphicFramePr>
        <p:xfrm>
          <a:off x="1020763" y="3948113"/>
          <a:ext cx="5194300" cy="1030287"/>
        </p:xfrm>
        <a:graphic>
          <a:graphicData uri="http://schemas.openxmlformats.org/presentationml/2006/ole">
            <mc:AlternateContent xmlns:mc="http://schemas.openxmlformats.org/markup-compatibility/2006">
              <mc:Choice xmlns:v="urn:schemas-microsoft-com:vml" Requires="v">
                <p:oleObj spid="_x0000_s92247" name="公式" r:id="rId13" imgW="2438400" imgH="482600" progId="Equation.3">
                  <p:embed/>
                </p:oleObj>
              </mc:Choice>
              <mc:Fallback>
                <p:oleObj name="公式" r:id="rId13" imgW="2438400" imgH="482600" progId="Equation.3">
                  <p:embed/>
                  <p:pic>
                    <p:nvPicPr>
                      <p:cNvPr id="227349"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20763" y="3948113"/>
                        <a:ext cx="5194300" cy="103028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7350" name="Text Box 22"/>
          <p:cNvSpPr txBox="1">
            <a:spLocks noChangeArrowheads="1"/>
          </p:cNvSpPr>
          <p:nvPr/>
        </p:nvSpPr>
        <p:spPr bwMode="auto">
          <a:xfrm>
            <a:off x="533400" y="5257800"/>
            <a:ext cx="14478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x</a:t>
            </a:r>
            <a:r>
              <a:rPr lang="en-US" altLang="zh-CN" sz="2400">
                <a:ea typeface="楷体_GB2312"/>
              </a:rPr>
              <a:t>&gt;&gt;</a:t>
            </a:r>
            <a:r>
              <a:rPr lang="en-US" altLang="zh-CN" sz="2400" i="1">
                <a:ea typeface="楷体_GB2312"/>
              </a:rPr>
              <a:t>a</a:t>
            </a:r>
            <a:r>
              <a:rPr lang="zh-CN" altLang="en-US" sz="2400">
                <a:ea typeface="楷体_GB2312"/>
              </a:rPr>
              <a:t>时</a:t>
            </a:r>
          </a:p>
        </p:txBody>
      </p:sp>
      <p:graphicFrame>
        <p:nvGraphicFramePr>
          <p:cNvPr id="227351" name="Object 23"/>
          <p:cNvGraphicFramePr>
            <a:graphicFrameLocks noChangeAspect="1"/>
          </p:cNvGraphicFramePr>
          <p:nvPr/>
        </p:nvGraphicFramePr>
        <p:xfrm>
          <a:off x="2479675" y="5181600"/>
          <a:ext cx="3498850" cy="579438"/>
        </p:xfrm>
        <a:graphic>
          <a:graphicData uri="http://schemas.openxmlformats.org/presentationml/2006/ole">
            <mc:AlternateContent xmlns:mc="http://schemas.openxmlformats.org/markup-compatibility/2006">
              <mc:Choice xmlns:v="urn:schemas-microsoft-com:vml" Requires="v">
                <p:oleObj spid="_x0000_s92248" name="公式" r:id="rId15" imgW="1600200" imgH="266700" progId="Equation.3">
                  <p:embed/>
                </p:oleObj>
              </mc:Choice>
              <mc:Fallback>
                <p:oleObj name="公式" r:id="rId15" imgW="1600200" imgH="266700" progId="Equation.3">
                  <p:embed/>
                  <p:pic>
                    <p:nvPicPr>
                      <p:cNvPr id="227351"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79675" y="5181600"/>
                        <a:ext cx="3498850"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7352" name="Object 24"/>
          <p:cNvGraphicFramePr>
            <a:graphicFrameLocks noChangeAspect="1"/>
          </p:cNvGraphicFramePr>
          <p:nvPr>
            <p:extLst>
              <p:ext uri="{D42A27DB-BD31-4B8C-83A1-F6EECF244321}">
                <p14:modId xmlns:p14="http://schemas.microsoft.com/office/powerpoint/2010/main" val="474143825"/>
              </p:ext>
            </p:extLst>
          </p:nvPr>
        </p:nvGraphicFramePr>
        <p:xfrm>
          <a:off x="784225" y="5868988"/>
          <a:ext cx="4265613" cy="911225"/>
        </p:xfrm>
        <a:graphic>
          <a:graphicData uri="http://schemas.openxmlformats.org/presentationml/2006/ole">
            <mc:AlternateContent xmlns:mc="http://schemas.openxmlformats.org/markup-compatibility/2006">
              <mc:Choice xmlns:v="urn:schemas-microsoft-com:vml" Requires="v">
                <p:oleObj spid="_x0000_s92249" name="Equation" r:id="rId17" imgW="2145960" imgH="457200" progId="Equation.DSMT4">
                  <p:embed/>
                </p:oleObj>
              </mc:Choice>
              <mc:Fallback>
                <p:oleObj name="Equation" r:id="rId17" imgW="2145960" imgH="457200" progId="Equation.DSMT4">
                  <p:embed/>
                  <p:pic>
                    <p:nvPicPr>
                      <p:cNvPr id="227352" name="Object 24"/>
                      <p:cNvPicPr>
                        <a:picLocks noChangeAspect="1" noChangeArrowheads="1"/>
                      </p:cNvPicPr>
                      <p:nvPr/>
                    </p:nvPicPr>
                    <p:blipFill>
                      <a:blip r:embed="rId18"/>
                      <a:srcRect/>
                      <a:stretch>
                        <a:fillRect/>
                      </a:stretch>
                    </p:blipFill>
                    <p:spPr bwMode="auto">
                      <a:xfrm>
                        <a:off x="784225" y="5868988"/>
                        <a:ext cx="4265613" cy="911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7353" name="AutoShape 25"/>
          <p:cNvSpPr>
            <a:spLocks noChangeArrowheads="1"/>
          </p:cNvSpPr>
          <p:nvPr/>
        </p:nvSpPr>
        <p:spPr bwMode="auto">
          <a:xfrm>
            <a:off x="5741310" y="5543551"/>
            <a:ext cx="2458354" cy="1275476"/>
          </a:xfrm>
          <a:prstGeom prst="wedgeEllipseCallout">
            <a:avLst>
              <a:gd name="adj1" fmla="val -59785"/>
              <a:gd name="adj2" fmla="val 28180"/>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zh-CN" altLang="en-US" sz="2400">
                <a:solidFill>
                  <a:srgbClr val="FF3300"/>
                </a:solidFill>
                <a:ea typeface="楷体_GB2312"/>
              </a:rPr>
              <a:t>把圆盘当作</a:t>
            </a:r>
          </a:p>
          <a:p>
            <a:pPr algn="ctr" eaLnBrk="1" hangingPunct="1">
              <a:buFontTx/>
              <a:buNone/>
            </a:pPr>
            <a:r>
              <a:rPr lang="zh-CN" altLang="en-US" sz="2400">
                <a:solidFill>
                  <a:srgbClr val="FF3300"/>
                </a:solidFill>
                <a:ea typeface="楷体_GB2312"/>
              </a:rPr>
              <a:t>一个点电荷</a:t>
            </a:r>
            <a:endParaRPr lang="zh-CN" altLang="en-US" sz="2400" b="0">
              <a:ea typeface="楷体_GB2312"/>
            </a:endParaRPr>
          </a:p>
        </p:txBody>
      </p:sp>
      <p:sp>
        <p:nvSpPr>
          <p:cNvPr id="15377" name="Oval 6"/>
          <p:cNvSpPr>
            <a:spLocks noChangeArrowheads="1"/>
          </p:cNvSpPr>
          <p:nvPr/>
        </p:nvSpPr>
        <p:spPr bwMode="auto">
          <a:xfrm>
            <a:off x="6659563" y="2420938"/>
            <a:ext cx="2016125" cy="628650"/>
          </a:xfrm>
          <a:prstGeom prst="ellipse">
            <a:avLst/>
          </a:prstGeom>
          <a:solidFill>
            <a:srgbClr val="FFFF00"/>
          </a:solidFill>
          <a:ln w="41275">
            <a:solidFill>
              <a:srgbClr val="FF33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15378" name="Object 10"/>
          <p:cNvGraphicFramePr>
            <a:graphicFrameLocks noChangeAspect="1"/>
          </p:cNvGraphicFramePr>
          <p:nvPr/>
        </p:nvGraphicFramePr>
        <p:xfrm>
          <a:off x="7837488" y="2349500"/>
          <a:ext cx="695325" cy="506413"/>
        </p:xfrm>
        <a:graphic>
          <a:graphicData uri="http://schemas.openxmlformats.org/presentationml/2006/ole">
            <mc:AlternateContent xmlns:mc="http://schemas.openxmlformats.org/markup-compatibility/2006">
              <mc:Choice xmlns:v="urn:schemas-microsoft-com:vml" Requires="v">
                <p:oleObj spid="_x0000_s92250" name="公式" r:id="rId19" imgW="114102" imgH="126780" progId="Equation.3">
                  <p:embed/>
                </p:oleObj>
              </mc:Choice>
              <mc:Fallback>
                <p:oleObj name="公式" r:id="rId19" imgW="114102" imgH="126780" progId="Equation.3">
                  <p:embed/>
                  <p:pic>
                    <p:nvPicPr>
                      <p:cNvPr id="15378"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37488" y="2349500"/>
                        <a:ext cx="695325"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9" name="Line 12"/>
          <p:cNvSpPr>
            <a:spLocks noChangeShapeType="1"/>
          </p:cNvSpPr>
          <p:nvPr/>
        </p:nvSpPr>
        <p:spPr bwMode="auto">
          <a:xfrm>
            <a:off x="7762875" y="2717800"/>
            <a:ext cx="619125" cy="233363"/>
          </a:xfrm>
          <a:prstGeom prst="line">
            <a:avLst/>
          </a:prstGeom>
          <a:noFill/>
          <a:ln w="41275">
            <a:solidFill>
              <a:srgbClr val="CC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17"/>
          <p:cNvSpPr>
            <a:spLocks noChangeShapeType="1"/>
          </p:cNvSpPr>
          <p:nvPr/>
        </p:nvSpPr>
        <p:spPr bwMode="auto">
          <a:xfrm flipH="1">
            <a:off x="7191375" y="2711450"/>
            <a:ext cx="533400" cy="60960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5381" name="Line 7"/>
          <p:cNvSpPr>
            <a:spLocks noChangeShapeType="1"/>
          </p:cNvSpPr>
          <p:nvPr/>
        </p:nvSpPr>
        <p:spPr bwMode="auto">
          <a:xfrm flipV="1">
            <a:off x="7740650" y="188913"/>
            <a:ext cx="0" cy="2514600"/>
          </a:xfrm>
          <a:prstGeom prst="line">
            <a:avLst/>
          </a:prstGeom>
          <a:noFill/>
          <a:ln w="412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11"/>
          <p:cNvSpPr>
            <a:spLocks noChangeShapeType="1"/>
          </p:cNvSpPr>
          <p:nvPr/>
        </p:nvSpPr>
        <p:spPr bwMode="auto">
          <a:xfrm flipH="1" flipV="1">
            <a:off x="7762875" y="944563"/>
            <a:ext cx="619125" cy="2006600"/>
          </a:xfrm>
          <a:prstGeom prst="line">
            <a:avLst/>
          </a:prstGeom>
          <a:noFill/>
          <a:ln w="412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 name="Object 8">
            <a:extLst>
              <a:ext uri="{FF2B5EF4-FFF2-40B4-BE49-F238E27FC236}">
                <a16:creationId xmlns:a16="http://schemas.microsoft.com/office/drawing/2014/main" id="{BDE06092-5E47-4399-A91A-F931B61A80EC}"/>
              </a:ext>
            </a:extLst>
          </p:cNvPr>
          <p:cNvGraphicFramePr>
            <a:graphicFrameLocks noChangeAspect="1"/>
          </p:cNvGraphicFramePr>
          <p:nvPr>
            <p:extLst/>
          </p:nvPr>
        </p:nvGraphicFramePr>
        <p:xfrm>
          <a:off x="6772842" y="4378325"/>
          <a:ext cx="2371158" cy="1011237"/>
        </p:xfrm>
        <a:graphic>
          <a:graphicData uri="http://schemas.openxmlformats.org/presentationml/2006/ole">
            <mc:AlternateContent xmlns:mc="http://schemas.openxmlformats.org/markup-compatibility/2006">
              <mc:Choice xmlns:v="urn:schemas-microsoft-com:vml" Requires="v">
                <p:oleObj spid="_x0000_s92251" name="公式" r:id="rId21" imgW="1549400" imgH="469900" progId="Equation.3">
                  <p:embed/>
                </p:oleObj>
              </mc:Choice>
              <mc:Fallback>
                <p:oleObj name="公式" r:id="rId21" imgW="1549400" imgH="469900" progId="Equation.3">
                  <p:embed/>
                  <p:pic>
                    <p:nvPicPr>
                      <p:cNvPr id="27" name="Object 8">
                        <a:extLst>
                          <a:ext uri="{FF2B5EF4-FFF2-40B4-BE49-F238E27FC236}">
                            <a16:creationId xmlns:a16="http://schemas.microsoft.com/office/drawing/2014/main" id="{BDE06092-5E47-4399-A91A-F931B61A80E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72842" y="4378325"/>
                        <a:ext cx="2371158" cy="1011237"/>
                      </a:xfrm>
                      <a:prstGeom prst="rect">
                        <a:avLst/>
                      </a:prstGeom>
                      <a:noFill/>
                      <a:ln>
                        <a:noFill/>
                      </a:ln>
                      <a:effectLst/>
                      <a:extLst/>
                    </p:spPr>
                  </p:pic>
                </p:oleObj>
              </mc:Fallback>
            </mc:AlternateContent>
          </a:graphicData>
        </a:graphic>
      </p:graphicFrame>
      <p:sp>
        <p:nvSpPr>
          <p:cNvPr id="28" name="Text Box 20">
            <a:extLst>
              <a:ext uri="{FF2B5EF4-FFF2-40B4-BE49-F238E27FC236}">
                <a16:creationId xmlns:a16="http://schemas.microsoft.com/office/drawing/2014/main" id="{88AF4BA5-D315-4068-A4EF-5F5ED2DD4B3D}"/>
              </a:ext>
            </a:extLst>
          </p:cNvPr>
          <p:cNvSpPr txBox="1">
            <a:spLocks noChangeArrowheads="1"/>
          </p:cNvSpPr>
          <p:nvPr/>
        </p:nvSpPr>
        <p:spPr bwMode="auto">
          <a:xfrm>
            <a:off x="7098100" y="4046085"/>
            <a:ext cx="1720641"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电场强度为</a:t>
            </a:r>
          </a:p>
        </p:txBody>
      </p:sp>
      <p:pic>
        <p:nvPicPr>
          <p:cNvPr id="4" name="图片 3">
            <a:extLst>
              <a:ext uri="{FF2B5EF4-FFF2-40B4-BE49-F238E27FC236}">
                <a16:creationId xmlns:a16="http://schemas.microsoft.com/office/drawing/2014/main" id="{B9DA2B35-8FAB-41A8-812B-AFE305E3F1A2}"/>
              </a:ext>
            </a:extLst>
          </p:cNvPr>
          <p:cNvPicPr>
            <a:picLocks noChangeAspect="1"/>
          </p:cNvPicPr>
          <p:nvPr/>
        </p:nvPicPr>
        <p:blipFill>
          <a:blip r:embed="rId23"/>
          <a:stretch>
            <a:fillRect/>
          </a:stretch>
        </p:blipFill>
        <p:spPr>
          <a:xfrm>
            <a:off x="5581797" y="-20646"/>
            <a:ext cx="1766186" cy="634723"/>
          </a:xfrm>
          <a:prstGeom prst="rect">
            <a:avLst/>
          </a:prstGeom>
        </p:spPr>
      </p:pic>
      <p:pic>
        <p:nvPicPr>
          <p:cNvPr id="6" name="图片 5">
            <a:extLst>
              <a:ext uri="{FF2B5EF4-FFF2-40B4-BE49-F238E27FC236}">
                <a16:creationId xmlns:a16="http://schemas.microsoft.com/office/drawing/2014/main" id="{E98BF198-2453-4081-9A98-4A5644F4C09C}"/>
              </a:ext>
            </a:extLst>
          </p:cNvPr>
          <p:cNvPicPr>
            <a:picLocks noChangeAspect="1"/>
          </p:cNvPicPr>
          <p:nvPr/>
        </p:nvPicPr>
        <p:blipFill>
          <a:blip r:embed="rId24"/>
          <a:stretch>
            <a:fillRect/>
          </a:stretch>
        </p:blipFill>
        <p:spPr>
          <a:xfrm>
            <a:off x="782638" y="5862767"/>
            <a:ext cx="4267200" cy="914400"/>
          </a:xfrm>
          <a:prstGeom prst="rect">
            <a:avLst/>
          </a:prstGeom>
        </p:spPr>
      </p:pic>
    </p:spTree>
    <p:extLst>
      <p:ext uri="{BB962C8B-B14F-4D97-AF65-F5344CB8AC3E}">
        <p14:creationId xmlns:p14="http://schemas.microsoft.com/office/powerpoint/2010/main" val="38648524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7347"/>
                                        </p:tgtEl>
                                        <p:attrNameLst>
                                          <p:attrName>style.visibility</p:attrName>
                                        </p:attrNameLst>
                                      </p:cBhvr>
                                      <p:to>
                                        <p:strVal val="visible"/>
                                      </p:to>
                                    </p:set>
                                    <p:animEffect transition="in" filter="wipe(left)">
                                      <p:cBhvr>
                                        <p:cTn id="7" dur="500"/>
                                        <p:tgtEl>
                                          <p:spTgt spid="227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7348"/>
                                        </p:tgtEl>
                                        <p:attrNameLst>
                                          <p:attrName>style.visibility</p:attrName>
                                        </p:attrNameLst>
                                      </p:cBhvr>
                                      <p:to>
                                        <p:strVal val="visible"/>
                                      </p:to>
                                    </p:set>
                                    <p:animEffect transition="in" filter="wipe(left)">
                                      <p:cBhvr>
                                        <p:cTn id="12" dur="500"/>
                                        <p:tgtEl>
                                          <p:spTgt spid="227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7349"/>
                                        </p:tgtEl>
                                        <p:attrNameLst>
                                          <p:attrName>style.visibility</p:attrName>
                                        </p:attrNameLst>
                                      </p:cBhvr>
                                      <p:to>
                                        <p:strVal val="visible"/>
                                      </p:to>
                                    </p:set>
                                    <p:animEffect transition="in" filter="wipe(left)">
                                      <p:cBhvr>
                                        <p:cTn id="17" dur="500"/>
                                        <p:tgtEl>
                                          <p:spTgt spid="227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7350"/>
                                        </p:tgtEl>
                                        <p:attrNameLst>
                                          <p:attrName>style.visibility</p:attrName>
                                        </p:attrNameLst>
                                      </p:cBhvr>
                                      <p:to>
                                        <p:strVal val="visible"/>
                                      </p:to>
                                    </p:set>
                                    <p:animEffect transition="in" filter="wipe(left)">
                                      <p:cBhvr>
                                        <p:cTn id="22" dur="500"/>
                                        <p:tgtEl>
                                          <p:spTgt spid="2273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7351"/>
                                        </p:tgtEl>
                                        <p:attrNameLst>
                                          <p:attrName>style.visibility</p:attrName>
                                        </p:attrNameLst>
                                      </p:cBhvr>
                                      <p:to>
                                        <p:strVal val="visible"/>
                                      </p:to>
                                    </p:set>
                                    <p:animEffect transition="in" filter="wipe(left)">
                                      <p:cBhvr>
                                        <p:cTn id="27" dur="500"/>
                                        <p:tgtEl>
                                          <p:spTgt spid="2273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27352"/>
                                        </p:tgtEl>
                                        <p:attrNameLst>
                                          <p:attrName>style.visibility</p:attrName>
                                        </p:attrNameLst>
                                      </p:cBhvr>
                                      <p:to>
                                        <p:strVal val="visible"/>
                                      </p:to>
                                    </p:set>
                                    <p:animEffect transition="in" filter="wipe(left)">
                                      <p:cBhvr>
                                        <p:cTn id="32" dur="500"/>
                                        <p:tgtEl>
                                          <p:spTgt spid="22735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7353"/>
                                        </p:tgtEl>
                                        <p:attrNameLst>
                                          <p:attrName>style.visibility</p:attrName>
                                        </p:attrNameLst>
                                      </p:cBhvr>
                                      <p:to>
                                        <p:strVal val="visible"/>
                                      </p:to>
                                    </p:set>
                                    <p:animEffect transition="in" filter="wipe(left)">
                                      <p:cBhvr>
                                        <p:cTn id="37" dur="500"/>
                                        <p:tgtEl>
                                          <p:spTgt spid="2273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left)">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48" grpId="0" autoUpdateAnimBg="0"/>
      <p:bldP spid="227350" grpId="0" autoUpdateAnimBg="0"/>
      <p:bldP spid="227353" grpId="0" animBg="1" autoUpdateAnimBg="0"/>
      <p:bldP spid="2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ext Box 2"/>
          <p:cNvSpPr txBox="1">
            <a:spLocks noChangeArrowheads="1"/>
          </p:cNvSpPr>
          <p:nvPr/>
        </p:nvSpPr>
        <p:spPr bwMode="auto">
          <a:xfrm>
            <a:off x="76200" y="52388"/>
            <a:ext cx="45175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solidFill>
                  <a:srgbClr val="3333FF"/>
                </a:solidFill>
                <a:latin typeface="宋体" panose="02010600030101010101" pitchFamily="2" charset="-122"/>
                <a:ea typeface="楷体_GB2312"/>
              </a:rPr>
              <a:t>例题</a:t>
            </a:r>
            <a:r>
              <a:rPr lang="en-US" altLang="zh-CN" sz="2400" dirty="0">
                <a:solidFill>
                  <a:srgbClr val="3333FF"/>
                </a:solidFill>
                <a:latin typeface="宋体" panose="02010600030101010101" pitchFamily="2" charset="-122"/>
                <a:ea typeface="楷体_GB2312"/>
              </a:rPr>
              <a:t>3</a:t>
            </a:r>
            <a:r>
              <a:rPr lang="zh-CN" altLang="en-US" sz="2400" dirty="0">
                <a:solidFill>
                  <a:srgbClr val="3333FF"/>
                </a:solidFill>
                <a:latin typeface="宋体" panose="02010600030101010101" pitchFamily="2" charset="-122"/>
                <a:ea typeface="楷体_GB2312"/>
              </a:rPr>
              <a:t>，均匀带电球壳的电势。 </a:t>
            </a:r>
          </a:p>
        </p:txBody>
      </p:sp>
      <p:sp>
        <p:nvSpPr>
          <p:cNvPr id="229379" name="Text Box 3"/>
          <p:cNvSpPr txBox="1">
            <a:spLocks noChangeArrowheads="1"/>
          </p:cNvSpPr>
          <p:nvPr/>
        </p:nvSpPr>
        <p:spPr bwMode="auto">
          <a:xfrm>
            <a:off x="290513" y="655638"/>
            <a:ext cx="5195887"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已知电荷</a:t>
            </a:r>
            <a:r>
              <a:rPr lang="en-US" altLang="zh-CN" sz="2400" i="1">
                <a:ea typeface="楷体_GB2312"/>
              </a:rPr>
              <a:t>q</a:t>
            </a:r>
            <a:r>
              <a:rPr lang="zh-CN" altLang="en-US" sz="2400">
                <a:ea typeface="楷体_GB2312"/>
              </a:rPr>
              <a:t>均匀地分布在半径为</a:t>
            </a:r>
            <a:r>
              <a:rPr lang="en-US" altLang="zh-CN" sz="2400" i="1">
                <a:ea typeface="楷体_GB2312"/>
              </a:rPr>
              <a:t>R</a:t>
            </a:r>
            <a:r>
              <a:rPr lang="zh-CN" altLang="en-US" sz="2400">
                <a:ea typeface="楷体_GB2312"/>
              </a:rPr>
              <a:t>的球壳上，求空间各点的电势。</a:t>
            </a:r>
            <a:endParaRPr lang="zh-CN" altLang="en-US" sz="3600">
              <a:solidFill>
                <a:srgbClr val="FF3300"/>
              </a:solidFill>
              <a:ea typeface="楷体_GB2312"/>
            </a:endParaRPr>
          </a:p>
        </p:txBody>
      </p:sp>
      <p:sp>
        <p:nvSpPr>
          <p:cNvPr id="229383" name="Text Box 7"/>
          <p:cNvSpPr txBox="1">
            <a:spLocks noChangeArrowheads="1"/>
          </p:cNvSpPr>
          <p:nvPr/>
        </p:nvSpPr>
        <p:spPr bwMode="auto">
          <a:xfrm>
            <a:off x="214313" y="1600200"/>
            <a:ext cx="5726112"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解：由高斯定理可求出电场强度的分布</a:t>
            </a:r>
            <a:endParaRPr lang="zh-CN" altLang="en-US" sz="3600">
              <a:solidFill>
                <a:srgbClr val="FF3300"/>
              </a:solidFill>
              <a:ea typeface="楷体_GB2312"/>
            </a:endParaRPr>
          </a:p>
        </p:txBody>
      </p:sp>
      <p:graphicFrame>
        <p:nvGraphicFramePr>
          <p:cNvPr id="229384" name="Object 8"/>
          <p:cNvGraphicFramePr>
            <a:graphicFrameLocks noChangeAspect="1"/>
          </p:cNvGraphicFramePr>
          <p:nvPr>
            <p:extLst/>
          </p:nvPr>
        </p:nvGraphicFramePr>
        <p:xfrm>
          <a:off x="296463" y="2341562"/>
          <a:ext cx="3154363" cy="1147763"/>
        </p:xfrm>
        <a:graphic>
          <a:graphicData uri="http://schemas.openxmlformats.org/presentationml/2006/ole">
            <mc:AlternateContent xmlns:mc="http://schemas.openxmlformats.org/markup-compatibility/2006">
              <mc:Choice xmlns:v="urn:schemas-microsoft-com:vml" Requires="v">
                <p:oleObj spid="_x0000_s93210" name="公式" r:id="rId3" imgW="1739900" imgH="635000" progId="Equation.3">
                  <p:embed/>
                </p:oleObj>
              </mc:Choice>
              <mc:Fallback>
                <p:oleObj name="公式" r:id="rId3" imgW="1739900" imgH="635000" progId="Equation.3">
                  <p:embed/>
                  <p:pic>
                    <p:nvPicPr>
                      <p:cNvPr id="22938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463" y="2341562"/>
                        <a:ext cx="3154363" cy="11477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9385" name="Text Box 9"/>
          <p:cNvSpPr txBox="1">
            <a:spLocks noChangeArrowheads="1"/>
          </p:cNvSpPr>
          <p:nvPr/>
        </p:nvSpPr>
        <p:spPr bwMode="auto">
          <a:xfrm>
            <a:off x="3771900" y="2682875"/>
            <a:ext cx="17145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方向沿径向</a:t>
            </a:r>
          </a:p>
        </p:txBody>
      </p:sp>
      <p:sp>
        <p:nvSpPr>
          <p:cNvPr id="229386" name="Text Box 10"/>
          <p:cNvSpPr txBox="1">
            <a:spLocks noChangeArrowheads="1"/>
          </p:cNvSpPr>
          <p:nvPr/>
        </p:nvSpPr>
        <p:spPr bwMode="auto">
          <a:xfrm>
            <a:off x="838200" y="3810000"/>
            <a:ext cx="12922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r</a:t>
            </a:r>
            <a:r>
              <a:rPr lang="en-US" altLang="zh-CN" sz="2400">
                <a:ea typeface="楷体_GB2312"/>
              </a:rPr>
              <a:t>&gt;</a:t>
            </a:r>
            <a:r>
              <a:rPr lang="en-US" altLang="zh-CN" sz="2400" i="1">
                <a:ea typeface="楷体_GB2312"/>
              </a:rPr>
              <a:t>R</a:t>
            </a:r>
            <a:r>
              <a:rPr lang="zh-CN" altLang="en-US" sz="2400">
                <a:ea typeface="楷体_GB2312"/>
              </a:rPr>
              <a:t>时</a:t>
            </a:r>
          </a:p>
        </p:txBody>
      </p:sp>
      <p:graphicFrame>
        <p:nvGraphicFramePr>
          <p:cNvPr id="229387" name="Object 11"/>
          <p:cNvGraphicFramePr>
            <a:graphicFrameLocks noChangeAspect="1"/>
          </p:cNvGraphicFramePr>
          <p:nvPr/>
        </p:nvGraphicFramePr>
        <p:xfrm>
          <a:off x="1263650" y="4114800"/>
          <a:ext cx="3719513" cy="1127125"/>
        </p:xfrm>
        <a:graphic>
          <a:graphicData uri="http://schemas.openxmlformats.org/presentationml/2006/ole">
            <mc:AlternateContent xmlns:mc="http://schemas.openxmlformats.org/markup-compatibility/2006">
              <mc:Choice xmlns:v="urn:schemas-microsoft-com:vml" Requires="v">
                <p:oleObj spid="_x0000_s93211" name="Equation" r:id="rId5" imgW="1549400" imgH="469900" progId="Equation.DSMT4">
                  <p:embed/>
                </p:oleObj>
              </mc:Choice>
              <mc:Fallback>
                <p:oleObj name="Equation" r:id="rId5" imgW="1549400" imgH="469900" progId="Equation.DSMT4">
                  <p:embed/>
                  <p:pic>
                    <p:nvPicPr>
                      <p:cNvPr id="22938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3650" y="4114800"/>
                        <a:ext cx="3719513" cy="11271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9388" name="Text Box 12"/>
          <p:cNvSpPr txBox="1">
            <a:spLocks noChangeArrowheads="1"/>
          </p:cNvSpPr>
          <p:nvPr/>
        </p:nvSpPr>
        <p:spPr bwMode="auto">
          <a:xfrm>
            <a:off x="762000" y="5105400"/>
            <a:ext cx="142716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r</a:t>
            </a:r>
            <a:r>
              <a:rPr lang="en-US" altLang="zh-CN" sz="2400">
                <a:ea typeface="楷体_GB2312"/>
              </a:rPr>
              <a:t>≤</a:t>
            </a:r>
            <a:r>
              <a:rPr lang="en-US" altLang="zh-CN" sz="2400" i="1">
                <a:ea typeface="楷体_GB2312"/>
              </a:rPr>
              <a:t>R</a:t>
            </a:r>
            <a:r>
              <a:rPr lang="zh-CN" altLang="en-US" sz="2400">
                <a:ea typeface="楷体_GB2312"/>
              </a:rPr>
              <a:t>时</a:t>
            </a:r>
          </a:p>
        </p:txBody>
      </p:sp>
      <p:graphicFrame>
        <p:nvGraphicFramePr>
          <p:cNvPr id="229389" name="Object 13"/>
          <p:cNvGraphicFramePr>
            <a:graphicFrameLocks noChangeAspect="1"/>
          </p:cNvGraphicFramePr>
          <p:nvPr/>
        </p:nvGraphicFramePr>
        <p:xfrm>
          <a:off x="1255713" y="5715000"/>
          <a:ext cx="4370387" cy="998538"/>
        </p:xfrm>
        <a:graphic>
          <a:graphicData uri="http://schemas.openxmlformats.org/presentationml/2006/ole">
            <mc:AlternateContent xmlns:mc="http://schemas.openxmlformats.org/markup-compatibility/2006">
              <mc:Choice xmlns:v="urn:schemas-microsoft-com:vml" Requires="v">
                <p:oleObj spid="_x0000_s93212" name="Equation" r:id="rId7" imgW="2057400" imgH="469900" progId="Equation.DSMT4">
                  <p:embed/>
                </p:oleObj>
              </mc:Choice>
              <mc:Fallback>
                <p:oleObj name="Equation" r:id="rId7" imgW="2057400" imgH="469900" progId="Equation.DSMT4">
                  <p:embed/>
                  <p:pic>
                    <p:nvPicPr>
                      <p:cNvPr id="229389"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5713" y="5715000"/>
                        <a:ext cx="4370387" cy="998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a:extLst>
              <a:ext uri="{FF2B5EF4-FFF2-40B4-BE49-F238E27FC236}">
                <a16:creationId xmlns:a16="http://schemas.microsoft.com/office/drawing/2014/main" id="{3BAF9A18-1C29-4A24-AEFE-2DD0A7B45B64}"/>
              </a:ext>
            </a:extLst>
          </p:cNvPr>
          <p:cNvPicPr>
            <a:picLocks noChangeAspect="1"/>
          </p:cNvPicPr>
          <p:nvPr/>
        </p:nvPicPr>
        <p:blipFill>
          <a:blip r:embed="rId9"/>
          <a:stretch>
            <a:fillRect/>
          </a:stretch>
        </p:blipFill>
        <p:spPr>
          <a:xfrm>
            <a:off x="6203203" y="245575"/>
            <a:ext cx="2677216" cy="3232864"/>
          </a:xfrm>
          <a:prstGeom prst="rect">
            <a:avLst/>
          </a:prstGeom>
        </p:spPr>
      </p:pic>
      <p:pic>
        <p:nvPicPr>
          <p:cNvPr id="21" name="Picture 896">
            <a:extLst>
              <a:ext uri="{FF2B5EF4-FFF2-40B4-BE49-F238E27FC236}">
                <a16:creationId xmlns:a16="http://schemas.microsoft.com/office/drawing/2014/main" id="{0D29AA08-75CA-41EB-9E41-5F1753B1D97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64296" y="4430641"/>
            <a:ext cx="2351196" cy="2189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573829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378"/>
                                        </p:tgtEl>
                                        <p:attrNameLst>
                                          <p:attrName>style.visibility</p:attrName>
                                        </p:attrNameLst>
                                      </p:cBhvr>
                                      <p:to>
                                        <p:strVal val="visible"/>
                                      </p:to>
                                    </p:set>
                                    <p:animEffect transition="in" filter="wipe(left)">
                                      <p:cBhvr>
                                        <p:cTn id="7" dur="500"/>
                                        <p:tgtEl>
                                          <p:spTgt spid="229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9379"/>
                                        </p:tgtEl>
                                        <p:attrNameLst>
                                          <p:attrName>style.visibility</p:attrName>
                                        </p:attrNameLst>
                                      </p:cBhvr>
                                      <p:to>
                                        <p:strVal val="visible"/>
                                      </p:to>
                                    </p:set>
                                    <p:animEffect transition="in" filter="wipe(left)">
                                      <p:cBhvr>
                                        <p:cTn id="12" dur="500"/>
                                        <p:tgtEl>
                                          <p:spTgt spid="2293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9383"/>
                                        </p:tgtEl>
                                        <p:attrNameLst>
                                          <p:attrName>style.visibility</p:attrName>
                                        </p:attrNameLst>
                                      </p:cBhvr>
                                      <p:to>
                                        <p:strVal val="visible"/>
                                      </p:to>
                                    </p:set>
                                    <p:animEffect transition="in" filter="wipe(left)">
                                      <p:cBhvr>
                                        <p:cTn id="17" dur="500"/>
                                        <p:tgtEl>
                                          <p:spTgt spid="2293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4"/>
                                        </p:tgtEl>
                                        <p:attrNameLst>
                                          <p:attrName>style.visibility</p:attrName>
                                        </p:attrNameLst>
                                      </p:cBhvr>
                                      <p:to>
                                        <p:strVal val="visible"/>
                                      </p:to>
                                    </p:set>
                                    <p:animEffect transition="in" filter="wipe(left)">
                                      <p:cBhvr>
                                        <p:cTn id="22" dur="500"/>
                                        <p:tgtEl>
                                          <p:spTgt spid="2293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9385"/>
                                        </p:tgtEl>
                                        <p:attrNameLst>
                                          <p:attrName>style.visibility</p:attrName>
                                        </p:attrNameLst>
                                      </p:cBhvr>
                                      <p:to>
                                        <p:strVal val="visible"/>
                                      </p:to>
                                    </p:set>
                                    <p:animEffect transition="in" filter="wipe(left)">
                                      <p:cBhvr>
                                        <p:cTn id="27" dur="500"/>
                                        <p:tgtEl>
                                          <p:spTgt spid="22938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9386"/>
                                        </p:tgtEl>
                                        <p:attrNameLst>
                                          <p:attrName>style.visibility</p:attrName>
                                        </p:attrNameLst>
                                      </p:cBhvr>
                                      <p:to>
                                        <p:strVal val="visible"/>
                                      </p:to>
                                    </p:set>
                                    <p:animEffect transition="in" filter="wipe(left)">
                                      <p:cBhvr>
                                        <p:cTn id="32" dur="500"/>
                                        <p:tgtEl>
                                          <p:spTgt spid="2293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29387"/>
                                        </p:tgtEl>
                                        <p:attrNameLst>
                                          <p:attrName>style.visibility</p:attrName>
                                        </p:attrNameLst>
                                      </p:cBhvr>
                                      <p:to>
                                        <p:strVal val="visible"/>
                                      </p:to>
                                    </p:set>
                                    <p:animEffect transition="in" filter="wipe(left)">
                                      <p:cBhvr>
                                        <p:cTn id="37" dur="500"/>
                                        <p:tgtEl>
                                          <p:spTgt spid="22938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9388"/>
                                        </p:tgtEl>
                                        <p:attrNameLst>
                                          <p:attrName>style.visibility</p:attrName>
                                        </p:attrNameLst>
                                      </p:cBhvr>
                                      <p:to>
                                        <p:strVal val="visible"/>
                                      </p:to>
                                    </p:set>
                                    <p:animEffect transition="in" filter="wipe(left)">
                                      <p:cBhvr>
                                        <p:cTn id="42" dur="500"/>
                                        <p:tgtEl>
                                          <p:spTgt spid="22938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29389"/>
                                        </p:tgtEl>
                                        <p:attrNameLst>
                                          <p:attrName>style.visibility</p:attrName>
                                        </p:attrNameLst>
                                      </p:cBhvr>
                                      <p:to>
                                        <p:strVal val="visible"/>
                                      </p:to>
                                    </p:set>
                                    <p:animEffect transition="in" filter="wipe(left)">
                                      <p:cBhvr>
                                        <p:cTn id="47" dur="500"/>
                                        <p:tgtEl>
                                          <p:spTgt spid="22938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autoUpdateAnimBg="0"/>
      <p:bldP spid="229379" grpId="0" autoUpdateAnimBg="0"/>
      <p:bldP spid="229383" grpId="0" autoUpdateAnimBg="0"/>
      <p:bldP spid="229385" grpId="0" autoUpdateAnimBg="0"/>
      <p:bldP spid="229386" grpId="0" autoUpdateAnimBg="0"/>
      <p:bldP spid="22938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6924" y="85309"/>
            <a:ext cx="251936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000" dirty="0"/>
              <a:t>解法二：</a:t>
            </a:r>
            <a:endParaRPr kumimoji="1" lang="zh-CN" altLang="en-US" sz="3000" b="0" dirty="0"/>
          </a:p>
        </p:txBody>
      </p:sp>
      <p:pic>
        <p:nvPicPr>
          <p:cNvPr id="3788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2720" y="158343"/>
            <a:ext cx="3724920" cy="1751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Box 13"/>
          <p:cNvSpPr txBox="1">
            <a:spLocks noChangeArrowheads="1"/>
          </p:cNvSpPr>
          <p:nvPr/>
        </p:nvSpPr>
        <p:spPr bwMode="auto">
          <a:xfrm>
            <a:off x="1538671" y="71371"/>
            <a:ext cx="439261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000" dirty="0"/>
              <a:t>取一半径为</a:t>
            </a:r>
            <a:r>
              <a:rPr kumimoji="1" lang="en-US" altLang="zh-CN" sz="3000" i="1" dirty="0"/>
              <a:t>a</a:t>
            </a:r>
            <a:r>
              <a:rPr kumimoji="1" lang="zh-CN" altLang="en-US" sz="3000" dirty="0"/>
              <a:t>的圆环</a:t>
            </a:r>
          </a:p>
        </p:txBody>
      </p:sp>
      <p:graphicFrame>
        <p:nvGraphicFramePr>
          <p:cNvPr id="3" name="对象 2"/>
          <p:cNvGraphicFramePr>
            <a:graphicFrameLocks noChangeAspect="1"/>
          </p:cNvGraphicFramePr>
          <p:nvPr>
            <p:extLst/>
          </p:nvPr>
        </p:nvGraphicFramePr>
        <p:xfrm>
          <a:off x="169779" y="887463"/>
          <a:ext cx="5081588" cy="1019175"/>
        </p:xfrm>
        <a:graphic>
          <a:graphicData uri="http://schemas.openxmlformats.org/presentationml/2006/ole">
            <mc:AlternateContent xmlns:mc="http://schemas.openxmlformats.org/markup-compatibility/2006">
              <mc:Choice xmlns:v="urn:schemas-microsoft-com:vml" Requires="v">
                <p:oleObj spid="_x0000_s94282" name="公式" r:id="rId4" imgW="1955520" imgH="393480" progId="Equation.3">
                  <p:embed/>
                </p:oleObj>
              </mc:Choice>
              <mc:Fallback>
                <p:oleObj name="公式" r:id="rId4" imgW="1955520" imgH="393480" progId="Equation.3">
                  <p:embed/>
                  <p:pic>
                    <p:nvPicPr>
                      <p:cNvPr id="3" name="对象 2"/>
                      <p:cNvPicPr>
                        <a:picLocks noChangeAspect="1" noChangeArrowheads="1"/>
                      </p:cNvPicPr>
                      <p:nvPr/>
                    </p:nvPicPr>
                    <p:blipFill>
                      <a:blip r:embed="rId5"/>
                      <a:srcRect/>
                      <a:stretch>
                        <a:fillRect/>
                      </a:stretch>
                    </p:blipFill>
                    <p:spPr bwMode="auto">
                      <a:xfrm>
                        <a:off x="169779" y="887463"/>
                        <a:ext cx="5081588" cy="101917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13"/>
          <p:cNvSpPr txBox="1">
            <a:spLocks noChangeArrowheads="1"/>
          </p:cNvSpPr>
          <p:nvPr/>
        </p:nvSpPr>
        <p:spPr bwMode="auto">
          <a:xfrm>
            <a:off x="270704" y="1954312"/>
            <a:ext cx="439261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000" dirty="0"/>
              <a:t>在</a:t>
            </a:r>
            <a:r>
              <a:rPr kumimoji="1" lang="en-US" altLang="zh-CN" sz="3000" i="1" dirty="0"/>
              <a:t>P</a:t>
            </a:r>
            <a:r>
              <a:rPr kumimoji="1" lang="zh-CN" altLang="en-US" sz="3000" dirty="0"/>
              <a:t>点产生的电势</a:t>
            </a:r>
          </a:p>
        </p:txBody>
      </p:sp>
      <p:graphicFrame>
        <p:nvGraphicFramePr>
          <p:cNvPr id="5" name="对象 4"/>
          <p:cNvGraphicFramePr>
            <a:graphicFrameLocks noChangeAspect="1"/>
          </p:cNvGraphicFramePr>
          <p:nvPr>
            <p:extLst/>
          </p:nvPr>
        </p:nvGraphicFramePr>
        <p:xfrm>
          <a:off x="3563888" y="1772816"/>
          <a:ext cx="3597275" cy="1117600"/>
        </p:xfrm>
        <a:graphic>
          <a:graphicData uri="http://schemas.openxmlformats.org/presentationml/2006/ole">
            <mc:AlternateContent xmlns:mc="http://schemas.openxmlformats.org/markup-compatibility/2006">
              <mc:Choice xmlns:v="urn:schemas-microsoft-com:vml" Requires="v">
                <p:oleObj spid="_x0000_s94283" name="公式" r:id="rId6" imgW="1384200" imgH="431640" progId="Equation.3">
                  <p:embed/>
                </p:oleObj>
              </mc:Choice>
              <mc:Fallback>
                <p:oleObj name="公式" r:id="rId6" imgW="1384200" imgH="431640" progId="Equation.3">
                  <p:embed/>
                  <p:pic>
                    <p:nvPicPr>
                      <p:cNvPr id="5" name="对象 4"/>
                      <p:cNvPicPr>
                        <a:picLocks noChangeAspect="1" noChangeArrowheads="1"/>
                      </p:cNvPicPr>
                      <p:nvPr/>
                    </p:nvPicPr>
                    <p:blipFill>
                      <a:blip r:embed="rId7"/>
                      <a:srcRect/>
                      <a:stretch>
                        <a:fillRect/>
                      </a:stretch>
                    </p:blipFill>
                    <p:spPr bwMode="auto">
                      <a:xfrm>
                        <a:off x="3563888" y="1772816"/>
                        <a:ext cx="3597275" cy="11176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nvPr>
        </p:nvGraphicFramePr>
        <p:xfrm>
          <a:off x="395536" y="2636912"/>
          <a:ext cx="3863975" cy="527050"/>
        </p:xfrm>
        <a:graphic>
          <a:graphicData uri="http://schemas.openxmlformats.org/presentationml/2006/ole">
            <mc:AlternateContent xmlns:mc="http://schemas.openxmlformats.org/markup-compatibility/2006">
              <mc:Choice xmlns:v="urn:schemas-microsoft-com:vml" Requires="v">
                <p:oleObj spid="_x0000_s94284" name="公式" r:id="rId8" imgW="1485720" imgH="203040" progId="Equation.3">
                  <p:embed/>
                </p:oleObj>
              </mc:Choice>
              <mc:Fallback>
                <p:oleObj name="公式" r:id="rId8" imgW="1485720" imgH="203040" progId="Equation.3">
                  <p:embed/>
                  <p:pic>
                    <p:nvPicPr>
                      <p:cNvPr id="8" name="对象 7"/>
                      <p:cNvPicPr>
                        <a:picLocks noChangeAspect="1" noChangeArrowheads="1"/>
                      </p:cNvPicPr>
                      <p:nvPr/>
                    </p:nvPicPr>
                    <p:blipFill>
                      <a:blip r:embed="rId9"/>
                      <a:srcRect/>
                      <a:stretch>
                        <a:fillRect/>
                      </a:stretch>
                    </p:blipFill>
                    <p:spPr bwMode="auto">
                      <a:xfrm>
                        <a:off x="395536" y="2636912"/>
                        <a:ext cx="3863975" cy="5270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nvPr>
        </p:nvGraphicFramePr>
        <p:xfrm>
          <a:off x="2101137" y="3361747"/>
          <a:ext cx="2674937" cy="460375"/>
        </p:xfrm>
        <a:graphic>
          <a:graphicData uri="http://schemas.openxmlformats.org/presentationml/2006/ole">
            <mc:AlternateContent xmlns:mc="http://schemas.openxmlformats.org/markup-compatibility/2006">
              <mc:Choice xmlns:v="urn:schemas-microsoft-com:vml" Requires="v">
                <p:oleObj spid="_x0000_s94285" name="公式" r:id="rId10" imgW="1028520" imgH="177480" progId="Equation.3">
                  <p:embed/>
                </p:oleObj>
              </mc:Choice>
              <mc:Fallback>
                <p:oleObj name="公式" r:id="rId10" imgW="1028520" imgH="177480" progId="Equation.3">
                  <p:embed/>
                  <p:pic>
                    <p:nvPicPr>
                      <p:cNvPr id="9" name="对象 8"/>
                      <p:cNvPicPr>
                        <a:picLocks noChangeAspect="1" noChangeArrowheads="1"/>
                      </p:cNvPicPr>
                      <p:nvPr/>
                    </p:nvPicPr>
                    <p:blipFill>
                      <a:blip r:embed="rId11"/>
                      <a:srcRect/>
                      <a:stretch>
                        <a:fillRect/>
                      </a:stretch>
                    </p:blipFill>
                    <p:spPr bwMode="auto">
                      <a:xfrm>
                        <a:off x="2101137" y="3361747"/>
                        <a:ext cx="2674937" cy="46037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AutoShape 42"/>
          <p:cNvSpPr>
            <a:spLocks noChangeArrowheads="1"/>
          </p:cNvSpPr>
          <p:nvPr/>
        </p:nvSpPr>
        <p:spPr bwMode="auto">
          <a:xfrm>
            <a:off x="1092854" y="4268641"/>
            <a:ext cx="720080" cy="324000"/>
          </a:xfrm>
          <a:prstGeom prst="rightArrow">
            <a:avLst>
              <a:gd name="adj1" fmla="val 50000"/>
              <a:gd name="adj2" fmla="val 50947"/>
            </a:avLst>
          </a:prstGeom>
          <a:noFill/>
          <a:ln w="9525">
            <a:solidFill>
              <a:schemeClr val="tx1"/>
            </a:solidFill>
            <a:miter lim="800000"/>
            <a:headEnd/>
            <a:tailEnd/>
          </a:ln>
          <a:effectLst/>
          <a:extLst/>
        </p:spPr>
        <p:txBody>
          <a:bodyPr wrap="none" anchor="ctr"/>
          <a:lstStyle/>
          <a:p>
            <a:endParaRPr lang="zh-CN" altLang="en-US"/>
          </a:p>
        </p:txBody>
      </p:sp>
      <p:graphicFrame>
        <p:nvGraphicFramePr>
          <p:cNvPr id="11" name="对象 10"/>
          <p:cNvGraphicFramePr>
            <a:graphicFrameLocks noChangeAspect="1"/>
          </p:cNvGraphicFramePr>
          <p:nvPr>
            <p:extLst/>
          </p:nvPr>
        </p:nvGraphicFramePr>
        <p:xfrm>
          <a:off x="2130425" y="3915745"/>
          <a:ext cx="2441575" cy="1117600"/>
        </p:xfrm>
        <a:graphic>
          <a:graphicData uri="http://schemas.openxmlformats.org/presentationml/2006/ole">
            <mc:AlternateContent xmlns:mc="http://schemas.openxmlformats.org/markup-compatibility/2006">
              <mc:Choice xmlns:v="urn:schemas-microsoft-com:vml" Requires="v">
                <p:oleObj spid="_x0000_s94286" name="公式" r:id="rId12" imgW="939600" imgH="431640" progId="Equation.3">
                  <p:embed/>
                </p:oleObj>
              </mc:Choice>
              <mc:Fallback>
                <p:oleObj name="公式" r:id="rId12" imgW="939600" imgH="431640" progId="Equation.3">
                  <p:embed/>
                  <p:pic>
                    <p:nvPicPr>
                      <p:cNvPr id="11" name="对象 10"/>
                      <p:cNvPicPr>
                        <a:picLocks noChangeAspect="1" noChangeArrowheads="1"/>
                      </p:cNvPicPr>
                      <p:nvPr/>
                    </p:nvPicPr>
                    <p:blipFill>
                      <a:blip r:embed="rId13"/>
                      <a:srcRect/>
                      <a:stretch>
                        <a:fillRect/>
                      </a:stretch>
                    </p:blipFill>
                    <p:spPr bwMode="auto">
                      <a:xfrm>
                        <a:off x="2130425" y="3915745"/>
                        <a:ext cx="2441575" cy="11176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矩形 6"/>
          <p:cNvSpPr/>
          <p:nvPr/>
        </p:nvSpPr>
        <p:spPr>
          <a:xfrm>
            <a:off x="323528" y="3295843"/>
            <a:ext cx="2286000" cy="553998"/>
          </a:xfrm>
          <a:prstGeom prst="rect">
            <a:avLst/>
          </a:prstGeom>
        </p:spPr>
        <p:txBody>
          <a:bodyPr>
            <a:spAutoFit/>
          </a:bodyPr>
          <a:lstStyle/>
          <a:p>
            <a:r>
              <a:rPr lang="zh-CN" altLang="en-US" sz="3000" dirty="0"/>
              <a:t>两边微分</a:t>
            </a:r>
          </a:p>
        </p:txBody>
      </p:sp>
      <p:graphicFrame>
        <p:nvGraphicFramePr>
          <p:cNvPr id="14" name="对象 13"/>
          <p:cNvGraphicFramePr>
            <a:graphicFrameLocks noChangeAspect="1"/>
          </p:cNvGraphicFramePr>
          <p:nvPr>
            <p:extLst/>
          </p:nvPr>
        </p:nvGraphicFramePr>
        <p:xfrm>
          <a:off x="6804248" y="3358688"/>
          <a:ext cx="1816100" cy="460375"/>
        </p:xfrm>
        <a:graphic>
          <a:graphicData uri="http://schemas.openxmlformats.org/presentationml/2006/ole">
            <mc:AlternateContent xmlns:mc="http://schemas.openxmlformats.org/markup-compatibility/2006">
              <mc:Choice xmlns:v="urn:schemas-microsoft-com:vml" Requires="v">
                <p:oleObj spid="_x0000_s94287" name="公式" r:id="rId14" imgW="698400" imgH="177480" progId="Equation.3">
                  <p:embed/>
                </p:oleObj>
              </mc:Choice>
              <mc:Fallback>
                <p:oleObj name="公式" r:id="rId14" imgW="698400" imgH="177480" progId="Equation.3">
                  <p:embed/>
                  <p:pic>
                    <p:nvPicPr>
                      <p:cNvPr id="14" name="对象 13"/>
                      <p:cNvPicPr>
                        <a:picLocks noChangeAspect="1" noChangeArrowheads="1"/>
                      </p:cNvPicPr>
                      <p:nvPr/>
                    </p:nvPicPr>
                    <p:blipFill>
                      <a:blip r:embed="rId15"/>
                      <a:srcRect/>
                      <a:stretch>
                        <a:fillRect/>
                      </a:stretch>
                    </p:blipFill>
                    <p:spPr bwMode="auto">
                      <a:xfrm>
                        <a:off x="6804248" y="3358688"/>
                        <a:ext cx="1816100" cy="46037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组合 14"/>
          <p:cNvGrpSpPr/>
          <p:nvPr/>
        </p:nvGrpSpPr>
        <p:grpSpPr>
          <a:xfrm>
            <a:off x="5148064" y="3068960"/>
            <a:ext cx="1168028" cy="692099"/>
            <a:chOff x="5204172" y="4789093"/>
            <a:chExt cx="1168028" cy="692099"/>
          </a:xfrm>
        </p:grpSpPr>
        <p:graphicFrame>
          <p:nvGraphicFramePr>
            <p:cNvPr id="10" name="对象 9"/>
            <p:cNvGraphicFramePr>
              <a:graphicFrameLocks noChangeAspect="1"/>
            </p:cNvGraphicFramePr>
            <p:nvPr>
              <p:extLst/>
            </p:nvPr>
          </p:nvGraphicFramePr>
          <p:xfrm>
            <a:off x="5204172" y="4789093"/>
            <a:ext cx="1168028" cy="296091"/>
          </p:xfrm>
          <a:graphic>
            <a:graphicData uri="http://schemas.openxmlformats.org/presentationml/2006/ole">
              <mc:AlternateContent xmlns:mc="http://schemas.openxmlformats.org/markup-compatibility/2006">
                <mc:Choice xmlns:v="urn:schemas-microsoft-com:vml" Requires="v">
                  <p:oleObj spid="_x0000_s94288" name="公式" r:id="rId16" imgW="698400" imgH="177480" progId="Equation.3">
                    <p:embed/>
                  </p:oleObj>
                </mc:Choice>
                <mc:Fallback>
                  <p:oleObj name="公式" r:id="rId16" imgW="698400" imgH="177480" progId="Equation.3">
                    <p:embed/>
                    <p:pic>
                      <p:nvPicPr>
                        <p:cNvPr id="10" name="对象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04172" y="4789093"/>
                          <a:ext cx="1168028" cy="296091"/>
                        </a:xfrm>
                        <a:prstGeom prst="rect">
                          <a:avLst/>
                        </a:prstGeom>
                        <a:noFill/>
                        <a:ln>
                          <a:noFill/>
                        </a:ln>
                        <a:effectLst/>
                        <a:extLst/>
                      </p:spPr>
                    </p:pic>
                  </p:oleObj>
                </mc:Fallback>
              </mc:AlternateContent>
            </a:graphicData>
          </a:graphic>
        </p:graphicFrame>
        <p:sp>
          <p:nvSpPr>
            <p:cNvPr id="16" name="AutoShape 42"/>
            <p:cNvSpPr>
              <a:spLocks noChangeArrowheads="1"/>
            </p:cNvSpPr>
            <p:nvPr/>
          </p:nvSpPr>
          <p:spPr bwMode="auto">
            <a:xfrm>
              <a:off x="5292080" y="5157192"/>
              <a:ext cx="1008112" cy="324000"/>
            </a:xfrm>
            <a:prstGeom prst="rightArrow">
              <a:avLst>
                <a:gd name="adj1" fmla="val 50000"/>
                <a:gd name="adj2" fmla="val 50947"/>
              </a:avLst>
            </a:prstGeom>
            <a:noFill/>
            <a:ln w="9525">
              <a:solidFill>
                <a:schemeClr val="tx1"/>
              </a:solidFill>
              <a:miter lim="800000"/>
              <a:headEnd/>
              <a:tailEnd/>
            </a:ln>
            <a:effectLst/>
            <a:extLst/>
          </p:spPr>
          <p:txBody>
            <a:bodyPr wrap="none" anchor="ctr"/>
            <a:lstStyle/>
            <a:p>
              <a:endParaRPr lang="zh-CN" altLang="en-US"/>
            </a:p>
          </p:txBody>
        </p:sp>
      </p:grpSp>
      <p:sp>
        <p:nvSpPr>
          <p:cNvPr id="18" name="Text Box 17">
            <a:extLst>
              <a:ext uri="{FF2B5EF4-FFF2-40B4-BE49-F238E27FC236}">
                <a16:creationId xmlns:a16="http://schemas.microsoft.com/office/drawing/2014/main" id="{69FACE9D-BB13-44FB-8AF6-EAA7FFEDB6FC}"/>
              </a:ext>
            </a:extLst>
          </p:cNvPr>
          <p:cNvSpPr txBox="1">
            <a:spLocks noChangeArrowheads="1"/>
          </p:cNvSpPr>
          <p:nvPr/>
        </p:nvSpPr>
        <p:spPr bwMode="auto">
          <a:xfrm>
            <a:off x="157022" y="6085647"/>
            <a:ext cx="187166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000" i="1" dirty="0"/>
              <a:t> r </a:t>
            </a:r>
            <a:r>
              <a:rPr kumimoji="1" lang="en-US" altLang="zh-CN" sz="3000" dirty="0"/>
              <a:t>&lt;</a:t>
            </a:r>
            <a:r>
              <a:rPr kumimoji="1" lang="en-US" altLang="zh-CN" sz="3000" i="1" dirty="0"/>
              <a:t>R</a:t>
            </a:r>
            <a:r>
              <a:rPr kumimoji="1" lang="zh-CN" altLang="en-US" sz="3000" dirty="0"/>
              <a:t>时：</a:t>
            </a:r>
          </a:p>
        </p:txBody>
      </p:sp>
      <p:sp>
        <p:nvSpPr>
          <p:cNvPr id="19" name="Text Box 19">
            <a:extLst>
              <a:ext uri="{FF2B5EF4-FFF2-40B4-BE49-F238E27FC236}">
                <a16:creationId xmlns:a16="http://schemas.microsoft.com/office/drawing/2014/main" id="{BEE4F255-F279-4569-9929-9520858717A6}"/>
              </a:ext>
            </a:extLst>
          </p:cNvPr>
          <p:cNvSpPr txBox="1">
            <a:spLocks noChangeArrowheads="1"/>
          </p:cNvSpPr>
          <p:nvPr/>
        </p:nvSpPr>
        <p:spPr bwMode="auto">
          <a:xfrm>
            <a:off x="208342" y="5050225"/>
            <a:ext cx="208756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000" dirty="0"/>
              <a:t> </a:t>
            </a:r>
            <a:r>
              <a:rPr kumimoji="1" lang="en-US" altLang="zh-CN" sz="3000" i="1" dirty="0" err="1"/>
              <a:t>r</a:t>
            </a:r>
            <a:r>
              <a:rPr kumimoji="1" lang="en-US" altLang="zh-CN" sz="3000" dirty="0" err="1"/>
              <a:t>≥</a:t>
            </a:r>
            <a:r>
              <a:rPr kumimoji="1" lang="en-US" altLang="zh-CN" sz="3000" i="1" dirty="0" err="1"/>
              <a:t>R</a:t>
            </a:r>
            <a:r>
              <a:rPr kumimoji="1" lang="zh-CN" altLang="en-US" sz="3000" dirty="0"/>
              <a:t>时：</a:t>
            </a:r>
          </a:p>
        </p:txBody>
      </p:sp>
      <p:graphicFrame>
        <p:nvGraphicFramePr>
          <p:cNvPr id="20" name="对象 19">
            <a:extLst>
              <a:ext uri="{FF2B5EF4-FFF2-40B4-BE49-F238E27FC236}">
                <a16:creationId xmlns:a16="http://schemas.microsoft.com/office/drawing/2014/main" id="{89D09CF5-F7AF-49A6-BA8A-A54BA48F13F3}"/>
              </a:ext>
            </a:extLst>
          </p:cNvPr>
          <p:cNvGraphicFramePr>
            <a:graphicFrameLocks noChangeAspect="1"/>
          </p:cNvGraphicFramePr>
          <p:nvPr>
            <p:extLst/>
          </p:nvPr>
        </p:nvGraphicFramePr>
        <p:xfrm>
          <a:off x="1943547" y="4847267"/>
          <a:ext cx="4300537" cy="1127125"/>
        </p:xfrm>
        <a:graphic>
          <a:graphicData uri="http://schemas.openxmlformats.org/presentationml/2006/ole">
            <mc:AlternateContent xmlns:mc="http://schemas.openxmlformats.org/markup-compatibility/2006">
              <mc:Choice xmlns:v="urn:schemas-microsoft-com:vml" Requires="v">
                <p:oleObj spid="_x0000_s94289" name="公式" r:id="rId18" imgW="1650960" imgH="431640" progId="Equation.3">
                  <p:embed/>
                </p:oleObj>
              </mc:Choice>
              <mc:Fallback>
                <p:oleObj name="公式" r:id="rId18" imgW="1650960" imgH="431640" progId="Equation.3">
                  <p:embed/>
                  <p:pic>
                    <p:nvPicPr>
                      <p:cNvPr id="20" name="对象 19">
                        <a:extLst>
                          <a:ext uri="{FF2B5EF4-FFF2-40B4-BE49-F238E27FC236}">
                            <a16:creationId xmlns:a16="http://schemas.microsoft.com/office/drawing/2014/main" id="{89D09CF5-F7AF-49A6-BA8A-A54BA48F13F3}"/>
                          </a:ext>
                        </a:extLst>
                      </p:cNvPr>
                      <p:cNvPicPr>
                        <a:picLocks noChangeAspect="1" noChangeArrowheads="1"/>
                      </p:cNvPicPr>
                      <p:nvPr/>
                    </p:nvPicPr>
                    <p:blipFill>
                      <a:blip r:embed="rId19"/>
                      <a:srcRect/>
                      <a:stretch>
                        <a:fillRect/>
                      </a:stretch>
                    </p:blipFill>
                    <p:spPr bwMode="auto">
                      <a:xfrm>
                        <a:off x="1943547" y="4847267"/>
                        <a:ext cx="4300537" cy="112712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对象 20">
            <a:extLst>
              <a:ext uri="{FF2B5EF4-FFF2-40B4-BE49-F238E27FC236}">
                <a16:creationId xmlns:a16="http://schemas.microsoft.com/office/drawing/2014/main" id="{1650B60B-0977-4058-800F-A8BD760BF588}"/>
              </a:ext>
            </a:extLst>
          </p:cNvPr>
          <p:cNvGraphicFramePr>
            <a:graphicFrameLocks noChangeAspect="1"/>
          </p:cNvGraphicFramePr>
          <p:nvPr>
            <p:extLst/>
          </p:nvPr>
        </p:nvGraphicFramePr>
        <p:xfrm>
          <a:off x="1943547" y="5849567"/>
          <a:ext cx="4398963" cy="1127125"/>
        </p:xfrm>
        <a:graphic>
          <a:graphicData uri="http://schemas.openxmlformats.org/presentationml/2006/ole">
            <mc:AlternateContent xmlns:mc="http://schemas.openxmlformats.org/markup-compatibility/2006">
              <mc:Choice xmlns:v="urn:schemas-microsoft-com:vml" Requires="v">
                <p:oleObj spid="_x0000_s94290" name="公式" r:id="rId20" imgW="1688760" imgH="431640" progId="Equation.3">
                  <p:embed/>
                </p:oleObj>
              </mc:Choice>
              <mc:Fallback>
                <p:oleObj name="公式" r:id="rId20" imgW="1688760" imgH="431640" progId="Equation.3">
                  <p:embed/>
                  <p:pic>
                    <p:nvPicPr>
                      <p:cNvPr id="21" name="对象 20">
                        <a:extLst>
                          <a:ext uri="{FF2B5EF4-FFF2-40B4-BE49-F238E27FC236}">
                            <a16:creationId xmlns:a16="http://schemas.microsoft.com/office/drawing/2014/main" id="{1650B60B-0977-4058-800F-A8BD760BF588}"/>
                          </a:ext>
                        </a:extLst>
                      </p:cNvPr>
                      <p:cNvPicPr>
                        <a:picLocks noChangeAspect="1" noChangeArrowheads="1"/>
                      </p:cNvPicPr>
                      <p:nvPr/>
                    </p:nvPicPr>
                    <p:blipFill>
                      <a:blip r:embed="rId21"/>
                      <a:srcRect/>
                      <a:stretch>
                        <a:fillRect/>
                      </a:stretch>
                    </p:blipFill>
                    <p:spPr bwMode="auto">
                      <a:xfrm>
                        <a:off x="1943547" y="5849567"/>
                        <a:ext cx="4398963" cy="112712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 name="Picture 896">
            <a:extLst>
              <a:ext uri="{FF2B5EF4-FFF2-40B4-BE49-F238E27FC236}">
                <a16:creationId xmlns:a16="http://schemas.microsoft.com/office/drawing/2014/main" id="{52F8C855-773E-425A-8F82-85452703EB81}"/>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6464296" y="4430641"/>
            <a:ext cx="2351196" cy="2189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图片 22">
            <a:extLst>
              <a:ext uri="{FF2B5EF4-FFF2-40B4-BE49-F238E27FC236}">
                <a16:creationId xmlns:a16="http://schemas.microsoft.com/office/drawing/2014/main" id="{7A910731-D78D-4AE7-8107-20B7D1865BA4}"/>
              </a:ext>
            </a:extLst>
          </p:cNvPr>
          <p:cNvPicPr>
            <a:picLocks noChangeAspect="1"/>
          </p:cNvPicPr>
          <p:nvPr/>
        </p:nvPicPr>
        <p:blipFill>
          <a:blip r:embed="rId23"/>
          <a:stretch>
            <a:fillRect/>
          </a:stretch>
        </p:blipFill>
        <p:spPr>
          <a:xfrm>
            <a:off x="7203809" y="1455454"/>
            <a:ext cx="1766186" cy="634723"/>
          </a:xfrm>
          <a:prstGeom prst="rect">
            <a:avLst/>
          </a:prstGeom>
        </p:spPr>
      </p:pic>
    </p:spTree>
    <p:extLst>
      <p:ext uri="{BB962C8B-B14F-4D97-AF65-F5344CB8AC3E}">
        <p14:creationId xmlns:p14="http://schemas.microsoft.com/office/powerpoint/2010/main" val="315360843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78882"/>
                                        </p:tgtEl>
                                        <p:attrNameLst>
                                          <p:attrName>style.visibility</p:attrName>
                                        </p:attrNameLst>
                                      </p:cBhvr>
                                      <p:to>
                                        <p:strVal val="visible"/>
                                      </p:to>
                                    </p:set>
                                    <p:animEffect transition="in" filter="wipe(left)">
                                      <p:cBhvr>
                                        <p:cTn id="10" dur="500"/>
                                        <p:tgtEl>
                                          <p:spTgt spid="37888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left)">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500"/>
                                        <p:tgtEl>
                                          <p:spTgt spid="1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wipe(left)">
                                      <p:cBhvr>
                                        <p:cTn id="84" dur="500"/>
                                        <p:tgtEl>
                                          <p:spTgt spid="2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wipe(left)">
                                      <p:cBhvr>
                                        <p:cTn id="8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utoUpdateAnimBg="0"/>
      <p:bldP spid="6" grpId="0" autoUpdateAnimBg="0"/>
      <p:bldP spid="12" grpId="0" animBg="1"/>
      <p:bldP spid="7" grpId="0"/>
      <p:bldP spid="18" grpId="0" autoUpdateAnimBg="0"/>
      <p:bldP spid="1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ext Box 2"/>
          <p:cNvSpPr txBox="1">
            <a:spLocks noChangeArrowheads="1"/>
          </p:cNvSpPr>
          <p:nvPr/>
        </p:nvSpPr>
        <p:spPr bwMode="auto">
          <a:xfrm>
            <a:off x="76200" y="52388"/>
            <a:ext cx="45175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solidFill>
                  <a:srgbClr val="3333FF"/>
                </a:solidFill>
                <a:latin typeface="宋体" panose="02010600030101010101" pitchFamily="2" charset="-122"/>
                <a:ea typeface="楷体_GB2312"/>
              </a:rPr>
              <a:t>例题</a:t>
            </a:r>
            <a:r>
              <a:rPr lang="en-US" altLang="zh-CN" sz="2400" dirty="0">
                <a:solidFill>
                  <a:srgbClr val="3333FF"/>
                </a:solidFill>
                <a:latin typeface="宋体" panose="02010600030101010101" pitchFamily="2" charset="-122"/>
                <a:ea typeface="楷体_GB2312"/>
              </a:rPr>
              <a:t>4</a:t>
            </a:r>
            <a:r>
              <a:rPr lang="zh-CN" altLang="en-US" sz="2400" dirty="0">
                <a:solidFill>
                  <a:srgbClr val="3333FF"/>
                </a:solidFill>
                <a:latin typeface="宋体" panose="02010600030101010101" pitchFamily="2" charset="-122"/>
                <a:ea typeface="楷体_GB2312"/>
              </a:rPr>
              <a:t>，均匀带电球体的电势。 </a:t>
            </a:r>
          </a:p>
        </p:txBody>
      </p:sp>
      <p:sp>
        <p:nvSpPr>
          <p:cNvPr id="228355" name="Text Box 3"/>
          <p:cNvSpPr txBox="1">
            <a:spLocks noChangeArrowheads="1"/>
          </p:cNvSpPr>
          <p:nvPr/>
        </p:nvSpPr>
        <p:spPr bwMode="auto">
          <a:xfrm>
            <a:off x="290513" y="655638"/>
            <a:ext cx="5195887"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已知电荷</a:t>
            </a:r>
            <a:r>
              <a:rPr lang="en-US" altLang="zh-CN" sz="2400" i="1">
                <a:ea typeface="楷体_GB2312"/>
              </a:rPr>
              <a:t>q</a:t>
            </a:r>
            <a:r>
              <a:rPr lang="zh-CN" altLang="en-US" sz="2400">
                <a:ea typeface="楷体_GB2312"/>
              </a:rPr>
              <a:t>均匀地分布在半径为</a:t>
            </a:r>
            <a:r>
              <a:rPr lang="en-US" altLang="zh-CN" sz="2400" i="1">
                <a:ea typeface="楷体_GB2312"/>
              </a:rPr>
              <a:t>R</a:t>
            </a:r>
            <a:r>
              <a:rPr lang="zh-CN" altLang="en-US" sz="2400">
                <a:ea typeface="楷体_GB2312"/>
              </a:rPr>
              <a:t>的球体上，求空间各点的电势。</a:t>
            </a:r>
            <a:endParaRPr lang="zh-CN" altLang="en-US" sz="3600">
              <a:solidFill>
                <a:srgbClr val="FF3300"/>
              </a:solidFill>
              <a:ea typeface="楷体_GB2312"/>
            </a:endParaRPr>
          </a:p>
        </p:txBody>
      </p:sp>
      <p:sp>
        <p:nvSpPr>
          <p:cNvPr id="228359" name="Text Box 7"/>
          <p:cNvSpPr txBox="1">
            <a:spLocks noChangeArrowheads="1"/>
          </p:cNvSpPr>
          <p:nvPr/>
        </p:nvSpPr>
        <p:spPr bwMode="auto">
          <a:xfrm>
            <a:off x="214313" y="1600200"/>
            <a:ext cx="53721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解：由高斯定理可求出电场强度的分布</a:t>
            </a:r>
            <a:endParaRPr lang="zh-CN" altLang="en-US" sz="3600">
              <a:solidFill>
                <a:srgbClr val="FF3300"/>
              </a:solidFill>
              <a:ea typeface="楷体_GB2312"/>
            </a:endParaRPr>
          </a:p>
        </p:txBody>
      </p:sp>
      <p:graphicFrame>
        <p:nvGraphicFramePr>
          <p:cNvPr id="228360" name="Object 8"/>
          <p:cNvGraphicFramePr>
            <a:graphicFrameLocks noChangeAspect="1"/>
          </p:cNvGraphicFramePr>
          <p:nvPr>
            <p:extLst/>
          </p:nvPr>
        </p:nvGraphicFramePr>
        <p:xfrm>
          <a:off x="76200" y="2079625"/>
          <a:ext cx="3200400" cy="1562100"/>
        </p:xfrm>
        <a:graphic>
          <a:graphicData uri="http://schemas.openxmlformats.org/presentationml/2006/ole">
            <mc:AlternateContent xmlns:mc="http://schemas.openxmlformats.org/markup-compatibility/2006">
              <mc:Choice xmlns:v="urn:schemas-microsoft-com:vml" Requires="v">
                <p:oleObj spid="_x0000_s95258" name="公式" r:id="rId3" imgW="1765300" imgH="863600" progId="Equation.3">
                  <p:embed/>
                </p:oleObj>
              </mc:Choice>
              <mc:Fallback>
                <p:oleObj name="公式" r:id="rId3" imgW="1765300" imgH="863600" progId="Equation.3">
                  <p:embed/>
                  <p:pic>
                    <p:nvPicPr>
                      <p:cNvPr id="22836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079625"/>
                        <a:ext cx="3200400" cy="15621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8361" name="Text Box 9"/>
          <p:cNvSpPr txBox="1">
            <a:spLocks noChangeArrowheads="1"/>
          </p:cNvSpPr>
          <p:nvPr/>
        </p:nvSpPr>
        <p:spPr bwMode="auto">
          <a:xfrm>
            <a:off x="3340424" y="2583829"/>
            <a:ext cx="21875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方向沿径向</a:t>
            </a:r>
          </a:p>
        </p:txBody>
      </p:sp>
      <p:sp>
        <p:nvSpPr>
          <p:cNvPr id="228362" name="Text Box 10"/>
          <p:cNvSpPr txBox="1">
            <a:spLocks noChangeArrowheads="1"/>
          </p:cNvSpPr>
          <p:nvPr/>
        </p:nvSpPr>
        <p:spPr bwMode="auto">
          <a:xfrm>
            <a:off x="328996" y="3886199"/>
            <a:ext cx="12922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r</a:t>
            </a:r>
            <a:r>
              <a:rPr lang="en-US" altLang="zh-CN" sz="2400">
                <a:ea typeface="楷体_GB2312"/>
              </a:rPr>
              <a:t>&gt;</a:t>
            </a:r>
            <a:r>
              <a:rPr lang="en-US" altLang="zh-CN" sz="2400" i="1">
                <a:ea typeface="楷体_GB2312"/>
              </a:rPr>
              <a:t>R</a:t>
            </a:r>
            <a:r>
              <a:rPr lang="zh-CN" altLang="en-US" sz="2400">
                <a:ea typeface="楷体_GB2312"/>
              </a:rPr>
              <a:t>时</a:t>
            </a:r>
          </a:p>
        </p:txBody>
      </p:sp>
      <p:graphicFrame>
        <p:nvGraphicFramePr>
          <p:cNvPr id="228363" name="Object 11"/>
          <p:cNvGraphicFramePr>
            <a:graphicFrameLocks noChangeAspect="1"/>
          </p:cNvGraphicFramePr>
          <p:nvPr>
            <p:extLst/>
          </p:nvPr>
        </p:nvGraphicFramePr>
        <p:xfrm>
          <a:off x="2009451" y="3551236"/>
          <a:ext cx="3719513" cy="1127125"/>
        </p:xfrm>
        <a:graphic>
          <a:graphicData uri="http://schemas.openxmlformats.org/presentationml/2006/ole">
            <mc:AlternateContent xmlns:mc="http://schemas.openxmlformats.org/markup-compatibility/2006">
              <mc:Choice xmlns:v="urn:schemas-microsoft-com:vml" Requires="v">
                <p:oleObj spid="_x0000_s95259" name="Equation" r:id="rId5" imgW="1549400" imgH="469900" progId="Equation.DSMT4">
                  <p:embed/>
                </p:oleObj>
              </mc:Choice>
              <mc:Fallback>
                <p:oleObj name="Equation" r:id="rId5" imgW="1549400" imgH="469900" progId="Equation.DSMT4">
                  <p:embed/>
                  <p:pic>
                    <p:nvPicPr>
                      <p:cNvPr id="228363"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9451" y="3551236"/>
                        <a:ext cx="3719513" cy="11271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8364" name="Text Box 12"/>
          <p:cNvSpPr txBox="1">
            <a:spLocks noChangeArrowheads="1"/>
          </p:cNvSpPr>
          <p:nvPr/>
        </p:nvSpPr>
        <p:spPr bwMode="auto">
          <a:xfrm>
            <a:off x="395536" y="5105400"/>
            <a:ext cx="142716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当</a:t>
            </a:r>
            <a:r>
              <a:rPr lang="en-US" altLang="zh-CN" sz="2400" i="1">
                <a:ea typeface="楷体_GB2312"/>
              </a:rPr>
              <a:t>r</a:t>
            </a:r>
            <a:r>
              <a:rPr lang="en-US" altLang="zh-CN" sz="2400">
                <a:ea typeface="楷体_GB2312"/>
              </a:rPr>
              <a:t>≤</a:t>
            </a:r>
            <a:r>
              <a:rPr lang="en-US" altLang="zh-CN" sz="2400" i="1">
                <a:ea typeface="楷体_GB2312"/>
              </a:rPr>
              <a:t>R</a:t>
            </a:r>
            <a:r>
              <a:rPr lang="zh-CN" altLang="en-US" sz="2400">
                <a:ea typeface="楷体_GB2312"/>
              </a:rPr>
              <a:t>时</a:t>
            </a:r>
          </a:p>
        </p:txBody>
      </p:sp>
      <p:graphicFrame>
        <p:nvGraphicFramePr>
          <p:cNvPr id="228365" name="Object 13"/>
          <p:cNvGraphicFramePr>
            <a:graphicFrameLocks noChangeAspect="1"/>
          </p:cNvGraphicFramePr>
          <p:nvPr>
            <p:extLst/>
          </p:nvPr>
        </p:nvGraphicFramePr>
        <p:xfrm>
          <a:off x="1647771" y="4834731"/>
          <a:ext cx="6961187" cy="998538"/>
        </p:xfrm>
        <a:graphic>
          <a:graphicData uri="http://schemas.openxmlformats.org/presentationml/2006/ole">
            <mc:AlternateContent xmlns:mc="http://schemas.openxmlformats.org/markup-compatibility/2006">
              <mc:Choice xmlns:v="urn:schemas-microsoft-com:vml" Requires="v">
                <p:oleObj spid="_x0000_s95260" name="Equation" r:id="rId7" imgW="3276600" imgH="469900" progId="Equation.DSMT4">
                  <p:embed/>
                </p:oleObj>
              </mc:Choice>
              <mc:Fallback>
                <p:oleObj name="Equation" r:id="rId7" imgW="3276600" imgH="469900" progId="Equation.DSMT4">
                  <p:embed/>
                  <p:pic>
                    <p:nvPicPr>
                      <p:cNvPr id="228365"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7771" y="4834731"/>
                        <a:ext cx="6961187" cy="998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F5F32C77-5618-40BD-88B1-EAFDA558433D}"/>
              </a:ext>
            </a:extLst>
          </p:cNvPr>
          <p:cNvPicPr>
            <a:picLocks noChangeAspect="1"/>
          </p:cNvPicPr>
          <p:nvPr/>
        </p:nvPicPr>
        <p:blipFill>
          <a:blip r:embed="rId9"/>
          <a:stretch>
            <a:fillRect/>
          </a:stretch>
        </p:blipFill>
        <p:spPr>
          <a:xfrm>
            <a:off x="6079008" y="283220"/>
            <a:ext cx="2771775" cy="3404989"/>
          </a:xfrm>
          <a:prstGeom prst="rect">
            <a:avLst/>
          </a:prstGeom>
        </p:spPr>
      </p:pic>
      <p:sp>
        <p:nvSpPr>
          <p:cNvPr id="12" name="Text Box 9">
            <a:extLst>
              <a:ext uri="{FF2B5EF4-FFF2-40B4-BE49-F238E27FC236}">
                <a16:creationId xmlns:a16="http://schemas.microsoft.com/office/drawing/2014/main" id="{3913280C-351F-4B4D-9B12-5855A85D0B8D}"/>
              </a:ext>
            </a:extLst>
          </p:cNvPr>
          <p:cNvSpPr txBox="1">
            <a:spLocks noChangeArrowheads="1"/>
          </p:cNvSpPr>
          <p:nvPr/>
        </p:nvSpPr>
        <p:spPr bwMode="auto">
          <a:xfrm>
            <a:off x="297083" y="6125518"/>
            <a:ext cx="7632848"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solidFill>
                  <a:srgbClr val="3333FF"/>
                </a:solidFill>
                <a:ea typeface="楷体_GB2312"/>
              </a:rPr>
              <a:t>思考：是否可以看无穷多个圆盘的组合来计算电势哪？</a:t>
            </a:r>
          </a:p>
        </p:txBody>
      </p:sp>
    </p:spTree>
    <p:extLst>
      <p:ext uri="{BB962C8B-B14F-4D97-AF65-F5344CB8AC3E}">
        <p14:creationId xmlns:p14="http://schemas.microsoft.com/office/powerpoint/2010/main" val="99834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5"/>
                                        </p:tgtEl>
                                        <p:attrNameLst>
                                          <p:attrName>style.visibility</p:attrName>
                                        </p:attrNameLst>
                                      </p:cBhvr>
                                      <p:to>
                                        <p:strVal val="visible"/>
                                      </p:to>
                                    </p:set>
                                    <p:animEffect transition="in" filter="wipe(left)">
                                      <p:cBhvr>
                                        <p:cTn id="7" dur="500"/>
                                        <p:tgtEl>
                                          <p:spTgt spid="2283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59"/>
                                        </p:tgtEl>
                                        <p:attrNameLst>
                                          <p:attrName>style.visibility</p:attrName>
                                        </p:attrNameLst>
                                      </p:cBhvr>
                                      <p:to>
                                        <p:strVal val="visible"/>
                                      </p:to>
                                    </p:set>
                                    <p:animEffect transition="in" filter="wipe(left)">
                                      <p:cBhvr>
                                        <p:cTn id="12" dur="500"/>
                                        <p:tgtEl>
                                          <p:spTgt spid="2283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8360"/>
                                        </p:tgtEl>
                                        <p:attrNameLst>
                                          <p:attrName>style.visibility</p:attrName>
                                        </p:attrNameLst>
                                      </p:cBhvr>
                                      <p:to>
                                        <p:strVal val="visible"/>
                                      </p:to>
                                    </p:set>
                                    <p:animEffect transition="in" filter="wipe(left)">
                                      <p:cBhvr>
                                        <p:cTn id="17" dur="500"/>
                                        <p:tgtEl>
                                          <p:spTgt spid="2283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8361"/>
                                        </p:tgtEl>
                                        <p:attrNameLst>
                                          <p:attrName>style.visibility</p:attrName>
                                        </p:attrNameLst>
                                      </p:cBhvr>
                                      <p:to>
                                        <p:strVal val="visible"/>
                                      </p:to>
                                    </p:set>
                                    <p:animEffect transition="in" filter="wipe(left)">
                                      <p:cBhvr>
                                        <p:cTn id="22" dur="500"/>
                                        <p:tgtEl>
                                          <p:spTgt spid="2283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8362"/>
                                        </p:tgtEl>
                                        <p:attrNameLst>
                                          <p:attrName>style.visibility</p:attrName>
                                        </p:attrNameLst>
                                      </p:cBhvr>
                                      <p:to>
                                        <p:strVal val="visible"/>
                                      </p:to>
                                    </p:set>
                                    <p:animEffect transition="in" filter="wipe(left)">
                                      <p:cBhvr>
                                        <p:cTn id="27" dur="500"/>
                                        <p:tgtEl>
                                          <p:spTgt spid="2283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8363"/>
                                        </p:tgtEl>
                                        <p:attrNameLst>
                                          <p:attrName>style.visibility</p:attrName>
                                        </p:attrNameLst>
                                      </p:cBhvr>
                                      <p:to>
                                        <p:strVal val="visible"/>
                                      </p:to>
                                    </p:set>
                                    <p:animEffect transition="in" filter="wipe(left)">
                                      <p:cBhvr>
                                        <p:cTn id="32" dur="500"/>
                                        <p:tgtEl>
                                          <p:spTgt spid="2283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8364"/>
                                        </p:tgtEl>
                                        <p:attrNameLst>
                                          <p:attrName>style.visibility</p:attrName>
                                        </p:attrNameLst>
                                      </p:cBhvr>
                                      <p:to>
                                        <p:strVal val="visible"/>
                                      </p:to>
                                    </p:set>
                                    <p:animEffect transition="in" filter="wipe(left)">
                                      <p:cBhvr>
                                        <p:cTn id="37" dur="500"/>
                                        <p:tgtEl>
                                          <p:spTgt spid="22836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8365"/>
                                        </p:tgtEl>
                                        <p:attrNameLst>
                                          <p:attrName>style.visibility</p:attrName>
                                        </p:attrNameLst>
                                      </p:cBhvr>
                                      <p:to>
                                        <p:strVal val="visible"/>
                                      </p:to>
                                    </p:set>
                                    <p:animEffect transition="in" filter="wipe(left)">
                                      <p:cBhvr>
                                        <p:cTn id="42" dur="500"/>
                                        <p:tgtEl>
                                          <p:spTgt spid="22836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autoUpdateAnimBg="0"/>
      <p:bldP spid="228359" grpId="0" autoUpdateAnimBg="0"/>
      <p:bldP spid="228361" grpId="0" autoUpdateAnimBg="0"/>
      <p:bldP spid="228362" grpId="0" autoUpdateAnimBg="0"/>
      <p:bldP spid="228364" grpId="0" autoUpdateAnimBg="0"/>
      <p:bldP spid="1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ChangeArrowheads="1"/>
          </p:cNvSpPr>
          <p:nvPr/>
        </p:nvSpPr>
        <p:spPr bwMode="auto">
          <a:xfrm>
            <a:off x="6629400" y="3200400"/>
            <a:ext cx="2286000" cy="3352800"/>
          </a:xfrm>
          <a:prstGeom prst="rect">
            <a:avLst/>
          </a:prstGeom>
          <a:solidFill>
            <a:srgbClr val="FFFF99"/>
          </a:solidFill>
          <a:ln w="31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30403" name="Text Box 3"/>
          <p:cNvSpPr txBox="1">
            <a:spLocks noChangeArrowheads="1"/>
          </p:cNvSpPr>
          <p:nvPr/>
        </p:nvSpPr>
        <p:spPr bwMode="auto">
          <a:xfrm>
            <a:off x="76200" y="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5</a:t>
            </a:r>
            <a:r>
              <a:rPr lang="zh-CN" altLang="en-US" sz="2400">
                <a:solidFill>
                  <a:srgbClr val="3333FF"/>
                </a:solidFill>
                <a:latin typeface="宋体" panose="02010600030101010101" pitchFamily="2" charset="-122"/>
                <a:ea typeface="楷体_GB2312"/>
              </a:rPr>
              <a:t>，求无限长均匀带电直线的电场中的电势分布。</a:t>
            </a:r>
          </a:p>
        </p:txBody>
      </p:sp>
      <p:graphicFrame>
        <p:nvGraphicFramePr>
          <p:cNvPr id="230404" name="Object 4"/>
          <p:cNvGraphicFramePr>
            <a:graphicFrameLocks noChangeAspect="1"/>
          </p:cNvGraphicFramePr>
          <p:nvPr/>
        </p:nvGraphicFramePr>
        <p:xfrm>
          <a:off x="1981200" y="914400"/>
          <a:ext cx="1600200" cy="908050"/>
        </p:xfrm>
        <a:graphic>
          <a:graphicData uri="http://schemas.openxmlformats.org/presentationml/2006/ole">
            <mc:AlternateContent xmlns:mc="http://schemas.openxmlformats.org/markup-compatibility/2006">
              <mc:Choice xmlns:v="urn:schemas-microsoft-com:vml" Requires="v">
                <p:oleObj spid="_x0000_s96314" name="公式" r:id="rId3" imgW="710891" imgH="444307" progId="Equation.3">
                  <p:embed/>
                </p:oleObj>
              </mc:Choice>
              <mc:Fallback>
                <p:oleObj name="公式" r:id="rId3" imgW="710891" imgH="444307" progId="Equation.3">
                  <p:embed/>
                  <p:pic>
                    <p:nvPicPr>
                      <p:cNvPr id="2304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914400"/>
                        <a:ext cx="1600200"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0405" name="Text Box 5"/>
          <p:cNvSpPr txBox="1">
            <a:spLocks noChangeArrowheads="1"/>
          </p:cNvSpPr>
          <p:nvPr/>
        </p:nvSpPr>
        <p:spPr bwMode="auto">
          <a:xfrm>
            <a:off x="76200" y="457200"/>
            <a:ext cx="523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a:t>
            </a:r>
            <a:r>
              <a:rPr lang="zh-CN" altLang="en-US" sz="2400">
                <a:latin typeface="Symbol" panose="05050102010706020507" pitchFamily="18" charset="2"/>
                <a:ea typeface="楷体_GB2312"/>
              </a:rPr>
              <a:t>假设电荷线密度为</a:t>
            </a:r>
            <a:r>
              <a:rPr lang="en-US" altLang="zh-CN" sz="2400">
                <a:latin typeface="Symbol" panose="05050102010706020507" pitchFamily="18" charset="2"/>
                <a:ea typeface="楷体_GB2312"/>
              </a:rPr>
              <a:t>l</a:t>
            </a:r>
            <a:r>
              <a:rPr lang="zh-CN" altLang="en-US" sz="2400">
                <a:latin typeface="宋体" panose="02010600030101010101" pitchFamily="2" charset="-122"/>
                <a:ea typeface="楷体_GB2312"/>
              </a:rPr>
              <a:t>，则</a:t>
            </a:r>
            <a:r>
              <a:rPr lang="zh-CN" altLang="en-US" sz="2400">
                <a:latin typeface="Symbol" panose="05050102010706020507" pitchFamily="18" charset="2"/>
                <a:ea typeface="楷体_GB2312"/>
              </a:rPr>
              <a:t>场强为</a:t>
            </a:r>
            <a:r>
              <a:rPr lang="zh-CN" altLang="en-US" sz="2400">
                <a:ea typeface="楷体_GB2312"/>
              </a:rPr>
              <a:t>：</a:t>
            </a:r>
          </a:p>
        </p:txBody>
      </p:sp>
      <p:graphicFrame>
        <p:nvGraphicFramePr>
          <p:cNvPr id="230406" name="Object 6"/>
          <p:cNvGraphicFramePr>
            <a:graphicFrameLocks noChangeAspect="1"/>
          </p:cNvGraphicFramePr>
          <p:nvPr/>
        </p:nvGraphicFramePr>
        <p:xfrm>
          <a:off x="1479550" y="3138488"/>
          <a:ext cx="3841750" cy="1028700"/>
        </p:xfrm>
        <a:graphic>
          <a:graphicData uri="http://schemas.openxmlformats.org/presentationml/2006/ole">
            <mc:AlternateContent xmlns:mc="http://schemas.openxmlformats.org/markup-compatibility/2006">
              <mc:Choice xmlns:v="urn:schemas-microsoft-com:vml" Requires="v">
                <p:oleObj spid="_x0000_s96315" name="公式" r:id="rId5" imgW="1625600" imgH="431800" progId="Equation.3">
                  <p:embed/>
                </p:oleObj>
              </mc:Choice>
              <mc:Fallback>
                <p:oleObj name="公式" r:id="rId5" imgW="1625600" imgH="431800" progId="Equation.3">
                  <p:embed/>
                  <p:pic>
                    <p:nvPicPr>
                      <p:cNvPr id="23040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9550" y="3138488"/>
                        <a:ext cx="38417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0407" name="Object 7"/>
          <p:cNvGraphicFramePr>
            <a:graphicFrameLocks noChangeAspect="1"/>
          </p:cNvGraphicFramePr>
          <p:nvPr/>
        </p:nvGraphicFramePr>
        <p:xfrm>
          <a:off x="3352800" y="4114800"/>
          <a:ext cx="1954213" cy="1068388"/>
        </p:xfrm>
        <a:graphic>
          <a:graphicData uri="http://schemas.openxmlformats.org/presentationml/2006/ole">
            <mc:AlternateContent xmlns:mc="http://schemas.openxmlformats.org/markup-compatibility/2006">
              <mc:Choice xmlns:v="urn:schemas-microsoft-com:vml" Requires="v">
                <p:oleObj spid="_x0000_s96316" name="公式" r:id="rId7" imgW="812447" imgH="444307" progId="Equation.3">
                  <p:embed/>
                </p:oleObj>
              </mc:Choice>
              <mc:Fallback>
                <p:oleObj name="公式" r:id="rId7" imgW="812447" imgH="444307" progId="Equation.3">
                  <p:embed/>
                  <p:pic>
                    <p:nvPicPr>
                      <p:cNvPr id="23040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4114800"/>
                        <a:ext cx="1954213" cy="106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0408" name="Text Box 8"/>
          <p:cNvSpPr txBox="1">
            <a:spLocks noChangeArrowheads="1"/>
          </p:cNvSpPr>
          <p:nvPr/>
        </p:nvSpPr>
        <p:spPr bwMode="auto">
          <a:xfrm>
            <a:off x="304800" y="5562600"/>
            <a:ext cx="5791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由此例看出，当电荷分布扩展到无穷远时，电势零点不能再选在无穷远处。 </a:t>
            </a:r>
          </a:p>
        </p:txBody>
      </p:sp>
      <p:sp>
        <p:nvSpPr>
          <p:cNvPr id="230409" name="Text Box 9"/>
          <p:cNvSpPr txBox="1">
            <a:spLocks noChangeArrowheads="1"/>
          </p:cNvSpPr>
          <p:nvPr/>
        </p:nvSpPr>
        <p:spPr bwMode="auto">
          <a:xfrm>
            <a:off x="381000" y="1828800"/>
            <a:ext cx="8077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若仍然选取无穷远为电势零点，则由积分可知各点电势将为无限大而失去意义。此时，我们可以选取某一距带电直导线为</a:t>
            </a:r>
            <a:r>
              <a:rPr lang="en-US" altLang="zh-CN" sz="2400" i="1">
                <a:ea typeface="楷体_GB2312"/>
              </a:rPr>
              <a:t>r</a:t>
            </a:r>
            <a:r>
              <a:rPr lang="en-US" altLang="zh-CN" sz="2400" baseline="-25000">
                <a:ea typeface="楷体_GB2312"/>
              </a:rPr>
              <a:t>B</a:t>
            </a:r>
            <a:r>
              <a:rPr lang="zh-CN" altLang="en-US" sz="2400">
                <a:ea typeface="楷体_GB2312"/>
              </a:rPr>
              <a:t>的</a:t>
            </a:r>
            <a:r>
              <a:rPr lang="en-US" altLang="zh-CN" sz="2400">
                <a:ea typeface="楷体_GB2312"/>
              </a:rPr>
              <a:t>B</a:t>
            </a:r>
            <a:r>
              <a:rPr lang="zh-CN" altLang="en-US" sz="2400">
                <a:ea typeface="楷体_GB2312"/>
              </a:rPr>
              <a:t>点为电势零点，则距带电直线为</a:t>
            </a:r>
            <a:r>
              <a:rPr lang="en-US" altLang="zh-CN" sz="2400" i="1">
                <a:ea typeface="楷体_GB2312"/>
              </a:rPr>
              <a:t>r</a:t>
            </a:r>
            <a:r>
              <a:rPr lang="zh-CN" altLang="en-US" sz="2400">
                <a:ea typeface="楷体_GB2312"/>
              </a:rPr>
              <a:t>的</a:t>
            </a:r>
            <a:r>
              <a:rPr lang="en-US" altLang="zh-CN" sz="2400">
                <a:ea typeface="楷体_GB2312"/>
              </a:rPr>
              <a:t>P</a:t>
            </a:r>
            <a:r>
              <a:rPr lang="zh-CN" altLang="en-US" sz="2400">
                <a:ea typeface="楷体_GB2312"/>
              </a:rPr>
              <a:t>点的电势：</a:t>
            </a:r>
          </a:p>
        </p:txBody>
      </p:sp>
      <p:grpSp>
        <p:nvGrpSpPr>
          <p:cNvPr id="230410" name="Group 10"/>
          <p:cNvGrpSpPr>
            <a:grpSpLocks/>
          </p:cNvGrpSpPr>
          <p:nvPr/>
        </p:nvGrpSpPr>
        <p:grpSpPr bwMode="auto">
          <a:xfrm>
            <a:off x="7010400" y="3276600"/>
            <a:ext cx="1638300" cy="3276600"/>
            <a:chOff x="4416" y="2064"/>
            <a:chExt cx="1032" cy="2064"/>
          </a:xfrm>
        </p:grpSpPr>
        <p:sp>
          <p:nvSpPr>
            <p:cNvPr id="18444" name="Line 11"/>
            <p:cNvSpPr>
              <a:spLocks noChangeShapeType="1"/>
            </p:cNvSpPr>
            <p:nvPr/>
          </p:nvSpPr>
          <p:spPr bwMode="auto">
            <a:xfrm>
              <a:off x="4416" y="2304"/>
              <a:ext cx="0" cy="1488"/>
            </a:xfrm>
            <a:prstGeom prst="line">
              <a:avLst/>
            </a:prstGeom>
            <a:noFill/>
            <a:ln w="47625">
              <a:solidFill>
                <a:srgbClr val="99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5" name="Line 12"/>
            <p:cNvSpPr>
              <a:spLocks noChangeShapeType="1"/>
            </p:cNvSpPr>
            <p:nvPr/>
          </p:nvSpPr>
          <p:spPr bwMode="auto">
            <a:xfrm>
              <a:off x="4421" y="3840"/>
              <a:ext cx="0" cy="288"/>
            </a:xfrm>
            <a:prstGeom prst="line">
              <a:avLst/>
            </a:prstGeom>
            <a:noFill/>
            <a:ln w="47625">
              <a:solidFill>
                <a:srgbClr val="99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Line 13"/>
            <p:cNvSpPr>
              <a:spLocks noChangeShapeType="1"/>
            </p:cNvSpPr>
            <p:nvPr/>
          </p:nvSpPr>
          <p:spPr bwMode="auto">
            <a:xfrm>
              <a:off x="4773" y="2448"/>
              <a:ext cx="0" cy="762"/>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7" name="Line 14"/>
            <p:cNvSpPr>
              <a:spLocks noChangeShapeType="1"/>
            </p:cNvSpPr>
            <p:nvPr/>
          </p:nvSpPr>
          <p:spPr bwMode="auto">
            <a:xfrm>
              <a:off x="4773" y="3216"/>
              <a:ext cx="526" cy="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48" name="Object 15"/>
            <p:cNvGraphicFramePr>
              <a:graphicFrameLocks noChangeAspect="1"/>
            </p:cNvGraphicFramePr>
            <p:nvPr/>
          </p:nvGraphicFramePr>
          <p:xfrm>
            <a:off x="4810" y="2391"/>
            <a:ext cx="230" cy="230"/>
          </p:xfrm>
          <a:graphic>
            <a:graphicData uri="http://schemas.openxmlformats.org/presentationml/2006/ole">
              <mc:AlternateContent xmlns:mc="http://schemas.openxmlformats.org/markup-compatibility/2006">
                <mc:Choice xmlns:v="urn:schemas-microsoft-com:vml" Requires="v">
                  <p:oleObj spid="_x0000_s96317" name="公式" r:id="rId9" imgW="164885" imgH="164885" progId="Equation.3">
                    <p:embed/>
                  </p:oleObj>
                </mc:Choice>
                <mc:Fallback>
                  <p:oleObj name="公式" r:id="rId9" imgW="164885" imgH="164885" progId="Equation.3">
                    <p:embed/>
                    <p:pic>
                      <p:nvPicPr>
                        <p:cNvPr id="18448"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10" y="2391"/>
                          <a:ext cx="23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9" name="Object 16"/>
            <p:cNvGraphicFramePr>
              <a:graphicFrameLocks noChangeAspect="1"/>
            </p:cNvGraphicFramePr>
            <p:nvPr/>
          </p:nvGraphicFramePr>
          <p:xfrm>
            <a:off x="5164" y="2968"/>
            <a:ext cx="284" cy="284"/>
          </p:xfrm>
          <a:graphic>
            <a:graphicData uri="http://schemas.openxmlformats.org/presentationml/2006/ole">
              <mc:AlternateContent xmlns:mc="http://schemas.openxmlformats.org/markup-compatibility/2006">
                <mc:Choice xmlns:v="urn:schemas-microsoft-com:vml" Requires="v">
                  <p:oleObj spid="_x0000_s96318" name="公式" r:id="rId11" imgW="164885" imgH="164885" progId="Equation.3">
                    <p:embed/>
                  </p:oleObj>
                </mc:Choice>
                <mc:Fallback>
                  <p:oleObj name="公式" r:id="rId11" imgW="164885" imgH="164885" progId="Equation.3">
                    <p:embed/>
                    <p:pic>
                      <p:nvPicPr>
                        <p:cNvPr id="18449"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4" y="2968"/>
                          <a:ext cx="28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50" name="Object 17"/>
            <p:cNvGraphicFramePr>
              <a:graphicFrameLocks noChangeAspect="1"/>
            </p:cNvGraphicFramePr>
            <p:nvPr/>
          </p:nvGraphicFramePr>
          <p:xfrm>
            <a:off x="4689" y="3180"/>
            <a:ext cx="284" cy="372"/>
          </p:xfrm>
          <a:graphic>
            <a:graphicData uri="http://schemas.openxmlformats.org/presentationml/2006/ole">
              <mc:AlternateContent xmlns:mc="http://schemas.openxmlformats.org/markup-compatibility/2006">
                <mc:Choice xmlns:v="urn:schemas-microsoft-com:vml" Requires="v">
                  <p:oleObj spid="_x0000_s96319" name="公式" r:id="rId13" imgW="164885" imgH="215619" progId="Equation.3">
                    <p:embed/>
                  </p:oleObj>
                </mc:Choice>
                <mc:Fallback>
                  <p:oleObj name="公式" r:id="rId13" imgW="164885" imgH="215619" progId="Equation.3">
                    <p:embed/>
                    <p:pic>
                      <p:nvPicPr>
                        <p:cNvPr id="1845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89" y="3180"/>
                          <a:ext cx="284"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51" name="Line 18"/>
            <p:cNvSpPr>
              <a:spLocks noChangeShapeType="1"/>
            </p:cNvSpPr>
            <p:nvPr/>
          </p:nvSpPr>
          <p:spPr bwMode="auto">
            <a:xfrm>
              <a:off x="4421" y="2064"/>
              <a:ext cx="0" cy="288"/>
            </a:xfrm>
            <a:prstGeom prst="line">
              <a:avLst/>
            </a:prstGeom>
            <a:noFill/>
            <a:ln w="47625">
              <a:solidFill>
                <a:srgbClr val="99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52" name="Object 19"/>
            <p:cNvGraphicFramePr>
              <a:graphicFrameLocks noChangeAspect="1"/>
            </p:cNvGraphicFramePr>
            <p:nvPr/>
          </p:nvGraphicFramePr>
          <p:xfrm>
            <a:off x="4517" y="2256"/>
            <a:ext cx="196" cy="218"/>
          </p:xfrm>
          <a:graphic>
            <a:graphicData uri="http://schemas.openxmlformats.org/presentationml/2006/ole">
              <mc:AlternateContent xmlns:mc="http://schemas.openxmlformats.org/markup-compatibility/2006">
                <mc:Choice xmlns:v="urn:schemas-microsoft-com:vml" Requires="v">
                  <p:oleObj spid="_x0000_s96320" name="公式" r:id="rId15" imgW="114102" imgH="126780" progId="Equation.3">
                    <p:embed/>
                  </p:oleObj>
                </mc:Choice>
                <mc:Fallback>
                  <p:oleObj name="公式" r:id="rId15" imgW="114102" imgH="126780" progId="Equation.3">
                    <p:embed/>
                    <p:pic>
                      <p:nvPicPr>
                        <p:cNvPr id="18452"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17" y="2256"/>
                          <a:ext cx="196"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53" name="Line 20"/>
            <p:cNvSpPr>
              <a:spLocks noChangeShapeType="1"/>
            </p:cNvSpPr>
            <p:nvPr/>
          </p:nvSpPr>
          <p:spPr bwMode="auto">
            <a:xfrm>
              <a:off x="4421" y="2480"/>
              <a:ext cx="379" cy="0"/>
            </a:xfrm>
            <a:prstGeom prst="line">
              <a:avLst/>
            </a:prstGeom>
            <a:noFill/>
            <a:ln w="25400">
              <a:solidFill>
                <a:schemeClr val="tx1"/>
              </a:solidFill>
              <a:prstDash val="sysDot"/>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Line 21"/>
            <p:cNvSpPr>
              <a:spLocks noChangeShapeType="1"/>
            </p:cNvSpPr>
            <p:nvPr/>
          </p:nvSpPr>
          <p:spPr bwMode="auto">
            <a:xfrm>
              <a:off x="4421" y="3360"/>
              <a:ext cx="864" cy="0"/>
            </a:xfrm>
            <a:prstGeom prst="line">
              <a:avLst/>
            </a:prstGeom>
            <a:noFill/>
            <a:ln w="31750">
              <a:solidFill>
                <a:schemeClr val="tx1"/>
              </a:solidFill>
              <a:prstDash val="sysDot"/>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30422" name="Text Box 22"/>
          <p:cNvSpPr txBox="1">
            <a:spLocks noChangeArrowheads="1"/>
          </p:cNvSpPr>
          <p:nvPr/>
        </p:nvSpPr>
        <p:spPr bwMode="auto">
          <a:xfrm>
            <a:off x="4343400" y="1066800"/>
            <a:ext cx="32416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方向垂直于带电直线。</a:t>
            </a:r>
          </a:p>
        </p:txBody>
      </p:sp>
    </p:spTree>
    <p:extLst>
      <p:ext uri="{BB962C8B-B14F-4D97-AF65-F5344CB8AC3E}">
        <p14:creationId xmlns:p14="http://schemas.microsoft.com/office/powerpoint/2010/main" val="3125508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403"/>
                                        </p:tgtEl>
                                        <p:attrNameLst>
                                          <p:attrName>style.visibility</p:attrName>
                                        </p:attrNameLst>
                                      </p:cBhvr>
                                      <p:to>
                                        <p:strVal val="visible"/>
                                      </p:to>
                                    </p:set>
                                    <p:animEffect transition="in" filter="wipe(left)">
                                      <p:cBhvr>
                                        <p:cTn id="7" dur="500"/>
                                        <p:tgtEl>
                                          <p:spTgt spid="230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0402"/>
                                        </p:tgtEl>
                                        <p:attrNameLst>
                                          <p:attrName>style.visibility</p:attrName>
                                        </p:attrNameLst>
                                      </p:cBhvr>
                                      <p:to>
                                        <p:strVal val="visible"/>
                                      </p:to>
                                    </p:set>
                                    <p:animEffect transition="in" filter="dissolve">
                                      <p:cBhvr>
                                        <p:cTn id="12" dur="500"/>
                                        <p:tgtEl>
                                          <p:spTgt spid="2304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0410"/>
                                        </p:tgtEl>
                                        <p:attrNameLst>
                                          <p:attrName>style.visibility</p:attrName>
                                        </p:attrNameLst>
                                      </p:cBhvr>
                                      <p:to>
                                        <p:strVal val="visible"/>
                                      </p:to>
                                    </p:set>
                                    <p:animEffect transition="in" filter="wipe(left)">
                                      <p:cBhvr>
                                        <p:cTn id="17" dur="500"/>
                                        <p:tgtEl>
                                          <p:spTgt spid="2304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0405"/>
                                        </p:tgtEl>
                                        <p:attrNameLst>
                                          <p:attrName>style.visibility</p:attrName>
                                        </p:attrNameLst>
                                      </p:cBhvr>
                                      <p:to>
                                        <p:strVal val="visible"/>
                                      </p:to>
                                    </p:set>
                                    <p:animEffect transition="in" filter="wipe(left)">
                                      <p:cBhvr>
                                        <p:cTn id="22" dur="500"/>
                                        <p:tgtEl>
                                          <p:spTgt spid="2304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0404"/>
                                        </p:tgtEl>
                                        <p:attrNameLst>
                                          <p:attrName>style.visibility</p:attrName>
                                        </p:attrNameLst>
                                      </p:cBhvr>
                                      <p:to>
                                        <p:strVal val="visible"/>
                                      </p:to>
                                    </p:set>
                                    <p:animEffect transition="in" filter="wipe(left)">
                                      <p:cBhvr>
                                        <p:cTn id="27" dur="500"/>
                                        <p:tgtEl>
                                          <p:spTgt spid="2304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0422"/>
                                        </p:tgtEl>
                                        <p:attrNameLst>
                                          <p:attrName>style.visibility</p:attrName>
                                        </p:attrNameLst>
                                      </p:cBhvr>
                                      <p:to>
                                        <p:strVal val="visible"/>
                                      </p:to>
                                    </p:set>
                                    <p:animEffect transition="in" filter="wipe(left)">
                                      <p:cBhvr>
                                        <p:cTn id="32" dur="500"/>
                                        <p:tgtEl>
                                          <p:spTgt spid="2304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0409"/>
                                        </p:tgtEl>
                                        <p:attrNameLst>
                                          <p:attrName>style.visibility</p:attrName>
                                        </p:attrNameLst>
                                      </p:cBhvr>
                                      <p:to>
                                        <p:strVal val="visible"/>
                                      </p:to>
                                    </p:set>
                                    <p:animEffect transition="in" filter="wipe(left)">
                                      <p:cBhvr>
                                        <p:cTn id="37" dur="500"/>
                                        <p:tgtEl>
                                          <p:spTgt spid="23040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30406"/>
                                        </p:tgtEl>
                                        <p:attrNameLst>
                                          <p:attrName>style.visibility</p:attrName>
                                        </p:attrNameLst>
                                      </p:cBhvr>
                                      <p:to>
                                        <p:strVal val="visible"/>
                                      </p:to>
                                    </p:set>
                                    <p:animEffect transition="in" filter="wipe(left)">
                                      <p:cBhvr>
                                        <p:cTn id="42" dur="500"/>
                                        <p:tgtEl>
                                          <p:spTgt spid="2304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30407"/>
                                        </p:tgtEl>
                                        <p:attrNameLst>
                                          <p:attrName>style.visibility</p:attrName>
                                        </p:attrNameLst>
                                      </p:cBhvr>
                                      <p:to>
                                        <p:strVal val="visible"/>
                                      </p:to>
                                    </p:set>
                                    <p:animEffect transition="in" filter="wipe(left)">
                                      <p:cBhvr>
                                        <p:cTn id="47" dur="500"/>
                                        <p:tgtEl>
                                          <p:spTgt spid="2304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0408"/>
                                        </p:tgtEl>
                                        <p:attrNameLst>
                                          <p:attrName>style.visibility</p:attrName>
                                        </p:attrNameLst>
                                      </p:cBhvr>
                                      <p:to>
                                        <p:strVal val="visible"/>
                                      </p:to>
                                    </p:set>
                                    <p:animEffect transition="in" filter="wipe(left)">
                                      <p:cBhvr>
                                        <p:cTn id="52" dur="500"/>
                                        <p:tgtEl>
                                          <p:spTgt spid="230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animBg="1"/>
      <p:bldP spid="230403" grpId="0" autoUpdateAnimBg="0"/>
      <p:bldP spid="230405" grpId="0" autoUpdateAnimBg="0"/>
      <p:bldP spid="230408" grpId="0" autoUpdateAnimBg="0"/>
      <p:bldP spid="230409" grpId="0" autoUpdateAnimBg="0"/>
      <p:bldP spid="23042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ext Box 2"/>
          <p:cNvSpPr txBox="1">
            <a:spLocks noChangeArrowheads="1"/>
          </p:cNvSpPr>
          <p:nvPr/>
        </p:nvSpPr>
        <p:spPr bwMode="auto">
          <a:xfrm>
            <a:off x="285750" y="152400"/>
            <a:ext cx="38481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rgbClr val="FF3300"/>
                </a:solidFill>
                <a:ea typeface="楷体_GB2312"/>
              </a:rPr>
              <a:t>五、 </a:t>
            </a:r>
            <a:r>
              <a:rPr lang="zh-CN" altLang="en-US">
                <a:solidFill>
                  <a:schemeClr val="folHlink"/>
                </a:solidFill>
                <a:latin typeface="Arial" panose="020B0604020202020204" pitchFamily="34" charset="0"/>
                <a:ea typeface="楷体_GB2312"/>
              </a:rPr>
              <a:t>等势面</a:t>
            </a:r>
          </a:p>
        </p:txBody>
      </p:sp>
      <p:sp>
        <p:nvSpPr>
          <p:cNvPr id="262148" name="Text Box 4"/>
          <p:cNvSpPr txBox="1">
            <a:spLocks noChangeArrowheads="1"/>
          </p:cNvSpPr>
          <p:nvPr/>
        </p:nvSpPr>
        <p:spPr bwMode="auto">
          <a:xfrm>
            <a:off x="228600" y="1052513"/>
            <a:ext cx="1966913" cy="519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1</a:t>
            </a:r>
            <a:r>
              <a:rPr lang="zh-CN" altLang="en-US" sz="2800">
                <a:solidFill>
                  <a:srgbClr val="3333FF"/>
                </a:solidFill>
                <a:ea typeface="楷体_GB2312"/>
              </a:rPr>
              <a:t>、定义</a:t>
            </a:r>
            <a:endParaRPr lang="zh-CN" altLang="en-US" sz="2400" b="0">
              <a:ea typeface="楷体_GB2312"/>
            </a:endParaRPr>
          </a:p>
        </p:txBody>
      </p:sp>
      <p:sp>
        <p:nvSpPr>
          <p:cNvPr id="262149" name="Text Box 5"/>
          <p:cNvSpPr txBox="1">
            <a:spLocks noChangeArrowheads="1"/>
          </p:cNvSpPr>
          <p:nvPr/>
        </p:nvSpPr>
        <p:spPr bwMode="auto">
          <a:xfrm>
            <a:off x="142875" y="1539875"/>
            <a:ext cx="8893175"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电场中电势相等的点所构成的面，叫做</a:t>
            </a:r>
            <a:r>
              <a:rPr lang="zh-CN" altLang="en-US" sz="2400">
                <a:solidFill>
                  <a:srgbClr val="FF3300"/>
                </a:solidFill>
                <a:ea typeface="楷体_GB2312"/>
              </a:rPr>
              <a:t>等势面</a:t>
            </a:r>
            <a:r>
              <a:rPr lang="zh-CN" altLang="en-US" sz="2400">
                <a:ea typeface="楷体_GB2312"/>
              </a:rPr>
              <a:t>。即</a:t>
            </a:r>
            <a:r>
              <a:rPr lang="en-US" altLang="zh-CN" sz="2400" i="1">
                <a:ea typeface="楷体_GB2312"/>
              </a:rPr>
              <a:t>V</a:t>
            </a:r>
            <a:r>
              <a:rPr lang="en-US" altLang="zh-CN" sz="2400">
                <a:ea typeface="楷体_GB2312"/>
              </a:rPr>
              <a:t>(</a:t>
            </a:r>
            <a:r>
              <a:rPr lang="en-US" altLang="zh-CN" sz="2400" i="1">
                <a:ea typeface="楷体_GB2312"/>
              </a:rPr>
              <a:t>x,y,z</a:t>
            </a:r>
            <a:r>
              <a:rPr lang="en-US" altLang="zh-CN" sz="2400">
                <a:ea typeface="楷体_GB2312"/>
              </a:rPr>
              <a:t>)=C</a:t>
            </a:r>
            <a:r>
              <a:rPr lang="zh-CN" altLang="en-US" sz="2400">
                <a:ea typeface="楷体_GB2312"/>
              </a:rPr>
              <a:t>的空间曲面称为</a:t>
            </a:r>
            <a:r>
              <a:rPr lang="zh-CN" altLang="en-US" sz="2400">
                <a:solidFill>
                  <a:srgbClr val="FF3300"/>
                </a:solidFill>
                <a:ea typeface="楷体_GB2312"/>
              </a:rPr>
              <a:t>等势面</a:t>
            </a:r>
            <a:r>
              <a:rPr lang="zh-CN" altLang="en-US" sz="2400">
                <a:ea typeface="楷体_GB2312"/>
              </a:rPr>
              <a:t>。等势面上的任一曲线叫做</a:t>
            </a:r>
            <a:r>
              <a:rPr lang="zh-CN" altLang="en-US" sz="2400">
                <a:solidFill>
                  <a:srgbClr val="FF3300"/>
                </a:solidFill>
                <a:ea typeface="楷体_GB2312"/>
              </a:rPr>
              <a:t>等势线</a:t>
            </a:r>
            <a:r>
              <a:rPr lang="zh-CN" altLang="en-US" sz="2400">
                <a:ea typeface="楷体_GB2312"/>
              </a:rPr>
              <a:t>。</a:t>
            </a:r>
          </a:p>
        </p:txBody>
      </p:sp>
      <p:sp>
        <p:nvSpPr>
          <p:cNvPr id="262150" name="Text Box 6"/>
          <p:cNvSpPr txBox="1">
            <a:spLocks noChangeArrowheads="1"/>
          </p:cNvSpPr>
          <p:nvPr/>
        </p:nvSpPr>
        <p:spPr bwMode="auto">
          <a:xfrm>
            <a:off x="250825" y="2781300"/>
            <a:ext cx="1152525"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2</a:t>
            </a:r>
            <a:r>
              <a:rPr lang="zh-CN" altLang="en-US" sz="2800">
                <a:solidFill>
                  <a:srgbClr val="3333FF"/>
                </a:solidFill>
                <a:ea typeface="楷体_GB2312"/>
              </a:rPr>
              <a:t>、</a:t>
            </a:r>
          </a:p>
          <a:p>
            <a:pPr eaLnBrk="1" hangingPunct="1">
              <a:spcBef>
                <a:spcPct val="0"/>
              </a:spcBef>
              <a:buFontTx/>
              <a:buNone/>
            </a:pPr>
            <a:r>
              <a:rPr lang="zh-CN" altLang="en-US" sz="2800">
                <a:solidFill>
                  <a:srgbClr val="3333FF"/>
                </a:solidFill>
                <a:ea typeface="楷体_GB2312"/>
              </a:rPr>
              <a:t>典型的电场线与等势面</a:t>
            </a:r>
          </a:p>
        </p:txBody>
      </p:sp>
      <p:grpSp>
        <p:nvGrpSpPr>
          <p:cNvPr id="262151" name="Group 7"/>
          <p:cNvGrpSpPr>
            <a:grpSpLocks/>
          </p:cNvGrpSpPr>
          <p:nvPr/>
        </p:nvGrpSpPr>
        <p:grpSpPr bwMode="auto">
          <a:xfrm>
            <a:off x="1471613" y="3019425"/>
            <a:ext cx="2209800" cy="2138363"/>
            <a:chOff x="576" y="528"/>
            <a:chExt cx="1392" cy="1347"/>
          </a:xfrm>
        </p:grpSpPr>
        <p:sp>
          <p:nvSpPr>
            <p:cNvPr id="19497" name="Oval 8"/>
            <p:cNvSpPr>
              <a:spLocks noChangeArrowheads="1"/>
            </p:cNvSpPr>
            <p:nvPr/>
          </p:nvSpPr>
          <p:spPr bwMode="auto">
            <a:xfrm>
              <a:off x="756" y="693"/>
              <a:ext cx="1077" cy="1077"/>
            </a:xfrm>
            <a:prstGeom prst="ellipse">
              <a:avLst/>
            </a:prstGeom>
            <a:noFill/>
            <a:ln w="28575">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9498" name="Oval 9"/>
            <p:cNvSpPr>
              <a:spLocks noChangeArrowheads="1"/>
            </p:cNvSpPr>
            <p:nvPr/>
          </p:nvSpPr>
          <p:spPr bwMode="auto">
            <a:xfrm>
              <a:off x="921" y="858"/>
              <a:ext cx="744" cy="744"/>
            </a:xfrm>
            <a:prstGeom prst="ellipse">
              <a:avLst/>
            </a:prstGeom>
            <a:noFill/>
            <a:ln w="28575">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9499" name="Oval 10"/>
            <p:cNvSpPr>
              <a:spLocks noChangeArrowheads="1"/>
            </p:cNvSpPr>
            <p:nvPr/>
          </p:nvSpPr>
          <p:spPr bwMode="auto">
            <a:xfrm>
              <a:off x="995" y="947"/>
              <a:ext cx="588" cy="588"/>
            </a:xfrm>
            <a:prstGeom prst="ellipse">
              <a:avLst/>
            </a:prstGeom>
            <a:noFill/>
            <a:ln w="28575">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9500" name="Line 11"/>
            <p:cNvSpPr>
              <a:spLocks noChangeShapeType="1"/>
            </p:cNvSpPr>
            <p:nvPr/>
          </p:nvSpPr>
          <p:spPr bwMode="auto">
            <a:xfrm>
              <a:off x="576" y="1246"/>
              <a:ext cx="1392" cy="0"/>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1" name="Line 12"/>
            <p:cNvSpPr>
              <a:spLocks noChangeShapeType="1"/>
            </p:cNvSpPr>
            <p:nvPr/>
          </p:nvSpPr>
          <p:spPr bwMode="auto">
            <a:xfrm flipV="1">
              <a:off x="1294" y="528"/>
              <a:ext cx="0" cy="1347"/>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2" name="Line 13"/>
            <p:cNvSpPr>
              <a:spLocks noChangeShapeType="1"/>
            </p:cNvSpPr>
            <p:nvPr/>
          </p:nvSpPr>
          <p:spPr bwMode="auto">
            <a:xfrm>
              <a:off x="801" y="767"/>
              <a:ext cx="987" cy="943"/>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3" name="Line 14"/>
            <p:cNvSpPr>
              <a:spLocks noChangeShapeType="1"/>
            </p:cNvSpPr>
            <p:nvPr/>
          </p:nvSpPr>
          <p:spPr bwMode="auto">
            <a:xfrm flipV="1">
              <a:off x="801" y="797"/>
              <a:ext cx="987" cy="898"/>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4" name="Oval 15"/>
            <p:cNvSpPr>
              <a:spLocks noChangeArrowheads="1"/>
            </p:cNvSpPr>
            <p:nvPr/>
          </p:nvSpPr>
          <p:spPr bwMode="auto">
            <a:xfrm>
              <a:off x="1265" y="1216"/>
              <a:ext cx="72" cy="72"/>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19505" name="Object 16"/>
            <p:cNvGraphicFramePr>
              <a:graphicFrameLocks noChangeAspect="1"/>
            </p:cNvGraphicFramePr>
            <p:nvPr/>
          </p:nvGraphicFramePr>
          <p:xfrm>
            <a:off x="1429" y="1067"/>
            <a:ext cx="318" cy="235"/>
          </p:xfrm>
          <a:graphic>
            <a:graphicData uri="http://schemas.openxmlformats.org/presentationml/2006/ole">
              <mc:AlternateContent xmlns:mc="http://schemas.openxmlformats.org/markup-compatibility/2006">
                <mc:Choice xmlns:v="urn:schemas-microsoft-com:vml" Requires="v">
                  <p:oleObj spid="_x0000_s97306" name="公式" r:id="rId3" imgW="241091" imgH="177646" progId="Equation.3">
                    <p:embed/>
                  </p:oleObj>
                </mc:Choice>
                <mc:Fallback>
                  <p:oleObj name="公式" r:id="rId3" imgW="241091" imgH="177646" progId="Equation.3">
                    <p:embed/>
                    <p:pic>
                      <p:nvPicPr>
                        <p:cNvPr id="19505"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9" y="1067"/>
                          <a:ext cx="31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62161" name="Group 17"/>
          <p:cNvGrpSpPr>
            <a:grpSpLocks/>
          </p:cNvGrpSpPr>
          <p:nvPr/>
        </p:nvGrpSpPr>
        <p:grpSpPr bwMode="auto">
          <a:xfrm>
            <a:off x="4044950" y="2943225"/>
            <a:ext cx="2417763" cy="2270125"/>
            <a:chOff x="2400" y="480"/>
            <a:chExt cx="1523" cy="1430"/>
          </a:xfrm>
        </p:grpSpPr>
        <p:sp>
          <p:nvSpPr>
            <p:cNvPr id="19484" name="Oval 18"/>
            <p:cNvSpPr>
              <a:spLocks noChangeArrowheads="1"/>
            </p:cNvSpPr>
            <p:nvPr/>
          </p:nvSpPr>
          <p:spPr bwMode="auto">
            <a:xfrm>
              <a:off x="2626" y="615"/>
              <a:ext cx="1083" cy="1084"/>
            </a:xfrm>
            <a:prstGeom prst="ellipse">
              <a:avLst/>
            </a:prstGeom>
            <a:noFill/>
            <a:ln w="38100">
              <a:solidFill>
                <a:srgbClr val="80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9485" name="Oval 19"/>
            <p:cNvSpPr>
              <a:spLocks noChangeArrowheads="1"/>
            </p:cNvSpPr>
            <p:nvPr/>
          </p:nvSpPr>
          <p:spPr bwMode="auto">
            <a:xfrm>
              <a:off x="2789" y="797"/>
              <a:ext cx="744" cy="744"/>
            </a:xfrm>
            <a:prstGeom prst="ellipse">
              <a:avLst/>
            </a:prstGeom>
            <a:noFill/>
            <a:ln w="38100">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19486" name="Oval 20"/>
            <p:cNvSpPr>
              <a:spLocks noChangeArrowheads="1"/>
            </p:cNvSpPr>
            <p:nvPr/>
          </p:nvSpPr>
          <p:spPr bwMode="auto">
            <a:xfrm>
              <a:off x="2867" y="871"/>
              <a:ext cx="590" cy="591"/>
            </a:xfrm>
            <a:prstGeom prst="ellipse">
              <a:avLst/>
            </a:prstGeom>
            <a:noFill/>
            <a:ln w="38100">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endParaRPr lang="zh-CN" altLang="zh-CN" sz="3600">
                <a:solidFill>
                  <a:srgbClr val="FF3300"/>
                </a:solidFill>
                <a:ea typeface="楷体_GB2312"/>
              </a:endParaRPr>
            </a:p>
          </p:txBody>
        </p:sp>
        <p:sp>
          <p:nvSpPr>
            <p:cNvPr id="19487" name="Line 21"/>
            <p:cNvSpPr>
              <a:spLocks noChangeShapeType="1"/>
            </p:cNvSpPr>
            <p:nvPr/>
          </p:nvSpPr>
          <p:spPr bwMode="auto">
            <a:xfrm>
              <a:off x="2400" y="1172"/>
              <a:ext cx="695" cy="0"/>
            </a:xfrm>
            <a:prstGeom prst="line">
              <a:avLst/>
            </a:prstGeom>
            <a:noFill/>
            <a:ln w="9525">
              <a:solidFill>
                <a:srgbClr val="FF0000"/>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8" name="Line 22"/>
            <p:cNvSpPr>
              <a:spLocks noChangeShapeType="1"/>
            </p:cNvSpPr>
            <p:nvPr/>
          </p:nvSpPr>
          <p:spPr bwMode="auto">
            <a:xfrm flipH="1" flipV="1">
              <a:off x="3213" y="1218"/>
              <a:ext cx="480" cy="479"/>
            </a:xfrm>
            <a:prstGeom prst="line">
              <a:avLst/>
            </a:prstGeom>
            <a:noFill/>
            <a:ln w="9525">
              <a:solidFill>
                <a:srgbClr val="FF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9" name="Oval 23"/>
            <p:cNvSpPr>
              <a:spLocks noChangeArrowheads="1"/>
            </p:cNvSpPr>
            <p:nvPr/>
          </p:nvSpPr>
          <p:spPr bwMode="auto">
            <a:xfrm>
              <a:off x="3138" y="1142"/>
              <a:ext cx="72" cy="73"/>
            </a:xfrm>
            <a:prstGeom prst="ellipse">
              <a:avLst/>
            </a:prstGeom>
            <a:solidFill>
              <a:srgbClr val="3333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19490" name="Object 24"/>
            <p:cNvGraphicFramePr>
              <a:graphicFrameLocks noChangeAspect="1"/>
            </p:cNvGraphicFramePr>
            <p:nvPr/>
          </p:nvGraphicFramePr>
          <p:xfrm>
            <a:off x="3303" y="1000"/>
            <a:ext cx="320" cy="219"/>
          </p:xfrm>
          <a:graphic>
            <a:graphicData uri="http://schemas.openxmlformats.org/presentationml/2006/ole">
              <mc:AlternateContent xmlns:mc="http://schemas.openxmlformats.org/markup-compatibility/2006">
                <mc:Choice xmlns:v="urn:schemas-microsoft-com:vml" Requires="v">
                  <p:oleObj spid="_x0000_s97307" name="公式" r:id="rId5" imgW="241091" imgH="164957" progId="Equation.3">
                    <p:embed/>
                  </p:oleObj>
                </mc:Choice>
                <mc:Fallback>
                  <p:oleObj name="公式" r:id="rId5" imgW="241091" imgH="164957" progId="Equation.3">
                    <p:embed/>
                    <p:pic>
                      <p:nvPicPr>
                        <p:cNvPr id="1949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3" y="1000"/>
                          <a:ext cx="320"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91" name="Line 25"/>
            <p:cNvSpPr>
              <a:spLocks noChangeShapeType="1"/>
            </p:cNvSpPr>
            <p:nvPr/>
          </p:nvSpPr>
          <p:spPr bwMode="auto">
            <a:xfrm>
              <a:off x="3183" y="480"/>
              <a:ext cx="0" cy="650"/>
            </a:xfrm>
            <a:prstGeom prst="line">
              <a:avLst/>
            </a:prstGeom>
            <a:noFill/>
            <a:ln w="9525">
              <a:solidFill>
                <a:srgbClr val="FF0000"/>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2" name="Line 26"/>
            <p:cNvSpPr>
              <a:spLocks noChangeShapeType="1"/>
            </p:cNvSpPr>
            <p:nvPr/>
          </p:nvSpPr>
          <p:spPr bwMode="auto">
            <a:xfrm flipV="1">
              <a:off x="3183" y="1260"/>
              <a:ext cx="0" cy="650"/>
            </a:xfrm>
            <a:prstGeom prst="line">
              <a:avLst/>
            </a:prstGeom>
            <a:noFill/>
            <a:ln w="9525">
              <a:solidFill>
                <a:srgbClr val="FF0000"/>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3" name="Line 27"/>
            <p:cNvSpPr>
              <a:spLocks noChangeShapeType="1"/>
            </p:cNvSpPr>
            <p:nvPr/>
          </p:nvSpPr>
          <p:spPr bwMode="auto">
            <a:xfrm flipH="1">
              <a:off x="3228" y="1172"/>
              <a:ext cx="695" cy="0"/>
            </a:xfrm>
            <a:prstGeom prst="line">
              <a:avLst/>
            </a:prstGeom>
            <a:noFill/>
            <a:ln w="9525">
              <a:solidFill>
                <a:srgbClr val="FF00FF"/>
              </a:solidFill>
              <a:round/>
              <a:headEnd type="none" w="med" len="lg"/>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4" name="Line 28"/>
            <p:cNvSpPr>
              <a:spLocks noChangeShapeType="1"/>
            </p:cNvSpPr>
            <p:nvPr/>
          </p:nvSpPr>
          <p:spPr bwMode="auto">
            <a:xfrm flipH="1">
              <a:off x="3213" y="646"/>
              <a:ext cx="480" cy="479"/>
            </a:xfrm>
            <a:prstGeom prst="line">
              <a:avLst/>
            </a:prstGeom>
            <a:noFill/>
            <a:ln w="9525">
              <a:solidFill>
                <a:srgbClr val="FF0000"/>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5" name="Line 29"/>
            <p:cNvSpPr>
              <a:spLocks noChangeShapeType="1"/>
            </p:cNvSpPr>
            <p:nvPr/>
          </p:nvSpPr>
          <p:spPr bwMode="auto">
            <a:xfrm>
              <a:off x="2641" y="646"/>
              <a:ext cx="480" cy="479"/>
            </a:xfrm>
            <a:prstGeom prst="line">
              <a:avLst/>
            </a:prstGeom>
            <a:noFill/>
            <a:ln w="9525">
              <a:solidFill>
                <a:srgbClr val="FF0000"/>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6" name="Line 30"/>
            <p:cNvSpPr>
              <a:spLocks noChangeShapeType="1"/>
            </p:cNvSpPr>
            <p:nvPr/>
          </p:nvSpPr>
          <p:spPr bwMode="auto">
            <a:xfrm flipV="1">
              <a:off x="2641" y="1233"/>
              <a:ext cx="480" cy="479"/>
            </a:xfrm>
            <a:prstGeom prst="line">
              <a:avLst/>
            </a:prstGeom>
            <a:noFill/>
            <a:ln w="9525">
              <a:solidFill>
                <a:srgbClr val="FF0000"/>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2175" name="Text Box 31"/>
          <p:cNvSpPr txBox="1">
            <a:spLocks noChangeArrowheads="1"/>
          </p:cNvSpPr>
          <p:nvPr/>
        </p:nvSpPr>
        <p:spPr bwMode="auto">
          <a:xfrm>
            <a:off x="1476375" y="5348288"/>
            <a:ext cx="24479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正点电荷的电场</a:t>
            </a:r>
          </a:p>
        </p:txBody>
      </p:sp>
      <p:sp>
        <p:nvSpPr>
          <p:cNvPr id="262176" name="Text Box 32"/>
          <p:cNvSpPr txBox="1">
            <a:spLocks noChangeArrowheads="1"/>
          </p:cNvSpPr>
          <p:nvPr/>
        </p:nvSpPr>
        <p:spPr bwMode="auto">
          <a:xfrm>
            <a:off x="4140200" y="5381625"/>
            <a:ext cx="24479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负点电荷的电场</a:t>
            </a:r>
          </a:p>
        </p:txBody>
      </p:sp>
      <p:grpSp>
        <p:nvGrpSpPr>
          <p:cNvPr id="262177" name="Group 33"/>
          <p:cNvGrpSpPr>
            <a:grpSpLocks/>
          </p:cNvGrpSpPr>
          <p:nvPr/>
        </p:nvGrpSpPr>
        <p:grpSpPr bwMode="auto">
          <a:xfrm>
            <a:off x="6694488" y="3235325"/>
            <a:ext cx="1828800" cy="2057400"/>
            <a:chOff x="4176" y="528"/>
            <a:chExt cx="1152" cy="1296"/>
          </a:xfrm>
        </p:grpSpPr>
        <p:sp>
          <p:nvSpPr>
            <p:cNvPr id="19473" name="Line 34"/>
            <p:cNvSpPr>
              <a:spLocks noChangeShapeType="1"/>
            </p:cNvSpPr>
            <p:nvPr/>
          </p:nvSpPr>
          <p:spPr bwMode="auto">
            <a:xfrm>
              <a:off x="4176" y="672"/>
              <a:ext cx="1152"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74" name="Line 35"/>
            <p:cNvSpPr>
              <a:spLocks noChangeShapeType="1"/>
            </p:cNvSpPr>
            <p:nvPr/>
          </p:nvSpPr>
          <p:spPr bwMode="auto">
            <a:xfrm>
              <a:off x="4176" y="864"/>
              <a:ext cx="1152"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75" name="Line 36"/>
            <p:cNvSpPr>
              <a:spLocks noChangeShapeType="1"/>
            </p:cNvSpPr>
            <p:nvPr/>
          </p:nvSpPr>
          <p:spPr bwMode="auto">
            <a:xfrm>
              <a:off x="4176" y="1056"/>
              <a:ext cx="1152"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76" name="Line 37"/>
            <p:cNvSpPr>
              <a:spLocks noChangeShapeType="1"/>
            </p:cNvSpPr>
            <p:nvPr/>
          </p:nvSpPr>
          <p:spPr bwMode="auto">
            <a:xfrm>
              <a:off x="4176" y="1248"/>
              <a:ext cx="1152"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77" name="Line 38"/>
            <p:cNvSpPr>
              <a:spLocks noChangeShapeType="1"/>
            </p:cNvSpPr>
            <p:nvPr/>
          </p:nvSpPr>
          <p:spPr bwMode="auto">
            <a:xfrm>
              <a:off x="4176" y="1440"/>
              <a:ext cx="1152"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78" name="Line 39"/>
            <p:cNvSpPr>
              <a:spLocks noChangeShapeType="1"/>
            </p:cNvSpPr>
            <p:nvPr/>
          </p:nvSpPr>
          <p:spPr bwMode="auto">
            <a:xfrm>
              <a:off x="4176" y="1680"/>
              <a:ext cx="1152"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79" name="Line 40"/>
            <p:cNvSpPr>
              <a:spLocks noChangeShapeType="1"/>
            </p:cNvSpPr>
            <p:nvPr/>
          </p:nvSpPr>
          <p:spPr bwMode="auto">
            <a:xfrm>
              <a:off x="4416" y="528"/>
              <a:ext cx="0" cy="1296"/>
            </a:xfrm>
            <a:prstGeom prst="line">
              <a:avLst/>
            </a:prstGeom>
            <a:noFill/>
            <a:ln w="38100">
              <a:solidFill>
                <a:srgbClr val="99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80" name="Line 41"/>
            <p:cNvSpPr>
              <a:spLocks noChangeShapeType="1"/>
            </p:cNvSpPr>
            <p:nvPr/>
          </p:nvSpPr>
          <p:spPr bwMode="auto">
            <a:xfrm>
              <a:off x="4608" y="528"/>
              <a:ext cx="0" cy="1296"/>
            </a:xfrm>
            <a:prstGeom prst="line">
              <a:avLst/>
            </a:prstGeom>
            <a:noFill/>
            <a:ln w="38100">
              <a:solidFill>
                <a:srgbClr val="99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81" name="Line 42"/>
            <p:cNvSpPr>
              <a:spLocks noChangeShapeType="1"/>
            </p:cNvSpPr>
            <p:nvPr/>
          </p:nvSpPr>
          <p:spPr bwMode="auto">
            <a:xfrm>
              <a:off x="4800" y="528"/>
              <a:ext cx="0" cy="1296"/>
            </a:xfrm>
            <a:prstGeom prst="line">
              <a:avLst/>
            </a:prstGeom>
            <a:noFill/>
            <a:ln w="38100">
              <a:solidFill>
                <a:srgbClr val="99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82" name="Line 43"/>
            <p:cNvSpPr>
              <a:spLocks noChangeShapeType="1"/>
            </p:cNvSpPr>
            <p:nvPr/>
          </p:nvSpPr>
          <p:spPr bwMode="auto">
            <a:xfrm>
              <a:off x="4992" y="528"/>
              <a:ext cx="0" cy="1296"/>
            </a:xfrm>
            <a:prstGeom prst="line">
              <a:avLst/>
            </a:prstGeom>
            <a:noFill/>
            <a:ln w="38100">
              <a:solidFill>
                <a:srgbClr val="99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19483" name="Line 44"/>
            <p:cNvSpPr>
              <a:spLocks noChangeShapeType="1"/>
            </p:cNvSpPr>
            <p:nvPr/>
          </p:nvSpPr>
          <p:spPr bwMode="auto">
            <a:xfrm>
              <a:off x="5184" y="528"/>
              <a:ext cx="0" cy="1296"/>
            </a:xfrm>
            <a:prstGeom prst="line">
              <a:avLst/>
            </a:prstGeom>
            <a:noFill/>
            <a:ln w="38100">
              <a:solidFill>
                <a:srgbClr val="99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262189" name="Text Box 45"/>
          <p:cNvSpPr txBox="1">
            <a:spLocks noChangeArrowheads="1"/>
          </p:cNvSpPr>
          <p:nvPr/>
        </p:nvSpPr>
        <p:spPr bwMode="auto">
          <a:xfrm>
            <a:off x="7075488" y="5381625"/>
            <a:ext cx="1817687"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匀强电场</a:t>
            </a:r>
            <a:endParaRPr lang="zh-CN" altLang="en-US" sz="3600">
              <a:solidFill>
                <a:srgbClr val="FF3300"/>
              </a:solidFill>
              <a:ea typeface="楷体_GB2312"/>
            </a:endParaRPr>
          </a:p>
        </p:txBody>
      </p:sp>
      <p:sp>
        <p:nvSpPr>
          <p:cNvPr id="262190" name="Text Box 46"/>
          <p:cNvSpPr txBox="1">
            <a:spLocks noChangeArrowheads="1"/>
          </p:cNvSpPr>
          <p:nvPr/>
        </p:nvSpPr>
        <p:spPr bwMode="auto">
          <a:xfrm>
            <a:off x="533400" y="5991225"/>
            <a:ext cx="8286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规定：</a:t>
            </a:r>
            <a:r>
              <a:rPr lang="zh-CN" altLang="en-US" sz="2400">
                <a:ea typeface="楷体_GB2312"/>
              </a:rPr>
              <a:t>两个相邻等势面的电势差相等，所以等势面较密</a:t>
            </a:r>
          </a:p>
          <a:p>
            <a:pPr eaLnBrk="1" hangingPunct="1">
              <a:spcBef>
                <a:spcPct val="0"/>
              </a:spcBef>
              <a:buFontTx/>
              <a:buNone/>
            </a:pPr>
            <a:r>
              <a:rPr lang="zh-CN" altLang="en-US" sz="2400">
                <a:ea typeface="楷体_GB2312"/>
              </a:rPr>
              <a:t>集的地方，场强较大；等势面较稀疏的地方，场强较小。</a:t>
            </a:r>
          </a:p>
        </p:txBody>
      </p:sp>
      <p:sp>
        <p:nvSpPr>
          <p:cNvPr id="262191" name="Line 47"/>
          <p:cNvSpPr>
            <a:spLocks noChangeShapeType="1"/>
          </p:cNvSpPr>
          <p:nvPr/>
        </p:nvSpPr>
        <p:spPr bwMode="auto">
          <a:xfrm>
            <a:off x="6732588" y="2997200"/>
            <a:ext cx="0" cy="2376488"/>
          </a:xfrm>
          <a:prstGeom prst="line">
            <a:avLst/>
          </a:prstGeom>
          <a:noFill/>
          <a:ln w="762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62192" name="Line 48"/>
          <p:cNvSpPr>
            <a:spLocks noChangeShapeType="1"/>
          </p:cNvSpPr>
          <p:nvPr/>
        </p:nvSpPr>
        <p:spPr bwMode="auto">
          <a:xfrm>
            <a:off x="8604250" y="2997200"/>
            <a:ext cx="0" cy="2376488"/>
          </a:xfrm>
          <a:prstGeom prst="line">
            <a:avLst/>
          </a:prstGeom>
          <a:noFill/>
          <a:ln w="762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62193" name="Text Box 49"/>
          <p:cNvSpPr txBox="1">
            <a:spLocks noChangeArrowheads="1"/>
          </p:cNvSpPr>
          <p:nvPr/>
        </p:nvSpPr>
        <p:spPr bwMode="auto">
          <a:xfrm>
            <a:off x="6497638" y="2435225"/>
            <a:ext cx="696912" cy="35290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a:t>
            </a:r>
            <a:r>
              <a:rPr lang="el-GR" altLang="zh-CN" sz="3600">
                <a:solidFill>
                  <a:srgbClr val="FF3300"/>
                </a:solidFill>
                <a:ea typeface="楷体_GB2312"/>
                <a:cs typeface="Times New Roman" panose="02020603050405020304" pitchFamily="18" charset="0"/>
              </a:rPr>
              <a:t>σ</a:t>
            </a:r>
            <a:endParaRPr lang="en-US" altLang="zh-CN" sz="3600">
              <a:solidFill>
                <a:srgbClr val="FF3300"/>
              </a:solidFill>
              <a:ea typeface="楷体_GB2312"/>
              <a:cs typeface="Times New Roman" panose="02020603050405020304" pitchFamily="18" charset="0"/>
            </a:endParaRPr>
          </a:p>
          <a:p>
            <a:pPr eaLnBrk="1" hangingPunct="1">
              <a:buFontTx/>
              <a:buNone/>
            </a:pPr>
            <a:endParaRPr lang="en-US" altLang="zh-CN" sz="3600">
              <a:solidFill>
                <a:srgbClr val="FF3300"/>
              </a:solidFill>
              <a:ea typeface="楷体_GB2312"/>
              <a:cs typeface="Times New Roman" panose="02020603050405020304" pitchFamily="18" charset="0"/>
            </a:endParaRPr>
          </a:p>
          <a:p>
            <a:pPr eaLnBrk="1" hangingPunct="1">
              <a:buFontTx/>
              <a:buNone/>
            </a:pPr>
            <a:endParaRPr lang="en-US" altLang="zh-CN" sz="3600">
              <a:solidFill>
                <a:srgbClr val="FF3300"/>
              </a:solidFill>
              <a:ea typeface="楷体_GB2312"/>
              <a:cs typeface="Times New Roman" panose="02020603050405020304" pitchFamily="18" charset="0"/>
            </a:endParaRPr>
          </a:p>
          <a:p>
            <a:pPr eaLnBrk="1" hangingPunct="1">
              <a:buFontTx/>
              <a:buNone/>
            </a:pPr>
            <a:endParaRPr lang="en-US" altLang="zh-CN" sz="2400">
              <a:solidFill>
                <a:srgbClr val="FF3300"/>
              </a:solidFill>
              <a:ea typeface="楷体_GB2312"/>
              <a:cs typeface="Times New Roman" panose="02020603050405020304" pitchFamily="18" charset="0"/>
            </a:endParaRPr>
          </a:p>
          <a:p>
            <a:pPr eaLnBrk="1" hangingPunct="1">
              <a:buFontTx/>
              <a:buNone/>
            </a:pPr>
            <a:endParaRPr lang="en-US" altLang="zh-CN" sz="2400">
              <a:solidFill>
                <a:srgbClr val="FF3300"/>
              </a:solidFill>
              <a:ea typeface="楷体_GB2312"/>
              <a:cs typeface="Times New Roman" panose="02020603050405020304" pitchFamily="18" charset="0"/>
            </a:endParaRPr>
          </a:p>
          <a:p>
            <a:pPr eaLnBrk="1" hangingPunct="1">
              <a:buFontTx/>
              <a:buNone/>
            </a:pPr>
            <a:r>
              <a:rPr lang="en-US" altLang="zh-CN" sz="3600">
                <a:solidFill>
                  <a:srgbClr val="FF3300"/>
                </a:solidFill>
                <a:ea typeface="楷体_GB2312"/>
                <a:cs typeface="Times New Roman" panose="02020603050405020304" pitchFamily="18" charset="0"/>
              </a:rPr>
              <a:t>A</a:t>
            </a:r>
            <a:endParaRPr lang="el-GR" altLang="zh-CN" sz="3600">
              <a:solidFill>
                <a:srgbClr val="FF3300"/>
              </a:solidFill>
              <a:ea typeface="楷体_GB2312"/>
              <a:cs typeface="Times New Roman" panose="02020603050405020304" pitchFamily="18" charset="0"/>
            </a:endParaRPr>
          </a:p>
        </p:txBody>
      </p:sp>
      <p:sp>
        <p:nvSpPr>
          <p:cNvPr id="262194" name="Rectangle 50"/>
          <p:cNvSpPr>
            <a:spLocks noChangeArrowheads="1"/>
          </p:cNvSpPr>
          <p:nvPr/>
        </p:nvSpPr>
        <p:spPr bwMode="auto">
          <a:xfrm>
            <a:off x="8135938" y="2420938"/>
            <a:ext cx="720725" cy="35290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a:solidFill>
                  <a:srgbClr val="FF3300"/>
                </a:solidFill>
                <a:ea typeface="楷体_GB2312"/>
              </a:rPr>
              <a:t>-</a:t>
            </a:r>
            <a:r>
              <a:rPr lang="el-GR" altLang="zh-CN" sz="3600">
                <a:solidFill>
                  <a:srgbClr val="FF3300"/>
                </a:solidFill>
                <a:ea typeface="楷体_GB2312"/>
              </a:rPr>
              <a:t>σ</a:t>
            </a:r>
            <a:endParaRPr lang="en-US" altLang="zh-CN" sz="3600">
              <a:solidFill>
                <a:srgbClr val="FF3300"/>
              </a:solidFill>
              <a:ea typeface="楷体_GB2312"/>
            </a:endParaRPr>
          </a:p>
          <a:p>
            <a:pPr eaLnBrk="1" hangingPunct="1">
              <a:buFontTx/>
              <a:buNone/>
            </a:pPr>
            <a:endParaRPr lang="en-US" altLang="zh-CN" sz="3600">
              <a:solidFill>
                <a:srgbClr val="FF3300"/>
              </a:solidFill>
              <a:ea typeface="楷体_GB2312"/>
            </a:endParaRPr>
          </a:p>
          <a:p>
            <a:pPr eaLnBrk="1" hangingPunct="1">
              <a:buFontTx/>
              <a:buNone/>
            </a:pPr>
            <a:endParaRPr lang="en-US" altLang="zh-CN" sz="3600">
              <a:solidFill>
                <a:srgbClr val="FF3300"/>
              </a:solidFill>
              <a:ea typeface="楷体_GB2312"/>
            </a:endParaRPr>
          </a:p>
          <a:p>
            <a:pPr eaLnBrk="1" hangingPunct="1">
              <a:buFontTx/>
              <a:buNone/>
            </a:pPr>
            <a:endParaRPr lang="en-US" altLang="zh-CN" sz="2400">
              <a:solidFill>
                <a:srgbClr val="FF3300"/>
              </a:solidFill>
              <a:ea typeface="楷体_GB2312"/>
            </a:endParaRPr>
          </a:p>
          <a:p>
            <a:pPr eaLnBrk="1" hangingPunct="1">
              <a:buFontTx/>
              <a:buNone/>
            </a:pPr>
            <a:endParaRPr lang="en-US" altLang="zh-CN" sz="2400">
              <a:solidFill>
                <a:srgbClr val="FF3300"/>
              </a:solidFill>
              <a:ea typeface="楷体_GB2312"/>
            </a:endParaRPr>
          </a:p>
          <a:p>
            <a:pPr eaLnBrk="1" hangingPunct="1">
              <a:buFontTx/>
              <a:buNone/>
            </a:pPr>
            <a:r>
              <a:rPr lang="en-US" altLang="zh-CN" sz="2400">
                <a:solidFill>
                  <a:srgbClr val="FF3300"/>
                </a:solidFill>
                <a:ea typeface="楷体_GB2312"/>
              </a:rPr>
              <a:t>   </a:t>
            </a:r>
            <a:r>
              <a:rPr lang="en-US" altLang="zh-CN" sz="3600">
                <a:solidFill>
                  <a:srgbClr val="FF3300"/>
                </a:solidFill>
                <a:ea typeface="楷体_GB2312"/>
              </a:rPr>
              <a:t>B</a:t>
            </a:r>
          </a:p>
        </p:txBody>
      </p:sp>
      <p:graphicFrame>
        <p:nvGraphicFramePr>
          <p:cNvPr id="50" name="Object 9">
            <a:extLst>
              <a:ext uri="{FF2B5EF4-FFF2-40B4-BE49-F238E27FC236}">
                <a16:creationId xmlns:a16="http://schemas.microsoft.com/office/drawing/2014/main" id="{DD06BFEA-30BA-420D-81E0-FA6106BF7A56}"/>
              </a:ext>
            </a:extLst>
          </p:cNvPr>
          <p:cNvGraphicFramePr>
            <a:graphicFrameLocks noChangeAspect="1"/>
          </p:cNvGraphicFramePr>
          <p:nvPr>
            <p:extLst/>
          </p:nvPr>
        </p:nvGraphicFramePr>
        <p:xfrm>
          <a:off x="6683376" y="152400"/>
          <a:ext cx="1646238" cy="1047750"/>
        </p:xfrm>
        <a:graphic>
          <a:graphicData uri="http://schemas.openxmlformats.org/presentationml/2006/ole">
            <mc:AlternateContent xmlns:mc="http://schemas.openxmlformats.org/markup-compatibility/2006">
              <mc:Choice xmlns:v="urn:schemas-microsoft-com:vml" Requires="v">
                <p:oleObj spid="_x0000_s97308" name="Equation" r:id="rId7" imgW="698400" imgH="444240" progId="Equation.DSMT4">
                  <p:embed/>
                </p:oleObj>
              </mc:Choice>
              <mc:Fallback>
                <p:oleObj name="Equation" r:id="rId7" imgW="698400" imgH="444240" progId="Equation.DSMT4">
                  <p:embed/>
                  <p:pic>
                    <p:nvPicPr>
                      <p:cNvPr id="50" name="Object 9">
                        <a:extLst>
                          <a:ext uri="{FF2B5EF4-FFF2-40B4-BE49-F238E27FC236}">
                            <a16:creationId xmlns:a16="http://schemas.microsoft.com/office/drawing/2014/main" id="{DD06BFEA-30BA-420D-81E0-FA6106BF7A56}"/>
                          </a:ext>
                        </a:extLst>
                      </p:cNvPr>
                      <p:cNvPicPr>
                        <a:picLocks noChangeAspect="1" noChangeArrowheads="1"/>
                      </p:cNvPicPr>
                      <p:nvPr/>
                    </p:nvPicPr>
                    <p:blipFill>
                      <a:blip r:embed="rId8"/>
                      <a:srcRect/>
                      <a:stretch>
                        <a:fillRect/>
                      </a:stretch>
                    </p:blipFill>
                    <p:spPr bwMode="auto">
                      <a:xfrm>
                        <a:off x="6683376" y="152400"/>
                        <a:ext cx="1646238" cy="10477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文本框 1">
            <a:extLst>
              <a:ext uri="{FF2B5EF4-FFF2-40B4-BE49-F238E27FC236}">
                <a16:creationId xmlns:a16="http://schemas.microsoft.com/office/drawing/2014/main" id="{F5511F9F-F93B-4A6E-A2AF-1698CEECBD04}"/>
              </a:ext>
            </a:extLst>
          </p:cNvPr>
          <p:cNvSpPr txBox="1"/>
          <p:nvPr/>
        </p:nvSpPr>
        <p:spPr>
          <a:xfrm>
            <a:off x="7401139" y="2648408"/>
            <a:ext cx="415498" cy="646331"/>
          </a:xfrm>
          <a:prstGeom prst="rect">
            <a:avLst/>
          </a:prstGeom>
          <a:noFill/>
        </p:spPr>
        <p:txBody>
          <a:bodyPr wrap="none" rtlCol="0">
            <a:spAutoFit/>
          </a:bodyPr>
          <a:lstStyle/>
          <a:p>
            <a:r>
              <a:rPr lang="en-US" altLang="zh-CN" i="1"/>
              <a:t>d</a:t>
            </a:r>
            <a:endParaRPr lang="zh-CN" altLang="en-US" i="1"/>
          </a:p>
        </p:txBody>
      </p:sp>
      <p:cxnSp>
        <p:nvCxnSpPr>
          <p:cNvPr id="4" name="直接箭头连接符 3">
            <a:extLst>
              <a:ext uri="{FF2B5EF4-FFF2-40B4-BE49-F238E27FC236}">
                <a16:creationId xmlns:a16="http://schemas.microsoft.com/office/drawing/2014/main" id="{16277C4F-43AE-4B7B-AAFA-5CD9B351000E}"/>
              </a:ext>
            </a:extLst>
          </p:cNvPr>
          <p:cNvCxnSpPr>
            <a:cxnSpLocks/>
          </p:cNvCxnSpPr>
          <p:nvPr/>
        </p:nvCxnSpPr>
        <p:spPr bwMode="auto">
          <a:xfrm>
            <a:off x="7788072" y="3059142"/>
            <a:ext cx="647008" cy="23783"/>
          </a:xfrm>
          <a:prstGeom prst="straightConnector1">
            <a:avLst/>
          </a:prstGeom>
          <a:solidFill>
            <a:srgbClr val="FFFF66"/>
          </a:solidFill>
          <a:ln w="1270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箭头连接符 6">
            <a:extLst>
              <a:ext uri="{FF2B5EF4-FFF2-40B4-BE49-F238E27FC236}">
                <a16:creationId xmlns:a16="http://schemas.microsoft.com/office/drawing/2014/main" id="{830F390F-9E3E-4336-995D-F412CCBD09E9}"/>
              </a:ext>
            </a:extLst>
          </p:cNvPr>
          <p:cNvCxnSpPr/>
          <p:nvPr/>
        </p:nvCxnSpPr>
        <p:spPr bwMode="auto">
          <a:xfrm flipH="1">
            <a:off x="6876256" y="3068960"/>
            <a:ext cx="500062" cy="0"/>
          </a:xfrm>
          <a:prstGeom prst="straightConnector1">
            <a:avLst/>
          </a:prstGeom>
          <a:solidFill>
            <a:srgbClr val="FFFF66"/>
          </a:solidFill>
          <a:ln w="1270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9161137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2146"/>
                                        </p:tgtEl>
                                        <p:attrNameLst>
                                          <p:attrName>style.visibility</p:attrName>
                                        </p:attrNameLst>
                                      </p:cBhvr>
                                      <p:to>
                                        <p:strVal val="visible"/>
                                      </p:to>
                                    </p:set>
                                    <p:animEffect transition="in" filter="wipe(left)">
                                      <p:cBhvr>
                                        <p:cTn id="7" dur="500"/>
                                        <p:tgtEl>
                                          <p:spTgt spid="262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2148"/>
                                        </p:tgtEl>
                                        <p:attrNameLst>
                                          <p:attrName>style.visibility</p:attrName>
                                        </p:attrNameLst>
                                      </p:cBhvr>
                                      <p:to>
                                        <p:strVal val="visible"/>
                                      </p:to>
                                    </p:set>
                                    <p:animEffect transition="in" filter="wipe(left)">
                                      <p:cBhvr>
                                        <p:cTn id="12" dur="500"/>
                                        <p:tgtEl>
                                          <p:spTgt spid="2621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2149"/>
                                        </p:tgtEl>
                                        <p:attrNameLst>
                                          <p:attrName>style.visibility</p:attrName>
                                        </p:attrNameLst>
                                      </p:cBhvr>
                                      <p:to>
                                        <p:strVal val="visible"/>
                                      </p:to>
                                    </p:set>
                                    <p:animEffect transition="in" filter="wipe(left)">
                                      <p:cBhvr>
                                        <p:cTn id="17" dur="500"/>
                                        <p:tgtEl>
                                          <p:spTgt spid="2621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left)">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2150"/>
                                        </p:tgtEl>
                                        <p:attrNameLst>
                                          <p:attrName>style.visibility</p:attrName>
                                        </p:attrNameLst>
                                      </p:cBhvr>
                                      <p:to>
                                        <p:strVal val="visible"/>
                                      </p:to>
                                    </p:set>
                                    <p:animEffect transition="in" filter="wipe(left)">
                                      <p:cBhvr>
                                        <p:cTn id="27" dur="500"/>
                                        <p:tgtEl>
                                          <p:spTgt spid="2621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2151"/>
                                        </p:tgtEl>
                                        <p:attrNameLst>
                                          <p:attrName>style.visibility</p:attrName>
                                        </p:attrNameLst>
                                      </p:cBhvr>
                                      <p:to>
                                        <p:strVal val="visible"/>
                                      </p:to>
                                    </p:set>
                                    <p:animEffect transition="in" filter="wipe(left)">
                                      <p:cBhvr>
                                        <p:cTn id="32" dur="500"/>
                                        <p:tgtEl>
                                          <p:spTgt spid="26215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2175"/>
                                        </p:tgtEl>
                                        <p:attrNameLst>
                                          <p:attrName>style.visibility</p:attrName>
                                        </p:attrNameLst>
                                      </p:cBhvr>
                                      <p:to>
                                        <p:strVal val="visible"/>
                                      </p:to>
                                    </p:set>
                                    <p:animEffect transition="in" filter="wipe(left)">
                                      <p:cBhvr>
                                        <p:cTn id="37" dur="500"/>
                                        <p:tgtEl>
                                          <p:spTgt spid="26217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62161"/>
                                        </p:tgtEl>
                                        <p:attrNameLst>
                                          <p:attrName>style.visibility</p:attrName>
                                        </p:attrNameLst>
                                      </p:cBhvr>
                                      <p:to>
                                        <p:strVal val="visible"/>
                                      </p:to>
                                    </p:set>
                                    <p:animEffect transition="in" filter="wipe(left)">
                                      <p:cBhvr>
                                        <p:cTn id="42" dur="500"/>
                                        <p:tgtEl>
                                          <p:spTgt spid="26216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2176"/>
                                        </p:tgtEl>
                                        <p:attrNameLst>
                                          <p:attrName>style.visibility</p:attrName>
                                        </p:attrNameLst>
                                      </p:cBhvr>
                                      <p:to>
                                        <p:strVal val="visible"/>
                                      </p:to>
                                    </p:set>
                                    <p:animEffect transition="in" filter="wipe(left)">
                                      <p:cBhvr>
                                        <p:cTn id="47" dur="500"/>
                                        <p:tgtEl>
                                          <p:spTgt spid="26217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2191"/>
                                        </p:tgtEl>
                                        <p:attrNameLst>
                                          <p:attrName>style.visibility</p:attrName>
                                        </p:attrNameLst>
                                      </p:cBhvr>
                                      <p:to>
                                        <p:strVal val="visible"/>
                                      </p:to>
                                    </p:set>
                                    <p:animEffect transition="in" filter="blinds(horizontal)">
                                      <p:cBhvr>
                                        <p:cTn id="52" dur="500"/>
                                        <p:tgtEl>
                                          <p:spTgt spid="262191"/>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62193"/>
                                        </p:tgtEl>
                                        <p:attrNameLst>
                                          <p:attrName>style.visibility</p:attrName>
                                        </p:attrNameLst>
                                      </p:cBhvr>
                                      <p:to>
                                        <p:strVal val="visible"/>
                                      </p:to>
                                    </p:set>
                                    <p:animEffect transition="in" filter="blinds(horizontal)">
                                      <p:cBhvr>
                                        <p:cTn id="55" dur="500"/>
                                        <p:tgtEl>
                                          <p:spTgt spid="262193"/>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62194"/>
                                        </p:tgtEl>
                                        <p:attrNameLst>
                                          <p:attrName>style.visibility</p:attrName>
                                        </p:attrNameLst>
                                      </p:cBhvr>
                                      <p:to>
                                        <p:strVal val="visible"/>
                                      </p:to>
                                    </p:set>
                                    <p:animEffect transition="in" filter="blinds(horizontal)">
                                      <p:cBhvr>
                                        <p:cTn id="58" dur="500"/>
                                        <p:tgtEl>
                                          <p:spTgt spid="262194"/>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62192"/>
                                        </p:tgtEl>
                                        <p:attrNameLst>
                                          <p:attrName>style.visibility</p:attrName>
                                        </p:attrNameLst>
                                      </p:cBhvr>
                                      <p:to>
                                        <p:strVal val="visible"/>
                                      </p:to>
                                    </p:set>
                                    <p:animEffect transition="in" filter="blinds(horizontal)">
                                      <p:cBhvr>
                                        <p:cTn id="61" dur="500"/>
                                        <p:tgtEl>
                                          <p:spTgt spid="26219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62177"/>
                                        </p:tgtEl>
                                        <p:attrNameLst>
                                          <p:attrName>style.visibility</p:attrName>
                                        </p:attrNameLst>
                                      </p:cBhvr>
                                      <p:to>
                                        <p:strVal val="visible"/>
                                      </p:to>
                                    </p:set>
                                    <p:animEffect transition="in" filter="wipe(left)">
                                      <p:cBhvr>
                                        <p:cTn id="66" dur="500"/>
                                        <p:tgtEl>
                                          <p:spTgt spid="26217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62189"/>
                                        </p:tgtEl>
                                        <p:attrNameLst>
                                          <p:attrName>style.visibility</p:attrName>
                                        </p:attrNameLst>
                                      </p:cBhvr>
                                      <p:to>
                                        <p:strVal val="visible"/>
                                      </p:to>
                                    </p:set>
                                    <p:animEffect transition="in" filter="wipe(left)">
                                      <p:cBhvr>
                                        <p:cTn id="79" dur="500"/>
                                        <p:tgtEl>
                                          <p:spTgt spid="26218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62190"/>
                                        </p:tgtEl>
                                        <p:attrNameLst>
                                          <p:attrName>style.visibility</p:attrName>
                                        </p:attrNameLst>
                                      </p:cBhvr>
                                      <p:to>
                                        <p:strVal val="visible"/>
                                      </p:to>
                                    </p:set>
                                    <p:animEffect transition="in" filter="wipe(left)">
                                      <p:cBhvr>
                                        <p:cTn id="84" dur="500"/>
                                        <p:tgtEl>
                                          <p:spTgt spid="262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6" grpId="0" animBg="1" autoUpdateAnimBg="0"/>
      <p:bldP spid="262148" grpId="0" autoUpdateAnimBg="0"/>
      <p:bldP spid="262149" grpId="0" autoUpdateAnimBg="0"/>
      <p:bldP spid="262150" grpId="0" autoUpdateAnimBg="0"/>
      <p:bldP spid="262175" grpId="0" autoUpdateAnimBg="0"/>
      <p:bldP spid="262176" grpId="0" autoUpdateAnimBg="0"/>
      <p:bldP spid="262189" grpId="0" autoUpdateAnimBg="0"/>
      <p:bldP spid="262190" grpId="0" autoUpdateAnimBg="0"/>
      <p:bldP spid="262191" grpId="0" animBg="1"/>
      <p:bldP spid="262192" grpId="0" animBg="1"/>
      <p:bldP spid="262193" grpId="0"/>
      <p:bldP spid="262194"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image17">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115888"/>
            <a:ext cx="2925762" cy="243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2" descr="http://www.zszx.info/imagematerial/upload/wl/A9F7LAVGQ9AH74IN.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711450"/>
            <a:ext cx="3063875"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4" descr="http://www.zszx.info/imagematerial/upload/wl/B499VU5W64HDDUJ4.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2570163"/>
            <a:ext cx="3259138"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7670308"/>
      </p:ext>
    </p:ext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p:cNvSpPr txBox="1">
            <a:spLocks noChangeArrowheads="1"/>
          </p:cNvSpPr>
          <p:nvPr/>
        </p:nvSpPr>
        <p:spPr bwMode="auto">
          <a:xfrm>
            <a:off x="241300" y="4845050"/>
            <a:ext cx="1882775"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3333FF"/>
                </a:solidFill>
                <a:ea typeface="楷体_GB2312"/>
              </a:rPr>
              <a:t>4</a:t>
            </a:r>
            <a:r>
              <a:rPr lang="zh-CN" altLang="en-US" sz="2800">
                <a:solidFill>
                  <a:srgbClr val="3333FF"/>
                </a:solidFill>
                <a:ea typeface="楷体_GB2312"/>
              </a:rPr>
              <a:t>、应用</a:t>
            </a:r>
            <a:endParaRPr lang="zh-CN" altLang="en-US" sz="2400" b="0">
              <a:ea typeface="楷体_GB2312"/>
            </a:endParaRPr>
          </a:p>
        </p:txBody>
      </p:sp>
      <p:sp>
        <p:nvSpPr>
          <p:cNvPr id="264195" name="Text Box 3">
            <a:hlinkClick r:id="rId4" action="ppaction://hlinkfile"/>
          </p:cNvPr>
          <p:cNvSpPr txBox="1">
            <a:spLocks noChangeArrowheads="1"/>
          </p:cNvSpPr>
          <p:nvPr/>
        </p:nvSpPr>
        <p:spPr bwMode="auto">
          <a:xfrm>
            <a:off x="747713" y="5456238"/>
            <a:ext cx="7640637"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测量电势分布，得到等势面，再根据等势面与电场强度的关系，定性画出电场线。</a:t>
            </a:r>
            <a:endParaRPr lang="zh-CN" altLang="en-US" sz="3600">
              <a:solidFill>
                <a:srgbClr val="FF3300"/>
              </a:solidFill>
              <a:ea typeface="楷体_GB2312"/>
            </a:endParaRPr>
          </a:p>
        </p:txBody>
      </p:sp>
      <p:sp>
        <p:nvSpPr>
          <p:cNvPr id="264196" name="Text Box 4"/>
          <p:cNvSpPr txBox="1">
            <a:spLocks noChangeArrowheads="1"/>
          </p:cNvSpPr>
          <p:nvPr/>
        </p:nvSpPr>
        <p:spPr bwMode="auto">
          <a:xfrm>
            <a:off x="0" y="0"/>
            <a:ext cx="3276600"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a:solidFill>
                  <a:srgbClr val="3333FF"/>
                </a:solidFill>
                <a:ea typeface="楷体_GB2312"/>
              </a:rPr>
              <a:t>3</a:t>
            </a:r>
            <a:r>
              <a:rPr lang="zh-CN" altLang="en-US" sz="2800">
                <a:solidFill>
                  <a:srgbClr val="3333FF"/>
                </a:solidFill>
                <a:ea typeface="楷体_GB2312"/>
              </a:rPr>
              <a:t>、等势面的性质</a:t>
            </a:r>
          </a:p>
        </p:txBody>
      </p:sp>
      <p:sp>
        <p:nvSpPr>
          <p:cNvPr id="264197" name="Text Box 5"/>
          <p:cNvSpPr txBox="1">
            <a:spLocks noChangeArrowheads="1"/>
          </p:cNvSpPr>
          <p:nvPr/>
        </p:nvSpPr>
        <p:spPr bwMode="auto">
          <a:xfrm>
            <a:off x="468313" y="620713"/>
            <a:ext cx="66262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a:solidFill>
                  <a:schemeClr val="folHlink"/>
                </a:solidFill>
                <a:ea typeface="楷体_GB2312"/>
              </a:rPr>
              <a:t>1</a:t>
            </a:r>
            <a:r>
              <a:rPr lang="zh-CN" altLang="en-US" sz="2400">
                <a:solidFill>
                  <a:schemeClr val="folHlink"/>
                </a:solidFill>
                <a:ea typeface="楷体_GB2312"/>
              </a:rPr>
              <a:t>）在等势面上移动电荷时，电场力不作功；</a:t>
            </a:r>
          </a:p>
        </p:txBody>
      </p:sp>
      <p:grpSp>
        <p:nvGrpSpPr>
          <p:cNvPr id="264198" name="Group 6"/>
          <p:cNvGrpSpPr>
            <a:grpSpLocks/>
          </p:cNvGrpSpPr>
          <p:nvPr/>
        </p:nvGrpSpPr>
        <p:grpSpPr bwMode="auto">
          <a:xfrm>
            <a:off x="7494588" y="476250"/>
            <a:ext cx="1649412" cy="1890713"/>
            <a:chOff x="4730" y="1632"/>
            <a:chExt cx="1039" cy="1191"/>
          </a:xfrm>
        </p:grpSpPr>
        <p:sp>
          <p:nvSpPr>
            <p:cNvPr id="21528" name="Freeform 7"/>
            <p:cNvSpPr>
              <a:spLocks/>
            </p:cNvSpPr>
            <p:nvPr/>
          </p:nvSpPr>
          <p:spPr bwMode="auto">
            <a:xfrm>
              <a:off x="4730" y="1632"/>
              <a:ext cx="744" cy="1062"/>
            </a:xfrm>
            <a:custGeom>
              <a:avLst/>
              <a:gdLst>
                <a:gd name="T0" fmla="*/ 0 w 744"/>
                <a:gd name="T1" fmla="*/ 1062 h 1062"/>
                <a:gd name="T2" fmla="*/ 744 w 744"/>
                <a:gd name="T3" fmla="*/ 0 h 1062"/>
                <a:gd name="T4" fmla="*/ 0 60000 65536"/>
                <a:gd name="T5" fmla="*/ 0 60000 65536"/>
              </a:gdLst>
              <a:ahLst/>
              <a:cxnLst>
                <a:cxn ang="T4">
                  <a:pos x="T0" y="T1"/>
                </a:cxn>
                <a:cxn ang="T5">
                  <a:pos x="T2" y="T3"/>
                </a:cxn>
              </a:cxnLst>
              <a:rect l="0" t="0" r="r" b="b"/>
              <a:pathLst>
                <a:path w="744" h="1062">
                  <a:moveTo>
                    <a:pt x="0" y="1062"/>
                  </a:moveTo>
                  <a:cubicBezTo>
                    <a:pt x="0" y="1062"/>
                    <a:pt x="711" y="1005"/>
                    <a:pt x="744" y="0"/>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29" name="Object 8"/>
            <p:cNvGraphicFramePr>
              <a:graphicFrameLocks noChangeAspect="1"/>
            </p:cNvGraphicFramePr>
            <p:nvPr/>
          </p:nvGraphicFramePr>
          <p:xfrm>
            <a:off x="5018" y="1974"/>
            <a:ext cx="359" cy="360"/>
          </p:xfrm>
          <a:graphic>
            <a:graphicData uri="http://schemas.openxmlformats.org/presentationml/2006/ole">
              <mc:AlternateContent xmlns:mc="http://schemas.openxmlformats.org/markup-compatibility/2006">
                <mc:Choice xmlns:v="urn:schemas-microsoft-com:vml" Requires="v">
                  <p:oleObj spid="_x0000_s98378" name="公式" r:id="rId5" imgW="203024" imgH="203024" progId="Equation.3">
                    <p:embed/>
                  </p:oleObj>
                </mc:Choice>
                <mc:Fallback>
                  <p:oleObj name="公式" r:id="rId5" imgW="203024" imgH="203024" progId="Equation.3">
                    <p:embed/>
                    <p:pic>
                      <p:nvPicPr>
                        <p:cNvPr id="2152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8" y="1974"/>
                          <a:ext cx="359"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30" name="Object 9"/>
            <p:cNvGraphicFramePr>
              <a:graphicFrameLocks noChangeAspect="1"/>
            </p:cNvGraphicFramePr>
            <p:nvPr/>
          </p:nvGraphicFramePr>
          <p:xfrm>
            <a:off x="4922" y="2550"/>
            <a:ext cx="336" cy="273"/>
          </p:xfrm>
          <a:graphic>
            <a:graphicData uri="http://schemas.openxmlformats.org/presentationml/2006/ole">
              <mc:AlternateContent xmlns:mc="http://schemas.openxmlformats.org/markup-compatibility/2006">
                <mc:Choice xmlns:v="urn:schemas-microsoft-com:vml" Requires="v">
                  <p:oleObj spid="_x0000_s98379" name="公式" r:id="rId7" imgW="203024" imgH="164957" progId="Equation.3">
                    <p:embed/>
                  </p:oleObj>
                </mc:Choice>
                <mc:Fallback>
                  <p:oleObj name="公式" r:id="rId7" imgW="203024" imgH="164957" progId="Equation.3">
                    <p:embed/>
                    <p:pic>
                      <p:nvPicPr>
                        <p:cNvPr id="2153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2" y="2550"/>
                          <a:ext cx="336"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31" name="Object 10"/>
            <p:cNvGraphicFramePr>
              <a:graphicFrameLocks noChangeAspect="1"/>
            </p:cNvGraphicFramePr>
            <p:nvPr/>
          </p:nvGraphicFramePr>
          <p:xfrm>
            <a:off x="5104" y="1647"/>
            <a:ext cx="270" cy="233"/>
          </p:xfrm>
          <a:graphic>
            <a:graphicData uri="http://schemas.openxmlformats.org/presentationml/2006/ole">
              <mc:AlternateContent xmlns:mc="http://schemas.openxmlformats.org/markup-compatibility/2006">
                <mc:Choice xmlns:v="urn:schemas-microsoft-com:vml" Requires="v">
                  <p:oleObj spid="_x0000_s98380" name="公式" r:id="rId9" imgW="190335" imgH="164957" progId="Equation.3">
                    <p:embed/>
                  </p:oleObj>
                </mc:Choice>
                <mc:Fallback>
                  <p:oleObj name="公式" r:id="rId9" imgW="190335" imgH="164957" progId="Equation.3">
                    <p:embed/>
                    <p:pic>
                      <p:nvPicPr>
                        <p:cNvPr id="21531"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4" y="1647"/>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32" name="Line 11"/>
            <p:cNvSpPr>
              <a:spLocks noChangeShapeType="1"/>
            </p:cNvSpPr>
            <p:nvPr/>
          </p:nvSpPr>
          <p:spPr bwMode="auto">
            <a:xfrm>
              <a:off x="5306" y="2310"/>
              <a:ext cx="240" cy="192"/>
            </a:xfrm>
            <a:prstGeom prst="line">
              <a:avLst/>
            </a:prstGeom>
            <a:noFill/>
            <a:ln w="412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1533" name="Object 12"/>
            <p:cNvGraphicFramePr>
              <a:graphicFrameLocks noChangeAspect="1"/>
            </p:cNvGraphicFramePr>
            <p:nvPr/>
          </p:nvGraphicFramePr>
          <p:xfrm>
            <a:off x="5537" y="2160"/>
            <a:ext cx="232" cy="271"/>
          </p:xfrm>
          <a:graphic>
            <a:graphicData uri="http://schemas.openxmlformats.org/presentationml/2006/ole">
              <mc:AlternateContent xmlns:mc="http://schemas.openxmlformats.org/markup-compatibility/2006">
                <mc:Choice xmlns:v="urn:schemas-microsoft-com:vml" Requires="v">
                  <p:oleObj spid="_x0000_s98381" name="公式" r:id="rId11" imgW="164957" imgH="190335" progId="Equation.3">
                    <p:embed/>
                  </p:oleObj>
                </mc:Choice>
                <mc:Fallback>
                  <p:oleObj name="公式" r:id="rId11" imgW="164957" imgH="190335" progId="Equation.3">
                    <p:embed/>
                    <p:pic>
                      <p:nvPicPr>
                        <p:cNvPr id="21533"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37" y="2160"/>
                          <a:ext cx="23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4205" name="Text Box 13"/>
          <p:cNvSpPr txBox="1">
            <a:spLocks noChangeArrowheads="1"/>
          </p:cNvSpPr>
          <p:nvPr/>
        </p:nvSpPr>
        <p:spPr bwMode="auto">
          <a:xfrm>
            <a:off x="847725" y="2182813"/>
            <a:ext cx="7226300" cy="9461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ea typeface="楷体_GB2312"/>
              </a:rPr>
              <a:t>证明：</a:t>
            </a:r>
            <a:r>
              <a:rPr lang="zh-CN" altLang="en-US" sz="2400">
                <a:ea typeface="楷体_GB2312"/>
              </a:rPr>
              <a:t>因为将单位正电荷从等势面上</a:t>
            </a:r>
            <a:r>
              <a:rPr lang="en-US" altLang="zh-CN" sz="2400" i="1">
                <a:ea typeface="楷体_GB2312"/>
              </a:rPr>
              <a:t>M</a:t>
            </a:r>
            <a:r>
              <a:rPr lang="zh-CN" altLang="en-US" sz="2400">
                <a:ea typeface="楷体_GB2312"/>
              </a:rPr>
              <a:t>点移到</a:t>
            </a:r>
            <a:r>
              <a:rPr lang="en-US" altLang="zh-CN" sz="2400" i="1">
                <a:ea typeface="楷体_GB2312"/>
              </a:rPr>
              <a:t>N</a:t>
            </a:r>
            <a:r>
              <a:rPr lang="zh-CN" altLang="en-US" sz="2400">
                <a:ea typeface="楷体_GB2312"/>
              </a:rPr>
              <a:t>点，</a:t>
            </a:r>
          </a:p>
          <a:p>
            <a:pPr eaLnBrk="1" hangingPunct="1">
              <a:spcBef>
                <a:spcPct val="0"/>
              </a:spcBef>
              <a:buFontTx/>
              <a:buNone/>
            </a:pPr>
            <a:r>
              <a:rPr lang="zh-CN" altLang="en-US" sz="2400">
                <a:ea typeface="楷体_GB2312"/>
              </a:rPr>
              <a:t>电场力做功为零，而路径不为零，</a:t>
            </a:r>
            <a:r>
              <a:rPr lang="en-US" altLang="zh-CN" sz="2800">
                <a:ea typeface="楷体_GB2312"/>
              </a:rPr>
              <a:t>d</a:t>
            </a:r>
            <a:r>
              <a:rPr lang="en-US" altLang="zh-CN" sz="2800" i="1">
                <a:ea typeface="楷体_GB2312"/>
              </a:rPr>
              <a:t>l</a:t>
            </a:r>
            <a:r>
              <a:rPr lang="en-US" altLang="zh-CN" sz="2800">
                <a:latin typeface="宋体" panose="02010600030101010101" pitchFamily="2" charset="-122"/>
                <a:ea typeface="楷体_GB2312"/>
              </a:rPr>
              <a:t>≠</a:t>
            </a:r>
            <a:r>
              <a:rPr lang="en-US" altLang="zh-CN" sz="2800">
                <a:ea typeface="楷体_GB2312"/>
              </a:rPr>
              <a:t>0</a:t>
            </a:r>
          </a:p>
        </p:txBody>
      </p:sp>
      <p:graphicFrame>
        <p:nvGraphicFramePr>
          <p:cNvPr id="264206" name="Object 14"/>
          <p:cNvGraphicFramePr>
            <a:graphicFrameLocks noChangeAspect="1"/>
          </p:cNvGraphicFramePr>
          <p:nvPr>
            <p:extLst/>
          </p:nvPr>
        </p:nvGraphicFramePr>
        <p:xfrm>
          <a:off x="1320800" y="3173413"/>
          <a:ext cx="4159250" cy="517525"/>
        </p:xfrm>
        <a:graphic>
          <a:graphicData uri="http://schemas.openxmlformats.org/presentationml/2006/ole">
            <mc:AlternateContent xmlns:mc="http://schemas.openxmlformats.org/markup-compatibility/2006">
              <mc:Choice xmlns:v="urn:schemas-microsoft-com:vml" Requires="v">
                <p:oleObj spid="_x0000_s98382" name="Equation" r:id="rId13" imgW="1777680" imgH="241200" progId="Equation.DSMT4">
                  <p:embed/>
                </p:oleObj>
              </mc:Choice>
              <mc:Fallback>
                <p:oleObj name="Equation" r:id="rId13" imgW="1777680" imgH="241200" progId="Equation.DSMT4">
                  <p:embed/>
                  <p:pic>
                    <p:nvPicPr>
                      <p:cNvPr id="264206" name="Object 14"/>
                      <p:cNvPicPr>
                        <a:picLocks noChangeAspect="1" noChangeArrowheads="1"/>
                      </p:cNvPicPr>
                      <p:nvPr/>
                    </p:nvPicPr>
                    <p:blipFill>
                      <a:blip r:embed="rId14"/>
                      <a:srcRect/>
                      <a:stretch>
                        <a:fillRect/>
                      </a:stretch>
                    </p:blipFill>
                    <p:spPr bwMode="auto">
                      <a:xfrm>
                        <a:off x="1320800" y="3173413"/>
                        <a:ext cx="41592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4207" name="Object 15"/>
          <p:cNvGraphicFramePr>
            <a:graphicFrameLocks noChangeAspect="1"/>
          </p:cNvGraphicFramePr>
          <p:nvPr/>
        </p:nvGraphicFramePr>
        <p:xfrm>
          <a:off x="5867400" y="3219450"/>
          <a:ext cx="1477963" cy="447675"/>
        </p:xfrm>
        <a:graphic>
          <a:graphicData uri="http://schemas.openxmlformats.org/presentationml/2006/ole">
            <mc:AlternateContent xmlns:mc="http://schemas.openxmlformats.org/markup-compatibility/2006">
              <mc:Choice xmlns:v="urn:schemas-microsoft-com:vml" Requires="v">
                <p:oleObj spid="_x0000_s98383" name="公式" r:id="rId15" imgW="685502" imgH="177723" progId="Equation.3">
                  <p:embed/>
                </p:oleObj>
              </mc:Choice>
              <mc:Fallback>
                <p:oleObj name="公式" r:id="rId15" imgW="685502" imgH="177723" progId="Equation.3">
                  <p:embed/>
                  <p:pic>
                    <p:nvPicPr>
                      <p:cNvPr id="264207"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7400" y="3219450"/>
                        <a:ext cx="1477963"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4208" name="Text Box 16"/>
          <p:cNvSpPr txBox="1">
            <a:spLocks noChangeArrowheads="1"/>
          </p:cNvSpPr>
          <p:nvPr/>
        </p:nvSpPr>
        <p:spPr bwMode="auto">
          <a:xfrm>
            <a:off x="611188" y="1700213"/>
            <a:ext cx="677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solidFill>
                  <a:schemeClr val="folHlink"/>
                </a:solidFill>
                <a:ea typeface="楷体_GB2312"/>
              </a:rPr>
              <a:t>2</a:t>
            </a:r>
            <a:r>
              <a:rPr lang="zh-CN" altLang="en-US" sz="2400">
                <a:solidFill>
                  <a:schemeClr val="folHlink"/>
                </a:solidFill>
                <a:ea typeface="楷体_GB2312"/>
              </a:rPr>
              <a:t>）除电场强度为零处外，电场线与等势面正交。</a:t>
            </a:r>
          </a:p>
        </p:txBody>
      </p:sp>
      <p:sp>
        <p:nvSpPr>
          <p:cNvPr id="264209" name="Text Box 17"/>
          <p:cNvSpPr txBox="1">
            <a:spLocks noChangeArrowheads="1"/>
          </p:cNvSpPr>
          <p:nvPr/>
        </p:nvSpPr>
        <p:spPr bwMode="auto">
          <a:xfrm>
            <a:off x="782638" y="3779838"/>
            <a:ext cx="616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solidFill>
                  <a:schemeClr val="folHlink"/>
                </a:solidFill>
                <a:ea typeface="楷体_GB2312"/>
              </a:rPr>
              <a:t>3</a:t>
            </a:r>
            <a:r>
              <a:rPr lang="zh-CN" altLang="en-US" sz="2400">
                <a:solidFill>
                  <a:schemeClr val="folHlink"/>
                </a:solidFill>
                <a:ea typeface="楷体_GB2312"/>
              </a:rPr>
              <a:t>）电场线的方向指向电势降落的方向。</a:t>
            </a:r>
          </a:p>
        </p:txBody>
      </p:sp>
      <p:grpSp>
        <p:nvGrpSpPr>
          <p:cNvPr id="264210" name="Group 18"/>
          <p:cNvGrpSpPr>
            <a:grpSpLocks/>
          </p:cNvGrpSpPr>
          <p:nvPr/>
        </p:nvGrpSpPr>
        <p:grpSpPr bwMode="auto">
          <a:xfrm>
            <a:off x="6934200" y="3429000"/>
            <a:ext cx="2209800" cy="2138363"/>
            <a:chOff x="576" y="528"/>
            <a:chExt cx="1392" cy="1347"/>
          </a:xfrm>
        </p:grpSpPr>
        <p:sp>
          <p:nvSpPr>
            <p:cNvPr id="21519" name="Oval 19"/>
            <p:cNvSpPr>
              <a:spLocks noChangeArrowheads="1"/>
            </p:cNvSpPr>
            <p:nvPr/>
          </p:nvSpPr>
          <p:spPr bwMode="auto">
            <a:xfrm>
              <a:off x="756" y="693"/>
              <a:ext cx="1077" cy="1077"/>
            </a:xfrm>
            <a:prstGeom prst="ellipse">
              <a:avLst/>
            </a:prstGeom>
            <a:noFill/>
            <a:ln w="28575">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1520" name="Oval 20"/>
            <p:cNvSpPr>
              <a:spLocks noChangeArrowheads="1"/>
            </p:cNvSpPr>
            <p:nvPr/>
          </p:nvSpPr>
          <p:spPr bwMode="auto">
            <a:xfrm>
              <a:off x="921" y="858"/>
              <a:ext cx="744" cy="744"/>
            </a:xfrm>
            <a:prstGeom prst="ellipse">
              <a:avLst/>
            </a:prstGeom>
            <a:noFill/>
            <a:ln w="28575">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1521" name="Oval 21"/>
            <p:cNvSpPr>
              <a:spLocks noChangeArrowheads="1"/>
            </p:cNvSpPr>
            <p:nvPr/>
          </p:nvSpPr>
          <p:spPr bwMode="auto">
            <a:xfrm>
              <a:off x="995" y="947"/>
              <a:ext cx="588" cy="588"/>
            </a:xfrm>
            <a:prstGeom prst="ellipse">
              <a:avLst/>
            </a:prstGeom>
            <a:noFill/>
            <a:ln w="28575">
              <a:solidFill>
                <a:srgbClr val="993366"/>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1522" name="Line 22"/>
            <p:cNvSpPr>
              <a:spLocks noChangeShapeType="1"/>
            </p:cNvSpPr>
            <p:nvPr/>
          </p:nvSpPr>
          <p:spPr bwMode="auto">
            <a:xfrm>
              <a:off x="576" y="1246"/>
              <a:ext cx="1392" cy="0"/>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Line 23"/>
            <p:cNvSpPr>
              <a:spLocks noChangeShapeType="1"/>
            </p:cNvSpPr>
            <p:nvPr/>
          </p:nvSpPr>
          <p:spPr bwMode="auto">
            <a:xfrm flipV="1">
              <a:off x="1294" y="528"/>
              <a:ext cx="0" cy="1347"/>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4" name="Line 24"/>
            <p:cNvSpPr>
              <a:spLocks noChangeShapeType="1"/>
            </p:cNvSpPr>
            <p:nvPr/>
          </p:nvSpPr>
          <p:spPr bwMode="auto">
            <a:xfrm>
              <a:off x="801" y="767"/>
              <a:ext cx="987" cy="943"/>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5" name="Line 25"/>
            <p:cNvSpPr>
              <a:spLocks noChangeShapeType="1"/>
            </p:cNvSpPr>
            <p:nvPr/>
          </p:nvSpPr>
          <p:spPr bwMode="auto">
            <a:xfrm flipV="1">
              <a:off x="801" y="797"/>
              <a:ext cx="987" cy="898"/>
            </a:xfrm>
            <a:prstGeom prst="line">
              <a:avLst/>
            </a:prstGeom>
            <a:noFill/>
            <a:ln w="9525">
              <a:solidFill>
                <a:srgbClr val="FF0000"/>
              </a:solidFill>
              <a:round/>
              <a:headEnd type="arrow"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6" name="Oval 26"/>
            <p:cNvSpPr>
              <a:spLocks noChangeArrowheads="1"/>
            </p:cNvSpPr>
            <p:nvPr/>
          </p:nvSpPr>
          <p:spPr bwMode="auto">
            <a:xfrm>
              <a:off x="1265" y="1216"/>
              <a:ext cx="72" cy="72"/>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graphicFrame>
          <p:nvGraphicFramePr>
            <p:cNvPr id="21527" name="Object 27"/>
            <p:cNvGraphicFramePr>
              <a:graphicFrameLocks noChangeAspect="1"/>
            </p:cNvGraphicFramePr>
            <p:nvPr/>
          </p:nvGraphicFramePr>
          <p:xfrm>
            <a:off x="1429" y="1067"/>
            <a:ext cx="318" cy="235"/>
          </p:xfrm>
          <a:graphic>
            <a:graphicData uri="http://schemas.openxmlformats.org/presentationml/2006/ole">
              <mc:AlternateContent xmlns:mc="http://schemas.openxmlformats.org/markup-compatibility/2006">
                <mc:Choice xmlns:v="urn:schemas-microsoft-com:vml" Requires="v">
                  <p:oleObj spid="_x0000_s98384" name="公式" r:id="rId17" imgW="241091" imgH="177646" progId="Equation.3">
                    <p:embed/>
                  </p:oleObj>
                </mc:Choice>
                <mc:Fallback>
                  <p:oleObj name="公式" r:id="rId17" imgW="241091" imgH="177646" progId="Equation.3">
                    <p:embed/>
                    <p:pic>
                      <p:nvPicPr>
                        <p:cNvPr id="21527"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9" y="1067"/>
                          <a:ext cx="31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64220" name="Object 28"/>
          <p:cNvGraphicFramePr>
            <a:graphicFrameLocks noChangeAspect="1"/>
          </p:cNvGraphicFramePr>
          <p:nvPr>
            <p:extLst/>
          </p:nvPr>
        </p:nvGraphicFramePr>
        <p:xfrm>
          <a:off x="757238" y="1008063"/>
          <a:ext cx="2733675" cy="595312"/>
        </p:xfrm>
        <a:graphic>
          <a:graphicData uri="http://schemas.openxmlformats.org/presentationml/2006/ole">
            <mc:AlternateContent xmlns:mc="http://schemas.openxmlformats.org/markup-compatibility/2006">
              <mc:Choice xmlns:v="urn:schemas-microsoft-com:vml" Requires="v">
                <p:oleObj spid="_x0000_s98385" name="Equation" r:id="rId19" imgW="1231560" imgH="253800" progId="Equation.DSMT4">
                  <p:embed/>
                </p:oleObj>
              </mc:Choice>
              <mc:Fallback>
                <p:oleObj name="Equation" r:id="rId19" imgW="1231560" imgH="253800" progId="Equation.DSMT4">
                  <p:embed/>
                  <p:pic>
                    <p:nvPicPr>
                      <p:cNvPr id="264220" name="Object 28"/>
                      <p:cNvPicPr>
                        <a:picLocks noChangeAspect="1" noChangeArrowheads="1"/>
                      </p:cNvPicPr>
                      <p:nvPr/>
                    </p:nvPicPr>
                    <p:blipFill>
                      <a:blip r:embed="rId20"/>
                      <a:srcRect/>
                      <a:stretch>
                        <a:fillRect/>
                      </a:stretch>
                    </p:blipFill>
                    <p:spPr bwMode="auto">
                      <a:xfrm>
                        <a:off x="757238" y="1008063"/>
                        <a:ext cx="273367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21" name="Object 29"/>
          <p:cNvGraphicFramePr>
            <a:graphicFrameLocks noChangeAspect="1"/>
          </p:cNvGraphicFramePr>
          <p:nvPr/>
        </p:nvGraphicFramePr>
        <p:xfrm>
          <a:off x="3492500" y="1052513"/>
          <a:ext cx="534988" cy="417512"/>
        </p:xfrm>
        <a:graphic>
          <a:graphicData uri="http://schemas.openxmlformats.org/presentationml/2006/ole">
            <mc:AlternateContent xmlns:mc="http://schemas.openxmlformats.org/markup-compatibility/2006">
              <mc:Choice xmlns:v="urn:schemas-microsoft-com:vml" Requires="v">
                <p:oleObj spid="_x0000_s98386" name="Equation" r:id="rId21" imgW="241091" imgH="177646" progId="Equation.3">
                  <p:embed/>
                </p:oleObj>
              </mc:Choice>
              <mc:Fallback>
                <p:oleObj name="Equation" r:id="rId21" imgW="241091" imgH="177646" progId="Equation.3">
                  <p:embed/>
                  <p:pic>
                    <p:nvPicPr>
                      <p:cNvPr id="264221" name="Object 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92500" y="1052513"/>
                        <a:ext cx="534988"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7051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4196"/>
                                        </p:tgtEl>
                                        <p:attrNameLst>
                                          <p:attrName>style.visibility</p:attrName>
                                        </p:attrNameLst>
                                      </p:cBhvr>
                                      <p:to>
                                        <p:strVal val="visible"/>
                                      </p:to>
                                    </p:set>
                                    <p:animEffect transition="in" filter="wipe(left)">
                                      <p:cBhvr>
                                        <p:cTn id="7" dur="500"/>
                                        <p:tgtEl>
                                          <p:spTgt spid="2641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4197"/>
                                        </p:tgtEl>
                                        <p:attrNameLst>
                                          <p:attrName>style.visibility</p:attrName>
                                        </p:attrNameLst>
                                      </p:cBhvr>
                                      <p:to>
                                        <p:strVal val="visible"/>
                                      </p:to>
                                    </p:set>
                                    <p:animEffect transition="in" filter="wipe(left)">
                                      <p:cBhvr>
                                        <p:cTn id="12" dur="500"/>
                                        <p:tgtEl>
                                          <p:spTgt spid="2641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4198"/>
                                        </p:tgtEl>
                                        <p:attrNameLst>
                                          <p:attrName>style.visibility</p:attrName>
                                        </p:attrNameLst>
                                      </p:cBhvr>
                                      <p:to>
                                        <p:strVal val="visible"/>
                                      </p:to>
                                    </p:set>
                                    <p:animEffect transition="in" filter="wipe(left)">
                                      <p:cBhvr>
                                        <p:cTn id="17" dur="500"/>
                                        <p:tgtEl>
                                          <p:spTgt spid="2641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4220"/>
                                        </p:tgtEl>
                                        <p:attrNameLst>
                                          <p:attrName>style.visibility</p:attrName>
                                        </p:attrNameLst>
                                      </p:cBhvr>
                                      <p:to>
                                        <p:strVal val="visible"/>
                                      </p:to>
                                    </p:set>
                                    <p:animEffect transition="in" filter="wipe(left)">
                                      <p:cBhvr>
                                        <p:cTn id="22" dur="500"/>
                                        <p:tgtEl>
                                          <p:spTgt spid="2642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4221"/>
                                        </p:tgtEl>
                                        <p:attrNameLst>
                                          <p:attrName>style.visibility</p:attrName>
                                        </p:attrNameLst>
                                      </p:cBhvr>
                                      <p:to>
                                        <p:strVal val="visible"/>
                                      </p:to>
                                    </p:set>
                                    <p:animEffect transition="in" filter="wipe(left)">
                                      <p:cBhvr>
                                        <p:cTn id="27" dur="500"/>
                                        <p:tgtEl>
                                          <p:spTgt spid="2642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4208"/>
                                        </p:tgtEl>
                                        <p:attrNameLst>
                                          <p:attrName>style.visibility</p:attrName>
                                        </p:attrNameLst>
                                      </p:cBhvr>
                                      <p:to>
                                        <p:strVal val="visible"/>
                                      </p:to>
                                    </p:set>
                                    <p:animEffect transition="in" filter="wipe(left)">
                                      <p:cBhvr>
                                        <p:cTn id="32" dur="500"/>
                                        <p:tgtEl>
                                          <p:spTgt spid="2642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4205"/>
                                        </p:tgtEl>
                                        <p:attrNameLst>
                                          <p:attrName>style.visibility</p:attrName>
                                        </p:attrNameLst>
                                      </p:cBhvr>
                                      <p:to>
                                        <p:strVal val="visible"/>
                                      </p:to>
                                    </p:set>
                                    <p:animEffect transition="in" filter="wipe(left)">
                                      <p:cBhvr>
                                        <p:cTn id="37" dur="500"/>
                                        <p:tgtEl>
                                          <p:spTgt spid="2642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4206"/>
                                        </p:tgtEl>
                                        <p:attrNameLst>
                                          <p:attrName>style.visibility</p:attrName>
                                        </p:attrNameLst>
                                      </p:cBhvr>
                                      <p:to>
                                        <p:strVal val="visible"/>
                                      </p:to>
                                    </p:set>
                                    <p:animEffect transition="in" filter="wipe(left)">
                                      <p:cBhvr>
                                        <p:cTn id="42" dur="500"/>
                                        <p:tgtEl>
                                          <p:spTgt spid="26420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4207"/>
                                        </p:tgtEl>
                                        <p:attrNameLst>
                                          <p:attrName>style.visibility</p:attrName>
                                        </p:attrNameLst>
                                      </p:cBhvr>
                                      <p:to>
                                        <p:strVal val="visible"/>
                                      </p:to>
                                    </p:set>
                                    <p:animEffect transition="in" filter="wipe(left)">
                                      <p:cBhvr>
                                        <p:cTn id="47" dur="500"/>
                                        <p:tgtEl>
                                          <p:spTgt spid="2642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4209"/>
                                        </p:tgtEl>
                                        <p:attrNameLst>
                                          <p:attrName>style.visibility</p:attrName>
                                        </p:attrNameLst>
                                      </p:cBhvr>
                                      <p:to>
                                        <p:strVal val="visible"/>
                                      </p:to>
                                    </p:set>
                                    <p:animEffect transition="in" filter="wipe(left)">
                                      <p:cBhvr>
                                        <p:cTn id="52" dur="500"/>
                                        <p:tgtEl>
                                          <p:spTgt spid="26420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4210"/>
                                        </p:tgtEl>
                                        <p:attrNameLst>
                                          <p:attrName>style.visibility</p:attrName>
                                        </p:attrNameLst>
                                      </p:cBhvr>
                                      <p:to>
                                        <p:strVal val="visible"/>
                                      </p:to>
                                    </p:set>
                                    <p:animEffect transition="in" filter="wipe(left)">
                                      <p:cBhvr>
                                        <p:cTn id="57" dur="500"/>
                                        <p:tgtEl>
                                          <p:spTgt spid="2642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4194"/>
                                        </p:tgtEl>
                                        <p:attrNameLst>
                                          <p:attrName>style.visibility</p:attrName>
                                        </p:attrNameLst>
                                      </p:cBhvr>
                                      <p:to>
                                        <p:strVal val="visible"/>
                                      </p:to>
                                    </p:set>
                                    <p:animEffect transition="in" filter="wipe(left)">
                                      <p:cBhvr>
                                        <p:cTn id="62" dur="500"/>
                                        <p:tgtEl>
                                          <p:spTgt spid="26419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4195"/>
                                        </p:tgtEl>
                                        <p:attrNameLst>
                                          <p:attrName>style.visibility</p:attrName>
                                        </p:attrNameLst>
                                      </p:cBhvr>
                                      <p:to>
                                        <p:strVal val="visible"/>
                                      </p:to>
                                    </p:set>
                                    <p:animEffect transition="in" filter="wipe(left)">
                                      <p:cBhvr>
                                        <p:cTn id="67" dur="500"/>
                                        <p:tgtEl>
                                          <p:spTgt spid="264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autoUpdateAnimBg="0"/>
      <p:bldP spid="264195" grpId="0" autoUpdateAnimBg="0"/>
      <p:bldP spid="264196" grpId="0" autoUpdateAnimBg="0"/>
      <p:bldP spid="264197" grpId="0" autoUpdateAnimBg="0"/>
      <p:bldP spid="264205" grpId="0" autoUpdateAnimBg="0"/>
      <p:bldP spid="264208" grpId="0" autoUpdateAnimBg="0"/>
      <p:bldP spid="26420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8723" name="Object 3"/>
          <p:cNvGraphicFramePr>
            <a:graphicFrameLocks noChangeAspect="1"/>
          </p:cNvGraphicFramePr>
          <p:nvPr>
            <p:extLst>
              <p:ext uri="{D42A27DB-BD31-4B8C-83A1-F6EECF244321}">
                <p14:modId xmlns:p14="http://schemas.microsoft.com/office/powerpoint/2010/main" val="3322825461"/>
              </p:ext>
            </p:extLst>
          </p:nvPr>
        </p:nvGraphicFramePr>
        <p:xfrm>
          <a:off x="719360" y="1943100"/>
          <a:ext cx="7289800" cy="598487"/>
        </p:xfrm>
        <a:graphic>
          <a:graphicData uri="http://schemas.openxmlformats.org/presentationml/2006/ole">
            <mc:AlternateContent xmlns:mc="http://schemas.openxmlformats.org/markup-compatibility/2006">
              <mc:Choice xmlns:v="urn:schemas-microsoft-com:vml" Requires="v">
                <p:oleObj spid="_x0000_s99454" name="Equation" r:id="rId3" imgW="2768400" imgH="241200" progId="Equation.DSMT4">
                  <p:embed/>
                </p:oleObj>
              </mc:Choice>
              <mc:Fallback>
                <p:oleObj name="Equation" r:id="rId3" imgW="2768400" imgH="241200" progId="Equation.DSMT4">
                  <p:embed/>
                  <p:pic>
                    <p:nvPicPr>
                      <p:cNvPr id="158723" name="Object 3"/>
                      <p:cNvPicPr>
                        <a:picLocks noChangeAspect="1" noChangeArrowheads="1"/>
                      </p:cNvPicPr>
                      <p:nvPr/>
                    </p:nvPicPr>
                    <p:blipFill>
                      <a:blip r:embed="rId4"/>
                      <a:srcRect/>
                      <a:stretch>
                        <a:fillRect/>
                      </a:stretch>
                    </p:blipFill>
                    <p:spPr bwMode="auto">
                      <a:xfrm>
                        <a:off x="719360" y="1943100"/>
                        <a:ext cx="7289800" cy="598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751" name="Text Box 31"/>
          <p:cNvSpPr txBox="1">
            <a:spLocks noChangeArrowheads="1"/>
          </p:cNvSpPr>
          <p:nvPr/>
        </p:nvSpPr>
        <p:spPr bwMode="auto">
          <a:xfrm>
            <a:off x="893763" y="115888"/>
            <a:ext cx="5838825" cy="57943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solidFill>
                  <a:schemeClr val="folHlink"/>
                </a:solidFill>
                <a:latin typeface="Arial" panose="020B0604020202020204" pitchFamily="34" charset="0"/>
                <a:ea typeface="楷体_GB2312"/>
              </a:rPr>
              <a:t>7-5 </a:t>
            </a:r>
            <a:r>
              <a:rPr lang="zh-CN" altLang="en-US">
                <a:solidFill>
                  <a:schemeClr val="folHlink"/>
                </a:solidFill>
                <a:latin typeface="Arial" panose="020B0604020202020204" pitchFamily="34" charset="0"/>
                <a:ea typeface="楷体_GB2312"/>
              </a:rPr>
              <a:t>电场强度与电势梯度的关系</a:t>
            </a:r>
          </a:p>
        </p:txBody>
      </p:sp>
      <p:sp>
        <p:nvSpPr>
          <p:cNvPr id="158752" name="Text Box 32"/>
          <p:cNvSpPr txBox="1">
            <a:spLocks noChangeArrowheads="1"/>
          </p:cNvSpPr>
          <p:nvPr/>
        </p:nvSpPr>
        <p:spPr bwMode="auto">
          <a:xfrm>
            <a:off x="214313" y="685800"/>
            <a:ext cx="3587750"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1</a:t>
            </a:r>
            <a:r>
              <a:rPr lang="zh-CN" altLang="en-US" sz="2800">
                <a:solidFill>
                  <a:srgbClr val="3333FF"/>
                </a:solidFill>
                <a:ea typeface="楷体_GB2312"/>
              </a:rPr>
              <a:t>、沿任一方向的分量</a:t>
            </a:r>
            <a:endParaRPr lang="zh-CN" altLang="en-US" sz="2400" b="0">
              <a:ea typeface="楷体_GB2312"/>
            </a:endParaRPr>
          </a:p>
        </p:txBody>
      </p:sp>
      <p:sp>
        <p:nvSpPr>
          <p:cNvPr id="158753" name="Text Box 33"/>
          <p:cNvSpPr txBox="1">
            <a:spLocks noChangeArrowheads="1"/>
          </p:cNvSpPr>
          <p:nvPr/>
        </p:nvSpPr>
        <p:spPr bwMode="auto">
          <a:xfrm>
            <a:off x="250825" y="1089025"/>
            <a:ext cx="8642350" cy="8318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静电场中两个靠得很近的等势面，电势分别为</a:t>
            </a:r>
            <a:r>
              <a:rPr lang="en-US" altLang="zh-CN" sz="2400" i="1">
                <a:ea typeface="楷体_GB2312"/>
              </a:rPr>
              <a:t>V</a:t>
            </a:r>
            <a:r>
              <a:rPr lang="zh-CN" altLang="en-US" sz="2400">
                <a:ea typeface="楷体_GB2312"/>
              </a:rPr>
              <a:t>和</a:t>
            </a:r>
            <a:r>
              <a:rPr lang="en-US" altLang="zh-CN" sz="2400" i="1">
                <a:ea typeface="楷体_GB2312"/>
              </a:rPr>
              <a:t>V+</a:t>
            </a:r>
            <a:r>
              <a:rPr lang="en-US" altLang="zh-CN" sz="2400">
                <a:ea typeface="楷体_GB2312"/>
              </a:rPr>
              <a:t>Δ</a:t>
            </a:r>
            <a:r>
              <a:rPr lang="en-US" altLang="zh-CN" sz="2400" i="1">
                <a:ea typeface="楷体_GB2312"/>
              </a:rPr>
              <a:t>V</a:t>
            </a:r>
            <a:r>
              <a:rPr lang="zh-CN" altLang="en-US" sz="2400">
                <a:ea typeface="楷体_GB2312"/>
              </a:rPr>
              <a:t>，在等势面上取两点</a:t>
            </a:r>
            <a:r>
              <a:rPr lang="en-US" altLang="zh-CN" sz="2400">
                <a:ea typeface="楷体_GB2312"/>
              </a:rPr>
              <a:t>A</a:t>
            </a:r>
            <a:r>
              <a:rPr lang="zh-CN" altLang="en-US" sz="2400">
                <a:ea typeface="楷体_GB2312"/>
              </a:rPr>
              <a:t>和</a:t>
            </a:r>
            <a:r>
              <a:rPr lang="en-US" altLang="zh-CN" sz="2400">
                <a:ea typeface="楷体_GB2312"/>
              </a:rPr>
              <a:t>B</a:t>
            </a:r>
            <a:r>
              <a:rPr lang="zh-CN" altLang="en-US" sz="2400">
                <a:ea typeface="楷体_GB2312"/>
              </a:rPr>
              <a:t>，间距为</a:t>
            </a:r>
            <a:r>
              <a:rPr lang="en-US" altLang="zh-CN" sz="2400">
                <a:ea typeface="楷体_GB2312"/>
              </a:rPr>
              <a:t>Δ</a:t>
            </a:r>
            <a:r>
              <a:rPr lang="en-US" altLang="zh-CN" sz="2400" i="1">
                <a:ea typeface="楷体_GB2312"/>
              </a:rPr>
              <a:t>l</a:t>
            </a:r>
            <a:r>
              <a:rPr lang="zh-CN" altLang="en-US" sz="2400">
                <a:ea typeface="楷体_GB2312"/>
              </a:rPr>
              <a:t>，设与</a:t>
            </a:r>
            <a:r>
              <a:rPr lang="en-US" altLang="zh-CN" sz="2400" i="1">
                <a:ea typeface="楷体_GB2312"/>
              </a:rPr>
              <a:t>E</a:t>
            </a:r>
            <a:r>
              <a:rPr lang="zh-CN" altLang="en-US" sz="2400">
                <a:ea typeface="楷体_GB2312"/>
              </a:rPr>
              <a:t>之间的夹角为</a:t>
            </a:r>
            <a:r>
              <a:rPr lang="en-US" altLang="zh-CN" sz="2400" i="1">
                <a:ea typeface="楷体_GB2312"/>
              </a:rPr>
              <a:t>θ</a:t>
            </a:r>
            <a:r>
              <a:rPr lang="zh-CN" altLang="en-US" sz="2400">
                <a:ea typeface="楷体_GB2312"/>
              </a:rPr>
              <a:t>。</a:t>
            </a:r>
          </a:p>
        </p:txBody>
      </p:sp>
      <p:graphicFrame>
        <p:nvGraphicFramePr>
          <p:cNvPr id="158754" name="Object 34"/>
          <p:cNvGraphicFramePr>
            <a:graphicFrameLocks noChangeAspect="1"/>
          </p:cNvGraphicFramePr>
          <p:nvPr>
            <p:extLst/>
          </p:nvPr>
        </p:nvGraphicFramePr>
        <p:xfrm>
          <a:off x="899592" y="4149725"/>
          <a:ext cx="3098800" cy="841375"/>
        </p:xfrm>
        <a:graphic>
          <a:graphicData uri="http://schemas.openxmlformats.org/presentationml/2006/ole">
            <mc:AlternateContent xmlns:mc="http://schemas.openxmlformats.org/markup-compatibility/2006">
              <mc:Choice xmlns:v="urn:schemas-microsoft-com:vml" Requires="v">
                <p:oleObj spid="_x0000_s99455" name="公式" r:id="rId5" imgW="1497950" imgH="406224" progId="Equation.3">
                  <p:embed/>
                </p:oleObj>
              </mc:Choice>
              <mc:Fallback>
                <p:oleObj name="公式" r:id="rId5" imgW="1497950" imgH="406224" progId="Equation.3">
                  <p:embed/>
                  <p:pic>
                    <p:nvPicPr>
                      <p:cNvPr id="158754"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4149725"/>
                        <a:ext cx="3098800" cy="8413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8755" name="Text Box 35"/>
          <p:cNvSpPr txBox="1">
            <a:spLocks noChangeArrowheads="1"/>
          </p:cNvSpPr>
          <p:nvPr/>
        </p:nvSpPr>
        <p:spPr bwMode="auto">
          <a:xfrm>
            <a:off x="66675" y="5129213"/>
            <a:ext cx="5184775" cy="156210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电场中某一点的场强沿任一方向的分量，等于这一点的电势沿该方向单位长度的电势变化率的负值，这就是</a:t>
            </a:r>
            <a:r>
              <a:rPr lang="zh-CN" altLang="en-US" sz="2400">
                <a:solidFill>
                  <a:srgbClr val="FF3300"/>
                </a:solidFill>
                <a:ea typeface="楷体_GB2312"/>
              </a:rPr>
              <a:t>电场强度和电势之间的关系</a:t>
            </a:r>
            <a:r>
              <a:rPr lang="zh-CN" altLang="en-US" sz="2400">
                <a:ea typeface="楷体_GB2312"/>
              </a:rPr>
              <a:t>。</a:t>
            </a:r>
          </a:p>
        </p:txBody>
      </p:sp>
      <p:pic>
        <p:nvPicPr>
          <p:cNvPr id="3" name="图片 2">
            <a:extLst>
              <a:ext uri="{FF2B5EF4-FFF2-40B4-BE49-F238E27FC236}">
                <a16:creationId xmlns:a16="http://schemas.microsoft.com/office/drawing/2014/main" id="{240C5C27-335E-44DA-A34F-447BFC2A7E61}"/>
              </a:ext>
            </a:extLst>
          </p:cNvPr>
          <p:cNvPicPr>
            <a:picLocks noChangeAspect="1"/>
          </p:cNvPicPr>
          <p:nvPr/>
        </p:nvPicPr>
        <p:blipFill>
          <a:blip r:embed="rId7"/>
          <a:stretch>
            <a:fillRect/>
          </a:stretch>
        </p:blipFill>
        <p:spPr>
          <a:xfrm>
            <a:off x="576263" y="1874044"/>
            <a:ext cx="7286625" cy="600075"/>
          </a:xfrm>
          <a:prstGeom prst="rect">
            <a:avLst/>
          </a:prstGeom>
        </p:spPr>
      </p:pic>
      <p:pic>
        <p:nvPicPr>
          <p:cNvPr id="36" name="Picture 33" descr="T7-34">
            <a:extLst>
              <a:ext uri="{FF2B5EF4-FFF2-40B4-BE49-F238E27FC236}">
                <a16:creationId xmlns:a16="http://schemas.microsoft.com/office/drawing/2014/main" id="{13A15D51-664E-4232-9D8D-E650334B81B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75682" y="3148234"/>
            <a:ext cx="3140075" cy="338455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2ED6C2DD-8761-4168-B676-B0CE357989E3}"/>
              </a:ext>
            </a:extLst>
          </p:cNvPr>
          <p:cNvSpPr txBox="1"/>
          <p:nvPr/>
        </p:nvSpPr>
        <p:spPr>
          <a:xfrm>
            <a:off x="6447186" y="4206875"/>
            <a:ext cx="356188" cy="400110"/>
          </a:xfrm>
          <a:prstGeom prst="rect">
            <a:avLst/>
          </a:prstGeom>
          <a:solidFill>
            <a:schemeClr val="bg1"/>
          </a:solidFill>
        </p:spPr>
        <p:txBody>
          <a:bodyPr wrap="square" rtlCol="0">
            <a:spAutoFit/>
          </a:bodyPr>
          <a:lstStyle/>
          <a:p>
            <a:r>
              <a:rPr lang="en-US" altLang="zh-CN"/>
              <a:t>A</a:t>
            </a:r>
            <a:endParaRPr lang="zh-CN" altLang="en-US"/>
          </a:p>
        </p:txBody>
      </p:sp>
      <p:sp>
        <p:nvSpPr>
          <p:cNvPr id="40" name="文本框 39">
            <a:extLst>
              <a:ext uri="{FF2B5EF4-FFF2-40B4-BE49-F238E27FC236}">
                <a16:creationId xmlns:a16="http://schemas.microsoft.com/office/drawing/2014/main" id="{AA3EEC9B-032A-4C46-B5CC-76502D109B63}"/>
              </a:ext>
            </a:extLst>
          </p:cNvPr>
          <p:cNvSpPr txBox="1"/>
          <p:nvPr/>
        </p:nvSpPr>
        <p:spPr>
          <a:xfrm>
            <a:off x="7831066" y="3949670"/>
            <a:ext cx="356188" cy="400110"/>
          </a:xfrm>
          <a:prstGeom prst="rect">
            <a:avLst/>
          </a:prstGeom>
          <a:solidFill>
            <a:schemeClr val="bg1"/>
          </a:solidFill>
        </p:spPr>
        <p:txBody>
          <a:bodyPr wrap="none" rtlCol="0">
            <a:spAutoFit/>
          </a:bodyPr>
          <a:lstStyle/>
          <a:p>
            <a:r>
              <a:rPr lang="en-US" altLang="zh-CN"/>
              <a:t>B</a:t>
            </a:r>
            <a:endParaRPr lang="zh-CN" altLang="en-US"/>
          </a:p>
        </p:txBody>
      </p:sp>
      <p:sp>
        <p:nvSpPr>
          <p:cNvPr id="41" name="文本框 40">
            <a:extLst>
              <a:ext uri="{FF2B5EF4-FFF2-40B4-BE49-F238E27FC236}">
                <a16:creationId xmlns:a16="http://schemas.microsoft.com/office/drawing/2014/main" id="{F54E5957-8936-4953-8CEF-F41F74A93157}"/>
              </a:ext>
            </a:extLst>
          </p:cNvPr>
          <p:cNvSpPr txBox="1"/>
          <p:nvPr/>
        </p:nvSpPr>
        <p:spPr>
          <a:xfrm>
            <a:off x="7167625" y="3435290"/>
            <a:ext cx="356188" cy="400110"/>
          </a:xfrm>
          <a:prstGeom prst="rect">
            <a:avLst/>
          </a:prstGeom>
          <a:solidFill>
            <a:schemeClr val="bg1"/>
          </a:solidFill>
        </p:spPr>
        <p:txBody>
          <a:bodyPr wrap="none" rtlCol="0">
            <a:spAutoFit/>
          </a:bodyPr>
          <a:lstStyle/>
          <a:p>
            <a:r>
              <a:rPr lang="en-US" altLang="zh-CN"/>
              <a:t>C</a:t>
            </a:r>
            <a:endParaRPr lang="zh-CN" altLang="en-US"/>
          </a:p>
        </p:txBody>
      </p:sp>
      <p:graphicFrame>
        <p:nvGraphicFramePr>
          <p:cNvPr id="43" name="Object 23">
            <a:extLst>
              <a:ext uri="{FF2B5EF4-FFF2-40B4-BE49-F238E27FC236}">
                <a16:creationId xmlns:a16="http://schemas.microsoft.com/office/drawing/2014/main" id="{9FA355C2-5DDF-4F2F-B053-7667C86468B5}"/>
              </a:ext>
            </a:extLst>
          </p:cNvPr>
          <p:cNvGraphicFramePr>
            <a:graphicFrameLocks noChangeAspect="1"/>
          </p:cNvGraphicFramePr>
          <p:nvPr>
            <p:extLst>
              <p:ext uri="{D42A27DB-BD31-4B8C-83A1-F6EECF244321}">
                <p14:modId xmlns:p14="http://schemas.microsoft.com/office/powerpoint/2010/main" val="4002640849"/>
              </p:ext>
            </p:extLst>
          </p:nvPr>
        </p:nvGraphicFramePr>
        <p:xfrm>
          <a:off x="893763" y="2626551"/>
          <a:ext cx="2717927" cy="486568"/>
        </p:xfrm>
        <a:graphic>
          <a:graphicData uri="http://schemas.openxmlformats.org/presentationml/2006/ole">
            <mc:AlternateContent xmlns:mc="http://schemas.openxmlformats.org/markup-compatibility/2006">
              <mc:Choice xmlns:v="urn:schemas-microsoft-com:vml" Requires="v">
                <p:oleObj spid="_x0000_s99456" name="公式" r:id="rId9" imgW="1130040" imgH="203040" progId="Equation.3">
                  <p:embed/>
                </p:oleObj>
              </mc:Choice>
              <mc:Fallback>
                <p:oleObj name="公式" r:id="rId9" imgW="1130040" imgH="203040" progId="Equation.3">
                  <p:embed/>
                  <p:pic>
                    <p:nvPicPr>
                      <p:cNvPr id="258071" name="Object 23"/>
                      <p:cNvPicPr>
                        <a:picLocks noChangeAspect="1" noChangeArrowheads="1"/>
                      </p:cNvPicPr>
                      <p:nvPr/>
                    </p:nvPicPr>
                    <p:blipFill>
                      <a:blip r:embed="rId10"/>
                      <a:srcRect/>
                      <a:stretch>
                        <a:fillRect/>
                      </a:stretch>
                    </p:blipFill>
                    <p:spPr bwMode="auto">
                      <a:xfrm>
                        <a:off x="893763" y="2626551"/>
                        <a:ext cx="2717927" cy="486568"/>
                      </a:xfrm>
                      <a:prstGeom prst="rect">
                        <a:avLst/>
                      </a:prstGeom>
                      <a:noFill/>
                      <a:ln>
                        <a:noFill/>
                      </a:ln>
                      <a:effectLst/>
                      <a:extLst/>
                    </p:spPr>
                  </p:pic>
                </p:oleObj>
              </mc:Fallback>
            </mc:AlternateContent>
          </a:graphicData>
        </a:graphic>
      </p:graphicFrame>
      <p:graphicFrame>
        <p:nvGraphicFramePr>
          <p:cNvPr id="44" name="Object 24">
            <a:extLst>
              <a:ext uri="{FF2B5EF4-FFF2-40B4-BE49-F238E27FC236}">
                <a16:creationId xmlns:a16="http://schemas.microsoft.com/office/drawing/2014/main" id="{F6A7DCD8-5973-42D8-A087-1F2369AFFAF6}"/>
              </a:ext>
            </a:extLst>
          </p:cNvPr>
          <p:cNvGraphicFramePr>
            <a:graphicFrameLocks noChangeAspect="1"/>
          </p:cNvGraphicFramePr>
          <p:nvPr>
            <p:extLst>
              <p:ext uri="{D42A27DB-BD31-4B8C-83A1-F6EECF244321}">
                <p14:modId xmlns:p14="http://schemas.microsoft.com/office/powerpoint/2010/main" val="1938583120"/>
              </p:ext>
            </p:extLst>
          </p:nvPr>
        </p:nvGraphicFramePr>
        <p:xfrm>
          <a:off x="878954" y="3092310"/>
          <a:ext cx="3140076" cy="971765"/>
        </p:xfrm>
        <a:graphic>
          <a:graphicData uri="http://schemas.openxmlformats.org/presentationml/2006/ole">
            <mc:AlternateContent xmlns:mc="http://schemas.openxmlformats.org/markup-compatibility/2006">
              <mc:Choice xmlns:v="urn:schemas-microsoft-com:vml" Requires="v">
                <p:oleObj spid="_x0000_s99457" name="公式" r:id="rId11" imgW="1307880" imgH="406080" progId="Equation.3">
                  <p:embed/>
                </p:oleObj>
              </mc:Choice>
              <mc:Fallback>
                <p:oleObj name="公式" r:id="rId11" imgW="1307880" imgH="406080" progId="Equation.3">
                  <p:embed/>
                  <p:pic>
                    <p:nvPicPr>
                      <p:cNvPr id="258072" name="Object 24"/>
                      <p:cNvPicPr>
                        <a:picLocks noChangeAspect="1" noChangeArrowheads="1"/>
                      </p:cNvPicPr>
                      <p:nvPr/>
                    </p:nvPicPr>
                    <p:blipFill>
                      <a:blip r:embed="rId12"/>
                      <a:srcRect/>
                      <a:stretch>
                        <a:fillRect/>
                      </a:stretch>
                    </p:blipFill>
                    <p:spPr bwMode="auto">
                      <a:xfrm>
                        <a:off x="878954" y="3092310"/>
                        <a:ext cx="3140076" cy="97176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84316904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51"/>
                                        </p:tgtEl>
                                        <p:attrNameLst>
                                          <p:attrName>style.visibility</p:attrName>
                                        </p:attrNameLst>
                                      </p:cBhvr>
                                      <p:to>
                                        <p:strVal val="visible"/>
                                      </p:to>
                                    </p:set>
                                    <p:animEffect transition="in" filter="wipe(left)">
                                      <p:cBhvr>
                                        <p:cTn id="7" dur="500"/>
                                        <p:tgtEl>
                                          <p:spTgt spid="1587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52"/>
                                        </p:tgtEl>
                                        <p:attrNameLst>
                                          <p:attrName>style.visibility</p:attrName>
                                        </p:attrNameLst>
                                      </p:cBhvr>
                                      <p:to>
                                        <p:strVal val="visible"/>
                                      </p:to>
                                    </p:set>
                                    <p:animEffect transition="in" filter="wipe(left)">
                                      <p:cBhvr>
                                        <p:cTn id="12" dur="500"/>
                                        <p:tgtEl>
                                          <p:spTgt spid="1587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8753"/>
                                        </p:tgtEl>
                                        <p:attrNameLst>
                                          <p:attrName>style.visibility</p:attrName>
                                        </p:attrNameLst>
                                      </p:cBhvr>
                                      <p:to>
                                        <p:strVal val="visible"/>
                                      </p:to>
                                    </p:set>
                                    <p:animEffect transition="in" filter="wipe(left)">
                                      <p:cBhvr>
                                        <p:cTn id="17" dur="500"/>
                                        <p:tgtEl>
                                          <p:spTgt spid="1587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158723"/>
                                        </p:tgtEl>
                                        <p:attrNameLst>
                                          <p:attrName>style.visibility</p:attrName>
                                        </p:attrNameLst>
                                      </p:cBhvr>
                                      <p:to>
                                        <p:strVal val="visible"/>
                                      </p:to>
                                    </p:set>
                                    <p:animEffect transition="in" filter="blinds(vertical)">
                                      <p:cBhvr>
                                        <p:cTn id="22" dur="500"/>
                                        <p:tgtEl>
                                          <p:spTgt spid="1587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8754"/>
                                        </p:tgtEl>
                                        <p:attrNameLst>
                                          <p:attrName>style.visibility</p:attrName>
                                        </p:attrNameLst>
                                      </p:cBhvr>
                                      <p:to>
                                        <p:strVal val="visible"/>
                                      </p:to>
                                    </p:set>
                                    <p:animEffect transition="in" filter="wipe(left)">
                                      <p:cBhvr>
                                        <p:cTn id="27" dur="500"/>
                                        <p:tgtEl>
                                          <p:spTgt spid="1587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8755"/>
                                        </p:tgtEl>
                                        <p:attrNameLst>
                                          <p:attrName>style.visibility</p:attrName>
                                        </p:attrNameLst>
                                      </p:cBhvr>
                                      <p:to>
                                        <p:strVal val="visible"/>
                                      </p:to>
                                    </p:set>
                                    <p:animEffect transition="in" filter="wipe(left)">
                                      <p:cBhvr>
                                        <p:cTn id="32" dur="500"/>
                                        <p:tgtEl>
                                          <p:spTgt spid="15875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wipe(left)">
                                      <p:cBhvr>
                                        <p:cTn id="41" dur="500"/>
                                        <p:tgtEl>
                                          <p:spTgt spid="4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wipe(left)">
                                      <p:cBhvr>
                                        <p:cTn id="4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51" grpId="0" animBg="1" autoUpdateAnimBg="0"/>
      <p:bldP spid="158752" grpId="0" autoUpdateAnimBg="0"/>
      <p:bldP spid="158753" grpId="0" autoUpdateAnimBg="0"/>
      <p:bldP spid="158755"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152400" y="-20638"/>
            <a:ext cx="3914775"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3333FF"/>
                </a:solidFill>
                <a:ea typeface="楷体_GB2312"/>
              </a:rPr>
              <a:t>2</a:t>
            </a:r>
            <a:r>
              <a:rPr lang="zh-CN" altLang="en-US" sz="2800">
                <a:solidFill>
                  <a:srgbClr val="3333FF"/>
                </a:solidFill>
                <a:ea typeface="楷体_GB2312"/>
              </a:rPr>
              <a:t>、切向和法向分量</a:t>
            </a:r>
            <a:endParaRPr lang="zh-CN" altLang="en-US" sz="2400" b="0">
              <a:ea typeface="楷体_GB2312"/>
            </a:endParaRPr>
          </a:p>
        </p:txBody>
      </p:sp>
      <p:sp>
        <p:nvSpPr>
          <p:cNvPr id="134147" name="Text Box 3"/>
          <p:cNvSpPr txBox="1">
            <a:spLocks noChangeArrowheads="1"/>
          </p:cNvSpPr>
          <p:nvPr/>
        </p:nvSpPr>
        <p:spPr bwMode="auto">
          <a:xfrm>
            <a:off x="-14288" y="425450"/>
            <a:ext cx="516413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ea typeface="楷体_GB2312"/>
              </a:rPr>
              <a:t>等势面上任一点场强的切向分量为零</a:t>
            </a:r>
          </a:p>
        </p:txBody>
      </p:sp>
      <p:sp>
        <p:nvSpPr>
          <p:cNvPr id="134148" name="Text Box 4"/>
          <p:cNvSpPr txBox="1">
            <a:spLocks noChangeArrowheads="1"/>
          </p:cNvSpPr>
          <p:nvPr/>
        </p:nvSpPr>
        <p:spPr bwMode="auto">
          <a:xfrm>
            <a:off x="34925" y="1819275"/>
            <a:ext cx="4779963"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a:ea typeface="楷体_GB2312"/>
              </a:rPr>
              <a:t>法向分量</a:t>
            </a:r>
            <a:r>
              <a:rPr lang="en-US" altLang="zh-CN" sz="2400">
                <a:ea typeface="楷体_GB2312"/>
              </a:rPr>
              <a:t>(</a:t>
            </a:r>
            <a:r>
              <a:rPr lang="zh-CN" altLang="en-US" sz="2400">
                <a:ea typeface="楷体_GB2312"/>
              </a:rPr>
              <a:t>方向：低电势</a:t>
            </a:r>
            <a:r>
              <a:rPr lang="zh-CN" altLang="en-US" sz="2400">
                <a:latin typeface="宋体" panose="02010600030101010101" pitchFamily="2" charset="-122"/>
                <a:ea typeface="楷体_GB2312"/>
              </a:rPr>
              <a:t>→高电势</a:t>
            </a:r>
            <a:r>
              <a:rPr lang="en-US" altLang="zh-CN" sz="2400">
                <a:ea typeface="楷体_GB2312"/>
              </a:rPr>
              <a:t>)</a:t>
            </a:r>
          </a:p>
        </p:txBody>
      </p:sp>
      <p:graphicFrame>
        <p:nvGraphicFramePr>
          <p:cNvPr id="134149" name="Object 5"/>
          <p:cNvGraphicFramePr>
            <a:graphicFrameLocks noChangeAspect="1"/>
          </p:cNvGraphicFramePr>
          <p:nvPr/>
        </p:nvGraphicFramePr>
        <p:xfrm>
          <a:off x="1271588" y="2366963"/>
          <a:ext cx="1524000" cy="933450"/>
        </p:xfrm>
        <a:graphic>
          <a:graphicData uri="http://schemas.openxmlformats.org/presentationml/2006/ole">
            <mc:AlternateContent xmlns:mc="http://schemas.openxmlformats.org/markup-compatibility/2006">
              <mc:Choice xmlns:v="urn:schemas-microsoft-com:vml" Requires="v">
                <p:oleObj spid="_x0000_s100462" name="公式" r:id="rId3" imgW="723586" imgH="444307" progId="Equation.3">
                  <p:embed/>
                </p:oleObj>
              </mc:Choice>
              <mc:Fallback>
                <p:oleObj name="公式" r:id="rId3" imgW="723586" imgH="444307" progId="Equation.3">
                  <p:embed/>
                  <p:pic>
                    <p:nvPicPr>
                      <p:cNvPr id="13414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1588" y="2366963"/>
                        <a:ext cx="1524000" cy="933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150" name="Object 6"/>
          <p:cNvGraphicFramePr>
            <a:graphicFrameLocks noChangeAspect="1"/>
          </p:cNvGraphicFramePr>
          <p:nvPr/>
        </p:nvGraphicFramePr>
        <p:xfrm>
          <a:off x="925513" y="3373438"/>
          <a:ext cx="2133600" cy="992187"/>
        </p:xfrm>
        <a:graphic>
          <a:graphicData uri="http://schemas.openxmlformats.org/presentationml/2006/ole">
            <mc:AlternateContent xmlns:mc="http://schemas.openxmlformats.org/markup-compatibility/2006">
              <mc:Choice xmlns:v="urn:schemas-microsoft-com:vml" Requires="v">
                <p:oleObj spid="_x0000_s100463" name="公式" r:id="rId5" imgW="927100" imgH="431800" progId="Equation.3">
                  <p:embed/>
                </p:oleObj>
              </mc:Choice>
              <mc:Fallback>
                <p:oleObj name="公式" r:id="rId5" imgW="927100" imgH="431800" progId="Equation.3">
                  <p:embed/>
                  <p:pic>
                    <p:nvPicPr>
                      <p:cNvPr id="13415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5513" y="3373438"/>
                        <a:ext cx="2133600" cy="99218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151" name="Object 7"/>
          <p:cNvGraphicFramePr>
            <a:graphicFrameLocks noChangeAspect="1"/>
          </p:cNvGraphicFramePr>
          <p:nvPr/>
        </p:nvGraphicFramePr>
        <p:xfrm>
          <a:off x="179388" y="5495925"/>
          <a:ext cx="3816350" cy="885825"/>
        </p:xfrm>
        <a:graphic>
          <a:graphicData uri="http://schemas.openxmlformats.org/presentationml/2006/ole">
            <mc:AlternateContent xmlns:mc="http://schemas.openxmlformats.org/markup-compatibility/2006">
              <mc:Choice xmlns:v="urn:schemas-microsoft-com:vml" Requires="v">
                <p:oleObj spid="_x0000_s100464" name="公式" r:id="rId7" imgW="1854200" imgH="431800" progId="Equation.3">
                  <p:embed/>
                </p:oleObj>
              </mc:Choice>
              <mc:Fallback>
                <p:oleObj name="公式" r:id="rId7" imgW="1854200" imgH="431800" progId="Equation.3">
                  <p:embed/>
                  <p:pic>
                    <p:nvPicPr>
                      <p:cNvPr id="134151"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5495925"/>
                        <a:ext cx="3816350" cy="885825"/>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52" name="Text Box 8"/>
          <p:cNvSpPr txBox="1">
            <a:spLocks noChangeArrowheads="1"/>
          </p:cNvSpPr>
          <p:nvPr/>
        </p:nvSpPr>
        <p:spPr bwMode="auto">
          <a:xfrm>
            <a:off x="152400" y="4405313"/>
            <a:ext cx="8801100" cy="71120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a:ea typeface="楷体_GB2312"/>
              </a:rPr>
              <a:t>电场中任一点的场强，等于该点电势沿等势面法线方向单位长度的变化率的负值。</a:t>
            </a:r>
          </a:p>
        </p:txBody>
      </p:sp>
      <p:sp>
        <p:nvSpPr>
          <p:cNvPr id="134169" name="Text Box 25"/>
          <p:cNvSpPr txBox="1">
            <a:spLocks noChangeArrowheads="1"/>
          </p:cNvSpPr>
          <p:nvPr/>
        </p:nvSpPr>
        <p:spPr bwMode="auto">
          <a:xfrm>
            <a:off x="5562600" y="3429000"/>
            <a:ext cx="1435100" cy="519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a:solidFill>
                  <a:srgbClr val="3333FF"/>
                </a:solidFill>
                <a:ea typeface="楷体_GB2312"/>
              </a:rPr>
              <a:t>3</a:t>
            </a:r>
            <a:r>
              <a:rPr lang="zh-CN" altLang="en-US" sz="2800">
                <a:solidFill>
                  <a:srgbClr val="3333FF"/>
                </a:solidFill>
                <a:ea typeface="楷体_GB2312"/>
              </a:rPr>
              <a:t>、应用</a:t>
            </a:r>
            <a:endParaRPr lang="zh-CN" altLang="en-US" sz="2400" b="0">
              <a:ea typeface="楷体_GB2312"/>
            </a:endParaRPr>
          </a:p>
        </p:txBody>
      </p:sp>
      <p:sp>
        <p:nvSpPr>
          <p:cNvPr id="23562" name="Rectangle 27"/>
          <p:cNvSpPr>
            <a:spLocks noChangeArrowheads="1"/>
          </p:cNvSpPr>
          <p:nvPr/>
        </p:nvSpPr>
        <p:spPr bwMode="auto">
          <a:xfrm>
            <a:off x="5219700" y="157015"/>
            <a:ext cx="3733800" cy="381000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3600">
              <a:solidFill>
                <a:srgbClr val="FF3300"/>
              </a:solidFill>
              <a:ea typeface="楷体_GB2312"/>
            </a:endParaRPr>
          </a:p>
        </p:txBody>
      </p:sp>
      <p:sp>
        <p:nvSpPr>
          <p:cNvPr id="23563" name="Arc 28"/>
          <p:cNvSpPr>
            <a:spLocks/>
          </p:cNvSpPr>
          <p:nvPr/>
        </p:nvSpPr>
        <p:spPr bwMode="auto">
          <a:xfrm>
            <a:off x="5600700" y="517525"/>
            <a:ext cx="3200400" cy="2921000"/>
          </a:xfrm>
          <a:custGeom>
            <a:avLst/>
            <a:gdLst>
              <a:gd name="T0" fmla="*/ 2147483646 w 21600"/>
              <a:gd name="T1" fmla="*/ 0 h 20787"/>
              <a:gd name="T2" fmla="*/ 2147483646 w 21600"/>
              <a:gd name="T3" fmla="*/ 2147483646 h 20787"/>
              <a:gd name="T4" fmla="*/ 0 w 21600"/>
              <a:gd name="T5" fmla="*/ 2147483646 h 20787"/>
              <a:gd name="T6" fmla="*/ 0 60000 65536"/>
              <a:gd name="T7" fmla="*/ 0 60000 65536"/>
              <a:gd name="T8" fmla="*/ 0 60000 65536"/>
            </a:gdLst>
            <a:ahLst/>
            <a:cxnLst>
              <a:cxn ang="T6">
                <a:pos x="T0" y="T1"/>
              </a:cxn>
              <a:cxn ang="T7">
                <a:pos x="T2" y="T3"/>
              </a:cxn>
              <a:cxn ang="T8">
                <a:pos x="T4" y="T5"/>
              </a:cxn>
            </a:cxnLst>
            <a:rect l="0" t="0" r="r" b="b"/>
            <a:pathLst>
              <a:path w="21600" h="20787" fill="none" extrusionOk="0">
                <a:moveTo>
                  <a:pt x="5870" y="0"/>
                </a:moveTo>
                <a:cubicBezTo>
                  <a:pt x="15175" y="2628"/>
                  <a:pt x="21600" y="11118"/>
                  <a:pt x="21600" y="20787"/>
                </a:cubicBezTo>
              </a:path>
              <a:path w="21600" h="20787" stroke="0" extrusionOk="0">
                <a:moveTo>
                  <a:pt x="5870" y="0"/>
                </a:moveTo>
                <a:cubicBezTo>
                  <a:pt x="15175" y="2628"/>
                  <a:pt x="21600" y="11118"/>
                  <a:pt x="21600" y="20787"/>
                </a:cubicBezTo>
                <a:lnTo>
                  <a:pt x="0" y="20787"/>
                </a:lnTo>
                <a:lnTo>
                  <a:pt x="5870" y="0"/>
                </a:lnTo>
                <a:close/>
              </a:path>
            </a:pathLst>
          </a:custGeom>
          <a:noFill/>
          <a:ln w="28575">
            <a:solidFill>
              <a:srgbClr val="99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4" name="Arc 29"/>
          <p:cNvSpPr>
            <a:spLocks/>
          </p:cNvSpPr>
          <p:nvPr/>
        </p:nvSpPr>
        <p:spPr bwMode="auto">
          <a:xfrm>
            <a:off x="5219700" y="1301750"/>
            <a:ext cx="2667000" cy="2559050"/>
          </a:xfrm>
          <a:custGeom>
            <a:avLst/>
            <a:gdLst>
              <a:gd name="T0" fmla="*/ 2147483646 w 21600"/>
              <a:gd name="T1" fmla="*/ 0 h 20607"/>
              <a:gd name="T2" fmla="*/ 2147483646 w 21600"/>
              <a:gd name="T3" fmla="*/ 2147483646 h 20607"/>
              <a:gd name="T4" fmla="*/ 0 w 21600"/>
              <a:gd name="T5" fmla="*/ 2147483646 h 20607"/>
              <a:gd name="T6" fmla="*/ 0 60000 65536"/>
              <a:gd name="T7" fmla="*/ 0 60000 65536"/>
              <a:gd name="T8" fmla="*/ 0 60000 65536"/>
            </a:gdLst>
            <a:ahLst/>
            <a:cxnLst>
              <a:cxn ang="T6">
                <a:pos x="T0" y="T1"/>
              </a:cxn>
              <a:cxn ang="T7">
                <a:pos x="T2" y="T3"/>
              </a:cxn>
              <a:cxn ang="T8">
                <a:pos x="T4" y="T5"/>
              </a:cxn>
            </a:cxnLst>
            <a:rect l="0" t="0" r="r" b="b"/>
            <a:pathLst>
              <a:path w="21600" h="20607" fill="none" extrusionOk="0">
                <a:moveTo>
                  <a:pt x="6473" y="-1"/>
                </a:moveTo>
                <a:cubicBezTo>
                  <a:pt x="15475" y="2827"/>
                  <a:pt x="21600" y="11171"/>
                  <a:pt x="21600" y="20607"/>
                </a:cubicBezTo>
              </a:path>
              <a:path w="21600" h="20607" stroke="0" extrusionOk="0">
                <a:moveTo>
                  <a:pt x="6473" y="-1"/>
                </a:moveTo>
                <a:cubicBezTo>
                  <a:pt x="15475" y="2827"/>
                  <a:pt x="21600" y="11171"/>
                  <a:pt x="21600" y="20607"/>
                </a:cubicBezTo>
                <a:lnTo>
                  <a:pt x="0" y="20607"/>
                </a:lnTo>
                <a:lnTo>
                  <a:pt x="6473" y="-1"/>
                </a:lnTo>
                <a:close/>
              </a:path>
            </a:pathLst>
          </a:custGeom>
          <a:noFill/>
          <a:ln w="28575">
            <a:solidFill>
              <a:srgbClr val="99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65" name="Object 30"/>
          <p:cNvGraphicFramePr>
            <a:graphicFrameLocks noChangeAspect="1"/>
          </p:cNvGraphicFramePr>
          <p:nvPr>
            <p:extLst>
              <p:ext uri="{D42A27DB-BD31-4B8C-83A1-F6EECF244321}">
                <p14:modId xmlns:p14="http://schemas.microsoft.com/office/powerpoint/2010/main" val="1067146994"/>
              </p:ext>
            </p:extLst>
          </p:nvPr>
        </p:nvGraphicFramePr>
        <p:xfrm>
          <a:off x="5724128" y="1239863"/>
          <a:ext cx="360363" cy="388937"/>
        </p:xfrm>
        <a:graphic>
          <a:graphicData uri="http://schemas.openxmlformats.org/presentationml/2006/ole">
            <mc:AlternateContent xmlns:mc="http://schemas.openxmlformats.org/markup-compatibility/2006">
              <mc:Choice xmlns:v="urn:schemas-microsoft-com:vml" Requires="v">
                <p:oleObj spid="_x0000_s100465" name="Equation" r:id="rId9" imgW="152202" imgH="177569" progId="Equation.3">
                  <p:embed/>
                </p:oleObj>
              </mc:Choice>
              <mc:Fallback>
                <p:oleObj name="Equation" r:id="rId9" imgW="152202" imgH="177569" progId="Equation.3">
                  <p:embed/>
                  <p:pic>
                    <p:nvPicPr>
                      <p:cNvPr id="23565"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128" y="1239863"/>
                        <a:ext cx="360363" cy="38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6" name="Object 31"/>
          <p:cNvGraphicFramePr>
            <a:graphicFrameLocks noChangeAspect="1"/>
          </p:cNvGraphicFramePr>
          <p:nvPr>
            <p:extLst>
              <p:ext uri="{D42A27DB-BD31-4B8C-83A1-F6EECF244321}">
                <p14:modId xmlns:p14="http://schemas.microsoft.com/office/powerpoint/2010/main" val="1527799650"/>
              </p:ext>
            </p:extLst>
          </p:nvPr>
        </p:nvGraphicFramePr>
        <p:xfrm>
          <a:off x="5617369" y="340907"/>
          <a:ext cx="958850" cy="411162"/>
        </p:xfrm>
        <a:graphic>
          <a:graphicData uri="http://schemas.openxmlformats.org/presentationml/2006/ole">
            <mc:AlternateContent xmlns:mc="http://schemas.openxmlformats.org/markup-compatibility/2006">
              <mc:Choice xmlns:v="urn:schemas-microsoft-com:vml" Requires="v">
                <p:oleObj spid="_x0000_s100466" name="Equation" r:id="rId11" imgW="457200" imgH="177480" progId="Equation.DSMT4">
                  <p:embed/>
                </p:oleObj>
              </mc:Choice>
              <mc:Fallback>
                <p:oleObj name="Equation" r:id="rId11" imgW="457200" imgH="177480" progId="Equation.DSMT4">
                  <p:embed/>
                  <p:pic>
                    <p:nvPicPr>
                      <p:cNvPr id="23566" name="Object 31"/>
                      <p:cNvPicPr>
                        <a:picLocks noChangeAspect="1" noChangeArrowheads="1"/>
                      </p:cNvPicPr>
                      <p:nvPr/>
                    </p:nvPicPr>
                    <p:blipFill>
                      <a:blip r:embed="rId12"/>
                      <a:srcRect/>
                      <a:stretch>
                        <a:fillRect/>
                      </a:stretch>
                    </p:blipFill>
                    <p:spPr bwMode="auto">
                      <a:xfrm>
                        <a:off x="5617369" y="340907"/>
                        <a:ext cx="95885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7" name="Line 32"/>
          <p:cNvSpPr>
            <a:spLocks noChangeShapeType="1"/>
          </p:cNvSpPr>
          <p:nvPr/>
        </p:nvSpPr>
        <p:spPr bwMode="auto">
          <a:xfrm flipH="1">
            <a:off x="6134100" y="1611313"/>
            <a:ext cx="2006600" cy="1473200"/>
          </a:xfrm>
          <a:prstGeom prst="line">
            <a:avLst/>
          </a:prstGeom>
          <a:noFill/>
          <a:ln w="28575">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68" name="Object 33"/>
          <p:cNvGraphicFramePr>
            <a:graphicFrameLocks noChangeAspect="1"/>
          </p:cNvGraphicFramePr>
          <p:nvPr/>
        </p:nvGraphicFramePr>
        <p:xfrm>
          <a:off x="5753100" y="3084513"/>
          <a:ext cx="361950" cy="457200"/>
        </p:xfrm>
        <a:graphic>
          <a:graphicData uri="http://schemas.openxmlformats.org/presentationml/2006/ole">
            <mc:AlternateContent xmlns:mc="http://schemas.openxmlformats.org/markup-compatibility/2006">
              <mc:Choice xmlns:v="urn:schemas-microsoft-com:vml" Requires="v">
                <p:oleObj spid="_x0000_s100467" name="公式" r:id="rId13" imgW="66735" imgH="104683" progId="Equation.3">
                  <p:embed/>
                </p:oleObj>
              </mc:Choice>
              <mc:Fallback>
                <p:oleObj name="公式" r:id="rId13" imgW="66735" imgH="104683" progId="Equation.3">
                  <p:embed/>
                  <p:pic>
                    <p:nvPicPr>
                      <p:cNvPr id="23568"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53100" y="3084513"/>
                        <a:ext cx="361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9" name="Line 34"/>
          <p:cNvSpPr>
            <a:spLocks noChangeShapeType="1"/>
          </p:cNvSpPr>
          <p:nvPr/>
        </p:nvSpPr>
        <p:spPr bwMode="auto">
          <a:xfrm flipH="1">
            <a:off x="6896100" y="1544737"/>
            <a:ext cx="1226638" cy="91976"/>
          </a:xfrm>
          <a:prstGeom prst="line">
            <a:avLst/>
          </a:prstGeom>
          <a:noFill/>
          <a:ln w="539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0" name="Text Box 35"/>
          <p:cNvSpPr txBox="1">
            <a:spLocks noChangeArrowheads="1"/>
          </p:cNvSpPr>
          <p:nvPr/>
        </p:nvSpPr>
        <p:spPr bwMode="auto">
          <a:xfrm>
            <a:off x="7048500" y="2703513"/>
            <a:ext cx="611188"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CC0000"/>
                </a:solidFill>
                <a:ea typeface="楷体_GB2312"/>
              </a:rPr>
              <a:t>低电势</a:t>
            </a:r>
            <a:endParaRPr lang="zh-CN" altLang="en-US" sz="2800">
              <a:ea typeface="楷体_GB2312"/>
            </a:endParaRPr>
          </a:p>
        </p:txBody>
      </p:sp>
      <p:graphicFrame>
        <p:nvGraphicFramePr>
          <p:cNvPr id="23571" name="Object 36"/>
          <p:cNvGraphicFramePr>
            <a:graphicFrameLocks noChangeAspect="1"/>
          </p:cNvGraphicFramePr>
          <p:nvPr>
            <p:extLst/>
          </p:nvPr>
        </p:nvGraphicFramePr>
        <p:xfrm>
          <a:off x="6478050" y="1160850"/>
          <a:ext cx="533400" cy="474662"/>
        </p:xfrm>
        <a:graphic>
          <a:graphicData uri="http://schemas.openxmlformats.org/presentationml/2006/ole">
            <mc:AlternateContent xmlns:mc="http://schemas.openxmlformats.org/markup-compatibility/2006">
              <mc:Choice xmlns:v="urn:schemas-microsoft-com:vml" Requires="v">
                <p:oleObj spid="_x0000_s100468" name="Equation" r:id="rId15" imgW="114162" imgH="114353" progId="Equation.3">
                  <p:embed/>
                </p:oleObj>
              </mc:Choice>
              <mc:Fallback>
                <p:oleObj name="Equation" r:id="rId15" imgW="114162" imgH="114353" progId="Equation.3">
                  <p:embed/>
                  <p:pic>
                    <p:nvPicPr>
                      <p:cNvPr id="23571" name="Object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78050" y="1160850"/>
                        <a:ext cx="533400"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2" name="Text Box 37"/>
          <p:cNvSpPr txBox="1">
            <a:spLocks noChangeArrowheads="1"/>
          </p:cNvSpPr>
          <p:nvPr/>
        </p:nvSpPr>
        <p:spPr bwMode="auto">
          <a:xfrm>
            <a:off x="8115300" y="2703513"/>
            <a:ext cx="611188"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CC0000"/>
                </a:solidFill>
                <a:ea typeface="楷体_GB2312"/>
              </a:rPr>
              <a:t>高电势</a:t>
            </a:r>
            <a:endParaRPr lang="zh-CN" altLang="en-US" sz="2800">
              <a:ea typeface="楷体_GB2312"/>
            </a:endParaRPr>
          </a:p>
        </p:txBody>
      </p:sp>
      <p:grpSp>
        <p:nvGrpSpPr>
          <p:cNvPr id="134182" name="Group 38"/>
          <p:cNvGrpSpPr>
            <a:grpSpLocks/>
          </p:cNvGrpSpPr>
          <p:nvPr/>
        </p:nvGrpSpPr>
        <p:grpSpPr bwMode="auto">
          <a:xfrm>
            <a:off x="6896100" y="1573213"/>
            <a:ext cx="1295400" cy="977900"/>
            <a:chOff x="4128" y="2024"/>
            <a:chExt cx="816" cy="616"/>
          </a:xfrm>
        </p:grpSpPr>
        <p:graphicFrame>
          <p:nvGraphicFramePr>
            <p:cNvPr id="23584" name="Object 39"/>
            <p:cNvGraphicFramePr>
              <a:graphicFrameLocks noChangeAspect="1"/>
            </p:cNvGraphicFramePr>
            <p:nvPr/>
          </p:nvGraphicFramePr>
          <p:xfrm>
            <a:off x="4560" y="2256"/>
            <a:ext cx="365" cy="384"/>
          </p:xfrm>
          <a:graphic>
            <a:graphicData uri="http://schemas.openxmlformats.org/presentationml/2006/ole">
              <mc:AlternateContent xmlns:mc="http://schemas.openxmlformats.org/markup-compatibility/2006">
                <mc:Choice xmlns:v="urn:schemas-microsoft-com:vml" Requires="v">
                  <p:oleObj spid="_x0000_s100469" name="Equation" r:id="rId17" imgW="133469" imgH="142941" progId="Equation.3">
                    <p:embed/>
                  </p:oleObj>
                </mc:Choice>
                <mc:Fallback>
                  <p:oleObj name="Equation" r:id="rId17" imgW="133469" imgH="142941" progId="Equation.3">
                    <p:embed/>
                    <p:pic>
                      <p:nvPicPr>
                        <p:cNvPr id="23584" name="Object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60" y="2256"/>
                          <a:ext cx="36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85" name="Line 40"/>
            <p:cNvSpPr>
              <a:spLocks noChangeShapeType="1"/>
            </p:cNvSpPr>
            <p:nvPr/>
          </p:nvSpPr>
          <p:spPr bwMode="auto">
            <a:xfrm rot="120000" flipH="1">
              <a:off x="4367" y="2024"/>
              <a:ext cx="577" cy="430"/>
            </a:xfrm>
            <a:prstGeom prst="line">
              <a:avLst/>
            </a:prstGeom>
            <a:noFill/>
            <a:ln w="38100">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86" name="Line 41"/>
            <p:cNvSpPr>
              <a:spLocks noChangeShapeType="1"/>
            </p:cNvSpPr>
            <p:nvPr/>
          </p:nvSpPr>
          <p:spPr bwMode="auto">
            <a:xfrm flipH="1" flipV="1">
              <a:off x="4128" y="2064"/>
              <a:ext cx="269" cy="384"/>
            </a:xfrm>
            <a:prstGeom prst="line">
              <a:avLst/>
            </a:prstGeom>
            <a:noFill/>
            <a:ln w="38100">
              <a:solidFill>
                <a:srgbClr val="0000FF"/>
              </a:solidFill>
              <a:prstDash val="sysDot"/>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3574" name="Line 42"/>
          <p:cNvSpPr>
            <a:spLocks noChangeShapeType="1"/>
          </p:cNvSpPr>
          <p:nvPr/>
        </p:nvSpPr>
        <p:spPr bwMode="auto">
          <a:xfrm flipV="1">
            <a:off x="8115300" y="1179513"/>
            <a:ext cx="630238" cy="457200"/>
          </a:xfrm>
          <a:prstGeom prst="line">
            <a:avLst/>
          </a:prstGeom>
          <a:noFill/>
          <a:ln w="28575">
            <a:solidFill>
              <a:srgbClr val="FF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75" name="Object 43"/>
          <p:cNvGraphicFramePr>
            <a:graphicFrameLocks noChangeAspect="1"/>
          </p:cNvGraphicFramePr>
          <p:nvPr/>
        </p:nvGraphicFramePr>
        <p:xfrm>
          <a:off x="8267700" y="646113"/>
          <a:ext cx="392113" cy="609600"/>
        </p:xfrm>
        <a:graphic>
          <a:graphicData uri="http://schemas.openxmlformats.org/presentationml/2006/ole">
            <mc:AlternateContent xmlns:mc="http://schemas.openxmlformats.org/markup-compatibility/2006">
              <mc:Choice xmlns:v="urn:schemas-microsoft-com:vml" Requires="v">
                <p:oleObj spid="_x0000_s100470" name="公式" r:id="rId19" imgW="76388" imgH="142941" progId="Equation.3">
                  <p:embed/>
                </p:oleObj>
              </mc:Choice>
              <mc:Fallback>
                <p:oleObj name="公式" r:id="rId19" imgW="76388" imgH="142941" progId="Equation.3">
                  <p:embed/>
                  <p:pic>
                    <p:nvPicPr>
                      <p:cNvPr id="23575" name="Object 4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67700" y="646113"/>
                        <a:ext cx="392113"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88" name="Object 44"/>
          <p:cNvGraphicFramePr>
            <a:graphicFrameLocks noChangeAspect="1"/>
          </p:cNvGraphicFramePr>
          <p:nvPr/>
        </p:nvGraphicFramePr>
        <p:xfrm>
          <a:off x="387350" y="788988"/>
          <a:ext cx="1547813" cy="1095375"/>
        </p:xfrm>
        <a:graphic>
          <a:graphicData uri="http://schemas.openxmlformats.org/presentationml/2006/ole">
            <mc:AlternateContent xmlns:mc="http://schemas.openxmlformats.org/markup-compatibility/2006">
              <mc:Choice xmlns:v="urn:schemas-microsoft-com:vml" Requires="v">
                <p:oleObj spid="_x0000_s100471" name="公式" r:id="rId21" imgW="609336" imgH="431613" progId="Equation.3">
                  <p:embed/>
                </p:oleObj>
              </mc:Choice>
              <mc:Fallback>
                <p:oleObj name="公式" r:id="rId21" imgW="609336" imgH="431613" progId="Equation.3">
                  <p:embed/>
                  <p:pic>
                    <p:nvPicPr>
                      <p:cNvPr id="134188" name="Object 4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7350" y="788988"/>
                        <a:ext cx="1547813"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4189" name="Object 45"/>
          <p:cNvGraphicFramePr>
            <a:graphicFrameLocks noChangeAspect="1"/>
          </p:cNvGraphicFramePr>
          <p:nvPr/>
        </p:nvGraphicFramePr>
        <p:xfrm>
          <a:off x="2555875" y="1052513"/>
          <a:ext cx="1385888" cy="579437"/>
        </p:xfrm>
        <a:graphic>
          <a:graphicData uri="http://schemas.openxmlformats.org/presentationml/2006/ole">
            <mc:AlternateContent xmlns:mc="http://schemas.openxmlformats.org/markup-compatibility/2006">
              <mc:Choice xmlns:v="urn:schemas-microsoft-com:vml" Requires="v">
                <p:oleObj spid="_x0000_s100472" name="公式" r:id="rId23" imgW="545863" imgH="228501" progId="Equation.3">
                  <p:embed/>
                </p:oleObj>
              </mc:Choice>
              <mc:Fallback>
                <p:oleObj name="公式" r:id="rId23" imgW="545863" imgH="228501" progId="Equation.3">
                  <p:embed/>
                  <p:pic>
                    <p:nvPicPr>
                      <p:cNvPr id="134189" name="Object 4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55875" y="1052513"/>
                        <a:ext cx="138588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4190" name="Group 46"/>
          <p:cNvGrpSpPr>
            <a:grpSpLocks/>
          </p:cNvGrpSpPr>
          <p:nvPr/>
        </p:nvGrpSpPr>
        <p:grpSpPr bwMode="auto">
          <a:xfrm>
            <a:off x="4319588" y="5084763"/>
            <a:ext cx="5148262" cy="1450975"/>
            <a:chOff x="432" y="2688"/>
            <a:chExt cx="3984" cy="1262"/>
          </a:xfrm>
        </p:grpSpPr>
        <p:sp>
          <p:nvSpPr>
            <p:cNvPr id="23579" name="Text Box 47"/>
            <p:cNvSpPr txBox="1">
              <a:spLocks noChangeArrowheads="1"/>
            </p:cNvSpPr>
            <p:nvPr/>
          </p:nvSpPr>
          <p:spPr bwMode="auto">
            <a:xfrm>
              <a:off x="624" y="3552"/>
              <a:ext cx="3792"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CC0000"/>
                  </a:solidFill>
                  <a:latin typeface="宋体" panose="02010600030101010101" pitchFamily="2" charset="-122"/>
                  <a:ea typeface="楷体_GB2312"/>
                </a:rPr>
                <a:t>方向</a:t>
              </a:r>
              <a:r>
                <a:rPr lang="zh-CN" altLang="en-US" sz="2400">
                  <a:solidFill>
                    <a:srgbClr val="3333FF"/>
                  </a:solidFill>
                  <a:latin typeface="宋体" panose="02010600030101010101" pitchFamily="2" charset="-122"/>
                  <a:ea typeface="楷体_GB2312"/>
                </a:rPr>
                <a:t> </a:t>
              </a:r>
              <a:r>
                <a:rPr lang="zh-CN" altLang="en-US" sz="2400">
                  <a:latin typeface="宋体" panose="02010600030101010101" pitchFamily="2" charset="-122"/>
                  <a:ea typeface="楷体_GB2312"/>
                </a:rPr>
                <a:t>由高电势处指向低电势处</a:t>
              </a:r>
            </a:p>
          </p:txBody>
        </p:sp>
        <p:graphicFrame>
          <p:nvGraphicFramePr>
            <p:cNvPr id="23580" name="Object 48"/>
            <p:cNvGraphicFramePr>
              <a:graphicFrameLocks noChangeAspect="1"/>
            </p:cNvGraphicFramePr>
            <p:nvPr/>
          </p:nvGraphicFramePr>
          <p:xfrm>
            <a:off x="1296" y="2688"/>
            <a:ext cx="1008" cy="748"/>
          </p:xfrm>
          <a:graphic>
            <a:graphicData uri="http://schemas.openxmlformats.org/presentationml/2006/ole">
              <mc:AlternateContent xmlns:mc="http://schemas.openxmlformats.org/markup-compatibility/2006">
                <mc:Choice xmlns:v="urn:schemas-microsoft-com:vml" Requires="v">
                  <p:oleObj spid="_x0000_s100473" name="Equation" r:id="rId25" imgW="609336" imgH="482391" progId="Equation.3">
                    <p:embed/>
                  </p:oleObj>
                </mc:Choice>
                <mc:Fallback>
                  <p:oleObj name="Equation" r:id="rId25" imgW="609336" imgH="482391" progId="Equation.3">
                    <p:embed/>
                    <p:pic>
                      <p:nvPicPr>
                        <p:cNvPr id="23580" name="Object 4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296" y="2688"/>
                          <a:ext cx="1008" cy="7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581" name="Group 49"/>
            <p:cNvGrpSpPr>
              <a:grpSpLocks/>
            </p:cNvGrpSpPr>
            <p:nvPr/>
          </p:nvGrpSpPr>
          <p:grpSpPr bwMode="auto">
            <a:xfrm>
              <a:off x="432" y="2880"/>
              <a:ext cx="960" cy="960"/>
              <a:chOff x="432" y="2880"/>
              <a:chExt cx="960" cy="960"/>
            </a:xfrm>
          </p:grpSpPr>
          <p:sp>
            <p:nvSpPr>
              <p:cNvPr id="23582" name="Text Box 50"/>
              <p:cNvSpPr txBox="1">
                <a:spLocks noChangeArrowheads="1"/>
              </p:cNvSpPr>
              <p:nvPr/>
            </p:nvSpPr>
            <p:spPr bwMode="auto">
              <a:xfrm>
                <a:off x="624" y="2880"/>
                <a:ext cx="768" cy="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CC0000"/>
                    </a:solidFill>
                    <a:latin typeface="宋体" panose="02010600030101010101" pitchFamily="2" charset="-122"/>
                    <a:ea typeface="楷体_GB2312"/>
                  </a:rPr>
                  <a:t>大小</a:t>
                </a:r>
              </a:p>
            </p:txBody>
          </p:sp>
          <p:sp>
            <p:nvSpPr>
              <p:cNvPr id="23583" name="AutoShape 51"/>
              <p:cNvSpPr>
                <a:spLocks/>
              </p:cNvSpPr>
              <p:nvPr/>
            </p:nvSpPr>
            <p:spPr bwMode="auto">
              <a:xfrm>
                <a:off x="432" y="3024"/>
                <a:ext cx="144" cy="816"/>
              </a:xfrm>
              <a:prstGeom prst="leftBrace">
                <a:avLst>
                  <a:gd name="adj1" fmla="val 47222"/>
                  <a:gd name="adj2" fmla="val 50000"/>
                </a:avLst>
              </a:prstGeom>
              <a:noFill/>
              <a:ln w="381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3600">
                  <a:solidFill>
                    <a:srgbClr val="FF3300"/>
                  </a:solidFill>
                  <a:ea typeface="楷体_GB2312"/>
                </a:endParaRPr>
              </a:p>
            </p:txBody>
          </p:sp>
        </p:grpSp>
      </p:grpSp>
      <p:sp>
        <p:nvSpPr>
          <p:cNvPr id="35" name="Line 40">
            <a:extLst>
              <a:ext uri="{FF2B5EF4-FFF2-40B4-BE49-F238E27FC236}">
                <a16:creationId xmlns:a16="http://schemas.microsoft.com/office/drawing/2014/main" id="{48ED9C9B-AD1C-4D7D-BF19-8D6FF6E606EF}"/>
              </a:ext>
            </a:extLst>
          </p:cNvPr>
          <p:cNvSpPr>
            <a:spLocks noChangeShapeType="1"/>
          </p:cNvSpPr>
          <p:nvPr/>
        </p:nvSpPr>
        <p:spPr bwMode="auto">
          <a:xfrm rot="120000" flipH="1">
            <a:off x="6888897" y="1013494"/>
            <a:ext cx="854768" cy="66204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41">
            <a:extLst>
              <a:ext uri="{FF2B5EF4-FFF2-40B4-BE49-F238E27FC236}">
                <a16:creationId xmlns:a16="http://schemas.microsoft.com/office/drawing/2014/main" id="{4CC90FD6-7CFE-45DA-BB86-9B40F73CC2D4}"/>
              </a:ext>
            </a:extLst>
          </p:cNvPr>
          <p:cNvSpPr>
            <a:spLocks noChangeShapeType="1"/>
          </p:cNvSpPr>
          <p:nvPr/>
        </p:nvSpPr>
        <p:spPr bwMode="auto">
          <a:xfrm flipH="1" flipV="1">
            <a:off x="7724682" y="968375"/>
            <a:ext cx="427038" cy="609600"/>
          </a:xfrm>
          <a:prstGeom prst="line">
            <a:avLst/>
          </a:prstGeom>
          <a:noFill/>
          <a:ln w="38100">
            <a:solidFill>
              <a:srgbClr val="0000FF"/>
            </a:solidFill>
            <a:prstDash val="sysDot"/>
            <a:round/>
            <a:headEnd type="none"/>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cxnSp>
        <p:nvCxnSpPr>
          <p:cNvPr id="3" name="直接箭头连接符 2">
            <a:extLst>
              <a:ext uri="{FF2B5EF4-FFF2-40B4-BE49-F238E27FC236}">
                <a16:creationId xmlns:a16="http://schemas.microsoft.com/office/drawing/2014/main" id="{18FFEE01-E54A-4617-AC94-C4B63AA1EF04}"/>
              </a:ext>
            </a:extLst>
          </p:cNvPr>
          <p:cNvCxnSpPr/>
          <p:nvPr/>
        </p:nvCxnSpPr>
        <p:spPr bwMode="auto">
          <a:xfrm>
            <a:off x="10116616" y="2204864"/>
            <a:ext cx="914400" cy="914400"/>
          </a:xfrm>
          <a:prstGeom prst="straightConnector1">
            <a:avLst/>
          </a:prstGeom>
          <a:solidFill>
            <a:srgbClr val="FFFF66"/>
          </a:solidFill>
          <a:ln w="9525"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1874668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wipe(left)">
                                      <p:cBhvr>
                                        <p:cTn id="7" dur="500"/>
                                        <p:tgtEl>
                                          <p:spTgt spid="134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47"/>
                                        </p:tgtEl>
                                        <p:attrNameLst>
                                          <p:attrName>style.visibility</p:attrName>
                                        </p:attrNameLst>
                                      </p:cBhvr>
                                      <p:to>
                                        <p:strVal val="visible"/>
                                      </p:to>
                                    </p:set>
                                    <p:animEffect transition="in" filter="wipe(left)">
                                      <p:cBhvr>
                                        <p:cTn id="12" dur="500"/>
                                        <p:tgtEl>
                                          <p:spTgt spid="1341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4188"/>
                                        </p:tgtEl>
                                        <p:attrNameLst>
                                          <p:attrName>style.visibility</p:attrName>
                                        </p:attrNameLst>
                                      </p:cBhvr>
                                      <p:to>
                                        <p:strVal val="visible"/>
                                      </p:to>
                                    </p:set>
                                    <p:animEffect transition="in" filter="wipe(left)">
                                      <p:cBhvr>
                                        <p:cTn id="17" dur="500"/>
                                        <p:tgtEl>
                                          <p:spTgt spid="1341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4189"/>
                                        </p:tgtEl>
                                        <p:attrNameLst>
                                          <p:attrName>style.visibility</p:attrName>
                                        </p:attrNameLst>
                                      </p:cBhvr>
                                      <p:to>
                                        <p:strVal val="visible"/>
                                      </p:to>
                                    </p:set>
                                    <p:animEffect transition="in" filter="wipe(left)">
                                      <p:cBhvr>
                                        <p:cTn id="22" dur="500"/>
                                        <p:tgtEl>
                                          <p:spTgt spid="1341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4148"/>
                                        </p:tgtEl>
                                        <p:attrNameLst>
                                          <p:attrName>style.visibility</p:attrName>
                                        </p:attrNameLst>
                                      </p:cBhvr>
                                      <p:to>
                                        <p:strVal val="visible"/>
                                      </p:to>
                                    </p:set>
                                    <p:animEffect transition="in" filter="wipe(left)">
                                      <p:cBhvr>
                                        <p:cTn id="27" dur="500"/>
                                        <p:tgtEl>
                                          <p:spTgt spid="1341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4182"/>
                                        </p:tgtEl>
                                        <p:attrNameLst>
                                          <p:attrName>style.visibility</p:attrName>
                                        </p:attrNameLst>
                                      </p:cBhvr>
                                      <p:to>
                                        <p:strVal val="visible"/>
                                      </p:to>
                                    </p:set>
                                    <p:animEffect transition="in" filter="blinds(horizontal)">
                                      <p:cBhvr>
                                        <p:cTn id="32" dur="500"/>
                                        <p:tgtEl>
                                          <p:spTgt spid="1341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4169"/>
                                        </p:tgtEl>
                                        <p:attrNameLst>
                                          <p:attrName>style.visibility</p:attrName>
                                        </p:attrNameLst>
                                      </p:cBhvr>
                                      <p:to>
                                        <p:strVal val="visible"/>
                                      </p:to>
                                    </p:set>
                                    <p:animEffect transition="in" filter="wipe(left)">
                                      <p:cBhvr>
                                        <p:cTn id="37" dur="500"/>
                                        <p:tgtEl>
                                          <p:spTgt spid="13416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4149"/>
                                        </p:tgtEl>
                                        <p:attrNameLst>
                                          <p:attrName>style.visibility</p:attrName>
                                        </p:attrNameLst>
                                      </p:cBhvr>
                                      <p:to>
                                        <p:strVal val="visible"/>
                                      </p:to>
                                    </p:set>
                                    <p:animEffect transition="in" filter="wipe(left)">
                                      <p:cBhvr>
                                        <p:cTn id="42" dur="500"/>
                                        <p:tgtEl>
                                          <p:spTgt spid="1341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34150"/>
                                        </p:tgtEl>
                                        <p:attrNameLst>
                                          <p:attrName>style.visibility</p:attrName>
                                        </p:attrNameLst>
                                      </p:cBhvr>
                                      <p:to>
                                        <p:strVal val="visible"/>
                                      </p:to>
                                    </p:set>
                                    <p:animEffect transition="in" filter="wipe(left)">
                                      <p:cBhvr>
                                        <p:cTn id="47" dur="500"/>
                                        <p:tgtEl>
                                          <p:spTgt spid="13415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4152"/>
                                        </p:tgtEl>
                                        <p:attrNameLst>
                                          <p:attrName>style.visibility</p:attrName>
                                        </p:attrNameLst>
                                      </p:cBhvr>
                                      <p:to>
                                        <p:strVal val="visible"/>
                                      </p:to>
                                    </p:set>
                                    <p:animEffect transition="in" filter="wipe(left)">
                                      <p:cBhvr>
                                        <p:cTn id="52" dur="500"/>
                                        <p:tgtEl>
                                          <p:spTgt spid="13415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34151"/>
                                        </p:tgtEl>
                                        <p:attrNameLst>
                                          <p:attrName>style.visibility</p:attrName>
                                        </p:attrNameLst>
                                      </p:cBhvr>
                                      <p:to>
                                        <p:strVal val="visible"/>
                                      </p:to>
                                    </p:set>
                                    <p:animEffect transition="in" filter="wipe(left)">
                                      <p:cBhvr>
                                        <p:cTn id="57" dur="500"/>
                                        <p:tgtEl>
                                          <p:spTgt spid="13415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134190"/>
                                        </p:tgtEl>
                                        <p:attrNameLst>
                                          <p:attrName>style.visibility</p:attrName>
                                        </p:attrNameLst>
                                      </p:cBhvr>
                                      <p:to>
                                        <p:strVal val="visible"/>
                                      </p:to>
                                    </p:set>
                                    <p:animEffect transition="in" filter="blinds(horizontal)">
                                      <p:cBhvr>
                                        <p:cTn id="62" dur="500"/>
                                        <p:tgtEl>
                                          <p:spTgt spid="134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utoUpdateAnimBg="0"/>
      <p:bldP spid="134147" grpId="0" autoUpdateAnimBg="0"/>
      <p:bldP spid="134148" grpId="0" autoUpdateAnimBg="0"/>
      <p:bldP spid="134152" grpId="0" animBg="1" autoUpdateAnimBg="0"/>
      <p:bldP spid="13416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0034" name="Object 2"/>
          <p:cNvGraphicFramePr>
            <a:graphicFrameLocks noChangeAspect="1"/>
          </p:cNvGraphicFramePr>
          <p:nvPr/>
        </p:nvGraphicFramePr>
        <p:xfrm>
          <a:off x="1155700" y="2208213"/>
          <a:ext cx="6800850" cy="1195387"/>
        </p:xfrm>
        <a:graphic>
          <a:graphicData uri="http://schemas.openxmlformats.org/presentationml/2006/ole">
            <mc:AlternateContent xmlns:mc="http://schemas.openxmlformats.org/markup-compatibility/2006">
              <mc:Choice xmlns:v="urn:schemas-microsoft-com:vml" Requires="v">
                <p:oleObj spid="_x0000_s101396" name="Equation" r:id="rId3" imgW="2362200" imgH="419100" progId="Equation.DSMT4">
                  <p:embed/>
                </p:oleObj>
              </mc:Choice>
              <mc:Fallback>
                <p:oleObj name="Equation" r:id="rId3" imgW="2362200" imgH="419100" progId="Equation.DSMT4">
                  <p:embed/>
                  <p:pic>
                    <p:nvPicPr>
                      <p:cNvPr id="3000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00" y="2208213"/>
                        <a:ext cx="6800850" cy="1195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35" name="Text Box 3"/>
          <p:cNvSpPr txBox="1">
            <a:spLocks noChangeArrowheads="1"/>
          </p:cNvSpPr>
          <p:nvPr/>
        </p:nvSpPr>
        <p:spPr bwMode="auto">
          <a:xfrm>
            <a:off x="604838" y="547688"/>
            <a:ext cx="28908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latin typeface="黑体" panose="02010609060101010101" pitchFamily="49" charset="-122"/>
                <a:ea typeface="黑体" panose="02010609060101010101" pitchFamily="49" charset="-122"/>
              </a:rPr>
              <a:t>3</a:t>
            </a:r>
            <a:r>
              <a:rPr lang="zh-CN" altLang="en-US" sz="2800">
                <a:latin typeface="黑体" panose="02010609060101010101" pitchFamily="49" charset="-122"/>
                <a:ea typeface="黑体" panose="02010609060101010101" pitchFamily="49" charset="-122"/>
              </a:rPr>
              <a:t>、直角坐标系中</a:t>
            </a:r>
          </a:p>
        </p:txBody>
      </p:sp>
      <p:graphicFrame>
        <p:nvGraphicFramePr>
          <p:cNvPr id="300036" name="Object 4"/>
          <p:cNvGraphicFramePr>
            <a:graphicFrameLocks noChangeAspect="1"/>
          </p:cNvGraphicFramePr>
          <p:nvPr/>
        </p:nvGraphicFramePr>
        <p:xfrm>
          <a:off x="1247775" y="1019175"/>
          <a:ext cx="6127750" cy="1163638"/>
        </p:xfrm>
        <a:graphic>
          <a:graphicData uri="http://schemas.openxmlformats.org/presentationml/2006/ole">
            <mc:AlternateContent xmlns:mc="http://schemas.openxmlformats.org/markup-compatibility/2006">
              <mc:Choice xmlns:v="urn:schemas-microsoft-com:vml" Requires="v">
                <p:oleObj spid="_x0000_s101397" name="Equation" r:id="rId5" imgW="2184400" imgH="419100" progId="Equation.DSMT4">
                  <p:embed/>
                </p:oleObj>
              </mc:Choice>
              <mc:Fallback>
                <p:oleObj name="Equation" r:id="rId5" imgW="2184400" imgH="419100" progId="Equation.DSMT4">
                  <p:embed/>
                  <p:pic>
                    <p:nvPicPr>
                      <p:cNvPr id="30003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7775" y="1019175"/>
                        <a:ext cx="6127750" cy="1163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37" name="Text Box 5"/>
          <p:cNvSpPr txBox="1">
            <a:spLocks noChangeArrowheads="1"/>
          </p:cNvSpPr>
          <p:nvPr/>
        </p:nvSpPr>
        <p:spPr bwMode="auto">
          <a:xfrm>
            <a:off x="341313" y="4038600"/>
            <a:ext cx="8551862" cy="19827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lgn="ctr">
                <a:solidFill>
                  <a:srgbClr val="ED392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0"/>
              </a:spcBef>
              <a:buFontTx/>
              <a:buBlip>
                <a:blip r:embed="rId7"/>
              </a:buBlip>
            </a:pPr>
            <a:r>
              <a:rPr lang="en-US" altLang="zh-CN" sz="2800">
                <a:latin typeface="黑体" panose="02010609060101010101" pitchFamily="49" charset="-122"/>
                <a:ea typeface="黑体" panose="02010609060101010101" pitchFamily="49" charset="-122"/>
              </a:rPr>
              <a:t> </a:t>
            </a:r>
            <a:r>
              <a:rPr lang="zh-CN" altLang="en-US" sz="2800">
                <a:latin typeface="黑体" panose="02010609060101010101" pitchFamily="49" charset="-122"/>
                <a:ea typeface="黑体" panose="02010609060101010101" pitchFamily="49" charset="-122"/>
              </a:rPr>
              <a:t>电场强度与电势梯度关系的物理意义</a:t>
            </a:r>
            <a:br>
              <a:rPr lang="zh-CN" altLang="en-US" sz="2800">
                <a:latin typeface="黑体" panose="02010609060101010101" pitchFamily="49" charset="-122"/>
                <a:ea typeface="黑体" panose="02010609060101010101" pitchFamily="49" charset="-122"/>
              </a:rPr>
            </a:br>
            <a:r>
              <a:rPr lang="zh-CN" altLang="en-US" sz="2800">
                <a:latin typeface="黑体" panose="02010609060101010101" pitchFamily="49" charset="-122"/>
                <a:ea typeface="黑体" panose="02010609060101010101" pitchFamily="49" charset="-122"/>
              </a:rPr>
              <a:t> ① 空间某点</a:t>
            </a:r>
            <a:r>
              <a:rPr lang="zh-CN" altLang="en-US" sz="2800">
                <a:latin typeface="宋体" panose="02010600030101010101" pitchFamily="2" charset="-122"/>
                <a:ea typeface="黑体" panose="02010609060101010101" pitchFamily="49" charset="-122"/>
              </a:rPr>
              <a:t>电场强度</a:t>
            </a:r>
            <a:r>
              <a:rPr lang="zh-CN" altLang="en-US" sz="2800">
                <a:latin typeface="黑体" panose="02010609060101010101" pitchFamily="49" charset="-122"/>
                <a:ea typeface="黑体" panose="02010609060101010101" pitchFamily="49" charset="-122"/>
              </a:rPr>
              <a:t>的大小取决于该点附近内</a:t>
            </a:r>
            <a:br>
              <a:rPr lang="zh-CN" altLang="en-US" sz="2800">
                <a:latin typeface="黑体" panose="02010609060101010101" pitchFamily="49" charset="-122"/>
                <a:ea typeface="黑体" panose="02010609060101010101" pitchFamily="49" charset="-122"/>
              </a:rPr>
            </a:br>
            <a:r>
              <a:rPr lang="zh-CN" altLang="en-US" sz="2800">
                <a:latin typeface="黑体" panose="02010609060101010101" pitchFamily="49" charset="-122"/>
                <a:ea typeface="黑体" panose="02010609060101010101" pitchFamily="49" charset="-122"/>
              </a:rPr>
              <a:t>  电势</a:t>
            </a:r>
            <a:r>
              <a:rPr lang="en-US" altLang="zh-CN" sz="2800">
                <a:latin typeface="黑体" panose="02010609060101010101" pitchFamily="49" charset="-122"/>
                <a:ea typeface="黑体" panose="02010609060101010101" pitchFamily="49" charset="-122"/>
              </a:rPr>
              <a:t>V</a:t>
            </a:r>
            <a:r>
              <a:rPr lang="zh-CN" altLang="en-US" sz="2800">
                <a:latin typeface="黑体" panose="02010609060101010101" pitchFamily="49" charset="-122"/>
                <a:ea typeface="黑体" panose="02010609060101010101" pitchFamily="49" charset="-122"/>
              </a:rPr>
              <a:t>的空间变化率。</a:t>
            </a:r>
          </a:p>
          <a:p>
            <a:pPr eaLnBrk="1" hangingPunct="1">
              <a:lnSpc>
                <a:spcPct val="115000"/>
              </a:lnSpc>
              <a:spcBef>
                <a:spcPct val="0"/>
              </a:spcBef>
              <a:buFontTx/>
              <a:buNone/>
            </a:pPr>
            <a:r>
              <a:rPr lang="zh-CN" altLang="en-US" sz="2800">
                <a:latin typeface="黑体" panose="02010609060101010101" pitchFamily="49" charset="-122"/>
                <a:ea typeface="黑体" panose="02010609060101010101" pitchFamily="49" charset="-122"/>
              </a:rPr>
              <a:t> ② 电场强度的方向恒指向电势降落的方向。</a:t>
            </a:r>
          </a:p>
        </p:txBody>
      </p:sp>
      <p:sp>
        <p:nvSpPr>
          <p:cNvPr id="300039" name="Text Box 7"/>
          <p:cNvSpPr txBox="1">
            <a:spLocks noChangeArrowheads="1"/>
          </p:cNvSpPr>
          <p:nvPr/>
        </p:nvSpPr>
        <p:spPr bwMode="auto">
          <a:xfrm>
            <a:off x="0" y="6307138"/>
            <a:ext cx="91440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chemeClr val="bg1"/>
                </a:solidFill>
                <a:ea typeface="楷体_GB2312"/>
              </a:rPr>
              <a:t>静电场中某点处的电场强度等于该点的电势梯度的负值。</a:t>
            </a:r>
          </a:p>
        </p:txBody>
      </p:sp>
    </p:spTree>
    <p:extLst>
      <p:ext uri="{BB962C8B-B14F-4D97-AF65-F5344CB8AC3E}">
        <p14:creationId xmlns:p14="http://schemas.microsoft.com/office/powerpoint/2010/main" val="160331235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0035"/>
                                        </p:tgtEl>
                                        <p:attrNameLst>
                                          <p:attrName>style.visibility</p:attrName>
                                        </p:attrNameLst>
                                      </p:cBhvr>
                                      <p:to>
                                        <p:strVal val="visible"/>
                                      </p:to>
                                    </p:set>
                                    <p:anim calcmode="lin" valueType="num">
                                      <p:cBhvr additive="base">
                                        <p:cTn id="7" dur="500" fill="hold"/>
                                        <p:tgtEl>
                                          <p:spTgt spid="300035"/>
                                        </p:tgtEl>
                                        <p:attrNameLst>
                                          <p:attrName>ppt_x</p:attrName>
                                        </p:attrNameLst>
                                      </p:cBhvr>
                                      <p:tavLst>
                                        <p:tav tm="0">
                                          <p:val>
                                            <p:strVal val="0-#ppt_w/2"/>
                                          </p:val>
                                        </p:tav>
                                        <p:tav tm="100000">
                                          <p:val>
                                            <p:strVal val="#ppt_x"/>
                                          </p:val>
                                        </p:tav>
                                      </p:tavLst>
                                    </p:anim>
                                    <p:anim calcmode="lin" valueType="num">
                                      <p:cBhvr additive="base">
                                        <p:cTn id="8" dur="500" fill="hold"/>
                                        <p:tgtEl>
                                          <p:spTgt spid="3000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0036"/>
                                        </p:tgtEl>
                                        <p:attrNameLst>
                                          <p:attrName>style.visibility</p:attrName>
                                        </p:attrNameLst>
                                      </p:cBhvr>
                                      <p:to>
                                        <p:strVal val="visible"/>
                                      </p:to>
                                    </p:set>
                                    <p:anim calcmode="lin" valueType="num">
                                      <p:cBhvr additive="base">
                                        <p:cTn id="13" dur="500" fill="hold"/>
                                        <p:tgtEl>
                                          <p:spTgt spid="300036"/>
                                        </p:tgtEl>
                                        <p:attrNameLst>
                                          <p:attrName>ppt_x</p:attrName>
                                        </p:attrNameLst>
                                      </p:cBhvr>
                                      <p:tavLst>
                                        <p:tav tm="0">
                                          <p:val>
                                            <p:strVal val="0-#ppt_w/2"/>
                                          </p:val>
                                        </p:tav>
                                        <p:tav tm="100000">
                                          <p:val>
                                            <p:strVal val="#ppt_x"/>
                                          </p:val>
                                        </p:tav>
                                      </p:tavLst>
                                    </p:anim>
                                    <p:anim calcmode="lin" valueType="num">
                                      <p:cBhvr additive="base">
                                        <p:cTn id="14" dur="500" fill="hold"/>
                                        <p:tgtEl>
                                          <p:spTgt spid="3000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00034"/>
                                        </p:tgtEl>
                                        <p:attrNameLst>
                                          <p:attrName>style.visibility</p:attrName>
                                        </p:attrNameLst>
                                      </p:cBhvr>
                                      <p:to>
                                        <p:strVal val="visible"/>
                                      </p:to>
                                    </p:set>
                                    <p:anim calcmode="lin" valueType="num">
                                      <p:cBhvr additive="base">
                                        <p:cTn id="19" dur="500" fill="hold"/>
                                        <p:tgtEl>
                                          <p:spTgt spid="300034"/>
                                        </p:tgtEl>
                                        <p:attrNameLst>
                                          <p:attrName>ppt_x</p:attrName>
                                        </p:attrNameLst>
                                      </p:cBhvr>
                                      <p:tavLst>
                                        <p:tav tm="0">
                                          <p:val>
                                            <p:strVal val="0-#ppt_w/2"/>
                                          </p:val>
                                        </p:tav>
                                        <p:tav tm="100000">
                                          <p:val>
                                            <p:strVal val="#ppt_x"/>
                                          </p:val>
                                        </p:tav>
                                      </p:tavLst>
                                    </p:anim>
                                    <p:anim calcmode="lin" valueType="num">
                                      <p:cBhvr additive="base">
                                        <p:cTn id="20" dur="500" fill="hold"/>
                                        <p:tgtEl>
                                          <p:spTgt spid="30003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0037"/>
                                        </p:tgtEl>
                                        <p:attrNameLst>
                                          <p:attrName>style.visibility</p:attrName>
                                        </p:attrNameLst>
                                      </p:cBhvr>
                                      <p:to>
                                        <p:strVal val="visible"/>
                                      </p:to>
                                    </p:set>
                                    <p:anim calcmode="lin" valueType="num">
                                      <p:cBhvr additive="base">
                                        <p:cTn id="25" dur="500" fill="hold"/>
                                        <p:tgtEl>
                                          <p:spTgt spid="300037"/>
                                        </p:tgtEl>
                                        <p:attrNameLst>
                                          <p:attrName>ppt_x</p:attrName>
                                        </p:attrNameLst>
                                      </p:cBhvr>
                                      <p:tavLst>
                                        <p:tav tm="0">
                                          <p:val>
                                            <p:strVal val="0-#ppt_w/2"/>
                                          </p:val>
                                        </p:tav>
                                        <p:tav tm="100000">
                                          <p:val>
                                            <p:strVal val="#ppt_x"/>
                                          </p:val>
                                        </p:tav>
                                      </p:tavLst>
                                    </p:anim>
                                    <p:anim calcmode="lin" valueType="num">
                                      <p:cBhvr additive="base">
                                        <p:cTn id="26" dur="500" fill="hold"/>
                                        <p:tgtEl>
                                          <p:spTgt spid="30003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0039"/>
                                        </p:tgtEl>
                                        <p:attrNameLst>
                                          <p:attrName>style.visibility</p:attrName>
                                        </p:attrNameLst>
                                      </p:cBhvr>
                                      <p:to>
                                        <p:strVal val="visible"/>
                                      </p:to>
                                    </p:set>
                                    <p:anim calcmode="lin" valueType="num">
                                      <p:cBhvr additive="base">
                                        <p:cTn id="31" dur="500" fill="hold"/>
                                        <p:tgtEl>
                                          <p:spTgt spid="300039"/>
                                        </p:tgtEl>
                                        <p:attrNameLst>
                                          <p:attrName>ppt_x</p:attrName>
                                        </p:attrNameLst>
                                      </p:cBhvr>
                                      <p:tavLst>
                                        <p:tav tm="0">
                                          <p:val>
                                            <p:strVal val="0-#ppt_w/2"/>
                                          </p:val>
                                        </p:tav>
                                        <p:tav tm="100000">
                                          <p:val>
                                            <p:strVal val="#ppt_x"/>
                                          </p:val>
                                        </p:tav>
                                      </p:tavLst>
                                    </p:anim>
                                    <p:anim calcmode="lin" valueType="num">
                                      <p:cBhvr additive="base">
                                        <p:cTn id="32" dur="500" fill="hold"/>
                                        <p:tgtEl>
                                          <p:spTgt spid="3000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autoUpdateAnimBg="0"/>
      <p:bldP spid="300037" grpId="0" autoUpdateAnimBg="0"/>
      <p:bldP spid="30003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2" name="Group 2"/>
          <p:cNvGrpSpPr>
            <a:grpSpLocks/>
          </p:cNvGrpSpPr>
          <p:nvPr/>
        </p:nvGrpSpPr>
        <p:grpSpPr bwMode="auto">
          <a:xfrm>
            <a:off x="250825" y="44450"/>
            <a:ext cx="8301038" cy="3167063"/>
            <a:chOff x="373" y="345"/>
            <a:chExt cx="5229" cy="1995"/>
          </a:xfrm>
        </p:grpSpPr>
        <p:sp>
          <p:nvSpPr>
            <p:cNvPr id="25605" name="AutoShape 3"/>
            <p:cNvSpPr>
              <a:spLocks noChangeArrowheads="1"/>
            </p:cNvSpPr>
            <p:nvPr/>
          </p:nvSpPr>
          <p:spPr bwMode="auto">
            <a:xfrm>
              <a:off x="373" y="345"/>
              <a:ext cx="599" cy="362"/>
            </a:xfrm>
            <a:prstGeom prst="bracketPair">
              <a:avLst>
                <a:gd name="adj" fmla="val 16667"/>
              </a:avLst>
            </a:prstGeom>
            <a:solidFill>
              <a:srgbClr val="CCFFFF"/>
            </a:solidFill>
            <a:ln w="9525">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sz="2800">
                  <a:solidFill>
                    <a:srgbClr val="CC0000"/>
                  </a:solidFill>
                  <a:latin typeface="黑体" panose="02010609060101010101" pitchFamily="49" charset="-122"/>
                  <a:ea typeface="黑体" panose="02010609060101010101" pitchFamily="49" charset="-122"/>
                </a:rPr>
                <a:t>讨论</a:t>
              </a:r>
            </a:p>
          </p:txBody>
        </p:sp>
        <p:sp>
          <p:nvSpPr>
            <p:cNvPr id="32774" name="Text Box 4"/>
            <p:cNvSpPr txBox="1">
              <a:spLocks noChangeArrowheads="1"/>
            </p:cNvSpPr>
            <p:nvPr/>
          </p:nvSpPr>
          <p:spPr bwMode="auto">
            <a:xfrm>
              <a:off x="373" y="789"/>
              <a:ext cx="5229" cy="1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b="1">
                  <a:solidFill>
                    <a:srgbClr val="FF3300"/>
                  </a:solidFill>
                  <a:latin typeface="Times New Roman" pitchFamily="18" charset="0"/>
                  <a:ea typeface="楷体_GB2312" pitchFamily="49" charset="-122"/>
                </a:defRPr>
              </a:lvl1pPr>
              <a:lvl2pPr marL="742950" indent="-285750" eaLnBrk="0" hangingPunct="0">
                <a:defRPr kumimoji="1" sz="3600" b="1">
                  <a:solidFill>
                    <a:srgbClr val="FF3300"/>
                  </a:solidFill>
                  <a:latin typeface="Times New Roman" pitchFamily="18" charset="0"/>
                  <a:ea typeface="楷体_GB2312" pitchFamily="49" charset="-122"/>
                </a:defRPr>
              </a:lvl2pPr>
              <a:lvl3pPr marL="1143000" indent="-228600" eaLnBrk="0" hangingPunct="0">
                <a:defRPr kumimoji="1" sz="3600" b="1">
                  <a:solidFill>
                    <a:srgbClr val="FF3300"/>
                  </a:solidFill>
                  <a:latin typeface="Times New Roman" pitchFamily="18" charset="0"/>
                  <a:ea typeface="楷体_GB2312" pitchFamily="49" charset="-122"/>
                </a:defRPr>
              </a:lvl3pPr>
              <a:lvl4pPr marL="1600200" indent="-228600" eaLnBrk="0" hangingPunct="0">
                <a:defRPr kumimoji="1" sz="3600" b="1">
                  <a:solidFill>
                    <a:srgbClr val="FF3300"/>
                  </a:solidFill>
                  <a:latin typeface="Times New Roman" pitchFamily="18" charset="0"/>
                  <a:ea typeface="楷体_GB2312" pitchFamily="49" charset="-122"/>
                </a:defRPr>
              </a:lvl4pPr>
              <a:lvl5pPr marL="2057400" indent="-228600" eaLnBrk="0" hangingPunct="0">
                <a:defRPr kumimoji="1" sz="3600" b="1">
                  <a:solidFill>
                    <a:srgbClr val="FF3300"/>
                  </a:solidFill>
                  <a:latin typeface="Times New Roman" pitchFamily="18" charset="0"/>
                  <a:ea typeface="楷体_GB2312" pitchFamily="49" charset="-122"/>
                </a:defRPr>
              </a:lvl5pPr>
              <a:lvl6pPr marL="2514600" indent="-228600" eaLnBrk="0" fontAlgn="base" hangingPunct="0">
                <a:spcBef>
                  <a:spcPct val="20000"/>
                </a:spcBef>
                <a:spcAft>
                  <a:spcPct val="0"/>
                </a:spcAft>
                <a:defRPr kumimoji="1" sz="3600" b="1">
                  <a:solidFill>
                    <a:srgbClr val="FF3300"/>
                  </a:solidFill>
                  <a:latin typeface="Times New Roman" pitchFamily="18" charset="0"/>
                  <a:ea typeface="楷体_GB2312" pitchFamily="49" charset="-122"/>
                </a:defRPr>
              </a:lvl6pPr>
              <a:lvl7pPr marL="2971800" indent="-228600" eaLnBrk="0" fontAlgn="base" hangingPunct="0">
                <a:spcBef>
                  <a:spcPct val="20000"/>
                </a:spcBef>
                <a:spcAft>
                  <a:spcPct val="0"/>
                </a:spcAft>
                <a:defRPr kumimoji="1" sz="3600" b="1">
                  <a:solidFill>
                    <a:srgbClr val="FF3300"/>
                  </a:solidFill>
                  <a:latin typeface="Times New Roman" pitchFamily="18" charset="0"/>
                  <a:ea typeface="楷体_GB2312" pitchFamily="49" charset="-122"/>
                </a:defRPr>
              </a:lvl7pPr>
              <a:lvl8pPr marL="3429000" indent="-228600" eaLnBrk="0" fontAlgn="base" hangingPunct="0">
                <a:spcBef>
                  <a:spcPct val="20000"/>
                </a:spcBef>
                <a:spcAft>
                  <a:spcPct val="0"/>
                </a:spcAft>
                <a:defRPr kumimoji="1" sz="3600" b="1">
                  <a:solidFill>
                    <a:srgbClr val="FF3300"/>
                  </a:solidFill>
                  <a:latin typeface="Times New Roman" pitchFamily="18" charset="0"/>
                  <a:ea typeface="楷体_GB2312" pitchFamily="49" charset="-122"/>
                </a:defRPr>
              </a:lvl8pPr>
              <a:lvl9pPr marL="3886200" indent="-228600" eaLnBrk="0" fontAlgn="base" hangingPunct="0">
                <a:spcBef>
                  <a:spcPct val="20000"/>
                </a:spcBef>
                <a:spcAft>
                  <a:spcPct val="0"/>
                </a:spcAft>
                <a:defRPr kumimoji="1" sz="3600" b="1">
                  <a:solidFill>
                    <a:srgbClr val="FF3300"/>
                  </a:solidFill>
                  <a:latin typeface="Times New Roman" pitchFamily="18" charset="0"/>
                  <a:ea typeface="楷体_GB2312" pitchFamily="49" charset="-122"/>
                </a:defRPr>
              </a:lvl9pPr>
            </a:lstStyle>
            <a:p>
              <a:pPr eaLnBrk="1" hangingPunct="1">
                <a:spcBef>
                  <a:spcPct val="50000"/>
                </a:spcBef>
                <a:defRPr/>
              </a:pPr>
              <a:r>
                <a:rPr lang="en-US" altLang="zh-CN" sz="2800" dirty="0">
                  <a:solidFill>
                    <a:schemeClr val="tx1"/>
                  </a:solidFill>
                  <a:latin typeface="黑体" pitchFamily="49" charset="-122"/>
                  <a:ea typeface="黑体" pitchFamily="49" charset="-122"/>
                  <a:cs typeface="+mn-cs"/>
                </a:rPr>
                <a:t>⑴ </a:t>
              </a:r>
              <a:r>
                <a:rPr lang="zh-CN" altLang="en-US" sz="2800" dirty="0">
                  <a:solidFill>
                    <a:schemeClr val="tx1"/>
                  </a:solidFill>
                  <a:latin typeface="黑体" pitchFamily="49" charset="-122"/>
                  <a:ea typeface="黑体" pitchFamily="49" charset="-122"/>
                  <a:cs typeface="+mn-cs"/>
                </a:rPr>
                <a:t>电场弱的地方电势低；电场强的地方电势高吗？</a:t>
              </a:r>
            </a:p>
            <a:p>
              <a:pPr eaLnBrk="1" hangingPunct="1">
                <a:spcBef>
                  <a:spcPct val="50000"/>
                </a:spcBef>
                <a:defRPr/>
              </a:pPr>
              <a:r>
                <a:rPr lang="zh-CN" altLang="en-US" sz="2800" dirty="0">
                  <a:solidFill>
                    <a:schemeClr val="tx1"/>
                  </a:solidFill>
                  <a:latin typeface="黑体" pitchFamily="49" charset="-122"/>
                  <a:ea typeface="黑体" pitchFamily="49" charset="-122"/>
                  <a:cs typeface="+mn-cs"/>
                </a:rPr>
                <a:t>⑵ </a:t>
              </a:r>
              <a:r>
                <a:rPr lang="en-US" altLang="zh-CN" sz="2800" i="1" dirty="0">
                  <a:solidFill>
                    <a:schemeClr val="tx1"/>
                  </a:solidFill>
                  <a:latin typeface="黑体" pitchFamily="49" charset="-122"/>
                  <a:ea typeface="黑体" pitchFamily="49" charset="-122"/>
                  <a:cs typeface="+mn-cs"/>
                </a:rPr>
                <a:t>V</a:t>
              </a:r>
              <a:r>
                <a:rPr lang="en-US" altLang="zh-CN" sz="2800" dirty="0">
                  <a:solidFill>
                    <a:schemeClr val="tx1"/>
                  </a:solidFill>
                  <a:latin typeface="黑体" pitchFamily="49" charset="-122"/>
                  <a:ea typeface="黑体" pitchFamily="49" charset="-122"/>
                  <a:cs typeface="+mn-cs"/>
                </a:rPr>
                <a:t>=0</a:t>
              </a:r>
              <a:r>
                <a:rPr lang="zh-CN" altLang="en-US" sz="2800" dirty="0">
                  <a:solidFill>
                    <a:schemeClr val="tx1"/>
                  </a:solidFill>
                  <a:latin typeface="黑体" pitchFamily="49" charset="-122"/>
                  <a:ea typeface="黑体" pitchFamily="49" charset="-122"/>
                  <a:cs typeface="+mn-cs"/>
                </a:rPr>
                <a:t>地方，       吗？</a:t>
              </a:r>
            </a:p>
            <a:p>
              <a:pPr eaLnBrk="1" hangingPunct="1">
                <a:spcBef>
                  <a:spcPct val="50000"/>
                </a:spcBef>
                <a:defRPr/>
              </a:pPr>
              <a:r>
                <a:rPr lang="zh-CN" altLang="en-US" sz="2800" dirty="0">
                  <a:solidFill>
                    <a:schemeClr val="tx1"/>
                  </a:solidFill>
                  <a:latin typeface="黑体" pitchFamily="49" charset="-122"/>
                  <a:ea typeface="黑体" pitchFamily="49" charset="-122"/>
                  <a:cs typeface="+mn-cs"/>
                </a:rPr>
                <a:t>⑶   相等的地方，</a:t>
              </a:r>
              <a:r>
                <a:rPr lang="en-US" altLang="zh-CN" sz="2800" i="1" dirty="0">
                  <a:solidFill>
                    <a:schemeClr val="tx1"/>
                  </a:solidFill>
                  <a:latin typeface="+mj-lt"/>
                  <a:ea typeface="黑体" pitchFamily="49" charset="-122"/>
                  <a:cs typeface="+mn-cs"/>
                </a:rPr>
                <a:t>V</a:t>
              </a:r>
              <a:r>
                <a:rPr lang="zh-CN" altLang="en-US" sz="2800" dirty="0">
                  <a:solidFill>
                    <a:schemeClr val="tx1"/>
                  </a:solidFill>
                  <a:latin typeface="黑体" pitchFamily="49" charset="-122"/>
                  <a:ea typeface="黑体" pitchFamily="49" charset="-122"/>
                  <a:cs typeface="+mn-cs"/>
                </a:rPr>
                <a:t>一定相等吗？等势面上  一定</a:t>
              </a:r>
            </a:p>
            <a:p>
              <a:pPr eaLnBrk="1" hangingPunct="1">
                <a:spcBef>
                  <a:spcPct val="50000"/>
                </a:spcBef>
                <a:defRPr/>
              </a:pPr>
              <a:r>
                <a:rPr lang="zh-CN" altLang="en-US" sz="2800" dirty="0">
                  <a:solidFill>
                    <a:schemeClr val="tx1"/>
                  </a:solidFill>
                  <a:latin typeface="黑体" pitchFamily="49" charset="-122"/>
                  <a:ea typeface="黑体" pitchFamily="49" charset="-122"/>
                  <a:cs typeface="+mn-cs"/>
                </a:rPr>
                <a:t> 相等吗？</a:t>
              </a:r>
            </a:p>
          </p:txBody>
        </p:sp>
        <p:graphicFrame>
          <p:nvGraphicFramePr>
            <p:cNvPr id="25607" name="Object 5"/>
            <p:cNvGraphicFramePr>
              <a:graphicFrameLocks noChangeAspect="1"/>
            </p:cNvGraphicFramePr>
            <p:nvPr/>
          </p:nvGraphicFramePr>
          <p:xfrm>
            <a:off x="1780" y="1173"/>
            <a:ext cx="621" cy="351"/>
          </p:xfrm>
          <a:graphic>
            <a:graphicData uri="http://schemas.openxmlformats.org/presentationml/2006/ole">
              <mc:AlternateContent xmlns:mc="http://schemas.openxmlformats.org/markup-compatibility/2006">
                <mc:Choice xmlns:v="urn:schemas-microsoft-com:vml" Requires="v">
                  <p:oleObj spid="_x0000_s102426" name="Equation" r:id="rId3" imgW="380835" imgH="215806" progId="Equation.DSMT4">
                    <p:embed/>
                  </p:oleObj>
                </mc:Choice>
                <mc:Fallback>
                  <p:oleObj name="Equation" r:id="rId3" imgW="380835" imgH="215806" progId="Equation.DSMT4">
                    <p:embed/>
                    <p:pic>
                      <p:nvPicPr>
                        <p:cNvPr id="2560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0" y="1173"/>
                          <a:ext cx="621"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8" name="Object 6"/>
            <p:cNvGraphicFramePr>
              <a:graphicFrameLocks noChangeAspect="1"/>
            </p:cNvGraphicFramePr>
            <p:nvPr/>
          </p:nvGraphicFramePr>
          <p:xfrm>
            <a:off x="749" y="1550"/>
            <a:ext cx="271" cy="360"/>
          </p:xfrm>
          <a:graphic>
            <a:graphicData uri="http://schemas.openxmlformats.org/presentationml/2006/ole">
              <mc:AlternateContent xmlns:mc="http://schemas.openxmlformats.org/markup-compatibility/2006">
                <mc:Choice xmlns:v="urn:schemas-microsoft-com:vml" Requires="v">
                  <p:oleObj spid="_x0000_s102427" name="Equation" r:id="rId5" imgW="152268" imgH="203024" progId="Equation.DSMT4">
                    <p:embed/>
                  </p:oleObj>
                </mc:Choice>
                <mc:Fallback>
                  <p:oleObj name="Equation" r:id="rId5" imgW="152268" imgH="203024" progId="Equation.DSMT4">
                    <p:embed/>
                    <p:pic>
                      <p:nvPicPr>
                        <p:cNvPr id="2560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9" y="1550"/>
                          <a:ext cx="271"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09" name="Object 7"/>
            <p:cNvGraphicFramePr>
              <a:graphicFrameLocks noChangeAspect="1"/>
            </p:cNvGraphicFramePr>
            <p:nvPr/>
          </p:nvGraphicFramePr>
          <p:xfrm>
            <a:off x="4717" y="1534"/>
            <a:ext cx="271" cy="360"/>
          </p:xfrm>
          <a:graphic>
            <a:graphicData uri="http://schemas.openxmlformats.org/presentationml/2006/ole">
              <mc:AlternateContent xmlns:mc="http://schemas.openxmlformats.org/markup-compatibility/2006">
                <mc:Choice xmlns:v="urn:schemas-microsoft-com:vml" Requires="v">
                  <p:oleObj spid="_x0000_s102428" name="Equation" r:id="rId7" imgW="152268" imgH="203024" progId="Equation.DSMT4">
                    <p:embed/>
                  </p:oleObj>
                </mc:Choice>
                <mc:Fallback>
                  <p:oleObj name="Equation" r:id="rId7" imgW="152268" imgH="203024" progId="Equation.DSMT4">
                    <p:embed/>
                    <p:pic>
                      <p:nvPicPr>
                        <p:cNvPr id="25609"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7" y="1534"/>
                          <a:ext cx="271"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01064" name="Text Box 8"/>
          <p:cNvSpPr txBox="1">
            <a:spLocks noChangeArrowheads="1"/>
          </p:cNvSpPr>
          <p:nvPr/>
        </p:nvSpPr>
        <p:spPr bwMode="auto">
          <a:xfrm>
            <a:off x="0" y="3184525"/>
            <a:ext cx="1958975" cy="7016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4000">
                <a:solidFill>
                  <a:schemeClr val="bg1"/>
                </a:solidFill>
                <a:ea typeface="楷体_GB2312"/>
              </a:rPr>
              <a:t>3</a:t>
            </a:r>
            <a:r>
              <a:rPr lang="zh-CN" altLang="en-US" sz="4000">
                <a:solidFill>
                  <a:schemeClr val="bg1"/>
                </a:solidFill>
                <a:ea typeface="楷体_GB2312"/>
              </a:rPr>
              <a:t>、应用</a:t>
            </a:r>
            <a:endParaRPr lang="zh-CN" altLang="en-US" sz="4000" b="0">
              <a:solidFill>
                <a:schemeClr val="bg1"/>
              </a:solidFill>
              <a:ea typeface="楷体_GB2312"/>
            </a:endParaRPr>
          </a:p>
        </p:txBody>
      </p:sp>
      <p:sp>
        <p:nvSpPr>
          <p:cNvPr id="301065" name="Text Box 9"/>
          <p:cNvSpPr txBox="1">
            <a:spLocks noChangeArrowheads="1"/>
          </p:cNvSpPr>
          <p:nvPr/>
        </p:nvSpPr>
        <p:spPr bwMode="auto">
          <a:xfrm>
            <a:off x="107950" y="3903663"/>
            <a:ext cx="8999538" cy="2838450"/>
          </a:xfrm>
          <a:prstGeom prst="rect">
            <a:avLst/>
          </a:prstGeom>
          <a:solidFill>
            <a:srgbClr val="FFFF66"/>
          </a:solidFill>
          <a:ln w="31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000">
                <a:ea typeface="楷体_GB2312"/>
              </a:rPr>
              <a:t>        </a:t>
            </a:r>
            <a:r>
              <a:rPr lang="zh-CN" altLang="en-US" sz="3000">
                <a:ea typeface="楷体_GB2312"/>
              </a:rPr>
              <a:t>电势是</a:t>
            </a:r>
            <a:r>
              <a:rPr lang="zh-CN" altLang="en-US" sz="3000">
                <a:solidFill>
                  <a:schemeClr val="folHlink"/>
                </a:solidFill>
                <a:ea typeface="楷体_GB2312"/>
              </a:rPr>
              <a:t>标量</a:t>
            </a:r>
            <a:r>
              <a:rPr lang="zh-CN" altLang="en-US" sz="3000">
                <a:ea typeface="楷体_GB2312"/>
              </a:rPr>
              <a:t>，容易计算。可以先计算电势，然后利用场强与电势的微分关系计算电场强度，这样做的好处是可以避免直接用场强叠加原理计算电场强度的矢量运算的麻烦。</a:t>
            </a:r>
          </a:p>
          <a:p>
            <a:pPr eaLnBrk="1" hangingPunct="1">
              <a:spcBef>
                <a:spcPct val="0"/>
              </a:spcBef>
              <a:buFontTx/>
              <a:buNone/>
            </a:pPr>
            <a:r>
              <a:rPr lang="zh-CN" altLang="en-US" sz="3000">
                <a:solidFill>
                  <a:srgbClr val="FF3300"/>
                </a:solidFill>
                <a:ea typeface="楷体_GB2312"/>
              </a:rPr>
              <a:t> </a:t>
            </a:r>
            <a:r>
              <a:rPr lang="zh-CN" altLang="en-US" sz="3000">
                <a:solidFill>
                  <a:srgbClr val="FF0000"/>
                </a:solidFill>
                <a:ea typeface="楷体_GB2312"/>
              </a:rPr>
              <a:t>注意</a:t>
            </a:r>
            <a:r>
              <a:rPr lang="zh-CN" altLang="en-US" sz="3000">
                <a:ea typeface="楷体_GB2312"/>
              </a:rPr>
              <a:t>： 电场中某点的场强决定于电势在该点的空间变化率，而与该点电势值本身无直接关系。</a:t>
            </a:r>
          </a:p>
        </p:txBody>
      </p:sp>
    </p:spTree>
    <p:extLst>
      <p:ext uri="{BB962C8B-B14F-4D97-AF65-F5344CB8AC3E}">
        <p14:creationId xmlns:p14="http://schemas.microsoft.com/office/powerpoint/2010/main" val="73816565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1064"/>
                                        </p:tgtEl>
                                        <p:attrNameLst>
                                          <p:attrName>style.visibility</p:attrName>
                                        </p:attrNameLst>
                                      </p:cBhvr>
                                      <p:to>
                                        <p:strVal val="visible"/>
                                      </p:to>
                                    </p:set>
                                    <p:animEffect transition="in" filter="wipe(left)">
                                      <p:cBhvr>
                                        <p:cTn id="7" dur="500"/>
                                        <p:tgtEl>
                                          <p:spTgt spid="3010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1065"/>
                                        </p:tgtEl>
                                        <p:attrNameLst>
                                          <p:attrName>style.visibility</p:attrName>
                                        </p:attrNameLst>
                                      </p:cBhvr>
                                      <p:to>
                                        <p:strVal val="visible"/>
                                      </p:to>
                                    </p:set>
                                    <p:animEffect transition="in" filter="wipe(left)">
                                      <p:cBhvr>
                                        <p:cTn id="12" dur="500"/>
                                        <p:tgtEl>
                                          <p:spTgt spid="301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4" grpId="0" autoUpdateAnimBg="0"/>
      <p:bldP spid="301065"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1026"/>
          <p:cNvSpPr txBox="1">
            <a:spLocks noChangeArrowheads="1"/>
          </p:cNvSpPr>
          <p:nvPr/>
        </p:nvSpPr>
        <p:spPr bwMode="auto">
          <a:xfrm>
            <a:off x="152400" y="76200"/>
            <a:ext cx="73914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1</a:t>
            </a:r>
            <a:r>
              <a:rPr lang="zh-CN" altLang="en-US" sz="2400">
                <a:solidFill>
                  <a:srgbClr val="3333FF"/>
                </a:solidFill>
                <a:latin typeface="宋体" panose="02010600030101010101" pitchFamily="2" charset="-122"/>
                <a:ea typeface="楷体_GB2312"/>
              </a:rPr>
              <a:t>，求均匀带电细圆环轴线上一点的场强。</a:t>
            </a:r>
            <a:endParaRPr lang="zh-CN" altLang="en-US" sz="3600">
              <a:solidFill>
                <a:srgbClr val="FF3300"/>
              </a:solidFill>
              <a:ea typeface="楷体_GB2312"/>
            </a:endParaRPr>
          </a:p>
        </p:txBody>
      </p:sp>
      <p:sp>
        <p:nvSpPr>
          <p:cNvPr id="136195" name="Text Box 1027"/>
          <p:cNvSpPr txBox="1">
            <a:spLocks noChangeArrowheads="1"/>
          </p:cNvSpPr>
          <p:nvPr/>
        </p:nvSpPr>
        <p:spPr bwMode="auto">
          <a:xfrm>
            <a:off x="290513" y="609600"/>
            <a:ext cx="446087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解：细圆环轴线上一点的电势为</a:t>
            </a:r>
          </a:p>
        </p:txBody>
      </p:sp>
      <p:graphicFrame>
        <p:nvGraphicFramePr>
          <p:cNvPr id="136196" name="Object 1028"/>
          <p:cNvGraphicFramePr>
            <a:graphicFrameLocks noChangeAspect="1"/>
          </p:cNvGraphicFramePr>
          <p:nvPr/>
        </p:nvGraphicFramePr>
        <p:xfrm>
          <a:off x="1635125" y="1295400"/>
          <a:ext cx="2979738" cy="1030288"/>
        </p:xfrm>
        <a:graphic>
          <a:graphicData uri="http://schemas.openxmlformats.org/presentationml/2006/ole">
            <mc:AlternateContent xmlns:mc="http://schemas.openxmlformats.org/markup-compatibility/2006">
              <mc:Choice xmlns:v="urn:schemas-microsoft-com:vml" Requires="v">
                <p:oleObj spid="_x0000_s103507" name="公式" r:id="rId3" imgW="1358900" imgH="469900" progId="Equation.3">
                  <p:embed/>
                </p:oleObj>
              </mc:Choice>
              <mc:Fallback>
                <p:oleObj name="公式" r:id="rId3" imgW="1358900" imgH="469900" progId="Equation.3">
                  <p:embed/>
                  <p:pic>
                    <p:nvPicPr>
                      <p:cNvPr id="136196"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125" y="1295400"/>
                        <a:ext cx="2979738" cy="1030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6197" name="Text Box 1029"/>
          <p:cNvSpPr txBox="1">
            <a:spLocks noChangeArrowheads="1"/>
          </p:cNvSpPr>
          <p:nvPr/>
        </p:nvSpPr>
        <p:spPr bwMode="auto">
          <a:xfrm>
            <a:off x="179388" y="2492375"/>
            <a:ext cx="5119687"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式中</a:t>
            </a:r>
            <a:r>
              <a:rPr lang="en-US" altLang="zh-CN" sz="2400" i="1">
                <a:ea typeface="楷体_GB2312"/>
              </a:rPr>
              <a:t>R</a:t>
            </a:r>
            <a:r>
              <a:rPr lang="zh-CN" altLang="en-US" sz="2400">
                <a:ea typeface="楷体_GB2312"/>
              </a:rPr>
              <a:t>为圆环的半径。因而轴线上一点的场强为</a:t>
            </a:r>
          </a:p>
        </p:txBody>
      </p:sp>
      <p:graphicFrame>
        <p:nvGraphicFramePr>
          <p:cNvPr id="136198" name="Object 1030"/>
          <p:cNvGraphicFramePr>
            <a:graphicFrameLocks noChangeAspect="1"/>
          </p:cNvGraphicFramePr>
          <p:nvPr/>
        </p:nvGraphicFramePr>
        <p:xfrm>
          <a:off x="1116013" y="3581400"/>
          <a:ext cx="7527925" cy="1009650"/>
        </p:xfrm>
        <a:graphic>
          <a:graphicData uri="http://schemas.openxmlformats.org/presentationml/2006/ole">
            <mc:AlternateContent xmlns:mc="http://schemas.openxmlformats.org/markup-compatibility/2006">
              <mc:Choice xmlns:v="urn:schemas-microsoft-com:vml" Requires="v">
                <p:oleObj spid="_x0000_s103508" name="公式" r:id="rId5" imgW="3505200" imgH="469900" progId="Equation.3">
                  <p:embed/>
                </p:oleObj>
              </mc:Choice>
              <mc:Fallback>
                <p:oleObj name="公式" r:id="rId5" imgW="3505200" imgH="469900" progId="Equation.3">
                  <p:embed/>
                  <p:pic>
                    <p:nvPicPr>
                      <p:cNvPr id="136198" name="Object 10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3581400"/>
                        <a:ext cx="7527925" cy="10096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199" name="Object 1031"/>
          <p:cNvGraphicFramePr>
            <a:graphicFrameLocks noChangeAspect="1"/>
          </p:cNvGraphicFramePr>
          <p:nvPr/>
        </p:nvGraphicFramePr>
        <p:xfrm>
          <a:off x="1447800" y="4648200"/>
          <a:ext cx="1143000" cy="584200"/>
        </p:xfrm>
        <a:graphic>
          <a:graphicData uri="http://schemas.openxmlformats.org/presentationml/2006/ole">
            <mc:AlternateContent xmlns:mc="http://schemas.openxmlformats.org/markup-compatibility/2006">
              <mc:Choice xmlns:v="urn:schemas-microsoft-com:vml" Requires="v">
                <p:oleObj spid="_x0000_s103509" name="公式" r:id="rId7" imgW="469696" imgH="241195" progId="Equation.3">
                  <p:embed/>
                </p:oleObj>
              </mc:Choice>
              <mc:Fallback>
                <p:oleObj name="公式" r:id="rId7" imgW="469696" imgH="241195" progId="Equation.3">
                  <p:embed/>
                  <p:pic>
                    <p:nvPicPr>
                      <p:cNvPr id="136199" name="Object 10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4648200"/>
                        <a:ext cx="1143000" cy="584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200" name="Object 1032"/>
          <p:cNvGraphicFramePr>
            <a:graphicFrameLocks noChangeAspect="1"/>
          </p:cNvGraphicFramePr>
          <p:nvPr/>
        </p:nvGraphicFramePr>
        <p:xfrm>
          <a:off x="1447800" y="5410200"/>
          <a:ext cx="1219200" cy="609600"/>
        </p:xfrm>
        <a:graphic>
          <a:graphicData uri="http://schemas.openxmlformats.org/presentationml/2006/ole">
            <mc:AlternateContent xmlns:mc="http://schemas.openxmlformats.org/markup-compatibility/2006">
              <mc:Choice xmlns:v="urn:schemas-microsoft-com:vml" Requires="v">
                <p:oleObj spid="_x0000_s103510" name="公式" r:id="rId9" imgW="457200" imgH="228600" progId="Equation.3">
                  <p:embed/>
                </p:oleObj>
              </mc:Choice>
              <mc:Fallback>
                <p:oleObj name="公式" r:id="rId9" imgW="457200" imgH="228600" progId="Equation.3">
                  <p:embed/>
                  <p:pic>
                    <p:nvPicPr>
                      <p:cNvPr id="136200" name="Object 10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5410200"/>
                        <a:ext cx="1219200" cy="6096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3" name="Rectangle 1044"/>
          <p:cNvSpPr>
            <a:spLocks noChangeArrowheads="1"/>
          </p:cNvSpPr>
          <p:nvPr/>
        </p:nvSpPr>
        <p:spPr bwMode="auto">
          <a:xfrm>
            <a:off x="5292725" y="620713"/>
            <a:ext cx="3657600" cy="2362200"/>
          </a:xfrm>
          <a:prstGeom prst="rect">
            <a:avLst/>
          </a:prstGeom>
          <a:solidFill>
            <a:schemeClr val="bg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3600">
              <a:solidFill>
                <a:srgbClr val="FF3300"/>
              </a:solidFill>
              <a:ea typeface="楷体_GB2312"/>
            </a:endParaRPr>
          </a:p>
        </p:txBody>
      </p:sp>
      <p:sp>
        <p:nvSpPr>
          <p:cNvPr id="26634" name="AutoShape 1045" descr="宽上对角线"/>
          <p:cNvSpPr>
            <a:spLocks noChangeArrowheads="1"/>
          </p:cNvSpPr>
          <p:nvPr/>
        </p:nvSpPr>
        <p:spPr bwMode="auto">
          <a:xfrm>
            <a:off x="6075363" y="849313"/>
            <a:ext cx="1143000" cy="1828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690" y="10800"/>
                </a:moveTo>
                <a:cubicBezTo>
                  <a:pt x="690" y="16384"/>
                  <a:pt x="5216" y="20910"/>
                  <a:pt x="10800" y="20910"/>
                </a:cubicBezTo>
                <a:cubicBezTo>
                  <a:pt x="16384" y="20910"/>
                  <a:pt x="20910" y="16384"/>
                  <a:pt x="20910" y="10800"/>
                </a:cubicBezTo>
                <a:cubicBezTo>
                  <a:pt x="20910" y="5216"/>
                  <a:pt x="16384" y="690"/>
                  <a:pt x="10800" y="690"/>
                </a:cubicBezTo>
                <a:cubicBezTo>
                  <a:pt x="5216" y="690"/>
                  <a:pt x="690" y="5216"/>
                  <a:pt x="690" y="10800"/>
                </a:cubicBezTo>
                <a:close/>
              </a:path>
            </a:pathLst>
          </a:custGeom>
          <a:pattFill prst="wdUpDiag">
            <a:fgClr>
              <a:schemeClr val="folHlink"/>
            </a:fgClr>
            <a:bgClr>
              <a:srgbClr val="FFFFFF"/>
            </a:bgClr>
          </a:patt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5" name="Line 1046"/>
          <p:cNvSpPr>
            <a:spLocks noChangeShapeType="1"/>
          </p:cNvSpPr>
          <p:nvPr/>
        </p:nvSpPr>
        <p:spPr bwMode="auto">
          <a:xfrm flipH="1" flipV="1">
            <a:off x="6303963" y="1154113"/>
            <a:ext cx="381000" cy="685800"/>
          </a:xfrm>
          <a:prstGeom prst="line">
            <a:avLst/>
          </a:prstGeom>
          <a:noFill/>
          <a:ln w="28575">
            <a:solidFill>
              <a:srgbClr val="FF0066"/>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36" name="Object 1047"/>
          <p:cNvGraphicFramePr>
            <a:graphicFrameLocks noChangeAspect="1"/>
          </p:cNvGraphicFramePr>
          <p:nvPr/>
        </p:nvGraphicFramePr>
        <p:xfrm>
          <a:off x="6227763" y="1535113"/>
          <a:ext cx="312737" cy="339725"/>
        </p:xfrm>
        <a:graphic>
          <a:graphicData uri="http://schemas.openxmlformats.org/presentationml/2006/ole">
            <mc:AlternateContent xmlns:mc="http://schemas.openxmlformats.org/markup-compatibility/2006">
              <mc:Choice xmlns:v="urn:schemas-microsoft-com:vml" Requires="v">
                <p:oleObj spid="_x0000_s103511" name="Equation" r:id="rId11" imgW="66735" imgH="76095" progId="Equation.3">
                  <p:embed/>
                </p:oleObj>
              </mc:Choice>
              <mc:Fallback>
                <p:oleObj name="Equation" r:id="rId11" imgW="66735" imgH="76095" progId="Equation.3">
                  <p:embed/>
                  <p:pic>
                    <p:nvPicPr>
                      <p:cNvPr id="26636" name="Object 10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27763" y="1535113"/>
                        <a:ext cx="312737"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7" name="Object 1048"/>
          <p:cNvGraphicFramePr>
            <a:graphicFrameLocks noChangeAspect="1"/>
          </p:cNvGraphicFramePr>
          <p:nvPr/>
        </p:nvGraphicFramePr>
        <p:xfrm>
          <a:off x="8493125" y="2373313"/>
          <a:ext cx="284163" cy="304800"/>
        </p:xfrm>
        <a:graphic>
          <a:graphicData uri="http://schemas.openxmlformats.org/presentationml/2006/ole">
            <mc:AlternateContent xmlns:mc="http://schemas.openxmlformats.org/markup-compatibility/2006">
              <mc:Choice xmlns:v="urn:schemas-microsoft-com:vml" Requires="v">
                <p:oleObj spid="_x0000_s103512" name="Equation" r:id="rId13" imgW="177646" imgH="190335" progId="Equation.3">
                  <p:embed/>
                </p:oleObj>
              </mc:Choice>
              <mc:Fallback>
                <p:oleObj name="Equation" r:id="rId13" imgW="177646" imgH="190335" progId="Equation.3">
                  <p:embed/>
                  <p:pic>
                    <p:nvPicPr>
                      <p:cNvPr id="26637" name="Object 10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93125" y="2373313"/>
                        <a:ext cx="2841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8" name="Object 1049"/>
          <p:cNvGraphicFramePr>
            <a:graphicFrameLocks noChangeAspect="1"/>
          </p:cNvGraphicFramePr>
          <p:nvPr/>
        </p:nvGraphicFramePr>
        <p:xfrm>
          <a:off x="6511925" y="1839913"/>
          <a:ext cx="263525" cy="304800"/>
        </p:xfrm>
        <a:graphic>
          <a:graphicData uri="http://schemas.openxmlformats.org/presentationml/2006/ole">
            <mc:AlternateContent xmlns:mc="http://schemas.openxmlformats.org/markup-compatibility/2006">
              <mc:Choice xmlns:v="urn:schemas-microsoft-com:vml" Requires="v">
                <p:oleObj spid="_x0000_s103513" name="Equation" r:id="rId15" imgW="164957" imgH="190335" progId="Equation.3">
                  <p:embed/>
                </p:oleObj>
              </mc:Choice>
              <mc:Fallback>
                <p:oleObj name="Equation" r:id="rId15" imgW="164957" imgH="190335" progId="Equation.3">
                  <p:embed/>
                  <p:pic>
                    <p:nvPicPr>
                      <p:cNvPr id="26638" name="Object 10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11925" y="1839913"/>
                        <a:ext cx="2635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9" name="Line 1050"/>
          <p:cNvSpPr>
            <a:spLocks noChangeShapeType="1"/>
          </p:cNvSpPr>
          <p:nvPr/>
        </p:nvSpPr>
        <p:spPr bwMode="auto">
          <a:xfrm flipH="1" flipV="1">
            <a:off x="5618163" y="1598613"/>
            <a:ext cx="381000" cy="76200"/>
          </a:xfrm>
          <a:prstGeom prst="line">
            <a:avLst/>
          </a:prstGeom>
          <a:noFill/>
          <a:ln w="127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40" name="Object 1051"/>
          <p:cNvGraphicFramePr>
            <a:graphicFrameLocks noChangeAspect="1"/>
          </p:cNvGraphicFramePr>
          <p:nvPr/>
        </p:nvGraphicFramePr>
        <p:xfrm>
          <a:off x="7273925" y="2068513"/>
          <a:ext cx="284163" cy="304800"/>
        </p:xfrm>
        <a:graphic>
          <a:graphicData uri="http://schemas.openxmlformats.org/presentationml/2006/ole">
            <mc:AlternateContent xmlns:mc="http://schemas.openxmlformats.org/markup-compatibility/2006">
              <mc:Choice xmlns:v="urn:schemas-microsoft-com:vml" Requires="v">
                <p:oleObj spid="_x0000_s103514" name="Equation" r:id="rId17" imgW="177646" imgH="190335" progId="Equation.3">
                  <p:embed/>
                </p:oleObj>
              </mc:Choice>
              <mc:Fallback>
                <p:oleObj name="Equation" r:id="rId17" imgW="177646" imgH="190335" progId="Equation.3">
                  <p:embed/>
                  <p:pic>
                    <p:nvPicPr>
                      <p:cNvPr id="26640" name="Object 10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73925" y="2068513"/>
                        <a:ext cx="2841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1" name="Rectangle 1052"/>
          <p:cNvSpPr>
            <a:spLocks noChangeArrowheads="1"/>
          </p:cNvSpPr>
          <p:nvPr/>
        </p:nvSpPr>
        <p:spPr bwMode="auto">
          <a:xfrm>
            <a:off x="7121525" y="1839913"/>
            <a:ext cx="152400" cy="152400"/>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3600">
              <a:solidFill>
                <a:srgbClr val="FF3300"/>
              </a:solidFill>
              <a:ea typeface="楷体_GB2312"/>
            </a:endParaRPr>
          </a:p>
        </p:txBody>
      </p:sp>
      <p:sp>
        <p:nvSpPr>
          <p:cNvPr id="26642" name="Line 1053"/>
          <p:cNvSpPr>
            <a:spLocks noChangeShapeType="1"/>
          </p:cNvSpPr>
          <p:nvPr/>
        </p:nvSpPr>
        <p:spPr bwMode="auto">
          <a:xfrm>
            <a:off x="6684963" y="1839913"/>
            <a:ext cx="1981200" cy="457200"/>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6643" name="Object 1054"/>
          <p:cNvGraphicFramePr>
            <a:graphicFrameLocks noChangeAspect="1"/>
          </p:cNvGraphicFramePr>
          <p:nvPr/>
        </p:nvGraphicFramePr>
        <p:xfrm>
          <a:off x="7904163" y="2220913"/>
          <a:ext cx="282575" cy="304800"/>
        </p:xfrm>
        <a:graphic>
          <a:graphicData uri="http://schemas.openxmlformats.org/presentationml/2006/ole">
            <mc:AlternateContent xmlns:mc="http://schemas.openxmlformats.org/markup-compatibility/2006">
              <mc:Choice xmlns:v="urn:schemas-microsoft-com:vml" Requires="v">
                <p:oleObj spid="_x0000_s103515" name="Equation" r:id="rId18" imgW="66735" imgH="76095" progId="Equation.3">
                  <p:embed/>
                </p:oleObj>
              </mc:Choice>
              <mc:Fallback>
                <p:oleObj name="Equation" r:id="rId18" imgW="66735" imgH="76095" progId="Equation.3">
                  <p:embed/>
                  <p:pic>
                    <p:nvPicPr>
                      <p:cNvPr id="26643" name="Object 105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04163" y="2220913"/>
                        <a:ext cx="2825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4" name="Oval 1055"/>
          <p:cNvSpPr>
            <a:spLocks noChangeArrowheads="1"/>
          </p:cNvSpPr>
          <p:nvPr/>
        </p:nvSpPr>
        <p:spPr bwMode="auto">
          <a:xfrm>
            <a:off x="8056563" y="2132013"/>
            <a:ext cx="76200" cy="7620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3600">
              <a:solidFill>
                <a:srgbClr val="FF3300"/>
              </a:solidFill>
              <a:ea typeface="楷体_GB2312"/>
            </a:endParaRPr>
          </a:p>
        </p:txBody>
      </p:sp>
      <p:sp>
        <p:nvSpPr>
          <p:cNvPr id="21" name="Text Box 1026"/>
          <p:cNvSpPr txBox="1">
            <a:spLocks noChangeArrowheads="1"/>
          </p:cNvSpPr>
          <p:nvPr/>
        </p:nvSpPr>
        <p:spPr bwMode="auto">
          <a:xfrm>
            <a:off x="304800" y="6081713"/>
            <a:ext cx="8361363" cy="4794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500">
                <a:solidFill>
                  <a:srgbClr val="FF3300"/>
                </a:solidFill>
                <a:ea typeface="楷体_GB2312"/>
              </a:rPr>
              <a:t>和用电场叠加原理得到的结果相同，但相对简单</a:t>
            </a:r>
          </a:p>
        </p:txBody>
      </p:sp>
      <p:cxnSp>
        <p:nvCxnSpPr>
          <p:cNvPr id="3" name="直接连接符 2">
            <a:extLst>
              <a:ext uri="{FF2B5EF4-FFF2-40B4-BE49-F238E27FC236}">
                <a16:creationId xmlns:a16="http://schemas.microsoft.com/office/drawing/2014/main" id="{33F604C2-F4A3-4B75-84ED-C5C7A561180C}"/>
              </a:ext>
            </a:extLst>
          </p:cNvPr>
          <p:cNvCxnSpPr/>
          <p:nvPr/>
        </p:nvCxnSpPr>
        <p:spPr bwMode="auto">
          <a:xfrm>
            <a:off x="6684963" y="849313"/>
            <a:ext cx="1371600" cy="1295400"/>
          </a:xfrm>
          <a:prstGeom prst="line">
            <a:avLst/>
          </a:prstGeom>
          <a:solidFill>
            <a:srgbClr val="FFFF66"/>
          </a:solidFill>
          <a:ln w="5715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B0139B98-5FF9-4D3A-8CA7-3ACBF80BD8B3}"/>
              </a:ext>
            </a:extLst>
          </p:cNvPr>
          <p:cNvCxnSpPr>
            <a:endCxn id="26635" idx="0"/>
          </p:cNvCxnSpPr>
          <p:nvPr/>
        </p:nvCxnSpPr>
        <p:spPr bwMode="auto">
          <a:xfrm>
            <a:off x="6684963" y="849313"/>
            <a:ext cx="0" cy="990600"/>
          </a:xfrm>
          <a:prstGeom prst="line">
            <a:avLst/>
          </a:prstGeom>
          <a:solidFill>
            <a:srgbClr val="FFFF66"/>
          </a:solidFill>
          <a:ln w="381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a:extLst>
              <a:ext uri="{FF2B5EF4-FFF2-40B4-BE49-F238E27FC236}">
                <a16:creationId xmlns:a16="http://schemas.microsoft.com/office/drawing/2014/main" id="{8D9C238D-75DF-41C3-B02D-3B4AB7E11B55}"/>
              </a:ext>
            </a:extLst>
          </p:cNvPr>
          <p:cNvSpPr txBox="1"/>
          <p:nvPr/>
        </p:nvSpPr>
        <p:spPr>
          <a:xfrm>
            <a:off x="7362825" y="904380"/>
            <a:ext cx="385042" cy="707886"/>
          </a:xfrm>
          <a:prstGeom prst="rect">
            <a:avLst/>
          </a:prstGeom>
          <a:noFill/>
        </p:spPr>
        <p:txBody>
          <a:bodyPr wrap="none" rtlCol="0">
            <a:spAutoFit/>
          </a:bodyPr>
          <a:lstStyle/>
          <a:p>
            <a:r>
              <a:rPr lang="en-US" altLang="zh-CN" sz="4000" i="1"/>
              <a:t>r</a:t>
            </a:r>
            <a:endParaRPr lang="zh-CN" altLang="en-US" sz="4000" i="1"/>
          </a:p>
        </p:txBody>
      </p:sp>
    </p:spTree>
    <p:extLst>
      <p:ext uri="{BB962C8B-B14F-4D97-AF65-F5344CB8AC3E}">
        <p14:creationId xmlns:p14="http://schemas.microsoft.com/office/powerpoint/2010/main" val="421833804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Effect transition="in" filter="wipe(left)">
                                      <p:cBhvr>
                                        <p:cTn id="7" dur="500"/>
                                        <p:tgtEl>
                                          <p:spTgt spid="136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5"/>
                                        </p:tgtEl>
                                        <p:attrNameLst>
                                          <p:attrName>style.visibility</p:attrName>
                                        </p:attrNameLst>
                                      </p:cBhvr>
                                      <p:to>
                                        <p:strVal val="visible"/>
                                      </p:to>
                                    </p:set>
                                    <p:animEffect transition="in" filter="wipe(left)">
                                      <p:cBhvr>
                                        <p:cTn id="12" dur="500"/>
                                        <p:tgtEl>
                                          <p:spTgt spid="136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6196"/>
                                        </p:tgtEl>
                                        <p:attrNameLst>
                                          <p:attrName>style.visibility</p:attrName>
                                        </p:attrNameLst>
                                      </p:cBhvr>
                                      <p:to>
                                        <p:strVal val="visible"/>
                                      </p:to>
                                    </p:set>
                                    <p:animEffect transition="in" filter="wipe(left)">
                                      <p:cBhvr>
                                        <p:cTn id="17" dur="500"/>
                                        <p:tgtEl>
                                          <p:spTgt spid="136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197"/>
                                        </p:tgtEl>
                                        <p:attrNameLst>
                                          <p:attrName>style.visibility</p:attrName>
                                        </p:attrNameLst>
                                      </p:cBhvr>
                                      <p:to>
                                        <p:strVal val="visible"/>
                                      </p:to>
                                    </p:set>
                                    <p:animEffect transition="in" filter="wipe(left)">
                                      <p:cBhvr>
                                        <p:cTn id="22" dur="500"/>
                                        <p:tgtEl>
                                          <p:spTgt spid="1361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6198"/>
                                        </p:tgtEl>
                                        <p:attrNameLst>
                                          <p:attrName>style.visibility</p:attrName>
                                        </p:attrNameLst>
                                      </p:cBhvr>
                                      <p:to>
                                        <p:strVal val="visible"/>
                                      </p:to>
                                    </p:set>
                                    <p:animEffect transition="in" filter="wipe(left)">
                                      <p:cBhvr>
                                        <p:cTn id="27" dur="500"/>
                                        <p:tgtEl>
                                          <p:spTgt spid="1361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6199"/>
                                        </p:tgtEl>
                                        <p:attrNameLst>
                                          <p:attrName>style.visibility</p:attrName>
                                        </p:attrNameLst>
                                      </p:cBhvr>
                                      <p:to>
                                        <p:strVal val="visible"/>
                                      </p:to>
                                    </p:set>
                                    <p:animEffect transition="in" filter="wipe(left)">
                                      <p:cBhvr>
                                        <p:cTn id="32" dur="500"/>
                                        <p:tgtEl>
                                          <p:spTgt spid="1361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6200"/>
                                        </p:tgtEl>
                                        <p:attrNameLst>
                                          <p:attrName>style.visibility</p:attrName>
                                        </p:attrNameLst>
                                      </p:cBhvr>
                                      <p:to>
                                        <p:strVal val="visible"/>
                                      </p:to>
                                    </p:set>
                                    <p:animEffect transition="in" filter="wipe(left)">
                                      <p:cBhvr>
                                        <p:cTn id="37" dur="500"/>
                                        <p:tgtEl>
                                          <p:spTgt spid="1362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utoUpdateAnimBg="0"/>
      <p:bldP spid="136195" grpId="0" autoUpdateAnimBg="0"/>
      <p:bldP spid="136197" grpId="0" autoUpdateAnimBg="0"/>
      <p:bldP spid="21"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7425700" y="3497542"/>
            <a:ext cx="686425" cy="648512"/>
          </a:xfrm>
          <a:prstGeom prst="rect">
            <a:avLst/>
          </a:prstGeom>
          <a:solidFill>
            <a:schemeClr val="bg1"/>
          </a:solidFill>
          <a:ln w="3175">
            <a:solidFill>
              <a:schemeClr val="bg1"/>
            </a:solidFill>
            <a:miter lim="800000"/>
            <a:headEnd/>
            <a:tailEnd/>
          </a:ln>
          <a:effectLs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i="1" dirty="0">
                <a:solidFill>
                  <a:srgbClr val="FF3300"/>
                </a:solidFill>
                <a:ea typeface="楷体_GB2312"/>
              </a:rPr>
              <a:t>l</a:t>
            </a:r>
            <a:endParaRPr lang="zh-CN" altLang="en-US" sz="3600" i="1" dirty="0">
              <a:solidFill>
                <a:srgbClr val="FF3300"/>
              </a:solidFill>
              <a:ea typeface="楷体_GB2312"/>
            </a:endParaRPr>
          </a:p>
        </p:txBody>
      </p:sp>
      <p:sp>
        <p:nvSpPr>
          <p:cNvPr id="27651" name="Text Box 3"/>
          <p:cNvSpPr txBox="1">
            <a:spLocks noChangeArrowheads="1"/>
          </p:cNvSpPr>
          <p:nvPr/>
        </p:nvSpPr>
        <p:spPr bwMode="auto">
          <a:xfrm>
            <a:off x="-57150" y="0"/>
            <a:ext cx="75326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2</a:t>
            </a:r>
            <a:r>
              <a:rPr lang="zh-CN" altLang="en-US" sz="2400">
                <a:solidFill>
                  <a:srgbClr val="3333FF"/>
                </a:solidFill>
                <a:latin typeface="宋体" panose="02010600030101010101" pitchFamily="2" charset="-122"/>
                <a:ea typeface="楷体_GB2312"/>
              </a:rPr>
              <a:t>，求电偶极子电场中任一点的电势和电场强度。</a:t>
            </a:r>
            <a:r>
              <a:rPr lang="zh-CN" altLang="en-US" sz="2400" b="0">
                <a:ea typeface="楷体_GB2312"/>
              </a:rPr>
              <a:t> </a:t>
            </a:r>
          </a:p>
        </p:txBody>
      </p:sp>
      <p:grpSp>
        <p:nvGrpSpPr>
          <p:cNvPr id="27652" name="Group 4"/>
          <p:cNvGrpSpPr>
            <a:grpSpLocks/>
          </p:cNvGrpSpPr>
          <p:nvPr/>
        </p:nvGrpSpPr>
        <p:grpSpPr bwMode="auto">
          <a:xfrm>
            <a:off x="6324600" y="457200"/>
            <a:ext cx="2743200" cy="3613150"/>
            <a:chOff x="3888" y="566"/>
            <a:chExt cx="1728" cy="2276"/>
          </a:xfrm>
        </p:grpSpPr>
        <p:graphicFrame>
          <p:nvGraphicFramePr>
            <p:cNvPr id="27667" name="Object 5"/>
            <p:cNvGraphicFramePr>
              <a:graphicFrameLocks noChangeAspect="1"/>
            </p:cNvGraphicFramePr>
            <p:nvPr/>
          </p:nvGraphicFramePr>
          <p:xfrm>
            <a:off x="4173" y="1584"/>
            <a:ext cx="339" cy="480"/>
          </p:xfrm>
          <a:graphic>
            <a:graphicData uri="http://schemas.openxmlformats.org/presentationml/2006/ole">
              <mc:AlternateContent xmlns:mc="http://schemas.openxmlformats.org/markup-compatibility/2006">
                <mc:Choice xmlns:v="urn:schemas-microsoft-com:vml" Requires="v">
                  <p:oleObj spid="_x0000_s104570" name="公式" r:id="rId3" imgW="152268" imgH="215713" progId="Equation.3">
                    <p:embed/>
                  </p:oleObj>
                </mc:Choice>
                <mc:Fallback>
                  <p:oleObj name="公式" r:id="rId3" imgW="152268" imgH="215713" progId="Equation.3">
                    <p:embed/>
                    <p:pic>
                      <p:nvPicPr>
                        <p:cNvPr id="2766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3" y="1584"/>
                          <a:ext cx="33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68" name="Oval 6"/>
            <p:cNvSpPr>
              <a:spLocks noChangeArrowheads="1"/>
            </p:cNvSpPr>
            <p:nvPr/>
          </p:nvSpPr>
          <p:spPr bwMode="auto">
            <a:xfrm>
              <a:off x="4944" y="2393"/>
              <a:ext cx="70" cy="7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7669" name="Oval 7"/>
            <p:cNvSpPr>
              <a:spLocks noChangeArrowheads="1"/>
            </p:cNvSpPr>
            <p:nvPr/>
          </p:nvSpPr>
          <p:spPr bwMode="auto">
            <a:xfrm>
              <a:off x="4224" y="2398"/>
              <a:ext cx="70" cy="70"/>
            </a:xfrm>
            <a:prstGeom prst="ellipse">
              <a:avLst/>
            </a:prstGeom>
            <a:solidFill>
              <a:srgbClr val="0000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7670" name="Line 8"/>
            <p:cNvSpPr>
              <a:spLocks noChangeShapeType="1"/>
            </p:cNvSpPr>
            <p:nvPr/>
          </p:nvSpPr>
          <p:spPr bwMode="auto">
            <a:xfrm>
              <a:off x="4272" y="2448"/>
              <a:ext cx="701" cy="0"/>
            </a:xfrm>
            <a:prstGeom prst="line">
              <a:avLst/>
            </a:prstGeom>
            <a:noFill/>
            <a:ln w="412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71" name="Object 9"/>
            <p:cNvGraphicFramePr>
              <a:graphicFrameLocks noChangeAspect="1"/>
            </p:cNvGraphicFramePr>
            <p:nvPr/>
          </p:nvGraphicFramePr>
          <p:xfrm>
            <a:off x="3888" y="2160"/>
            <a:ext cx="384" cy="262"/>
          </p:xfrm>
          <a:graphic>
            <a:graphicData uri="http://schemas.openxmlformats.org/presentationml/2006/ole">
              <mc:AlternateContent xmlns:mc="http://schemas.openxmlformats.org/markup-compatibility/2006">
                <mc:Choice xmlns:v="urn:schemas-microsoft-com:vml" Requires="v">
                  <p:oleObj spid="_x0000_s104571" name="公式" r:id="rId5" imgW="241091" imgH="164957" progId="Equation.3">
                    <p:embed/>
                  </p:oleObj>
                </mc:Choice>
                <mc:Fallback>
                  <p:oleObj name="公式" r:id="rId5" imgW="241091" imgH="164957" progId="Equation.3">
                    <p:embed/>
                    <p:pic>
                      <p:nvPicPr>
                        <p:cNvPr id="2767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8" y="2160"/>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3" name="Object 11"/>
            <p:cNvGraphicFramePr>
              <a:graphicFrameLocks noChangeAspect="1"/>
            </p:cNvGraphicFramePr>
            <p:nvPr/>
          </p:nvGraphicFramePr>
          <p:xfrm>
            <a:off x="4992" y="2208"/>
            <a:ext cx="384" cy="282"/>
          </p:xfrm>
          <a:graphic>
            <a:graphicData uri="http://schemas.openxmlformats.org/presentationml/2006/ole">
              <mc:AlternateContent xmlns:mc="http://schemas.openxmlformats.org/markup-compatibility/2006">
                <mc:Choice xmlns:v="urn:schemas-microsoft-com:vml" Requires="v">
                  <p:oleObj spid="_x0000_s104572" name="公式" r:id="rId7" imgW="241091" imgH="177646" progId="Equation.3">
                    <p:embed/>
                  </p:oleObj>
                </mc:Choice>
                <mc:Fallback>
                  <p:oleObj name="公式" r:id="rId7" imgW="241091" imgH="177646" progId="Equation.3">
                    <p:embed/>
                    <p:pic>
                      <p:nvPicPr>
                        <p:cNvPr id="27673"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2" y="2208"/>
                          <a:ext cx="384"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4" name="Object 13"/>
            <p:cNvGraphicFramePr>
              <a:graphicFrameLocks noChangeAspect="1"/>
            </p:cNvGraphicFramePr>
            <p:nvPr/>
          </p:nvGraphicFramePr>
          <p:xfrm>
            <a:off x="4992" y="1632"/>
            <a:ext cx="339" cy="480"/>
          </p:xfrm>
          <a:graphic>
            <a:graphicData uri="http://schemas.openxmlformats.org/presentationml/2006/ole">
              <mc:AlternateContent xmlns:mc="http://schemas.openxmlformats.org/markup-compatibility/2006">
                <mc:Choice xmlns:v="urn:schemas-microsoft-com:vml" Requires="v">
                  <p:oleObj spid="_x0000_s104573" name="公式" r:id="rId9" imgW="152268" imgH="215713" progId="Equation.3">
                    <p:embed/>
                  </p:oleObj>
                </mc:Choice>
                <mc:Fallback>
                  <p:oleObj name="公式" r:id="rId9" imgW="152268" imgH="215713" progId="Equation.3">
                    <p:embed/>
                    <p:pic>
                      <p:nvPicPr>
                        <p:cNvPr id="27674"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2" y="1632"/>
                          <a:ext cx="339"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75" name="Line 14"/>
            <p:cNvSpPr>
              <a:spLocks noChangeShapeType="1"/>
            </p:cNvSpPr>
            <p:nvPr/>
          </p:nvSpPr>
          <p:spPr bwMode="auto">
            <a:xfrm flipV="1">
              <a:off x="4624" y="912"/>
              <a:ext cx="347" cy="1536"/>
            </a:xfrm>
            <a:prstGeom prst="line">
              <a:avLst/>
            </a:prstGeom>
            <a:noFill/>
            <a:ln w="4127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76" name="Object 15"/>
            <p:cNvGraphicFramePr>
              <a:graphicFrameLocks noChangeAspect="1"/>
            </p:cNvGraphicFramePr>
            <p:nvPr>
              <p:extLst/>
            </p:nvPr>
          </p:nvGraphicFramePr>
          <p:xfrm>
            <a:off x="4690" y="1716"/>
            <a:ext cx="281" cy="366"/>
          </p:xfrm>
          <a:graphic>
            <a:graphicData uri="http://schemas.openxmlformats.org/presentationml/2006/ole">
              <mc:AlternateContent xmlns:mc="http://schemas.openxmlformats.org/markup-compatibility/2006">
                <mc:Choice xmlns:v="urn:schemas-microsoft-com:vml" Requires="v">
                  <p:oleObj spid="_x0000_s104574" name="公式" r:id="rId11" imgW="126780" imgH="164814" progId="Equation.3">
                    <p:embed/>
                  </p:oleObj>
                </mc:Choice>
                <mc:Fallback>
                  <p:oleObj name="公式" r:id="rId11" imgW="126780" imgH="164814" progId="Equation.3">
                    <p:embed/>
                    <p:pic>
                      <p:nvPicPr>
                        <p:cNvPr id="27676"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90" y="1716"/>
                          <a:ext cx="281"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77" name="Line 16"/>
            <p:cNvSpPr>
              <a:spLocks noChangeShapeType="1"/>
            </p:cNvSpPr>
            <p:nvPr/>
          </p:nvSpPr>
          <p:spPr bwMode="auto">
            <a:xfrm>
              <a:off x="4992" y="864"/>
              <a:ext cx="0" cy="1536"/>
            </a:xfrm>
            <a:prstGeom prst="line">
              <a:avLst/>
            </a:prstGeom>
            <a:noFill/>
            <a:ln w="41275">
              <a:solidFill>
                <a:srgbClr val="FF0000"/>
              </a:solidFill>
              <a:round/>
              <a:headEnd type="arrow"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8" name="Line 17"/>
            <p:cNvSpPr>
              <a:spLocks noChangeShapeType="1"/>
            </p:cNvSpPr>
            <p:nvPr/>
          </p:nvSpPr>
          <p:spPr bwMode="auto">
            <a:xfrm flipH="1">
              <a:off x="4224" y="864"/>
              <a:ext cx="768" cy="1584"/>
            </a:xfrm>
            <a:prstGeom prst="line">
              <a:avLst/>
            </a:prstGeom>
            <a:noFill/>
            <a:ln w="41275">
              <a:solidFill>
                <a:srgbClr val="0000FF"/>
              </a:solidFill>
              <a:round/>
              <a:headEnd type="arrow"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79" name="Object 18"/>
            <p:cNvGraphicFramePr>
              <a:graphicFrameLocks noChangeAspect="1"/>
            </p:cNvGraphicFramePr>
            <p:nvPr/>
          </p:nvGraphicFramePr>
          <p:xfrm>
            <a:off x="4835" y="576"/>
            <a:ext cx="328" cy="295"/>
          </p:xfrm>
          <a:graphic>
            <a:graphicData uri="http://schemas.openxmlformats.org/presentationml/2006/ole">
              <mc:AlternateContent xmlns:mc="http://schemas.openxmlformats.org/markup-compatibility/2006">
                <mc:Choice xmlns:v="urn:schemas-microsoft-com:vml" Requires="v">
                  <p:oleObj spid="_x0000_s104575" name="公式" r:id="rId13" imgW="164885" imgH="164885" progId="Equation.3">
                    <p:embed/>
                  </p:oleObj>
                </mc:Choice>
                <mc:Fallback>
                  <p:oleObj name="公式" r:id="rId13" imgW="164885" imgH="164885" progId="Equation.3">
                    <p:embed/>
                    <p:pic>
                      <p:nvPicPr>
                        <p:cNvPr id="27679"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35" y="576"/>
                          <a:ext cx="32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80" name="Oval 19"/>
            <p:cNvSpPr>
              <a:spLocks noChangeArrowheads="1"/>
            </p:cNvSpPr>
            <p:nvPr/>
          </p:nvSpPr>
          <p:spPr bwMode="auto">
            <a:xfrm>
              <a:off x="4962" y="831"/>
              <a:ext cx="68" cy="6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7681" name="Line 20"/>
            <p:cNvSpPr>
              <a:spLocks noChangeShapeType="1"/>
            </p:cNvSpPr>
            <p:nvPr/>
          </p:nvSpPr>
          <p:spPr bwMode="auto">
            <a:xfrm>
              <a:off x="4656" y="2448"/>
              <a:ext cx="96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7682" name="Line 21"/>
            <p:cNvSpPr>
              <a:spLocks noChangeShapeType="1"/>
            </p:cNvSpPr>
            <p:nvPr/>
          </p:nvSpPr>
          <p:spPr bwMode="auto">
            <a:xfrm flipV="1">
              <a:off x="4608" y="576"/>
              <a:ext cx="0" cy="187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7683" name="Text Box 22"/>
            <p:cNvSpPr txBox="1">
              <a:spLocks noChangeArrowheads="1"/>
            </p:cNvSpPr>
            <p:nvPr/>
          </p:nvSpPr>
          <p:spPr bwMode="auto">
            <a:xfrm>
              <a:off x="5295" y="2438"/>
              <a:ext cx="258"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3600" i="1">
                  <a:solidFill>
                    <a:srgbClr val="FF3300"/>
                  </a:solidFill>
                  <a:ea typeface="楷体_GB2312"/>
                </a:rPr>
                <a:t>x</a:t>
              </a:r>
              <a:endParaRPr lang="en-US" altLang="zh-CN" sz="3600">
                <a:solidFill>
                  <a:srgbClr val="FF3300"/>
                </a:solidFill>
                <a:ea typeface="楷体_GB2312"/>
              </a:endParaRPr>
            </a:p>
          </p:txBody>
        </p:sp>
        <p:sp>
          <p:nvSpPr>
            <p:cNvPr id="27684" name="Text Box 23"/>
            <p:cNvSpPr txBox="1">
              <a:spLocks noChangeArrowheads="1"/>
            </p:cNvSpPr>
            <p:nvPr/>
          </p:nvSpPr>
          <p:spPr bwMode="auto">
            <a:xfrm>
              <a:off x="4343" y="566"/>
              <a:ext cx="242" cy="4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3600" i="1">
                  <a:solidFill>
                    <a:srgbClr val="FF3300"/>
                  </a:solidFill>
                  <a:ea typeface="楷体_GB2312"/>
                </a:rPr>
                <a:t>y</a:t>
              </a:r>
              <a:endParaRPr lang="en-US" altLang="zh-CN" sz="3600">
                <a:solidFill>
                  <a:srgbClr val="FF3300"/>
                </a:solidFill>
                <a:ea typeface="楷体_GB2312"/>
              </a:endParaRPr>
            </a:p>
          </p:txBody>
        </p:sp>
      </p:grpSp>
      <p:sp>
        <p:nvSpPr>
          <p:cNvPr id="271384" name="Text Box 24"/>
          <p:cNvSpPr txBox="1">
            <a:spLocks noChangeArrowheads="1"/>
          </p:cNvSpPr>
          <p:nvPr/>
        </p:nvSpPr>
        <p:spPr bwMode="auto">
          <a:xfrm>
            <a:off x="0" y="533400"/>
            <a:ext cx="6248400" cy="1187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解：设</a:t>
            </a:r>
            <a:r>
              <a:rPr lang="en-US" altLang="zh-CN" sz="2400">
                <a:ea typeface="楷体_GB2312"/>
              </a:rPr>
              <a:t>A</a:t>
            </a:r>
            <a:r>
              <a:rPr lang="zh-CN" altLang="en-US" sz="2400">
                <a:ea typeface="楷体_GB2312"/>
              </a:rPr>
              <a:t>与</a:t>
            </a:r>
            <a:r>
              <a:rPr lang="en-US" altLang="zh-CN" sz="2400">
                <a:ea typeface="楷体_GB2312"/>
              </a:rPr>
              <a:t>+</a:t>
            </a:r>
            <a:r>
              <a:rPr lang="en-US" altLang="zh-CN" sz="2400" i="1">
                <a:ea typeface="楷体_GB2312"/>
              </a:rPr>
              <a:t>q</a:t>
            </a:r>
            <a:r>
              <a:rPr lang="zh-CN" altLang="en-US" sz="2400">
                <a:ea typeface="楷体_GB2312"/>
              </a:rPr>
              <a:t>和</a:t>
            </a:r>
            <a:r>
              <a:rPr lang="en-US" altLang="zh-CN" sz="2400">
                <a:ea typeface="楷体_GB2312"/>
              </a:rPr>
              <a:t>-</a:t>
            </a:r>
            <a:r>
              <a:rPr lang="en-US" altLang="zh-CN" sz="2400" i="1">
                <a:ea typeface="楷体_GB2312"/>
              </a:rPr>
              <a:t>q</a:t>
            </a:r>
            <a:r>
              <a:rPr lang="zh-CN" altLang="en-US" sz="2400">
                <a:ea typeface="楷体_GB2312"/>
              </a:rPr>
              <a:t>均在</a:t>
            </a:r>
            <a:r>
              <a:rPr lang="en-US" altLang="zh-CN" sz="2400" i="1">
                <a:ea typeface="楷体_GB2312"/>
              </a:rPr>
              <a:t>xoy</a:t>
            </a:r>
            <a:r>
              <a:rPr lang="zh-CN" altLang="en-US" sz="2400">
                <a:ea typeface="楷体_GB2312"/>
              </a:rPr>
              <a:t>平面内，</a:t>
            </a:r>
            <a:r>
              <a:rPr lang="en-US" altLang="zh-CN" sz="2400">
                <a:ea typeface="楷体_GB2312"/>
              </a:rPr>
              <a:t>A</a:t>
            </a:r>
            <a:r>
              <a:rPr lang="zh-CN" altLang="en-US" sz="2400">
                <a:ea typeface="楷体_GB2312"/>
              </a:rPr>
              <a:t>到</a:t>
            </a:r>
            <a:r>
              <a:rPr lang="en-US" altLang="zh-CN" sz="2400">
                <a:ea typeface="楷体_GB2312"/>
              </a:rPr>
              <a:t>+</a:t>
            </a:r>
            <a:r>
              <a:rPr lang="en-US" altLang="zh-CN" sz="2400" i="1">
                <a:ea typeface="楷体_GB2312"/>
              </a:rPr>
              <a:t>q</a:t>
            </a:r>
            <a:r>
              <a:rPr lang="zh-CN" altLang="en-US" sz="2400">
                <a:ea typeface="楷体_GB2312"/>
              </a:rPr>
              <a:t>和</a:t>
            </a:r>
            <a:r>
              <a:rPr lang="en-US" altLang="zh-CN" sz="2400">
                <a:ea typeface="楷体_GB2312"/>
              </a:rPr>
              <a:t>-</a:t>
            </a:r>
            <a:r>
              <a:rPr lang="en-US" altLang="zh-CN" sz="2400" i="1">
                <a:ea typeface="楷体_GB2312"/>
              </a:rPr>
              <a:t>q</a:t>
            </a:r>
            <a:r>
              <a:rPr lang="zh-CN" altLang="en-US" sz="2400">
                <a:ea typeface="楷体_GB2312"/>
              </a:rPr>
              <a:t>的距离分别为</a:t>
            </a:r>
            <a:r>
              <a:rPr lang="en-US" altLang="zh-CN" sz="2400" i="1">
                <a:ea typeface="楷体_GB2312"/>
              </a:rPr>
              <a:t>r</a:t>
            </a:r>
            <a:r>
              <a:rPr lang="en-US" altLang="zh-CN" sz="2400" baseline="-25000">
                <a:ea typeface="楷体_GB2312"/>
              </a:rPr>
              <a:t>+</a:t>
            </a:r>
            <a:r>
              <a:rPr lang="zh-CN" altLang="en-US" sz="2400">
                <a:ea typeface="楷体_GB2312"/>
              </a:rPr>
              <a:t>和</a:t>
            </a:r>
            <a:r>
              <a:rPr lang="en-US" altLang="zh-CN" sz="2400" i="1">
                <a:ea typeface="楷体_GB2312"/>
              </a:rPr>
              <a:t>r</a:t>
            </a:r>
            <a:r>
              <a:rPr lang="en-US" altLang="zh-CN" sz="2400" baseline="-25000">
                <a:ea typeface="楷体_GB2312"/>
              </a:rPr>
              <a:t>-</a:t>
            </a:r>
            <a:r>
              <a:rPr lang="zh-CN" altLang="en-US" sz="2400">
                <a:ea typeface="楷体_GB2312"/>
              </a:rPr>
              <a:t>，</a:t>
            </a:r>
            <a:r>
              <a:rPr lang="en-US" altLang="zh-CN" sz="2400">
                <a:ea typeface="楷体_GB2312"/>
              </a:rPr>
              <a:t>+</a:t>
            </a:r>
            <a:r>
              <a:rPr lang="en-US" altLang="zh-CN" sz="2400" i="1">
                <a:ea typeface="楷体_GB2312"/>
              </a:rPr>
              <a:t>q</a:t>
            </a:r>
            <a:r>
              <a:rPr lang="zh-CN" altLang="en-US" sz="2400">
                <a:ea typeface="楷体_GB2312"/>
              </a:rPr>
              <a:t>和</a:t>
            </a:r>
            <a:r>
              <a:rPr lang="en-US" altLang="zh-CN" sz="2400">
                <a:ea typeface="楷体_GB2312"/>
              </a:rPr>
              <a:t>-</a:t>
            </a:r>
            <a:r>
              <a:rPr lang="en-US" altLang="zh-CN" sz="2400" i="1">
                <a:ea typeface="楷体_GB2312"/>
              </a:rPr>
              <a:t>q</a:t>
            </a:r>
            <a:r>
              <a:rPr lang="zh-CN" altLang="en-US" sz="2400">
                <a:ea typeface="楷体_GB2312"/>
              </a:rPr>
              <a:t>单独存在时，</a:t>
            </a:r>
            <a:r>
              <a:rPr lang="en-US" altLang="zh-CN" sz="2400">
                <a:ea typeface="楷体_GB2312"/>
              </a:rPr>
              <a:t>A</a:t>
            </a:r>
            <a:r>
              <a:rPr lang="zh-CN" altLang="en-US" sz="2400">
                <a:ea typeface="楷体_GB2312"/>
              </a:rPr>
              <a:t>点的电势为</a:t>
            </a:r>
            <a:endParaRPr lang="zh-CN" altLang="en-US" sz="3600">
              <a:solidFill>
                <a:srgbClr val="FF3300"/>
              </a:solidFill>
              <a:ea typeface="楷体_GB2312"/>
            </a:endParaRPr>
          </a:p>
        </p:txBody>
      </p:sp>
      <p:graphicFrame>
        <p:nvGraphicFramePr>
          <p:cNvPr id="271385" name="Object 25"/>
          <p:cNvGraphicFramePr>
            <a:graphicFrameLocks noChangeAspect="1"/>
          </p:cNvGraphicFramePr>
          <p:nvPr/>
        </p:nvGraphicFramePr>
        <p:xfrm>
          <a:off x="1908175" y="1341438"/>
          <a:ext cx="1828800" cy="1028700"/>
        </p:xfrm>
        <a:graphic>
          <a:graphicData uri="http://schemas.openxmlformats.org/presentationml/2006/ole">
            <mc:AlternateContent xmlns:mc="http://schemas.openxmlformats.org/markup-compatibility/2006">
              <mc:Choice xmlns:v="urn:schemas-microsoft-com:vml" Requires="v">
                <p:oleObj spid="_x0000_s104576" name="公式" r:id="rId15" imgW="787058" imgH="444307" progId="Equation.3">
                  <p:embed/>
                </p:oleObj>
              </mc:Choice>
              <mc:Fallback>
                <p:oleObj name="公式" r:id="rId15" imgW="787058" imgH="444307" progId="Equation.3">
                  <p:embed/>
                  <p:pic>
                    <p:nvPicPr>
                      <p:cNvPr id="271385"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8175" y="1341438"/>
                        <a:ext cx="1828800" cy="10287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86" name="Object 26"/>
          <p:cNvGraphicFramePr>
            <a:graphicFrameLocks noChangeAspect="1"/>
          </p:cNvGraphicFramePr>
          <p:nvPr/>
        </p:nvGraphicFramePr>
        <p:xfrm>
          <a:off x="3995738" y="1412875"/>
          <a:ext cx="1752600" cy="969963"/>
        </p:xfrm>
        <a:graphic>
          <a:graphicData uri="http://schemas.openxmlformats.org/presentationml/2006/ole">
            <mc:AlternateContent xmlns:mc="http://schemas.openxmlformats.org/markup-compatibility/2006">
              <mc:Choice xmlns:v="urn:schemas-microsoft-com:vml" Requires="v">
                <p:oleObj spid="_x0000_s104577" name="公式" r:id="rId17" imgW="799753" imgH="444307" progId="Equation.3">
                  <p:embed/>
                </p:oleObj>
              </mc:Choice>
              <mc:Fallback>
                <p:oleObj name="公式" r:id="rId17" imgW="799753" imgH="444307" progId="Equation.3">
                  <p:embed/>
                  <p:pic>
                    <p:nvPicPr>
                      <p:cNvPr id="271386"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95738" y="1412875"/>
                        <a:ext cx="1752600" cy="9699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87" name="Text Box 27"/>
          <p:cNvSpPr txBox="1">
            <a:spLocks noChangeArrowheads="1"/>
          </p:cNvSpPr>
          <p:nvPr/>
        </p:nvSpPr>
        <p:spPr bwMode="auto">
          <a:xfrm>
            <a:off x="152400" y="2362200"/>
            <a:ext cx="4681538"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由电势的叠加原理，</a:t>
            </a:r>
            <a:r>
              <a:rPr lang="en-US" altLang="zh-CN" sz="2400">
                <a:ea typeface="楷体_GB2312"/>
              </a:rPr>
              <a:t>A</a:t>
            </a:r>
            <a:r>
              <a:rPr lang="zh-CN" altLang="en-US" sz="2400">
                <a:ea typeface="楷体_GB2312"/>
              </a:rPr>
              <a:t>点的电势为</a:t>
            </a:r>
          </a:p>
        </p:txBody>
      </p:sp>
      <p:graphicFrame>
        <p:nvGraphicFramePr>
          <p:cNvPr id="271388" name="Object 28"/>
          <p:cNvGraphicFramePr>
            <a:graphicFrameLocks noChangeAspect="1"/>
          </p:cNvGraphicFramePr>
          <p:nvPr/>
        </p:nvGraphicFramePr>
        <p:xfrm>
          <a:off x="457200" y="2819400"/>
          <a:ext cx="5638800" cy="936625"/>
        </p:xfrm>
        <a:graphic>
          <a:graphicData uri="http://schemas.openxmlformats.org/presentationml/2006/ole">
            <mc:AlternateContent xmlns:mc="http://schemas.openxmlformats.org/markup-compatibility/2006">
              <mc:Choice xmlns:v="urn:schemas-microsoft-com:vml" Requires="v">
                <p:oleObj spid="_x0000_s104578" name="公式" r:id="rId19" imgW="2895600" imgH="482600" progId="Equation.3">
                  <p:embed/>
                </p:oleObj>
              </mc:Choice>
              <mc:Fallback>
                <p:oleObj name="公式" r:id="rId19" imgW="2895600" imgH="482600" progId="Equation.3">
                  <p:embed/>
                  <p:pic>
                    <p:nvPicPr>
                      <p:cNvPr id="271388"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7200" y="2819400"/>
                        <a:ext cx="5638800" cy="9366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89" name="Text Box 29"/>
          <p:cNvSpPr txBox="1">
            <a:spLocks noChangeArrowheads="1"/>
          </p:cNvSpPr>
          <p:nvPr/>
        </p:nvSpPr>
        <p:spPr bwMode="auto">
          <a:xfrm>
            <a:off x="228600" y="3733800"/>
            <a:ext cx="385445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a:rPr>
              <a:t>对于电偶极子，</a:t>
            </a:r>
            <a:r>
              <a:rPr lang="en-US" altLang="zh-CN" sz="2400" i="1">
                <a:ea typeface="楷体_GB2312"/>
              </a:rPr>
              <a:t>l </a:t>
            </a:r>
            <a:r>
              <a:rPr lang="en-US" altLang="zh-CN" sz="2400">
                <a:ea typeface="楷体_GB2312"/>
              </a:rPr>
              <a:t>&lt;&lt;</a:t>
            </a:r>
            <a:r>
              <a:rPr lang="en-US" altLang="zh-CN" sz="2400" i="1">
                <a:ea typeface="楷体_GB2312"/>
              </a:rPr>
              <a:t>r</a:t>
            </a:r>
            <a:r>
              <a:rPr lang="zh-CN" altLang="en-US" sz="2400">
                <a:ea typeface="楷体_GB2312"/>
              </a:rPr>
              <a:t>，所以</a:t>
            </a:r>
            <a:endParaRPr lang="zh-CN" altLang="en-US" sz="3600">
              <a:solidFill>
                <a:srgbClr val="FF3300"/>
              </a:solidFill>
              <a:ea typeface="楷体_GB2312"/>
            </a:endParaRPr>
          </a:p>
        </p:txBody>
      </p:sp>
      <p:graphicFrame>
        <p:nvGraphicFramePr>
          <p:cNvPr id="271390" name="Object 30"/>
          <p:cNvGraphicFramePr>
            <a:graphicFrameLocks noChangeAspect="1"/>
          </p:cNvGraphicFramePr>
          <p:nvPr/>
        </p:nvGraphicFramePr>
        <p:xfrm>
          <a:off x="685800" y="4267200"/>
          <a:ext cx="4114800" cy="579438"/>
        </p:xfrm>
        <a:graphic>
          <a:graphicData uri="http://schemas.openxmlformats.org/presentationml/2006/ole">
            <mc:AlternateContent xmlns:mc="http://schemas.openxmlformats.org/markup-compatibility/2006">
              <mc:Choice xmlns:v="urn:schemas-microsoft-com:vml" Requires="v">
                <p:oleObj spid="_x0000_s104579" name="公式" r:id="rId21" imgW="1625600" imgH="228600" progId="Equation.3">
                  <p:embed/>
                </p:oleObj>
              </mc:Choice>
              <mc:Fallback>
                <p:oleObj name="公式" r:id="rId21" imgW="1625600" imgH="228600" progId="Equation.3">
                  <p:embed/>
                  <p:pic>
                    <p:nvPicPr>
                      <p:cNvPr id="271390" name="Object 3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5800" y="4267200"/>
                        <a:ext cx="4114800" cy="5794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91" name="Object 31"/>
          <p:cNvGraphicFramePr>
            <a:graphicFrameLocks noChangeAspect="1"/>
          </p:cNvGraphicFramePr>
          <p:nvPr/>
        </p:nvGraphicFramePr>
        <p:xfrm>
          <a:off x="4875213" y="4156075"/>
          <a:ext cx="2286000" cy="949325"/>
        </p:xfrm>
        <a:graphic>
          <a:graphicData uri="http://schemas.openxmlformats.org/presentationml/2006/ole">
            <mc:AlternateContent xmlns:mc="http://schemas.openxmlformats.org/markup-compatibility/2006">
              <mc:Choice xmlns:v="urn:schemas-microsoft-com:vml" Requires="v">
                <p:oleObj spid="_x0000_s104580" name="公式" r:id="rId23" imgW="1066337" imgH="444307" progId="Equation.3">
                  <p:embed/>
                </p:oleObj>
              </mc:Choice>
              <mc:Fallback>
                <p:oleObj name="公式" r:id="rId23" imgW="1066337" imgH="444307" progId="Equation.3">
                  <p:embed/>
                  <p:pic>
                    <p:nvPicPr>
                      <p:cNvPr id="271391" name="Object 3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75213" y="4156075"/>
                        <a:ext cx="2286000" cy="9493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92" name="Text Box 32"/>
          <p:cNvSpPr txBox="1">
            <a:spLocks noChangeArrowheads="1"/>
          </p:cNvSpPr>
          <p:nvPr/>
        </p:nvSpPr>
        <p:spPr bwMode="auto">
          <a:xfrm>
            <a:off x="228600" y="4949825"/>
            <a:ext cx="3843338" cy="463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引入电偶极子的偶极矩</a:t>
            </a:r>
            <a:r>
              <a:rPr lang="en-US" altLang="zh-CN" sz="2400" i="1">
                <a:ea typeface="楷体_GB2312"/>
              </a:rPr>
              <a:t>p=ql</a:t>
            </a:r>
            <a:endParaRPr lang="en-US" altLang="zh-CN" sz="2400">
              <a:ea typeface="楷体_GB2312"/>
            </a:endParaRPr>
          </a:p>
        </p:txBody>
      </p:sp>
      <p:graphicFrame>
        <p:nvGraphicFramePr>
          <p:cNvPr id="271393" name="Object 33"/>
          <p:cNvGraphicFramePr>
            <a:graphicFrameLocks noChangeAspect="1"/>
          </p:cNvGraphicFramePr>
          <p:nvPr/>
        </p:nvGraphicFramePr>
        <p:xfrm>
          <a:off x="144463" y="5589588"/>
          <a:ext cx="4211637" cy="1038225"/>
        </p:xfrm>
        <a:graphic>
          <a:graphicData uri="http://schemas.openxmlformats.org/presentationml/2006/ole">
            <mc:AlternateContent xmlns:mc="http://schemas.openxmlformats.org/markup-compatibility/2006">
              <mc:Choice xmlns:v="urn:schemas-microsoft-com:vml" Requires="v">
                <p:oleObj spid="_x0000_s104581" name="公式" r:id="rId25" imgW="2057400" imgH="457200" progId="Equation.3">
                  <p:embed/>
                </p:oleObj>
              </mc:Choice>
              <mc:Fallback>
                <p:oleObj name="公式" r:id="rId25" imgW="2057400" imgH="457200" progId="Equation.3">
                  <p:embed/>
                  <p:pic>
                    <p:nvPicPr>
                      <p:cNvPr id="271393" name="Object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4463" y="5589588"/>
                        <a:ext cx="4211637" cy="10382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1394" name="Text Box 34"/>
          <p:cNvSpPr txBox="1">
            <a:spLocks noChangeArrowheads="1"/>
          </p:cNvSpPr>
          <p:nvPr/>
        </p:nvSpPr>
        <p:spPr bwMode="auto">
          <a:xfrm>
            <a:off x="7429500" y="4419600"/>
            <a:ext cx="17145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电场强度为</a:t>
            </a:r>
          </a:p>
        </p:txBody>
      </p:sp>
      <p:graphicFrame>
        <p:nvGraphicFramePr>
          <p:cNvPr id="271395" name="Object 35"/>
          <p:cNvGraphicFramePr>
            <a:graphicFrameLocks noChangeAspect="1"/>
          </p:cNvGraphicFramePr>
          <p:nvPr/>
        </p:nvGraphicFramePr>
        <p:xfrm>
          <a:off x="4832350" y="4992688"/>
          <a:ext cx="4202113" cy="1027112"/>
        </p:xfrm>
        <a:graphic>
          <a:graphicData uri="http://schemas.openxmlformats.org/presentationml/2006/ole">
            <mc:AlternateContent xmlns:mc="http://schemas.openxmlformats.org/markup-compatibility/2006">
              <mc:Choice xmlns:v="urn:schemas-microsoft-com:vml" Requires="v">
                <p:oleObj spid="_x0000_s104582" name="公式" r:id="rId27" imgW="1968500" imgH="482600" progId="Equation.3">
                  <p:embed/>
                </p:oleObj>
              </mc:Choice>
              <mc:Fallback>
                <p:oleObj name="公式" r:id="rId27" imgW="1968500" imgH="482600" progId="Equation.3">
                  <p:embed/>
                  <p:pic>
                    <p:nvPicPr>
                      <p:cNvPr id="271395" name="Object 3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32350" y="4992688"/>
                        <a:ext cx="4202113" cy="10271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1396" name="Object 36"/>
          <p:cNvGraphicFramePr>
            <a:graphicFrameLocks noChangeAspect="1"/>
          </p:cNvGraphicFramePr>
          <p:nvPr/>
        </p:nvGraphicFramePr>
        <p:xfrm>
          <a:off x="4879975" y="5878513"/>
          <a:ext cx="4183063" cy="965200"/>
        </p:xfrm>
        <a:graphic>
          <a:graphicData uri="http://schemas.openxmlformats.org/presentationml/2006/ole">
            <mc:AlternateContent xmlns:mc="http://schemas.openxmlformats.org/markup-compatibility/2006">
              <mc:Choice xmlns:v="urn:schemas-microsoft-com:vml" Requires="v">
                <p:oleObj spid="_x0000_s104583" name="公式" r:id="rId29" imgW="1981200" imgH="457200" progId="Equation.3">
                  <p:embed/>
                </p:oleObj>
              </mc:Choice>
              <mc:Fallback>
                <p:oleObj name="公式" r:id="rId29" imgW="1981200" imgH="457200" progId="Equation.3">
                  <p:embed/>
                  <p:pic>
                    <p:nvPicPr>
                      <p:cNvPr id="271396" name="Object 3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879975" y="5878513"/>
                        <a:ext cx="4183063" cy="965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66" name="对象 1"/>
          <p:cNvGraphicFramePr>
            <a:graphicFrameLocks noChangeAspect="1"/>
          </p:cNvGraphicFramePr>
          <p:nvPr>
            <p:extLst/>
          </p:nvPr>
        </p:nvGraphicFramePr>
        <p:xfrm>
          <a:off x="7682923" y="2740025"/>
          <a:ext cx="533400" cy="552450"/>
        </p:xfrm>
        <a:graphic>
          <a:graphicData uri="http://schemas.openxmlformats.org/presentationml/2006/ole">
            <mc:AlternateContent xmlns:mc="http://schemas.openxmlformats.org/markup-compatibility/2006">
              <mc:Choice xmlns:v="urn:schemas-microsoft-com:vml" Requires="v">
                <p:oleObj spid="_x0000_s104584" name="公式" r:id="rId31" imgW="126725" imgH="177415" progId="Equation.3">
                  <p:embed/>
                </p:oleObj>
              </mc:Choice>
              <mc:Fallback>
                <p:oleObj name="公式" r:id="rId31" imgW="126725" imgH="177415" progId="Equation.3">
                  <p:embed/>
                  <p:pic>
                    <p:nvPicPr>
                      <p:cNvPr id="27666" name="对象 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682923" y="2740025"/>
                        <a:ext cx="5334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右弧形箭头 1"/>
          <p:cNvSpPr/>
          <p:nvPr/>
        </p:nvSpPr>
        <p:spPr bwMode="auto">
          <a:xfrm>
            <a:off x="7572375" y="3063875"/>
            <a:ext cx="255588" cy="412750"/>
          </a:xfrm>
          <a:prstGeom prst="curvedLeftArrow">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20000"/>
              </a:spcBef>
              <a:spcAft>
                <a:spcPct val="0"/>
              </a:spcAft>
              <a:buClrTx/>
              <a:buSzTx/>
              <a:buFontTx/>
              <a:buNone/>
              <a:tabLst/>
            </a:pPr>
            <a:endParaRPr kumimoji="1" lang="zh-CN" altLang="en-US" sz="3600" b="1" i="0" u="none" strike="noStrike" cap="none" normalizeH="0" baseline="0">
              <a:ln>
                <a:noFill/>
              </a:ln>
              <a:solidFill>
                <a:srgbClr val="FF3300"/>
              </a:solidFill>
              <a:effectLst/>
              <a:latin typeface="Times New Roman" pitchFamily="18" charset="0"/>
              <a:ea typeface="楷体_GB2312" pitchFamily="49" charset="-122"/>
            </a:endParaRPr>
          </a:p>
        </p:txBody>
      </p:sp>
      <p:cxnSp>
        <p:nvCxnSpPr>
          <p:cNvPr id="4" name="直接连接符 3"/>
          <p:cNvCxnSpPr/>
          <p:nvPr/>
        </p:nvCxnSpPr>
        <p:spPr bwMode="auto">
          <a:xfrm flipH="1" flipV="1">
            <a:off x="7554912" y="3195637"/>
            <a:ext cx="488952" cy="201614"/>
          </a:xfrm>
          <a:prstGeom prst="line">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p:cNvCxnSpPr/>
          <p:nvPr/>
        </p:nvCxnSpPr>
        <p:spPr bwMode="auto">
          <a:xfrm flipH="1" flipV="1">
            <a:off x="6963368" y="3212976"/>
            <a:ext cx="488952" cy="201614"/>
          </a:xfrm>
          <a:prstGeom prst="line">
            <a:avLst/>
          </a:prstGeom>
          <a:solidFill>
            <a:srgbClr val="FFFF66"/>
          </a:solidFill>
          <a:ln w="12700"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84037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1384"/>
                                        </p:tgtEl>
                                        <p:attrNameLst>
                                          <p:attrName>style.visibility</p:attrName>
                                        </p:attrNameLst>
                                      </p:cBhvr>
                                      <p:to>
                                        <p:strVal val="visible"/>
                                      </p:to>
                                    </p:set>
                                    <p:animEffect transition="in" filter="wipe(left)">
                                      <p:cBhvr>
                                        <p:cTn id="7" dur="500"/>
                                        <p:tgtEl>
                                          <p:spTgt spid="2713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1385"/>
                                        </p:tgtEl>
                                        <p:attrNameLst>
                                          <p:attrName>style.visibility</p:attrName>
                                        </p:attrNameLst>
                                      </p:cBhvr>
                                      <p:to>
                                        <p:strVal val="visible"/>
                                      </p:to>
                                    </p:set>
                                    <p:animEffect transition="in" filter="wipe(left)">
                                      <p:cBhvr>
                                        <p:cTn id="12" dur="500"/>
                                        <p:tgtEl>
                                          <p:spTgt spid="2713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1386"/>
                                        </p:tgtEl>
                                        <p:attrNameLst>
                                          <p:attrName>style.visibility</p:attrName>
                                        </p:attrNameLst>
                                      </p:cBhvr>
                                      <p:to>
                                        <p:strVal val="visible"/>
                                      </p:to>
                                    </p:set>
                                    <p:animEffect transition="in" filter="wipe(left)">
                                      <p:cBhvr>
                                        <p:cTn id="17" dur="500"/>
                                        <p:tgtEl>
                                          <p:spTgt spid="271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1387"/>
                                        </p:tgtEl>
                                        <p:attrNameLst>
                                          <p:attrName>style.visibility</p:attrName>
                                        </p:attrNameLst>
                                      </p:cBhvr>
                                      <p:to>
                                        <p:strVal val="visible"/>
                                      </p:to>
                                    </p:set>
                                    <p:animEffect transition="in" filter="wipe(left)">
                                      <p:cBhvr>
                                        <p:cTn id="22" dur="500"/>
                                        <p:tgtEl>
                                          <p:spTgt spid="2713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1388"/>
                                        </p:tgtEl>
                                        <p:attrNameLst>
                                          <p:attrName>style.visibility</p:attrName>
                                        </p:attrNameLst>
                                      </p:cBhvr>
                                      <p:to>
                                        <p:strVal val="visible"/>
                                      </p:to>
                                    </p:set>
                                    <p:animEffect transition="in" filter="wipe(left)">
                                      <p:cBhvr>
                                        <p:cTn id="27" dur="500"/>
                                        <p:tgtEl>
                                          <p:spTgt spid="2713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1389"/>
                                        </p:tgtEl>
                                        <p:attrNameLst>
                                          <p:attrName>style.visibility</p:attrName>
                                        </p:attrNameLst>
                                      </p:cBhvr>
                                      <p:to>
                                        <p:strVal val="visible"/>
                                      </p:to>
                                    </p:set>
                                    <p:animEffect transition="in" filter="wipe(left)">
                                      <p:cBhvr>
                                        <p:cTn id="32" dur="500"/>
                                        <p:tgtEl>
                                          <p:spTgt spid="2713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71390"/>
                                        </p:tgtEl>
                                        <p:attrNameLst>
                                          <p:attrName>style.visibility</p:attrName>
                                        </p:attrNameLst>
                                      </p:cBhvr>
                                      <p:to>
                                        <p:strVal val="visible"/>
                                      </p:to>
                                    </p:set>
                                    <p:animEffect transition="in" filter="wipe(left)">
                                      <p:cBhvr>
                                        <p:cTn id="37" dur="500"/>
                                        <p:tgtEl>
                                          <p:spTgt spid="27139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71391"/>
                                        </p:tgtEl>
                                        <p:attrNameLst>
                                          <p:attrName>style.visibility</p:attrName>
                                        </p:attrNameLst>
                                      </p:cBhvr>
                                      <p:to>
                                        <p:strVal val="visible"/>
                                      </p:to>
                                    </p:set>
                                    <p:animEffect transition="in" filter="wipe(left)">
                                      <p:cBhvr>
                                        <p:cTn id="42" dur="500"/>
                                        <p:tgtEl>
                                          <p:spTgt spid="27139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1392"/>
                                        </p:tgtEl>
                                        <p:attrNameLst>
                                          <p:attrName>style.visibility</p:attrName>
                                        </p:attrNameLst>
                                      </p:cBhvr>
                                      <p:to>
                                        <p:strVal val="visible"/>
                                      </p:to>
                                    </p:set>
                                    <p:animEffect transition="in" filter="wipe(left)">
                                      <p:cBhvr>
                                        <p:cTn id="47" dur="500"/>
                                        <p:tgtEl>
                                          <p:spTgt spid="27139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71393"/>
                                        </p:tgtEl>
                                        <p:attrNameLst>
                                          <p:attrName>style.visibility</p:attrName>
                                        </p:attrNameLst>
                                      </p:cBhvr>
                                      <p:to>
                                        <p:strVal val="visible"/>
                                      </p:to>
                                    </p:set>
                                    <p:animEffect transition="in" filter="wipe(left)">
                                      <p:cBhvr>
                                        <p:cTn id="52" dur="500"/>
                                        <p:tgtEl>
                                          <p:spTgt spid="27139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1394"/>
                                        </p:tgtEl>
                                        <p:attrNameLst>
                                          <p:attrName>style.visibility</p:attrName>
                                        </p:attrNameLst>
                                      </p:cBhvr>
                                      <p:to>
                                        <p:strVal val="visible"/>
                                      </p:to>
                                    </p:set>
                                    <p:animEffect transition="in" filter="wipe(left)">
                                      <p:cBhvr>
                                        <p:cTn id="57" dur="500"/>
                                        <p:tgtEl>
                                          <p:spTgt spid="27139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71395"/>
                                        </p:tgtEl>
                                        <p:attrNameLst>
                                          <p:attrName>style.visibility</p:attrName>
                                        </p:attrNameLst>
                                      </p:cBhvr>
                                      <p:to>
                                        <p:strVal val="visible"/>
                                      </p:to>
                                    </p:set>
                                    <p:animEffect transition="in" filter="wipe(left)">
                                      <p:cBhvr>
                                        <p:cTn id="62" dur="500"/>
                                        <p:tgtEl>
                                          <p:spTgt spid="2713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71396"/>
                                        </p:tgtEl>
                                        <p:attrNameLst>
                                          <p:attrName>style.visibility</p:attrName>
                                        </p:attrNameLst>
                                      </p:cBhvr>
                                      <p:to>
                                        <p:strVal val="visible"/>
                                      </p:to>
                                    </p:set>
                                    <p:animEffect transition="in" filter="wipe(left)">
                                      <p:cBhvr>
                                        <p:cTn id="67" dur="500"/>
                                        <p:tgtEl>
                                          <p:spTgt spid="271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84" grpId="0" autoUpdateAnimBg="0"/>
      <p:bldP spid="271387" grpId="0" autoUpdateAnimBg="0"/>
      <p:bldP spid="271389" grpId="0" autoUpdateAnimBg="0"/>
      <p:bldP spid="271392" grpId="0" autoUpdateAnimBg="0"/>
      <p:bldP spid="27139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2386" name="Group 2"/>
          <p:cNvGrpSpPr>
            <a:grpSpLocks/>
          </p:cNvGrpSpPr>
          <p:nvPr/>
        </p:nvGrpSpPr>
        <p:grpSpPr bwMode="auto">
          <a:xfrm>
            <a:off x="5486400" y="2070100"/>
            <a:ext cx="2895600" cy="777875"/>
            <a:chOff x="3456" y="182"/>
            <a:chExt cx="1824" cy="490"/>
          </a:xfrm>
        </p:grpSpPr>
        <p:sp>
          <p:nvSpPr>
            <p:cNvPr id="28692" name="Line 3"/>
            <p:cNvSpPr>
              <a:spLocks noChangeShapeType="1"/>
            </p:cNvSpPr>
            <p:nvPr/>
          </p:nvSpPr>
          <p:spPr bwMode="auto">
            <a:xfrm>
              <a:off x="3456" y="624"/>
              <a:ext cx="1824"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8693" name="Oval 4"/>
            <p:cNvSpPr>
              <a:spLocks noChangeArrowheads="1"/>
            </p:cNvSpPr>
            <p:nvPr/>
          </p:nvSpPr>
          <p:spPr bwMode="auto">
            <a:xfrm>
              <a:off x="3744" y="576"/>
              <a:ext cx="96" cy="96"/>
            </a:xfrm>
            <a:prstGeom prst="ellipse">
              <a:avLst/>
            </a:prstGeom>
            <a:solidFill>
              <a:srgbClr val="000000"/>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694" name="Oval 5"/>
            <p:cNvSpPr>
              <a:spLocks noChangeArrowheads="1"/>
            </p:cNvSpPr>
            <p:nvPr/>
          </p:nvSpPr>
          <p:spPr bwMode="auto">
            <a:xfrm>
              <a:off x="4512" y="576"/>
              <a:ext cx="96" cy="96"/>
            </a:xfrm>
            <a:prstGeom prst="ellipse">
              <a:avLst/>
            </a:prstGeom>
            <a:solidFill>
              <a:srgbClr val="000000"/>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695" name="Text Box 6"/>
            <p:cNvSpPr txBox="1">
              <a:spLocks noChangeArrowheads="1"/>
            </p:cNvSpPr>
            <p:nvPr/>
          </p:nvSpPr>
          <p:spPr bwMode="auto">
            <a:xfrm>
              <a:off x="3593" y="182"/>
              <a:ext cx="301"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FF3300"/>
                  </a:solidFill>
                  <a:ea typeface="楷体_GB2312"/>
                </a:rPr>
                <a:t>-</a:t>
              </a:r>
              <a:r>
                <a:rPr lang="en-US" altLang="zh-CN" sz="2800" i="1">
                  <a:solidFill>
                    <a:srgbClr val="FF3300"/>
                  </a:solidFill>
                  <a:ea typeface="楷体_GB2312"/>
                </a:rPr>
                <a:t>q</a:t>
              </a:r>
              <a:endParaRPr lang="en-US" altLang="zh-CN" sz="3600">
                <a:solidFill>
                  <a:srgbClr val="FF3300"/>
                </a:solidFill>
                <a:ea typeface="楷体_GB2312"/>
              </a:endParaRPr>
            </a:p>
          </p:txBody>
        </p:sp>
        <p:sp>
          <p:nvSpPr>
            <p:cNvPr id="28696" name="Text Box 7"/>
            <p:cNvSpPr txBox="1">
              <a:spLocks noChangeArrowheads="1"/>
            </p:cNvSpPr>
            <p:nvPr/>
          </p:nvSpPr>
          <p:spPr bwMode="auto">
            <a:xfrm>
              <a:off x="4377" y="192"/>
              <a:ext cx="354"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FF3300"/>
                  </a:solidFill>
                  <a:ea typeface="楷体_GB2312"/>
                </a:rPr>
                <a:t>+</a:t>
              </a:r>
              <a:r>
                <a:rPr lang="en-US" altLang="zh-CN" sz="2800" i="1">
                  <a:solidFill>
                    <a:srgbClr val="FF3300"/>
                  </a:solidFill>
                  <a:ea typeface="楷体_GB2312"/>
                </a:rPr>
                <a:t>q</a:t>
              </a:r>
              <a:endParaRPr lang="en-US" altLang="zh-CN" sz="3600">
                <a:solidFill>
                  <a:srgbClr val="FF3300"/>
                </a:solidFill>
                <a:ea typeface="楷体_GB2312"/>
              </a:endParaRPr>
            </a:p>
          </p:txBody>
        </p:sp>
      </p:grpSp>
      <p:grpSp>
        <p:nvGrpSpPr>
          <p:cNvPr id="272392" name="Group 8"/>
          <p:cNvGrpSpPr>
            <a:grpSpLocks/>
          </p:cNvGrpSpPr>
          <p:nvPr/>
        </p:nvGrpSpPr>
        <p:grpSpPr bwMode="auto">
          <a:xfrm>
            <a:off x="5703888" y="4965700"/>
            <a:ext cx="1806575" cy="1539875"/>
            <a:chOff x="3593" y="1104"/>
            <a:chExt cx="1138" cy="970"/>
          </a:xfrm>
        </p:grpSpPr>
        <p:sp>
          <p:nvSpPr>
            <p:cNvPr id="28686" name="Oval 9"/>
            <p:cNvSpPr>
              <a:spLocks noChangeArrowheads="1"/>
            </p:cNvSpPr>
            <p:nvPr/>
          </p:nvSpPr>
          <p:spPr bwMode="auto">
            <a:xfrm>
              <a:off x="3744" y="1978"/>
              <a:ext cx="96" cy="96"/>
            </a:xfrm>
            <a:prstGeom prst="ellipse">
              <a:avLst/>
            </a:prstGeom>
            <a:solidFill>
              <a:srgbClr val="000000"/>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687" name="Oval 10"/>
            <p:cNvSpPr>
              <a:spLocks noChangeArrowheads="1"/>
            </p:cNvSpPr>
            <p:nvPr/>
          </p:nvSpPr>
          <p:spPr bwMode="auto">
            <a:xfrm>
              <a:off x="4512" y="1978"/>
              <a:ext cx="96" cy="96"/>
            </a:xfrm>
            <a:prstGeom prst="ellipse">
              <a:avLst/>
            </a:prstGeom>
            <a:solidFill>
              <a:srgbClr val="000000"/>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3600">
                <a:solidFill>
                  <a:srgbClr val="FF3300"/>
                </a:solidFill>
                <a:ea typeface="楷体_GB2312"/>
              </a:endParaRPr>
            </a:p>
          </p:txBody>
        </p:sp>
        <p:sp>
          <p:nvSpPr>
            <p:cNvPr id="28688" name="Text Box 11"/>
            <p:cNvSpPr txBox="1">
              <a:spLocks noChangeArrowheads="1"/>
            </p:cNvSpPr>
            <p:nvPr/>
          </p:nvSpPr>
          <p:spPr bwMode="auto">
            <a:xfrm>
              <a:off x="3593" y="1584"/>
              <a:ext cx="301"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FF3300"/>
                  </a:solidFill>
                  <a:ea typeface="楷体_GB2312"/>
                </a:rPr>
                <a:t>-</a:t>
              </a:r>
              <a:r>
                <a:rPr lang="en-US" altLang="zh-CN" sz="2800" i="1">
                  <a:solidFill>
                    <a:srgbClr val="FF3300"/>
                  </a:solidFill>
                  <a:ea typeface="楷体_GB2312"/>
                </a:rPr>
                <a:t>q</a:t>
              </a:r>
              <a:endParaRPr lang="en-US" altLang="zh-CN" sz="3600">
                <a:solidFill>
                  <a:srgbClr val="FF3300"/>
                </a:solidFill>
                <a:ea typeface="楷体_GB2312"/>
              </a:endParaRPr>
            </a:p>
          </p:txBody>
        </p:sp>
        <p:sp>
          <p:nvSpPr>
            <p:cNvPr id="28689" name="Text Box 12"/>
            <p:cNvSpPr txBox="1">
              <a:spLocks noChangeArrowheads="1"/>
            </p:cNvSpPr>
            <p:nvPr/>
          </p:nvSpPr>
          <p:spPr bwMode="auto">
            <a:xfrm>
              <a:off x="4377" y="1594"/>
              <a:ext cx="354" cy="32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800">
                  <a:solidFill>
                    <a:srgbClr val="FF3300"/>
                  </a:solidFill>
                  <a:ea typeface="楷体_GB2312"/>
                </a:rPr>
                <a:t>+</a:t>
              </a:r>
              <a:r>
                <a:rPr lang="en-US" altLang="zh-CN" sz="2800" i="1">
                  <a:solidFill>
                    <a:srgbClr val="FF3300"/>
                  </a:solidFill>
                  <a:ea typeface="楷体_GB2312"/>
                </a:rPr>
                <a:t>q</a:t>
              </a:r>
              <a:endParaRPr lang="en-US" altLang="zh-CN" sz="3600">
                <a:solidFill>
                  <a:srgbClr val="FF3300"/>
                </a:solidFill>
                <a:ea typeface="楷体_GB2312"/>
              </a:endParaRPr>
            </a:p>
          </p:txBody>
        </p:sp>
        <p:sp>
          <p:nvSpPr>
            <p:cNvPr id="28690" name="Line 13"/>
            <p:cNvSpPr>
              <a:spLocks noChangeShapeType="1"/>
            </p:cNvSpPr>
            <p:nvPr/>
          </p:nvSpPr>
          <p:spPr bwMode="auto">
            <a:xfrm>
              <a:off x="3792" y="2016"/>
              <a:ext cx="76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28691" name="Line 14"/>
            <p:cNvSpPr>
              <a:spLocks noChangeShapeType="1"/>
            </p:cNvSpPr>
            <p:nvPr/>
          </p:nvSpPr>
          <p:spPr bwMode="auto">
            <a:xfrm flipV="1">
              <a:off x="4176" y="1104"/>
              <a:ext cx="0" cy="91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sp>
        <p:nvSpPr>
          <p:cNvPr id="272399" name="Text Box 15"/>
          <p:cNvSpPr txBox="1">
            <a:spLocks noChangeArrowheads="1"/>
          </p:cNvSpPr>
          <p:nvPr/>
        </p:nvSpPr>
        <p:spPr bwMode="auto">
          <a:xfrm>
            <a:off x="595313" y="2590800"/>
            <a:ext cx="29464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电偶极子的延长线上</a:t>
            </a:r>
          </a:p>
        </p:txBody>
      </p:sp>
      <p:graphicFrame>
        <p:nvGraphicFramePr>
          <p:cNvPr id="272400" name="Object 16"/>
          <p:cNvGraphicFramePr>
            <a:graphicFrameLocks noChangeAspect="1"/>
          </p:cNvGraphicFramePr>
          <p:nvPr/>
        </p:nvGraphicFramePr>
        <p:xfrm>
          <a:off x="3733800" y="2706688"/>
          <a:ext cx="762000" cy="417512"/>
        </p:xfrm>
        <a:graphic>
          <a:graphicData uri="http://schemas.openxmlformats.org/presentationml/2006/ole">
            <mc:AlternateContent xmlns:mc="http://schemas.openxmlformats.org/markup-compatibility/2006">
              <mc:Choice xmlns:v="urn:schemas-microsoft-com:vml" Requires="v">
                <p:oleObj spid="_x0000_s105538" name="公式" r:id="rId3" imgW="368140" imgH="203112" progId="Equation.3">
                  <p:embed/>
                </p:oleObj>
              </mc:Choice>
              <mc:Fallback>
                <p:oleObj name="公式" r:id="rId3" imgW="368140" imgH="203112" progId="Equation.3">
                  <p:embed/>
                  <p:pic>
                    <p:nvPicPr>
                      <p:cNvPr id="27240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2706688"/>
                        <a:ext cx="762000" cy="4175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401" name="Object 17"/>
          <p:cNvGraphicFramePr>
            <a:graphicFrameLocks noChangeAspect="1"/>
          </p:cNvGraphicFramePr>
          <p:nvPr/>
        </p:nvGraphicFramePr>
        <p:xfrm>
          <a:off x="1600200" y="3192463"/>
          <a:ext cx="1905000" cy="922337"/>
        </p:xfrm>
        <a:graphic>
          <a:graphicData uri="http://schemas.openxmlformats.org/presentationml/2006/ole">
            <mc:AlternateContent xmlns:mc="http://schemas.openxmlformats.org/markup-compatibility/2006">
              <mc:Choice xmlns:v="urn:schemas-microsoft-com:vml" Requires="v">
                <p:oleObj spid="_x0000_s105539" name="公式" r:id="rId5" imgW="914400" imgH="444500" progId="Equation.3">
                  <p:embed/>
                </p:oleObj>
              </mc:Choice>
              <mc:Fallback>
                <p:oleObj name="公式" r:id="rId5" imgW="914400" imgH="444500" progId="Equation.3">
                  <p:embed/>
                  <p:pic>
                    <p:nvPicPr>
                      <p:cNvPr id="272401"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192463"/>
                        <a:ext cx="1905000" cy="9223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402" name="Object 18"/>
          <p:cNvGraphicFramePr>
            <a:graphicFrameLocks noChangeAspect="1"/>
          </p:cNvGraphicFramePr>
          <p:nvPr/>
        </p:nvGraphicFramePr>
        <p:xfrm>
          <a:off x="1600200" y="4141788"/>
          <a:ext cx="990600" cy="506412"/>
        </p:xfrm>
        <a:graphic>
          <a:graphicData uri="http://schemas.openxmlformats.org/presentationml/2006/ole">
            <mc:AlternateContent xmlns:mc="http://schemas.openxmlformats.org/markup-compatibility/2006">
              <mc:Choice xmlns:v="urn:schemas-microsoft-com:vml" Requires="v">
                <p:oleObj spid="_x0000_s105540" name="公式" r:id="rId7" imgW="469696" imgH="241195" progId="Equation.3">
                  <p:embed/>
                </p:oleObj>
              </mc:Choice>
              <mc:Fallback>
                <p:oleObj name="公式" r:id="rId7" imgW="469696" imgH="241195" progId="Equation.3">
                  <p:embed/>
                  <p:pic>
                    <p:nvPicPr>
                      <p:cNvPr id="272402"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4141788"/>
                        <a:ext cx="990600" cy="5064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2403" name="Text Box 19"/>
          <p:cNvSpPr txBox="1">
            <a:spLocks noChangeArrowheads="1"/>
          </p:cNvSpPr>
          <p:nvPr/>
        </p:nvSpPr>
        <p:spPr bwMode="auto">
          <a:xfrm>
            <a:off x="671513" y="4800600"/>
            <a:ext cx="29464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a:ea typeface="楷体_GB2312"/>
              </a:rPr>
              <a:t>电偶极子的中垂线上</a:t>
            </a:r>
          </a:p>
        </p:txBody>
      </p:sp>
      <p:graphicFrame>
        <p:nvGraphicFramePr>
          <p:cNvPr id="272404" name="Object 20"/>
          <p:cNvGraphicFramePr>
            <a:graphicFrameLocks noChangeAspect="1"/>
          </p:cNvGraphicFramePr>
          <p:nvPr/>
        </p:nvGraphicFramePr>
        <p:xfrm>
          <a:off x="3886200" y="4876800"/>
          <a:ext cx="838200" cy="401638"/>
        </p:xfrm>
        <a:graphic>
          <a:graphicData uri="http://schemas.openxmlformats.org/presentationml/2006/ole">
            <mc:AlternateContent xmlns:mc="http://schemas.openxmlformats.org/markup-compatibility/2006">
              <mc:Choice xmlns:v="urn:schemas-microsoft-com:vml" Requires="v">
                <p:oleObj spid="_x0000_s105541" name="公式" r:id="rId9" imgW="368140" imgH="177723" progId="Equation.3">
                  <p:embed/>
                </p:oleObj>
              </mc:Choice>
              <mc:Fallback>
                <p:oleObj name="公式" r:id="rId9" imgW="368140" imgH="177723" progId="Equation.3">
                  <p:embed/>
                  <p:pic>
                    <p:nvPicPr>
                      <p:cNvPr id="272404"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6200" y="4876800"/>
                        <a:ext cx="838200" cy="4016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405" name="Object 21"/>
          <p:cNvGraphicFramePr>
            <a:graphicFrameLocks noChangeAspect="1"/>
          </p:cNvGraphicFramePr>
          <p:nvPr/>
        </p:nvGraphicFramePr>
        <p:xfrm>
          <a:off x="1676400" y="5297488"/>
          <a:ext cx="2209800" cy="950912"/>
        </p:xfrm>
        <a:graphic>
          <a:graphicData uri="http://schemas.openxmlformats.org/presentationml/2006/ole">
            <mc:AlternateContent xmlns:mc="http://schemas.openxmlformats.org/markup-compatibility/2006">
              <mc:Choice xmlns:v="urn:schemas-microsoft-com:vml" Requires="v">
                <p:oleObj spid="_x0000_s105542" name="公式" r:id="rId11" imgW="1028254" imgH="444307" progId="Equation.3">
                  <p:embed/>
                </p:oleObj>
              </mc:Choice>
              <mc:Fallback>
                <p:oleObj name="公式" r:id="rId11" imgW="1028254" imgH="444307" progId="Equation.3">
                  <p:embed/>
                  <p:pic>
                    <p:nvPicPr>
                      <p:cNvPr id="272405"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5297488"/>
                        <a:ext cx="2209800" cy="9509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406" name="Object 22"/>
          <p:cNvGraphicFramePr>
            <a:graphicFrameLocks noChangeAspect="1"/>
          </p:cNvGraphicFramePr>
          <p:nvPr/>
        </p:nvGraphicFramePr>
        <p:xfrm>
          <a:off x="1752600" y="6200775"/>
          <a:ext cx="990600" cy="504825"/>
        </p:xfrm>
        <a:graphic>
          <a:graphicData uri="http://schemas.openxmlformats.org/presentationml/2006/ole">
            <mc:AlternateContent xmlns:mc="http://schemas.openxmlformats.org/markup-compatibility/2006">
              <mc:Choice xmlns:v="urn:schemas-microsoft-com:vml" Requires="v">
                <p:oleObj spid="_x0000_s105543" name="公式" r:id="rId13" imgW="469696" imgH="241195" progId="Equation.3">
                  <p:embed/>
                </p:oleObj>
              </mc:Choice>
              <mc:Fallback>
                <p:oleObj name="公式" r:id="rId13" imgW="469696" imgH="241195" progId="Equation.3">
                  <p:embed/>
                  <p:pic>
                    <p:nvPicPr>
                      <p:cNvPr id="272406"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6200775"/>
                        <a:ext cx="990600" cy="5048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407" name="Object 23"/>
          <p:cNvGraphicFramePr>
            <a:graphicFrameLocks noChangeAspect="1"/>
          </p:cNvGraphicFramePr>
          <p:nvPr/>
        </p:nvGraphicFramePr>
        <p:xfrm>
          <a:off x="336550" y="228600"/>
          <a:ext cx="4202113" cy="1027113"/>
        </p:xfrm>
        <a:graphic>
          <a:graphicData uri="http://schemas.openxmlformats.org/presentationml/2006/ole">
            <mc:AlternateContent xmlns:mc="http://schemas.openxmlformats.org/markup-compatibility/2006">
              <mc:Choice xmlns:v="urn:schemas-microsoft-com:vml" Requires="v">
                <p:oleObj spid="_x0000_s105544" name="公式" r:id="rId14" imgW="1968500" imgH="482600" progId="Equation.3">
                  <p:embed/>
                </p:oleObj>
              </mc:Choice>
              <mc:Fallback>
                <p:oleObj name="公式" r:id="rId14" imgW="1968500" imgH="482600" progId="Equation.3">
                  <p:embed/>
                  <p:pic>
                    <p:nvPicPr>
                      <p:cNvPr id="272407"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6550" y="228600"/>
                        <a:ext cx="4202113" cy="10271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2408" name="Object 24"/>
          <p:cNvGraphicFramePr>
            <a:graphicFrameLocks noChangeAspect="1"/>
          </p:cNvGraphicFramePr>
          <p:nvPr/>
        </p:nvGraphicFramePr>
        <p:xfrm>
          <a:off x="309563" y="1308100"/>
          <a:ext cx="4181475" cy="965200"/>
        </p:xfrm>
        <a:graphic>
          <a:graphicData uri="http://schemas.openxmlformats.org/presentationml/2006/ole">
            <mc:AlternateContent xmlns:mc="http://schemas.openxmlformats.org/markup-compatibility/2006">
              <mc:Choice xmlns:v="urn:schemas-microsoft-com:vml" Requires="v">
                <p:oleObj spid="_x0000_s105545" name="公式" r:id="rId16" imgW="1981200" imgH="457200" progId="Equation.3">
                  <p:embed/>
                </p:oleObj>
              </mc:Choice>
              <mc:Fallback>
                <p:oleObj name="公式" r:id="rId16" imgW="1981200" imgH="457200" progId="Equation.3">
                  <p:embed/>
                  <p:pic>
                    <p:nvPicPr>
                      <p:cNvPr id="272408" name="Object 2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9563" y="1308100"/>
                        <a:ext cx="4181475" cy="965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368471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72407"/>
                                        </p:tgtEl>
                                        <p:attrNameLst>
                                          <p:attrName>style.visibility</p:attrName>
                                        </p:attrNameLst>
                                      </p:cBhvr>
                                      <p:to>
                                        <p:strVal val="visible"/>
                                      </p:to>
                                    </p:set>
                                    <p:animEffect transition="in" filter="wipe(left)">
                                      <p:cBhvr>
                                        <p:cTn id="7" dur="500"/>
                                        <p:tgtEl>
                                          <p:spTgt spid="272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2408"/>
                                        </p:tgtEl>
                                        <p:attrNameLst>
                                          <p:attrName>style.visibility</p:attrName>
                                        </p:attrNameLst>
                                      </p:cBhvr>
                                      <p:to>
                                        <p:strVal val="visible"/>
                                      </p:to>
                                    </p:set>
                                    <p:animEffect transition="in" filter="wipe(left)">
                                      <p:cBhvr>
                                        <p:cTn id="12" dur="500"/>
                                        <p:tgtEl>
                                          <p:spTgt spid="2724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2386"/>
                                        </p:tgtEl>
                                        <p:attrNameLst>
                                          <p:attrName>style.visibility</p:attrName>
                                        </p:attrNameLst>
                                      </p:cBhvr>
                                      <p:to>
                                        <p:strVal val="visible"/>
                                      </p:to>
                                    </p:set>
                                    <p:animEffect transition="in" filter="wipe(left)">
                                      <p:cBhvr>
                                        <p:cTn id="17" dur="500"/>
                                        <p:tgtEl>
                                          <p:spTgt spid="272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2399"/>
                                        </p:tgtEl>
                                        <p:attrNameLst>
                                          <p:attrName>style.visibility</p:attrName>
                                        </p:attrNameLst>
                                      </p:cBhvr>
                                      <p:to>
                                        <p:strVal val="visible"/>
                                      </p:to>
                                    </p:set>
                                    <p:animEffect transition="in" filter="wipe(left)">
                                      <p:cBhvr>
                                        <p:cTn id="22" dur="500"/>
                                        <p:tgtEl>
                                          <p:spTgt spid="2723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2400"/>
                                        </p:tgtEl>
                                        <p:attrNameLst>
                                          <p:attrName>style.visibility</p:attrName>
                                        </p:attrNameLst>
                                      </p:cBhvr>
                                      <p:to>
                                        <p:strVal val="visible"/>
                                      </p:to>
                                    </p:set>
                                    <p:animEffect transition="in" filter="wipe(left)">
                                      <p:cBhvr>
                                        <p:cTn id="27" dur="500"/>
                                        <p:tgtEl>
                                          <p:spTgt spid="2724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2401"/>
                                        </p:tgtEl>
                                        <p:attrNameLst>
                                          <p:attrName>style.visibility</p:attrName>
                                        </p:attrNameLst>
                                      </p:cBhvr>
                                      <p:to>
                                        <p:strVal val="visible"/>
                                      </p:to>
                                    </p:set>
                                    <p:animEffect transition="in" filter="wipe(left)">
                                      <p:cBhvr>
                                        <p:cTn id="32" dur="500"/>
                                        <p:tgtEl>
                                          <p:spTgt spid="2724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72402"/>
                                        </p:tgtEl>
                                        <p:attrNameLst>
                                          <p:attrName>style.visibility</p:attrName>
                                        </p:attrNameLst>
                                      </p:cBhvr>
                                      <p:to>
                                        <p:strVal val="visible"/>
                                      </p:to>
                                    </p:set>
                                    <p:animEffect transition="in" filter="wipe(left)">
                                      <p:cBhvr>
                                        <p:cTn id="37" dur="500"/>
                                        <p:tgtEl>
                                          <p:spTgt spid="2724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2403"/>
                                        </p:tgtEl>
                                        <p:attrNameLst>
                                          <p:attrName>style.visibility</p:attrName>
                                        </p:attrNameLst>
                                      </p:cBhvr>
                                      <p:to>
                                        <p:strVal val="visible"/>
                                      </p:to>
                                    </p:set>
                                    <p:animEffect transition="in" filter="wipe(left)">
                                      <p:cBhvr>
                                        <p:cTn id="42" dur="500"/>
                                        <p:tgtEl>
                                          <p:spTgt spid="27240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72392"/>
                                        </p:tgtEl>
                                        <p:attrNameLst>
                                          <p:attrName>style.visibility</p:attrName>
                                        </p:attrNameLst>
                                      </p:cBhvr>
                                      <p:to>
                                        <p:strVal val="visible"/>
                                      </p:to>
                                    </p:set>
                                    <p:animEffect transition="in" filter="wipe(left)">
                                      <p:cBhvr>
                                        <p:cTn id="47" dur="500"/>
                                        <p:tgtEl>
                                          <p:spTgt spid="27239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72404"/>
                                        </p:tgtEl>
                                        <p:attrNameLst>
                                          <p:attrName>style.visibility</p:attrName>
                                        </p:attrNameLst>
                                      </p:cBhvr>
                                      <p:to>
                                        <p:strVal val="visible"/>
                                      </p:to>
                                    </p:set>
                                    <p:animEffect transition="in" filter="wipe(left)">
                                      <p:cBhvr>
                                        <p:cTn id="52" dur="500"/>
                                        <p:tgtEl>
                                          <p:spTgt spid="2724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72405"/>
                                        </p:tgtEl>
                                        <p:attrNameLst>
                                          <p:attrName>style.visibility</p:attrName>
                                        </p:attrNameLst>
                                      </p:cBhvr>
                                      <p:to>
                                        <p:strVal val="visible"/>
                                      </p:to>
                                    </p:set>
                                    <p:animEffect transition="in" filter="wipe(left)">
                                      <p:cBhvr>
                                        <p:cTn id="57" dur="500"/>
                                        <p:tgtEl>
                                          <p:spTgt spid="27240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72406"/>
                                        </p:tgtEl>
                                        <p:attrNameLst>
                                          <p:attrName>style.visibility</p:attrName>
                                        </p:attrNameLst>
                                      </p:cBhvr>
                                      <p:to>
                                        <p:strVal val="visible"/>
                                      </p:to>
                                    </p:set>
                                    <p:animEffect transition="in" filter="wipe(left)">
                                      <p:cBhvr>
                                        <p:cTn id="62" dur="500"/>
                                        <p:tgtEl>
                                          <p:spTgt spid="27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9" grpId="0" autoUpdateAnimBg="0"/>
      <p:bldP spid="27240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矩形 1"/>
          <p:cNvSpPr>
            <a:spLocks noChangeArrowheads="1"/>
          </p:cNvSpPr>
          <p:nvPr/>
        </p:nvSpPr>
        <p:spPr bwMode="auto">
          <a:xfrm>
            <a:off x="323528" y="1412776"/>
            <a:ext cx="8424863"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dirty="0">
                <a:solidFill>
                  <a:srgbClr val="FF3300"/>
                </a:solidFill>
                <a:ea typeface="楷体_GB2312"/>
              </a:rPr>
              <a:t>第</a:t>
            </a:r>
            <a:r>
              <a:rPr lang="en-US" altLang="zh-CN" sz="2800" dirty="0">
                <a:solidFill>
                  <a:srgbClr val="FF3300"/>
                </a:solidFill>
                <a:ea typeface="楷体_GB2312"/>
              </a:rPr>
              <a:t>7</a:t>
            </a:r>
            <a:r>
              <a:rPr lang="zh-CN" altLang="en-US" sz="2800" dirty="0">
                <a:solidFill>
                  <a:srgbClr val="FF3300"/>
                </a:solidFill>
                <a:ea typeface="楷体_GB2312"/>
              </a:rPr>
              <a:t>章作业</a:t>
            </a:r>
            <a:endParaRPr lang="en-US" altLang="zh-CN" sz="3600" dirty="0">
              <a:solidFill>
                <a:srgbClr val="FF3300"/>
              </a:solidFill>
              <a:ea typeface="楷体_GB2312"/>
            </a:endParaRPr>
          </a:p>
          <a:p>
            <a:pPr algn="ctr" eaLnBrk="1" hangingPunct="1">
              <a:spcBef>
                <a:spcPct val="0"/>
              </a:spcBef>
              <a:buFontTx/>
              <a:buNone/>
            </a:pPr>
            <a:r>
              <a:rPr lang="zh-CN" altLang="en-US" sz="3600">
                <a:ea typeface="楷体_GB2312"/>
              </a:rPr>
              <a:t>电势</a:t>
            </a:r>
            <a:r>
              <a:rPr lang="zh-CN" altLang="en-US" sz="3600" dirty="0">
                <a:ea typeface="楷体_GB2312"/>
              </a:rPr>
              <a:t>计算：</a:t>
            </a:r>
            <a:endParaRPr lang="en-US" altLang="zh-CN" sz="3600" dirty="0">
              <a:ea typeface="楷体_GB2312"/>
            </a:endParaRPr>
          </a:p>
          <a:p>
            <a:pPr algn="ctr" eaLnBrk="1" hangingPunct="1">
              <a:spcBef>
                <a:spcPct val="0"/>
              </a:spcBef>
              <a:buFontTx/>
              <a:buNone/>
            </a:pPr>
            <a:r>
              <a:rPr lang="en-US" altLang="zh-CN" sz="3600">
                <a:solidFill>
                  <a:srgbClr val="FF3300"/>
                </a:solidFill>
                <a:ea typeface="楷体_GB2312"/>
              </a:rPr>
              <a:t> 24,25,26,27,</a:t>
            </a:r>
          </a:p>
          <a:p>
            <a:pPr algn="ctr" eaLnBrk="1" hangingPunct="1">
              <a:spcBef>
                <a:spcPct val="0"/>
              </a:spcBef>
              <a:buFontTx/>
              <a:buNone/>
            </a:pPr>
            <a:r>
              <a:rPr lang="en-US" altLang="zh-CN" sz="3600">
                <a:solidFill>
                  <a:srgbClr val="FF3300"/>
                </a:solidFill>
                <a:ea typeface="楷体_GB2312"/>
              </a:rPr>
              <a:t>28, 29,30, 31, </a:t>
            </a:r>
            <a:endParaRPr lang="en-US" altLang="zh-CN" sz="3600" dirty="0">
              <a:solidFill>
                <a:srgbClr val="FF3300"/>
              </a:solidFill>
              <a:ea typeface="楷体_GB2312"/>
            </a:endParaRPr>
          </a:p>
          <a:p>
            <a:pPr eaLnBrk="1" hangingPunct="1">
              <a:spcBef>
                <a:spcPct val="0"/>
              </a:spcBef>
              <a:buFontTx/>
              <a:buNone/>
            </a:pPr>
            <a:endParaRPr lang="en-US" altLang="zh-CN" sz="1200">
              <a:solidFill>
                <a:srgbClr val="FF3300"/>
              </a:solidFill>
              <a:ea typeface="楷体_GB2312"/>
            </a:endParaRPr>
          </a:p>
          <a:p>
            <a:pPr eaLnBrk="1" hangingPunct="1">
              <a:spcBef>
                <a:spcPct val="0"/>
              </a:spcBef>
              <a:buFontTx/>
              <a:buNone/>
            </a:pPr>
            <a:endParaRPr lang="en-US" altLang="zh-CN" sz="120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p:txBody>
      </p:sp>
    </p:spTree>
    <p:extLst>
      <p:ext uri="{BB962C8B-B14F-4D97-AF65-F5344CB8AC3E}">
        <p14:creationId xmlns:p14="http://schemas.microsoft.com/office/powerpoint/2010/main" val="3025418803"/>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34925" y="665310"/>
            <a:ext cx="3262432" cy="553998"/>
          </a:xfrm>
          <a:prstGeom prst="rect">
            <a:avLst/>
          </a:prstGeom>
          <a:solidFill>
            <a:srgbClr val="FF66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000">
                <a:solidFill>
                  <a:schemeClr val="bg1"/>
                </a:solidFill>
                <a:ea typeface="楷体_GB2312"/>
              </a:rPr>
              <a:t>电场强度的计算：</a:t>
            </a:r>
          </a:p>
        </p:txBody>
      </p:sp>
      <p:grpSp>
        <p:nvGrpSpPr>
          <p:cNvPr id="30723" name="Group 3"/>
          <p:cNvGrpSpPr>
            <a:grpSpLocks/>
          </p:cNvGrpSpPr>
          <p:nvPr/>
        </p:nvGrpSpPr>
        <p:grpSpPr bwMode="auto">
          <a:xfrm>
            <a:off x="0" y="3357563"/>
            <a:ext cx="8996363" cy="1736725"/>
            <a:chOff x="22" y="2116"/>
            <a:chExt cx="5667" cy="1094"/>
          </a:xfrm>
        </p:grpSpPr>
        <p:sp>
          <p:nvSpPr>
            <p:cNvPr id="30738" name="Text Box 4"/>
            <p:cNvSpPr txBox="1">
              <a:spLocks noChangeArrowheads="1"/>
            </p:cNvSpPr>
            <p:nvPr/>
          </p:nvSpPr>
          <p:spPr bwMode="auto">
            <a:xfrm>
              <a:off x="22" y="2432"/>
              <a:ext cx="1570" cy="349"/>
            </a:xfrm>
            <a:prstGeom prst="rect">
              <a:avLst/>
            </a:prstGeom>
            <a:solidFill>
              <a:srgbClr val="FF66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000">
                  <a:solidFill>
                    <a:schemeClr val="bg1"/>
                  </a:solidFill>
                  <a:ea typeface="楷体_GB2312"/>
                </a:rPr>
                <a:t>电势的计算：</a:t>
              </a:r>
            </a:p>
          </p:txBody>
        </p:sp>
        <p:sp>
          <p:nvSpPr>
            <p:cNvPr id="30739" name="Text Box 5"/>
            <p:cNvSpPr txBox="1">
              <a:spLocks noChangeArrowheads="1"/>
            </p:cNvSpPr>
            <p:nvPr/>
          </p:nvSpPr>
          <p:spPr bwMode="auto">
            <a:xfrm>
              <a:off x="2290" y="2387"/>
              <a:ext cx="1570" cy="6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000">
                  <a:ea typeface="楷体_GB2312"/>
                </a:rPr>
                <a:t>1  </a:t>
              </a:r>
              <a:r>
                <a:rPr lang="zh-CN" altLang="en-US" sz="3000">
                  <a:ea typeface="楷体_GB2312"/>
                </a:rPr>
                <a:t>电势叠加法</a:t>
              </a:r>
            </a:p>
            <a:p>
              <a:pPr eaLnBrk="1" hangingPunct="1">
                <a:spcBef>
                  <a:spcPct val="0"/>
                </a:spcBef>
                <a:buFontTx/>
                <a:buNone/>
              </a:pPr>
              <a:r>
                <a:rPr lang="en-US" altLang="zh-CN" sz="3000">
                  <a:ea typeface="楷体_GB2312"/>
                </a:rPr>
                <a:t>2  </a:t>
              </a:r>
              <a:r>
                <a:rPr lang="zh-CN" altLang="en-US" sz="3000">
                  <a:ea typeface="楷体_GB2312"/>
                </a:rPr>
                <a:t>场强积分法</a:t>
              </a:r>
            </a:p>
          </p:txBody>
        </p:sp>
        <p:graphicFrame>
          <p:nvGraphicFramePr>
            <p:cNvPr id="30740" name="Object 6"/>
            <p:cNvGraphicFramePr>
              <a:graphicFrameLocks noChangeAspect="1"/>
            </p:cNvGraphicFramePr>
            <p:nvPr/>
          </p:nvGraphicFramePr>
          <p:xfrm>
            <a:off x="4278" y="2116"/>
            <a:ext cx="981" cy="551"/>
          </p:xfrm>
          <a:graphic>
            <a:graphicData uri="http://schemas.openxmlformats.org/presentationml/2006/ole">
              <mc:AlternateContent xmlns:mc="http://schemas.openxmlformats.org/markup-compatibility/2006">
                <mc:Choice xmlns:v="urn:schemas-microsoft-com:vml" Requires="v">
                  <p:oleObj spid="_x0000_s106546" name="Equation" r:id="rId4" imgW="787058" imgH="444307" progId="Equation.DSMT4">
                    <p:embed/>
                  </p:oleObj>
                </mc:Choice>
                <mc:Fallback>
                  <p:oleObj name="Equation" r:id="rId4" imgW="787058" imgH="444307" progId="Equation.DSMT4">
                    <p:embed/>
                    <p:pic>
                      <p:nvPicPr>
                        <p:cNvPr id="3074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8" y="2116"/>
                          <a:ext cx="981" cy="551"/>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41" name="Object 7"/>
            <p:cNvGraphicFramePr>
              <a:graphicFrameLocks noChangeAspect="1"/>
            </p:cNvGraphicFramePr>
            <p:nvPr/>
          </p:nvGraphicFramePr>
          <p:xfrm>
            <a:off x="4226" y="2724"/>
            <a:ext cx="1463" cy="486"/>
          </p:xfrm>
          <a:graphic>
            <a:graphicData uri="http://schemas.openxmlformats.org/presentationml/2006/ole">
              <mc:AlternateContent xmlns:mc="http://schemas.openxmlformats.org/markup-compatibility/2006">
                <mc:Choice xmlns:v="urn:schemas-microsoft-com:vml" Requires="v">
                  <p:oleObj spid="_x0000_s106547" name="Equation" r:id="rId6" imgW="1333500" imgH="444500" progId="Equation.DSMT4">
                    <p:embed/>
                  </p:oleObj>
                </mc:Choice>
                <mc:Fallback>
                  <p:oleObj name="Equation" r:id="rId6" imgW="1333500" imgH="444500" progId="Equation.DSMT4">
                    <p:embed/>
                    <p:pic>
                      <p:nvPicPr>
                        <p:cNvPr id="3074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6" y="2724"/>
                          <a:ext cx="1463" cy="486"/>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724" name="Group 8"/>
          <p:cNvGrpSpPr>
            <a:grpSpLocks/>
          </p:cNvGrpSpPr>
          <p:nvPr/>
        </p:nvGrpSpPr>
        <p:grpSpPr bwMode="auto">
          <a:xfrm>
            <a:off x="34925" y="2852738"/>
            <a:ext cx="4752975" cy="825500"/>
            <a:chOff x="22" y="1888"/>
            <a:chExt cx="2861" cy="429"/>
          </a:xfrm>
        </p:grpSpPr>
        <p:sp>
          <p:nvSpPr>
            <p:cNvPr id="30736" name="Rectangle 9"/>
            <p:cNvSpPr>
              <a:spLocks noChangeArrowheads="1"/>
            </p:cNvSpPr>
            <p:nvPr/>
          </p:nvSpPr>
          <p:spPr bwMode="auto">
            <a:xfrm>
              <a:off x="22" y="1888"/>
              <a:ext cx="881" cy="289"/>
            </a:xfrm>
            <a:prstGeom prst="rect">
              <a:avLst/>
            </a:prstGeom>
            <a:solidFill>
              <a:srgbClr val="FF6600"/>
            </a:solidFill>
            <a:ln>
              <a:noFill/>
            </a:ln>
            <a:effectLst/>
            <a:extLs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000">
                  <a:solidFill>
                    <a:schemeClr val="bg1"/>
                  </a:solidFill>
                  <a:ea typeface="楷体_GB2312"/>
                </a:rPr>
                <a:t>电势能</a:t>
              </a:r>
              <a:r>
                <a:rPr lang="en-US" altLang="zh-CN" sz="3000">
                  <a:solidFill>
                    <a:schemeClr val="bg1"/>
                  </a:solidFill>
                  <a:ea typeface="楷体_GB2312"/>
                </a:rPr>
                <a:t>:</a:t>
              </a:r>
            </a:p>
          </p:txBody>
        </p:sp>
        <p:graphicFrame>
          <p:nvGraphicFramePr>
            <p:cNvPr id="30737" name="Object 10"/>
            <p:cNvGraphicFramePr>
              <a:graphicFrameLocks noChangeAspect="1"/>
            </p:cNvGraphicFramePr>
            <p:nvPr/>
          </p:nvGraphicFramePr>
          <p:xfrm>
            <a:off x="1338" y="1888"/>
            <a:ext cx="1545" cy="429"/>
          </p:xfrm>
          <a:graphic>
            <a:graphicData uri="http://schemas.openxmlformats.org/presentationml/2006/ole">
              <mc:AlternateContent xmlns:mc="http://schemas.openxmlformats.org/markup-compatibility/2006">
                <mc:Choice xmlns:v="urn:schemas-microsoft-com:vml" Requires="v">
                  <p:oleObj spid="_x0000_s106548" name="公式" r:id="rId8" imgW="1206500" imgH="330200" progId="Equation.3">
                    <p:embed/>
                  </p:oleObj>
                </mc:Choice>
                <mc:Fallback>
                  <p:oleObj name="公式" r:id="rId8" imgW="1206500" imgH="330200" progId="Equation.3">
                    <p:embed/>
                    <p:pic>
                      <p:nvPicPr>
                        <p:cNvPr id="30737"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8" y="1888"/>
                          <a:ext cx="1545" cy="429"/>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725" name="Group 11"/>
          <p:cNvGrpSpPr>
            <a:grpSpLocks/>
          </p:cNvGrpSpPr>
          <p:nvPr/>
        </p:nvGrpSpPr>
        <p:grpSpPr bwMode="auto">
          <a:xfrm>
            <a:off x="34925" y="6092825"/>
            <a:ext cx="5689600" cy="731838"/>
            <a:chOff x="22" y="3838"/>
            <a:chExt cx="3584" cy="461"/>
          </a:xfrm>
        </p:grpSpPr>
        <p:sp>
          <p:nvSpPr>
            <p:cNvPr id="30734" name="Text Box 12"/>
            <p:cNvSpPr txBox="1">
              <a:spLocks noChangeArrowheads="1"/>
            </p:cNvSpPr>
            <p:nvPr/>
          </p:nvSpPr>
          <p:spPr bwMode="auto">
            <a:xfrm>
              <a:off x="22" y="3838"/>
              <a:ext cx="1905" cy="349"/>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000">
                  <a:solidFill>
                    <a:schemeClr val="bg1"/>
                  </a:solidFill>
                  <a:ea typeface="楷体_GB2312"/>
                </a:rPr>
                <a:t>环路定理</a:t>
              </a:r>
            </a:p>
          </p:txBody>
        </p:sp>
        <p:graphicFrame>
          <p:nvGraphicFramePr>
            <p:cNvPr id="30735" name="Object 13"/>
            <p:cNvGraphicFramePr>
              <a:graphicFrameLocks noChangeAspect="1"/>
            </p:cNvGraphicFramePr>
            <p:nvPr/>
          </p:nvGraphicFramePr>
          <p:xfrm>
            <a:off x="2517" y="3838"/>
            <a:ext cx="1089" cy="461"/>
          </p:xfrm>
          <a:graphic>
            <a:graphicData uri="http://schemas.openxmlformats.org/presentationml/2006/ole">
              <mc:AlternateContent xmlns:mc="http://schemas.openxmlformats.org/markup-compatibility/2006">
                <mc:Choice xmlns:v="urn:schemas-microsoft-com:vml" Requires="v">
                  <p:oleObj spid="_x0000_s106549" name="公式" r:id="rId10" imgW="685800" imgH="292100" progId="Equation.3">
                    <p:embed/>
                  </p:oleObj>
                </mc:Choice>
                <mc:Fallback>
                  <p:oleObj name="公式" r:id="rId10" imgW="685800" imgH="292100" progId="Equation.3">
                    <p:embed/>
                    <p:pic>
                      <p:nvPicPr>
                        <p:cNvPr id="30735"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7" y="3838"/>
                          <a:ext cx="1089" cy="461"/>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0726" name="Group 14"/>
          <p:cNvGrpSpPr>
            <a:grpSpLocks/>
          </p:cNvGrpSpPr>
          <p:nvPr/>
        </p:nvGrpSpPr>
        <p:grpSpPr bwMode="auto">
          <a:xfrm>
            <a:off x="34925" y="5126038"/>
            <a:ext cx="8691563" cy="889000"/>
            <a:chOff x="22" y="3229"/>
            <a:chExt cx="5475" cy="560"/>
          </a:xfrm>
        </p:grpSpPr>
        <p:graphicFrame>
          <p:nvGraphicFramePr>
            <p:cNvPr id="30732" name="Object 15"/>
            <p:cNvGraphicFramePr>
              <a:graphicFrameLocks noChangeAspect="1"/>
            </p:cNvGraphicFramePr>
            <p:nvPr/>
          </p:nvGraphicFramePr>
          <p:xfrm>
            <a:off x="2510" y="3229"/>
            <a:ext cx="2987" cy="560"/>
          </p:xfrm>
          <a:graphic>
            <a:graphicData uri="http://schemas.openxmlformats.org/presentationml/2006/ole">
              <mc:AlternateContent xmlns:mc="http://schemas.openxmlformats.org/markup-compatibility/2006">
                <mc:Choice xmlns:v="urn:schemas-microsoft-com:vml" Requires="v">
                  <p:oleObj spid="_x0000_s106550" name="Equation" r:id="rId12" imgW="2362200" imgH="444500" progId="Equation.DSMT4">
                    <p:embed/>
                  </p:oleObj>
                </mc:Choice>
                <mc:Fallback>
                  <p:oleObj name="Equation" r:id="rId12" imgW="2362200" imgH="444500" progId="Equation.DSMT4">
                    <p:embed/>
                    <p:pic>
                      <p:nvPicPr>
                        <p:cNvPr id="30732"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0" y="3229"/>
                          <a:ext cx="2987" cy="56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33" name="Text Box 16"/>
            <p:cNvSpPr txBox="1">
              <a:spLocks noChangeArrowheads="1"/>
            </p:cNvSpPr>
            <p:nvPr/>
          </p:nvSpPr>
          <p:spPr bwMode="auto">
            <a:xfrm>
              <a:off x="22" y="3273"/>
              <a:ext cx="2472" cy="349"/>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000">
                  <a:solidFill>
                    <a:schemeClr val="bg1"/>
                  </a:solidFill>
                  <a:ea typeface="楷体_GB2312"/>
                </a:rPr>
                <a:t>两点之间的电势差</a:t>
              </a:r>
            </a:p>
          </p:txBody>
        </p:sp>
      </p:grpSp>
      <p:grpSp>
        <p:nvGrpSpPr>
          <p:cNvPr id="30727" name="Group 17"/>
          <p:cNvGrpSpPr>
            <a:grpSpLocks/>
          </p:cNvGrpSpPr>
          <p:nvPr/>
        </p:nvGrpSpPr>
        <p:grpSpPr bwMode="auto">
          <a:xfrm>
            <a:off x="943571" y="620713"/>
            <a:ext cx="7012980" cy="2378075"/>
            <a:chOff x="751" y="391"/>
            <a:chExt cx="4261" cy="1498"/>
          </a:xfrm>
        </p:grpSpPr>
        <p:sp>
          <p:nvSpPr>
            <p:cNvPr id="30728" name="Text Box 18"/>
            <p:cNvSpPr txBox="1">
              <a:spLocks noChangeArrowheads="1"/>
            </p:cNvSpPr>
            <p:nvPr/>
          </p:nvSpPr>
          <p:spPr bwMode="auto">
            <a:xfrm>
              <a:off x="751" y="795"/>
              <a:ext cx="2356" cy="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000">
                  <a:solidFill>
                    <a:srgbClr val="0000FF"/>
                  </a:solidFill>
                  <a:ea typeface="楷体_GB2312"/>
                </a:rPr>
                <a:t>1  </a:t>
              </a:r>
              <a:r>
                <a:rPr lang="zh-CN" altLang="en-US" sz="3000">
                  <a:solidFill>
                    <a:srgbClr val="0000FF"/>
                  </a:solidFill>
                  <a:ea typeface="楷体_GB2312"/>
                </a:rPr>
                <a:t>场强叠加原理</a:t>
              </a:r>
            </a:p>
            <a:p>
              <a:pPr eaLnBrk="1" hangingPunct="1">
                <a:spcBef>
                  <a:spcPct val="0"/>
                </a:spcBef>
                <a:buFontTx/>
                <a:buNone/>
              </a:pPr>
              <a:r>
                <a:rPr lang="en-US" altLang="zh-CN" sz="3000">
                  <a:solidFill>
                    <a:srgbClr val="0000FF"/>
                  </a:solidFill>
                  <a:ea typeface="楷体_GB2312"/>
                </a:rPr>
                <a:t>2  </a:t>
              </a:r>
              <a:r>
                <a:rPr lang="zh-CN" altLang="en-US" sz="3000">
                  <a:solidFill>
                    <a:srgbClr val="0000FF"/>
                  </a:solidFill>
                  <a:ea typeface="楷体_GB2312"/>
                </a:rPr>
                <a:t>高斯定理</a:t>
              </a:r>
            </a:p>
            <a:p>
              <a:pPr eaLnBrk="1" hangingPunct="1">
                <a:spcBef>
                  <a:spcPct val="0"/>
                </a:spcBef>
                <a:buFontTx/>
                <a:buNone/>
              </a:pPr>
              <a:r>
                <a:rPr lang="en-US" altLang="zh-CN" sz="3000">
                  <a:solidFill>
                    <a:srgbClr val="0000FF"/>
                  </a:solidFill>
                  <a:ea typeface="楷体_GB2312"/>
                </a:rPr>
                <a:t>3  </a:t>
              </a:r>
              <a:r>
                <a:rPr lang="zh-CN" altLang="en-US" sz="3000">
                  <a:solidFill>
                    <a:srgbClr val="0000FF"/>
                  </a:solidFill>
                  <a:ea typeface="楷体_GB2312"/>
                </a:rPr>
                <a:t>电势梯度</a:t>
              </a:r>
            </a:p>
          </p:txBody>
        </p:sp>
        <p:graphicFrame>
          <p:nvGraphicFramePr>
            <p:cNvPr id="30729" name="Object 19"/>
            <p:cNvGraphicFramePr>
              <a:graphicFrameLocks noChangeAspect="1"/>
            </p:cNvGraphicFramePr>
            <p:nvPr/>
          </p:nvGraphicFramePr>
          <p:xfrm>
            <a:off x="3424" y="391"/>
            <a:ext cx="1572" cy="509"/>
          </p:xfrm>
          <a:graphic>
            <a:graphicData uri="http://schemas.openxmlformats.org/presentationml/2006/ole">
              <mc:AlternateContent xmlns:mc="http://schemas.openxmlformats.org/markup-compatibility/2006">
                <mc:Choice xmlns:v="urn:schemas-microsoft-com:vml" Requires="v">
                  <p:oleObj spid="_x0000_s106551" name="公式" r:id="rId14" imgW="1600200" imgH="520700" progId="Equation.3">
                    <p:embed/>
                  </p:oleObj>
                </mc:Choice>
                <mc:Fallback>
                  <p:oleObj name="公式" r:id="rId14" imgW="1600200" imgH="520700" progId="Equation.3">
                    <p:embed/>
                    <p:pic>
                      <p:nvPicPr>
                        <p:cNvPr id="30729"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24" y="391"/>
                          <a:ext cx="1572" cy="509"/>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0" name="Object 20"/>
            <p:cNvGraphicFramePr>
              <a:graphicFrameLocks noChangeAspect="1"/>
            </p:cNvGraphicFramePr>
            <p:nvPr/>
          </p:nvGraphicFramePr>
          <p:xfrm>
            <a:off x="3424" y="935"/>
            <a:ext cx="1588" cy="544"/>
          </p:xfrm>
          <a:graphic>
            <a:graphicData uri="http://schemas.openxmlformats.org/presentationml/2006/ole">
              <mc:AlternateContent xmlns:mc="http://schemas.openxmlformats.org/markup-compatibility/2006">
                <mc:Choice xmlns:v="urn:schemas-microsoft-com:vml" Requires="v">
                  <p:oleObj spid="_x0000_s106552" name="公式" r:id="rId16" imgW="1180588" imgH="431613" progId="Equation.3">
                    <p:embed/>
                  </p:oleObj>
                </mc:Choice>
                <mc:Fallback>
                  <p:oleObj name="公式" r:id="rId16" imgW="1180588" imgH="431613" progId="Equation.3">
                    <p:embed/>
                    <p:pic>
                      <p:nvPicPr>
                        <p:cNvPr id="3073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24" y="935"/>
                          <a:ext cx="1588" cy="544"/>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1" name="Object 21"/>
            <p:cNvGraphicFramePr>
              <a:graphicFrameLocks noChangeAspect="1"/>
            </p:cNvGraphicFramePr>
            <p:nvPr/>
          </p:nvGraphicFramePr>
          <p:xfrm>
            <a:off x="3424" y="1525"/>
            <a:ext cx="1259" cy="364"/>
          </p:xfrm>
          <a:graphic>
            <a:graphicData uri="http://schemas.openxmlformats.org/presentationml/2006/ole">
              <mc:AlternateContent xmlns:mc="http://schemas.openxmlformats.org/markup-compatibility/2006">
                <mc:Choice xmlns:v="urn:schemas-microsoft-com:vml" Requires="v">
                  <p:oleObj spid="_x0000_s106553" name="公式" r:id="rId18" imgW="787400" imgH="228600" progId="Equation.3">
                    <p:embed/>
                  </p:oleObj>
                </mc:Choice>
                <mc:Fallback>
                  <p:oleObj name="公式" r:id="rId18" imgW="787400" imgH="228600" progId="Equation.3">
                    <p:embed/>
                    <p:pic>
                      <p:nvPicPr>
                        <p:cNvPr id="30731" name="Object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24" y="1525"/>
                          <a:ext cx="1259" cy="364"/>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 name="Text Box 2">
            <a:extLst>
              <a:ext uri="{FF2B5EF4-FFF2-40B4-BE49-F238E27FC236}">
                <a16:creationId xmlns:a16="http://schemas.microsoft.com/office/drawing/2014/main" id="{47B1EC94-BDD6-416C-89E9-A80A658F9957}"/>
              </a:ext>
            </a:extLst>
          </p:cNvPr>
          <p:cNvSpPr txBox="1">
            <a:spLocks noChangeArrowheads="1"/>
          </p:cNvSpPr>
          <p:nvPr/>
        </p:nvSpPr>
        <p:spPr bwMode="auto">
          <a:xfrm>
            <a:off x="2749243" y="45412"/>
            <a:ext cx="2492990" cy="553998"/>
          </a:xfrm>
          <a:prstGeom prst="rect">
            <a:avLst/>
          </a:prstGeom>
          <a:solidFill>
            <a:srgbClr val="FF66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3000">
                <a:solidFill>
                  <a:srgbClr val="3333FF"/>
                </a:solidFill>
                <a:ea typeface="楷体_GB2312"/>
              </a:rPr>
              <a:t>上节内容回顾</a:t>
            </a:r>
          </a:p>
        </p:txBody>
      </p:sp>
    </p:spTree>
    <p:extLst>
      <p:ext uri="{BB962C8B-B14F-4D97-AF65-F5344CB8AC3E}">
        <p14:creationId xmlns:p14="http://schemas.microsoft.com/office/powerpoint/2010/main" val="1826276582"/>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1122" name="Object 2"/>
          <p:cNvGraphicFramePr>
            <a:graphicFrameLocks noChangeAspect="1"/>
          </p:cNvGraphicFramePr>
          <p:nvPr/>
        </p:nvGraphicFramePr>
        <p:xfrm>
          <a:off x="5580063" y="0"/>
          <a:ext cx="1617662" cy="1049338"/>
        </p:xfrm>
        <a:graphic>
          <a:graphicData uri="http://schemas.openxmlformats.org/presentationml/2006/ole">
            <mc:AlternateContent xmlns:mc="http://schemas.openxmlformats.org/markup-compatibility/2006">
              <mc:Choice xmlns:v="urn:schemas-microsoft-com:vml" Requires="v">
                <p:oleObj spid="_x0000_s107570" name="Equation" r:id="rId3" imgW="685502" imgH="444307" progId="Equation.DSMT4">
                  <p:embed/>
                </p:oleObj>
              </mc:Choice>
              <mc:Fallback>
                <p:oleObj name="Equation" r:id="rId3" imgW="685502" imgH="444307" progId="Equation.DSMT4">
                  <p:embed/>
                  <p:pic>
                    <p:nvPicPr>
                      <p:cNvPr id="261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0"/>
                        <a:ext cx="1617662" cy="10493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23" name="Text Box 3"/>
          <p:cNvSpPr txBox="1">
            <a:spLocks noChangeArrowheads="1"/>
          </p:cNvSpPr>
          <p:nvPr/>
        </p:nvSpPr>
        <p:spPr bwMode="auto">
          <a:xfrm>
            <a:off x="0" y="1123950"/>
            <a:ext cx="5359400"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1</a:t>
            </a:r>
            <a:r>
              <a:rPr lang="zh-CN" altLang="en-US" sz="2400">
                <a:solidFill>
                  <a:srgbClr val="3333FF"/>
                </a:solidFill>
                <a:latin typeface="宋体" panose="02010600030101010101" pitchFamily="2" charset="-122"/>
                <a:ea typeface="楷体_GB2312"/>
              </a:rPr>
              <a:t>，均匀带电圆环轴线的电势。</a:t>
            </a:r>
            <a:endParaRPr lang="zh-CN" altLang="en-US">
              <a:solidFill>
                <a:srgbClr val="FF3300"/>
              </a:solidFill>
              <a:ea typeface="楷体_GB2312"/>
            </a:endParaRPr>
          </a:p>
        </p:txBody>
      </p:sp>
      <p:graphicFrame>
        <p:nvGraphicFramePr>
          <p:cNvPr id="261124" name="Object 4"/>
          <p:cNvGraphicFramePr>
            <a:graphicFrameLocks noChangeAspect="1"/>
          </p:cNvGraphicFramePr>
          <p:nvPr/>
        </p:nvGraphicFramePr>
        <p:xfrm>
          <a:off x="5003800" y="981075"/>
          <a:ext cx="2619375" cy="914400"/>
        </p:xfrm>
        <a:graphic>
          <a:graphicData uri="http://schemas.openxmlformats.org/presentationml/2006/ole">
            <mc:AlternateContent xmlns:mc="http://schemas.openxmlformats.org/markup-compatibility/2006">
              <mc:Choice xmlns:v="urn:schemas-microsoft-com:vml" Requires="v">
                <p:oleObj spid="_x0000_s107571" name="Equation" r:id="rId5" imgW="1269449" imgH="444307" progId="Equation.DSMT4">
                  <p:embed/>
                </p:oleObj>
              </mc:Choice>
              <mc:Fallback>
                <p:oleObj name="Equation" r:id="rId5" imgW="1269449" imgH="444307" progId="Equation.DSMT4">
                  <p:embed/>
                  <p:pic>
                    <p:nvPicPr>
                      <p:cNvPr id="26112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3800" y="981075"/>
                        <a:ext cx="2619375" cy="9144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25" name="Text Box 5"/>
          <p:cNvSpPr txBox="1">
            <a:spLocks noChangeArrowheads="1"/>
          </p:cNvSpPr>
          <p:nvPr/>
        </p:nvSpPr>
        <p:spPr bwMode="auto">
          <a:xfrm>
            <a:off x="34925" y="2060575"/>
            <a:ext cx="52165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2</a:t>
            </a:r>
            <a:r>
              <a:rPr lang="zh-CN" altLang="en-US" sz="2400">
                <a:solidFill>
                  <a:srgbClr val="3333FF"/>
                </a:solidFill>
                <a:latin typeface="宋体" panose="02010600030101010101" pitchFamily="2" charset="-122"/>
                <a:ea typeface="楷体_GB2312"/>
              </a:rPr>
              <a:t>，均匀带电圆盘轴线的电势。</a:t>
            </a:r>
            <a:endParaRPr lang="zh-CN" altLang="en-US">
              <a:solidFill>
                <a:srgbClr val="FF3300"/>
              </a:solidFill>
              <a:ea typeface="楷体_GB2312"/>
            </a:endParaRPr>
          </a:p>
        </p:txBody>
      </p:sp>
      <p:graphicFrame>
        <p:nvGraphicFramePr>
          <p:cNvPr id="261126" name="Object 6"/>
          <p:cNvGraphicFramePr>
            <a:graphicFrameLocks noChangeAspect="1"/>
          </p:cNvGraphicFramePr>
          <p:nvPr/>
        </p:nvGraphicFramePr>
        <p:xfrm>
          <a:off x="5435600" y="1989138"/>
          <a:ext cx="3192463" cy="949325"/>
        </p:xfrm>
        <a:graphic>
          <a:graphicData uri="http://schemas.openxmlformats.org/presentationml/2006/ole">
            <mc:AlternateContent xmlns:mc="http://schemas.openxmlformats.org/markup-compatibility/2006">
              <mc:Choice xmlns:v="urn:schemas-microsoft-com:vml" Requires="v">
                <p:oleObj spid="_x0000_s107572" name="Equation" r:id="rId7" imgW="1497950" imgH="444307" progId="Equation.DSMT4">
                  <p:embed/>
                </p:oleObj>
              </mc:Choice>
              <mc:Fallback>
                <p:oleObj name="Equation" r:id="rId7" imgW="1497950" imgH="444307" progId="Equation.DSMT4">
                  <p:embed/>
                  <p:pic>
                    <p:nvPicPr>
                      <p:cNvPr id="26112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35600" y="1989138"/>
                        <a:ext cx="3192463" cy="949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27" name="Text Box 7"/>
          <p:cNvSpPr txBox="1">
            <a:spLocks noChangeArrowheads="1"/>
          </p:cNvSpPr>
          <p:nvPr/>
        </p:nvSpPr>
        <p:spPr bwMode="auto">
          <a:xfrm>
            <a:off x="34925" y="2636838"/>
            <a:ext cx="445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3</a:t>
            </a:r>
            <a:r>
              <a:rPr lang="zh-CN" altLang="en-US" sz="2400">
                <a:solidFill>
                  <a:srgbClr val="3333FF"/>
                </a:solidFill>
                <a:latin typeface="宋体" panose="02010600030101010101" pitchFamily="2" charset="-122"/>
                <a:ea typeface="楷体_GB2312"/>
              </a:rPr>
              <a:t>，均匀带电球体的电势。 </a:t>
            </a:r>
          </a:p>
        </p:txBody>
      </p:sp>
      <p:graphicFrame>
        <p:nvGraphicFramePr>
          <p:cNvPr id="261128" name="Object 8"/>
          <p:cNvGraphicFramePr>
            <a:graphicFrameLocks noChangeAspect="1"/>
          </p:cNvGraphicFramePr>
          <p:nvPr/>
        </p:nvGraphicFramePr>
        <p:xfrm>
          <a:off x="395288" y="3068638"/>
          <a:ext cx="2805112" cy="1065212"/>
        </p:xfrm>
        <a:graphic>
          <a:graphicData uri="http://schemas.openxmlformats.org/presentationml/2006/ole">
            <mc:AlternateContent xmlns:mc="http://schemas.openxmlformats.org/markup-compatibility/2006">
              <mc:Choice xmlns:v="urn:schemas-microsoft-com:vml" Requires="v">
                <p:oleObj spid="_x0000_s107573" name="Equation" r:id="rId9" imgW="1167893" imgH="444307" progId="Equation.DSMT4">
                  <p:embed/>
                </p:oleObj>
              </mc:Choice>
              <mc:Fallback>
                <p:oleObj name="Equation" r:id="rId9" imgW="1167893" imgH="444307" progId="Equation.DSMT4">
                  <p:embed/>
                  <p:pic>
                    <p:nvPicPr>
                      <p:cNvPr id="261128"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068638"/>
                        <a:ext cx="2805112" cy="10652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29" name="Object 9"/>
          <p:cNvGraphicFramePr>
            <a:graphicFrameLocks noChangeAspect="1"/>
          </p:cNvGraphicFramePr>
          <p:nvPr/>
        </p:nvGraphicFramePr>
        <p:xfrm>
          <a:off x="4284663" y="3140075"/>
          <a:ext cx="4343400" cy="971550"/>
        </p:xfrm>
        <a:graphic>
          <a:graphicData uri="http://schemas.openxmlformats.org/presentationml/2006/ole">
            <mc:AlternateContent xmlns:mc="http://schemas.openxmlformats.org/markup-compatibility/2006">
              <mc:Choice xmlns:v="urn:schemas-microsoft-com:vml" Requires="v">
                <p:oleObj spid="_x0000_s107574" name="Equation" r:id="rId11" imgW="2044700" imgH="457200" progId="Equation.DSMT4">
                  <p:embed/>
                </p:oleObj>
              </mc:Choice>
              <mc:Fallback>
                <p:oleObj name="Equation" r:id="rId11" imgW="2044700" imgH="457200" progId="Equation.DSMT4">
                  <p:embed/>
                  <p:pic>
                    <p:nvPicPr>
                      <p:cNvPr id="261129"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84663" y="3140075"/>
                        <a:ext cx="4343400" cy="971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1130" name="Text Box 10"/>
          <p:cNvSpPr txBox="1">
            <a:spLocks noChangeArrowheads="1"/>
          </p:cNvSpPr>
          <p:nvPr/>
        </p:nvSpPr>
        <p:spPr bwMode="auto">
          <a:xfrm>
            <a:off x="0" y="5876925"/>
            <a:ext cx="46434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5</a:t>
            </a:r>
            <a:r>
              <a:rPr lang="zh-CN" altLang="en-US" sz="2400">
                <a:solidFill>
                  <a:srgbClr val="3333FF"/>
                </a:solidFill>
                <a:latin typeface="宋体" panose="02010600030101010101" pitchFamily="2" charset="-122"/>
                <a:ea typeface="楷体_GB2312"/>
              </a:rPr>
              <a:t>，求无限长均匀带电</a:t>
            </a:r>
          </a:p>
          <a:p>
            <a:pPr eaLnBrk="1" hangingPunct="1">
              <a:spcBef>
                <a:spcPct val="0"/>
              </a:spcBef>
              <a:buFontTx/>
              <a:buNone/>
            </a:pPr>
            <a:r>
              <a:rPr lang="zh-CN" altLang="en-US" sz="2400">
                <a:solidFill>
                  <a:srgbClr val="3333FF"/>
                </a:solidFill>
                <a:latin typeface="宋体" panose="02010600030101010101" pitchFamily="2" charset="-122"/>
                <a:ea typeface="楷体_GB2312"/>
              </a:rPr>
              <a:t>直线的电场中的电势分布。</a:t>
            </a:r>
          </a:p>
        </p:txBody>
      </p:sp>
      <p:graphicFrame>
        <p:nvGraphicFramePr>
          <p:cNvPr id="261131" name="Object 11"/>
          <p:cNvGraphicFramePr>
            <a:graphicFrameLocks noChangeAspect="1"/>
          </p:cNvGraphicFramePr>
          <p:nvPr/>
        </p:nvGraphicFramePr>
        <p:xfrm>
          <a:off x="4643438" y="5789613"/>
          <a:ext cx="2290762" cy="1068387"/>
        </p:xfrm>
        <a:graphic>
          <a:graphicData uri="http://schemas.openxmlformats.org/presentationml/2006/ole">
            <mc:AlternateContent xmlns:mc="http://schemas.openxmlformats.org/markup-compatibility/2006">
              <mc:Choice xmlns:v="urn:schemas-microsoft-com:vml" Requires="v">
                <p:oleObj spid="_x0000_s107575" name="Equation" r:id="rId13" imgW="952087" imgH="444307" progId="Equation.DSMT4">
                  <p:embed/>
                </p:oleObj>
              </mc:Choice>
              <mc:Fallback>
                <p:oleObj name="Equation" r:id="rId13" imgW="952087" imgH="444307" progId="Equation.DSMT4">
                  <p:embed/>
                  <p:pic>
                    <p:nvPicPr>
                      <p:cNvPr id="261131"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3438" y="5789613"/>
                        <a:ext cx="2290762"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56" name="Rectangle 12"/>
          <p:cNvSpPr>
            <a:spLocks noChangeArrowheads="1"/>
          </p:cNvSpPr>
          <p:nvPr/>
        </p:nvSpPr>
        <p:spPr bwMode="auto">
          <a:xfrm>
            <a:off x="250825" y="231775"/>
            <a:ext cx="4321175" cy="641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3600">
                <a:solidFill>
                  <a:schemeClr val="folHlink"/>
                </a:solidFill>
                <a:ea typeface="楷体_GB2312"/>
              </a:rPr>
              <a:t>点电荷电场的电势</a:t>
            </a:r>
          </a:p>
        </p:txBody>
      </p:sp>
      <p:sp>
        <p:nvSpPr>
          <p:cNvPr id="261133" name="Text Box 13"/>
          <p:cNvSpPr txBox="1">
            <a:spLocks noChangeArrowheads="1"/>
          </p:cNvSpPr>
          <p:nvPr/>
        </p:nvSpPr>
        <p:spPr bwMode="auto">
          <a:xfrm>
            <a:off x="0" y="4124325"/>
            <a:ext cx="445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3333FF"/>
                </a:solidFill>
                <a:latin typeface="宋体" panose="02010600030101010101" pitchFamily="2" charset="-122"/>
                <a:ea typeface="楷体_GB2312"/>
              </a:rPr>
              <a:t>例题</a:t>
            </a:r>
            <a:r>
              <a:rPr lang="en-US" altLang="zh-CN" sz="2400">
                <a:solidFill>
                  <a:srgbClr val="3333FF"/>
                </a:solidFill>
                <a:latin typeface="宋体" panose="02010600030101010101" pitchFamily="2" charset="-122"/>
                <a:ea typeface="楷体_GB2312"/>
              </a:rPr>
              <a:t>4</a:t>
            </a:r>
            <a:r>
              <a:rPr lang="zh-CN" altLang="en-US" sz="2400">
                <a:solidFill>
                  <a:srgbClr val="3333FF"/>
                </a:solidFill>
                <a:latin typeface="宋体" panose="02010600030101010101" pitchFamily="2" charset="-122"/>
                <a:ea typeface="楷体_GB2312"/>
              </a:rPr>
              <a:t>，均匀带电球壳的电势。 </a:t>
            </a:r>
          </a:p>
        </p:txBody>
      </p:sp>
      <p:graphicFrame>
        <p:nvGraphicFramePr>
          <p:cNvPr id="261134" name="Object 14"/>
          <p:cNvGraphicFramePr>
            <a:graphicFrameLocks noChangeAspect="1"/>
          </p:cNvGraphicFramePr>
          <p:nvPr/>
        </p:nvGraphicFramePr>
        <p:xfrm>
          <a:off x="1331913" y="4724400"/>
          <a:ext cx="2520950" cy="1065213"/>
        </p:xfrm>
        <a:graphic>
          <a:graphicData uri="http://schemas.openxmlformats.org/presentationml/2006/ole">
            <mc:AlternateContent xmlns:mc="http://schemas.openxmlformats.org/markup-compatibility/2006">
              <mc:Choice xmlns:v="urn:schemas-microsoft-com:vml" Requires="v">
                <p:oleObj spid="_x0000_s107576" name="Equation" r:id="rId15" imgW="1205977" imgH="444307" progId="Equation.DSMT4">
                  <p:embed/>
                </p:oleObj>
              </mc:Choice>
              <mc:Fallback>
                <p:oleObj name="Equation" r:id="rId15" imgW="1205977" imgH="444307" progId="Equation.DSMT4">
                  <p:embed/>
                  <p:pic>
                    <p:nvPicPr>
                      <p:cNvPr id="261134"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1913" y="4724400"/>
                        <a:ext cx="2520950" cy="10652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1135" name="Object 15"/>
          <p:cNvGraphicFramePr>
            <a:graphicFrameLocks noChangeAspect="1"/>
          </p:cNvGraphicFramePr>
          <p:nvPr/>
        </p:nvGraphicFramePr>
        <p:xfrm>
          <a:off x="5076825" y="4724400"/>
          <a:ext cx="2643188" cy="944563"/>
        </p:xfrm>
        <a:graphic>
          <a:graphicData uri="http://schemas.openxmlformats.org/presentationml/2006/ole">
            <mc:AlternateContent xmlns:mc="http://schemas.openxmlformats.org/markup-compatibility/2006">
              <mc:Choice xmlns:v="urn:schemas-microsoft-com:vml" Requires="v">
                <p:oleObj spid="_x0000_s107577" name="Equation" r:id="rId17" imgW="1244600" imgH="444500" progId="Equation.DSMT4">
                  <p:embed/>
                </p:oleObj>
              </mc:Choice>
              <mc:Fallback>
                <p:oleObj name="Equation" r:id="rId17" imgW="1244600" imgH="444500" progId="Equation.DSMT4">
                  <p:embed/>
                  <p:pic>
                    <p:nvPicPr>
                      <p:cNvPr id="261135"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76825" y="4724400"/>
                        <a:ext cx="2643188" cy="9445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1793764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wipe(left)">
                                      <p:cBhvr>
                                        <p:cTn id="7" dur="500"/>
                                        <p:tgtEl>
                                          <p:spTgt spid="261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1123"/>
                                        </p:tgtEl>
                                        <p:attrNameLst>
                                          <p:attrName>style.visibility</p:attrName>
                                        </p:attrNameLst>
                                      </p:cBhvr>
                                      <p:to>
                                        <p:strVal val="visible"/>
                                      </p:to>
                                    </p:set>
                                    <p:animEffect transition="in" filter="wipe(left)">
                                      <p:cBhvr>
                                        <p:cTn id="12" dur="500"/>
                                        <p:tgtEl>
                                          <p:spTgt spid="2611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1124"/>
                                        </p:tgtEl>
                                        <p:attrNameLst>
                                          <p:attrName>style.visibility</p:attrName>
                                        </p:attrNameLst>
                                      </p:cBhvr>
                                      <p:to>
                                        <p:strVal val="visible"/>
                                      </p:to>
                                    </p:set>
                                    <p:animEffect transition="in" filter="wipe(left)">
                                      <p:cBhvr>
                                        <p:cTn id="17" dur="500"/>
                                        <p:tgtEl>
                                          <p:spTgt spid="2611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1125"/>
                                        </p:tgtEl>
                                        <p:attrNameLst>
                                          <p:attrName>style.visibility</p:attrName>
                                        </p:attrNameLst>
                                      </p:cBhvr>
                                      <p:to>
                                        <p:strVal val="visible"/>
                                      </p:to>
                                    </p:set>
                                    <p:animEffect transition="in" filter="wipe(left)">
                                      <p:cBhvr>
                                        <p:cTn id="22" dur="500"/>
                                        <p:tgtEl>
                                          <p:spTgt spid="2611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1126"/>
                                        </p:tgtEl>
                                        <p:attrNameLst>
                                          <p:attrName>style.visibility</p:attrName>
                                        </p:attrNameLst>
                                      </p:cBhvr>
                                      <p:to>
                                        <p:strVal val="visible"/>
                                      </p:to>
                                    </p:set>
                                    <p:animEffect transition="in" filter="wipe(left)">
                                      <p:cBhvr>
                                        <p:cTn id="27" dur="500"/>
                                        <p:tgtEl>
                                          <p:spTgt spid="2611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1127"/>
                                        </p:tgtEl>
                                        <p:attrNameLst>
                                          <p:attrName>style.visibility</p:attrName>
                                        </p:attrNameLst>
                                      </p:cBhvr>
                                      <p:to>
                                        <p:strVal val="visible"/>
                                      </p:to>
                                    </p:set>
                                    <p:animEffect transition="in" filter="wipe(left)">
                                      <p:cBhvr>
                                        <p:cTn id="32" dur="500"/>
                                        <p:tgtEl>
                                          <p:spTgt spid="2611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1128"/>
                                        </p:tgtEl>
                                        <p:attrNameLst>
                                          <p:attrName>style.visibility</p:attrName>
                                        </p:attrNameLst>
                                      </p:cBhvr>
                                      <p:to>
                                        <p:strVal val="visible"/>
                                      </p:to>
                                    </p:set>
                                    <p:animEffect transition="in" filter="wipe(left)">
                                      <p:cBhvr>
                                        <p:cTn id="37" dur="500"/>
                                        <p:tgtEl>
                                          <p:spTgt spid="2611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1129"/>
                                        </p:tgtEl>
                                        <p:attrNameLst>
                                          <p:attrName>style.visibility</p:attrName>
                                        </p:attrNameLst>
                                      </p:cBhvr>
                                      <p:to>
                                        <p:strVal val="visible"/>
                                      </p:to>
                                    </p:set>
                                    <p:animEffect transition="in" filter="wipe(left)">
                                      <p:cBhvr>
                                        <p:cTn id="42" dur="500"/>
                                        <p:tgtEl>
                                          <p:spTgt spid="2611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1133"/>
                                        </p:tgtEl>
                                        <p:attrNameLst>
                                          <p:attrName>style.visibility</p:attrName>
                                        </p:attrNameLst>
                                      </p:cBhvr>
                                      <p:to>
                                        <p:strVal val="visible"/>
                                      </p:to>
                                    </p:set>
                                    <p:animEffect transition="in" filter="wipe(left)">
                                      <p:cBhvr>
                                        <p:cTn id="47" dur="500"/>
                                        <p:tgtEl>
                                          <p:spTgt spid="2611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1134"/>
                                        </p:tgtEl>
                                        <p:attrNameLst>
                                          <p:attrName>style.visibility</p:attrName>
                                        </p:attrNameLst>
                                      </p:cBhvr>
                                      <p:to>
                                        <p:strVal val="visible"/>
                                      </p:to>
                                    </p:set>
                                    <p:animEffect transition="in" filter="wipe(left)">
                                      <p:cBhvr>
                                        <p:cTn id="52" dur="500"/>
                                        <p:tgtEl>
                                          <p:spTgt spid="26113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1135"/>
                                        </p:tgtEl>
                                        <p:attrNameLst>
                                          <p:attrName>style.visibility</p:attrName>
                                        </p:attrNameLst>
                                      </p:cBhvr>
                                      <p:to>
                                        <p:strVal val="visible"/>
                                      </p:to>
                                    </p:set>
                                    <p:animEffect transition="in" filter="wipe(left)">
                                      <p:cBhvr>
                                        <p:cTn id="57" dur="500"/>
                                        <p:tgtEl>
                                          <p:spTgt spid="26113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1130"/>
                                        </p:tgtEl>
                                        <p:attrNameLst>
                                          <p:attrName>style.visibility</p:attrName>
                                        </p:attrNameLst>
                                      </p:cBhvr>
                                      <p:to>
                                        <p:strVal val="visible"/>
                                      </p:to>
                                    </p:set>
                                    <p:animEffect transition="in" filter="wipe(left)">
                                      <p:cBhvr>
                                        <p:cTn id="62" dur="500"/>
                                        <p:tgtEl>
                                          <p:spTgt spid="2611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1131"/>
                                        </p:tgtEl>
                                        <p:attrNameLst>
                                          <p:attrName>style.visibility</p:attrName>
                                        </p:attrNameLst>
                                      </p:cBhvr>
                                      <p:to>
                                        <p:strVal val="visible"/>
                                      </p:to>
                                    </p:set>
                                    <p:animEffect transition="in" filter="wipe(left)">
                                      <p:cBhvr>
                                        <p:cTn id="67" dur="500"/>
                                        <p:tgtEl>
                                          <p:spTgt spid="261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autoUpdateAnimBg="0"/>
      <p:bldP spid="261125" grpId="0" autoUpdateAnimBg="0"/>
      <p:bldP spid="261127" grpId="0" autoUpdateAnimBg="0"/>
      <p:bldP spid="261130" grpId="0" autoUpdateAnimBg="0"/>
      <p:bldP spid="26113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Text Box 2"/>
          <p:cNvSpPr txBox="1">
            <a:spLocks noChangeArrowheads="1"/>
          </p:cNvSpPr>
          <p:nvPr/>
        </p:nvSpPr>
        <p:spPr bwMode="auto">
          <a:xfrm>
            <a:off x="214313" y="1341438"/>
            <a:ext cx="8929687"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a:solidFill>
                  <a:schemeClr val="accent2"/>
                </a:solidFill>
                <a:latin typeface="宋体" panose="02010600030101010101" pitchFamily="2" charset="-122"/>
                <a:ea typeface="楷体_GB2312"/>
              </a:rPr>
              <a:t>1.</a:t>
            </a:r>
            <a:r>
              <a:rPr lang="zh-CN" altLang="en-US" sz="2400">
                <a:solidFill>
                  <a:schemeClr val="accent2"/>
                </a:solidFill>
                <a:latin typeface="宋体" panose="02010600030101010101" pitchFamily="2" charset="-122"/>
                <a:ea typeface="楷体_GB2312"/>
              </a:rPr>
              <a:t>导体  绝缘体  半导体</a:t>
            </a:r>
          </a:p>
          <a:p>
            <a:pPr>
              <a:spcBef>
                <a:spcPct val="0"/>
              </a:spcBef>
              <a:buFontTx/>
              <a:buNone/>
            </a:pPr>
            <a:r>
              <a:rPr lang="zh-CN" altLang="en-US" sz="2400">
                <a:latin typeface="宋体" panose="02010600030101010101" pitchFamily="2" charset="-122"/>
                <a:ea typeface="楷体_GB2312"/>
              </a:rPr>
              <a:t>   </a:t>
            </a:r>
            <a:r>
              <a:rPr lang="en-US" altLang="zh-CN" sz="2400">
                <a:latin typeface="宋体" panose="02010600030101010101" pitchFamily="2" charset="-122"/>
                <a:ea typeface="楷体_GB2312"/>
              </a:rPr>
              <a:t>1)</a:t>
            </a:r>
            <a:r>
              <a:rPr lang="zh-CN" altLang="en-US" sz="2400">
                <a:latin typeface="宋体" panose="02010600030101010101" pitchFamily="2" charset="-122"/>
                <a:ea typeface="楷体_GB2312"/>
              </a:rPr>
              <a:t>导体</a:t>
            </a:r>
            <a:r>
              <a:rPr lang="en-US" altLang="zh-CN" sz="2400">
                <a:latin typeface="宋体" panose="02010600030101010101" pitchFamily="2" charset="-122"/>
                <a:ea typeface="楷体_GB2312"/>
              </a:rPr>
              <a:t>(</a:t>
            </a:r>
            <a:r>
              <a:rPr lang="en-US" altLang="zh-CN" sz="2400">
                <a:solidFill>
                  <a:srgbClr val="FA230C"/>
                </a:solidFill>
                <a:ea typeface="楷体_GB2312"/>
              </a:rPr>
              <a:t>conductor</a:t>
            </a:r>
            <a:r>
              <a:rPr lang="en-US" altLang="zh-CN" sz="2400">
                <a:latin typeface="宋体" panose="02010600030101010101" pitchFamily="2" charset="-122"/>
                <a:ea typeface="楷体_GB2312"/>
              </a:rPr>
              <a:t>) </a:t>
            </a:r>
          </a:p>
          <a:p>
            <a:pPr>
              <a:spcBef>
                <a:spcPct val="0"/>
              </a:spcBef>
              <a:buFontTx/>
              <a:buNone/>
            </a:pPr>
            <a:r>
              <a:rPr lang="en-US" altLang="zh-CN" sz="2400">
                <a:latin typeface="宋体" panose="02010600030101010101" pitchFamily="2" charset="-122"/>
                <a:ea typeface="楷体_GB2312"/>
              </a:rPr>
              <a:t>     </a:t>
            </a:r>
            <a:r>
              <a:rPr lang="zh-CN" altLang="en-US" sz="2400">
                <a:latin typeface="宋体" panose="02010600030101010101" pitchFamily="2" charset="-122"/>
                <a:ea typeface="楷体_GB2312"/>
              </a:rPr>
              <a:t>导电能力极强的物体</a:t>
            </a:r>
            <a:r>
              <a:rPr lang="en-US" altLang="zh-CN" sz="2400">
                <a:latin typeface="宋体" panose="02010600030101010101" pitchFamily="2" charset="-122"/>
                <a:ea typeface="楷体_GB2312"/>
              </a:rPr>
              <a:t>(</a:t>
            </a:r>
            <a:r>
              <a:rPr lang="zh-CN" altLang="en-US" sz="2400">
                <a:solidFill>
                  <a:srgbClr val="CC0000"/>
                </a:solidFill>
                <a:latin typeface="宋体" panose="02010600030101010101" pitchFamily="2" charset="-122"/>
                <a:ea typeface="楷体_GB2312"/>
              </a:rPr>
              <a:t>存在大量可自由移动的电荷</a:t>
            </a:r>
            <a:r>
              <a:rPr lang="en-US" altLang="zh-CN" sz="2400">
                <a:latin typeface="宋体" panose="02010600030101010101" pitchFamily="2" charset="-122"/>
                <a:ea typeface="楷体_GB2312"/>
              </a:rPr>
              <a:t>) </a:t>
            </a:r>
          </a:p>
          <a:p>
            <a:pPr>
              <a:spcBef>
                <a:spcPct val="0"/>
              </a:spcBef>
              <a:buFontTx/>
              <a:buNone/>
            </a:pPr>
            <a:r>
              <a:rPr lang="en-US" altLang="zh-CN" sz="2400">
                <a:latin typeface="宋体" panose="02010600030101010101" pitchFamily="2" charset="-122"/>
                <a:ea typeface="楷体_GB2312"/>
              </a:rPr>
              <a:t>   2)</a:t>
            </a:r>
            <a:r>
              <a:rPr lang="zh-CN" altLang="en-US" sz="2400">
                <a:latin typeface="宋体" panose="02010600030101010101" pitchFamily="2" charset="-122"/>
                <a:ea typeface="楷体_GB2312"/>
              </a:rPr>
              <a:t>绝缘体（</a:t>
            </a:r>
            <a:r>
              <a:rPr lang="zh-CN" altLang="en-US" sz="2400">
                <a:solidFill>
                  <a:schemeClr val="accent2"/>
                </a:solidFill>
                <a:latin typeface="宋体" panose="02010600030101010101" pitchFamily="2" charset="-122"/>
                <a:ea typeface="楷体_GB2312"/>
              </a:rPr>
              <a:t>电介质</a:t>
            </a:r>
            <a:r>
              <a:rPr lang="en-US" altLang="zh-CN" sz="2400">
                <a:solidFill>
                  <a:schemeClr val="tx2"/>
                </a:solidFill>
                <a:latin typeface="宋体" panose="02010600030101010101" pitchFamily="2" charset="-122"/>
                <a:ea typeface="楷体_GB2312"/>
              </a:rPr>
              <a:t>,</a:t>
            </a:r>
            <a:r>
              <a:rPr lang="en-US" altLang="zh-CN" sz="2400">
                <a:solidFill>
                  <a:srgbClr val="CC0000"/>
                </a:solidFill>
                <a:latin typeface="宋体" panose="02010600030101010101" pitchFamily="2" charset="-122"/>
                <a:ea typeface="楷体_GB2312"/>
              </a:rPr>
              <a:t> </a:t>
            </a:r>
            <a:r>
              <a:rPr lang="en-US" altLang="zh-CN" sz="2400">
                <a:solidFill>
                  <a:srgbClr val="FA230C"/>
                </a:solidFill>
                <a:ea typeface="楷体_GB2312"/>
              </a:rPr>
              <a:t>dielectric</a:t>
            </a:r>
            <a:r>
              <a:rPr lang="zh-CN" altLang="en-US" sz="2400">
                <a:latin typeface="宋体" panose="02010600030101010101" pitchFamily="2" charset="-122"/>
                <a:ea typeface="楷体_GB2312"/>
              </a:rPr>
              <a:t>）</a:t>
            </a:r>
          </a:p>
          <a:p>
            <a:pPr>
              <a:spcBef>
                <a:spcPct val="0"/>
              </a:spcBef>
              <a:buFontTx/>
              <a:buNone/>
            </a:pPr>
            <a:r>
              <a:rPr lang="zh-CN" altLang="en-US" sz="2400">
                <a:latin typeface="宋体" panose="02010600030101010101" pitchFamily="2" charset="-122"/>
                <a:ea typeface="楷体_GB2312"/>
              </a:rPr>
              <a:t>      导电能力极弱或不能导电的物体</a:t>
            </a:r>
          </a:p>
          <a:p>
            <a:pPr>
              <a:spcBef>
                <a:spcPct val="0"/>
              </a:spcBef>
              <a:buFontTx/>
              <a:buNone/>
            </a:pPr>
            <a:r>
              <a:rPr lang="zh-CN" altLang="en-US" sz="2400">
                <a:latin typeface="宋体" panose="02010600030101010101" pitchFamily="2" charset="-122"/>
                <a:ea typeface="楷体_GB2312"/>
              </a:rPr>
              <a:t>   </a:t>
            </a:r>
            <a:r>
              <a:rPr lang="en-US" altLang="zh-CN" sz="2400">
                <a:latin typeface="宋体" panose="02010600030101010101" pitchFamily="2" charset="-122"/>
                <a:ea typeface="楷体_GB2312"/>
              </a:rPr>
              <a:t>3)</a:t>
            </a:r>
            <a:r>
              <a:rPr lang="zh-CN" altLang="en-US" sz="2400">
                <a:latin typeface="宋体" panose="02010600030101010101" pitchFamily="2" charset="-122"/>
                <a:ea typeface="楷体_GB2312"/>
              </a:rPr>
              <a:t>半导体</a:t>
            </a:r>
            <a:r>
              <a:rPr lang="en-US" altLang="zh-CN" sz="2400">
                <a:latin typeface="宋体" panose="02010600030101010101" pitchFamily="2" charset="-122"/>
                <a:ea typeface="楷体_GB2312"/>
              </a:rPr>
              <a:t>(</a:t>
            </a:r>
            <a:r>
              <a:rPr lang="en-US" altLang="zh-CN" sz="2400">
                <a:solidFill>
                  <a:srgbClr val="FA230C"/>
                </a:solidFill>
                <a:ea typeface="楷体_GB2312"/>
              </a:rPr>
              <a:t>semiconductor</a:t>
            </a:r>
            <a:r>
              <a:rPr lang="en-US" altLang="zh-CN" sz="2400">
                <a:latin typeface="宋体" panose="02010600030101010101" pitchFamily="2" charset="-122"/>
                <a:ea typeface="楷体_GB2312"/>
              </a:rPr>
              <a:t>) </a:t>
            </a:r>
          </a:p>
          <a:p>
            <a:pPr>
              <a:spcBef>
                <a:spcPct val="0"/>
              </a:spcBef>
              <a:buFontTx/>
              <a:buNone/>
            </a:pPr>
            <a:r>
              <a:rPr lang="en-US" altLang="zh-CN" sz="2400">
                <a:latin typeface="宋体" panose="02010600030101010101" pitchFamily="2" charset="-122"/>
                <a:ea typeface="楷体_GB2312"/>
              </a:rPr>
              <a:t>      </a:t>
            </a:r>
            <a:r>
              <a:rPr lang="zh-CN" altLang="en-US" sz="2400">
                <a:latin typeface="宋体" panose="02010600030101010101" pitchFamily="2" charset="-122"/>
                <a:ea typeface="楷体_GB2312"/>
              </a:rPr>
              <a:t>导电能力介于上述两者之间的物体</a:t>
            </a:r>
          </a:p>
          <a:p>
            <a:pPr>
              <a:spcBef>
                <a:spcPct val="0"/>
              </a:spcBef>
              <a:buFontTx/>
              <a:buNone/>
            </a:pPr>
            <a:r>
              <a:rPr lang="zh-CN" altLang="en-US" sz="3600">
                <a:solidFill>
                  <a:schemeClr val="folHlink"/>
                </a:solidFill>
                <a:ea typeface="楷体_GB2312"/>
              </a:rPr>
              <a:t>导体与电介质的区别</a:t>
            </a:r>
          </a:p>
        </p:txBody>
      </p:sp>
      <p:sp>
        <p:nvSpPr>
          <p:cNvPr id="367619" name="Rectangle 3"/>
          <p:cNvSpPr>
            <a:spLocks noChangeArrowheads="1"/>
          </p:cNvSpPr>
          <p:nvPr/>
        </p:nvSpPr>
        <p:spPr bwMode="auto">
          <a:xfrm>
            <a:off x="1371600" y="115888"/>
            <a:ext cx="5867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a:solidFill>
                  <a:srgbClr val="A50021"/>
                </a:solidFill>
                <a:latin typeface="宋体" panose="02010600030101010101" pitchFamily="2" charset="-122"/>
                <a:ea typeface="楷体_GB2312"/>
              </a:rPr>
              <a:t>§7-6</a:t>
            </a:r>
            <a:r>
              <a:rPr lang="en-US" altLang="zh-CN">
                <a:solidFill>
                  <a:srgbClr val="CC6600"/>
                </a:solidFill>
                <a:latin typeface="华文细黑" panose="02010600040101010101" pitchFamily="2" charset="-122"/>
                <a:ea typeface="华文细黑" panose="02010600040101010101" pitchFamily="2" charset="-122"/>
              </a:rPr>
              <a:t>    </a:t>
            </a:r>
            <a:r>
              <a:rPr lang="zh-CN" altLang="en-US">
                <a:latin typeface="宋体" panose="02010600030101010101" pitchFamily="2" charset="-122"/>
                <a:ea typeface="楷体_GB2312"/>
              </a:rPr>
              <a:t>静电场中的导体</a:t>
            </a:r>
            <a:r>
              <a:rPr lang="zh-CN" altLang="en-US" sz="3600">
                <a:latin typeface="宋体" panose="02010600030101010101" pitchFamily="2" charset="-122"/>
                <a:ea typeface="楷体_GB2312"/>
              </a:rPr>
              <a:t> </a:t>
            </a:r>
          </a:p>
        </p:txBody>
      </p:sp>
      <p:sp>
        <p:nvSpPr>
          <p:cNvPr id="367620" name="Rectangle 4"/>
          <p:cNvSpPr>
            <a:spLocks noChangeArrowheads="1"/>
          </p:cNvSpPr>
          <p:nvPr/>
        </p:nvSpPr>
        <p:spPr bwMode="auto">
          <a:xfrm>
            <a:off x="304800" y="877888"/>
            <a:ext cx="8839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a:solidFill>
                  <a:srgbClr val="A50021"/>
                </a:solidFill>
                <a:latin typeface="华文隶书" panose="02010800040101010101" pitchFamily="2" charset="-122"/>
                <a:ea typeface="隶书" panose="02010509060101010101" pitchFamily="49" charset="-122"/>
              </a:rPr>
              <a:t>一</a:t>
            </a:r>
            <a:r>
              <a:rPr lang="zh-CN" altLang="en-US">
                <a:solidFill>
                  <a:srgbClr val="A50021"/>
                </a:solidFill>
                <a:latin typeface="华文宋体" panose="02010600040101010101" pitchFamily="2" charset="-122"/>
                <a:ea typeface="隶书" panose="02010509060101010101" pitchFamily="49" charset="-122"/>
              </a:rPr>
              <a:t>、</a:t>
            </a:r>
            <a:r>
              <a:rPr lang="zh-CN" altLang="en-US">
                <a:solidFill>
                  <a:srgbClr val="A50021"/>
                </a:solidFill>
                <a:latin typeface="华文细黑" panose="02010600040101010101" pitchFamily="2" charset="-122"/>
                <a:ea typeface="隶书" panose="02010509060101010101" pitchFamily="49" charset="-122"/>
              </a:rPr>
              <a:t>导体的静电平衡</a:t>
            </a:r>
            <a:r>
              <a:rPr lang="en-US" altLang="zh-CN">
                <a:solidFill>
                  <a:schemeClr val="accent2"/>
                </a:solidFill>
                <a:ea typeface="隶书" panose="02010509060101010101" pitchFamily="49" charset="-122"/>
              </a:rPr>
              <a:t>( </a:t>
            </a:r>
            <a:r>
              <a:rPr lang="en-US" altLang="zh-CN" sz="2800">
                <a:solidFill>
                  <a:schemeClr val="accent2"/>
                </a:solidFill>
                <a:ea typeface="隶书" panose="02010509060101010101" pitchFamily="49" charset="-122"/>
              </a:rPr>
              <a:t>electrostatic   equilibrium </a:t>
            </a:r>
            <a:r>
              <a:rPr lang="en-US" altLang="zh-CN">
                <a:solidFill>
                  <a:schemeClr val="accent2"/>
                </a:solidFill>
                <a:ea typeface="隶书" panose="02010509060101010101" pitchFamily="49" charset="-122"/>
              </a:rPr>
              <a:t>)</a:t>
            </a:r>
            <a:r>
              <a:rPr lang="en-US" altLang="zh-CN">
                <a:solidFill>
                  <a:srgbClr val="CC6600"/>
                </a:solidFill>
                <a:latin typeface="宋体" panose="02010600030101010101" pitchFamily="2" charset="-122"/>
                <a:ea typeface="隶书" panose="02010509060101010101" pitchFamily="49" charset="-122"/>
              </a:rPr>
              <a:t> </a:t>
            </a:r>
          </a:p>
        </p:txBody>
      </p:sp>
      <p:pic>
        <p:nvPicPr>
          <p:cNvPr id="367621" name="Picture 5" descr="image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025" y="2636838"/>
            <a:ext cx="1985963"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622" name="Rectangle 6"/>
          <p:cNvSpPr>
            <a:spLocks noChangeArrowheads="1"/>
          </p:cNvSpPr>
          <p:nvPr/>
        </p:nvSpPr>
        <p:spPr bwMode="auto">
          <a:xfrm>
            <a:off x="457200" y="6246813"/>
            <a:ext cx="4724400" cy="56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en-US" altLang="zh-CN" sz="2400">
                <a:ea typeface="楷体_GB2312"/>
              </a:rPr>
              <a:t>3).</a:t>
            </a:r>
            <a:r>
              <a:rPr lang="en-US" altLang="zh-CN" sz="2400">
                <a:latin typeface="楷体_GB2312"/>
                <a:ea typeface="楷体_GB2312"/>
              </a:rPr>
              <a:t> </a:t>
            </a:r>
            <a:r>
              <a:rPr lang="zh-CN" altLang="en-US" sz="2400">
                <a:latin typeface="楷体_GB2312"/>
                <a:ea typeface="楷体_GB2312"/>
              </a:rPr>
              <a:t>放入电场后</a:t>
            </a:r>
            <a:r>
              <a:rPr lang="en-US" altLang="zh-CN" sz="2400">
                <a:latin typeface="楷体_GB2312"/>
                <a:ea typeface="楷体_GB2312"/>
              </a:rPr>
              <a:t>,</a:t>
            </a:r>
            <a:r>
              <a:rPr lang="zh-CN" altLang="en-US" sz="2400">
                <a:latin typeface="楷体_GB2312"/>
                <a:ea typeface="楷体_GB2312"/>
              </a:rPr>
              <a:t>有不同反应</a:t>
            </a:r>
            <a:r>
              <a:rPr lang="en-US" altLang="zh-CN" sz="2400">
                <a:latin typeface="楷体_GB2312"/>
                <a:ea typeface="楷体_GB2312"/>
              </a:rPr>
              <a:t>.</a:t>
            </a:r>
          </a:p>
        </p:txBody>
      </p:sp>
      <p:sp>
        <p:nvSpPr>
          <p:cNvPr id="367625" name="Rectangle 9"/>
          <p:cNvSpPr>
            <a:spLocks noChangeArrowheads="1"/>
          </p:cNvSpPr>
          <p:nvPr/>
        </p:nvSpPr>
        <p:spPr bwMode="auto">
          <a:xfrm>
            <a:off x="476250" y="4437063"/>
            <a:ext cx="5608638"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FontTx/>
              <a:buNone/>
            </a:pPr>
            <a:r>
              <a:rPr lang="en-US" altLang="zh-CN" sz="2400">
                <a:ea typeface="楷体_GB2312"/>
              </a:rPr>
              <a:t>1)</a:t>
            </a:r>
            <a:r>
              <a:rPr lang="en-US" altLang="zh-CN" sz="2400">
                <a:latin typeface="宋体" panose="02010600030101010101" pitchFamily="2" charset="-122"/>
                <a:ea typeface="楷体_GB2312"/>
              </a:rPr>
              <a:t>. </a:t>
            </a:r>
            <a:r>
              <a:rPr lang="zh-CN" altLang="en-US" sz="2400">
                <a:latin typeface="宋体" panose="02010600030101010101" pitchFamily="2" charset="-122"/>
                <a:ea typeface="楷体_GB2312"/>
              </a:rPr>
              <a:t>结构不同</a:t>
            </a:r>
            <a:r>
              <a:rPr lang="en-US" altLang="zh-CN" sz="2400">
                <a:latin typeface="宋体" panose="02010600030101010101" pitchFamily="2" charset="-122"/>
                <a:ea typeface="楷体_GB2312"/>
              </a:rPr>
              <a:t>,</a:t>
            </a:r>
            <a:r>
              <a:rPr lang="zh-CN" altLang="en-US" sz="2400">
                <a:latin typeface="宋体" panose="02010600030101010101" pitchFamily="2" charset="-122"/>
                <a:ea typeface="楷体_GB2312"/>
              </a:rPr>
              <a:t>导体中有大量自由电荷，介质中为束缚电荷</a:t>
            </a:r>
            <a:r>
              <a:rPr lang="en-US" altLang="zh-CN" sz="2400">
                <a:latin typeface="宋体" panose="02010600030101010101" pitchFamily="2" charset="-122"/>
                <a:ea typeface="楷体_GB2312"/>
              </a:rPr>
              <a:t>.</a:t>
            </a:r>
          </a:p>
        </p:txBody>
      </p:sp>
      <p:sp>
        <p:nvSpPr>
          <p:cNvPr id="367626" name="Rectangle 10"/>
          <p:cNvSpPr>
            <a:spLocks noChangeArrowheads="1"/>
          </p:cNvSpPr>
          <p:nvPr/>
        </p:nvSpPr>
        <p:spPr bwMode="auto">
          <a:xfrm>
            <a:off x="457200" y="5670550"/>
            <a:ext cx="2819400" cy="566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en-US" altLang="zh-CN" sz="2400">
                <a:ea typeface="楷体_GB2312"/>
              </a:rPr>
              <a:t>2).</a:t>
            </a:r>
            <a:r>
              <a:rPr lang="en-US" altLang="zh-CN" sz="2400">
                <a:latin typeface="楷体_GB2312"/>
                <a:ea typeface="楷体_GB2312"/>
              </a:rPr>
              <a:t> </a:t>
            </a:r>
            <a:r>
              <a:rPr lang="zh-CN" altLang="en-US" sz="2400">
                <a:latin typeface="楷体_GB2312"/>
                <a:ea typeface="楷体_GB2312"/>
              </a:rPr>
              <a:t>电阻率不同</a:t>
            </a:r>
            <a:r>
              <a:rPr lang="en-US" altLang="zh-CN" sz="2400">
                <a:latin typeface="楷体_GB2312"/>
                <a:ea typeface="楷体_GB2312"/>
              </a:rPr>
              <a:t>:</a:t>
            </a:r>
          </a:p>
        </p:txBody>
      </p:sp>
      <p:sp>
        <p:nvSpPr>
          <p:cNvPr id="367627" name="Rectangle 11"/>
          <p:cNvSpPr>
            <a:spLocks noChangeArrowheads="1"/>
          </p:cNvSpPr>
          <p:nvPr/>
        </p:nvSpPr>
        <p:spPr bwMode="auto">
          <a:xfrm>
            <a:off x="3203575" y="5445125"/>
            <a:ext cx="1308100" cy="566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zh-CN" altLang="en-US" sz="2400">
                <a:latin typeface="楷体_GB2312"/>
                <a:ea typeface="楷体_GB2312"/>
              </a:rPr>
              <a:t>导体</a:t>
            </a:r>
            <a:r>
              <a:rPr lang="en-US" altLang="zh-CN" sz="2400">
                <a:latin typeface="楷体_GB2312"/>
                <a:ea typeface="楷体_GB2312"/>
              </a:rPr>
              <a:t>:</a:t>
            </a:r>
          </a:p>
        </p:txBody>
      </p:sp>
      <p:sp>
        <p:nvSpPr>
          <p:cNvPr id="367628" name="Rectangle 12"/>
          <p:cNvSpPr>
            <a:spLocks noChangeArrowheads="1"/>
          </p:cNvSpPr>
          <p:nvPr/>
        </p:nvSpPr>
        <p:spPr bwMode="auto">
          <a:xfrm>
            <a:off x="3243263" y="5949950"/>
            <a:ext cx="1689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latin typeface="楷体_GB2312"/>
                <a:ea typeface="楷体_GB2312"/>
              </a:rPr>
              <a:t>电介质</a:t>
            </a:r>
            <a:r>
              <a:rPr lang="en-US" altLang="zh-CN" sz="2400">
                <a:latin typeface="楷体_GB2312"/>
                <a:ea typeface="楷体_GB2312"/>
              </a:rPr>
              <a:t>:</a:t>
            </a:r>
          </a:p>
        </p:txBody>
      </p:sp>
      <p:graphicFrame>
        <p:nvGraphicFramePr>
          <p:cNvPr id="2" name="对象 1"/>
          <p:cNvGraphicFramePr>
            <a:graphicFrameLocks noChangeAspect="1"/>
          </p:cNvGraphicFramePr>
          <p:nvPr/>
        </p:nvGraphicFramePr>
        <p:xfrm>
          <a:off x="4502150" y="5243513"/>
          <a:ext cx="2705100" cy="1163637"/>
        </p:xfrm>
        <a:graphic>
          <a:graphicData uri="http://schemas.openxmlformats.org/presentationml/2006/ole">
            <mc:AlternateContent xmlns:mc="http://schemas.openxmlformats.org/markup-compatibility/2006">
              <mc:Choice xmlns:v="urn:schemas-microsoft-com:vml" Requires="v">
                <p:oleObj spid="_x0000_s3148" name="公式" r:id="rId4" imgW="1428708" imgH="552424" progId="Equation.3">
                  <p:embed/>
                </p:oleObj>
              </mc:Choice>
              <mc:Fallback>
                <p:oleObj name="公式" r:id="rId4" imgW="1428708" imgH="552424"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150" y="5243513"/>
                        <a:ext cx="2705100"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67619"/>
                                        </p:tgtEl>
                                        <p:attrNameLst>
                                          <p:attrName>style.visibility</p:attrName>
                                        </p:attrNameLst>
                                      </p:cBhvr>
                                      <p:to>
                                        <p:strVal val="visible"/>
                                      </p:to>
                                    </p:set>
                                    <p:anim calcmode="lin" valueType="num">
                                      <p:cBhvr additive="base">
                                        <p:cTn id="7" dur="500" fill="hold"/>
                                        <p:tgtEl>
                                          <p:spTgt spid="367619"/>
                                        </p:tgtEl>
                                        <p:attrNameLst>
                                          <p:attrName>ppt_x</p:attrName>
                                        </p:attrNameLst>
                                      </p:cBhvr>
                                      <p:tavLst>
                                        <p:tav tm="0">
                                          <p:val>
                                            <p:strVal val="#ppt_x"/>
                                          </p:val>
                                        </p:tav>
                                        <p:tav tm="100000">
                                          <p:val>
                                            <p:strVal val="#ppt_x"/>
                                          </p:val>
                                        </p:tav>
                                      </p:tavLst>
                                    </p:anim>
                                    <p:anim calcmode="lin" valueType="num">
                                      <p:cBhvr additive="base">
                                        <p:cTn id="8" dur="500" fill="hold"/>
                                        <p:tgtEl>
                                          <p:spTgt spid="367619"/>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67620">
                                            <p:txEl>
                                              <p:pRg st="0" end="0"/>
                                            </p:txEl>
                                          </p:spTgt>
                                        </p:tgtEl>
                                        <p:attrNameLst>
                                          <p:attrName>style.visibility</p:attrName>
                                        </p:attrNameLst>
                                      </p:cBhvr>
                                      <p:to>
                                        <p:strVal val="visible"/>
                                      </p:to>
                                    </p:set>
                                    <p:anim calcmode="lin" valueType="num">
                                      <p:cBhvr additive="base">
                                        <p:cTn id="12" dur="500" fill="hold"/>
                                        <p:tgtEl>
                                          <p:spTgt spid="367620">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676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367621"/>
                                        </p:tgtEl>
                                        <p:attrNameLst>
                                          <p:attrName>style.visibility</p:attrName>
                                        </p:attrNameLst>
                                      </p:cBhvr>
                                      <p:to>
                                        <p:strVal val="visible"/>
                                      </p:to>
                                    </p:set>
                                    <p:animEffect transition="in" filter="wipe(down)">
                                      <p:cBhvr>
                                        <p:cTn id="18" dur="500"/>
                                        <p:tgtEl>
                                          <p:spTgt spid="3676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367618">
                                            <p:txEl>
                                              <p:pRg st="0" end="0"/>
                                            </p:txEl>
                                          </p:spTgt>
                                        </p:tgtEl>
                                        <p:attrNameLst>
                                          <p:attrName>style.visibility</p:attrName>
                                        </p:attrNameLst>
                                      </p:cBhvr>
                                      <p:to>
                                        <p:strVal val="visible"/>
                                      </p:to>
                                    </p:set>
                                    <p:animEffect transition="in" filter="blinds(vertical)">
                                      <p:cBhvr>
                                        <p:cTn id="23" dur="500"/>
                                        <p:tgtEl>
                                          <p:spTgt spid="367618">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367618">
                                            <p:txEl>
                                              <p:pRg st="1" end="1"/>
                                            </p:txEl>
                                          </p:spTgt>
                                        </p:tgtEl>
                                        <p:attrNameLst>
                                          <p:attrName>style.visibility</p:attrName>
                                        </p:attrNameLst>
                                      </p:cBhvr>
                                      <p:to>
                                        <p:strVal val="visible"/>
                                      </p:to>
                                    </p:set>
                                    <p:animEffect transition="in" filter="blinds(vertical)">
                                      <p:cBhvr>
                                        <p:cTn id="28" dur="500"/>
                                        <p:tgtEl>
                                          <p:spTgt spid="367618">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367618">
                                            <p:txEl>
                                              <p:pRg st="2" end="2"/>
                                            </p:txEl>
                                          </p:spTgt>
                                        </p:tgtEl>
                                        <p:attrNameLst>
                                          <p:attrName>style.visibility</p:attrName>
                                        </p:attrNameLst>
                                      </p:cBhvr>
                                      <p:to>
                                        <p:strVal val="visible"/>
                                      </p:to>
                                    </p:set>
                                    <p:animEffect transition="in" filter="blinds(vertical)">
                                      <p:cBhvr>
                                        <p:cTn id="33" dur="500"/>
                                        <p:tgtEl>
                                          <p:spTgt spid="367618">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grpId="0" nodeType="clickEffect">
                                  <p:stCondLst>
                                    <p:cond delay="0"/>
                                  </p:stCondLst>
                                  <p:childTnLst>
                                    <p:set>
                                      <p:cBhvr>
                                        <p:cTn id="37" dur="1" fill="hold">
                                          <p:stCondLst>
                                            <p:cond delay="0"/>
                                          </p:stCondLst>
                                        </p:cTn>
                                        <p:tgtEl>
                                          <p:spTgt spid="367618">
                                            <p:txEl>
                                              <p:pRg st="3" end="3"/>
                                            </p:txEl>
                                          </p:spTgt>
                                        </p:tgtEl>
                                        <p:attrNameLst>
                                          <p:attrName>style.visibility</p:attrName>
                                        </p:attrNameLst>
                                      </p:cBhvr>
                                      <p:to>
                                        <p:strVal val="visible"/>
                                      </p:to>
                                    </p:set>
                                    <p:animEffect transition="in" filter="blinds(vertical)">
                                      <p:cBhvr>
                                        <p:cTn id="38" dur="500"/>
                                        <p:tgtEl>
                                          <p:spTgt spid="367618">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367618">
                                            <p:txEl>
                                              <p:pRg st="4" end="4"/>
                                            </p:txEl>
                                          </p:spTgt>
                                        </p:tgtEl>
                                        <p:attrNameLst>
                                          <p:attrName>style.visibility</p:attrName>
                                        </p:attrNameLst>
                                      </p:cBhvr>
                                      <p:to>
                                        <p:strVal val="visible"/>
                                      </p:to>
                                    </p:set>
                                    <p:animEffect transition="in" filter="blinds(vertical)">
                                      <p:cBhvr>
                                        <p:cTn id="43" dur="500"/>
                                        <p:tgtEl>
                                          <p:spTgt spid="367618">
                                            <p:txEl>
                                              <p:pRg st="4" end="4"/>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367618">
                                            <p:txEl>
                                              <p:pRg st="5" end="5"/>
                                            </p:txEl>
                                          </p:spTgt>
                                        </p:tgtEl>
                                        <p:attrNameLst>
                                          <p:attrName>style.visibility</p:attrName>
                                        </p:attrNameLst>
                                      </p:cBhvr>
                                      <p:to>
                                        <p:strVal val="visible"/>
                                      </p:to>
                                    </p:set>
                                    <p:animEffect transition="in" filter="blinds(vertical)">
                                      <p:cBhvr>
                                        <p:cTn id="48" dur="500"/>
                                        <p:tgtEl>
                                          <p:spTgt spid="367618">
                                            <p:txEl>
                                              <p:pRg st="5" end="5"/>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5" fill="hold" grpId="0" nodeType="clickEffect">
                                  <p:stCondLst>
                                    <p:cond delay="0"/>
                                  </p:stCondLst>
                                  <p:childTnLst>
                                    <p:set>
                                      <p:cBhvr>
                                        <p:cTn id="52" dur="1" fill="hold">
                                          <p:stCondLst>
                                            <p:cond delay="0"/>
                                          </p:stCondLst>
                                        </p:cTn>
                                        <p:tgtEl>
                                          <p:spTgt spid="367618">
                                            <p:txEl>
                                              <p:pRg st="6" end="6"/>
                                            </p:txEl>
                                          </p:spTgt>
                                        </p:tgtEl>
                                        <p:attrNameLst>
                                          <p:attrName>style.visibility</p:attrName>
                                        </p:attrNameLst>
                                      </p:cBhvr>
                                      <p:to>
                                        <p:strVal val="visible"/>
                                      </p:to>
                                    </p:set>
                                    <p:animEffect transition="in" filter="blinds(vertical)">
                                      <p:cBhvr>
                                        <p:cTn id="53" dur="500"/>
                                        <p:tgtEl>
                                          <p:spTgt spid="367618">
                                            <p:txEl>
                                              <p:pRg st="6" end="6"/>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5" fill="hold" grpId="0" nodeType="clickEffect">
                                  <p:stCondLst>
                                    <p:cond delay="0"/>
                                  </p:stCondLst>
                                  <p:childTnLst>
                                    <p:set>
                                      <p:cBhvr>
                                        <p:cTn id="57" dur="1" fill="hold">
                                          <p:stCondLst>
                                            <p:cond delay="0"/>
                                          </p:stCondLst>
                                        </p:cTn>
                                        <p:tgtEl>
                                          <p:spTgt spid="367618">
                                            <p:txEl>
                                              <p:pRg st="7" end="7"/>
                                            </p:txEl>
                                          </p:spTgt>
                                        </p:tgtEl>
                                        <p:attrNameLst>
                                          <p:attrName>style.visibility</p:attrName>
                                        </p:attrNameLst>
                                      </p:cBhvr>
                                      <p:to>
                                        <p:strVal val="visible"/>
                                      </p:to>
                                    </p:set>
                                    <p:animEffect transition="in" filter="blinds(vertical)">
                                      <p:cBhvr>
                                        <p:cTn id="58" dur="500"/>
                                        <p:tgtEl>
                                          <p:spTgt spid="367618">
                                            <p:txEl>
                                              <p:pRg st="7" end="7"/>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67625">
                                            <p:txEl>
                                              <p:pRg st="0" end="0"/>
                                            </p:txEl>
                                          </p:spTgt>
                                        </p:tgtEl>
                                        <p:attrNameLst>
                                          <p:attrName>style.visibility</p:attrName>
                                        </p:attrNameLst>
                                      </p:cBhvr>
                                      <p:to>
                                        <p:strVal val="visible"/>
                                      </p:to>
                                    </p:set>
                                    <p:animEffect transition="in" filter="wipe(left)">
                                      <p:cBhvr>
                                        <p:cTn id="63" dur="500"/>
                                        <p:tgtEl>
                                          <p:spTgt spid="367625">
                                            <p:txEl>
                                              <p:pRg st="0" end="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67626">
                                            <p:txEl>
                                              <p:pRg st="0" end="0"/>
                                            </p:txEl>
                                          </p:spTgt>
                                        </p:tgtEl>
                                        <p:attrNameLst>
                                          <p:attrName>style.visibility</p:attrName>
                                        </p:attrNameLst>
                                      </p:cBhvr>
                                      <p:to>
                                        <p:strVal val="visible"/>
                                      </p:to>
                                    </p:set>
                                    <p:animEffect transition="in" filter="wipe(left)">
                                      <p:cBhvr>
                                        <p:cTn id="68" dur="500"/>
                                        <p:tgtEl>
                                          <p:spTgt spid="367626">
                                            <p:txEl>
                                              <p:pRg st="0" end="0"/>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67627">
                                            <p:txEl>
                                              <p:pRg st="0" end="0"/>
                                            </p:txEl>
                                          </p:spTgt>
                                        </p:tgtEl>
                                        <p:attrNameLst>
                                          <p:attrName>style.visibility</p:attrName>
                                        </p:attrNameLst>
                                      </p:cBhvr>
                                      <p:to>
                                        <p:strVal val="visible"/>
                                      </p:to>
                                    </p:set>
                                    <p:animEffect transition="in" filter="wipe(left)">
                                      <p:cBhvr>
                                        <p:cTn id="73" dur="500"/>
                                        <p:tgtEl>
                                          <p:spTgt spid="367627">
                                            <p:txEl>
                                              <p:pRg st="0" end="0"/>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67628">
                                            <p:txEl>
                                              <p:pRg st="0" end="0"/>
                                            </p:txEl>
                                          </p:spTgt>
                                        </p:tgtEl>
                                        <p:attrNameLst>
                                          <p:attrName>style.visibility</p:attrName>
                                        </p:attrNameLst>
                                      </p:cBhvr>
                                      <p:to>
                                        <p:strVal val="visible"/>
                                      </p:to>
                                    </p:set>
                                    <p:animEffect transition="in" filter="wipe(left)">
                                      <p:cBhvr>
                                        <p:cTn id="78" dur="500"/>
                                        <p:tgtEl>
                                          <p:spTgt spid="367628">
                                            <p:txEl>
                                              <p:pRg st="0" end="0"/>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367622">
                                            <p:txEl>
                                              <p:pRg st="0" end="0"/>
                                            </p:txEl>
                                          </p:spTgt>
                                        </p:tgtEl>
                                        <p:attrNameLst>
                                          <p:attrName>style.visibility</p:attrName>
                                        </p:attrNameLst>
                                      </p:cBhvr>
                                      <p:to>
                                        <p:strVal val="visible"/>
                                      </p:to>
                                    </p:set>
                                    <p:animEffect transition="in" filter="wipe(left)">
                                      <p:cBhvr>
                                        <p:cTn id="83" dur="500"/>
                                        <p:tgtEl>
                                          <p:spTgt spid="367622">
                                            <p:txEl>
                                              <p:pRg st="0" end="0"/>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
                                        </p:tgtEl>
                                        <p:attrNameLst>
                                          <p:attrName>style.visibility</p:attrName>
                                        </p:attrNameLst>
                                      </p:cBhvr>
                                      <p:to>
                                        <p:strVal val="visible"/>
                                      </p:to>
                                    </p:set>
                                    <p:animEffect transition="in" filter="wipe(left)">
                                      <p:cBhvr>
                                        <p:cTn id="8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8" grpId="0" build="p" autoUpdateAnimBg="0"/>
      <p:bldP spid="367619" grpId="0" autoUpdateAnimBg="0"/>
      <p:bldP spid="367620" grpId="0" build="p" autoUpdateAnimBg="0" advAuto="0"/>
      <p:bldP spid="367622" grpId="0" build="p" autoUpdateAnimBg="0"/>
      <p:bldP spid="367625" grpId="0" build="p" autoUpdateAnimBg="0"/>
      <p:bldP spid="367626" grpId="0" build="p" autoUpdateAnimBg="0"/>
      <p:bldP spid="367627" grpId="0" build="p" autoUpdateAnimBg="0"/>
      <p:bldP spid="367628"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228600" y="395288"/>
            <a:ext cx="2514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ea typeface="楷体_GB2312"/>
              </a:rPr>
              <a:t>2.</a:t>
            </a:r>
            <a:r>
              <a:rPr lang="zh-CN" altLang="en-US" sz="2800">
                <a:latin typeface="Arial" panose="020B0604020202020204" pitchFamily="34" charset="0"/>
                <a:ea typeface="楷体_GB2312"/>
              </a:rPr>
              <a:t>静电感应</a:t>
            </a:r>
          </a:p>
        </p:txBody>
      </p:sp>
      <p:sp>
        <p:nvSpPr>
          <p:cNvPr id="149520" name="Text Box 16"/>
          <p:cNvSpPr txBox="1">
            <a:spLocks noChangeArrowheads="1"/>
          </p:cNvSpPr>
          <p:nvPr/>
        </p:nvSpPr>
        <p:spPr bwMode="auto">
          <a:xfrm>
            <a:off x="501650" y="4221163"/>
            <a:ext cx="3565525" cy="231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en-US" altLang="zh-CN" sz="2800">
                <a:solidFill>
                  <a:srgbClr val="990000"/>
                </a:solidFill>
                <a:ea typeface="楷体_GB2312"/>
              </a:rPr>
              <a:t>        </a:t>
            </a:r>
            <a:r>
              <a:rPr lang="zh-CN" altLang="en-US" sz="2800">
                <a:solidFill>
                  <a:srgbClr val="990000"/>
                </a:solidFill>
                <a:ea typeface="楷体_GB2312"/>
              </a:rPr>
              <a:t>导体置于电场中</a:t>
            </a:r>
            <a:r>
              <a:rPr lang="en-US" altLang="zh-CN" sz="2800">
                <a:solidFill>
                  <a:srgbClr val="990000"/>
                </a:solidFill>
                <a:ea typeface="楷体_GB2312"/>
              </a:rPr>
              <a:t>,</a:t>
            </a:r>
            <a:r>
              <a:rPr lang="zh-CN" altLang="en-US" sz="2800">
                <a:solidFill>
                  <a:srgbClr val="990000"/>
                </a:solidFill>
                <a:ea typeface="楷体_GB2312"/>
              </a:rPr>
              <a:t>其上的电荷重新分布的现象，称为静电感应。</a:t>
            </a:r>
          </a:p>
        </p:txBody>
      </p:sp>
      <p:graphicFrame>
        <p:nvGraphicFramePr>
          <p:cNvPr id="4100" name="Object 141"/>
          <p:cNvGraphicFramePr>
            <a:graphicFrameLocks noChangeAspect="1"/>
          </p:cNvGraphicFramePr>
          <p:nvPr/>
        </p:nvGraphicFramePr>
        <p:xfrm>
          <a:off x="4643438" y="38100"/>
          <a:ext cx="4479925" cy="6781800"/>
        </p:xfrm>
        <a:graphic>
          <a:graphicData uri="http://schemas.openxmlformats.org/presentationml/2006/ole">
            <mc:AlternateContent xmlns:mc="http://schemas.openxmlformats.org/markup-compatibility/2006">
              <mc:Choice xmlns:v="urn:schemas-microsoft-com:vml" Requires="v">
                <p:oleObj spid="_x0000_s4193" name="Image" r:id="rId3" imgW="4059600" imgH="7058584" progId="Photoshop.Image.7">
                  <p:embed/>
                </p:oleObj>
              </mc:Choice>
              <mc:Fallback>
                <p:oleObj name="Image" r:id="rId3" imgW="4059600" imgH="7058584" progId="Photoshop.Image.7">
                  <p:embed/>
                  <p:pic>
                    <p:nvPicPr>
                      <p:cNvPr id="0" name="Object 1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38100"/>
                        <a:ext cx="4479925"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9646" name="Line 142"/>
          <p:cNvSpPr>
            <a:spLocks noChangeShapeType="1"/>
          </p:cNvSpPr>
          <p:nvPr/>
        </p:nvSpPr>
        <p:spPr bwMode="auto">
          <a:xfrm>
            <a:off x="3135313" y="2146300"/>
            <a:ext cx="1143000" cy="990600"/>
          </a:xfrm>
          <a:prstGeom prst="line">
            <a:avLst/>
          </a:prstGeom>
          <a:noFill/>
          <a:ln w="28575">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647" name="Oval 143"/>
          <p:cNvSpPr>
            <a:spLocks noChangeArrowheads="1"/>
          </p:cNvSpPr>
          <p:nvPr/>
        </p:nvSpPr>
        <p:spPr bwMode="auto">
          <a:xfrm>
            <a:off x="188913" y="1828800"/>
            <a:ext cx="2286000" cy="1219200"/>
          </a:xfrm>
          <a:prstGeom prst="ellipse">
            <a:avLst/>
          </a:prstGeom>
          <a:solidFill>
            <a:schemeClr val="folHlink"/>
          </a:solidFill>
          <a:ln w="9525">
            <a:solidFill>
              <a:srgbClr val="660066"/>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grpSp>
        <p:nvGrpSpPr>
          <p:cNvPr id="149648" name="Group 144"/>
          <p:cNvGrpSpPr>
            <a:grpSpLocks/>
          </p:cNvGrpSpPr>
          <p:nvPr/>
        </p:nvGrpSpPr>
        <p:grpSpPr bwMode="auto">
          <a:xfrm>
            <a:off x="493713" y="1828800"/>
            <a:ext cx="685800" cy="519113"/>
            <a:chOff x="1008" y="912"/>
            <a:chExt cx="432" cy="327"/>
          </a:xfrm>
        </p:grpSpPr>
        <p:sp>
          <p:nvSpPr>
            <p:cNvPr id="4127" name="Oval 145"/>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28" name="Text Box 146"/>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grpSp>
        <p:nvGrpSpPr>
          <p:cNvPr id="149651" name="Group 147"/>
          <p:cNvGrpSpPr>
            <a:grpSpLocks/>
          </p:cNvGrpSpPr>
          <p:nvPr/>
        </p:nvGrpSpPr>
        <p:grpSpPr bwMode="auto">
          <a:xfrm>
            <a:off x="188913" y="2133600"/>
            <a:ext cx="685800" cy="519113"/>
            <a:chOff x="1008" y="912"/>
            <a:chExt cx="432" cy="327"/>
          </a:xfrm>
        </p:grpSpPr>
        <p:sp>
          <p:nvSpPr>
            <p:cNvPr id="4125" name="Oval 148"/>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26" name="Text Box 149"/>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grpSp>
        <p:nvGrpSpPr>
          <p:cNvPr id="149654" name="Group 150"/>
          <p:cNvGrpSpPr>
            <a:grpSpLocks/>
          </p:cNvGrpSpPr>
          <p:nvPr/>
        </p:nvGrpSpPr>
        <p:grpSpPr bwMode="auto">
          <a:xfrm>
            <a:off x="493713" y="2514600"/>
            <a:ext cx="685800" cy="519113"/>
            <a:chOff x="1008" y="912"/>
            <a:chExt cx="432" cy="327"/>
          </a:xfrm>
        </p:grpSpPr>
        <p:sp>
          <p:nvSpPr>
            <p:cNvPr id="4123" name="Oval 151"/>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24" name="Text Box 152"/>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grpSp>
        <p:nvGrpSpPr>
          <p:cNvPr id="149657" name="Group 153"/>
          <p:cNvGrpSpPr>
            <a:grpSpLocks/>
          </p:cNvGrpSpPr>
          <p:nvPr/>
        </p:nvGrpSpPr>
        <p:grpSpPr bwMode="auto">
          <a:xfrm>
            <a:off x="1636713" y="1828800"/>
            <a:ext cx="685800" cy="519113"/>
            <a:chOff x="1008" y="912"/>
            <a:chExt cx="432" cy="327"/>
          </a:xfrm>
        </p:grpSpPr>
        <p:sp>
          <p:nvSpPr>
            <p:cNvPr id="4121" name="Oval 154"/>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22" name="Text Box 155"/>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grpSp>
        <p:nvGrpSpPr>
          <p:cNvPr id="149660" name="Group 156"/>
          <p:cNvGrpSpPr>
            <a:grpSpLocks/>
          </p:cNvGrpSpPr>
          <p:nvPr/>
        </p:nvGrpSpPr>
        <p:grpSpPr bwMode="auto">
          <a:xfrm>
            <a:off x="1941513" y="2133600"/>
            <a:ext cx="685800" cy="519113"/>
            <a:chOff x="1008" y="912"/>
            <a:chExt cx="432" cy="327"/>
          </a:xfrm>
        </p:grpSpPr>
        <p:sp>
          <p:nvSpPr>
            <p:cNvPr id="4119" name="Oval 157"/>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20" name="Text Box 158"/>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grpSp>
        <p:nvGrpSpPr>
          <p:cNvPr id="149663" name="Group 159"/>
          <p:cNvGrpSpPr>
            <a:grpSpLocks/>
          </p:cNvGrpSpPr>
          <p:nvPr/>
        </p:nvGrpSpPr>
        <p:grpSpPr bwMode="auto">
          <a:xfrm>
            <a:off x="1625600" y="2459038"/>
            <a:ext cx="685800" cy="519112"/>
            <a:chOff x="1008" y="912"/>
            <a:chExt cx="432" cy="327"/>
          </a:xfrm>
        </p:grpSpPr>
        <p:sp>
          <p:nvSpPr>
            <p:cNvPr id="4117" name="Oval 160"/>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18" name="Text Box 161"/>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sp>
        <p:nvSpPr>
          <p:cNvPr id="149666" name="Line 162"/>
          <p:cNvSpPr>
            <a:spLocks noChangeShapeType="1"/>
          </p:cNvSpPr>
          <p:nvPr/>
        </p:nvSpPr>
        <p:spPr bwMode="auto">
          <a:xfrm flipH="1">
            <a:off x="3135313" y="2222500"/>
            <a:ext cx="1143000" cy="838200"/>
          </a:xfrm>
          <a:prstGeom prst="line">
            <a:avLst/>
          </a:prstGeom>
          <a:noFill/>
          <a:ln w="28575">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667" name="Line 163"/>
          <p:cNvSpPr>
            <a:spLocks noChangeShapeType="1"/>
          </p:cNvSpPr>
          <p:nvPr/>
        </p:nvSpPr>
        <p:spPr bwMode="auto">
          <a:xfrm>
            <a:off x="3059113" y="2603500"/>
            <a:ext cx="1371600" cy="76200"/>
          </a:xfrm>
          <a:prstGeom prst="line">
            <a:avLst/>
          </a:prstGeom>
          <a:noFill/>
          <a:ln w="28575">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668" name="Line 164"/>
          <p:cNvSpPr>
            <a:spLocks noChangeShapeType="1"/>
          </p:cNvSpPr>
          <p:nvPr/>
        </p:nvSpPr>
        <p:spPr bwMode="auto">
          <a:xfrm>
            <a:off x="3708400" y="2060575"/>
            <a:ext cx="36513" cy="1152525"/>
          </a:xfrm>
          <a:prstGeom prst="line">
            <a:avLst/>
          </a:prstGeom>
          <a:noFill/>
          <a:ln w="28575">
            <a:solidFill>
              <a:srgbClr val="0000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9669" name="Group 165"/>
          <p:cNvGrpSpPr>
            <a:grpSpLocks/>
          </p:cNvGrpSpPr>
          <p:nvPr/>
        </p:nvGrpSpPr>
        <p:grpSpPr bwMode="auto">
          <a:xfrm>
            <a:off x="3440113" y="2374900"/>
            <a:ext cx="685800" cy="519113"/>
            <a:chOff x="1008" y="912"/>
            <a:chExt cx="432" cy="327"/>
          </a:xfrm>
        </p:grpSpPr>
        <p:sp>
          <p:nvSpPr>
            <p:cNvPr id="4115" name="Oval 166"/>
            <p:cNvSpPr>
              <a:spLocks noChangeArrowheads="1"/>
            </p:cNvSpPr>
            <p:nvPr/>
          </p:nvSpPr>
          <p:spPr bwMode="auto">
            <a:xfrm>
              <a:off x="1060" y="960"/>
              <a:ext cx="260" cy="24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4116" name="Text Box 167"/>
            <p:cNvSpPr txBox="1">
              <a:spLocks noChangeArrowheads="1"/>
            </p:cNvSpPr>
            <p:nvPr/>
          </p:nvSpPr>
          <p:spPr bwMode="auto">
            <a:xfrm>
              <a:off x="1008" y="912"/>
              <a:ext cx="4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a:t>
              </a:r>
            </a:p>
          </p:txBody>
        </p:sp>
      </p:grpSp>
      <p:sp>
        <p:nvSpPr>
          <p:cNvPr id="149672" name="Line 168"/>
          <p:cNvSpPr>
            <a:spLocks noChangeShapeType="1"/>
          </p:cNvSpPr>
          <p:nvPr/>
        </p:nvSpPr>
        <p:spPr bwMode="auto">
          <a:xfrm>
            <a:off x="1331913" y="3048000"/>
            <a:ext cx="0" cy="381000"/>
          </a:xfrm>
          <a:prstGeom prst="line">
            <a:avLst/>
          </a:prstGeom>
          <a:noFill/>
          <a:ln w="762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9673" name="Line 169"/>
          <p:cNvSpPr>
            <a:spLocks noChangeShapeType="1"/>
          </p:cNvSpPr>
          <p:nvPr/>
        </p:nvSpPr>
        <p:spPr bwMode="auto">
          <a:xfrm>
            <a:off x="1027113" y="3429000"/>
            <a:ext cx="609600" cy="0"/>
          </a:xfrm>
          <a:prstGeom prst="line">
            <a:avLst/>
          </a:prstGeom>
          <a:noFill/>
          <a:ln w="7620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animEffect transition="in" filter="wipe(left)">
                                      <p:cBhvr>
                                        <p:cTn id="7" dur="500"/>
                                        <p:tgtEl>
                                          <p:spTgt spid="149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4966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49667"/>
                                        </p:tgtEl>
                                        <p:attrNameLst>
                                          <p:attrName>style.visibility</p:attrName>
                                        </p:attrNameLst>
                                      </p:cBhvr>
                                      <p:to>
                                        <p:strVal val="visible"/>
                                      </p:to>
                                    </p:set>
                                  </p:childTnLst>
                                </p:cTn>
                              </p:par>
                            </p:childTnLst>
                          </p:cTn>
                        </p:par>
                        <p:par>
                          <p:cTn id="16" fill="hold" nodeType="afterGroup">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149646"/>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grpId="0" nodeType="afterEffect">
                                  <p:stCondLst>
                                    <p:cond delay="0"/>
                                  </p:stCondLst>
                                  <p:childTnLst>
                                    <p:set>
                                      <p:cBhvr>
                                        <p:cTn id="21" dur="1" fill="hold">
                                          <p:stCondLst>
                                            <p:cond delay="499"/>
                                          </p:stCondLst>
                                        </p:cTn>
                                        <p:tgtEl>
                                          <p:spTgt spid="149666"/>
                                        </p:tgtEl>
                                        <p:attrNameLst>
                                          <p:attrName>style.visibility</p:attrName>
                                        </p:attrNameLst>
                                      </p:cBhvr>
                                      <p:to>
                                        <p:strVal val="visible"/>
                                      </p:to>
                                    </p:set>
                                  </p:childTnLst>
                                </p:cTn>
                              </p:par>
                            </p:childTnLst>
                          </p:cTn>
                        </p:par>
                        <p:par>
                          <p:cTn id="22" fill="hold" nodeType="afterGroup">
                            <p:stCondLst>
                              <p:cond delay="1500"/>
                            </p:stCondLst>
                            <p:childTnLst>
                              <p:par>
                                <p:cTn id="23" presetID="1" presetClass="entr" presetSubtype="0" fill="hold" grpId="0" nodeType="afterEffect">
                                  <p:stCondLst>
                                    <p:cond delay="0"/>
                                  </p:stCondLst>
                                  <p:childTnLst>
                                    <p:set>
                                      <p:cBhvr>
                                        <p:cTn id="24" dur="1" fill="hold">
                                          <p:stCondLst>
                                            <p:cond delay="499"/>
                                          </p:stCondLst>
                                        </p:cTn>
                                        <p:tgtEl>
                                          <p:spTgt spid="14966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4964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4967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4967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149657"/>
                                        </p:tgtEl>
                                        <p:attrNameLst>
                                          <p:attrName>style.visibility</p:attrName>
                                        </p:attrNameLst>
                                      </p:cBhvr>
                                      <p:to>
                                        <p:strVal val="visible"/>
                                      </p:to>
                                    </p:set>
                                  </p:childTnLst>
                                </p:cTn>
                              </p:par>
                            </p:childTnLst>
                          </p:cTn>
                        </p:par>
                        <p:par>
                          <p:cTn id="41" fill="hold" nodeType="afterGroup">
                            <p:stCondLst>
                              <p:cond delay="500"/>
                            </p:stCondLst>
                            <p:childTnLst>
                              <p:par>
                                <p:cTn id="42" presetID="1" presetClass="entr" presetSubtype="0" fill="hold" nodeType="afterEffect">
                                  <p:stCondLst>
                                    <p:cond delay="0"/>
                                  </p:stCondLst>
                                  <p:childTnLst>
                                    <p:set>
                                      <p:cBhvr>
                                        <p:cTn id="43" dur="1" fill="hold">
                                          <p:stCondLst>
                                            <p:cond delay="499"/>
                                          </p:stCondLst>
                                        </p:cTn>
                                        <p:tgtEl>
                                          <p:spTgt spid="149660"/>
                                        </p:tgtEl>
                                        <p:attrNameLst>
                                          <p:attrName>style.visibility</p:attrName>
                                        </p:attrNameLst>
                                      </p:cBhvr>
                                      <p:to>
                                        <p:strVal val="visible"/>
                                      </p:to>
                                    </p:set>
                                  </p:childTnLst>
                                </p:cTn>
                              </p:par>
                            </p:childTnLst>
                          </p:cTn>
                        </p:par>
                        <p:par>
                          <p:cTn id="44" fill="hold" nodeType="afterGroup">
                            <p:stCondLst>
                              <p:cond delay="1000"/>
                            </p:stCondLst>
                            <p:childTnLst>
                              <p:par>
                                <p:cTn id="45" presetID="1" presetClass="entr" presetSubtype="0" fill="hold" nodeType="afterEffect">
                                  <p:stCondLst>
                                    <p:cond delay="0"/>
                                  </p:stCondLst>
                                  <p:childTnLst>
                                    <p:set>
                                      <p:cBhvr>
                                        <p:cTn id="46" dur="1" fill="hold">
                                          <p:stCondLst>
                                            <p:cond delay="499"/>
                                          </p:stCondLst>
                                        </p:cTn>
                                        <p:tgtEl>
                                          <p:spTgt spid="14966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149648"/>
                                        </p:tgtEl>
                                        <p:attrNameLst>
                                          <p:attrName>style.visibility</p:attrName>
                                        </p:attrNameLst>
                                      </p:cBhvr>
                                      <p:to>
                                        <p:strVal val="visible"/>
                                      </p:to>
                                    </p:set>
                                  </p:childTnLst>
                                </p:cTn>
                              </p:par>
                            </p:childTnLst>
                          </p:cTn>
                        </p:par>
                        <p:par>
                          <p:cTn id="51" fill="hold" nodeType="afterGroup">
                            <p:stCondLst>
                              <p:cond delay="500"/>
                            </p:stCondLst>
                            <p:childTnLst>
                              <p:par>
                                <p:cTn id="52" presetID="1" presetClass="entr" presetSubtype="0" fill="hold" nodeType="afterEffect">
                                  <p:stCondLst>
                                    <p:cond delay="0"/>
                                  </p:stCondLst>
                                  <p:childTnLst>
                                    <p:set>
                                      <p:cBhvr>
                                        <p:cTn id="53" dur="1" fill="hold">
                                          <p:stCondLst>
                                            <p:cond delay="499"/>
                                          </p:stCondLst>
                                        </p:cTn>
                                        <p:tgtEl>
                                          <p:spTgt spid="149651"/>
                                        </p:tgtEl>
                                        <p:attrNameLst>
                                          <p:attrName>style.visibility</p:attrName>
                                        </p:attrNameLst>
                                      </p:cBhvr>
                                      <p:to>
                                        <p:strVal val="visible"/>
                                      </p:to>
                                    </p:set>
                                  </p:childTnLst>
                                </p:cTn>
                              </p:par>
                            </p:childTnLst>
                          </p:cTn>
                        </p:par>
                        <p:par>
                          <p:cTn id="54" fill="hold" nodeType="afterGroup">
                            <p:stCondLst>
                              <p:cond delay="1000"/>
                            </p:stCondLst>
                            <p:childTnLst>
                              <p:par>
                                <p:cTn id="55" presetID="1" presetClass="entr" presetSubtype="0" fill="hold" nodeType="afterEffect">
                                  <p:stCondLst>
                                    <p:cond delay="0"/>
                                  </p:stCondLst>
                                  <p:childTnLst>
                                    <p:set>
                                      <p:cBhvr>
                                        <p:cTn id="56" dur="1" fill="hold">
                                          <p:stCondLst>
                                            <p:cond delay="499"/>
                                          </p:stCondLst>
                                        </p:cTn>
                                        <p:tgtEl>
                                          <p:spTgt spid="149654"/>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9520"/>
                                        </p:tgtEl>
                                        <p:attrNameLst>
                                          <p:attrName>style.visibility</p:attrName>
                                        </p:attrNameLst>
                                      </p:cBhvr>
                                      <p:to>
                                        <p:strVal val="visible"/>
                                      </p:to>
                                    </p:set>
                                    <p:animEffect transition="in" filter="wipe(left)">
                                      <p:cBhvr>
                                        <p:cTn id="61" dur="500"/>
                                        <p:tgtEl>
                                          <p:spTgt spid="149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p:bldP spid="149520" grpId="0"/>
      <p:bldP spid="149646" grpId="0" animBg="1"/>
      <p:bldP spid="149647" grpId="0" animBg="1"/>
      <p:bldP spid="149666" grpId="0" animBg="1"/>
      <p:bldP spid="149667" grpId="0" animBg="1"/>
      <p:bldP spid="149668" grpId="0" animBg="1"/>
      <p:bldP spid="149672" grpId="0" animBg="1"/>
      <p:bldP spid="14967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6" name="Text Box 6"/>
          <p:cNvSpPr txBox="1">
            <a:spLocks noChangeArrowheads="1"/>
          </p:cNvSpPr>
          <p:nvPr/>
        </p:nvSpPr>
        <p:spPr bwMode="auto">
          <a:xfrm>
            <a:off x="3046413" y="784225"/>
            <a:ext cx="6097587" cy="103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buFontTx/>
              <a:buNone/>
            </a:pPr>
            <a:r>
              <a:rPr lang="zh-CN" altLang="en-US" sz="2800">
                <a:ea typeface="楷体_GB2312"/>
              </a:rPr>
              <a:t>当导体中电荷的宏观定向运动停止，达到静电平衡状态。</a:t>
            </a:r>
          </a:p>
        </p:txBody>
      </p:sp>
      <p:sp>
        <p:nvSpPr>
          <p:cNvPr id="153604" name="Text Box 4"/>
          <p:cNvSpPr txBox="1">
            <a:spLocks noChangeArrowheads="1"/>
          </p:cNvSpPr>
          <p:nvPr/>
        </p:nvSpPr>
        <p:spPr bwMode="auto">
          <a:xfrm>
            <a:off x="107950" y="168275"/>
            <a:ext cx="2559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ea typeface="楷体_GB2312"/>
              </a:rPr>
              <a:t>3.</a:t>
            </a:r>
            <a:r>
              <a:rPr lang="en-US" altLang="zh-CN" sz="2800">
                <a:latin typeface="Arial" panose="020B0604020202020204" pitchFamily="34" charset="0"/>
                <a:ea typeface="楷体_GB2312"/>
              </a:rPr>
              <a:t> </a:t>
            </a:r>
            <a:r>
              <a:rPr lang="zh-CN" altLang="en-US" sz="2800">
                <a:latin typeface="Arial" panose="020B0604020202020204" pitchFamily="34" charset="0"/>
                <a:ea typeface="楷体_GB2312"/>
              </a:rPr>
              <a:t>静电平衡</a:t>
            </a:r>
          </a:p>
        </p:txBody>
      </p:sp>
      <p:sp>
        <p:nvSpPr>
          <p:cNvPr id="153605" name="Text Box 5"/>
          <p:cNvSpPr txBox="1">
            <a:spLocks noChangeArrowheads="1"/>
          </p:cNvSpPr>
          <p:nvPr/>
        </p:nvSpPr>
        <p:spPr bwMode="auto">
          <a:xfrm>
            <a:off x="228600" y="854075"/>
            <a:ext cx="2895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
            </a:pPr>
            <a:r>
              <a:rPr lang="en-US" altLang="zh-CN" sz="2800">
                <a:solidFill>
                  <a:srgbClr val="FF0000"/>
                </a:solidFill>
                <a:ea typeface="楷体_GB2312"/>
              </a:rPr>
              <a:t> </a:t>
            </a:r>
            <a:r>
              <a:rPr lang="zh-CN" altLang="zh-CN" sz="2800">
                <a:ea typeface="楷体_GB2312"/>
              </a:rPr>
              <a:t>静电平衡状态</a:t>
            </a:r>
            <a:endParaRPr lang="zh-CN" altLang="en-US" sz="2800">
              <a:ea typeface="楷体_GB2312"/>
            </a:endParaRPr>
          </a:p>
        </p:txBody>
      </p:sp>
      <p:sp>
        <p:nvSpPr>
          <p:cNvPr id="153607" name="Text Box 7"/>
          <p:cNvSpPr txBox="1">
            <a:spLocks noChangeArrowheads="1"/>
          </p:cNvSpPr>
          <p:nvPr/>
        </p:nvSpPr>
        <p:spPr bwMode="auto">
          <a:xfrm>
            <a:off x="228600" y="1993900"/>
            <a:ext cx="1371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
            </a:pPr>
            <a:r>
              <a:rPr lang="en-US" altLang="zh-CN" sz="2800">
                <a:solidFill>
                  <a:srgbClr val="FF0000"/>
                </a:solidFill>
                <a:ea typeface="楷体_GB2312"/>
              </a:rPr>
              <a:t> </a:t>
            </a:r>
            <a:r>
              <a:rPr lang="zh-CN" altLang="zh-CN" sz="2800">
                <a:ea typeface="楷体_GB2312"/>
              </a:rPr>
              <a:t>过程</a:t>
            </a:r>
            <a:endParaRPr lang="zh-CN" altLang="en-US" sz="2800">
              <a:ea typeface="楷体_GB2312"/>
            </a:endParaRPr>
          </a:p>
        </p:txBody>
      </p:sp>
      <p:graphicFrame>
        <p:nvGraphicFramePr>
          <p:cNvPr id="153625" name="Object 25"/>
          <p:cNvGraphicFramePr>
            <a:graphicFrameLocks noChangeAspect="1"/>
          </p:cNvGraphicFramePr>
          <p:nvPr>
            <p:extLst>
              <p:ext uri="{D42A27DB-BD31-4B8C-83A1-F6EECF244321}">
                <p14:modId xmlns:p14="http://schemas.microsoft.com/office/powerpoint/2010/main" val="2276681634"/>
              </p:ext>
            </p:extLst>
          </p:nvPr>
        </p:nvGraphicFramePr>
        <p:xfrm>
          <a:off x="4198921" y="5985667"/>
          <a:ext cx="1409700" cy="652462"/>
        </p:xfrm>
        <a:graphic>
          <a:graphicData uri="http://schemas.openxmlformats.org/presentationml/2006/ole">
            <mc:AlternateContent xmlns:mc="http://schemas.openxmlformats.org/markup-compatibility/2006">
              <mc:Choice xmlns:v="urn:schemas-microsoft-com:vml" Requires="v">
                <p:oleObj spid="_x0000_s5671" name="公式" r:id="rId3" imgW="324020" imgH="124022" progId="Equation.3">
                  <p:embed/>
                </p:oleObj>
              </mc:Choice>
              <mc:Fallback>
                <p:oleObj name="公式" r:id="rId3" imgW="324020" imgH="124022"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8921" y="5985667"/>
                        <a:ext cx="1409700" cy="65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26" name="Freeform 26"/>
          <p:cNvSpPr>
            <a:spLocks/>
          </p:cNvSpPr>
          <p:nvPr/>
        </p:nvSpPr>
        <p:spPr bwMode="auto">
          <a:xfrm>
            <a:off x="6854825" y="2641600"/>
            <a:ext cx="993775" cy="2778125"/>
          </a:xfrm>
          <a:custGeom>
            <a:avLst/>
            <a:gdLst>
              <a:gd name="T0" fmla="*/ 2147483646 w 852"/>
              <a:gd name="T1" fmla="*/ 2147483646 h 1771"/>
              <a:gd name="T2" fmla="*/ 2147483646 w 852"/>
              <a:gd name="T3" fmla="*/ 2147483646 h 1771"/>
              <a:gd name="T4" fmla="*/ 2147483646 w 852"/>
              <a:gd name="T5" fmla="*/ 2147483646 h 1771"/>
              <a:gd name="T6" fmla="*/ 2147483646 w 852"/>
              <a:gd name="T7" fmla="*/ 2147483646 h 1771"/>
              <a:gd name="T8" fmla="*/ 2147483646 w 852"/>
              <a:gd name="T9" fmla="*/ 2147483646 h 1771"/>
              <a:gd name="T10" fmla="*/ 2147483646 w 852"/>
              <a:gd name="T11" fmla="*/ 2147483646 h 1771"/>
              <a:gd name="T12" fmla="*/ 2147483646 w 852"/>
              <a:gd name="T13" fmla="*/ 2147483646 h 1771"/>
              <a:gd name="T14" fmla="*/ 2147483646 w 852"/>
              <a:gd name="T15" fmla="*/ 2147483646 h 1771"/>
              <a:gd name="T16" fmla="*/ 2147483646 w 852"/>
              <a:gd name="T17" fmla="*/ 2147483646 h 1771"/>
              <a:gd name="T18" fmla="*/ 2147483646 w 852"/>
              <a:gd name="T19" fmla="*/ 2147483646 h 1771"/>
              <a:gd name="T20" fmla="*/ 2147483646 w 852"/>
              <a:gd name="T21" fmla="*/ 2147483646 h 1771"/>
              <a:gd name="T22" fmla="*/ 2147483646 w 852"/>
              <a:gd name="T23" fmla="*/ 2147483646 h 1771"/>
              <a:gd name="T24" fmla="*/ 2147483646 w 852"/>
              <a:gd name="T25" fmla="*/ 2147483646 h 1771"/>
              <a:gd name="T26" fmla="*/ 2147483646 w 852"/>
              <a:gd name="T27" fmla="*/ 2147483646 h 1771"/>
              <a:gd name="T28" fmla="*/ 2147483646 w 852"/>
              <a:gd name="T29" fmla="*/ 2147483646 h 1771"/>
              <a:gd name="T30" fmla="*/ 2147483646 w 852"/>
              <a:gd name="T31" fmla="*/ 2147483646 h 1771"/>
              <a:gd name="T32" fmla="*/ 2147483646 w 852"/>
              <a:gd name="T33" fmla="*/ 2147483646 h 1771"/>
              <a:gd name="T34" fmla="*/ 0 w 852"/>
              <a:gd name="T35" fmla="*/ 2147483646 h 1771"/>
              <a:gd name="T36" fmla="*/ 2147483646 w 852"/>
              <a:gd name="T37" fmla="*/ 2147483646 h 177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852" h="1771">
                <a:moveTo>
                  <a:pt x="12" y="73"/>
                </a:moveTo>
                <a:cubicBezTo>
                  <a:pt x="116" y="86"/>
                  <a:pt x="222" y="84"/>
                  <a:pt x="324" y="109"/>
                </a:cubicBezTo>
                <a:cubicBezTo>
                  <a:pt x="453" y="93"/>
                  <a:pt x="389" y="105"/>
                  <a:pt x="516" y="73"/>
                </a:cubicBezTo>
                <a:cubicBezTo>
                  <a:pt x="541" y="67"/>
                  <a:pt x="588" y="49"/>
                  <a:pt x="588" y="49"/>
                </a:cubicBezTo>
                <a:cubicBezTo>
                  <a:pt x="848" y="66"/>
                  <a:pt x="736" y="0"/>
                  <a:pt x="780" y="133"/>
                </a:cubicBezTo>
                <a:cubicBezTo>
                  <a:pt x="785" y="147"/>
                  <a:pt x="796" y="157"/>
                  <a:pt x="804" y="169"/>
                </a:cubicBezTo>
                <a:cubicBezTo>
                  <a:pt x="793" y="586"/>
                  <a:pt x="806" y="982"/>
                  <a:pt x="852" y="1393"/>
                </a:cubicBezTo>
                <a:cubicBezTo>
                  <a:pt x="844" y="1417"/>
                  <a:pt x="832" y="1440"/>
                  <a:pt x="828" y="1465"/>
                </a:cubicBezTo>
                <a:cubicBezTo>
                  <a:pt x="824" y="1489"/>
                  <a:pt x="837" y="1525"/>
                  <a:pt x="816" y="1537"/>
                </a:cubicBezTo>
                <a:cubicBezTo>
                  <a:pt x="774" y="1560"/>
                  <a:pt x="720" y="1545"/>
                  <a:pt x="672" y="1549"/>
                </a:cubicBezTo>
                <a:cubicBezTo>
                  <a:pt x="598" y="1586"/>
                  <a:pt x="584" y="1626"/>
                  <a:pt x="564" y="1705"/>
                </a:cubicBezTo>
                <a:cubicBezTo>
                  <a:pt x="505" y="1693"/>
                  <a:pt x="485" y="1675"/>
                  <a:pt x="432" y="1657"/>
                </a:cubicBezTo>
                <a:cubicBezTo>
                  <a:pt x="401" y="1667"/>
                  <a:pt x="364" y="1664"/>
                  <a:pt x="336" y="1681"/>
                </a:cubicBezTo>
                <a:cubicBezTo>
                  <a:pt x="319" y="1692"/>
                  <a:pt x="314" y="1715"/>
                  <a:pt x="300" y="1729"/>
                </a:cubicBezTo>
                <a:cubicBezTo>
                  <a:pt x="290" y="1739"/>
                  <a:pt x="276" y="1745"/>
                  <a:pt x="264" y="1753"/>
                </a:cubicBezTo>
                <a:cubicBezTo>
                  <a:pt x="198" y="1736"/>
                  <a:pt x="114" y="1771"/>
                  <a:pt x="60" y="1729"/>
                </a:cubicBezTo>
                <a:cubicBezTo>
                  <a:pt x="28" y="1704"/>
                  <a:pt x="52" y="1649"/>
                  <a:pt x="48" y="1609"/>
                </a:cubicBezTo>
                <a:cubicBezTo>
                  <a:pt x="67" y="1129"/>
                  <a:pt x="94" y="653"/>
                  <a:pt x="0" y="181"/>
                </a:cubicBezTo>
                <a:cubicBezTo>
                  <a:pt x="14" y="97"/>
                  <a:pt x="12" y="133"/>
                  <a:pt x="12" y="73"/>
                </a:cubicBezTo>
                <a:close/>
              </a:path>
            </a:pathLst>
          </a:custGeom>
          <a:solidFill>
            <a:schemeClr val="accent1"/>
          </a:solidFill>
          <a:ln w="9525">
            <a:solidFill>
              <a:schemeClr val="bg2"/>
            </a:solidFill>
            <a:round/>
            <a:headEnd/>
            <a:tailEnd/>
          </a:ln>
        </p:spPr>
        <p:txBody>
          <a:bodyPr wrap="none" anchor="ctr"/>
          <a:lstStyle/>
          <a:p>
            <a:endParaRPr lang="zh-CN" altLang="en-US"/>
          </a:p>
        </p:txBody>
      </p:sp>
      <p:sp>
        <p:nvSpPr>
          <p:cNvPr id="153627" name="Line 27"/>
          <p:cNvSpPr>
            <a:spLocks noChangeShapeType="1"/>
          </p:cNvSpPr>
          <p:nvPr/>
        </p:nvSpPr>
        <p:spPr bwMode="auto">
          <a:xfrm>
            <a:off x="6397625" y="3214688"/>
            <a:ext cx="2057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28" name="Line 28"/>
          <p:cNvSpPr>
            <a:spLocks noChangeShapeType="1"/>
          </p:cNvSpPr>
          <p:nvPr/>
        </p:nvSpPr>
        <p:spPr bwMode="auto">
          <a:xfrm>
            <a:off x="6394450" y="3752850"/>
            <a:ext cx="2057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29" name="Line 29"/>
          <p:cNvSpPr>
            <a:spLocks noChangeShapeType="1"/>
          </p:cNvSpPr>
          <p:nvPr/>
        </p:nvSpPr>
        <p:spPr bwMode="auto">
          <a:xfrm>
            <a:off x="6397625" y="4281488"/>
            <a:ext cx="2057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30" name="Line 30"/>
          <p:cNvSpPr>
            <a:spLocks noChangeShapeType="1"/>
          </p:cNvSpPr>
          <p:nvPr/>
        </p:nvSpPr>
        <p:spPr bwMode="auto">
          <a:xfrm>
            <a:off x="6397625" y="4814888"/>
            <a:ext cx="2057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31" name="Line 31"/>
          <p:cNvSpPr>
            <a:spLocks noChangeShapeType="1"/>
          </p:cNvSpPr>
          <p:nvPr/>
        </p:nvSpPr>
        <p:spPr bwMode="auto">
          <a:xfrm flipH="1">
            <a:off x="7162800" y="3006725"/>
            <a:ext cx="3048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632" name="Object 32"/>
          <p:cNvGraphicFramePr>
            <a:graphicFrameLocks noChangeAspect="1"/>
          </p:cNvGraphicFramePr>
          <p:nvPr/>
        </p:nvGraphicFramePr>
        <p:xfrm>
          <a:off x="7993063" y="3689350"/>
          <a:ext cx="604837" cy="704850"/>
        </p:xfrm>
        <a:graphic>
          <a:graphicData uri="http://schemas.openxmlformats.org/presentationml/2006/ole">
            <mc:AlternateContent xmlns:mc="http://schemas.openxmlformats.org/markup-compatibility/2006">
              <mc:Choice xmlns:v="urn:schemas-microsoft-com:vml" Requires="v">
                <p:oleObj spid="_x0000_s5672" name="公式" r:id="rId5" imgW="104929" imgH="133271" progId="Equation.3">
                  <p:embed/>
                </p:oleObj>
              </mc:Choice>
              <mc:Fallback>
                <p:oleObj name="公式" r:id="rId5" imgW="104929" imgH="133271"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93063" y="3689350"/>
                        <a:ext cx="604837"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33" name="Object 33"/>
          <p:cNvGraphicFramePr>
            <a:graphicFrameLocks noChangeAspect="1"/>
          </p:cNvGraphicFramePr>
          <p:nvPr/>
        </p:nvGraphicFramePr>
        <p:xfrm>
          <a:off x="7086600" y="3514725"/>
          <a:ext cx="557213" cy="558800"/>
        </p:xfrm>
        <a:graphic>
          <a:graphicData uri="http://schemas.openxmlformats.org/presentationml/2006/ole">
            <mc:AlternateContent xmlns:mc="http://schemas.openxmlformats.org/markup-compatibility/2006">
              <mc:Choice xmlns:v="urn:schemas-microsoft-com:vml" Requires="v">
                <p:oleObj spid="_x0000_s5673" name="公式" r:id="rId7" imgW="95275" imgH="95434" progId="Equation.3">
                  <p:embed/>
                </p:oleObj>
              </mc:Choice>
              <mc:Fallback>
                <p:oleObj name="公式" r:id="rId7" imgW="95275" imgH="95434"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86600" y="3514725"/>
                        <a:ext cx="557213"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34" name="Object 34"/>
          <p:cNvGraphicFramePr>
            <a:graphicFrameLocks noChangeAspect="1"/>
          </p:cNvGraphicFramePr>
          <p:nvPr/>
        </p:nvGraphicFramePr>
        <p:xfrm>
          <a:off x="6270625" y="5661025"/>
          <a:ext cx="2568575" cy="595313"/>
        </p:xfrm>
        <a:graphic>
          <a:graphicData uri="http://schemas.openxmlformats.org/presentationml/2006/ole">
            <mc:AlternateContent xmlns:mc="http://schemas.openxmlformats.org/markup-compatibility/2006">
              <mc:Choice xmlns:v="urn:schemas-microsoft-com:vml" Requires="v">
                <p:oleObj spid="_x0000_s5674" name="公式" r:id="rId9" imgW="704701" imgH="124022" progId="Equation.3">
                  <p:embed/>
                </p:oleObj>
              </mc:Choice>
              <mc:Fallback>
                <p:oleObj name="公式" r:id="rId9" imgW="704701" imgH="124022"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70625" y="5661025"/>
                        <a:ext cx="2568575"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635" name="Group 35"/>
          <p:cNvGrpSpPr>
            <a:grpSpLocks/>
          </p:cNvGrpSpPr>
          <p:nvPr/>
        </p:nvGrpSpPr>
        <p:grpSpPr bwMode="auto">
          <a:xfrm>
            <a:off x="6908800" y="4454525"/>
            <a:ext cx="363538" cy="336550"/>
            <a:chOff x="299" y="3504"/>
            <a:chExt cx="229" cy="212"/>
          </a:xfrm>
        </p:grpSpPr>
        <p:sp>
          <p:nvSpPr>
            <p:cNvPr id="5196" name="Oval 36"/>
            <p:cNvSpPr>
              <a:spLocks noChangeArrowheads="1"/>
            </p:cNvSpPr>
            <p:nvPr/>
          </p:nvSpPr>
          <p:spPr bwMode="auto">
            <a:xfrm>
              <a:off x="340" y="3536"/>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97" name="Text Box 37"/>
            <p:cNvSpPr txBox="1">
              <a:spLocks noChangeArrowheads="1"/>
            </p:cNvSpPr>
            <p:nvPr/>
          </p:nvSpPr>
          <p:spPr bwMode="auto">
            <a:xfrm flipH="1">
              <a:off x="299" y="3504"/>
              <a:ext cx="229"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a:solidFill>
                    <a:srgbClr val="000000"/>
                  </a:solidFill>
                  <a:ea typeface="楷体_GB2312"/>
                </a:rPr>
                <a:t>－</a:t>
              </a:r>
            </a:p>
          </p:txBody>
        </p:sp>
      </p:grpSp>
      <p:grpSp>
        <p:nvGrpSpPr>
          <p:cNvPr id="153641" name="Group 41"/>
          <p:cNvGrpSpPr>
            <a:grpSpLocks/>
          </p:cNvGrpSpPr>
          <p:nvPr/>
        </p:nvGrpSpPr>
        <p:grpSpPr bwMode="auto">
          <a:xfrm>
            <a:off x="6858000" y="2847975"/>
            <a:ext cx="457200" cy="336550"/>
            <a:chOff x="395" y="3868"/>
            <a:chExt cx="288" cy="212"/>
          </a:xfrm>
        </p:grpSpPr>
        <p:sp>
          <p:nvSpPr>
            <p:cNvPr id="5192" name="Oval 42"/>
            <p:cNvSpPr>
              <a:spLocks noChangeArrowheads="1"/>
            </p:cNvSpPr>
            <p:nvPr/>
          </p:nvSpPr>
          <p:spPr bwMode="auto">
            <a:xfrm>
              <a:off x="436" y="3900"/>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93" name="Text Box 43"/>
            <p:cNvSpPr txBox="1">
              <a:spLocks noChangeArrowheads="1"/>
            </p:cNvSpPr>
            <p:nvPr/>
          </p:nvSpPr>
          <p:spPr bwMode="auto">
            <a:xfrm flipH="1">
              <a:off x="395" y="3868"/>
              <a:ext cx="288"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a:solidFill>
                    <a:srgbClr val="000000"/>
                  </a:solidFill>
                  <a:ea typeface="楷体_GB2312"/>
                </a:rPr>
                <a:t>－</a:t>
              </a:r>
            </a:p>
          </p:txBody>
        </p:sp>
      </p:grpSp>
      <p:grpSp>
        <p:nvGrpSpPr>
          <p:cNvPr id="153650" name="Group 50"/>
          <p:cNvGrpSpPr>
            <a:grpSpLocks/>
          </p:cNvGrpSpPr>
          <p:nvPr/>
        </p:nvGrpSpPr>
        <p:grpSpPr bwMode="auto">
          <a:xfrm>
            <a:off x="7543800" y="4429125"/>
            <a:ext cx="325438" cy="336550"/>
            <a:chOff x="419" y="2880"/>
            <a:chExt cx="205" cy="212"/>
          </a:xfrm>
        </p:grpSpPr>
        <p:sp>
          <p:nvSpPr>
            <p:cNvPr id="5186" name="Oval 51"/>
            <p:cNvSpPr>
              <a:spLocks noChangeArrowheads="1"/>
            </p:cNvSpPr>
            <p:nvPr/>
          </p:nvSpPr>
          <p:spPr bwMode="auto">
            <a:xfrm>
              <a:off x="436" y="2912"/>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87" name="Text Box 52"/>
            <p:cNvSpPr txBox="1">
              <a:spLocks noChangeArrowheads="1"/>
            </p:cNvSpPr>
            <p:nvPr/>
          </p:nvSpPr>
          <p:spPr bwMode="auto">
            <a:xfrm flipH="1">
              <a:off x="419" y="2880"/>
              <a:ext cx="205"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solidFill>
                    <a:srgbClr val="000000"/>
                  </a:solidFill>
                  <a:ea typeface="楷体_GB2312"/>
                </a:rPr>
                <a:t>+</a:t>
              </a:r>
            </a:p>
          </p:txBody>
        </p:sp>
      </p:grpSp>
      <p:grpSp>
        <p:nvGrpSpPr>
          <p:cNvPr id="153656" name="Group 56"/>
          <p:cNvGrpSpPr>
            <a:grpSpLocks/>
          </p:cNvGrpSpPr>
          <p:nvPr/>
        </p:nvGrpSpPr>
        <p:grpSpPr bwMode="auto">
          <a:xfrm>
            <a:off x="7467600" y="3330575"/>
            <a:ext cx="325438" cy="336550"/>
            <a:chOff x="515" y="2976"/>
            <a:chExt cx="205" cy="212"/>
          </a:xfrm>
        </p:grpSpPr>
        <p:sp>
          <p:nvSpPr>
            <p:cNvPr id="5182" name="Oval 57"/>
            <p:cNvSpPr>
              <a:spLocks noChangeArrowheads="1"/>
            </p:cNvSpPr>
            <p:nvPr/>
          </p:nvSpPr>
          <p:spPr bwMode="auto">
            <a:xfrm>
              <a:off x="532" y="3008"/>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83" name="Text Box 58"/>
            <p:cNvSpPr txBox="1">
              <a:spLocks noChangeArrowheads="1"/>
            </p:cNvSpPr>
            <p:nvPr/>
          </p:nvSpPr>
          <p:spPr bwMode="auto">
            <a:xfrm flipH="1">
              <a:off x="515" y="2976"/>
              <a:ext cx="205"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solidFill>
                    <a:srgbClr val="000000"/>
                  </a:solidFill>
                  <a:ea typeface="楷体_GB2312"/>
                </a:rPr>
                <a:t>+</a:t>
              </a:r>
            </a:p>
          </p:txBody>
        </p:sp>
      </p:grpSp>
      <p:grpSp>
        <p:nvGrpSpPr>
          <p:cNvPr id="153662" name="Group 62"/>
          <p:cNvGrpSpPr>
            <a:grpSpLocks/>
          </p:cNvGrpSpPr>
          <p:nvPr/>
        </p:nvGrpSpPr>
        <p:grpSpPr bwMode="auto">
          <a:xfrm>
            <a:off x="7467600" y="2828925"/>
            <a:ext cx="325438" cy="336550"/>
            <a:chOff x="515" y="2976"/>
            <a:chExt cx="205" cy="212"/>
          </a:xfrm>
        </p:grpSpPr>
        <p:sp>
          <p:nvSpPr>
            <p:cNvPr id="5178" name="Oval 63"/>
            <p:cNvSpPr>
              <a:spLocks noChangeArrowheads="1"/>
            </p:cNvSpPr>
            <p:nvPr/>
          </p:nvSpPr>
          <p:spPr bwMode="auto">
            <a:xfrm>
              <a:off x="532" y="3008"/>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79" name="Text Box 64"/>
            <p:cNvSpPr txBox="1">
              <a:spLocks noChangeArrowheads="1"/>
            </p:cNvSpPr>
            <p:nvPr/>
          </p:nvSpPr>
          <p:spPr bwMode="auto">
            <a:xfrm flipH="1">
              <a:off x="515" y="2976"/>
              <a:ext cx="205"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solidFill>
                    <a:srgbClr val="000000"/>
                  </a:solidFill>
                  <a:ea typeface="楷体_GB2312"/>
                </a:rPr>
                <a:t>+</a:t>
              </a:r>
            </a:p>
          </p:txBody>
        </p:sp>
      </p:grpSp>
      <p:sp>
        <p:nvSpPr>
          <p:cNvPr id="153665" name="Oval 65"/>
          <p:cNvSpPr>
            <a:spLocks noChangeArrowheads="1"/>
          </p:cNvSpPr>
          <p:nvPr/>
        </p:nvSpPr>
        <p:spPr bwMode="auto">
          <a:xfrm>
            <a:off x="6940550" y="3381375"/>
            <a:ext cx="239713" cy="228600"/>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3666" name="Text Box 66"/>
          <p:cNvSpPr txBox="1">
            <a:spLocks noChangeArrowheads="1"/>
          </p:cNvSpPr>
          <p:nvPr/>
        </p:nvSpPr>
        <p:spPr bwMode="auto">
          <a:xfrm flipH="1">
            <a:off x="6875463" y="3330575"/>
            <a:ext cx="363537" cy="336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a:solidFill>
                  <a:srgbClr val="000000"/>
                </a:solidFill>
                <a:ea typeface="楷体_GB2312"/>
              </a:rPr>
              <a:t>－</a:t>
            </a:r>
          </a:p>
        </p:txBody>
      </p:sp>
      <p:grpSp>
        <p:nvGrpSpPr>
          <p:cNvPr id="153667" name="Group 67"/>
          <p:cNvGrpSpPr>
            <a:grpSpLocks/>
          </p:cNvGrpSpPr>
          <p:nvPr/>
        </p:nvGrpSpPr>
        <p:grpSpPr bwMode="auto">
          <a:xfrm>
            <a:off x="7543800" y="3895725"/>
            <a:ext cx="325438" cy="336550"/>
            <a:chOff x="419" y="2880"/>
            <a:chExt cx="205" cy="212"/>
          </a:xfrm>
        </p:grpSpPr>
        <p:sp>
          <p:nvSpPr>
            <p:cNvPr id="5176" name="Oval 68"/>
            <p:cNvSpPr>
              <a:spLocks noChangeArrowheads="1"/>
            </p:cNvSpPr>
            <p:nvPr/>
          </p:nvSpPr>
          <p:spPr bwMode="auto">
            <a:xfrm>
              <a:off x="436" y="2912"/>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77" name="Text Box 69"/>
            <p:cNvSpPr txBox="1">
              <a:spLocks noChangeArrowheads="1"/>
            </p:cNvSpPr>
            <p:nvPr/>
          </p:nvSpPr>
          <p:spPr bwMode="auto">
            <a:xfrm flipH="1">
              <a:off x="419" y="2880"/>
              <a:ext cx="205"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solidFill>
                    <a:srgbClr val="000000"/>
                  </a:solidFill>
                  <a:ea typeface="楷体_GB2312"/>
                </a:rPr>
                <a:t>+</a:t>
              </a:r>
            </a:p>
          </p:txBody>
        </p:sp>
      </p:grpSp>
      <p:sp>
        <p:nvSpPr>
          <p:cNvPr id="153670" name="Line 70"/>
          <p:cNvSpPr>
            <a:spLocks noChangeShapeType="1"/>
          </p:cNvSpPr>
          <p:nvPr/>
        </p:nvSpPr>
        <p:spPr bwMode="auto">
          <a:xfrm flipH="1">
            <a:off x="7239000" y="4048125"/>
            <a:ext cx="3048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3671" name="Group 71"/>
          <p:cNvGrpSpPr>
            <a:grpSpLocks/>
          </p:cNvGrpSpPr>
          <p:nvPr/>
        </p:nvGrpSpPr>
        <p:grpSpPr bwMode="auto">
          <a:xfrm>
            <a:off x="6896100" y="3895725"/>
            <a:ext cx="363538" cy="336550"/>
            <a:chOff x="299" y="3504"/>
            <a:chExt cx="229" cy="212"/>
          </a:xfrm>
        </p:grpSpPr>
        <p:sp>
          <p:nvSpPr>
            <p:cNvPr id="5174" name="Oval 72"/>
            <p:cNvSpPr>
              <a:spLocks noChangeArrowheads="1"/>
            </p:cNvSpPr>
            <p:nvPr/>
          </p:nvSpPr>
          <p:spPr bwMode="auto">
            <a:xfrm>
              <a:off x="340" y="3536"/>
              <a:ext cx="151" cy="144"/>
            </a:xfrm>
            <a:prstGeom prst="ellipse">
              <a:avLst/>
            </a:prstGeom>
            <a:solidFill>
              <a:srgbClr val="CCCCFF"/>
            </a:solidFill>
            <a:ln w="28575">
              <a:solidFill>
                <a:srgbClr val="0000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5175" name="Text Box 73"/>
            <p:cNvSpPr txBox="1">
              <a:spLocks noChangeArrowheads="1"/>
            </p:cNvSpPr>
            <p:nvPr/>
          </p:nvSpPr>
          <p:spPr bwMode="auto">
            <a:xfrm flipH="1">
              <a:off x="299" y="3504"/>
              <a:ext cx="229"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600">
                  <a:solidFill>
                    <a:srgbClr val="000000"/>
                  </a:solidFill>
                  <a:ea typeface="楷体_GB2312"/>
                </a:rPr>
                <a:t>－</a:t>
              </a:r>
            </a:p>
          </p:txBody>
        </p:sp>
      </p:grpSp>
      <p:sp>
        <p:nvSpPr>
          <p:cNvPr id="153674" name="Line 74"/>
          <p:cNvSpPr>
            <a:spLocks noChangeShapeType="1"/>
          </p:cNvSpPr>
          <p:nvPr/>
        </p:nvSpPr>
        <p:spPr bwMode="auto">
          <a:xfrm flipH="1">
            <a:off x="7162800" y="3502025"/>
            <a:ext cx="3048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75" name="Line 75"/>
          <p:cNvSpPr>
            <a:spLocks noChangeShapeType="1"/>
          </p:cNvSpPr>
          <p:nvPr/>
        </p:nvSpPr>
        <p:spPr bwMode="auto">
          <a:xfrm flipH="1">
            <a:off x="7226300" y="4594225"/>
            <a:ext cx="304800"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677" name="Object 77"/>
          <p:cNvGraphicFramePr>
            <a:graphicFrameLocks noChangeAspect="1"/>
          </p:cNvGraphicFramePr>
          <p:nvPr>
            <p:extLst>
              <p:ext uri="{D42A27DB-BD31-4B8C-83A1-F6EECF244321}">
                <p14:modId xmlns:p14="http://schemas.microsoft.com/office/powerpoint/2010/main" val="1024467904"/>
              </p:ext>
            </p:extLst>
          </p:nvPr>
        </p:nvGraphicFramePr>
        <p:xfrm>
          <a:off x="1377263" y="6053929"/>
          <a:ext cx="863600" cy="538162"/>
        </p:xfrm>
        <a:graphic>
          <a:graphicData uri="http://schemas.openxmlformats.org/presentationml/2006/ole">
            <mc:AlternateContent xmlns:mc="http://schemas.openxmlformats.org/markup-compatibility/2006">
              <mc:Choice xmlns:v="urn:schemas-microsoft-com:vml" Requires="v">
                <p:oleObj spid="_x0000_s5675" name="Equation" r:id="rId11" imgW="285826" imgH="161859" progId="Equation.DSMT4">
                  <p:embed/>
                </p:oleObj>
              </mc:Choice>
              <mc:Fallback>
                <p:oleObj name="Equation" r:id="rId11" imgW="285826" imgH="161859" progId="Equation.DSMT4">
                  <p:embed/>
                  <p:pic>
                    <p:nvPicPr>
                      <p:cNvPr id="0" name="Object 7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7263" y="6053929"/>
                        <a:ext cx="863600"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78" name="Text Box 78"/>
          <p:cNvSpPr txBox="1">
            <a:spLocks noChangeArrowheads="1"/>
          </p:cNvSpPr>
          <p:nvPr/>
        </p:nvSpPr>
        <p:spPr bwMode="auto">
          <a:xfrm>
            <a:off x="2055126" y="6052341"/>
            <a:ext cx="18430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rgbClr val="000000"/>
                </a:solidFill>
                <a:ea typeface="楷体_GB2312"/>
              </a:rPr>
              <a:t>附加电场</a:t>
            </a:r>
          </a:p>
        </p:txBody>
      </p:sp>
      <p:sp>
        <p:nvSpPr>
          <p:cNvPr id="153679" name="Text Box 79"/>
          <p:cNvSpPr txBox="1">
            <a:spLocks noChangeArrowheads="1"/>
          </p:cNvSpPr>
          <p:nvPr/>
        </p:nvSpPr>
        <p:spPr bwMode="auto">
          <a:xfrm>
            <a:off x="6372225" y="6165850"/>
            <a:ext cx="2819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chemeClr val="hlink"/>
                </a:solidFill>
                <a:ea typeface="楷体_GB2312"/>
              </a:rPr>
              <a:t>(</a:t>
            </a:r>
            <a:r>
              <a:rPr lang="zh-CN" altLang="en-US" sz="2800">
                <a:solidFill>
                  <a:schemeClr val="hlink"/>
                </a:solidFill>
                <a:ea typeface="楷体_GB2312"/>
              </a:rPr>
              <a:t>静电平衡状态</a:t>
            </a:r>
            <a:r>
              <a:rPr lang="en-US" altLang="zh-CN" sz="2800">
                <a:solidFill>
                  <a:schemeClr val="hlink"/>
                </a:solidFill>
                <a:ea typeface="楷体_GB2312"/>
              </a:rPr>
              <a:t>)</a:t>
            </a:r>
          </a:p>
        </p:txBody>
      </p:sp>
      <p:pic>
        <p:nvPicPr>
          <p:cNvPr id="80" name="图片 79">
            <a:extLst>
              <a:ext uri="{FF2B5EF4-FFF2-40B4-BE49-F238E27FC236}">
                <a16:creationId xmlns:a16="http://schemas.microsoft.com/office/drawing/2014/main" id="{436B5AC9-AE70-46D2-879C-B4500EC32C0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20838" y="2328725"/>
            <a:ext cx="3773860" cy="3403874"/>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4"/>
                                        </p:tgtEl>
                                        <p:attrNameLst>
                                          <p:attrName>style.visibility</p:attrName>
                                        </p:attrNameLst>
                                      </p:cBhvr>
                                      <p:to>
                                        <p:strVal val="visible"/>
                                      </p:to>
                                    </p:set>
                                    <p:animEffect transition="in" filter="wipe(left)">
                                      <p:cBhvr>
                                        <p:cTn id="7" dur="500"/>
                                        <p:tgtEl>
                                          <p:spTgt spid="153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5">
                                            <p:txEl>
                                              <p:pRg st="0" end="0"/>
                                            </p:txEl>
                                          </p:spTgt>
                                        </p:tgtEl>
                                        <p:attrNameLst>
                                          <p:attrName>style.visibility</p:attrName>
                                        </p:attrNameLst>
                                      </p:cBhvr>
                                      <p:to>
                                        <p:strVal val="visible"/>
                                      </p:to>
                                    </p:set>
                                    <p:animEffect transition="in" filter="wipe(left)">
                                      <p:cBhvr>
                                        <p:cTn id="12" dur="500"/>
                                        <p:tgtEl>
                                          <p:spTgt spid="15360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53606">
                                            <p:txEl>
                                              <p:pRg st="0" end="0"/>
                                            </p:txEl>
                                          </p:spTgt>
                                        </p:tgtEl>
                                        <p:attrNameLst>
                                          <p:attrName>style.visibility</p:attrName>
                                        </p:attrNameLst>
                                      </p:cBhvr>
                                      <p:to>
                                        <p:strVal val="visible"/>
                                      </p:to>
                                    </p:set>
                                    <p:animEffect transition="in" filter="barn(outVertical)">
                                      <p:cBhvr>
                                        <p:cTn id="17" dur="500"/>
                                        <p:tgtEl>
                                          <p:spTgt spid="15360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07">
                                            <p:txEl>
                                              <p:pRg st="0" end="0"/>
                                            </p:txEl>
                                          </p:spTgt>
                                        </p:tgtEl>
                                        <p:attrNameLst>
                                          <p:attrName>style.visibility</p:attrName>
                                        </p:attrNameLst>
                                      </p:cBhvr>
                                      <p:to>
                                        <p:strVal val="visible"/>
                                      </p:to>
                                    </p:set>
                                    <p:animEffect transition="in" filter="wipe(left)">
                                      <p:cBhvr>
                                        <p:cTn id="22" dur="500"/>
                                        <p:tgtEl>
                                          <p:spTgt spid="15360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3678"/>
                                        </p:tgtEl>
                                        <p:attrNameLst>
                                          <p:attrName>style.visibility</p:attrName>
                                        </p:attrNameLst>
                                      </p:cBhvr>
                                      <p:to>
                                        <p:strVal val="visible"/>
                                      </p:to>
                                    </p:set>
                                    <p:animEffect transition="in" filter="wipe(left)">
                                      <p:cBhvr>
                                        <p:cTn id="35" dur="500"/>
                                        <p:tgtEl>
                                          <p:spTgt spid="15367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53625"/>
                                        </p:tgtEl>
                                        <p:attrNameLst>
                                          <p:attrName>style.visibility</p:attrName>
                                        </p:attrNameLst>
                                      </p:cBhvr>
                                      <p:to>
                                        <p:strVal val="visible"/>
                                      </p:to>
                                    </p:set>
                                    <p:animEffect transition="in" filter="wipe(left)">
                                      <p:cBhvr>
                                        <p:cTn id="40" dur="500"/>
                                        <p:tgtEl>
                                          <p:spTgt spid="15362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536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53627"/>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153628"/>
                                        </p:tgtEl>
                                        <p:attrNameLst>
                                          <p:attrName>style.visibility</p:attrName>
                                        </p:attrNameLst>
                                      </p:cBhvr>
                                      <p:to>
                                        <p:strVal val="visible"/>
                                      </p:to>
                                    </p:set>
                                  </p:childTnLst>
                                </p:cTn>
                              </p:par>
                            </p:childTnLst>
                          </p:cTn>
                        </p:par>
                        <p:par>
                          <p:cTn id="52" fill="hold">
                            <p:stCondLst>
                              <p:cond delay="1000"/>
                            </p:stCondLst>
                            <p:childTnLst>
                              <p:par>
                                <p:cTn id="53" presetID="1" presetClass="entr" presetSubtype="0" fill="hold" grpId="0" nodeType="afterEffect">
                                  <p:stCondLst>
                                    <p:cond delay="0"/>
                                  </p:stCondLst>
                                  <p:childTnLst>
                                    <p:set>
                                      <p:cBhvr>
                                        <p:cTn id="54" dur="1" fill="hold">
                                          <p:stCondLst>
                                            <p:cond delay="499"/>
                                          </p:stCondLst>
                                        </p:cTn>
                                        <p:tgtEl>
                                          <p:spTgt spid="153629"/>
                                        </p:tgtEl>
                                        <p:attrNameLst>
                                          <p:attrName>style.visibility</p:attrName>
                                        </p:attrNameLst>
                                      </p:cBhvr>
                                      <p:to>
                                        <p:strVal val="visible"/>
                                      </p:to>
                                    </p:set>
                                  </p:childTnLst>
                                </p:cTn>
                              </p:par>
                            </p:childTnLst>
                          </p:cTn>
                        </p:par>
                        <p:par>
                          <p:cTn id="55" fill="hold">
                            <p:stCondLst>
                              <p:cond delay="1500"/>
                            </p:stCondLst>
                            <p:childTnLst>
                              <p:par>
                                <p:cTn id="56" presetID="1" presetClass="entr" presetSubtype="0" fill="hold" grpId="0" nodeType="afterEffect">
                                  <p:stCondLst>
                                    <p:cond delay="0"/>
                                  </p:stCondLst>
                                  <p:childTnLst>
                                    <p:set>
                                      <p:cBhvr>
                                        <p:cTn id="57" dur="1" fill="hold">
                                          <p:stCondLst>
                                            <p:cond delay="499"/>
                                          </p:stCondLst>
                                        </p:cTn>
                                        <p:tgtEl>
                                          <p:spTgt spid="15363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499"/>
                                          </p:stCondLst>
                                        </p:cTn>
                                        <p:tgtEl>
                                          <p:spTgt spid="15363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53650"/>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5365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53662"/>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15366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53635"/>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53641"/>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5366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53666"/>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15367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15363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15367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499"/>
                                          </p:stCondLst>
                                        </p:cTn>
                                        <p:tgtEl>
                                          <p:spTgt spid="153670"/>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499"/>
                                          </p:stCondLst>
                                        </p:cTn>
                                        <p:tgtEl>
                                          <p:spTgt spid="15367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499"/>
                                          </p:stCondLst>
                                        </p:cTn>
                                        <p:tgtEl>
                                          <p:spTgt spid="153633"/>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2" presetClass="entr" presetSubtype="2" fill="hold" nodeType="clickEffect">
                                  <p:stCondLst>
                                    <p:cond delay="0"/>
                                  </p:stCondLst>
                                  <p:childTnLst>
                                    <p:set>
                                      <p:cBhvr>
                                        <p:cTn id="107" dur="1" fill="hold">
                                          <p:stCondLst>
                                            <p:cond delay="0"/>
                                          </p:stCondLst>
                                        </p:cTn>
                                        <p:tgtEl>
                                          <p:spTgt spid="153634"/>
                                        </p:tgtEl>
                                        <p:attrNameLst>
                                          <p:attrName>style.visibility</p:attrName>
                                        </p:attrNameLst>
                                      </p:cBhvr>
                                      <p:to>
                                        <p:strVal val="visible"/>
                                      </p:to>
                                    </p:set>
                                    <p:animEffect transition="in" filter="slide(fromRight)">
                                      <p:cBhvr>
                                        <p:cTn id="108" dur="500"/>
                                        <p:tgtEl>
                                          <p:spTgt spid="153634"/>
                                        </p:tgtEl>
                                      </p:cBhvr>
                                    </p:animEffect>
                                  </p:childTnLst>
                                </p:cTn>
                              </p:par>
                            </p:childTnLst>
                          </p:cTn>
                        </p:par>
                      </p:childTnLst>
                    </p:cTn>
                  </p:par>
                  <p:par>
                    <p:cTn id="109" fill="hold">
                      <p:stCondLst>
                        <p:cond delay="indefinite"/>
                      </p:stCondLst>
                      <p:childTnLst>
                        <p:par>
                          <p:cTn id="110" fill="hold">
                            <p:stCondLst>
                              <p:cond delay="0"/>
                            </p:stCondLst>
                            <p:childTnLst>
                              <p:par>
                                <p:cTn id="111" presetID="12" presetClass="entr" presetSubtype="4" fill="hold" grpId="0" nodeType="clickEffect">
                                  <p:stCondLst>
                                    <p:cond delay="0"/>
                                  </p:stCondLst>
                                  <p:childTnLst>
                                    <p:set>
                                      <p:cBhvr>
                                        <p:cTn id="112" dur="1" fill="hold">
                                          <p:stCondLst>
                                            <p:cond delay="0"/>
                                          </p:stCondLst>
                                        </p:cTn>
                                        <p:tgtEl>
                                          <p:spTgt spid="153679"/>
                                        </p:tgtEl>
                                        <p:attrNameLst>
                                          <p:attrName>style.visibility</p:attrName>
                                        </p:attrNameLst>
                                      </p:cBhvr>
                                      <p:to>
                                        <p:strVal val="visible"/>
                                      </p:to>
                                    </p:set>
                                    <p:animEffect transition="in" filter="slide(fromBottom)">
                                      <p:cBhvr>
                                        <p:cTn id="113" dur="500"/>
                                        <p:tgtEl>
                                          <p:spTgt spid="153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build="p" autoUpdateAnimBg="0"/>
      <p:bldP spid="153604" grpId="0"/>
      <p:bldP spid="153605" grpId="0" build="p" autoUpdateAnimBg="0"/>
      <p:bldP spid="153607" grpId="0" build="p" autoUpdateAnimBg="0"/>
      <p:bldP spid="153626" grpId="0" animBg="1"/>
      <p:bldP spid="153627" grpId="0" animBg="1"/>
      <p:bldP spid="153628" grpId="0" animBg="1"/>
      <p:bldP spid="153629" grpId="0" animBg="1"/>
      <p:bldP spid="153630" grpId="0" animBg="1"/>
      <p:bldP spid="153631" grpId="0" animBg="1"/>
      <p:bldP spid="153665" grpId="0" animBg="1"/>
      <p:bldP spid="153666" grpId="0"/>
      <p:bldP spid="153670" grpId="0" animBg="1"/>
      <p:bldP spid="153674" grpId="0" animBg="1"/>
      <p:bldP spid="153675" grpId="0" animBg="1"/>
      <p:bldP spid="153678" grpId="0"/>
      <p:bldP spid="153679"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Text Box 4"/>
          <p:cNvSpPr txBox="1">
            <a:spLocks noChangeArrowheads="1"/>
          </p:cNvSpPr>
          <p:nvPr/>
        </p:nvSpPr>
        <p:spPr bwMode="auto">
          <a:xfrm>
            <a:off x="122238" y="246063"/>
            <a:ext cx="2865437"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
            </a:pPr>
            <a:r>
              <a:rPr lang="en-US" altLang="zh-CN" sz="2800">
                <a:solidFill>
                  <a:srgbClr val="FF0000"/>
                </a:solidFill>
                <a:ea typeface="楷体_GB2312"/>
              </a:rPr>
              <a:t> </a:t>
            </a:r>
            <a:r>
              <a:rPr lang="zh-CN" altLang="en-US" sz="2800">
                <a:ea typeface="楷体_GB2312"/>
              </a:rPr>
              <a:t>平衡条件</a:t>
            </a:r>
          </a:p>
        </p:txBody>
      </p:sp>
      <p:sp>
        <p:nvSpPr>
          <p:cNvPr id="105477" name="Text Box 5"/>
          <p:cNvSpPr txBox="1">
            <a:spLocks noChangeArrowheads="1"/>
          </p:cNvSpPr>
          <p:nvPr/>
        </p:nvSpPr>
        <p:spPr bwMode="auto">
          <a:xfrm>
            <a:off x="2411760" y="2829823"/>
            <a:ext cx="646906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990000"/>
                </a:solidFill>
                <a:ea typeface="楷体_GB2312"/>
              </a:rPr>
              <a:t>③</a:t>
            </a:r>
            <a:r>
              <a:rPr lang="zh-CN" altLang="en-US" sz="2800">
                <a:solidFill>
                  <a:srgbClr val="990000"/>
                </a:solidFill>
                <a:latin typeface="Arial" panose="020B0604020202020204" pitchFamily="34" charset="0"/>
                <a:ea typeface="楷体_GB2312"/>
              </a:rPr>
              <a:t>导体表面为等势面，</a:t>
            </a:r>
            <a:r>
              <a:rPr lang="zh-CN" altLang="en-US" sz="2800">
                <a:solidFill>
                  <a:srgbClr val="990000"/>
                </a:solidFill>
                <a:ea typeface="楷体_GB2312"/>
              </a:rPr>
              <a:t>导体为等势体。</a:t>
            </a:r>
          </a:p>
        </p:txBody>
      </p:sp>
      <p:sp>
        <p:nvSpPr>
          <p:cNvPr id="105481" name="Arc 9"/>
          <p:cNvSpPr>
            <a:spLocks/>
          </p:cNvSpPr>
          <p:nvPr/>
        </p:nvSpPr>
        <p:spPr bwMode="auto">
          <a:xfrm rot="11755542" flipV="1">
            <a:off x="602456" y="1349052"/>
            <a:ext cx="1905000" cy="190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5482" name="Line 10"/>
          <p:cNvSpPr>
            <a:spLocks noChangeShapeType="1"/>
          </p:cNvSpPr>
          <p:nvPr/>
        </p:nvSpPr>
        <p:spPr bwMode="auto">
          <a:xfrm flipV="1">
            <a:off x="1153344" y="1073696"/>
            <a:ext cx="685800" cy="762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3" name="Line 11"/>
          <p:cNvSpPr>
            <a:spLocks noChangeShapeType="1"/>
          </p:cNvSpPr>
          <p:nvPr/>
        </p:nvSpPr>
        <p:spPr bwMode="auto">
          <a:xfrm flipV="1">
            <a:off x="1153344" y="1378496"/>
            <a:ext cx="914400" cy="457200"/>
          </a:xfrm>
          <a:prstGeom prst="line">
            <a:avLst/>
          </a:prstGeom>
          <a:noFill/>
          <a:ln w="28575">
            <a:solidFill>
              <a:srgbClr val="F50BF5"/>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4" name="Line 12"/>
          <p:cNvSpPr>
            <a:spLocks noChangeShapeType="1"/>
          </p:cNvSpPr>
          <p:nvPr/>
        </p:nvSpPr>
        <p:spPr bwMode="auto">
          <a:xfrm flipH="1" flipV="1">
            <a:off x="899344" y="1438821"/>
            <a:ext cx="254000" cy="396875"/>
          </a:xfrm>
          <a:prstGeom prst="line">
            <a:avLst/>
          </a:prstGeom>
          <a:noFill/>
          <a:ln w="28575">
            <a:solidFill>
              <a:srgbClr val="F50BF5"/>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5485" name="Object 13"/>
          <p:cNvGraphicFramePr>
            <a:graphicFrameLocks noChangeAspect="1"/>
          </p:cNvGraphicFramePr>
          <p:nvPr>
            <p:extLst>
              <p:ext uri="{D42A27DB-BD31-4B8C-83A1-F6EECF244321}">
                <p14:modId xmlns:p14="http://schemas.microsoft.com/office/powerpoint/2010/main" val="2310454663"/>
              </p:ext>
            </p:extLst>
          </p:nvPr>
        </p:nvGraphicFramePr>
        <p:xfrm>
          <a:off x="1839144" y="692696"/>
          <a:ext cx="463550" cy="558800"/>
        </p:xfrm>
        <a:graphic>
          <a:graphicData uri="http://schemas.openxmlformats.org/presentationml/2006/ole">
            <mc:AlternateContent xmlns:mc="http://schemas.openxmlformats.org/markup-compatibility/2006">
              <mc:Choice xmlns:v="urn:schemas-microsoft-com:vml" Requires="v">
                <p:oleObj spid="_x0000_s6836" name="公式" r:id="rId3" imgW="66735" imgH="95434" progId="Equation.3">
                  <p:embed/>
                </p:oleObj>
              </mc:Choice>
              <mc:Fallback>
                <p:oleObj name="公式" r:id="rId3" imgW="66735" imgH="95434"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144" y="692696"/>
                        <a:ext cx="46355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6" name="Object 14"/>
          <p:cNvGraphicFramePr>
            <a:graphicFrameLocks noChangeAspect="1"/>
          </p:cNvGraphicFramePr>
          <p:nvPr>
            <p:extLst>
              <p:ext uri="{D42A27DB-BD31-4B8C-83A1-F6EECF244321}">
                <p14:modId xmlns:p14="http://schemas.microsoft.com/office/powerpoint/2010/main" val="2584594916"/>
              </p:ext>
            </p:extLst>
          </p:nvPr>
        </p:nvGraphicFramePr>
        <p:xfrm>
          <a:off x="2143944" y="1099096"/>
          <a:ext cx="541337" cy="584200"/>
        </p:xfrm>
        <a:graphic>
          <a:graphicData uri="http://schemas.openxmlformats.org/presentationml/2006/ole">
            <mc:AlternateContent xmlns:mc="http://schemas.openxmlformats.org/markup-compatibility/2006">
              <mc:Choice xmlns:v="urn:schemas-microsoft-com:vml" Requires="v">
                <p:oleObj spid="_x0000_s6837" name="公式" r:id="rId5" imgW="104929" imgH="124022" progId="Equation.3">
                  <p:embed/>
                </p:oleObj>
              </mc:Choice>
              <mc:Fallback>
                <p:oleObj name="公式" r:id="rId5" imgW="104929" imgH="124022"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944" y="1099096"/>
                        <a:ext cx="541337"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87" name="Object 15"/>
          <p:cNvGraphicFramePr>
            <a:graphicFrameLocks noChangeAspect="1"/>
          </p:cNvGraphicFramePr>
          <p:nvPr>
            <p:extLst>
              <p:ext uri="{D42A27DB-BD31-4B8C-83A1-F6EECF244321}">
                <p14:modId xmlns:p14="http://schemas.microsoft.com/office/powerpoint/2010/main" val="3737543157"/>
              </p:ext>
            </p:extLst>
          </p:nvPr>
        </p:nvGraphicFramePr>
        <p:xfrm>
          <a:off x="467544" y="897483"/>
          <a:ext cx="582612" cy="541338"/>
        </p:xfrm>
        <a:graphic>
          <a:graphicData uri="http://schemas.openxmlformats.org/presentationml/2006/ole">
            <mc:AlternateContent xmlns:mc="http://schemas.openxmlformats.org/markup-compatibility/2006">
              <mc:Choice xmlns:v="urn:schemas-microsoft-com:vml" Requires="v">
                <p:oleObj spid="_x0000_s6838" name="公式" r:id="rId7" imgW="123816" imgH="104683" progId="Equation.3">
                  <p:embed/>
                </p:oleObj>
              </mc:Choice>
              <mc:Fallback>
                <p:oleObj name="公式" r:id="rId7" imgW="123816" imgH="104683"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4" y="897483"/>
                        <a:ext cx="582612"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97" name="AutoShape 25"/>
          <p:cNvSpPr>
            <a:spLocks noChangeArrowheads="1"/>
          </p:cNvSpPr>
          <p:nvPr/>
        </p:nvSpPr>
        <p:spPr bwMode="auto">
          <a:xfrm>
            <a:off x="443136" y="3320410"/>
            <a:ext cx="1447800" cy="2209800"/>
          </a:xfrm>
          <a:prstGeom prst="can">
            <a:avLst>
              <a:gd name="adj" fmla="val 38158"/>
            </a:avLst>
          </a:prstGeom>
          <a:solidFill>
            <a:srgbClr val="CC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graphicFrame>
        <p:nvGraphicFramePr>
          <p:cNvPr id="105498" name="Object 26"/>
          <p:cNvGraphicFramePr>
            <a:graphicFrameLocks noChangeAspect="1"/>
          </p:cNvGraphicFramePr>
          <p:nvPr>
            <p:extLst>
              <p:ext uri="{D42A27DB-BD31-4B8C-83A1-F6EECF244321}">
                <p14:modId xmlns:p14="http://schemas.microsoft.com/office/powerpoint/2010/main" val="2932184655"/>
              </p:ext>
            </p:extLst>
          </p:nvPr>
        </p:nvGraphicFramePr>
        <p:xfrm>
          <a:off x="1024358" y="4155243"/>
          <a:ext cx="439738" cy="533400"/>
        </p:xfrm>
        <a:graphic>
          <a:graphicData uri="http://schemas.openxmlformats.org/presentationml/2006/ole">
            <mc:AlternateContent xmlns:mc="http://schemas.openxmlformats.org/markup-compatibility/2006">
              <mc:Choice xmlns:v="urn:schemas-microsoft-com:vml" Requires="v">
                <p:oleObj spid="_x0000_s6839" name="Equation" r:id="rId9" imgW="177569" imgH="215619" progId="Equation.3">
                  <p:embed/>
                </p:oleObj>
              </mc:Choice>
              <mc:Fallback>
                <p:oleObj name="Equation" r:id="rId9" imgW="177569" imgH="215619" progId="Equation.3">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4358" y="4155243"/>
                        <a:ext cx="43973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99" name="Object 27"/>
          <p:cNvGraphicFramePr>
            <a:graphicFrameLocks noChangeAspect="1"/>
          </p:cNvGraphicFramePr>
          <p:nvPr>
            <p:extLst>
              <p:ext uri="{D42A27DB-BD31-4B8C-83A1-F6EECF244321}">
                <p14:modId xmlns:p14="http://schemas.microsoft.com/office/powerpoint/2010/main" val="1552047021"/>
              </p:ext>
            </p:extLst>
          </p:nvPr>
        </p:nvGraphicFramePr>
        <p:xfrm>
          <a:off x="49726" y="4186912"/>
          <a:ext cx="469900" cy="533400"/>
        </p:xfrm>
        <a:graphic>
          <a:graphicData uri="http://schemas.openxmlformats.org/presentationml/2006/ole">
            <mc:AlternateContent xmlns:mc="http://schemas.openxmlformats.org/markup-compatibility/2006">
              <mc:Choice xmlns:v="urn:schemas-microsoft-com:vml" Requires="v">
                <p:oleObj spid="_x0000_s6840" name="Equation" r:id="rId11" imgW="190335" imgH="215713" progId="Equation.3">
                  <p:embed/>
                </p:oleObj>
              </mc:Choice>
              <mc:Fallback>
                <p:oleObj name="Equation" r:id="rId11" imgW="190335" imgH="215713" progId="Equation.3">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726" y="4186912"/>
                        <a:ext cx="4699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500" name="Object 28"/>
          <p:cNvGraphicFramePr>
            <a:graphicFrameLocks noChangeAspect="1"/>
          </p:cNvGraphicFramePr>
          <p:nvPr>
            <p:extLst>
              <p:ext uri="{D42A27DB-BD31-4B8C-83A1-F6EECF244321}">
                <p14:modId xmlns:p14="http://schemas.microsoft.com/office/powerpoint/2010/main" val="2730234258"/>
              </p:ext>
            </p:extLst>
          </p:nvPr>
        </p:nvGraphicFramePr>
        <p:xfrm>
          <a:off x="538790" y="5549797"/>
          <a:ext cx="1193800" cy="533400"/>
        </p:xfrm>
        <a:graphic>
          <a:graphicData uri="http://schemas.openxmlformats.org/presentationml/2006/ole">
            <mc:AlternateContent xmlns:mc="http://schemas.openxmlformats.org/markup-compatibility/2006">
              <mc:Choice xmlns:v="urn:schemas-microsoft-com:vml" Requires="v">
                <p:oleObj spid="_x0000_s6841" name="Equation" r:id="rId13" imgW="482181" imgH="215713" progId="Equation.3">
                  <p:embed/>
                </p:oleObj>
              </mc:Choice>
              <mc:Fallback>
                <p:oleObj name="Equation" r:id="rId13" imgW="482181" imgH="215713" progId="Equation.3">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8790" y="5549797"/>
                        <a:ext cx="11938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501" name="Text Box 29"/>
          <p:cNvSpPr txBox="1">
            <a:spLocks noChangeArrowheads="1"/>
          </p:cNvSpPr>
          <p:nvPr/>
        </p:nvSpPr>
        <p:spPr bwMode="auto">
          <a:xfrm>
            <a:off x="2994025" y="246063"/>
            <a:ext cx="4572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990000"/>
                </a:solidFill>
                <a:ea typeface="楷体_GB2312"/>
              </a:rPr>
              <a:t>①</a:t>
            </a:r>
            <a:r>
              <a:rPr lang="zh-CN" altLang="en-US" sz="2800">
                <a:solidFill>
                  <a:srgbClr val="990000"/>
                </a:solidFill>
                <a:ea typeface="楷体_GB2312"/>
              </a:rPr>
              <a:t>导体内的电场为零，即</a:t>
            </a:r>
          </a:p>
        </p:txBody>
      </p:sp>
      <p:graphicFrame>
        <p:nvGraphicFramePr>
          <p:cNvPr id="105502" name="Object 30"/>
          <p:cNvGraphicFramePr>
            <a:graphicFrameLocks noChangeAspect="1"/>
          </p:cNvGraphicFramePr>
          <p:nvPr/>
        </p:nvGraphicFramePr>
        <p:xfrm>
          <a:off x="6938963" y="187325"/>
          <a:ext cx="1527175" cy="744538"/>
        </p:xfrm>
        <a:graphic>
          <a:graphicData uri="http://schemas.openxmlformats.org/presentationml/2006/ole">
            <mc:AlternateContent xmlns:mc="http://schemas.openxmlformats.org/markup-compatibility/2006">
              <mc:Choice xmlns:v="urn:schemas-microsoft-com:vml" Requires="v">
                <p:oleObj spid="_x0000_s6842" name="公式" r:id="rId15" imgW="333253" imgH="133271" progId="Equation.3">
                  <p:embed/>
                </p:oleObj>
              </mc:Choice>
              <mc:Fallback>
                <p:oleObj name="公式" r:id="rId15" imgW="333253" imgH="133271" progId="Equation.3">
                  <p:embed/>
                  <p:pic>
                    <p:nvPicPr>
                      <p:cNvPr id="0"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38963" y="187325"/>
                        <a:ext cx="1527175"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5504" name="Group 32"/>
          <p:cNvGrpSpPr>
            <a:grpSpLocks/>
          </p:cNvGrpSpPr>
          <p:nvPr/>
        </p:nvGrpSpPr>
        <p:grpSpPr bwMode="auto">
          <a:xfrm>
            <a:off x="2994025" y="1305551"/>
            <a:ext cx="3074988" cy="596900"/>
            <a:chOff x="1969" y="1283"/>
            <a:chExt cx="1937" cy="376"/>
          </a:xfrm>
        </p:grpSpPr>
        <p:graphicFrame>
          <p:nvGraphicFramePr>
            <p:cNvPr id="6162" name="Object 17"/>
            <p:cNvGraphicFramePr>
              <a:graphicFrameLocks noChangeAspect="1"/>
            </p:cNvGraphicFramePr>
            <p:nvPr>
              <p:extLst>
                <p:ext uri="{D42A27DB-BD31-4B8C-83A1-F6EECF244321}">
                  <p14:modId xmlns:p14="http://schemas.microsoft.com/office/powerpoint/2010/main" val="2911398033"/>
                </p:ext>
              </p:extLst>
            </p:nvPr>
          </p:nvGraphicFramePr>
          <p:xfrm>
            <a:off x="2339" y="1283"/>
            <a:ext cx="1567" cy="376"/>
          </p:xfrm>
          <a:graphic>
            <a:graphicData uri="http://schemas.openxmlformats.org/presentationml/2006/ole">
              <mc:AlternateContent xmlns:mc="http://schemas.openxmlformats.org/markup-compatibility/2006">
                <mc:Choice xmlns:v="urn:schemas-microsoft-com:vml" Requires="v">
                  <p:oleObj spid="_x0000_s6843" name="Equation" r:id="rId17" imgW="1114342" imgH="219036" progId="Equation.3">
                    <p:embed/>
                  </p:oleObj>
                </mc:Choice>
                <mc:Fallback>
                  <p:oleObj name="Equation" r:id="rId17" imgW="1114342" imgH="219036" progId="Equation.3">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39" y="1283"/>
                          <a:ext cx="1567" cy="376"/>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3" name="Rectangle 31"/>
            <p:cNvSpPr>
              <a:spLocks noChangeArrowheads="1"/>
            </p:cNvSpPr>
            <p:nvPr/>
          </p:nvSpPr>
          <p:spPr bwMode="auto">
            <a:xfrm>
              <a:off x="1969" y="1325"/>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ea typeface="楷体_GB2312"/>
                </a:rPr>
                <a:t>②</a:t>
              </a:r>
            </a:p>
          </p:txBody>
        </p:sp>
      </p:grpSp>
      <p:graphicFrame>
        <p:nvGraphicFramePr>
          <p:cNvPr id="21" name="Object 20">
            <a:extLst>
              <a:ext uri="{FF2B5EF4-FFF2-40B4-BE49-F238E27FC236}">
                <a16:creationId xmlns:a16="http://schemas.microsoft.com/office/drawing/2014/main" id="{CEFA2110-E9C2-40D8-86CF-6F21E22793FC}"/>
              </a:ext>
            </a:extLst>
          </p:cNvPr>
          <p:cNvGraphicFramePr>
            <a:graphicFrameLocks noChangeAspect="1"/>
          </p:cNvGraphicFramePr>
          <p:nvPr>
            <p:extLst>
              <p:ext uri="{D42A27DB-BD31-4B8C-83A1-F6EECF244321}">
                <p14:modId xmlns:p14="http://schemas.microsoft.com/office/powerpoint/2010/main" val="2968908197"/>
              </p:ext>
            </p:extLst>
          </p:nvPr>
        </p:nvGraphicFramePr>
        <p:xfrm>
          <a:off x="5109141" y="1761114"/>
          <a:ext cx="2406650" cy="884238"/>
        </p:xfrm>
        <a:graphic>
          <a:graphicData uri="http://schemas.openxmlformats.org/presentationml/2006/ole">
            <mc:AlternateContent xmlns:mc="http://schemas.openxmlformats.org/markup-compatibility/2006">
              <mc:Choice xmlns:v="urn:schemas-microsoft-com:vml" Requires="v">
                <p:oleObj spid="_x0000_s6844" name="公式" r:id="rId19" imgW="914558" imgH="304800" progId="Equation.3">
                  <p:embed/>
                </p:oleObj>
              </mc:Choice>
              <mc:Fallback>
                <p:oleObj name="公式" r:id="rId19" imgW="914558" imgH="304800" progId="Equation.3">
                  <p:embed/>
                  <p:pic>
                    <p:nvPicPr>
                      <p:cNvPr id="155668"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09141" y="1761114"/>
                        <a:ext cx="2406650" cy="88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 Box 21">
            <a:extLst>
              <a:ext uri="{FF2B5EF4-FFF2-40B4-BE49-F238E27FC236}">
                <a16:creationId xmlns:a16="http://schemas.microsoft.com/office/drawing/2014/main" id="{3E8946DD-71C4-4159-8323-C4955791835C}"/>
              </a:ext>
            </a:extLst>
          </p:cNvPr>
          <p:cNvSpPr txBox="1">
            <a:spLocks noChangeArrowheads="1"/>
          </p:cNvSpPr>
          <p:nvPr/>
        </p:nvSpPr>
        <p:spPr bwMode="auto">
          <a:xfrm>
            <a:off x="1215696" y="2040336"/>
            <a:ext cx="387757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None/>
            </a:pPr>
            <a:r>
              <a:rPr lang="zh-CN" altLang="en-US" sz="2800">
                <a:ea typeface="楷体_GB2312"/>
              </a:rPr>
              <a:t>证明：</a:t>
            </a:r>
            <a:r>
              <a:rPr lang="zh-CN" altLang="en-US" sz="2800">
                <a:solidFill>
                  <a:srgbClr val="000000"/>
                </a:solidFill>
                <a:ea typeface="楷体_GB2312"/>
              </a:rPr>
              <a:t>导体表面上有</a:t>
            </a:r>
          </a:p>
        </p:txBody>
      </p:sp>
      <p:graphicFrame>
        <p:nvGraphicFramePr>
          <p:cNvPr id="24" name="Object 23">
            <a:extLst>
              <a:ext uri="{FF2B5EF4-FFF2-40B4-BE49-F238E27FC236}">
                <a16:creationId xmlns:a16="http://schemas.microsoft.com/office/drawing/2014/main" id="{4D12C638-769C-4024-88BF-FC7C5D14712F}"/>
              </a:ext>
            </a:extLst>
          </p:cNvPr>
          <p:cNvGraphicFramePr>
            <a:graphicFrameLocks noChangeAspect="1"/>
          </p:cNvGraphicFramePr>
          <p:nvPr>
            <p:extLst>
              <p:ext uri="{D42A27DB-BD31-4B8C-83A1-F6EECF244321}">
                <p14:modId xmlns:p14="http://schemas.microsoft.com/office/powerpoint/2010/main" val="466533416"/>
              </p:ext>
            </p:extLst>
          </p:nvPr>
        </p:nvGraphicFramePr>
        <p:xfrm>
          <a:off x="7610974" y="1979693"/>
          <a:ext cx="576263" cy="423862"/>
        </p:xfrm>
        <a:graphic>
          <a:graphicData uri="http://schemas.openxmlformats.org/presentationml/2006/ole">
            <mc:AlternateContent xmlns:mc="http://schemas.openxmlformats.org/markup-compatibility/2006">
              <mc:Choice xmlns:v="urn:schemas-microsoft-com:vml" Requires="v">
                <p:oleObj spid="_x0000_s6845" name="公式" r:id="rId21" imgW="180897" imgH="124022" progId="Equation.3">
                  <p:embed/>
                </p:oleObj>
              </mc:Choice>
              <mc:Fallback>
                <p:oleObj name="公式" r:id="rId21" imgW="180897" imgH="124022" progId="Equation.3">
                  <p:embed/>
                  <p:pic>
                    <p:nvPicPr>
                      <p:cNvPr id="155671"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610974" y="1979693"/>
                        <a:ext cx="576263"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Text Box 6">
            <a:extLst>
              <a:ext uri="{FF2B5EF4-FFF2-40B4-BE49-F238E27FC236}">
                <a16:creationId xmlns:a16="http://schemas.microsoft.com/office/drawing/2014/main" id="{80EE97C0-4AAD-46D7-8CCA-43123D31DCB1}"/>
              </a:ext>
            </a:extLst>
          </p:cNvPr>
          <p:cNvSpPr txBox="1">
            <a:spLocks noChangeArrowheads="1"/>
          </p:cNvSpPr>
          <p:nvPr/>
        </p:nvSpPr>
        <p:spPr bwMode="auto">
          <a:xfrm>
            <a:off x="2411760" y="3636888"/>
            <a:ext cx="5904111"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证明：在导体内任取两点</a:t>
            </a:r>
            <a:r>
              <a:rPr lang="en-US" altLang="zh-CN" sz="2800" i="1">
                <a:solidFill>
                  <a:srgbClr val="000000"/>
                </a:solidFill>
                <a:ea typeface="楷体_GB2312"/>
              </a:rPr>
              <a:t>a</a:t>
            </a:r>
            <a:r>
              <a:rPr lang="zh-CN" altLang="en-US" sz="2800">
                <a:solidFill>
                  <a:srgbClr val="000000"/>
                </a:solidFill>
                <a:ea typeface="楷体_GB2312"/>
              </a:rPr>
              <a:t>和</a:t>
            </a:r>
            <a:r>
              <a:rPr lang="en-US" altLang="zh-CN" sz="2800" i="1">
                <a:solidFill>
                  <a:srgbClr val="000000"/>
                </a:solidFill>
                <a:ea typeface="楷体_GB2312"/>
              </a:rPr>
              <a:t>b </a:t>
            </a:r>
            <a:r>
              <a:rPr lang="zh-CN" altLang="en-US" sz="2800">
                <a:solidFill>
                  <a:srgbClr val="000000"/>
                </a:solidFill>
                <a:ea typeface="楷体_GB2312"/>
              </a:rPr>
              <a:t>，有</a:t>
            </a:r>
          </a:p>
        </p:txBody>
      </p:sp>
      <p:graphicFrame>
        <p:nvGraphicFramePr>
          <p:cNvPr id="35" name="Object 7">
            <a:extLst>
              <a:ext uri="{FF2B5EF4-FFF2-40B4-BE49-F238E27FC236}">
                <a16:creationId xmlns:a16="http://schemas.microsoft.com/office/drawing/2014/main" id="{DE9B385C-B425-4569-A486-95C8AE64255A}"/>
              </a:ext>
            </a:extLst>
          </p:cNvPr>
          <p:cNvGraphicFramePr>
            <a:graphicFrameLocks noChangeAspect="1"/>
          </p:cNvGraphicFramePr>
          <p:nvPr>
            <p:extLst>
              <p:ext uri="{D42A27DB-BD31-4B8C-83A1-F6EECF244321}">
                <p14:modId xmlns:p14="http://schemas.microsoft.com/office/powerpoint/2010/main" val="143214967"/>
              </p:ext>
            </p:extLst>
          </p:nvPr>
        </p:nvGraphicFramePr>
        <p:xfrm>
          <a:off x="3108871" y="4170372"/>
          <a:ext cx="2435225" cy="895350"/>
        </p:xfrm>
        <a:graphic>
          <a:graphicData uri="http://schemas.openxmlformats.org/presentationml/2006/ole">
            <mc:AlternateContent xmlns:mc="http://schemas.openxmlformats.org/markup-compatibility/2006">
              <mc:Choice xmlns:v="urn:schemas-microsoft-com:vml" Requires="v">
                <p:oleObj spid="_x0000_s6846" name="公式" r:id="rId23" imgW="914558" imgH="304800" progId="Equation.3">
                  <p:embed/>
                </p:oleObj>
              </mc:Choice>
              <mc:Fallback>
                <p:oleObj name="公式" r:id="rId23" imgW="914558" imgH="304800" progId="Equation.3">
                  <p:embed/>
                  <p:pic>
                    <p:nvPicPr>
                      <p:cNvPr id="155655" name="Object 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08871" y="4170372"/>
                        <a:ext cx="24352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11">
            <a:extLst>
              <a:ext uri="{FF2B5EF4-FFF2-40B4-BE49-F238E27FC236}">
                <a16:creationId xmlns:a16="http://schemas.microsoft.com/office/drawing/2014/main" id="{59914C44-DD34-42EC-AB93-B2279AC466BA}"/>
              </a:ext>
            </a:extLst>
          </p:cNvPr>
          <p:cNvGraphicFramePr>
            <a:graphicFrameLocks noChangeAspect="1"/>
          </p:cNvGraphicFramePr>
          <p:nvPr>
            <p:extLst>
              <p:ext uri="{D42A27DB-BD31-4B8C-83A1-F6EECF244321}">
                <p14:modId xmlns:p14="http://schemas.microsoft.com/office/powerpoint/2010/main" val="3232538877"/>
              </p:ext>
            </p:extLst>
          </p:nvPr>
        </p:nvGraphicFramePr>
        <p:xfrm>
          <a:off x="6256883" y="4262447"/>
          <a:ext cx="1527175" cy="677863"/>
        </p:xfrm>
        <a:graphic>
          <a:graphicData uri="http://schemas.openxmlformats.org/presentationml/2006/ole">
            <mc:AlternateContent xmlns:mc="http://schemas.openxmlformats.org/markup-compatibility/2006">
              <mc:Choice xmlns:v="urn:schemas-microsoft-com:vml" Requires="v">
                <p:oleObj spid="_x0000_s6847" name="公式" r:id="rId25" imgW="543111" imgH="209366" progId="Equation.3">
                  <p:embed/>
                </p:oleObj>
              </mc:Choice>
              <mc:Fallback>
                <p:oleObj name="公式" r:id="rId25" imgW="543111" imgH="209366" progId="Equation.3">
                  <p:embed/>
                  <p:pic>
                    <p:nvPicPr>
                      <p:cNvPr id="155659" name="Object 1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256883" y="4262447"/>
                        <a:ext cx="1527175"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14">
            <a:extLst>
              <a:ext uri="{FF2B5EF4-FFF2-40B4-BE49-F238E27FC236}">
                <a16:creationId xmlns:a16="http://schemas.microsoft.com/office/drawing/2014/main" id="{E49D2CA4-1737-420C-AA49-C5E6F28B236F}"/>
              </a:ext>
            </a:extLst>
          </p:cNvPr>
          <p:cNvGraphicFramePr>
            <a:graphicFrameLocks noChangeAspect="1"/>
          </p:cNvGraphicFramePr>
          <p:nvPr>
            <p:extLst>
              <p:ext uri="{D42A27DB-BD31-4B8C-83A1-F6EECF244321}">
                <p14:modId xmlns:p14="http://schemas.microsoft.com/office/powerpoint/2010/main" val="986377598"/>
              </p:ext>
            </p:extLst>
          </p:nvPr>
        </p:nvGraphicFramePr>
        <p:xfrm>
          <a:off x="2915816" y="5005284"/>
          <a:ext cx="1930400" cy="666750"/>
        </p:xfrm>
        <a:graphic>
          <a:graphicData uri="http://schemas.openxmlformats.org/presentationml/2006/ole">
            <mc:AlternateContent xmlns:mc="http://schemas.openxmlformats.org/markup-compatibility/2006">
              <mc:Choice xmlns:v="urn:schemas-microsoft-com:vml" Requires="v">
                <p:oleObj spid="_x0000_s6848" name="公式" r:id="rId27" imgW="666926" imgH="200117" progId="Equation.3">
                  <p:embed/>
                </p:oleObj>
              </mc:Choice>
              <mc:Fallback>
                <p:oleObj name="公式" r:id="rId27" imgW="666926" imgH="200117" progId="Equation.3">
                  <p:embed/>
                  <p:pic>
                    <p:nvPicPr>
                      <p:cNvPr id="155662"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15816" y="5005284"/>
                        <a:ext cx="19304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15">
            <a:extLst>
              <a:ext uri="{FF2B5EF4-FFF2-40B4-BE49-F238E27FC236}">
                <a16:creationId xmlns:a16="http://schemas.microsoft.com/office/drawing/2014/main" id="{136F3AF4-B6D2-4EA2-9606-041F3AD6D799}"/>
              </a:ext>
            </a:extLst>
          </p:cNvPr>
          <p:cNvGraphicFramePr>
            <a:graphicFrameLocks noChangeAspect="1"/>
          </p:cNvGraphicFramePr>
          <p:nvPr>
            <p:extLst>
              <p:ext uri="{D42A27DB-BD31-4B8C-83A1-F6EECF244321}">
                <p14:modId xmlns:p14="http://schemas.microsoft.com/office/powerpoint/2010/main" val="409435290"/>
              </p:ext>
            </p:extLst>
          </p:nvPr>
        </p:nvGraphicFramePr>
        <p:xfrm>
          <a:off x="5937001" y="5089384"/>
          <a:ext cx="2166938" cy="623887"/>
        </p:xfrm>
        <a:graphic>
          <a:graphicData uri="http://schemas.openxmlformats.org/presentationml/2006/ole">
            <mc:AlternateContent xmlns:mc="http://schemas.openxmlformats.org/markup-compatibility/2006">
              <mc:Choice xmlns:v="urn:schemas-microsoft-com:vml" Requires="v">
                <p:oleObj spid="_x0000_s6849" name="公式" r:id="rId29" imgW="733241" imgH="171529" progId="Equation.3">
                  <p:embed/>
                </p:oleObj>
              </mc:Choice>
              <mc:Fallback>
                <p:oleObj name="公式" r:id="rId29" imgW="733241" imgH="171529" progId="Equation.3">
                  <p:embed/>
                  <p:pic>
                    <p:nvPicPr>
                      <p:cNvPr id="155663"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937001" y="5089384"/>
                        <a:ext cx="2166938"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Text Box 16">
            <a:extLst>
              <a:ext uri="{FF2B5EF4-FFF2-40B4-BE49-F238E27FC236}">
                <a16:creationId xmlns:a16="http://schemas.microsoft.com/office/drawing/2014/main" id="{053D4AD2-F680-447F-A78D-B295D8357228}"/>
              </a:ext>
            </a:extLst>
          </p:cNvPr>
          <p:cNvSpPr txBox="1">
            <a:spLocks noChangeArrowheads="1"/>
          </p:cNvSpPr>
          <p:nvPr/>
        </p:nvSpPr>
        <p:spPr bwMode="auto">
          <a:xfrm>
            <a:off x="2213541" y="5777688"/>
            <a:ext cx="2895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000000"/>
                </a:solidFill>
                <a:ea typeface="楷体_GB2312"/>
              </a:rPr>
              <a:t>∵      </a:t>
            </a:r>
            <a:r>
              <a:rPr lang="en-US" altLang="zh-CN" sz="2800" i="1">
                <a:solidFill>
                  <a:srgbClr val="000000"/>
                </a:solidFill>
                <a:ea typeface="楷体_GB2312"/>
              </a:rPr>
              <a:t>a</a:t>
            </a:r>
            <a:r>
              <a:rPr lang="zh-CN" altLang="en-US" sz="2800">
                <a:solidFill>
                  <a:srgbClr val="000000"/>
                </a:solidFill>
                <a:ea typeface="楷体_GB2312"/>
              </a:rPr>
              <a:t>、</a:t>
            </a:r>
            <a:r>
              <a:rPr lang="en-US" altLang="zh-CN" sz="2800" i="1">
                <a:solidFill>
                  <a:srgbClr val="000000"/>
                </a:solidFill>
                <a:ea typeface="楷体_GB2312"/>
              </a:rPr>
              <a:t>b</a:t>
            </a:r>
            <a:r>
              <a:rPr lang="zh-CN" altLang="zh-CN" sz="2800">
                <a:solidFill>
                  <a:srgbClr val="000000"/>
                </a:solidFill>
                <a:ea typeface="楷体_GB2312"/>
              </a:rPr>
              <a:t>任意</a:t>
            </a:r>
            <a:endParaRPr lang="zh-CN" altLang="en-US" sz="2800">
              <a:solidFill>
                <a:srgbClr val="000000"/>
              </a:solidFill>
              <a:ea typeface="楷体_GB2312"/>
            </a:endParaRPr>
          </a:p>
        </p:txBody>
      </p:sp>
      <p:graphicFrame>
        <p:nvGraphicFramePr>
          <p:cNvPr id="40" name="Object 17">
            <a:extLst>
              <a:ext uri="{FF2B5EF4-FFF2-40B4-BE49-F238E27FC236}">
                <a16:creationId xmlns:a16="http://schemas.microsoft.com/office/drawing/2014/main" id="{BC970584-BEBA-4740-946F-277A22AEFB85}"/>
              </a:ext>
            </a:extLst>
          </p:cNvPr>
          <p:cNvGraphicFramePr>
            <a:graphicFrameLocks noChangeAspect="1"/>
          </p:cNvGraphicFramePr>
          <p:nvPr>
            <p:extLst>
              <p:ext uri="{D42A27DB-BD31-4B8C-83A1-F6EECF244321}">
                <p14:modId xmlns:p14="http://schemas.microsoft.com/office/powerpoint/2010/main" val="1593431660"/>
              </p:ext>
            </p:extLst>
          </p:nvPr>
        </p:nvGraphicFramePr>
        <p:xfrm>
          <a:off x="5317581" y="5697430"/>
          <a:ext cx="2573337" cy="646112"/>
        </p:xfrm>
        <a:graphic>
          <a:graphicData uri="http://schemas.openxmlformats.org/presentationml/2006/ole">
            <mc:AlternateContent xmlns:mc="http://schemas.openxmlformats.org/markup-compatibility/2006">
              <mc:Choice xmlns:v="urn:schemas-microsoft-com:vml" Requires="v">
                <p:oleObj spid="_x0000_s6850" name="公式" r:id="rId31" imgW="895251" imgH="180778" progId="Equation.3">
                  <p:embed/>
                </p:oleObj>
              </mc:Choice>
              <mc:Fallback>
                <p:oleObj name="公式" r:id="rId31" imgW="895251" imgH="180778" progId="Equation.3">
                  <p:embed/>
                  <p:pic>
                    <p:nvPicPr>
                      <p:cNvPr id="155665" name="Object 1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317581" y="5697430"/>
                        <a:ext cx="2573337"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25">
            <a:extLst>
              <a:ext uri="{FF2B5EF4-FFF2-40B4-BE49-F238E27FC236}">
                <a16:creationId xmlns:a16="http://schemas.microsoft.com/office/drawing/2014/main" id="{661C94C5-085D-4F82-ACF5-E953BA6971AF}"/>
              </a:ext>
            </a:extLst>
          </p:cNvPr>
          <p:cNvGraphicFramePr>
            <a:graphicFrameLocks noChangeAspect="1"/>
          </p:cNvGraphicFramePr>
          <p:nvPr>
            <p:extLst>
              <p:ext uri="{D42A27DB-BD31-4B8C-83A1-F6EECF244321}">
                <p14:modId xmlns:p14="http://schemas.microsoft.com/office/powerpoint/2010/main" val="3297339346"/>
              </p:ext>
            </p:extLst>
          </p:nvPr>
        </p:nvGraphicFramePr>
        <p:xfrm>
          <a:off x="4819228" y="5075134"/>
          <a:ext cx="649288" cy="474663"/>
        </p:xfrm>
        <a:graphic>
          <a:graphicData uri="http://schemas.openxmlformats.org/presentationml/2006/ole">
            <mc:AlternateContent xmlns:mc="http://schemas.openxmlformats.org/markup-compatibility/2006">
              <mc:Choice xmlns:v="urn:schemas-microsoft-com:vml" Requires="v">
                <p:oleObj spid="_x0000_s6851" name="公式" r:id="rId33" imgW="180897" imgH="124022" progId="Equation.3">
                  <p:embed/>
                </p:oleObj>
              </mc:Choice>
              <mc:Fallback>
                <p:oleObj name="公式" r:id="rId33" imgW="180897" imgH="124022" progId="Equation.3">
                  <p:embed/>
                  <p:pic>
                    <p:nvPicPr>
                      <p:cNvPr id="155673" name="Object 2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819228" y="5075134"/>
                        <a:ext cx="649288"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 name="Text Box 18">
            <a:extLst>
              <a:ext uri="{FF2B5EF4-FFF2-40B4-BE49-F238E27FC236}">
                <a16:creationId xmlns:a16="http://schemas.microsoft.com/office/drawing/2014/main" id="{F10DE811-33D4-49B8-B4F5-73F420CB3993}"/>
              </a:ext>
            </a:extLst>
          </p:cNvPr>
          <p:cNvSpPr txBox="1">
            <a:spLocks noChangeArrowheads="1"/>
          </p:cNvSpPr>
          <p:nvPr/>
        </p:nvSpPr>
        <p:spPr bwMode="auto">
          <a:xfrm>
            <a:off x="1732590" y="6338888"/>
            <a:ext cx="6553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故导体为等势体，导体表面为等势面。</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6">
                                            <p:txEl>
                                              <p:pRg st="0" end="0"/>
                                            </p:txEl>
                                          </p:spTgt>
                                        </p:tgtEl>
                                        <p:attrNameLst>
                                          <p:attrName>style.visibility</p:attrName>
                                        </p:attrNameLst>
                                      </p:cBhvr>
                                      <p:to>
                                        <p:strVal val="visible"/>
                                      </p:to>
                                    </p:set>
                                    <p:animEffect transition="in" filter="wipe(left)">
                                      <p:cBhvr>
                                        <p:cTn id="7" dur="500"/>
                                        <p:tgtEl>
                                          <p:spTgt spid="1054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501">
                                            <p:txEl>
                                              <p:pRg st="0" end="0"/>
                                            </p:txEl>
                                          </p:spTgt>
                                        </p:tgtEl>
                                        <p:attrNameLst>
                                          <p:attrName>style.visibility</p:attrName>
                                        </p:attrNameLst>
                                      </p:cBhvr>
                                      <p:to>
                                        <p:strVal val="visible"/>
                                      </p:to>
                                    </p:set>
                                    <p:animEffect transition="in" filter="wipe(left)">
                                      <p:cBhvr>
                                        <p:cTn id="12" dur="500"/>
                                        <p:tgtEl>
                                          <p:spTgt spid="10550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5502"/>
                                        </p:tgtEl>
                                        <p:attrNameLst>
                                          <p:attrName>style.visibility</p:attrName>
                                        </p:attrNameLst>
                                      </p:cBhvr>
                                      <p:to>
                                        <p:strVal val="visible"/>
                                      </p:to>
                                    </p:set>
                                    <p:animEffect transition="in" filter="wipe(left)">
                                      <p:cBhvr>
                                        <p:cTn id="17" dur="500"/>
                                        <p:tgtEl>
                                          <p:spTgt spid="1055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5504"/>
                                        </p:tgtEl>
                                        <p:attrNameLst>
                                          <p:attrName>style.visibility</p:attrName>
                                        </p:attrNameLst>
                                      </p:cBhvr>
                                      <p:to>
                                        <p:strVal val="visible"/>
                                      </p:to>
                                    </p:set>
                                    <p:animEffect transition="in" filter="wipe(left)">
                                      <p:cBhvr>
                                        <p:cTn id="22" dur="500"/>
                                        <p:tgtEl>
                                          <p:spTgt spid="10550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54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54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10548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054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054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0548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0548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wipe(left)">
                                      <p:cBhvr>
                                        <p:cTn id="55" dur="500"/>
                                        <p:tgtEl>
                                          <p:spTgt spid="22">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left)">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05477">
                                            <p:txEl>
                                              <p:pRg st="0" end="0"/>
                                            </p:txEl>
                                          </p:spTgt>
                                        </p:tgtEl>
                                        <p:attrNameLst>
                                          <p:attrName>style.visibility</p:attrName>
                                        </p:attrNameLst>
                                      </p:cBhvr>
                                      <p:to>
                                        <p:strVal val="visible"/>
                                      </p:to>
                                    </p:set>
                                    <p:animEffect transition="in" filter="wipe(left)">
                                      <p:cBhvr>
                                        <p:cTn id="70" dur="500"/>
                                        <p:tgtEl>
                                          <p:spTgt spid="105477">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0549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549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549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6" presetClass="entr" presetSubtype="37" fill="hold" nodeType="clickEffect">
                                  <p:stCondLst>
                                    <p:cond delay="0"/>
                                  </p:stCondLst>
                                  <p:childTnLst>
                                    <p:set>
                                      <p:cBhvr>
                                        <p:cTn id="86" dur="1" fill="hold">
                                          <p:stCondLst>
                                            <p:cond delay="0"/>
                                          </p:stCondLst>
                                        </p:cTn>
                                        <p:tgtEl>
                                          <p:spTgt spid="105500"/>
                                        </p:tgtEl>
                                        <p:attrNameLst>
                                          <p:attrName>style.visibility</p:attrName>
                                        </p:attrNameLst>
                                      </p:cBhvr>
                                      <p:to>
                                        <p:strVal val="visible"/>
                                      </p:to>
                                    </p:set>
                                    <p:animEffect transition="in" filter="barn(outVertical)">
                                      <p:cBhvr>
                                        <p:cTn id="87" dur="500"/>
                                        <p:tgtEl>
                                          <p:spTgt spid="10550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34">
                                            <p:txEl>
                                              <p:pRg st="0" end="0"/>
                                            </p:txEl>
                                          </p:spTgt>
                                        </p:tgtEl>
                                        <p:attrNameLst>
                                          <p:attrName>style.visibility</p:attrName>
                                        </p:attrNameLst>
                                      </p:cBhvr>
                                      <p:to>
                                        <p:strVal val="visible"/>
                                      </p:to>
                                    </p:set>
                                    <p:animEffect transition="in" filter="wipe(left)">
                                      <p:cBhvr>
                                        <p:cTn id="92" dur="500"/>
                                        <p:tgtEl>
                                          <p:spTgt spid="34">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wipe(left)">
                                      <p:cBhvr>
                                        <p:cTn id="97" dur="500"/>
                                        <p:tgtEl>
                                          <p:spTgt spid="35"/>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2" fill="hold" nodeType="clickEffect">
                                  <p:stCondLst>
                                    <p:cond delay="0"/>
                                  </p:stCondLst>
                                  <p:childTnLst>
                                    <p:set>
                                      <p:cBhvr>
                                        <p:cTn id="101" dur="1" fill="hold">
                                          <p:stCondLst>
                                            <p:cond delay="0"/>
                                          </p:stCondLst>
                                        </p:cTn>
                                        <p:tgtEl>
                                          <p:spTgt spid="36"/>
                                        </p:tgtEl>
                                        <p:attrNameLst>
                                          <p:attrName>style.visibility</p:attrName>
                                        </p:attrNameLst>
                                      </p:cBhvr>
                                      <p:to>
                                        <p:strVal val="visible"/>
                                      </p:to>
                                    </p:set>
                                    <p:anim calcmode="lin" valueType="num">
                                      <p:cBhvr additive="base">
                                        <p:cTn id="102" dur="500" fill="hold"/>
                                        <p:tgtEl>
                                          <p:spTgt spid="36"/>
                                        </p:tgtEl>
                                        <p:attrNameLst>
                                          <p:attrName>ppt_x</p:attrName>
                                        </p:attrNameLst>
                                      </p:cBhvr>
                                      <p:tavLst>
                                        <p:tav tm="0">
                                          <p:val>
                                            <p:strVal val="1+#ppt_w/2"/>
                                          </p:val>
                                        </p:tav>
                                        <p:tav tm="100000">
                                          <p:val>
                                            <p:strVal val="#ppt_x"/>
                                          </p:val>
                                        </p:tav>
                                      </p:tavLst>
                                    </p:anim>
                                    <p:anim calcmode="lin" valueType="num">
                                      <p:cBhvr additive="base">
                                        <p:cTn id="103"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wipe(left)">
                                      <p:cBhvr>
                                        <p:cTn id="108" dur="500"/>
                                        <p:tgtEl>
                                          <p:spTgt spid="37"/>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42"/>
                                        </p:tgtEl>
                                        <p:attrNameLst>
                                          <p:attrName>style.visibility</p:attrName>
                                        </p:attrNameLst>
                                      </p:cBhvr>
                                      <p:to>
                                        <p:strVal val="visible"/>
                                      </p:to>
                                    </p:set>
                                    <p:animEffect transition="in" filter="wipe(left)">
                                      <p:cBhvr>
                                        <p:cTn id="113" dur="500"/>
                                        <p:tgtEl>
                                          <p:spTgt spid="42"/>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wipe(left)">
                                      <p:cBhvr>
                                        <p:cTn id="118" dur="500"/>
                                        <p:tgtEl>
                                          <p:spTgt spid="3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39">
                                            <p:txEl>
                                              <p:pRg st="0" end="0"/>
                                            </p:txEl>
                                          </p:spTgt>
                                        </p:tgtEl>
                                        <p:attrNameLst>
                                          <p:attrName>style.visibility</p:attrName>
                                        </p:attrNameLst>
                                      </p:cBhvr>
                                      <p:to>
                                        <p:strVal val="visible"/>
                                      </p:to>
                                    </p:set>
                                    <p:animEffect transition="in" filter="wipe(left)">
                                      <p:cBhvr>
                                        <p:cTn id="123" dur="500"/>
                                        <p:tgtEl>
                                          <p:spTgt spid="39">
                                            <p:txEl>
                                              <p:pRg st="0" end="0"/>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wipe(left)">
                                      <p:cBhvr>
                                        <p:cTn id="128" dur="500"/>
                                        <p:tgtEl>
                                          <p:spTgt spid="40"/>
                                        </p:tgtEl>
                                      </p:cBhvr>
                                    </p:animEffect>
                                  </p:childTnLst>
                                </p:cTn>
                              </p:par>
                            </p:childTnLst>
                          </p:cTn>
                        </p:par>
                      </p:childTnLst>
                    </p:cTn>
                  </p:par>
                  <p:par>
                    <p:cTn id="129" fill="hold">
                      <p:stCondLst>
                        <p:cond delay="indefinite"/>
                      </p:stCondLst>
                      <p:childTnLst>
                        <p:par>
                          <p:cTn id="130" fill="hold">
                            <p:stCondLst>
                              <p:cond delay="0"/>
                            </p:stCondLst>
                            <p:childTnLst>
                              <p:par>
                                <p:cTn id="131" presetID="16" presetClass="entr" presetSubtype="37" fill="hold" grpId="0" nodeType="clickEffect">
                                  <p:stCondLst>
                                    <p:cond delay="0"/>
                                  </p:stCondLst>
                                  <p:childTnLst>
                                    <p:set>
                                      <p:cBhvr>
                                        <p:cTn id="132" dur="1" fill="hold">
                                          <p:stCondLst>
                                            <p:cond delay="0"/>
                                          </p:stCondLst>
                                        </p:cTn>
                                        <p:tgtEl>
                                          <p:spTgt spid="43">
                                            <p:txEl>
                                              <p:pRg st="0" end="0"/>
                                            </p:txEl>
                                          </p:spTgt>
                                        </p:tgtEl>
                                        <p:attrNameLst>
                                          <p:attrName>style.visibility</p:attrName>
                                        </p:attrNameLst>
                                      </p:cBhvr>
                                      <p:to>
                                        <p:strVal val="visible"/>
                                      </p:to>
                                    </p:set>
                                    <p:animEffect transition="in" filter="barn(outVertical)">
                                      <p:cBhvr>
                                        <p:cTn id="133"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build="p" autoUpdateAnimBg="0"/>
      <p:bldP spid="105477" grpId="0" build="p" autoUpdateAnimBg="0"/>
      <p:bldP spid="105481" grpId="0" animBg="1"/>
      <p:bldP spid="105482" grpId="0" animBg="1"/>
      <p:bldP spid="105483" grpId="0" animBg="1"/>
      <p:bldP spid="105484" grpId="0" animBg="1"/>
      <p:bldP spid="105497" grpId="0" animBg="1"/>
      <p:bldP spid="105501" grpId="0" build="p" autoUpdateAnimBg="0"/>
      <p:bldP spid="22" grpId="0" build="p" autoUpdateAnimBg="0"/>
      <p:bldP spid="34" grpId="0" build="p" autoUpdateAnimBg="0"/>
      <p:bldP spid="39" grpId="0" build="p" autoUpdateAnimBg="0"/>
      <p:bldP spid="4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Text Box 4"/>
          <p:cNvSpPr txBox="1">
            <a:spLocks noChangeArrowheads="1"/>
          </p:cNvSpPr>
          <p:nvPr/>
        </p:nvSpPr>
        <p:spPr bwMode="auto">
          <a:xfrm>
            <a:off x="107950" y="260350"/>
            <a:ext cx="5715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ea typeface="楷体_GB2312"/>
              </a:rPr>
              <a:t>二</a:t>
            </a:r>
            <a:r>
              <a:rPr lang="en-US" altLang="zh-CN" sz="2800">
                <a:ea typeface="楷体_GB2312"/>
              </a:rPr>
              <a:t>. </a:t>
            </a:r>
            <a:r>
              <a:rPr lang="zh-CN" altLang="en-US" sz="2800">
                <a:ea typeface="楷体_GB2312"/>
              </a:rPr>
              <a:t>静电平衡时导体上电荷的分布</a:t>
            </a:r>
          </a:p>
        </p:txBody>
      </p:sp>
      <p:sp>
        <p:nvSpPr>
          <p:cNvPr id="107525" name="Text Box 5"/>
          <p:cNvSpPr txBox="1">
            <a:spLocks noChangeArrowheads="1"/>
          </p:cNvSpPr>
          <p:nvPr/>
        </p:nvSpPr>
        <p:spPr bwMode="auto">
          <a:xfrm>
            <a:off x="381000" y="908050"/>
            <a:ext cx="31686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ea typeface="楷体_GB2312"/>
              </a:rPr>
              <a:t>1.</a:t>
            </a:r>
            <a:r>
              <a:rPr lang="zh-CN" altLang="en-US" sz="2800">
                <a:ea typeface="楷体_GB2312"/>
              </a:rPr>
              <a:t>带电导体</a:t>
            </a:r>
            <a:r>
              <a:rPr lang="zh-CN" altLang="en-US" sz="2800">
                <a:solidFill>
                  <a:srgbClr val="FF0000"/>
                </a:solidFill>
                <a:ea typeface="楷体_GB2312"/>
              </a:rPr>
              <a:t>无空腔</a:t>
            </a:r>
          </a:p>
        </p:txBody>
      </p:sp>
      <p:sp>
        <p:nvSpPr>
          <p:cNvPr id="107526" name="Rectangle 6"/>
          <p:cNvSpPr>
            <a:spLocks noChangeArrowheads="1"/>
          </p:cNvSpPr>
          <p:nvPr/>
        </p:nvSpPr>
        <p:spPr bwMode="auto">
          <a:xfrm>
            <a:off x="403225" y="1535113"/>
            <a:ext cx="78406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 typeface="Wingdings" panose="05000000000000000000" pitchFamily="2" charset="2"/>
              <a:buChar char="§"/>
            </a:pPr>
            <a:r>
              <a:rPr lang="en-US" altLang="zh-CN" sz="2400">
                <a:solidFill>
                  <a:srgbClr val="FF0000"/>
                </a:solidFill>
                <a:latin typeface="宋体" panose="02010600030101010101" pitchFamily="2" charset="-122"/>
                <a:ea typeface="楷体_GB2312"/>
              </a:rPr>
              <a:t> </a:t>
            </a:r>
            <a:r>
              <a:rPr lang="zh-CN" altLang="zh-CN" sz="2800">
                <a:latin typeface="Arial" panose="020B0604020202020204" pitchFamily="34" charset="0"/>
                <a:ea typeface="楷体_GB2312"/>
              </a:rPr>
              <a:t>内部无净电荷，净电荷只分布在导体表面上。</a:t>
            </a:r>
            <a:endParaRPr lang="zh-CN" altLang="en-US" sz="2800">
              <a:latin typeface="Arial" panose="020B0604020202020204" pitchFamily="34" charset="0"/>
              <a:ea typeface="楷体_GB2312"/>
            </a:endParaRPr>
          </a:p>
        </p:txBody>
      </p:sp>
      <p:sp>
        <p:nvSpPr>
          <p:cNvPr id="107527" name="Freeform 7"/>
          <p:cNvSpPr>
            <a:spLocks/>
          </p:cNvSpPr>
          <p:nvPr/>
        </p:nvSpPr>
        <p:spPr bwMode="auto">
          <a:xfrm>
            <a:off x="503238" y="2590800"/>
            <a:ext cx="2052637" cy="2500313"/>
          </a:xfrm>
          <a:custGeom>
            <a:avLst/>
            <a:gdLst>
              <a:gd name="T0" fmla="*/ 2147483646 w 1293"/>
              <a:gd name="T1" fmla="*/ 2147483646 h 1575"/>
              <a:gd name="T2" fmla="*/ 2147483646 w 1293"/>
              <a:gd name="T3" fmla="*/ 0 h 1575"/>
              <a:gd name="T4" fmla="*/ 2147483646 w 1293"/>
              <a:gd name="T5" fmla="*/ 2147483646 h 1575"/>
              <a:gd name="T6" fmla="*/ 2147483646 w 1293"/>
              <a:gd name="T7" fmla="*/ 2147483646 h 1575"/>
              <a:gd name="T8" fmla="*/ 2147483646 w 1293"/>
              <a:gd name="T9" fmla="*/ 2147483646 h 1575"/>
              <a:gd name="T10" fmla="*/ 2147483646 w 1293"/>
              <a:gd name="T11" fmla="*/ 2147483646 h 1575"/>
              <a:gd name="T12" fmla="*/ 2147483646 w 1293"/>
              <a:gd name="T13" fmla="*/ 2147483646 h 1575"/>
              <a:gd name="T14" fmla="*/ 2147483646 w 1293"/>
              <a:gd name="T15" fmla="*/ 2147483646 h 1575"/>
              <a:gd name="T16" fmla="*/ 2147483646 w 1293"/>
              <a:gd name="T17" fmla="*/ 2147483646 h 1575"/>
              <a:gd name="T18" fmla="*/ 2147483646 w 1293"/>
              <a:gd name="T19" fmla="*/ 2147483646 h 1575"/>
              <a:gd name="T20" fmla="*/ 2147483646 w 1293"/>
              <a:gd name="T21" fmla="*/ 2147483646 h 1575"/>
              <a:gd name="T22" fmla="*/ 2147483646 w 1293"/>
              <a:gd name="T23" fmla="*/ 2147483646 h 1575"/>
              <a:gd name="T24" fmla="*/ 2147483646 w 1293"/>
              <a:gd name="T25" fmla="*/ 2147483646 h 1575"/>
              <a:gd name="T26" fmla="*/ 2147483646 w 1293"/>
              <a:gd name="T27" fmla="*/ 2147483646 h 1575"/>
              <a:gd name="T28" fmla="*/ 2147483646 w 1293"/>
              <a:gd name="T29" fmla="*/ 2147483646 h 1575"/>
              <a:gd name="T30" fmla="*/ 2147483646 w 1293"/>
              <a:gd name="T31" fmla="*/ 2147483646 h 1575"/>
              <a:gd name="T32" fmla="*/ 2147483646 w 1293"/>
              <a:gd name="T33" fmla="*/ 2147483646 h 1575"/>
              <a:gd name="T34" fmla="*/ 2147483646 w 1293"/>
              <a:gd name="T35" fmla="*/ 2147483646 h 1575"/>
              <a:gd name="T36" fmla="*/ 2147483646 w 1293"/>
              <a:gd name="T37" fmla="*/ 2147483646 h 1575"/>
              <a:gd name="T38" fmla="*/ 2147483646 w 1293"/>
              <a:gd name="T39" fmla="*/ 2147483646 h 1575"/>
              <a:gd name="T40" fmla="*/ 2147483646 w 1293"/>
              <a:gd name="T41" fmla="*/ 2147483646 h 1575"/>
              <a:gd name="T42" fmla="*/ 2147483646 w 1293"/>
              <a:gd name="T43" fmla="*/ 2147483646 h 15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93" h="1575">
                <a:moveTo>
                  <a:pt x="357" y="12"/>
                </a:moveTo>
                <a:cubicBezTo>
                  <a:pt x="385" y="8"/>
                  <a:pt x="413" y="0"/>
                  <a:pt x="441" y="0"/>
                </a:cubicBezTo>
                <a:cubicBezTo>
                  <a:pt x="487" y="0"/>
                  <a:pt x="534" y="40"/>
                  <a:pt x="573" y="60"/>
                </a:cubicBezTo>
                <a:cubicBezTo>
                  <a:pt x="677" y="51"/>
                  <a:pt x="808" y="32"/>
                  <a:pt x="909" y="60"/>
                </a:cubicBezTo>
                <a:cubicBezTo>
                  <a:pt x="925" y="64"/>
                  <a:pt x="917" y="92"/>
                  <a:pt x="921" y="108"/>
                </a:cubicBezTo>
                <a:cubicBezTo>
                  <a:pt x="857" y="299"/>
                  <a:pt x="930" y="322"/>
                  <a:pt x="1053" y="420"/>
                </a:cubicBezTo>
                <a:cubicBezTo>
                  <a:pt x="1091" y="535"/>
                  <a:pt x="1106" y="548"/>
                  <a:pt x="1065" y="672"/>
                </a:cubicBezTo>
                <a:cubicBezTo>
                  <a:pt x="1077" y="801"/>
                  <a:pt x="1072" y="933"/>
                  <a:pt x="1113" y="1056"/>
                </a:cubicBezTo>
                <a:cubicBezTo>
                  <a:pt x="1117" y="1092"/>
                  <a:pt x="1109" y="1131"/>
                  <a:pt x="1125" y="1164"/>
                </a:cubicBezTo>
                <a:cubicBezTo>
                  <a:pt x="1151" y="1220"/>
                  <a:pt x="1245" y="1308"/>
                  <a:pt x="1293" y="1356"/>
                </a:cubicBezTo>
                <a:cubicBezTo>
                  <a:pt x="1162" y="1400"/>
                  <a:pt x="1222" y="1386"/>
                  <a:pt x="1113" y="1404"/>
                </a:cubicBezTo>
                <a:cubicBezTo>
                  <a:pt x="1084" y="1461"/>
                  <a:pt x="1056" y="1486"/>
                  <a:pt x="1005" y="1524"/>
                </a:cubicBezTo>
                <a:cubicBezTo>
                  <a:pt x="825" y="1516"/>
                  <a:pt x="722" y="1502"/>
                  <a:pt x="561" y="1548"/>
                </a:cubicBezTo>
                <a:cubicBezTo>
                  <a:pt x="431" y="1535"/>
                  <a:pt x="317" y="1575"/>
                  <a:pt x="249" y="1452"/>
                </a:cubicBezTo>
                <a:cubicBezTo>
                  <a:pt x="224" y="1408"/>
                  <a:pt x="217" y="1356"/>
                  <a:pt x="201" y="1308"/>
                </a:cubicBezTo>
                <a:cubicBezTo>
                  <a:pt x="193" y="1284"/>
                  <a:pt x="177" y="1236"/>
                  <a:pt x="177" y="1236"/>
                </a:cubicBezTo>
                <a:cubicBezTo>
                  <a:pt x="165" y="1015"/>
                  <a:pt x="219" y="1010"/>
                  <a:pt x="45" y="960"/>
                </a:cubicBezTo>
                <a:cubicBezTo>
                  <a:pt x="0" y="826"/>
                  <a:pt x="31" y="932"/>
                  <a:pt x="45" y="612"/>
                </a:cubicBezTo>
                <a:cubicBezTo>
                  <a:pt x="52" y="456"/>
                  <a:pt x="41" y="325"/>
                  <a:pt x="117" y="192"/>
                </a:cubicBezTo>
                <a:cubicBezTo>
                  <a:pt x="126" y="176"/>
                  <a:pt x="126" y="153"/>
                  <a:pt x="141" y="144"/>
                </a:cubicBezTo>
                <a:cubicBezTo>
                  <a:pt x="240" y="85"/>
                  <a:pt x="401" y="108"/>
                  <a:pt x="513" y="96"/>
                </a:cubicBezTo>
                <a:cubicBezTo>
                  <a:pt x="471" y="33"/>
                  <a:pt x="431" y="12"/>
                  <a:pt x="357" y="12"/>
                </a:cubicBezTo>
                <a:close/>
              </a:path>
            </a:pathLst>
          </a:custGeom>
          <a:solidFill>
            <a:schemeClr val="folHlink"/>
          </a:solidFill>
          <a:ln w="19050" cmpd="sng">
            <a:solidFill>
              <a:schemeClr val="hlink"/>
            </a:solidFill>
            <a:round/>
            <a:headEnd/>
            <a:tailEnd/>
          </a:ln>
        </p:spPr>
        <p:txBody>
          <a:bodyPr wrap="none" anchor="ctr"/>
          <a:lstStyle/>
          <a:p>
            <a:endParaRPr lang="zh-CN" altLang="en-US"/>
          </a:p>
        </p:txBody>
      </p:sp>
      <p:sp>
        <p:nvSpPr>
          <p:cNvPr id="107528" name="Freeform 8"/>
          <p:cNvSpPr>
            <a:spLocks/>
          </p:cNvSpPr>
          <p:nvPr/>
        </p:nvSpPr>
        <p:spPr bwMode="auto">
          <a:xfrm>
            <a:off x="822325" y="3122613"/>
            <a:ext cx="1006475" cy="1449387"/>
          </a:xfrm>
          <a:custGeom>
            <a:avLst/>
            <a:gdLst>
              <a:gd name="T0" fmla="*/ 2147483646 w 456"/>
              <a:gd name="T1" fmla="*/ 2147483646 h 616"/>
              <a:gd name="T2" fmla="*/ 2147483646 w 456"/>
              <a:gd name="T3" fmla="*/ 2147483646 h 616"/>
              <a:gd name="T4" fmla="*/ 2147483646 w 456"/>
              <a:gd name="T5" fmla="*/ 2147483646 h 616"/>
              <a:gd name="T6" fmla="*/ 2147483646 w 456"/>
              <a:gd name="T7" fmla="*/ 2147483646 h 616"/>
              <a:gd name="T8" fmla="*/ 2147483646 w 456"/>
              <a:gd name="T9" fmla="*/ 2147483646 h 616"/>
              <a:gd name="T10" fmla="*/ 2147483646 w 456"/>
              <a:gd name="T11" fmla="*/ 2147483646 h 616"/>
              <a:gd name="T12" fmla="*/ 2147483646 w 456"/>
              <a:gd name="T13" fmla="*/ 2147483646 h 616"/>
              <a:gd name="T14" fmla="*/ 2147483646 w 456"/>
              <a:gd name="T15" fmla="*/ 2147483646 h 616"/>
              <a:gd name="T16" fmla="*/ 2147483646 w 456"/>
              <a:gd name="T17" fmla="*/ 2147483646 h 616"/>
              <a:gd name="T18" fmla="*/ 0 w 456"/>
              <a:gd name="T19" fmla="*/ 2147483646 h 616"/>
              <a:gd name="T20" fmla="*/ 2147483646 w 456"/>
              <a:gd name="T21" fmla="*/ 2147483646 h 616"/>
              <a:gd name="T22" fmla="*/ 2147483646 w 456"/>
              <a:gd name="T23" fmla="*/ 2147483646 h 6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56" h="616">
                <a:moveTo>
                  <a:pt x="144" y="56"/>
                </a:moveTo>
                <a:cubicBezTo>
                  <a:pt x="219" y="37"/>
                  <a:pt x="282" y="0"/>
                  <a:pt x="348" y="44"/>
                </a:cubicBezTo>
                <a:cubicBezTo>
                  <a:pt x="358" y="75"/>
                  <a:pt x="362" y="109"/>
                  <a:pt x="372" y="140"/>
                </a:cubicBezTo>
                <a:cubicBezTo>
                  <a:pt x="392" y="199"/>
                  <a:pt x="428" y="252"/>
                  <a:pt x="456" y="308"/>
                </a:cubicBezTo>
                <a:cubicBezTo>
                  <a:pt x="446" y="398"/>
                  <a:pt x="426" y="483"/>
                  <a:pt x="444" y="572"/>
                </a:cubicBezTo>
                <a:cubicBezTo>
                  <a:pt x="357" y="616"/>
                  <a:pt x="354" y="607"/>
                  <a:pt x="240" y="596"/>
                </a:cubicBezTo>
                <a:cubicBezTo>
                  <a:pt x="208" y="588"/>
                  <a:pt x="174" y="587"/>
                  <a:pt x="144" y="572"/>
                </a:cubicBezTo>
                <a:cubicBezTo>
                  <a:pt x="124" y="562"/>
                  <a:pt x="106" y="544"/>
                  <a:pt x="96" y="524"/>
                </a:cubicBezTo>
                <a:cubicBezTo>
                  <a:pt x="80" y="491"/>
                  <a:pt x="87" y="450"/>
                  <a:pt x="72" y="416"/>
                </a:cubicBezTo>
                <a:cubicBezTo>
                  <a:pt x="49" y="363"/>
                  <a:pt x="18" y="314"/>
                  <a:pt x="0" y="260"/>
                </a:cubicBezTo>
                <a:cubicBezTo>
                  <a:pt x="17" y="177"/>
                  <a:pt x="27" y="155"/>
                  <a:pt x="108" y="128"/>
                </a:cubicBezTo>
                <a:cubicBezTo>
                  <a:pt x="125" y="78"/>
                  <a:pt x="113" y="103"/>
                  <a:pt x="144" y="56"/>
                </a:cubicBezTo>
                <a:close/>
              </a:path>
            </a:pathLst>
          </a:custGeom>
          <a:noFill/>
          <a:ln w="38100">
            <a:solidFill>
              <a:schemeClr val="tx1"/>
            </a:solidFill>
            <a:round/>
            <a:headEnd/>
            <a:tailEnd/>
          </a:ln>
        </p:spPr>
        <p:txBody>
          <a:bodyPr wrap="none" anchor="ctr"/>
          <a:lstStyle/>
          <a:p>
            <a:endParaRPr lang="zh-CN" altLang="en-US"/>
          </a:p>
        </p:txBody>
      </p:sp>
      <p:sp>
        <p:nvSpPr>
          <p:cNvPr id="107529" name="Text Box 9"/>
          <p:cNvSpPr txBox="1">
            <a:spLocks noChangeArrowheads="1"/>
          </p:cNvSpPr>
          <p:nvPr/>
        </p:nvSpPr>
        <p:spPr bwMode="auto">
          <a:xfrm>
            <a:off x="1127125" y="3611563"/>
            <a:ext cx="914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i="1">
                <a:solidFill>
                  <a:srgbClr val="000000"/>
                </a:solidFill>
                <a:ea typeface="楷体_GB2312"/>
              </a:rPr>
              <a:t>S</a:t>
            </a:r>
          </a:p>
        </p:txBody>
      </p:sp>
      <p:graphicFrame>
        <p:nvGraphicFramePr>
          <p:cNvPr id="107531" name="Object 11"/>
          <p:cNvGraphicFramePr>
            <a:graphicFrameLocks noChangeAspect="1"/>
          </p:cNvGraphicFramePr>
          <p:nvPr/>
        </p:nvGraphicFramePr>
        <p:xfrm>
          <a:off x="4648200" y="2262188"/>
          <a:ext cx="2743200" cy="1014412"/>
        </p:xfrm>
        <a:graphic>
          <a:graphicData uri="http://schemas.openxmlformats.org/presentationml/2006/ole">
            <mc:AlternateContent xmlns:mc="http://schemas.openxmlformats.org/markup-compatibility/2006">
              <mc:Choice xmlns:v="urn:schemas-microsoft-com:vml" Requires="v">
                <p:oleObj spid="_x0000_s8461" name="Equation" r:id="rId3" imgW="1152536" imgH="390564" progId="Equation.3">
                  <p:embed/>
                </p:oleObj>
              </mc:Choice>
              <mc:Fallback>
                <p:oleObj name="Equation" r:id="rId3" imgW="1152536" imgH="390564"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262188"/>
                        <a:ext cx="2743200"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2" name="Object 12"/>
          <p:cNvGraphicFramePr>
            <a:graphicFrameLocks noChangeAspect="1"/>
          </p:cNvGraphicFramePr>
          <p:nvPr/>
        </p:nvGraphicFramePr>
        <p:xfrm>
          <a:off x="4662488" y="3476625"/>
          <a:ext cx="1565275" cy="673100"/>
        </p:xfrm>
        <a:graphic>
          <a:graphicData uri="http://schemas.openxmlformats.org/presentationml/2006/ole">
            <mc:AlternateContent xmlns:mc="http://schemas.openxmlformats.org/markup-compatibility/2006">
              <mc:Choice xmlns:v="urn:schemas-microsoft-com:vml" Requires="v">
                <p:oleObj spid="_x0000_s8462" name="公式" r:id="rId5" imgW="590538" imgH="219036" progId="Equation.3">
                  <p:embed/>
                </p:oleObj>
              </mc:Choice>
              <mc:Fallback>
                <p:oleObj name="公式" r:id="rId5" imgW="590538" imgH="219036"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2488" y="3476625"/>
                        <a:ext cx="1565275"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7533" name="Object 13"/>
          <p:cNvGraphicFramePr>
            <a:graphicFrameLocks noChangeAspect="1"/>
          </p:cNvGraphicFramePr>
          <p:nvPr/>
        </p:nvGraphicFramePr>
        <p:xfrm>
          <a:off x="4325938" y="4419600"/>
          <a:ext cx="1922462" cy="628650"/>
        </p:xfrm>
        <a:graphic>
          <a:graphicData uri="http://schemas.openxmlformats.org/presentationml/2006/ole">
            <mc:AlternateContent xmlns:mc="http://schemas.openxmlformats.org/markup-compatibility/2006">
              <mc:Choice xmlns:v="urn:schemas-microsoft-com:vml" Requires="v">
                <p:oleObj spid="_x0000_s8463" name="Equation" r:id="rId7" imgW="790742" imgH="219036" progId="Equation.3">
                  <p:embed/>
                </p:oleObj>
              </mc:Choice>
              <mc:Fallback>
                <p:oleObj name="Equation" r:id="rId7" imgW="790742" imgH="219036"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5938" y="4419600"/>
                        <a:ext cx="1922462"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34" name="Text Box 14"/>
          <p:cNvSpPr txBox="1">
            <a:spLocks noChangeArrowheads="1"/>
          </p:cNvSpPr>
          <p:nvPr/>
        </p:nvSpPr>
        <p:spPr bwMode="auto">
          <a:xfrm>
            <a:off x="533400" y="5486400"/>
            <a:ext cx="8610600" cy="111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800">
                <a:solidFill>
                  <a:srgbClr val="990000"/>
                </a:solidFill>
                <a:ea typeface="楷体_GB2312"/>
              </a:rPr>
              <a:t>        </a:t>
            </a:r>
            <a:r>
              <a:rPr lang="zh-CN" altLang="en-US" sz="2800">
                <a:solidFill>
                  <a:srgbClr val="990000"/>
                </a:solidFill>
                <a:ea typeface="楷体_GB2312"/>
              </a:rPr>
              <a:t>故导体内部无净电荷，净电荷只能分布在导体的外表面上</a:t>
            </a:r>
            <a:r>
              <a:rPr lang="zh-CN" altLang="en-US" sz="2800">
                <a:ea typeface="楷体_GB2312"/>
              </a:rPr>
              <a:t>。</a:t>
            </a:r>
          </a:p>
        </p:txBody>
      </p:sp>
      <p:graphicFrame>
        <p:nvGraphicFramePr>
          <p:cNvPr id="107535" name="Object 15"/>
          <p:cNvGraphicFramePr>
            <a:graphicFrameLocks noChangeAspect="1"/>
          </p:cNvGraphicFramePr>
          <p:nvPr/>
        </p:nvGraphicFramePr>
        <p:xfrm>
          <a:off x="6588125" y="3421063"/>
          <a:ext cx="1933575" cy="673100"/>
        </p:xfrm>
        <a:graphic>
          <a:graphicData uri="http://schemas.openxmlformats.org/presentationml/2006/ole">
            <mc:AlternateContent xmlns:mc="http://schemas.openxmlformats.org/markup-compatibility/2006">
              <mc:Choice xmlns:v="urn:schemas-microsoft-com:vml" Requires="v">
                <p:oleObj spid="_x0000_s8464" name="公式" r:id="rId9" imgW="742895" imgH="219036" progId="Equation.3">
                  <p:embed/>
                </p:oleObj>
              </mc:Choice>
              <mc:Fallback>
                <p:oleObj name="公式" r:id="rId9" imgW="742895" imgH="219036"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88125" y="3421063"/>
                        <a:ext cx="1933575" cy="67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4">
                                            <p:txEl>
                                              <p:pRg st="0" end="0"/>
                                            </p:txEl>
                                          </p:spTgt>
                                        </p:tgtEl>
                                        <p:attrNameLst>
                                          <p:attrName>style.visibility</p:attrName>
                                        </p:attrNameLst>
                                      </p:cBhvr>
                                      <p:to>
                                        <p:strVal val="visible"/>
                                      </p:to>
                                    </p:set>
                                    <p:animEffect transition="in" filter="wipe(left)">
                                      <p:cBhvr>
                                        <p:cTn id="7" dur="500"/>
                                        <p:tgtEl>
                                          <p:spTgt spid="107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5">
                                            <p:txEl>
                                              <p:pRg st="0" end="0"/>
                                            </p:txEl>
                                          </p:spTgt>
                                        </p:tgtEl>
                                        <p:attrNameLst>
                                          <p:attrName>style.visibility</p:attrName>
                                        </p:attrNameLst>
                                      </p:cBhvr>
                                      <p:to>
                                        <p:strVal val="visible"/>
                                      </p:to>
                                    </p:set>
                                    <p:animEffect transition="in" filter="wipe(left)">
                                      <p:cBhvr>
                                        <p:cTn id="12" dur="500"/>
                                        <p:tgtEl>
                                          <p:spTgt spid="10752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26"/>
                                        </p:tgtEl>
                                        <p:attrNameLst>
                                          <p:attrName>style.visibility</p:attrName>
                                        </p:attrNameLst>
                                      </p:cBhvr>
                                      <p:to>
                                        <p:strVal val="visible"/>
                                      </p:to>
                                    </p:set>
                                    <p:animEffect transition="in" filter="wipe(left)">
                                      <p:cBhvr>
                                        <p:cTn id="17" dur="500"/>
                                        <p:tgtEl>
                                          <p:spTgt spid="1075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0752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07528"/>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07529">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nodeType="clickEffect">
                                  <p:stCondLst>
                                    <p:cond delay="0"/>
                                  </p:stCondLst>
                                  <p:childTnLst>
                                    <p:set>
                                      <p:cBhvr>
                                        <p:cTn id="33" dur="1" fill="hold">
                                          <p:stCondLst>
                                            <p:cond delay="0"/>
                                          </p:stCondLst>
                                        </p:cTn>
                                        <p:tgtEl>
                                          <p:spTgt spid="107531"/>
                                        </p:tgtEl>
                                        <p:attrNameLst>
                                          <p:attrName>style.visibility</p:attrName>
                                        </p:attrNameLst>
                                      </p:cBhvr>
                                      <p:to>
                                        <p:strVal val="visible"/>
                                      </p:to>
                                    </p:set>
                                    <p:anim calcmode="lin" valueType="num">
                                      <p:cBhvr additive="base">
                                        <p:cTn id="34" dur="500" fill="hold"/>
                                        <p:tgtEl>
                                          <p:spTgt spid="107531"/>
                                        </p:tgtEl>
                                        <p:attrNameLst>
                                          <p:attrName>ppt_x</p:attrName>
                                        </p:attrNameLst>
                                      </p:cBhvr>
                                      <p:tavLst>
                                        <p:tav tm="0">
                                          <p:val>
                                            <p:strVal val="1+#ppt_w/2"/>
                                          </p:val>
                                        </p:tav>
                                        <p:tav tm="100000">
                                          <p:val>
                                            <p:strVal val="#ppt_x"/>
                                          </p:val>
                                        </p:tav>
                                      </p:tavLst>
                                    </p:anim>
                                    <p:anim calcmode="lin" valueType="num">
                                      <p:cBhvr additive="base">
                                        <p:cTn id="35" dur="500" fill="hold"/>
                                        <p:tgtEl>
                                          <p:spTgt spid="107531"/>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7532"/>
                                        </p:tgtEl>
                                        <p:attrNameLst>
                                          <p:attrName>style.visibility</p:attrName>
                                        </p:attrNameLst>
                                      </p:cBhvr>
                                      <p:to>
                                        <p:strVal val="visible"/>
                                      </p:to>
                                    </p:set>
                                    <p:animEffect transition="in" filter="wipe(left)">
                                      <p:cBhvr>
                                        <p:cTn id="40" dur="500"/>
                                        <p:tgtEl>
                                          <p:spTgt spid="10753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07535"/>
                                        </p:tgtEl>
                                        <p:attrNameLst>
                                          <p:attrName>style.visibility</p:attrName>
                                        </p:attrNameLst>
                                      </p:cBhvr>
                                      <p:to>
                                        <p:strVal val="visible"/>
                                      </p:to>
                                    </p:set>
                                    <p:animEffect transition="in" filter="wipe(left)">
                                      <p:cBhvr>
                                        <p:cTn id="45" dur="500"/>
                                        <p:tgtEl>
                                          <p:spTgt spid="10753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499"/>
                                          </p:stCondLst>
                                        </p:cTn>
                                        <p:tgtEl>
                                          <p:spTgt spid="10753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6" presetClass="entr" presetSubtype="37" fill="hold" grpId="0" nodeType="clickEffect">
                                  <p:stCondLst>
                                    <p:cond delay="0"/>
                                  </p:stCondLst>
                                  <p:childTnLst>
                                    <p:set>
                                      <p:cBhvr>
                                        <p:cTn id="53" dur="1" fill="hold">
                                          <p:stCondLst>
                                            <p:cond delay="0"/>
                                          </p:stCondLst>
                                        </p:cTn>
                                        <p:tgtEl>
                                          <p:spTgt spid="107534">
                                            <p:txEl>
                                              <p:pRg st="0" end="0"/>
                                            </p:txEl>
                                          </p:spTgt>
                                        </p:tgtEl>
                                        <p:attrNameLst>
                                          <p:attrName>style.visibility</p:attrName>
                                        </p:attrNameLst>
                                      </p:cBhvr>
                                      <p:to>
                                        <p:strVal val="visible"/>
                                      </p:to>
                                    </p:set>
                                    <p:animEffect transition="in" filter="barn(outVertical)">
                                      <p:cBhvr>
                                        <p:cTn id="54" dur="500"/>
                                        <p:tgtEl>
                                          <p:spTgt spid="1075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uild="p" autoUpdateAnimBg="0"/>
      <p:bldP spid="107525" grpId="0" build="p" autoUpdateAnimBg="0"/>
      <p:bldP spid="107526" grpId="0"/>
      <p:bldP spid="107527" grpId="0" animBg="1"/>
      <p:bldP spid="107528" grpId="0" animBg="1"/>
      <p:bldP spid="107529" grpId="0" build="p" autoUpdateAnimBg="0"/>
      <p:bldP spid="107534"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61" name="Object 17"/>
          <p:cNvGraphicFramePr>
            <a:graphicFrameLocks noChangeAspect="1"/>
          </p:cNvGraphicFramePr>
          <p:nvPr/>
        </p:nvGraphicFramePr>
        <p:xfrm>
          <a:off x="719138" y="976313"/>
          <a:ext cx="5468937" cy="1746250"/>
        </p:xfrm>
        <a:graphic>
          <a:graphicData uri="http://schemas.openxmlformats.org/presentationml/2006/ole">
            <mc:AlternateContent xmlns:mc="http://schemas.openxmlformats.org/markup-compatibility/2006">
              <mc:Choice xmlns:v="urn:schemas-microsoft-com:vml" Requires="v">
                <p:oleObj spid="_x0000_s9760" name="公式" r:id="rId3" imgW="2314726" imgH="705034" progId="Equation.3">
                  <p:embed/>
                </p:oleObj>
              </mc:Choice>
              <mc:Fallback>
                <p:oleObj name="公式" r:id="rId3" imgW="2314726" imgH="705034"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138" y="976313"/>
                        <a:ext cx="5468937" cy="174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2" name="Object 8"/>
          <p:cNvGraphicFramePr>
            <a:graphicFrameLocks noChangeAspect="1"/>
          </p:cNvGraphicFramePr>
          <p:nvPr/>
        </p:nvGraphicFramePr>
        <p:xfrm>
          <a:off x="6781800" y="1600200"/>
          <a:ext cx="609600" cy="604838"/>
        </p:xfrm>
        <a:graphic>
          <a:graphicData uri="http://schemas.openxmlformats.org/presentationml/2006/ole">
            <mc:AlternateContent xmlns:mc="http://schemas.openxmlformats.org/markup-compatibility/2006">
              <mc:Choice xmlns:v="urn:schemas-microsoft-com:vml" Requires="v">
                <p:oleObj spid="_x0000_s9761" name="公式" r:id="rId5" imgW="209438" imgH="209366" progId="Equation.3">
                  <p:embed/>
                </p:oleObj>
              </mc:Choice>
              <mc:Fallback>
                <p:oleObj name="公式" r:id="rId5" imgW="209438" imgH="209366"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0" y="1600200"/>
                        <a:ext cx="609600"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4" name="Arc 10"/>
          <p:cNvSpPr>
            <a:spLocks/>
          </p:cNvSpPr>
          <p:nvPr/>
        </p:nvSpPr>
        <p:spPr bwMode="auto">
          <a:xfrm rot="11755542" flipV="1">
            <a:off x="6781800" y="1905000"/>
            <a:ext cx="1905000" cy="190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57150">
            <a:solidFill>
              <a:schemeClr val="accent2"/>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08555" name="AutoShape 11"/>
          <p:cNvSpPr>
            <a:spLocks noChangeArrowheads="1"/>
          </p:cNvSpPr>
          <p:nvPr/>
        </p:nvSpPr>
        <p:spPr bwMode="auto">
          <a:xfrm rot="-2614200">
            <a:off x="7010400" y="2209800"/>
            <a:ext cx="304800" cy="609600"/>
          </a:xfrm>
          <a:prstGeom prst="can">
            <a:avLst>
              <a:gd name="adj" fmla="val 50000"/>
            </a:avLst>
          </a:prstGeom>
          <a:solidFill>
            <a:srgbClr val="99CCFF"/>
          </a:solidFill>
          <a:ln w="9525">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08556" name="Line 12"/>
          <p:cNvSpPr>
            <a:spLocks noChangeShapeType="1"/>
          </p:cNvSpPr>
          <p:nvPr/>
        </p:nvSpPr>
        <p:spPr bwMode="auto">
          <a:xfrm flipH="1" flipV="1">
            <a:off x="6781800" y="2133600"/>
            <a:ext cx="228600" cy="22860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8557" name="Object 13"/>
          <p:cNvGraphicFramePr>
            <a:graphicFrameLocks noChangeAspect="1"/>
          </p:cNvGraphicFramePr>
          <p:nvPr/>
        </p:nvGraphicFramePr>
        <p:xfrm>
          <a:off x="6184900" y="3197225"/>
          <a:ext cx="390525" cy="360363"/>
        </p:xfrm>
        <a:graphic>
          <a:graphicData uri="http://schemas.openxmlformats.org/presentationml/2006/ole">
            <mc:AlternateContent xmlns:mc="http://schemas.openxmlformats.org/markup-compatibility/2006">
              <mc:Choice xmlns:v="urn:schemas-microsoft-com:vml" Requires="v">
                <p:oleObj spid="_x0000_s9762" name="公式" r:id="rId7" imgW="95275" imgH="85764" progId="Equation.3">
                  <p:embed/>
                </p:oleObj>
              </mc:Choice>
              <mc:Fallback>
                <p:oleObj name="公式" r:id="rId7" imgW="95275" imgH="85764"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4900" y="3197225"/>
                        <a:ext cx="390525"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9" name="Line 15"/>
          <p:cNvSpPr>
            <a:spLocks noChangeShapeType="1"/>
          </p:cNvSpPr>
          <p:nvPr/>
        </p:nvSpPr>
        <p:spPr bwMode="auto">
          <a:xfrm flipH="1" flipV="1">
            <a:off x="7315200" y="2667000"/>
            <a:ext cx="304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60" name="Text Box 16"/>
          <p:cNvSpPr txBox="1">
            <a:spLocks noChangeArrowheads="1"/>
          </p:cNvSpPr>
          <p:nvPr/>
        </p:nvSpPr>
        <p:spPr bwMode="auto">
          <a:xfrm>
            <a:off x="7543800" y="2667000"/>
            <a:ext cx="762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ea typeface="楷体_GB2312"/>
              </a:rPr>
              <a:t>△</a:t>
            </a:r>
            <a:r>
              <a:rPr lang="en-US" altLang="zh-CN" sz="2800" i="1">
                <a:ea typeface="楷体_GB2312"/>
              </a:rPr>
              <a:t>S</a:t>
            </a:r>
          </a:p>
        </p:txBody>
      </p:sp>
      <p:graphicFrame>
        <p:nvGraphicFramePr>
          <p:cNvPr id="108568" name="Object 24"/>
          <p:cNvGraphicFramePr>
            <a:graphicFrameLocks noChangeAspect="1"/>
          </p:cNvGraphicFramePr>
          <p:nvPr/>
        </p:nvGraphicFramePr>
        <p:xfrm>
          <a:off x="900113" y="3138488"/>
          <a:ext cx="3249612" cy="731837"/>
        </p:xfrm>
        <a:graphic>
          <a:graphicData uri="http://schemas.openxmlformats.org/presentationml/2006/ole">
            <mc:AlternateContent xmlns:mc="http://schemas.openxmlformats.org/markup-compatibility/2006">
              <mc:Choice xmlns:v="urn:schemas-microsoft-com:vml" Requires="v">
                <p:oleObj spid="_x0000_s9763" name="公式" r:id="rId9" imgW="1286005" imgH="247624" progId="Equation.3">
                  <p:embed/>
                </p:oleObj>
              </mc:Choice>
              <mc:Fallback>
                <p:oleObj name="公式" r:id="rId9" imgW="1286005" imgH="247624"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3138488"/>
                        <a:ext cx="3249612" cy="731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0" name="Object 26"/>
          <p:cNvGraphicFramePr>
            <a:graphicFrameLocks noChangeAspect="1"/>
          </p:cNvGraphicFramePr>
          <p:nvPr/>
        </p:nvGraphicFramePr>
        <p:xfrm>
          <a:off x="2743200" y="4343400"/>
          <a:ext cx="2743200" cy="1189038"/>
        </p:xfrm>
        <a:graphic>
          <a:graphicData uri="http://schemas.openxmlformats.org/presentationml/2006/ole">
            <mc:AlternateContent xmlns:mc="http://schemas.openxmlformats.org/markup-compatibility/2006">
              <mc:Choice xmlns:v="urn:schemas-microsoft-com:vml" Requires="v">
                <p:oleObj spid="_x0000_s9764" name="公式" r:id="rId11" imgW="933445" imgH="371646" progId="Equation.3">
                  <p:embed/>
                </p:oleObj>
              </mc:Choice>
              <mc:Fallback>
                <p:oleObj name="公式" r:id="rId11" imgW="933445" imgH="371646" progId="Equation.3">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3200" y="4343400"/>
                        <a:ext cx="2743200" cy="1189038"/>
                      </a:xfrm>
                      <a:prstGeom prst="rect">
                        <a:avLst/>
                      </a:prstGeom>
                      <a:gradFill rotWithShape="1">
                        <a:gsLst>
                          <a:gs pos="0">
                            <a:schemeClr val="folHlink"/>
                          </a:gs>
                          <a:gs pos="50000">
                            <a:srgbClr val="FFFFFF"/>
                          </a:gs>
                          <a:gs pos="100000">
                            <a:schemeClr val="folHlink"/>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8576" name="Group 32"/>
          <p:cNvGrpSpPr>
            <a:grpSpLocks/>
          </p:cNvGrpSpPr>
          <p:nvPr/>
        </p:nvGrpSpPr>
        <p:grpSpPr bwMode="auto">
          <a:xfrm>
            <a:off x="304800" y="5938838"/>
            <a:ext cx="8305800" cy="690562"/>
            <a:chOff x="192" y="3741"/>
            <a:chExt cx="5232" cy="435"/>
          </a:xfrm>
        </p:grpSpPr>
        <p:sp>
          <p:nvSpPr>
            <p:cNvPr id="9235" name="Text Box 5"/>
            <p:cNvSpPr txBox="1">
              <a:spLocks noChangeArrowheads="1"/>
            </p:cNvSpPr>
            <p:nvPr/>
          </p:nvSpPr>
          <p:spPr bwMode="auto">
            <a:xfrm>
              <a:off x="192" y="3765"/>
              <a:ext cx="523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en-US" sz="2800">
                  <a:solidFill>
                    <a:srgbClr val="FF0000"/>
                  </a:solidFill>
                  <a:latin typeface="Arial" panose="020B0604020202020204" pitchFamily="34" charset="0"/>
                  <a:ea typeface="楷体_GB2312"/>
                </a:rPr>
                <a:t>导体表面上的电场强度      与电荷面密度   </a:t>
              </a:r>
              <a:r>
                <a:rPr lang="zh-CN" altLang="en-US" sz="2800">
                  <a:solidFill>
                    <a:srgbClr val="FF0000"/>
                  </a:solidFill>
                  <a:ea typeface="楷体_GB2312"/>
                </a:rPr>
                <a:t>成正比。</a:t>
              </a:r>
            </a:p>
          </p:txBody>
        </p:sp>
        <p:graphicFrame>
          <p:nvGraphicFramePr>
            <p:cNvPr id="9236" name="Object 6"/>
            <p:cNvGraphicFramePr>
              <a:graphicFrameLocks noChangeAspect="1"/>
            </p:cNvGraphicFramePr>
            <p:nvPr/>
          </p:nvGraphicFramePr>
          <p:xfrm>
            <a:off x="2468" y="3741"/>
            <a:ext cx="460" cy="435"/>
          </p:xfrm>
          <a:graphic>
            <a:graphicData uri="http://schemas.openxmlformats.org/presentationml/2006/ole">
              <mc:AlternateContent xmlns:mc="http://schemas.openxmlformats.org/markup-compatibility/2006">
                <mc:Choice xmlns:v="urn:schemas-microsoft-com:vml" Requires="v">
                  <p:oleObj spid="_x0000_s9765" name="公式" r:id="rId13" imgW="200204" imgH="180778" progId="Equation.3">
                    <p:embed/>
                  </p:oleObj>
                </mc:Choice>
                <mc:Fallback>
                  <p:oleObj name="公式" r:id="rId13" imgW="200204" imgH="180778"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68" y="3741"/>
                          <a:ext cx="460"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37" name="Object 28"/>
            <p:cNvGraphicFramePr>
              <a:graphicFrameLocks noChangeAspect="1"/>
            </p:cNvGraphicFramePr>
            <p:nvPr/>
          </p:nvGraphicFramePr>
          <p:xfrm>
            <a:off x="4192" y="3811"/>
            <a:ext cx="272" cy="251"/>
          </p:xfrm>
          <a:graphic>
            <a:graphicData uri="http://schemas.openxmlformats.org/presentationml/2006/ole">
              <mc:AlternateContent xmlns:mc="http://schemas.openxmlformats.org/markup-compatibility/2006">
                <mc:Choice xmlns:v="urn:schemas-microsoft-com:vml" Requires="v">
                  <p:oleObj spid="_x0000_s9766" name="公式" r:id="rId15" imgW="95275" imgH="85764" progId="Equation.3">
                    <p:embed/>
                  </p:oleObj>
                </mc:Choice>
                <mc:Fallback>
                  <p:oleObj name="公式" r:id="rId15" imgW="95275" imgH="85764" progId="Equation.3">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92" y="3811"/>
                          <a:ext cx="272"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8575" name="Text Box 31"/>
          <p:cNvSpPr txBox="1">
            <a:spLocks noChangeArrowheads="1"/>
          </p:cNvSpPr>
          <p:nvPr/>
        </p:nvSpPr>
        <p:spPr bwMode="auto">
          <a:xfrm>
            <a:off x="228600" y="223838"/>
            <a:ext cx="6864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 typeface="Wingdings" panose="05000000000000000000" pitchFamily="2" charset="2"/>
              <a:buChar char="§"/>
            </a:pPr>
            <a:r>
              <a:rPr lang="en-US" altLang="zh-CN" sz="2800">
                <a:solidFill>
                  <a:srgbClr val="FF0000"/>
                </a:solidFill>
                <a:ea typeface="楷体_GB2312"/>
              </a:rPr>
              <a:t> </a:t>
            </a:r>
            <a:r>
              <a:rPr lang="zh-CN" altLang="en-US" sz="2800">
                <a:ea typeface="楷体_GB2312"/>
              </a:rPr>
              <a:t>导体表面上电荷面密度与电场强度的关系</a:t>
            </a:r>
          </a:p>
        </p:txBody>
      </p:sp>
      <p:sp>
        <p:nvSpPr>
          <p:cNvPr id="108577" name="Line 33"/>
          <p:cNvSpPr>
            <a:spLocks noChangeShapeType="1"/>
          </p:cNvSpPr>
          <p:nvPr/>
        </p:nvSpPr>
        <p:spPr bwMode="auto">
          <a:xfrm>
            <a:off x="1036638" y="2698750"/>
            <a:ext cx="150495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78" name="Text Box 34"/>
          <p:cNvSpPr txBox="1">
            <a:spLocks noChangeArrowheads="1"/>
          </p:cNvSpPr>
          <p:nvPr/>
        </p:nvSpPr>
        <p:spPr bwMode="auto">
          <a:xfrm>
            <a:off x="1587500" y="2636838"/>
            <a:ext cx="838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000000"/>
                </a:solidFill>
                <a:ea typeface="楷体_GB2312"/>
              </a:rPr>
              <a:t>0</a:t>
            </a:r>
          </a:p>
        </p:txBody>
      </p:sp>
      <p:sp>
        <p:nvSpPr>
          <p:cNvPr id="108579" name="Line 35"/>
          <p:cNvSpPr>
            <a:spLocks noChangeShapeType="1"/>
          </p:cNvSpPr>
          <p:nvPr/>
        </p:nvSpPr>
        <p:spPr bwMode="auto">
          <a:xfrm flipV="1">
            <a:off x="4648200" y="2684463"/>
            <a:ext cx="1504950" cy="0"/>
          </a:xfrm>
          <a:prstGeom prst="line">
            <a:avLst/>
          </a:prstGeom>
          <a:noFill/>
          <a:ln w="57150" cmpd="thinThick">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80" name="Text Box 36"/>
          <p:cNvSpPr txBox="1">
            <a:spLocks noChangeArrowheads="1"/>
          </p:cNvSpPr>
          <p:nvPr/>
        </p:nvSpPr>
        <p:spPr bwMode="auto">
          <a:xfrm>
            <a:off x="5248275" y="2608263"/>
            <a:ext cx="685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000000"/>
                </a:solidFill>
                <a:ea typeface="楷体_GB2312"/>
              </a:rPr>
              <a:t>0</a:t>
            </a:r>
          </a:p>
        </p:txBody>
      </p:sp>
      <p:graphicFrame>
        <p:nvGraphicFramePr>
          <p:cNvPr id="108581" name="Object 37"/>
          <p:cNvGraphicFramePr>
            <a:graphicFrameLocks noChangeAspect="1"/>
          </p:cNvGraphicFramePr>
          <p:nvPr/>
        </p:nvGraphicFramePr>
        <p:xfrm>
          <a:off x="4125913" y="2952750"/>
          <a:ext cx="1133475" cy="1035050"/>
        </p:xfrm>
        <a:graphic>
          <a:graphicData uri="http://schemas.openxmlformats.org/presentationml/2006/ole">
            <mc:AlternateContent xmlns:mc="http://schemas.openxmlformats.org/markup-compatibility/2006">
              <mc:Choice xmlns:v="urn:schemas-microsoft-com:vml" Requires="v">
                <p:oleObj spid="_x0000_s9767" name="公式" r:id="rId17" imgW="409641" imgH="371646" progId="Equation.3">
                  <p:embed/>
                </p:oleObj>
              </mc:Choice>
              <mc:Fallback>
                <p:oleObj name="公式" r:id="rId17" imgW="409641" imgH="371646" progId="Equation.3">
                  <p:embed/>
                  <p:pic>
                    <p:nvPicPr>
                      <p:cNvPr id="0" name="Object 3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25913" y="2952750"/>
                        <a:ext cx="113347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567" name="Picture 351" descr="https://iknow-pic.cdn.bcebos.com/1b4c510fd9f9d72a478438efdf2a2834359bbb5b?x-bce-process%3Dimage%2Fresize%2Cm_lfit%2Cw_600%2Ch_800%2Climit_1%2Fquality%2Cq_85%2Fformat%2Cf_jpg">
            <a:hlinkClick r:id="rId19" tooltip="点击查看大图"/>
            <a:extLst>
              <a:ext uri="{FF2B5EF4-FFF2-40B4-BE49-F238E27FC236}">
                <a16:creationId xmlns:a16="http://schemas.microsoft.com/office/drawing/2014/main" id="{2436B25C-0A54-469C-937C-18AD666AC1D1}"/>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l="47879" t="30253"/>
          <a:stretch/>
        </p:blipFill>
        <p:spPr bwMode="auto">
          <a:xfrm>
            <a:off x="6846772" y="3620787"/>
            <a:ext cx="2178008" cy="19187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75"/>
                                        </p:tgtEl>
                                        <p:attrNameLst>
                                          <p:attrName>style.visibility</p:attrName>
                                        </p:attrNameLst>
                                      </p:cBhvr>
                                      <p:to>
                                        <p:strVal val="visible"/>
                                      </p:to>
                                    </p:set>
                                    <p:animEffect transition="in" filter="wipe(left)">
                                      <p:cBhvr>
                                        <p:cTn id="7" dur="500"/>
                                        <p:tgtEl>
                                          <p:spTgt spid="1085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0855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10855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0855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0855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0855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08559"/>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08560">
                                            <p:txEl>
                                              <p:pRg st="0" end="0"/>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8561"/>
                                        </p:tgtEl>
                                        <p:attrNameLst>
                                          <p:attrName>style.visibility</p:attrName>
                                        </p:attrNameLst>
                                      </p:cBhvr>
                                      <p:to>
                                        <p:strVal val="visible"/>
                                      </p:to>
                                    </p:set>
                                    <p:animEffect transition="in" filter="wipe(left)">
                                      <p:cBhvr>
                                        <p:cTn id="40" dur="500"/>
                                        <p:tgtEl>
                                          <p:spTgt spid="10856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0857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08578">
                                            <p:txEl>
                                              <p:pRg st="0" end="0"/>
                                            </p:txEl>
                                          </p:spTgt>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0857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08580">
                                            <p:txEl>
                                              <p:pRg st="0" end="0"/>
                                            </p:txEl>
                                          </p:spTgt>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08568"/>
                                        </p:tgtEl>
                                        <p:attrNameLst>
                                          <p:attrName>style.visibility</p:attrName>
                                        </p:attrNameLst>
                                      </p:cBhvr>
                                      <p:to>
                                        <p:strVal val="visible"/>
                                      </p:to>
                                    </p:set>
                                    <p:animEffect transition="in" filter="wipe(left)">
                                      <p:cBhvr>
                                        <p:cTn id="61" dur="500"/>
                                        <p:tgtEl>
                                          <p:spTgt spid="10856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08581"/>
                                        </p:tgtEl>
                                        <p:attrNameLst>
                                          <p:attrName>style.visibility</p:attrName>
                                        </p:attrNameLst>
                                      </p:cBhvr>
                                      <p:to>
                                        <p:strVal val="visible"/>
                                      </p:to>
                                    </p:set>
                                    <p:animEffect transition="in" filter="wipe(left)">
                                      <p:cBhvr>
                                        <p:cTn id="66" dur="500"/>
                                        <p:tgtEl>
                                          <p:spTgt spid="10858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108570"/>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6" presetClass="entr" presetSubtype="37" fill="hold" nodeType="clickEffect">
                                  <p:stCondLst>
                                    <p:cond delay="0"/>
                                  </p:stCondLst>
                                  <p:childTnLst>
                                    <p:set>
                                      <p:cBhvr>
                                        <p:cTn id="74" dur="1" fill="hold">
                                          <p:stCondLst>
                                            <p:cond delay="0"/>
                                          </p:stCondLst>
                                        </p:cTn>
                                        <p:tgtEl>
                                          <p:spTgt spid="108576"/>
                                        </p:tgtEl>
                                        <p:attrNameLst>
                                          <p:attrName>style.visibility</p:attrName>
                                        </p:attrNameLst>
                                      </p:cBhvr>
                                      <p:to>
                                        <p:strVal val="visible"/>
                                      </p:to>
                                    </p:set>
                                    <p:animEffect transition="in" filter="barn(outVertical)">
                                      <p:cBhvr>
                                        <p:cTn id="75" dur="500"/>
                                        <p:tgtEl>
                                          <p:spTgt spid="108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4" grpId="0" animBg="1"/>
      <p:bldP spid="108555" grpId="0" animBg="1"/>
      <p:bldP spid="108556" grpId="0" animBg="1"/>
      <p:bldP spid="108559" grpId="0" animBg="1"/>
      <p:bldP spid="108560" grpId="0" build="p" autoUpdateAnimBg="0"/>
      <p:bldP spid="108575" grpId="0"/>
      <p:bldP spid="108577" grpId="0" animBg="1"/>
      <p:bldP spid="108578" grpId="0" build="p" autoUpdateAnimBg="0"/>
      <p:bldP spid="108579" grpId="0" animBg="1"/>
      <p:bldP spid="108580"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Text Box 4"/>
          <p:cNvSpPr txBox="1">
            <a:spLocks noChangeArrowheads="1"/>
          </p:cNvSpPr>
          <p:nvPr/>
        </p:nvSpPr>
        <p:spPr bwMode="auto">
          <a:xfrm>
            <a:off x="107950" y="85725"/>
            <a:ext cx="3733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ea typeface="楷体_GB2312"/>
              </a:rPr>
              <a:t>2.</a:t>
            </a:r>
            <a:r>
              <a:rPr lang="zh-CN" altLang="en-US" sz="2800">
                <a:ea typeface="楷体_GB2312"/>
              </a:rPr>
              <a:t>带电</a:t>
            </a:r>
            <a:r>
              <a:rPr lang="zh-CN" altLang="zh-CN" sz="2800">
                <a:ea typeface="楷体_GB2312"/>
              </a:rPr>
              <a:t>导体有空腔</a:t>
            </a:r>
            <a:endParaRPr lang="zh-CN" altLang="en-US" sz="2800">
              <a:ea typeface="楷体_GB2312"/>
            </a:endParaRPr>
          </a:p>
        </p:txBody>
      </p:sp>
      <p:sp>
        <p:nvSpPr>
          <p:cNvPr id="109573" name="Text Box 5"/>
          <p:cNvSpPr txBox="1">
            <a:spLocks noChangeArrowheads="1"/>
          </p:cNvSpPr>
          <p:nvPr/>
        </p:nvSpPr>
        <p:spPr bwMode="auto">
          <a:xfrm>
            <a:off x="457200" y="677863"/>
            <a:ext cx="3394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
            </a:pPr>
            <a:r>
              <a:rPr lang="en-US" altLang="zh-CN" sz="2800">
                <a:solidFill>
                  <a:srgbClr val="FF0000"/>
                </a:solidFill>
                <a:ea typeface="楷体_GB2312"/>
              </a:rPr>
              <a:t> </a:t>
            </a:r>
            <a:r>
              <a:rPr lang="zh-CN" altLang="en-US" sz="2800">
                <a:ea typeface="楷体_GB2312"/>
              </a:rPr>
              <a:t>腔内无隔离电荷</a:t>
            </a:r>
          </a:p>
        </p:txBody>
      </p:sp>
      <p:sp>
        <p:nvSpPr>
          <p:cNvPr id="109574" name="AutoShape 6"/>
          <p:cNvSpPr>
            <a:spLocks noChangeArrowheads="1"/>
          </p:cNvSpPr>
          <p:nvPr/>
        </p:nvSpPr>
        <p:spPr bwMode="auto">
          <a:xfrm>
            <a:off x="5943600" y="404813"/>
            <a:ext cx="2362200" cy="2209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469" y="10800"/>
                </a:moveTo>
                <a:cubicBezTo>
                  <a:pt x="3469" y="14849"/>
                  <a:pt x="6751" y="18131"/>
                  <a:pt x="10800" y="18131"/>
                </a:cubicBezTo>
                <a:cubicBezTo>
                  <a:pt x="14849" y="18131"/>
                  <a:pt x="18131" y="14849"/>
                  <a:pt x="18131" y="10800"/>
                </a:cubicBezTo>
                <a:cubicBezTo>
                  <a:pt x="18131" y="6751"/>
                  <a:pt x="14849" y="3469"/>
                  <a:pt x="10800" y="3469"/>
                </a:cubicBezTo>
                <a:cubicBezTo>
                  <a:pt x="6751" y="3469"/>
                  <a:pt x="3469" y="6751"/>
                  <a:pt x="3469" y="10800"/>
                </a:cubicBezTo>
                <a:close/>
              </a:path>
            </a:pathLst>
          </a:custGeom>
          <a:solidFill>
            <a:schemeClr val="hlink"/>
          </a:solidFill>
          <a:ln w="9525">
            <a:solidFill>
              <a:schemeClr val="tx1"/>
            </a:solidFill>
            <a:round/>
            <a:headEnd/>
            <a:tailEnd/>
          </a:ln>
        </p:spPr>
        <p:txBody>
          <a:bodyPr wrap="none" anchor="ctr"/>
          <a:lstStyle/>
          <a:p>
            <a:endParaRPr lang="zh-CN" altLang="en-US"/>
          </a:p>
        </p:txBody>
      </p:sp>
      <p:sp>
        <p:nvSpPr>
          <p:cNvPr id="109575" name="Text Box 7"/>
          <p:cNvSpPr txBox="1">
            <a:spLocks noChangeArrowheads="1"/>
          </p:cNvSpPr>
          <p:nvPr/>
        </p:nvSpPr>
        <p:spPr bwMode="auto">
          <a:xfrm>
            <a:off x="715963" y="1308100"/>
            <a:ext cx="450373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990000"/>
                </a:solidFill>
                <a:latin typeface="宋体" panose="02010600030101010101" pitchFamily="2" charset="-122"/>
                <a:ea typeface="楷体_GB2312"/>
              </a:rPr>
              <a:t>①</a:t>
            </a:r>
            <a:r>
              <a:rPr lang="zh-CN" altLang="en-US" sz="2800">
                <a:solidFill>
                  <a:srgbClr val="990000"/>
                </a:solidFill>
                <a:ea typeface="楷体_GB2312"/>
              </a:rPr>
              <a:t>腔内电势 </a:t>
            </a:r>
            <a:r>
              <a:rPr lang="en-US" altLang="zh-CN" sz="2800">
                <a:solidFill>
                  <a:srgbClr val="990000"/>
                </a:solidFill>
                <a:ea typeface="楷体_GB2312"/>
              </a:rPr>
              <a:t>= </a:t>
            </a:r>
            <a:r>
              <a:rPr lang="zh-CN" altLang="en-US" sz="2800">
                <a:solidFill>
                  <a:srgbClr val="990000"/>
                </a:solidFill>
                <a:ea typeface="楷体_GB2312"/>
              </a:rPr>
              <a:t>导体内电势</a:t>
            </a:r>
          </a:p>
        </p:txBody>
      </p:sp>
      <p:sp>
        <p:nvSpPr>
          <p:cNvPr id="109583" name="Text Box 15"/>
          <p:cNvSpPr txBox="1">
            <a:spLocks noChangeArrowheads="1"/>
          </p:cNvSpPr>
          <p:nvPr/>
        </p:nvSpPr>
        <p:spPr bwMode="auto">
          <a:xfrm>
            <a:off x="660400" y="2492375"/>
            <a:ext cx="5827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latin typeface="宋体" panose="02010600030101010101" pitchFamily="2" charset="-122"/>
                <a:ea typeface="楷体_GB2312"/>
              </a:rPr>
              <a:t>③</a:t>
            </a:r>
            <a:r>
              <a:rPr lang="zh-CN" altLang="en-US" sz="2800">
                <a:solidFill>
                  <a:srgbClr val="990000"/>
                </a:solidFill>
                <a:latin typeface="Arial" panose="020B0604020202020204" pitchFamily="34" charset="0"/>
                <a:ea typeface="楷体_GB2312"/>
              </a:rPr>
              <a:t>空腔导体内表面上没有净电荷</a:t>
            </a:r>
          </a:p>
        </p:txBody>
      </p:sp>
      <p:sp>
        <p:nvSpPr>
          <p:cNvPr id="109626" name="Text Box 58"/>
          <p:cNvSpPr txBox="1">
            <a:spLocks noChangeArrowheads="1"/>
          </p:cNvSpPr>
          <p:nvPr/>
        </p:nvSpPr>
        <p:spPr bwMode="auto">
          <a:xfrm>
            <a:off x="338138" y="3162300"/>
            <a:ext cx="1524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证明：</a:t>
            </a:r>
          </a:p>
        </p:txBody>
      </p:sp>
      <p:sp>
        <p:nvSpPr>
          <p:cNvPr id="109631" name="Rectangle 63"/>
          <p:cNvSpPr>
            <a:spLocks noChangeArrowheads="1"/>
          </p:cNvSpPr>
          <p:nvPr/>
        </p:nvSpPr>
        <p:spPr bwMode="auto">
          <a:xfrm>
            <a:off x="1965325" y="3141663"/>
            <a:ext cx="1093788" cy="56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FontTx/>
              <a:buNone/>
            </a:pPr>
            <a:r>
              <a:rPr lang="zh-CN" altLang="en-US" sz="2800">
                <a:solidFill>
                  <a:srgbClr val="000000"/>
                </a:solidFill>
                <a:ea typeface="楷体_GB2312"/>
              </a:rPr>
              <a:t>设</a:t>
            </a:r>
          </a:p>
        </p:txBody>
      </p:sp>
      <p:graphicFrame>
        <p:nvGraphicFramePr>
          <p:cNvPr id="109632" name="Object 64"/>
          <p:cNvGraphicFramePr>
            <a:graphicFrameLocks noChangeAspect="1"/>
          </p:cNvGraphicFramePr>
          <p:nvPr/>
        </p:nvGraphicFramePr>
        <p:xfrm>
          <a:off x="2555875" y="3178175"/>
          <a:ext cx="1800225" cy="654050"/>
        </p:xfrm>
        <a:graphic>
          <a:graphicData uri="http://schemas.openxmlformats.org/presentationml/2006/ole">
            <mc:AlternateContent xmlns:mc="http://schemas.openxmlformats.org/markup-compatibility/2006">
              <mc:Choice xmlns:v="urn:schemas-microsoft-com:vml" Requires="v">
                <p:oleObj spid="_x0000_s10650" name="公式" r:id="rId3" imgW="600192" imgH="180778" progId="Equation.3">
                  <p:embed/>
                </p:oleObj>
              </mc:Choice>
              <mc:Fallback>
                <p:oleObj name="公式" r:id="rId3" imgW="600192" imgH="180778" progId="Equation.3">
                  <p:embed/>
                  <p:pic>
                    <p:nvPicPr>
                      <p:cNvPr id="0" name="Object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3178175"/>
                        <a:ext cx="1800225"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34" name="Rectangle 66"/>
          <p:cNvSpPr>
            <a:spLocks noChangeArrowheads="1"/>
          </p:cNvSpPr>
          <p:nvPr/>
        </p:nvSpPr>
        <p:spPr bwMode="auto">
          <a:xfrm>
            <a:off x="1547813" y="3162300"/>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ea typeface="楷体_GB2312"/>
              </a:rPr>
              <a:t>①</a:t>
            </a:r>
          </a:p>
        </p:txBody>
      </p:sp>
      <p:sp>
        <p:nvSpPr>
          <p:cNvPr id="109635" name="Text Box 67"/>
          <p:cNvSpPr txBox="1">
            <a:spLocks noChangeArrowheads="1"/>
          </p:cNvSpPr>
          <p:nvPr/>
        </p:nvSpPr>
        <p:spPr bwMode="auto">
          <a:xfrm>
            <a:off x="1719263" y="3860800"/>
            <a:ext cx="7605712" cy="103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FontTx/>
              <a:buNone/>
            </a:pPr>
            <a:r>
              <a:rPr lang="en-US" altLang="zh-CN" sz="2800">
                <a:solidFill>
                  <a:srgbClr val="000000"/>
                </a:solidFill>
                <a:ea typeface="楷体_GB2312"/>
              </a:rPr>
              <a:t>   ∵  </a:t>
            </a:r>
            <a:r>
              <a:rPr lang="zh-CN" altLang="en-US" sz="2800">
                <a:solidFill>
                  <a:srgbClr val="000000"/>
                </a:solidFill>
                <a:ea typeface="楷体_GB2312"/>
              </a:rPr>
              <a:t>电场的方向是电势降落的方向，说明</a:t>
            </a:r>
            <a:r>
              <a:rPr lang="zh-CN" altLang="en-US" sz="2800">
                <a:solidFill>
                  <a:srgbClr val="D60093"/>
                </a:solidFill>
                <a:ea typeface="楷体_GB2312"/>
              </a:rPr>
              <a:t>腔</a:t>
            </a:r>
          </a:p>
          <a:p>
            <a:pPr eaLnBrk="1" hangingPunct="1">
              <a:lnSpc>
                <a:spcPct val="110000"/>
              </a:lnSpc>
              <a:spcBef>
                <a:spcPct val="0"/>
              </a:spcBef>
              <a:buFontTx/>
              <a:buNone/>
            </a:pPr>
            <a:r>
              <a:rPr lang="zh-CN" altLang="en-US" sz="2800">
                <a:solidFill>
                  <a:srgbClr val="D60093"/>
                </a:solidFill>
                <a:ea typeface="楷体_GB2312"/>
              </a:rPr>
              <a:t>         内有正电荷</a:t>
            </a:r>
            <a:r>
              <a:rPr lang="zh-CN" altLang="en-US" sz="2800">
                <a:solidFill>
                  <a:srgbClr val="000000"/>
                </a:solidFill>
                <a:ea typeface="楷体_GB2312"/>
              </a:rPr>
              <a:t>，但标题条件是腔内无电荷。</a:t>
            </a:r>
          </a:p>
        </p:txBody>
      </p:sp>
      <p:graphicFrame>
        <p:nvGraphicFramePr>
          <p:cNvPr id="109636" name="Object 68"/>
          <p:cNvGraphicFramePr>
            <a:graphicFrameLocks noChangeAspect="1"/>
          </p:cNvGraphicFramePr>
          <p:nvPr/>
        </p:nvGraphicFramePr>
        <p:xfrm>
          <a:off x="2124075" y="4918075"/>
          <a:ext cx="2662238" cy="688975"/>
        </p:xfrm>
        <a:graphic>
          <a:graphicData uri="http://schemas.openxmlformats.org/presentationml/2006/ole">
            <mc:AlternateContent xmlns:mc="http://schemas.openxmlformats.org/markup-compatibility/2006">
              <mc:Choice xmlns:v="urn:schemas-microsoft-com:vml" Requires="v">
                <p:oleObj spid="_x0000_s10651" name="公式" r:id="rId5" imgW="866710" imgH="180778" progId="Equation.3">
                  <p:embed/>
                </p:oleObj>
              </mc:Choice>
              <mc:Fallback>
                <p:oleObj name="公式" r:id="rId5" imgW="866710" imgH="180778" progId="Equation.3">
                  <p:embed/>
                  <p:pic>
                    <p:nvPicPr>
                      <p:cNvPr id="0" name="Object 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4918075"/>
                        <a:ext cx="2662238"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37" name="Text Box 69"/>
          <p:cNvSpPr txBox="1">
            <a:spLocks noChangeArrowheads="1"/>
          </p:cNvSpPr>
          <p:nvPr/>
        </p:nvSpPr>
        <p:spPr bwMode="auto">
          <a:xfrm>
            <a:off x="2051050" y="5613400"/>
            <a:ext cx="136842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同理</a:t>
            </a:r>
          </a:p>
        </p:txBody>
      </p:sp>
      <p:graphicFrame>
        <p:nvGraphicFramePr>
          <p:cNvPr id="109638" name="Object 70"/>
          <p:cNvGraphicFramePr>
            <a:graphicFrameLocks noChangeAspect="1"/>
          </p:cNvGraphicFramePr>
          <p:nvPr/>
        </p:nvGraphicFramePr>
        <p:xfrm>
          <a:off x="2051050" y="6165850"/>
          <a:ext cx="2714625" cy="730250"/>
        </p:xfrm>
        <a:graphic>
          <a:graphicData uri="http://schemas.openxmlformats.org/presentationml/2006/ole">
            <mc:AlternateContent xmlns:mc="http://schemas.openxmlformats.org/markup-compatibility/2006">
              <mc:Choice xmlns:v="urn:schemas-microsoft-com:vml" Requires="v">
                <p:oleObj spid="_x0000_s10652" name="公式" r:id="rId7" imgW="828516" imgH="180778" progId="Equation.3">
                  <p:embed/>
                </p:oleObj>
              </mc:Choice>
              <mc:Fallback>
                <p:oleObj name="公式" r:id="rId7" imgW="828516" imgH="180778" progId="Equation.3">
                  <p:embed/>
                  <p:pic>
                    <p:nvPicPr>
                      <p:cNvPr id="0" name="Object 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6165850"/>
                        <a:ext cx="2714625"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639" name="Object 71"/>
          <p:cNvGraphicFramePr>
            <a:graphicFrameLocks noChangeAspect="1"/>
          </p:cNvGraphicFramePr>
          <p:nvPr/>
        </p:nvGraphicFramePr>
        <p:xfrm>
          <a:off x="3130550" y="5610225"/>
          <a:ext cx="1873250" cy="679450"/>
        </p:xfrm>
        <a:graphic>
          <a:graphicData uri="http://schemas.openxmlformats.org/presentationml/2006/ole">
            <mc:AlternateContent xmlns:mc="http://schemas.openxmlformats.org/markup-compatibility/2006">
              <mc:Choice xmlns:v="urn:schemas-microsoft-com:vml" Requires="v">
                <p:oleObj spid="_x0000_s10653" name="公式" r:id="rId9" imgW="600192" imgH="180778" progId="Equation.3">
                  <p:embed/>
                </p:oleObj>
              </mc:Choice>
              <mc:Fallback>
                <p:oleObj name="公式" r:id="rId9" imgW="600192" imgH="180778" progId="Equation.3">
                  <p:embed/>
                  <p:pic>
                    <p:nvPicPr>
                      <p:cNvPr id="0" name="Object 7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0550" y="5610225"/>
                        <a:ext cx="187325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642" name="Group 74"/>
          <p:cNvGrpSpPr>
            <a:grpSpLocks/>
          </p:cNvGrpSpPr>
          <p:nvPr/>
        </p:nvGrpSpPr>
        <p:grpSpPr bwMode="auto">
          <a:xfrm>
            <a:off x="662623" y="1811337"/>
            <a:ext cx="3311525" cy="681038"/>
            <a:chOff x="431" y="1158"/>
            <a:chExt cx="2086" cy="429"/>
          </a:xfrm>
        </p:grpSpPr>
        <p:sp>
          <p:nvSpPr>
            <p:cNvPr id="10258" name="Text Box 13"/>
            <p:cNvSpPr txBox="1">
              <a:spLocks noChangeArrowheads="1"/>
            </p:cNvSpPr>
            <p:nvPr/>
          </p:nvSpPr>
          <p:spPr bwMode="auto">
            <a:xfrm>
              <a:off x="431" y="1180"/>
              <a:ext cx="4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latin typeface="宋体" panose="02010600030101010101" pitchFamily="2" charset="-122"/>
                  <a:ea typeface="楷体_GB2312"/>
                </a:rPr>
                <a:t>②</a:t>
              </a:r>
              <a:endParaRPr lang="en-US" altLang="zh-CN" sz="2800">
                <a:solidFill>
                  <a:srgbClr val="990000"/>
                </a:solidFill>
                <a:latin typeface="Arial" panose="020B0604020202020204" pitchFamily="34" charset="0"/>
                <a:ea typeface="楷体_GB2312"/>
              </a:endParaRPr>
            </a:p>
          </p:txBody>
        </p:sp>
        <p:graphicFrame>
          <p:nvGraphicFramePr>
            <p:cNvPr id="10259" name="Object 73"/>
            <p:cNvGraphicFramePr>
              <a:graphicFrameLocks noChangeAspect="1"/>
            </p:cNvGraphicFramePr>
            <p:nvPr/>
          </p:nvGraphicFramePr>
          <p:xfrm>
            <a:off x="685" y="1158"/>
            <a:ext cx="1832" cy="429"/>
          </p:xfrm>
          <a:graphic>
            <a:graphicData uri="http://schemas.openxmlformats.org/presentationml/2006/ole">
              <mc:AlternateContent xmlns:mc="http://schemas.openxmlformats.org/markup-compatibility/2006">
                <mc:Choice xmlns:v="urn:schemas-microsoft-com:vml" Requires="v">
                  <p:oleObj spid="_x0000_s10654" name="公式" r:id="rId11" imgW="1076148" imgH="209366" progId="Equation.3">
                    <p:embed/>
                  </p:oleObj>
                </mc:Choice>
                <mc:Fallback>
                  <p:oleObj name="公式" r:id="rId11" imgW="1076148" imgH="209366" progId="Equation.3">
                    <p:embed/>
                    <p:pic>
                      <p:nvPicPr>
                        <p:cNvPr id="0" name="Object 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 y="1158"/>
                          <a:ext cx="1832" cy="4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9643" name="Object 75"/>
          <p:cNvGraphicFramePr>
            <a:graphicFrameLocks noChangeAspect="1"/>
          </p:cNvGraphicFramePr>
          <p:nvPr/>
        </p:nvGraphicFramePr>
        <p:xfrm>
          <a:off x="5699125" y="2520950"/>
          <a:ext cx="1673225" cy="595313"/>
        </p:xfrm>
        <a:graphic>
          <a:graphicData uri="http://schemas.openxmlformats.org/presentationml/2006/ole">
            <mc:AlternateContent xmlns:mc="http://schemas.openxmlformats.org/markup-compatibility/2006">
              <mc:Choice xmlns:v="urn:schemas-microsoft-com:vml" Requires="v">
                <p:oleObj spid="_x0000_s10655" name="公式" r:id="rId13" imgW="619079" imgH="180778" progId="Equation.3">
                  <p:embed/>
                </p:oleObj>
              </mc:Choice>
              <mc:Fallback>
                <p:oleObj name="公式" r:id="rId13" imgW="619079" imgH="180778" progId="Equation.3">
                  <p:embed/>
                  <p:pic>
                    <p:nvPicPr>
                      <p:cNvPr id="0" name="Object 7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99125" y="2520950"/>
                        <a:ext cx="1673225"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animEffect transition="in" filter="wipe(left)">
                                      <p:cBhvr>
                                        <p:cTn id="7" dur="500"/>
                                        <p:tgtEl>
                                          <p:spTgt spid="1095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573">
                                            <p:txEl>
                                              <p:pRg st="0" end="0"/>
                                            </p:txEl>
                                          </p:spTgt>
                                        </p:tgtEl>
                                        <p:attrNameLst>
                                          <p:attrName>style.visibility</p:attrName>
                                        </p:attrNameLst>
                                      </p:cBhvr>
                                      <p:to>
                                        <p:strVal val="visible"/>
                                      </p:to>
                                    </p:set>
                                    <p:animEffect transition="in" filter="wipe(left)">
                                      <p:cBhvr>
                                        <p:cTn id="12" dur="500"/>
                                        <p:tgtEl>
                                          <p:spTgt spid="10957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957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9575"/>
                                        </p:tgtEl>
                                        <p:attrNameLst>
                                          <p:attrName>style.visibility</p:attrName>
                                        </p:attrNameLst>
                                      </p:cBhvr>
                                      <p:to>
                                        <p:strVal val="visible"/>
                                      </p:to>
                                    </p:set>
                                    <p:animEffect transition="in" filter="wipe(left)">
                                      <p:cBhvr>
                                        <p:cTn id="21" dur="500"/>
                                        <p:tgtEl>
                                          <p:spTgt spid="10957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09642"/>
                                        </p:tgtEl>
                                        <p:attrNameLst>
                                          <p:attrName>style.visibility</p:attrName>
                                        </p:attrNameLst>
                                      </p:cBhvr>
                                      <p:to>
                                        <p:strVal val="visible"/>
                                      </p:to>
                                    </p:set>
                                    <p:animEffect transition="in" filter="wipe(left)">
                                      <p:cBhvr>
                                        <p:cTn id="26" dur="500"/>
                                        <p:tgtEl>
                                          <p:spTgt spid="10964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9583"/>
                                        </p:tgtEl>
                                        <p:attrNameLst>
                                          <p:attrName>style.visibility</p:attrName>
                                        </p:attrNameLst>
                                      </p:cBhvr>
                                      <p:to>
                                        <p:strVal val="visible"/>
                                      </p:to>
                                    </p:set>
                                    <p:animEffect transition="in" filter="wipe(left)">
                                      <p:cBhvr>
                                        <p:cTn id="31" dur="500"/>
                                        <p:tgtEl>
                                          <p:spTgt spid="10958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09643"/>
                                        </p:tgtEl>
                                        <p:attrNameLst>
                                          <p:attrName>style.visibility</p:attrName>
                                        </p:attrNameLst>
                                      </p:cBhvr>
                                      <p:to>
                                        <p:strVal val="visible"/>
                                      </p:to>
                                    </p:set>
                                    <p:animEffect transition="in" filter="wipe(left)">
                                      <p:cBhvr>
                                        <p:cTn id="36" dur="500"/>
                                        <p:tgtEl>
                                          <p:spTgt spid="1096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9626">
                                            <p:txEl>
                                              <p:pRg st="0" end="0"/>
                                            </p:txEl>
                                          </p:spTgt>
                                        </p:tgtEl>
                                        <p:attrNameLst>
                                          <p:attrName>style.visibility</p:attrName>
                                        </p:attrNameLst>
                                      </p:cBhvr>
                                      <p:to>
                                        <p:strVal val="visible"/>
                                      </p:to>
                                    </p:set>
                                    <p:animEffect transition="in" filter="wipe(left)">
                                      <p:cBhvr>
                                        <p:cTn id="41" dur="500"/>
                                        <p:tgtEl>
                                          <p:spTgt spid="109626">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09634"/>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9631">
                                            <p:txEl>
                                              <p:pRg st="0" end="0"/>
                                            </p:txEl>
                                          </p:spTgt>
                                        </p:tgtEl>
                                        <p:attrNameLst>
                                          <p:attrName>style.visibility</p:attrName>
                                        </p:attrNameLst>
                                      </p:cBhvr>
                                      <p:to>
                                        <p:strVal val="visible"/>
                                      </p:to>
                                    </p:set>
                                    <p:animEffect transition="in" filter="wipe(left)">
                                      <p:cBhvr>
                                        <p:cTn id="50" dur="500"/>
                                        <p:tgtEl>
                                          <p:spTgt spid="109631">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10963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9635">
                                            <p:txEl>
                                              <p:pRg st="0" end="0"/>
                                            </p:txEl>
                                          </p:spTgt>
                                        </p:tgtEl>
                                        <p:attrNameLst>
                                          <p:attrName>style.visibility</p:attrName>
                                        </p:attrNameLst>
                                      </p:cBhvr>
                                      <p:to>
                                        <p:strVal val="visible"/>
                                      </p:to>
                                    </p:set>
                                    <p:animEffect transition="in" filter="wipe(left)">
                                      <p:cBhvr>
                                        <p:cTn id="59" dur="500"/>
                                        <p:tgtEl>
                                          <p:spTgt spid="109635">
                                            <p:txEl>
                                              <p:pRg st="0" end="0"/>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09635">
                                            <p:txEl>
                                              <p:pRg st="1" end="1"/>
                                            </p:txEl>
                                          </p:spTgt>
                                        </p:tgtEl>
                                        <p:attrNameLst>
                                          <p:attrName>style.visibility</p:attrName>
                                        </p:attrNameLst>
                                      </p:cBhvr>
                                      <p:to>
                                        <p:strVal val="visible"/>
                                      </p:to>
                                    </p:set>
                                    <p:animEffect transition="in" filter="wipe(left)">
                                      <p:cBhvr>
                                        <p:cTn id="64" dur="500"/>
                                        <p:tgtEl>
                                          <p:spTgt spid="109635">
                                            <p:txEl>
                                              <p:pRg st="1" end="1"/>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109636"/>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09637">
                                            <p:txEl>
                                              <p:pRg st="0" end="0"/>
                                            </p:txEl>
                                          </p:spTgt>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09639"/>
                                        </p:tgtEl>
                                        <p:attrNameLst>
                                          <p:attrName>style.visibility</p:attrName>
                                        </p:attrNameLst>
                                      </p:cBhvr>
                                      <p:to>
                                        <p:strVal val="visible"/>
                                      </p:to>
                                    </p:set>
                                    <p:animEffect transition="in" filter="wipe(left)">
                                      <p:cBhvr>
                                        <p:cTn id="77" dur="500"/>
                                        <p:tgtEl>
                                          <p:spTgt spid="10963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09638"/>
                                        </p:tgtEl>
                                        <p:attrNameLst>
                                          <p:attrName>style.visibility</p:attrName>
                                        </p:attrNameLst>
                                      </p:cBhvr>
                                      <p:to>
                                        <p:strVal val="visible"/>
                                      </p:to>
                                    </p:set>
                                    <p:animEffect transition="in" filter="wipe(left)">
                                      <p:cBhvr>
                                        <p:cTn id="82" dur="500"/>
                                        <p:tgtEl>
                                          <p:spTgt spid="109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build="p" autoUpdateAnimBg="0"/>
      <p:bldP spid="109573" grpId="0" build="p" autoUpdateAnimBg="0"/>
      <p:bldP spid="109574" grpId="0" animBg="1"/>
      <p:bldP spid="109575" grpId="0"/>
      <p:bldP spid="109583" grpId="0"/>
      <p:bldP spid="109626" grpId="0" build="p" autoUpdateAnimBg="0"/>
      <p:bldP spid="109631" grpId="0" build="p" autoUpdateAnimBg="0"/>
      <p:bldP spid="109634" grpId="0"/>
      <p:bldP spid="109635" grpId="0" build="p" autoUpdateAnimBg="0"/>
      <p:bldP spid="109637"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49" name="Text Box 53"/>
          <p:cNvSpPr txBox="1">
            <a:spLocks noChangeArrowheads="1"/>
          </p:cNvSpPr>
          <p:nvPr/>
        </p:nvSpPr>
        <p:spPr bwMode="auto">
          <a:xfrm>
            <a:off x="6950075" y="4941888"/>
            <a:ext cx="533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D60093"/>
                </a:solidFill>
                <a:ea typeface="楷体_GB2312"/>
              </a:rPr>
              <a:t>2</a:t>
            </a:r>
          </a:p>
        </p:txBody>
      </p:sp>
      <p:graphicFrame>
        <p:nvGraphicFramePr>
          <p:cNvPr id="157701" name="Object 5"/>
          <p:cNvGraphicFramePr>
            <a:graphicFrameLocks noChangeAspect="1"/>
          </p:cNvGraphicFramePr>
          <p:nvPr>
            <p:extLst>
              <p:ext uri="{D42A27DB-BD31-4B8C-83A1-F6EECF244321}">
                <p14:modId xmlns:p14="http://schemas.microsoft.com/office/powerpoint/2010/main" val="1752127144"/>
              </p:ext>
            </p:extLst>
          </p:nvPr>
        </p:nvGraphicFramePr>
        <p:xfrm>
          <a:off x="1565275" y="323849"/>
          <a:ext cx="2665413" cy="1038225"/>
        </p:xfrm>
        <a:graphic>
          <a:graphicData uri="http://schemas.openxmlformats.org/presentationml/2006/ole">
            <mc:AlternateContent xmlns:mc="http://schemas.openxmlformats.org/markup-compatibility/2006">
              <mc:Choice xmlns:v="urn:schemas-microsoft-com:vml" Requires="v">
                <p:oleObj spid="_x0000_s12051" name="公式" r:id="rId3" imgW="980873" imgH="352307" progId="Equation.3">
                  <p:embed/>
                </p:oleObj>
              </mc:Choice>
              <mc:Fallback>
                <p:oleObj name="公式" r:id="rId3" imgW="980873" imgH="35230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275" y="323849"/>
                        <a:ext cx="2665413"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3" name="Object 7"/>
          <p:cNvGraphicFramePr>
            <a:graphicFrameLocks noChangeAspect="1"/>
          </p:cNvGraphicFramePr>
          <p:nvPr>
            <p:extLst>
              <p:ext uri="{D42A27DB-BD31-4B8C-83A1-F6EECF244321}">
                <p14:modId xmlns:p14="http://schemas.microsoft.com/office/powerpoint/2010/main" val="2082460896"/>
              </p:ext>
            </p:extLst>
          </p:nvPr>
        </p:nvGraphicFramePr>
        <p:xfrm>
          <a:off x="1565275" y="2551112"/>
          <a:ext cx="3078163" cy="1222375"/>
        </p:xfrm>
        <a:graphic>
          <a:graphicData uri="http://schemas.openxmlformats.org/presentationml/2006/ole">
            <mc:AlternateContent xmlns:mc="http://schemas.openxmlformats.org/markup-compatibility/2006">
              <mc:Choice xmlns:v="urn:schemas-microsoft-com:vml" Requires="v">
                <p:oleObj spid="_x0000_s12052" name="公式" r:id="rId5" imgW="1095455" imgH="400234" progId="Equation.3">
                  <p:embed/>
                </p:oleObj>
              </mc:Choice>
              <mc:Fallback>
                <p:oleObj name="公式" r:id="rId5" imgW="1095455" imgH="400234"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5275" y="2551112"/>
                        <a:ext cx="3078163"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4" name="Object 8"/>
          <p:cNvGraphicFramePr>
            <a:graphicFrameLocks noChangeAspect="1"/>
          </p:cNvGraphicFramePr>
          <p:nvPr>
            <p:extLst>
              <p:ext uri="{D42A27DB-BD31-4B8C-83A1-F6EECF244321}">
                <p14:modId xmlns:p14="http://schemas.microsoft.com/office/powerpoint/2010/main" val="3611704364"/>
              </p:ext>
            </p:extLst>
          </p:nvPr>
        </p:nvGraphicFramePr>
        <p:xfrm>
          <a:off x="547371" y="3542029"/>
          <a:ext cx="2736850" cy="688975"/>
        </p:xfrm>
        <a:graphic>
          <a:graphicData uri="http://schemas.openxmlformats.org/presentationml/2006/ole">
            <mc:AlternateContent xmlns:mc="http://schemas.openxmlformats.org/markup-compatibility/2006">
              <mc:Choice xmlns:v="urn:schemas-microsoft-com:vml" Requires="v">
                <p:oleObj spid="_x0000_s12053" name="公式" r:id="rId7" imgW="895251" imgH="180778" progId="Equation.3">
                  <p:embed/>
                </p:oleObj>
              </mc:Choice>
              <mc:Fallback>
                <p:oleObj name="公式" r:id="rId7" imgW="895251" imgH="180778"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7371" y="3542029"/>
                        <a:ext cx="273685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05" name="Object 9"/>
          <p:cNvGraphicFramePr>
            <a:graphicFrameLocks noChangeAspect="1"/>
          </p:cNvGraphicFramePr>
          <p:nvPr>
            <p:extLst>
              <p:ext uri="{D42A27DB-BD31-4B8C-83A1-F6EECF244321}">
                <p14:modId xmlns:p14="http://schemas.microsoft.com/office/powerpoint/2010/main" val="4085683715"/>
              </p:ext>
            </p:extLst>
          </p:nvPr>
        </p:nvGraphicFramePr>
        <p:xfrm>
          <a:off x="1699896" y="1246981"/>
          <a:ext cx="3989388" cy="706437"/>
        </p:xfrm>
        <a:graphic>
          <a:graphicData uri="http://schemas.openxmlformats.org/presentationml/2006/ole">
            <mc:AlternateContent xmlns:mc="http://schemas.openxmlformats.org/markup-compatibility/2006">
              <mc:Choice xmlns:v="urn:schemas-microsoft-com:vml" Requires="v">
                <p:oleObj spid="_x0000_s12054" name="公式" r:id="rId9" imgW="1457249" imgH="209366" progId="Equation.3">
                  <p:embed/>
                </p:oleObj>
              </mc:Choice>
              <mc:Fallback>
                <p:oleObj name="公式" r:id="rId9" imgW="1457249" imgH="209366"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9896" y="1246981"/>
                        <a:ext cx="3989388" cy="70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7707" name="Text Box 11"/>
          <p:cNvSpPr txBox="1">
            <a:spLocks noChangeArrowheads="1"/>
          </p:cNvSpPr>
          <p:nvPr/>
        </p:nvSpPr>
        <p:spPr bwMode="auto">
          <a:xfrm>
            <a:off x="7597775" y="4143375"/>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08" name="Text Box 12"/>
          <p:cNvSpPr txBox="1">
            <a:spLocks noChangeArrowheads="1"/>
          </p:cNvSpPr>
          <p:nvPr/>
        </p:nvSpPr>
        <p:spPr bwMode="auto">
          <a:xfrm>
            <a:off x="501650" y="4203700"/>
            <a:ext cx="3124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
            </a:pPr>
            <a:r>
              <a:rPr lang="en-US" altLang="zh-CN" sz="2800">
                <a:solidFill>
                  <a:srgbClr val="FF0000"/>
                </a:solidFill>
                <a:ea typeface="楷体_GB2312"/>
              </a:rPr>
              <a:t> </a:t>
            </a:r>
            <a:r>
              <a:rPr lang="zh-CN" altLang="en-US" sz="2800">
                <a:ea typeface="楷体_GB2312"/>
              </a:rPr>
              <a:t>腔内有隔离电荷</a:t>
            </a:r>
            <a:endParaRPr lang="zh-CN" altLang="en-US" i="1">
              <a:ea typeface="楷体_GB2312"/>
            </a:endParaRPr>
          </a:p>
        </p:txBody>
      </p:sp>
      <p:sp>
        <p:nvSpPr>
          <p:cNvPr id="157709" name="AutoShape 13"/>
          <p:cNvSpPr>
            <a:spLocks noChangeArrowheads="1"/>
          </p:cNvSpPr>
          <p:nvPr/>
        </p:nvSpPr>
        <p:spPr bwMode="auto">
          <a:xfrm>
            <a:off x="5921375" y="3533775"/>
            <a:ext cx="2438400" cy="2286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837" y="10800"/>
                </a:moveTo>
                <a:cubicBezTo>
                  <a:pt x="3837" y="14646"/>
                  <a:pt x="6954" y="17763"/>
                  <a:pt x="10800" y="17763"/>
                </a:cubicBezTo>
                <a:cubicBezTo>
                  <a:pt x="14646" y="17763"/>
                  <a:pt x="17763" y="14646"/>
                  <a:pt x="17763" y="10800"/>
                </a:cubicBezTo>
                <a:cubicBezTo>
                  <a:pt x="17763" y="6954"/>
                  <a:pt x="14646" y="3837"/>
                  <a:pt x="10800" y="3837"/>
                </a:cubicBezTo>
                <a:cubicBezTo>
                  <a:pt x="6954" y="3837"/>
                  <a:pt x="3837" y="6954"/>
                  <a:pt x="3837" y="10800"/>
                </a:cubicBezTo>
                <a:close/>
              </a:path>
            </a:pathLst>
          </a:custGeom>
          <a:solidFill>
            <a:schemeClr val="hlink"/>
          </a:solidFill>
          <a:ln w="9525">
            <a:solidFill>
              <a:schemeClr val="tx1"/>
            </a:solidFill>
            <a:round/>
            <a:headEnd/>
            <a:tailEnd/>
          </a:ln>
        </p:spPr>
        <p:txBody>
          <a:bodyPr wrap="none" anchor="ctr"/>
          <a:lstStyle/>
          <a:p>
            <a:endParaRPr lang="zh-CN" altLang="en-US"/>
          </a:p>
        </p:txBody>
      </p:sp>
      <p:sp>
        <p:nvSpPr>
          <p:cNvPr id="157710" name="Text Box 14"/>
          <p:cNvSpPr txBox="1">
            <a:spLocks noChangeArrowheads="1"/>
          </p:cNvSpPr>
          <p:nvPr/>
        </p:nvSpPr>
        <p:spPr bwMode="auto">
          <a:xfrm>
            <a:off x="7521575" y="4371975"/>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i="1">
                <a:solidFill>
                  <a:schemeClr val="tx2"/>
                </a:solidFill>
                <a:ea typeface="楷体_GB2312"/>
              </a:rPr>
              <a:t>q</a:t>
            </a:r>
          </a:p>
        </p:txBody>
      </p:sp>
      <p:grpSp>
        <p:nvGrpSpPr>
          <p:cNvPr id="157712" name="Group 16"/>
          <p:cNvGrpSpPr>
            <a:grpSpLocks/>
          </p:cNvGrpSpPr>
          <p:nvPr/>
        </p:nvGrpSpPr>
        <p:grpSpPr bwMode="auto">
          <a:xfrm>
            <a:off x="7127875" y="4498975"/>
            <a:ext cx="457200" cy="396875"/>
            <a:chOff x="4504" y="3056"/>
            <a:chExt cx="288" cy="250"/>
          </a:xfrm>
        </p:grpSpPr>
        <p:sp>
          <p:nvSpPr>
            <p:cNvPr id="11313" name="Oval 17"/>
            <p:cNvSpPr>
              <a:spLocks noChangeArrowheads="1"/>
            </p:cNvSpPr>
            <p:nvPr/>
          </p:nvSpPr>
          <p:spPr bwMode="auto">
            <a:xfrm>
              <a:off x="4560" y="3120"/>
              <a:ext cx="144" cy="144"/>
            </a:xfrm>
            <a:prstGeom prst="ellipse">
              <a:avLst/>
            </a:prstGeom>
            <a:solidFill>
              <a:srgbClr val="0066FF"/>
            </a:solidFill>
            <a:ln w="28575">
              <a:solidFill>
                <a:srgbClr val="CC66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1314" name="Text Box 18"/>
            <p:cNvSpPr txBox="1">
              <a:spLocks noChangeArrowheads="1"/>
            </p:cNvSpPr>
            <p:nvPr/>
          </p:nvSpPr>
          <p:spPr bwMode="auto">
            <a:xfrm>
              <a:off x="4504" y="3056"/>
              <a:ext cx="288"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grpSp>
      <p:sp>
        <p:nvSpPr>
          <p:cNvPr id="157715" name="Text Box 19"/>
          <p:cNvSpPr txBox="1">
            <a:spLocks noChangeArrowheads="1"/>
          </p:cNvSpPr>
          <p:nvPr/>
        </p:nvSpPr>
        <p:spPr bwMode="auto">
          <a:xfrm>
            <a:off x="6454775" y="4965700"/>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16" name="Text Box 20"/>
          <p:cNvSpPr txBox="1">
            <a:spLocks noChangeArrowheads="1"/>
          </p:cNvSpPr>
          <p:nvPr/>
        </p:nvSpPr>
        <p:spPr bwMode="auto">
          <a:xfrm>
            <a:off x="6911975" y="5133975"/>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17" name="Text Box 21"/>
          <p:cNvSpPr txBox="1">
            <a:spLocks noChangeArrowheads="1"/>
          </p:cNvSpPr>
          <p:nvPr/>
        </p:nvSpPr>
        <p:spPr bwMode="auto">
          <a:xfrm>
            <a:off x="7445375" y="4829175"/>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18" name="Text Box 22"/>
          <p:cNvSpPr txBox="1">
            <a:spLocks noChangeArrowheads="1"/>
          </p:cNvSpPr>
          <p:nvPr/>
        </p:nvSpPr>
        <p:spPr bwMode="auto">
          <a:xfrm>
            <a:off x="6378575" y="4127500"/>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19" name="Text Box 23"/>
          <p:cNvSpPr txBox="1">
            <a:spLocks noChangeArrowheads="1"/>
          </p:cNvSpPr>
          <p:nvPr/>
        </p:nvSpPr>
        <p:spPr bwMode="auto">
          <a:xfrm>
            <a:off x="7064375" y="3822700"/>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0" name="Text Box 24"/>
          <p:cNvSpPr txBox="1">
            <a:spLocks noChangeArrowheads="1"/>
          </p:cNvSpPr>
          <p:nvPr/>
        </p:nvSpPr>
        <p:spPr bwMode="auto">
          <a:xfrm>
            <a:off x="5845175" y="5210175"/>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1" name="Text Box 25"/>
          <p:cNvSpPr txBox="1">
            <a:spLocks noChangeArrowheads="1"/>
          </p:cNvSpPr>
          <p:nvPr/>
        </p:nvSpPr>
        <p:spPr bwMode="auto">
          <a:xfrm>
            <a:off x="7064375" y="5743575"/>
            <a:ext cx="6096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2" name="Text Box 26"/>
          <p:cNvSpPr txBox="1">
            <a:spLocks noChangeArrowheads="1"/>
          </p:cNvSpPr>
          <p:nvPr/>
        </p:nvSpPr>
        <p:spPr bwMode="auto">
          <a:xfrm>
            <a:off x="8131175" y="4981575"/>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3" name="Text Box 27"/>
          <p:cNvSpPr txBox="1">
            <a:spLocks noChangeArrowheads="1"/>
          </p:cNvSpPr>
          <p:nvPr/>
        </p:nvSpPr>
        <p:spPr bwMode="auto">
          <a:xfrm>
            <a:off x="7902575" y="3609975"/>
            <a:ext cx="3810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4" name="Text Box 28"/>
          <p:cNvSpPr txBox="1">
            <a:spLocks noChangeArrowheads="1"/>
          </p:cNvSpPr>
          <p:nvPr/>
        </p:nvSpPr>
        <p:spPr bwMode="auto">
          <a:xfrm>
            <a:off x="6683375" y="3213100"/>
            <a:ext cx="6096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5" name="Text Box 29"/>
          <p:cNvSpPr txBox="1">
            <a:spLocks noChangeArrowheads="1"/>
          </p:cNvSpPr>
          <p:nvPr/>
        </p:nvSpPr>
        <p:spPr bwMode="auto">
          <a:xfrm>
            <a:off x="5692775" y="3914775"/>
            <a:ext cx="533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7726" name="Line 30"/>
          <p:cNvSpPr>
            <a:spLocks noChangeShapeType="1"/>
          </p:cNvSpPr>
          <p:nvPr/>
        </p:nvSpPr>
        <p:spPr bwMode="auto">
          <a:xfrm flipH="1">
            <a:off x="6530975" y="4752975"/>
            <a:ext cx="762000" cy="3810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27" name="Line 31"/>
          <p:cNvSpPr>
            <a:spLocks noChangeShapeType="1"/>
          </p:cNvSpPr>
          <p:nvPr/>
        </p:nvSpPr>
        <p:spPr bwMode="auto">
          <a:xfrm flipH="1">
            <a:off x="7292975" y="4829175"/>
            <a:ext cx="0" cy="609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28" name="Line 32"/>
          <p:cNvSpPr>
            <a:spLocks noChangeShapeType="1"/>
          </p:cNvSpPr>
          <p:nvPr/>
        </p:nvSpPr>
        <p:spPr bwMode="auto">
          <a:xfrm>
            <a:off x="7445375" y="4752975"/>
            <a:ext cx="4572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29" name="Line 33"/>
          <p:cNvSpPr>
            <a:spLocks noChangeShapeType="1"/>
          </p:cNvSpPr>
          <p:nvPr/>
        </p:nvSpPr>
        <p:spPr bwMode="auto">
          <a:xfrm flipV="1">
            <a:off x="7445375" y="4219575"/>
            <a:ext cx="304800" cy="3810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30" name="Line 34"/>
          <p:cNvSpPr>
            <a:spLocks noChangeShapeType="1"/>
          </p:cNvSpPr>
          <p:nvPr/>
        </p:nvSpPr>
        <p:spPr bwMode="auto">
          <a:xfrm flipH="1" flipV="1">
            <a:off x="7064375" y="3914775"/>
            <a:ext cx="228600" cy="685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31" name="Line 35"/>
          <p:cNvSpPr>
            <a:spLocks noChangeShapeType="1"/>
          </p:cNvSpPr>
          <p:nvPr/>
        </p:nvSpPr>
        <p:spPr bwMode="auto">
          <a:xfrm flipH="1" flipV="1">
            <a:off x="6378575" y="4448175"/>
            <a:ext cx="8382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7742" name="Group 46"/>
          <p:cNvGrpSpPr>
            <a:grpSpLocks/>
          </p:cNvGrpSpPr>
          <p:nvPr/>
        </p:nvGrpSpPr>
        <p:grpSpPr bwMode="auto">
          <a:xfrm>
            <a:off x="784225" y="4783138"/>
            <a:ext cx="2255838" cy="650875"/>
            <a:chOff x="494" y="3013"/>
            <a:chExt cx="1421" cy="410"/>
          </a:xfrm>
        </p:grpSpPr>
        <p:graphicFrame>
          <p:nvGraphicFramePr>
            <p:cNvPr id="11311" name="Object 15"/>
            <p:cNvGraphicFramePr>
              <a:graphicFrameLocks noChangeAspect="1"/>
            </p:cNvGraphicFramePr>
            <p:nvPr/>
          </p:nvGraphicFramePr>
          <p:xfrm>
            <a:off x="775" y="3013"/>
            <a:ext cx="1140" cy="410"/>
          </p:xfrm>
          <a:graphic>
            <a:graphicData uri="http://schemas.openxmlformats.org/presentationml/2006/ole">
              <mc:AlternateContent xmlns:mc="http://schemas.openxmlformats.org/markup-compatibility/2006">
                <mc:Choice xmlns:v="urn:schemas-microsoft-com:vml" Requires="v">
                  <p:oleObj spid="_x0000_s12055" name="公式" r:id="rId11" imgW="619079" imgH="180778" progId="Equation.3">
                    <p:embed/>
                  </p:oleObj>
                </mc:Choice>
                <mc:Fallback>
                  <p:oleObj name="公式" r:id="rId11" imgW="619079" imgH="180778"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5" y="3013"/>
                          <a:ext cx="1140" cy="4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12" name="Rectangle 40"/>
            <p:cNvSpPr>
              <a:spLocks noChangeArrowheads="1"/>
            </p:cNvSpPr>
            <p:nvPr/>
          </p:nvSpPr>
          <p:spPr bwMode="auto">
            <a:xfrm>
              <a:off x="494" y="3041"/>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ea typeface="楷体_GB2312"/>
                </a:rPr>
                <a:t>①</a:t>
              </a:r>
            </a:p>
          </p:txBody>
        </p:sp>
      </p:grpSp>
      <p:grpSp>
        <p:nvGrpSpPr>
          <p:cNvPr id="157743" name="Group 47"/>
          <p:cNvGrpSpPr>
            <a:grpSpLocks/>
          </p:cNvGrpSpPr>
          <p:nvPr/>
        </p:nvGrpSpPr>
        <p:grpSpPr bwMode="auto">
          <a:xfrm>
            <a:off x="769938" y="5445125"/>
            <a:ext cx="2016125" cy="719138"/>
            <a:chOff x="485" y="3430"/>
            <a:chExt cx="1270" cy="453"/>
          </a:xfrm>
        </p:grpSpPr>
        <p:graphicFrame>
          <p:nvGraphicFramePr>
            <p:cNvPr id="11309" name="Object 41"/>
            <p:cNvGraphicFramePr>
              <a:graphicFrameLocks noChangeAspect="1"/>
            </p:cNvGraphicFramePr>
            <p:nvPr/>
          </p:nvGraphicFramePr>
          <p:xfrm>
            <a:off x="766" y="3430"/>
            <a:ext cx="989" cy="453"/>
          </p:xfrm>
          <a:graphic>
            <a:graphicData uri="http://schemas.openxmlformats.org/presentationml/2006/ole">
              <mc:AlternateContent xmlns:mc="http://schemas.openxmlformats.org/markup-compatibility/2006">
                <mc:Choice xmlns:v="urn:schemas-microsoft-com:vml" Requires="v">
                  <p:oleObj spid="_x0000_s12056" name="公式" r:id="rId13" imgW="523804" imgH="209366" progId="Equation.3">
                    <p:embed/>
                  </p:oleObj>
                </mc:Choice>
                <mc:Fallback>
                  <p:oleObj name="公式" r:id="rId13" imgW="523804" imgH="209366" progId="Equation.3">
                    <p:embed/>
                    <p:pic>
                      <p:nvPicPr>
                        <p:cNvPr id="0" name="Object 4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6" y="3430"/>
                          <a:ext cx="989"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10" name="Rectangle 43"/>
            <p:cNvSpPr>
              <a:spLocks noChangeArrowheads="1"/>
            </p:cNvSpPr>
            <p:nvPr/>
          </p:nvSpPr>
          <p:spPr bwMode="auto">
            <a:xfrm>
              <a:off x="485" y="3485"/>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ea typeface="楷体_GB2312"/>
                </a:rPr>
                <a:t>②</a:t>
              </a:r>
            </a:p>
          </p:txBody>
        </p:sp>
      </p:grpSp>
      <p:grpSp>
        <p:nvGrpSpPr>
          <p:cNvPr id="157744" name="Group 48"/>
          <p:cNvGrpSpPr>
            <a:grpSpLocks/>
          </p:cNvGrpSpPr>
          <p:nvPr/>
        </p:nvGrpSpPr>
        <p:grpSpPr bwMode="auto">
          <a:xfrm>
            <a:off x="812800" y="6165850"/>
            <a:ext cx="2820988" cy="690563"/>
            <a:chOff x="512" y="3884"/>
            <a:chExt cx="1777" cy="435"/>
          </a:xfrm>
        </p:grpSpPr>
        <p:graphicFrame>
          <p:nvGraphicFramePr>
            <p:cNvPr id="11306" name="Object 42"/>
            <p:cNvGraphicFramePr>
              <a:graphicFrameLocks noChangeAspect="1"/>
            </p:cNvGraphicFramePr>
            <p:nvPr/>
          </p:nvGraphicFramePr>
          <p:xfrm>
            <a:off x="793" y="3909"/>
            <a:ext cx="559" cy="410"/>
          </p:xfrm>
          <a:graphic>
            <a:graphicData uri="http://schemas.openxmlformats.org/presentationml/2006/ole">
              <mc:AlternateContent xmlns:mc="http://schemas.openxmlformats.org/markup-compatibility/2006">
                <mc:Choice xmlns:v="urn:schemas-microsoft-com:vml" Requires="v">
                  <p:oleObj spid="_x0000_s12057" name="公式" r:id="rId15" imgW="276172" imgH="180778" progId="Equation.3">
                    <p:embed/>
                  </p:oleObj>
                </mc:Choice>
                <mc:Fallback>
                  <p:oleObj name="公式" r:id="rId15" imgW="276172" imgH="180778" progId="Equation.3">
                    <p:embed/>
                    <p:pic>
                      <p:nvPicPr>
                        <p:cNvPr id="0" name="Object 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3" y="3909"/>
                          <a:ext cx="559" cy="4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7" name="Text Box 44"/>
            <p:cNvSpPr txBox="1">
              <a:spLocks noChangeArrowheads="1"/>
            </p:cNvSpPr>
            <p:nvPr/>
          </p:nvSpPr>
          <p:spPr bwMode="auto">
            <a:xfrm>
              <a:off x="1292" y="3911"/>
              <a:ext cx="99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990000"/>
                  </a:solidFill>
                  <a:ea typeface="楷体_GB2312"/>
                </a:rPr>
                <a:t>不等势</a:t>
              </a:r>
            </a:p>
          </p:txBody>
        </p:sp>
        <p:sp>
          <p:nvSpPr>
            <p:cNvPr id="11308" name="Rectangle 45"/>
            <p:cNvSpPr>
              <a:spLocks noChangeArrowheads="1"/>
            </p:cNvSpPr>
            <p:nvPr/>
          </p:nvSpPr>
          <p:spPr bwMode="auto">
            <a:xfrm>
              <a:off x="512" y="388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ea typeface="楷体_GB2312"/>
                </a:rPr>
                <a:t>③</a:t>
              </a:r>
            </a:p>
          </p:txBody>
        </p:sp>
      </p:grpSp>
      <p:sp>
        <p:nvSpPr>
          <p:cNvPr id="157745" name="Line 49"/>
          <p:cNvSpPr>
            <a:spLocks noChangeShapeType="1"/>
          </p:cNvSpPr>
          <p:nvPr/>
        </p:nvSpPr>
        <p:spPr bwMode="auto">
          <a:xfrm>
            <a:off x="7283450" y="4926013"/>
            <a:ext cx="0" cy="76200"/>
          </a:xfrm>
          <a:prstGeom prst="line">
            <a:avLst/>
          </a:prstGeom>
          <a:noFill/>
          <a:ln w="57150">
            <a:solidFill>
              <a:srgbClr val="D6009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46" name="Text Box 50"/>
          <p:cNvSpPr txBox="1">
            <a:spLocks noChangeArrowheads="1"/>
          </p:cNvSpPr>
          <p:nvPr/>
        </p:nvSpPr>
        <p:spPr bwMode="auto">
          <a:xfrm>
            <a:off x="7269163" y="4725988"/>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D60093"/>
                </a:solidFill>
                <a:ea typeface="楷体_GB2312"/>
              </a:rPr>
              <a:t>1</a:t>
            </a:r>
          </a:p>
        </p:txBody>
      </p:sp>
      <p:sp>
        <p:nvSpPr>
          <p:cNvPr id="157747" name="Line 51"/>
          <p:cNvSpPr>
            <a:spLocks noChangeShapeType="1"/>
          </p:cNvSpPr>
          <p:nvPr/>
        </p:nvSpPr>
        <p:spPr bwMode="auto">
          <a:xfrm>
            <a:off x="7283450" y="5129213"/>
            <a:ext cx="0" cy="76200"/>
          </a:xfrm>
          <a:prstGeom prst="line">
            <a:avLst/>
          </a:prstGeom>
          <a:noFill/>
          <a:ln w="57150">
            <a:solidFill>
              <a:srgbClr val="D6009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750" name="Text Box 54"/>
          <p:cNvSpPr txBox="1">
            <a:spLocks noChangeArrowheads="1"/>
          </p:cNvSpPr>
          <p:nvPr/>
        </p:nvSpPr>
        <p:spPr bwMode="auto">
          <a:xfrm>
            <a:off x="3217863" y="6223000"/>
            <a:ext cx="284003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chemeClr val="accent2"/>
                </a:solidFill>
                <a:ea typeface="楷体_GB2312"/>
              </a:rPr>
              <a:t>(</a:t>
            </a:r>
            <a:r>
              <a:rPr lang="zh-CN" altLang="en-US" sz="2800">
                <a:solidFill>
                  <a:schemeClr val="accent2"/>
                </a:solidFill>
                <a:ea typeface="楷体_GB2312"/>
              </a:rPr>
              <a:t>导体内仍等势</a:t>
            </a:r>
            <a:r>
              <a:rPr lang="en-US" altLang="zh-CN" sz="2800">
                <a:solidFill>
                  <a:schemeClr val="accent2"/>
                </a:solidFill>
                <a:ea typeface="楷体_GB2312"/>
              </a:rPr>
              <a:t>)</a:t>
            </a:r>
          </a:p>
        </p:txBody>
      </p:sp>
      <p:graphicFrame>
        <p:nvGraphicFramePr>
          <p:cNvPr id="157751" name="Object 55"/>
          <p:cNvGraphicFramePr>
            <a:graphicFrameLocks noChangeAspect="1"/>
          </p:cNvGraphicFramePr>
          <p:nvPr/>
        </p:nvGraphicFramePr>
        <p:xfrm>
          <a:off x="6605588" y="6092825"/>
          <a:ext cx="1441450" cy="609600"/>
        </p:xfrm>
        <a:graphic>
          <a:graphicData uri="http://schemas.openxmlformats.org/presentationml/2006/ole">
            <mc:AlternateContent xmlns:mc="http://schemas.openxmlformats.org/markup-compatibility/2006">
              <mc:Choice xmlns:v="urn:schemas-microsoft-com:vml" Requires="v">
                <p:oleObj spid="_x0000_s12058" name="公式" r:id="rId17" imgW="447835" imgH="161859" progId="Equation.3">
                  <p:embed/>
                </p:oleObj>
              </mc:Choice>
              <mc:Fallback>
                <p:oleObj name="公式" r:id="rId17" imgW="447835" imgH="161859" progId="Equation.3">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605588" y="6092825"/>
                        <a:ext cx="144145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55" name="Object 59"/>
          <p:cNvGraphicFramePr>
            <a:graphicFrameLocks noChangeAspect="1"/>
          </p:cNvGraphicFramePr>
          <p:nvPr/>
        </p:nvGraphicFramePr>
        <p:xfrm>
          <a:off x="2757488" y="5470525"/>
          <a:ext cx="1993900" cy="681038"/>
        </p:xfrm>
        <a:graphic>
          <a:graphicData uri="http://schemas.openxmlformats.org/presentationml/2006/ole">
            <mc:AlternateContent xmlns:mc="http://schemas.openxmlformats.org/markup-compatibility/2006">
              <mc:Choice xmlns:v="urn:schemas-microsoft-com:vml" Requires="v">
                <p:oleObj spid="_x0000_s12059" name="公式" r:id="rId19" imgW="714354" imgH="209366" progId="Equation.3">
                  <p:embed/>
                </p:oleObj>
              </mc:Choice>
              <mc:Fallback>
                <p:oleObj name="公式" r:id="rId19" imgW="714354" imgH="209366" progId="Equation.3">
                  <p:embed/>
                  <p:pic>
                    <p:nvPicPr>
                      <p:cNvPr id="0" name="Object 5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57488" y="5470525"/>
                        <a:ext cx="1993900" cy="68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56" name="Object 60"/>
          <p:cNvGraphicFramePr>
            <a:graphicFrameLocks noChangeAspect="1"/>
          </p:cNvGraphicFramePr>
          <p:nvPr>
            <p:extLst>
              <p:ext uri="{D42A27DB-BD31-4B8C-83A1-F6EECF244321}">
                <p14:modId xmlns:p14="http://schemas.microsoft.com/office/powerpoint/2010/main" val="3055307896"/>
              </p:ext>
            </p:extLst>
          </p:nvPr>
        </p:nvGraphicFramePr>
        <p:xfrm>
          <a:off x="4899025" y="2635250"/>
          <a:ext cx="1555750" cy="712787"/>
        </p:xfrm>
        <a:graphic>
          <a:graphicData uri="http://schemas.openxmlformats.org/presentationml/2006/ole">
            <mc:AlternateContent xmlns:mc="http://schemas.openxmlformats.org/markup-compatibility/2006">
              <mc:Choice xmlns:v="urn:schemas-microsoft-com:vml" Requires="v">
                <p:oleObj spid="_x0000_s12060" name="公式" r:id="rId21" imgW="523804" imgH="209366" progId="Equation.3">
                  <p:embed/>
                </p:oleObj>
              </mc:Choice>
              <mc:Fallback>
                <p:oleObj name="公式" r:id="rId21" imgW="523804" imgH="209366" progId="Equation.3">
                  <p:embed/>
                  <p:pic>
                    <p:nvPicPr>
                      <p:cNvPr id="0" name="Object 6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99025" y="2635250"/>
                        <a:ext cx="155575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7757" name="Object 61"/>
          <p:cNvGraphicFramePr>
            <a:graphicFrameLocks noChangeAspect="1"/>
          </p:cNvGraphicFramePr>
          <p:nvPr>
            <p:extLst>
              <p:ext uri="{D42A27DB-BD31-4B8C-83A1-F6EECF244321}">
                <p14:modId xmlns:p14="http://schemas.microsoft.com/office/powerpoint/2010/main" val="925394130"/>
              </p:ext>
            </p:extLst>
          </p:nvPr>
        </p:nvGraphicFramePr>
        <p:xfrm>
          <a:off x="5199063" y="581818"/>
          <a:ext cx="2894012" cy="615950"/>
        </p:xfrm>
        <a:graphic>
          <a:graphicData uri="http://schemas.openxmlformats.org/presentationml/2006/ole">
            <mc:AlternateContent xmlns:mc="http://schemas.openxmlformats.org/markup-compatibility/2006">
              <mc:Choice xmlns:v="urn:schemas-microsoft-com:vml" Requires="v">
                <p:oleObj spid="_x0000_s12061" name="公式" r:id="rId23" imgW="1076148" imgH="180778" progId="Equation.3">
                  <p:embed/>
                </p:oleObj>
              </mc:Choice>
              <mc:Fallback>
                <p:oleObj name="公式" r:id="rId23" imgW="1076148" imgH="180778" progId="Equation.3">
                  <p:embed/>
                  <p:pic>
                    <p:nvPicPr>
                      <p:cNvPr id="0" name="Object 6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99063" y="581818"/>
                        <a:ext cx="2894012"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 name="Group 74">
            <a:extLst>
              <a:ext uri="{FF2B5EF4-FFF2-40B4-BE49-F238E27FC236}">
                <a16:creationId xmlns:a16="http://schemas.microsoft.com/office/drawing/2014/main" id="{08551008-0433-433B-9728-7E0A3A73BC9F}"/>
              </a:ext>
            </a:extLst>
          </p:cNvPr>
          <p:cNvGrpSpPr>
            <a:grpSpLocks/>
          </p:cNvGrpSpPr>
          <p:nvPr/>
        </p:nvGrpSpPr>
        <p:grpSpPr bwMode="auto">
          <a:xfrm>
            <a:off x="179512" y="-27384"/>
            <a:ext cx="3311525" cy="681038"/>
            <a:chOff x="431" y="1158"/>
            <a:chExt cx="2086" cy="429"/>
          </a:xfrm>
        </p:grpSpPr>
        <p:sp>
          <p:nvSpPr>
            <p:cNvPr id="52" name="Text Box 13">
              <a:extLst>
                <a:ext uri="{FF2B5EF4-FFF2-40B4-BE49-F238E27FC236}">
                  <a16:creationId xmlns:a16="http://schemas.microsoft.com/office/drawing/2014/main" id="{F5636673-CD67-4628-A005-CD94CEB0A731}"/>
                </a:ext>
              </a:extLst>
            </p:cNvPr>
            <p:cNvSpPr txBox="1">
              <a:spLocks noChangeArrowheads="1"/>
            </p:cNvSpPr>
            <p:nvPr/>
          </p:nvSpPr>
          <p:spPr bwMode="auto">
            <a:xfrm>
              <a:off x="431" y="1180"/>
              <a:ext cx="4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latin typeface="宋体" panose="02010600030101010101" pitchFamily="2" charset="-122"/>
                  <a:ea typeface="楷体_GB2312"/>
                </a:rPr>
                <a:t>②</a:t>
              </a:r>
              <a:endParaRPr lang="en-US" altLang="zh-CN" sz="2800">
                <a:solidFill>
                  <a:srgbClr val="990000"/>
                </a:solidFill>
                <a:latin typeface="Arial" panose="020B0604020202020204" pitchFamily="34" charset="0"/>
                <a:ea typeface="楷体_GB2312"/>
              </a:endParaRPr>
            </a:p>
          </p:txBody>
        </p:sp>
        <p:graphicFrame>
          <p:nvGraphicFramePr>
            <p:cNvPr id="53" name="Object 73">
              <a:extLst>
                <a:ext uri="{FF2B5EF4-FFF2-40B4-BE49-F238E27FC236}">
                  <a16:creationId xmlns:a16="http://schemas.microsoft.com/office/drawing/2014/main" id="{F2B7C654-FB9D-4815-91D9-A81EFCC1B804}"/>
                </a:ext>
              </a:extLst>
            </p:cNvPr>
            <p:cNvGraphicFramePr>
              <a:graphicFrameLocks noChangeAspect="1"/>
            </p:cNvGraphicFramePr>
            <p:nvPr/>
          </p:nvGraphicFramePr>
          <p:xfrm>
            <a:off x="685" y="1158"/>
            <a:ext cx="1832" cy="429"/>
          </p:xfrm>
          <a:graphic>
            <a:graphicData uri="http://schemas.openxmlformats.org/presentationml/2006/ole">
              <mc:AlternateContent xmlns:mc="http://schemas.openxmlformats.org/markup-compatibility/2006">
                <mc:Choice xmlns:v="urn:schemas-microsoft-com:vml" Requires="v">
                  <p:oleObj spid="_x0000_s12062" name="公式" r:id="rId25" imgW="1076148" imgH="209366" progId="Equation.3">
                    <p:embed/>
                  </p:oleObj>
                </mc:Choice>
                <mc:Fallback>
                  <p:oleObj name="公式" r:id="rId25" imgW="1076148" imgH="209366" progId="Equation.3">
                    <p:embed/>
                    <p:pic>
                      <p:nvPicPr>
                        <p:cNvPr id="10259" name="Object 7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85" y="1158"/>
                          <a:ext cx="1832" cy="4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4" name="Text Box 15">
            <a:extLst>
              <a:ext uri="{FF2B5EF4-FFF2-40B4-BE49-F238E27FC236}">
                <a16:creationId xmlns:a16="http://schemas.microsoft.com/office/drawing/2014/main" id="{EC75B2CB-99D8-400F-A7CF-5F483D730DDB}"/>
              </a:ext>
            </a:extLst>
          </p:cNvPr>
          <p:cNvSpPr txBox="1">
            <a:spLocks noChangeArrowheads="1"/>
          </p:cNvSpPr>
          <p:nvPr/>
        </p:nvSpPr>
        <p:spPr bwMode="auto">
          <a:xfrm>
            <a:off x="539552" y="2085032"/>
            <a:ext cx="5827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990000"/>
                </a:solidFill>
                <a:latin typeface="宋体" panose="02010600030101010101" pitchFamily="2" charset="-122"/>
                <a:ea typeface="楷体_GB2312"/>
              </a:rPr>
              <a:t>③</a:t>
            </a:r>
            <a:r>
              <a:rPr lang="zh-CN" altLang="en-US" sz="2800">
                <a:solidFill>
                  <a:srgbClr val="990000"/>
                </a:solidFill>
                <a:latin typeface="Arial" panose="020B0604020202020204" pitchFamily="34" charset="0"/>
                <a:ea typeface="楷体_GB2312"/>
              </a:rPr>
              <a:t>空腔导体内表面上没有净电荷</a:t>
            </a:r>
          </a:p>
        </p:txBody>
      </p:sp>
      <p:graphicFrame>
        <p:nvGraphicFramePr>
          <p:cNvPr id="55" name="Object 75">
            <a:extLst>
              <a:ext uri="{FF2B5EF4-FFF2-40B4-BE49-F238E27FC236}">
                <a16:creationId xmlns:a16="http://schemas.microsoft.com/office/drawing/2014/main" id="{7511AACA-7FB8-4E01-909E-A112F98B2D7B}"/>
              </a:ext>
            </a:extLst>
          </p:cNvPr>
          <p:cNvGraphicFramePr>
            <a:graphicFrameLocks noChangeAspect="1"/>
          </p:cNvGraphicFramePr>
          <p:nvPr>
            <p:extLst>
              <p:ext uri="{D42A27DB-BD31-4B8C-83A1-F6EECF244321}">
                <p14:modId xmlns:p14="http://schemas.microsoft.com/office/powerpoint/2010/main" val="892678735"/>
              </p:ext>
            </p:extLst>
          </p:nvPr>
        </p:nvGraphicFramePr>
        <p:xfrm>
          <a:off x="5578277" y="2113607"/>
          <a:ext cx="1673225" cy="595313"/>
        </p:xfrm>
        <a:graphic>
          <a:graphicData uri="http://schemas.openxmlformats.org/presentationml/2006/ole">
            <mc:AlternateContent xmlns:mc="http://schemas.openxmlformats.org/markup-compatibility/2006">
              <mc:Choice xmlns:v="urn:schemas-microsoft-com:vml" Requires="v">
                <p:oleObj spid="_x0000_s12063" name="公式" r:id="rId27" imgW="619079" imgH="180778" progId="Equation.3">
                  <p:embed/>
                </p:oleObj>
              </mc:Choice>
              <mc:Fallback>
                <p:oleObj name="公式" r:id="rId27" imgW="619079" imgH="180778" progId="Equation.3">
                  <p:embed/>
                  <p:pic>
                    <p:nvPicPr>
                      <p:cNvPr id="109643" name="Object 7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578277" y="2113607"/>
                        <a:ext cx="1673225"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7701"/>
                                        </p:tgtEl>
                                        <p:attrNameLst>
                                          <p:attrName>style.visibility</p:attrName>
                                        </p:attrNameLst>
                                      </p:cBhvr>
                                      <p:to>
                                        <p:strVal val="visible"/>
                                      </p:to>
                                    </p:set>
                                    <p:animEffect transition="in" filter="wipe(left)">
                                      <p:cBhvr>
                                        <p:cTn id="12" dur="500"/>
                                        <p:tgtEl>
                                          <p:spTgt spid="1577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7757"/>
                                        </p:tgtEl>
                                        <p:attrNameLst>
                                          <p:attrName>style.visibility</p:attrName>
                                        </p:attrNameLst>
                                      </p:cBhvr>
                                      <p:to>
                                        <p:strVal val="visible"/>
                                      </p:to>
                                    </p:set>
                                    <p:animEffect transition="in" filter="wipe(left)">
                                      <p:cBhvr>
                                        <p:cTn id="17" dur="500"/>
                                        <p:tgtEl>
                                          <p:spTgt spid="1577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7705"/>
                                        </p:tgtEl>
                                        <p:attrNameLst>
                                          <p:attrName>style.visibility</p:attrName>
                                        </p:attrNameLst>
                                      </p:cBhvr>
                                      <p:to>
                                        <p:strVal val="visible"/>
                                      </p:to>
                                    </p:set>
                                    <p:animEffect transition="in" filter="wipe(left)">
                                      <p:cBhvr>
                                        <p:cTn id="22" dur="500"/>
                                        <p:tgtEl>
                                          <p:spTgt spid="1577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wipe(left)">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500"/>
                                        <p:tgtEl>
                                          <p:spTgt spid="5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57703"/>
                                        </p:tgtEl>
                                        <p:attrNameLst>
                                          <p:attrName>style.visibility</p:attrName>
                                        </p:attrNameLst>
                                      </p:cBhvr>
                                      <p:to>
                                        <p:strVal val="visible"/>
                                      </p:to>
                                    </p:set>
                                    <p:animEffect transition="in" filter="wipe(left)">
                                      <p:cBhvr>
                                        <p:cTn id="37" dur="500"/>
                                        <p:tgtEl>
                                          <p:spTgt spid="1577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57756"/>
                                        </p:tgtEl>
                                        <p:attrNameLst>
                                          <p:attrName>style.visibility</p:attrName>
                                        </p:attrNameLst>
                                      </p:cBhvr>
                                      <p:to>
                                        <p:strVal val="visible"/>
                                      </p:to>
                                    </p:set>
                                    <p:animEffect transition="in" filter="wipe(left)">
                                      <p:cBhvr>
                                        <p:cTn id="42" dur="500"/>
                                        <p:tgtEl>
                                          <p:spTgt spid="15775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57704"/>
                                        </p:tgtEl>
                                        <p:attrNameLst>
                                          <p:attrName>style.visibility</p:attrName>
                                        </p:attrNameLst>
                                      </p:cBhvr>
                                      <p:to>
                                        <p:strVal val="visible"/>
                                      </p:to>
                                    </p:set>
                                    <p:animEffect transition="in" filter="wipe(left)">
                                      <p:cBhvr>
                                        <p:cTn id="47" dur="500"/>
                                        <p:tgtEl>
                                          <p:spTgt spid="15770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7708">
                                            <p:txEl>
                                              <p:pRg st="0" end="0"/>
                                            </p:txEl>
                                          </p:spTgt>
                                        </p:tgtEl>
                                        <p:attrNameLst>
                                          <p:attrName>style.visibility</p:attrName>
                                        </p:attrNameLst>
                                      </p:cBhvr>
                                      <p:to>
                                        <p:strVal val="visible"/>
                                      </p:to>
                                    </p:set>
                                    <p:animEffect transition="in" filter="wipe(left)">
                                      <p:cBhvr>
                                        <p:cTn id="52" dur="500"/>
                                        <p:tgtEl>
                                          <p:spTgt spid="157708">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5770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157712"/>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57710">
                                            <p:txEl>
                                              <p:pRg st="0" end="0"/>
                                            </p:txEl>
                                          </p:spTgt>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157730"/>
                                        </p:tgtEl>
                                        <p:attrNameLst>
                                          <p:attrName>style.visibility</p:attrName>
                                        </p:attrNameLst>
                                      </p:cBhvr>
                                      <p:to>
                                        <p:strVal val="visible"/>
                                      </p:to>
                                    </p:set>
                                  </p:childTnLst>
                                </p:cTn>
                              </p:par>
                            </p:childTnLst>
                          </p:cTn>
                        </p:par>
                        <p:par>
                          <p:cTn id="69" fill="hold" nodeType="afterGroup">
                            <p:stCondLst>
                              <p:cond delay="500"/>
                            </p:stCondLst>
                            <p:childTnLst>
                              <p:par>
                                <p:cTn id="70" presetID="1" presetClass="entr" presetSubtype="0" fill="hold" grpId="0" nodeType="afterEffect">
                                  <p:stCondLst>
                                    <p:cond delay="0"/>
                                  </p:stCondLst>
                                  <p:childTnLst>
                                    <p:set>
                                      <p:cBhvr>
                                        <p:cTn id="71" dur="1" fill="hold">
                                          <p:stCondLst>
                                            <p:cond delay="499"/>
                                          </p:stCondLst>
                                        </p:cTn>
                                        <p:tgtEl>
                                          <p:spTgt spid="157729"/>
                                        </p:tgtEl>
                                        <p:attrNameLst>
                                          <p:attrName>style.visibility</p:attrName>
                                        </p:attrNameLst>
                                      </p:cBhvr>
                                      <p:to>
                                        <p:strVal val="visible"/>
                                      </p:to>
                                    </p:set>
                                  </p:childTnLst>
                                </p:cTn>
                              </p:par>
                            </p:childTnLst>
                          </p:cTn>
                        </p:par>
                        <p:par>
                          <p:cTn id="72" fill="hold" nodeType="afterGroup">
                            <p:stCondLst>
                              <p:cond delay="1000"/>
                            </p:stCondLst>
                            <p:childTnLst>
                              <p:par>
                                <p:cTn id="73" presetID="1" presetClass="entr" presetSubtype="0" fill="hold" grpId="0" nodeType="afterEffect">
                                  <p:stCondLst>
                                    <p:cond delay="0"/>
                                  </p:stCondLst>
                                  <p:childTnLst>
                                    <p:set>
                                      <p:cBhvr>
                                        <p:cTn id="74" dur="1" fill="hold">
                                          <p:stCondLst>
                                            <p:cond delay="499"/>
                                          </p:stCondLst>
                                        </p:cTn>
                                        <p:tgtEl>
                                          <p:spTgt spid="157728"/>
                                        </p:tgtEl>
                                        <p:attrNameLst>
                                          <p:attrName>style.visibility</p:attrName>
                                        </p:attrNameLst>
                                      </p:cBhvr>
                                      <p:to>
                                        <p:strVal val="visible"/>
                                      </p:to>
                                    </p:set>
                                  </p:childTnLst>
                                </p:cTn>
                              </p:par>
                            </p:childTnLst>
                          </p:cTn>
                        </p:par>
                        <p:par>
                          <p:cTn id="75" fill="hold" nodeType="afterGroup">
                            <p:stCondLst>
                              <p:cond delay="1500"/>
                            </p:stCondLst>
                            <p:childTnLst>
                              <p:par>
                                <p:cTn id="76" presetID="1" presetClass="entr" presetSubtype="0" fill="hold" grpId="0" nodeType="afterEffect">
                                  <p:stCondLst>
                                    <p:cond delay="0"/>
                                  </p:stCondLst>
                                  <p:childTnLst>
                                    <p:set>
                                      <p:cBhvr>
                                        <p:cTn id="77" dur="1" fill="hold">
                                          <p:stCondLst>
                                            <p:cond delay="499"/>
                                          </p:stCondLst>
                                        </p:cTn>
                                        <p:tgtEl>
                                          <p:spTgt spid="157727"/>
                                        </p:tgtEl>
                                        <p:attrNameLst>
                                          <p:attrName>style.visibility</p:attrName>
                                        </p:attrNameLst>
                                      </p:cBhvr>
                                      <p:to>
                                        <p:strVal val="visible"/>
                                      </p:to>
                                    </p:set>
                                  </p:childTnLst>
                                </p:cTn>
                              </p:par>
                            </p:childTnLst>
                          </p:cTn>
                        </p:par>
                        <p:par>
                          <p:cTn id="78" fill="hold" nodeType="afterGroup">
                            <p:stCondLst>
                              <p:cond delay="2000"/>
                            </p:stCondLst>
                            <p:childTnLst>
                              <p:par>
                                <p:cTn id="79" presetID="1" presetClass="entr" presetSubtype="0" fill="hold" grpId="0" nodeType="afterEffect">
                                  <p:stCondLst>
                                    <p:cond delay="0"/>
                                  </p:stCondLst>
                                  <p:childTnLst>
                                    <p:set>
                                      <p:cBhvr>
                                        <p:cTn id="80" dur="1" fill="hold">
                                          <p:stCondLst>
                                            <p:cond delay="499"/>
                                          </p:stCondLst>
                                        </p:cTn>
                                        <p:tgtEl>
                                          <p:spTgt spid="157726"/>
                                        </p:tgtEl>
                                        <p:attrNameLst>
                                          <p:attrName>style.visibility</p:attrName>
                                        </p:attrNameLst>
                                      </p:cBhvr>
                                      <p:to>
                                        <p:strVal val="visible"/>
                                      </p:to>
                                    </p:set>
                                  </p:childTnLst>
                                </p:cTn>
                              </p:par>
                            </p:childTnLst>
                          </p:cTn>
                        </p:par>
                        <p:par>
                          <p:cTn id="81" fill="hold" nodeType="afterGroup">
                            <p:stCondLst>
                              <p:cond delay="2500"/>
                            </p:stCondLst>
                            <p:childTnLst>
                              <p:par>
                                <p:cTn id="82" presetID="1" presetClass="entr" presetSubtype="0" fill="hold" grpId="0" nodeType="afterEffect">
                                  <p:stCondLst>
                                    <p:cond delay="0"/>
                                  </p:stCondLst>
                                  <p:childTnLst>
                                    <p:set>
                                      <p:cBhvr>
                                        <p:cTn id="83" dur="1" fill="hold">
                                          <p:stCondLst>
                                            <p:cond delay="499"/>
                                          </p:stCondLst>
                                        </p:cTn>
                                        <p:tgtEl>
                                          <p:spTgt spid="157731"/>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157707">
                                            <p:txEl>
                                              <p:pRg st="0" end="0"/>
                                            </p:txEl>
                                          </p:spTgt>
                                        </p:tgtEl>
                                        <p:attrNameLst>
                                          <p:attrName>style.visibility</p:attrName>
                                        </p:attrNameLst>
                                      </p:cBhvr>
                                      <p:to>
                                        <p:strVal val="visible"/>
                                      </p:to>
                                    </p:set>
                                  </p:childTnLst>
                                </p:cTn>
                              </p:par>
                            </p:childTnLst>
                          </p:cTn>
                        </p:par>
                        <p:par>
                          <p:cTn id="88" fill="hold" nodeType="afterGroup">
                            <p:stCondLst>
                              <p:cond delay="500"/>
                            </p:stCondLst>
                            <p:childTnLst>
                              <p:par>
                                <p:cTn id="89" presetID="1" presetClass="entr" presetSubtype="0" fill="hold" grpId="0" nodeType="afterEffect">
                                  <p:stCondLst>
                                    <p:cond delay="0"/>
                                  </p:stCondLst>
                                  <p:childTnLst>
                                    <p:set>
                                      <p:cBhvr>
                                        <p:cTn id="90" dur="1" fill="hold">
                                          <p:stCondLst>
                                            <p:cond delay="499"/>
                                          </p:stCondLst>
                                        </p:cTn>
                                        <p:tgtEl>
                                          <p:spTgt spid="157717">
                                            <p:txEl>
                                              <p:pRg st="0" end="0"/>
                                            </p:txEl>
                                          </p:spTgt>
                                        </p:tgtEl>
                                        <p:attrNameLst>
                                          <p:attrName>style.visibility</p:attrName>
                                        </p:attrNameLst>
                                      </p:cBhvr>
                                      <p:to>
                                        <p:strVal val="visible"/>
                                      </p:to>
                                    </p:set>
                                  </p:childTnLst>
                                </p:cTn>
                              </p:par>
                            </p:childTnLst>
                          </p:cTn>
                        </p:par>
                        <p:par>
                          <p:cTn id="91" fill="hold" nodeType="afterGroup">
                            <p:stCondLst>
                              <p:cond delay="1000"/>
                            </p:stCondLst>
                            <p:childTnLst>
                              <p:par>
                                <p:cTn id="92" presetID="1" presetClass="entr" presetSubtype="0" fill="hold" grpId="0" nodeType="afterEffect">
                                  <p:stCondLst>
                                    <p:cond delay="0"/>
                                  </p:stCondLst>
                                  <p:childTnLst>
                                    <p:set>
                                      <p:cBhvr>
                                        <p:cTn id="93" dur="1" fill="hold">
                                          <p:stCondLst>
                                            <p:cond delay="499"/>
                                          </p:stCondLst>
                                        </p:cTn>
                                        <p:tgtEl>
                                          <p:spTgt spid="157716">
                                            <p:txEl>
                                              <p:pRg st="0" end="0"/>
                                            </p:txEl>
                                          </p:spTgt>
                                        </p:tgtEl>
                                        <p:attrNameLst>
                                          <p:attrName>style.visibility</p:attrName>
                                        </p:attrNameLst>
                                      </p:cBhvr>
                                      <p:to>
                                        <p:strVal val="visible"/>
                                      </p:to>
                                    </p:set>
                                  </p:childTnLst>
                                </p:cTn>
                              </p:par>
                            </p:childTnLst>
                          </p:cTn>
                        </p:par>
                        <p:par>
                          <p:cTn id="94" fill="hold" nodeType="afterGroup">
                            <p:stCondLst>
                              <p:cond delay="1500"/>
                            </p:stCondLst>
                            <p:childTnLst>
                              <p:par>
                                <p:cTn id="95" presetID="1" presetClass="entr" presetSubtype="0" fill="hold" grpId="0" nodeType="afterEffect">
                                  <p:stCondLst>
                                    <p:cond delay="0"/>
                                  </p:stCondLst>
                                  <p:childTnLst>
                                    <p:set>
                                      <p:cBhvr>
                                        <p:cTn id="96" dur="1" fill="hold">
                                          <p:stCondLst>
                                            <p:cond delay="499"/>
                                          </p:stCondLst>
                                        </p:cTn>
                                        <p:tgtEl>
                                          <p:spTgt spid="157715">
                                            <p:txEl>
                                              <p:pRg st="0" end="0"/>
                                            </p:txEl>
                                          </p:spTgt>
                                        </p:tgtEl>
                                        <p:attrNameLst>
                                          <p:attrName>style.visibility</p:attrName>
                                        </p:attrNameLst>
                                      </p:cBhvr>
                                      <p:to>
                                        <p:strVal val="visible"/>
                                      </p:to>
                                    </p:set>
                                  </p:childTnLst>
                                </p:cTn>
                              </p:par>
                            </p:childTnLst>
                          </p:cTn>
                        </p:par>
                        <p:par>
                          <p:cTn id="97" fill="hold" nodeType="afterGroup">
                            <p:stCondLst>
                              <p:cond delay="2000"/>
                            </p:stCondLst>
                            <p:childTnLst>
                              <p:par>
                                <p:cTn id="98" presetID="1" presetClass="entr" presetSubtype="0" fill="hold" grpId="0" nodeType="afterEffect">
                                  <p:stCondLst>
                                    <p:cond delay="0"/>
                                  </p:stCondLst>
                                  <p:childTnLst>
                                    <p:set>
                                      <p:cBhvr>
                                        <p:cTn id="99" dur="1" fill="hold">
                                          <p:stCondLst>
                                            <p:cond delay="499"/>
                                          </p:stCondLst>
                                        </p:cTn>
                                        <p:tgtEl>
                                          <p:spTgt spid="157718">
                                            <p:txEl>
                                              <p:pRg st="0" end="0"/>
                                            </p:txEl>
                                          </p:spTgt>
                                        </p:tgtEl>
                                        <p:attrNameLst>
                                          <p:attrName>style.visibility</p:attrName>
                                        </p:attrNameLst>
                                      </p:cBhvr>
                                      <p:to>
                                        <p:strVal val="visible"/>
                                      </p:to>
                                    </p:set>
                                  </p:childTnLst>
                                </p:cTn>
                              </p:par>
                            </p:childTnLst>
                          </p:cTn>
                        </p:par>
                        <p:par>
                          <p:cTn id="100" fill="hold" nodeType="afterGroup">
                            <p:stCondLst>
                              <p:cond delay="2500"/>
                            </p:stCondLst>
                            <p:childTnLst>
                              <p:par>
                                <p:cTn id="101" presetID="1" presetClass="entr" presetSubtype="0" fill="hold" grpId="0" nodeType="afterEffect">
                                  <p:stCondLst>
                                    <p:cond delay="0"/>
                                  </p:stCondLst>
                                  <p:childTnLst>
                                    <p:set>
                                      <p:cBhvr>
                                        <p:cTn id="102" dur="1" fill="hold">
                                          <p:stCondLst>
                                            <p:cond delay="499"/>
                                          </p:stCondLst>
                                        </p:cTn>
                                        <p:tgtEl>
                                          <p:spTgt spid="157719">
                                            <p:txEl>
                                              <p:pRg st="0" end="0"/>
                                            </p:txEl>
                                          </p:spTgt>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499"/>
                                          </p:stCondLst>
                                        </p:cTn>
                                        <p:tgtEl>
                                          <p:spTgt spid="157724">
                                            <p:txEl>
                                              <p:pRg st="0" end="0"/>
                                            </p:txEl>
                                          </p:spTgt>
                                        </p:tgtEl>
                                        <p:attrNameLst>
                                          <p:attrName>style.visibility</p:attrName>
                                        </p:attrNameLst>
                                      </p:cBhvr>
                                      <p:to>
                                        <p:strVal val="visible"/>
                                      </p:to>
                                    </p:set>
                                  </p:childTnLst>
                                </p:cTn>
                              </p:par>
                            </p:childTnLst>
                          </p:cTn>
                        </p:par>
                        <p:par>
                          <p:cTn id="107" fill="hold" nodeType="afterGroup">
                            <p:stCondLst>
                              <p:cond delay="500"/>
                            </p:stCondLst>
                            <p:childTnLst>
                              <p:par>
                                <p:cTn id="108" presetID="1" presetClass="entr" presetSubtype="0" fill="hold" grpId="0" nodeType="afterEffect">
                                  <p:stCondLst>
                                    <p:cond delay="0"/>
                                  </p:stCondLst>
                                  <p:childTnLst>
                                    <p:set>
                                      <p:cBhvr>
                                        <p:cTn id="109" dur="1" fill="hold">
                                          <p:stCondLst>
                                            <p:cond delay="499"/>
                                          </p:stCondLst>
                                        </p:cTn>
                                        <p:tgtEl>
                                          <p:spTgt spid="157723">
                                            <p:txEl>
                                              <p:pRg st="0" end="0"/>
                                            </p:txEl>
                                          </p:spTgt>
                                        </p:tgtEl>
                                        <p:attrNameLst>
                                          <p:attrName>style.visibility</p:attrName>
                                        </p:attrNameLst>
                                      </p:cBhvr>
                                      <p:to>
                                        <p:strVal val="visible"/>
                                      </p:to>
                                    </p:set>
                                  </p:childTnLst>
                                </p:cTn>
                              </p:par>
                            </p:childTnLst>
                          </p:cTn>
                        </p:par>
                        <p:par>
                          <p:cTn id="110" fill="hold" nodeType="afterGroup">
                            <p:stCondLst>
                              <p:cond delay="1000"/>
                            </p:stCondLst>
                            <p:childTnLst>
                              <p:par>
                                <p:cTn id="111" presetID="1" presetClass="entr" presetSubtype="0" fill="hold" grpId="0" nodeType="afterEffect">
                                  <p:stCondLst>
                                    <p:cond delay="0"/>
                                  </p:stCondLst>
                                  <p:childTnLst>
                                    <p:set>
                                      <p:cBhvr>
                                        <p:cTn id="112" dur="1" fill="hold">
                                          <p:stCondLst>
                                            <p:cond delay="499"/>
                                          </p:stCondLst>
                                        </p:cTn>
                                        <p:tgtEl>
                                          <p:spTgt spid="157722">
                                            <p:txEl>
                                              <p:pRg st="0" end="0"/>
                                            </p:txEl>
                                          </p:spTgt>
                                        </p:tgtEl>
                                        <p:attrNameLst>
                                          <p:attrName>style.visibility</p:attrName>
                                        </p:attrNameLst>
                                      </p:cBhvr>
                                      <p:to>
                                        <p:strVal val="visible"/>
                                      </p:to>
                                    </p:set>
                                  </p:childTnLst>
                                </p:cTn>
                              </p:par>
                            </p:childTnLst>
                          </p:cTn>
                        </p:par>
                        <p:par>
                          <p:cTn id="113" fill="hold" nodeType="afterGroup">
                            <p:stCondLst>
                              <p:cond delay="1500"/>
                            </p:stCondLst>
                            <p:childTnLst>
                              <p:par>
                                <p:cTn id="114" presetID="1" presetClass="entr" presetSubtype="0" fill="hold" grpId="0" nodeType="afterEffect">
                                  <p:stCondLst>
                                    <p:cond delay="0"/>
                                  </p:stCondLst>
                                  <p:childTnLst>
                                    <p:set>
                                      <p:cBhvr>
                                        <p:cTn id="115" dur="1" fill="hold">
                                          <p:stCondLst>
                                            <p:cond delay="499"/>
                                          </p:stCondLst>
                                        </p:cTn>
                                        <p:tgtEl>
                                          <p:spTgt spid="157721">
                                            <p:txEl>
                                              <p:pRg st="0" end="0"/>
                                            </p:txEl>
                                          </p:spTgt>
                                        </p:tgtEl>
                                        <p:attrNameLst>
                                          <p:attrName>style.visibility</p:attrName>
                                        </p:attrNameLst>
                                      </p:cBhvr>
                                      <p:to>
                                        <p:strVal val="visible"/>
                                      </p:to>
                                    </p:set>
                                  </p:childTnLst>
                                </p:cTn>
                              </p:par>
                            </p:childTnLst>
                          </p:cTn>
                        </p:par>
                        <p:par>
                          <p:cTn id="116" fill="hold" nodeType="afterGroup">
                            <p:stCondLst>
                              <p:cond delay="2000"/>
                            </p:stCondLst>
                            <p:childTnLst>
                              <p:par>
                                <p:cTn id="117" presetID="1" presetClass="entr" presetSubtype="0" fill="hold" grpId="0" nodeType="afterEffect">
                                  <p:stCondLst>
                                    <p:cond delay="0"/>
                                  </p:stCondLst>
                                  <p:childTnLst>
                                    <p:set>
                                      <p:cBhvr>
                                        <p:cTn id="118" dur="1" fill="hold">
                                          <p:stCondLst>
                                            <p:cond delay="499"/>
                                          </p:stCondLst>
                                        </p:cTn>
                                        <p:tgtEl>
                                          <p:spTgt spid="157720">
                                            <p:txEl>
                                              <p:pRg st="0" end="0"/>
                                            </p:txEl>
                                          </p:spTgt>
                                        </p:tgtEl>
                                        <p:attrNameLst>
                                          <p:attrName>style.visibility</p:attrName>
                                        </p:attrNameLst>
                                      </p:cBhvr>
                                      <p:to>
                                        <p:strVal val="visible"/>
                                      </p:to>
                                    </p:set>
                                  </p:childTnLst>
                                </p:cTn>
                              </p:par>
                            </p:childTnLst>
                          </p:cTn>
                        </p:par>
                        <p:par>
                          <p:cTn id="119" fill="hold" nodeType="afterGroup">
                            <p:stCondLst>
                              <p:cond delay="2500"/>
                            </p:stCondLst>
                            <p:childTnLst>
                              <p:par>
                                <p:cTn id="120" presetID="1" presetClass="entr" presetSubtype="0" fill="hold" grpId="0" nodeType="afterEffect">
                                  <p:stCondLst>
                                    <p:cond delay="0"/>
                                  </p:stCondLst>
                                  <p:childTnLst>
                                    <p:set>
                                      <p:cBhvr>
                                        <p:cTn id="121" dur="1" fill="hold">
                                          <p:stCondLst>
                                            <p:cond delay="499"/>
                                          </p:stCondLst>
                                        </p:cTn>
                                        <p:tgtEl>
                                          <p:spTgt spid="157725">
                                            <p:txEl>
                                              <p:pRg st="0" end="0"/>
                                            </p:txEl>
                                          </p:spTgt>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157742"/>
                                        </p:tgtEl>
                                        <p:attrNameLst>
                                          <p:attrName>style.visibility</p:attrName>
                                        </p:attrNameLst>
                                      </p:cBhvr>
                                      <p:to>
                                        <p:strVal val="visible"/>
                                      </p:to>
                                    </p:set>
                                    <p:animEffect transition="in" filter="wipe(left)">
                                      <p:cBhvr>
                                        <p:cTn id="126" dur="500"/>
                                        <p:tgtEl>
                                          <p:spTgt spid="157742"/>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157743"/>
                                        </p:tgtEl>
                                        <p:attrNameLst>
                                          <p:attrName>style.visibility</p:attrName>
                                        </p:attrNameLst>
                                      </p:cBhvr>
                                      <p:to>
                                        <p:strVal val="visible"/>
                                      </p:to>
                                    </p:set>
                                    <p:animEffect transition="in" filter="wipe(left)">
                                      <p:cBhvr>
                                        <p:cTn id="131" dur="500"/>
                                        <p:tgtEl>
                                          <p:spTgt spid="157743"/>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157755"/>
                                        </p:tgtEl>
                                        <p:attrNameLst>
                                          <p:attrName>style.visibility</p:attrName>
                                        </p:attrNameLst>
                                      </p:cBhvr>
                                      <p:to>
                                        <p:strVal val="visible"/>
                                      </p:to>
                                    </p:set>
                                    <p:animEffect transition="in" filter="wipe(left)">
                                      <p:cBhvr>
                                        <p:cTn id="136" dur="500"/>
                                        <p:tgtEl>
                                          <p:spTgt spid="157755"/>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157744"/>
                                        </p:tgtEl>
                                        <p:attrNameLst>
                                          <p:attrName>style.visibility</p:attrName>
                                        </p:attrNameLst>
                                      </p:cBhvr>
                                      <p:to>
                                        <p:strVal val="visible"/>
                                      </p:to>
                                    </p:set>
                                    <p:animEffect transition="in" filter="wipe(left)">
                                      <p:cBhvr>
                                        <p:cTn id="141" dur="500"/>
                                        <p:tgtEl>
                                          <p:spTgt spid="157744"/>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 presetClass="entr" presetSubtype="0" fill="hold" grpId="0" nodeType="clickEffect">
                                  <p:stCondLst>
                                    <p:cond delay="0"/>
                                  </p:stCondLst>
                                  <p:childTnLst>
                                    <p:set>
                                      <p:cBhvr>
                                        <p:cTn id="145" dur="1" fill="hold">
                                          <p:stCondLst>
                                            <p:cond delay="499"/>
                                          </p:stCondLst>
                                        </p:cTn>
                                        <p:tgtEl>
                                          <p:spTgt spid="157745"/>
                                        </p:tgtEl>
                                        <p:attrNameLst>
                                          <p:attrName>style.visibility</p:attrName>
                                        </p:attrNameLst>
                                      </p:cBhvr>
                                      <p:to>
                                        <p:strVal val="visible"/>
                                      </p:to>
                                    </p:se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 presetClass="entr" presetSubtype="0" fill="hold" grpId="0" nodeType="clickEffect">
                                  <p:stCondLst>
                                    <p:cond delay="0"/>
                                  </p:stCondLst>
                                  <p:childTnLst>
                                    <p:set>
                                      <p:cBhvr>
                                        <p:cTn id="149" dur="1" fill="hold">
                                          <p:stCondLst>
                                            <p:cond delay="499"/>
                                          </p:stCondLst>
                                        </p:cTn>
                                        <p:tgtEl>
                                          <p:spTgt spid="157746">
                                            <p:txEl>
                                              <p:pRg st="0" end="0"/>
                                            </p:txEl>
                                          </p:spTgt>
                                        </p:tgtEl>
                                        <p:attrNameLst>
                                          <p:attrName>style.visibility</p:attrName>
                                        </p:attrNameLst>
                                      </p:cBhvr>
                                      <p:to>
                                        <p:strVal val="visible"/>
                                      </p:to>
                                    </p:se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1" presetClass="entr" presetSubtype="0" fill="hold" grpId="0" nodeType="clickEffect">
                                  <p:stCondLst>
                                    <p:cond delay="0"/>
                                  </p:stCondLst>
                                  <p:childTnLst>
                                    <p:set>
                                      <p:cBhvr>
                                        <p:cTn id="153" dur="1" fill="hold">
                                          <p:stCondLst>
                                            <p:cond delay="499"/>
                                          </p:stCondLst>
                                        </p:cTn>
                                        <p:tgtEl>
                                          <p:spTgt spid="157747"/>
                                        </p:tgtEl>
                                        <p:attrNameLst>
                                          <p:attrName>style.visibility</p:attrName>
                                        </p:attrNameLst>
                                      </p:cBhvr>
                                      <p:to>
                                        <p:strVal val="visible"/>
                                      </p:to>
                                    </p:se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 presetClass="entr" presetSubtype="0" fill="hold" grpId="0" nodeType="clickEffect">
                                  <p:stCondLst>
                                    <p:cond delay="0"/>
                                  </p:stCondLst>
                                  <p:childTnLst>
                                    <p:set>
                                      <p:cBhvr>
                                        <p:cTn id="157" dur="1" fill="hold">
                                          <p:stCondLst>
                                            <p:cond delay="499"/>
                                          </p:stCondLst>
                                        </p:cTn>
                                        <p:tgtEl>
                                          <p:spTgt spid="157749">
                                            <p:txEl>
                                              <p:pRg st="0" end="0"/>
                                            </p:txEl>
                                          </p:spTgt>
                                        </p:tgtEl>
                                        <p:attrNameLst>
                                          <p:attrName>style.visibility</p:attrName>
                                        </p:attrNameLst>
                                      </p:cBhvr>
                                      <p:to>
                                        <p:strVal val="visible"/>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6" presetClass="entr" presetSubtype="37" fill="hold" nodeType="clickEffect">
                                  <p:stCondLst>
                                    <p:cond delay="0"/>
                                  </p:stCondLst>
                                  <p:childTnLst>
                                    <p:set>
                                      <p:cBhvr>
                                        <p:cTn id="161" dur="1" fill="hold">
                                          <p:stCondLst>
                                            <p:cond delay="0"/>
                                          </p:stCondLst>
                                        </p:cTn>
                                        <p:tgtEl>
                                          <p:spTgt spid="157751"/>
                                        </p:tgtEl>
                                        <p:attrNameLst>
                                          <p:attrName>style.visibility</p:attrName>
                                        </p:attrNameLst>
                                      </p:cBhvr>
                                      <p:to>
                                        <p:strVal val="visible"/>
                                      </p:to>
                                    </p:set>
                                    <p:animEffect transition="in" filter="barn(outVertical)">
                                      <p:cBhvr>
                                        <p:cTn id="162" dur="500"/>
                                        <p:tgtEl>
                                          <p:spTgt spid="157751"/>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6" presetClass="entr" presetSubtype="37" fill="hold" grpId="0" nodeType="clickEffect">
                                  <p:stCondLst>
                                    <p:cond delay="0"/>
                                  </p:stCondLst>
                                  <p:childTnLst>
                                    <p:set>
                                      <p:cBhvr>
                                        <p:cTn id="166" dur="1" fill="hold">
                                          <p:stCondLst>
                                            <p:cond delay="0"/>
                                          </p:stCondLst>
                                        </p:cTn>
                                        <p:tgtEl>
                                          <p:spTgt spid="157750"/>
                                        </p:tgtEl>
                                        <p:attrNameLst>
                                          <p:attrName>style.visibility</p:attrName>
                                        </p:attrNameLst>
                                      </p:cBhvr>
                                      <p:to>
                                        <p:strVal val="visible"/>
                                      </p:to>
                                    </p:set>
                                    <p:animEffect transition="in" filter="barn(outVertical)">
                                      <p:cBhvr>
                                        <p:cTn id="167" dur="500"/>
                                        <p:tgtEl>
                                          <p:spTgt spid="157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49" grpId="0" build="p" autoUpdateAnimBg="0"/>
      <p:bldP spid="157707" grpId="0" build="p" autoUpdateAnimBg="0"/>
      <p:bldP spid="157708" grpId="0" build="p" autoUpdateAnimBg="0"/>
      <p:bldP spid="157709" grpId="0" animBg="1"/>
      <p:bldP spid="157710" grpId="0" build="p" autoUpdateAnimBg="0"/>
      <p:bldP spid="157715" grpId="0" build="p" autoUpdateAnimBg="0" advAuto="0"/>
      <p:bldP spid="157716" grpId="0" build="p" autoUpdateAnimBg="0" advAuto="0"/>
      <p:bldP spid="157717" grpId="0" build="p" autoUpdateAnimBg="0" advAuto="0"/>
      <p:bldP spid="157718" grpId="0" build="p" autoUpdateAnimBg="0" advAuto="0"/>
      <p:bldP spid="157719" grpId="0" build="p" autoUpdateAnimBg="0" advAuto="0"/>
      <p:bldP spid="157720" grpId="0" build="p" autoUpdateAnimBg="0" advAuto="0"/>
      <p:bldP spid="157721" grpId="0" build="p" autoUpdateAnimBg="0" advAuto="0"/>
      <p:bldP spid="157722" grpId="0" build="p" autoUpdateAnimBg="0" advAuto="0"/>
      <p:bldP spid="157723" grpId="0" build="p" autoUpdateAnimBg="0" advAuto="0"/>
      <p:bldP spid="157724" grpId="0" build="p" autoUpdateAnimBg="0"/>
      <p:bldP spid="157725" grpId="0" build="p" autoUpdateAnimBg="0" advAuto="0"/>
      <p:bldP spid="157726" grpId="0" animBg="1"/>
      <p:bldP spid="157727" grpId="0" animBg="1"/>
      <p:bldP spid="157728" grpId="0" animBg="1"/>
      <p:bldP spid="157729" grpId="0" animBg="1"/>
      <p:bldP spid="157730" grpId="0" animBg="1"/>
      <p:bldP spid="157731" grpId="0" animBg="1"/>
      <p:bldP spid="157745" grpId="0" animBg="1"/>
      <p:bldP spid="157746" grpId="0" build="p" autoUpdateAnimBg="0"/>
      <p:bldP spid="157747" grpId="0" animBg="1"/>
      <p:bldP spid="157750" grpId="0" autoUpdateAnimBg="0"/>
      <p:bldP spid="5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5" name="Text Box 35"/>
          <p:cNvSpPr txBox="1">
            <a:spLocks noChangeArrowheads="1"/>
          </p:cNvSpPr>
          <p:nvPr/>
        </p:nvSpPr>
        <p:spPr bwMode="auto">
          <a:xfrm>
            <a:off x="98425" y="152400"/>
            <a:ext cx="821848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ea typeface="楷体_GB2312"/>
              </a:rPr>
              <a:t>3.</a:t>
            </a:r>
            <a:r>
              <a:rPr lang="zh-CN" altLang="en-US" sz="2800">
                <a:ea typeface="楷体_GB2312"/>
              </a:rPr>
              <a:t>导体表面曲率对导体表面上电荷分布的影响</a:t>
            </a:r>
          </a:p>
        </p:txBody>
      </p:sp>
      <p:sp>
        <p:nvSpPr>
          <p:cNvPr id="112681" name="Rectangle 41"/>
          <p:cNvSpPr>
            <a:spLocks noChangeArrowheads="1"/>
          </p:cNvSpPr>
          <p:nvPr/>
        </p:nvSpPr>
        <p:spPr bwMode="auto">
          <a:xfrm>
            <a:off x="-29239" y="6274702"/>
            <a:ext cx="94756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ea typeface="楷体_GB2312"/>
              </a:rPr>
              <a:t>(</a:t>
            </a:r>
            <a:r>
              <a:rPr lang="zh-CN" altLang="en-US" sz="2800">
                <a:ea typeface="楷体_GB2312"/>
              </a:rPr>
              <a:t>该结论只对孤立导体成立，一般情况下</a:t>
            </a:r>
            <a:r>
              <a:rPr lang="el-GR" altLang="zh-CN" sz="2800">
                <a:cs typeface="Times New Roman" panose="02020603050405020304" pitchFamily="18" charset="0"/>
              </a:rPr>
              <a:t>σ</a:t>
            </a:r>
            <a:r>
              <a:rPr lang="zh-CN" altLang="en-US" sz="2800">
                <a:ea typeface="楷体_GB2312"/>
              </a:rPr>
              <a:t>不与曲率成正比）</a:t>
            </a:r>
          </a:p>
        </p:txBody>
      </p:sp>
      <p:sp>
        <p:nvSpPr>
          <p:cNvPr id="112730" name="Oval 90"/>
          <p:cNvSpPr>
            <a:spLocks noChangeArrowheads="1"/>
          </p:cNvSpPr>
          <p:nvPr/>
        </p:nvSpPr>
        <p:spPr bwMode="auto">
          <a:xfrm>
            <a:off x="3300413" y="1576388"/>
            <a:ext cx="2514600" cy="2438400"/>
          </a:xfrm>
          <a:prstGeom prst="ellipse">
            <a:avLst/>
          </a:prstGeom>
          <a:solidFill>
            <a:srgbClr val="A1BD69"/>
          </a:solidFill>
          <a:ln w="9525">
            <a:solidFill>
              <a:srgbClr val="0099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12731" name="Oval 91"/>
          <p:cNvSpPr>
            <a:spLocks noChangeArrowheads="1"/>
          </p:cNvSpPr>
          <p:nvPr/>
        </p:nvSpPr>
        <p:spPr bwMode="auto">
          <a:xfrm>
            <a:off x="7550150" y="2133600"/>
            <a:ext cx="1524000" cy="1524000"/>
          </a:xfrm>
          <a:prstGeom prst="ellipse">
            <a:avLst/>
          </a:prstGeom>
          <a:solidFill>
            <a:srgbClr val="FF9900"/>
          </a:solidFill>
          <a:ln w="9525">
            <a:solidFill>
              <a:srgbClr val="FFFF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12732" name="Line 92"/>
          <p:cNvSpPr>
            <a:spLocks noChangeShapeType="1"/>
          </p:cNvSpPr>
          <p:nvPr/>
        </p:nvSpPr>
        <p:spPr bwMode="auto">
          <a:xfrm flipV="1">
            <a:off x="4595813" y="2205038"/>
            <a:ext cx="1082675" cy="6270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3" name="Line 93"/>
          <p:cNvSpPr>
            <a:spLocks noChangeShapeType="1"/>
          </p:cNvSpPr>
          <p:nvPr/>
        </p:nvSpPr>
        <p:spPr bwMode="auto">
          <a:xfrm flipV="1">
            <a:off x="8235950" y="2438400"/>
            <a:ext cx="68580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4" name="Text Box 94"/>
          <p:cNvSpPr txBox="1">
            <a:spLocks noChangeArrowheads="1"/>
          </p:cNvSpPr>
          <p:nvPr/>
        </p:nvSpPr>
        <p:spPr bwMode="auto">
          <a:xfrm>
            <a:off x="4841875" y="2062163"/>
            <a:ext cx="9080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i="1">
                <a:solidFill>
                  <a:srgbClr val="000000"/>
                </a:solidFill>
                <a:ea typeface="楷体_GB2312"/>
              </a:rPr>
              <a:t>R</a:t>
            </a:r>
          </a:p>
        </p:txBody>
      </p:sp>
      <p:sp>
        <p:nvSpPr>
          <p:cNvPr id="112735" name="Text Box 95"/>
          <p:cNvSpPr txBox="1">
            <a:spLocks noChangeArrowheads="1"/>
          </p:cNvSpPr>
          <p:nvPr/>
        </p:nvSpPr>
        <p:spPr bwMode="auto">
          <a:xfrm>
            <a:off x="8388350" y="2514600"/>
            <a:ext cx="6096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i="1">
                <a:solidFill>
                  <a:srgbClr val="000000"/>
                </a:solidFill>
                <a:ea typeface="楷体_GB2312"/>
              </a:rPr>
              <a:t>r</a:t>
            </a:r>
          </a:p>
        </p:txBody>
      </p:sp>
      <p:sp>
        <p:nvSpPr>
          <p:cNvPr id="112736" name="Freeform 96"/>
          <p:cNvSpPr>
            <a:spLocks/>
          </p:cNvSpPr>
          <p:nvPr/>
        </p:nvSpPr>
        <p:spPr bwMode="auto">
          <a:xfrm>
            <a:off x="5281613" y="2598738"/>
            <a:ext cx="2316162" cy="1187450"/>
          </a:xfrm>
          <a:custGeom>
            <a:avLst/>
            <a:gdLst>
              <a:gd name="T0" fmla="*/ 0 w 1327"/>
              <a:gd name="T1" fmla="*/ 2147483646 h 832"/>
              <a:gd name="T2" fmla="*/ 2147483646 w 1327"/>
              <a:gd name="T3" fmla="*/ 2147483646 h 832"/>
              <a:gd name="T4" fmla="*/ 2147483646 w 1327"/>
              <a:gd name="T5" fmla="*/ 2147483646 h 832"/>
              <a:gd name="T6" fmla="*/ 2147483646 w 1327"/>
              <a:gd name="T7" fmla="*/ 2147483646 h 832"/>
              <a:gd name="T8" fmla="*/ 2147483646 w 1327"/>
              <a:gd name="T9" fmla="*/ 2147483646 h 832"/>
              <a:gd name="T10" fmla="*/ 2147483646 w 1327"/>
              <a:gd name="T11" fmla="*/ 2147483646 h 832"/>
              <a:gd name="T12" fmla="*/ 2147483646 w 1327"/>
              <a:gd name="T13" fmla="*/ 2147483646 h 832"/>
              <a:gd name="T14" fmla="*/ 2147483646 w 1327"/>
              <a:gd name="T15" fmla="*/ 2147483646 h 832"/>
              <a:gd name="T16" fmla="*/ 2147483646 w 1327"/>
              <a:gd name="T17" fmla="*/ 2147483646 h 832"/>
              <a:gd name="T18" fmla="*/ 2147483646 w 1327"/>
              <a:gd name="T19" fmla="*/ 2147483646 h 8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27" h="832">
                <a:moveTo>
                  <a:pt x="0" y="832"/>
                </a:moveTo>
                <a:cubicBezTo>
                  <a:pt x="88" y="821"/>
                  <a:pt x="178" y="818"/>
                  <a:pt x="264" y="796"/>
                </a:cubicBezTo>
                <a:cubicBezTo>
                  <a:pt x="355" y="773"/>
                  <a:pt x="436" y="739"/>
                  <a:pt x="528" y="724"/>
                </a:cubicBezTo>
                <a:cubicBezTo>
                  <a:pt x="625" y="627"/>
                  <a:pt x="594" y="675"/>
                  <a:pt x="636" y="592"/>
                </a:cubicBezTo>
                <a:cubicBezTo>
                  <a:pt x="640" y="560"/>
                  <a:pt x="637" y="526"/>
                  <a:pt x="648" y="496"/>
                </a:cubicBezTo>
                <a:cubicBezTo>
                  <a:pt x="654" y="480"/>
                  <a:pt x="675" y="474"/>
                  <a:pt x="684" y="460"/>
                </a:cubicBezTo>
                <a:cubicBezTo>
                  <a:pt x="721" y="405"/>
                  <a:pt x="655" y="429"/>
                  <a:pt x="744" y="376"/>
                </a:cubicBezTo>
                <a:cubicBezTo>
                  <a:pt x="797" y="344"/>
                  <a:pt x="866" y="347"/>
                  <a:pt x="924" y="328"/>
                </a:cubicBezTo>
                <a:cubicBezTo>
                  <a:pt x="1036" y="250"/>
                  <a:pt x="1132" y="163"/>
                  <a:pt x="1236" y="76"/>
                </a:cubicBezTo>
                <a:cubicBezTo>
                  <a:pt x="1327" y="0"/>
                  <a:pt x="1292" y="61"/>
                  <a:pt x="1320" y="4"/>
                </a:cubicBezTo>
              </a:path>
            </a:pathLst>
          </a:custGeom>
          <a:noFill/>
          <a:ln w="28575" cmpd="sng">
            <a:solidFill>
              <a:srgbClr val="00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112737" name="Object 97"/>
          <p:cNvGraphicFramePr>
            <a:graphicFrameLocks noChangeAspect="1"/>
          </p:cNvGraphicFramePr>
          <p:nvPr/>
        </p:nvGraphicFramePr>
        <p:xfrm>
          <a:off x="3132138" y="1341438"/>
          <a:ext cx="611187" cy="577850"/>
        </p:xfrm>
        <a:graphic>
          <a:graphicData uri="http://schemas.openxmlformats.org/presentationml/2006/ole">
            <mc:AlternateContent xmlns:mc="http://schemas.openxmlformats.org/markup-compatibility/2006">
              <mc:Choice xmlns:v="urn:schemas-microsoft-com:vml" Requires="v">
                <p:oleObj spid="_x0000_s12898" name="公式" r:id="rId3" imgW="171244" imgH="161859" progId="Equation.3">
                  <p:embed/>
                </p:oleObj>
              </mc:Choice>
              <mc:Fallback>
                <p:oleObj name="公式" r:id="rId3" imgW="171244" imgH="161859" progId="Equation.3">
                  <p:embed/>
                  <p:pic>
                    <p:nvPicPr>
                      <p:cNvPr id="0" name="Object 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1341438"/>
                        <a:ext cx="611187"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8" name="Object 98"/>
          <p:cNvGraphicFramePr>
            <a:graphicFrameLocks noChangeAspect="1"/>
          </p:cNvGraphicFramePr>
          <p:nvPr/>
        </p:nvGraphicFramePr>
        <p:xfrm>
          <a:off x="8029575" y="1522413"/>
          <a:ext cx="631825" cy="685800"/>
        </p:xfrm>
        <a:graphic>
          <a:graphicData uri="http://schemas.openxmlformats.org/presentationml/2006/ole">
            <mc:AlternateContent xmlns:mc="http://schemas.openxmlformats.org/markup-compatibility/2006">
              <mc:Choice xmlns:v="urn:schemas-microsoft-com:vml" Requires="v">
                <p:oleObj spid="_x0000_s12899" name="公式" r:id="rId5" imgW="95275" imgH="104683" progId="Equation.3">
                  <p:embed/>
                </p:oleObj>
              </mc:Choice>
              <mc:Fallback>
                <p:oleObj name="公式" r:id="rId5" imgW="95275" imgH="104683" progId="Equation.3">
                  <p:embed/>
                  <p:pic>
                    <p:nvPicPr>
                      <p:cNvPr id="0" name="Object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9575" y="1522413"/>
                        <a:ext cx="631825"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9" name="Object 99"/>
          <p:cNvGraphicFramePr>
            <a:graphicFrameLocks noChangeAspect="1"/>
          </p:cNvGraphicFramePr>
          <p:nvPr/>
        </p:nvGraphicFramePr>
        <p:xfrm>
          <a:off x="684213" y="1377950"/>
          <a:ext cx="2058987" cy="612775"/>
        </p:xfrm>
        <a:graphic>
          <a:graphicData uri="http://schemas.openxmlformats.org/presentationml/2006/ole">
            <mc:AlternateContent xmlns:mc="http://schemas.openxmlformats.org/markup-compatibility/2006">
              <mc:Choice xmlns:v="urn:schemas-microsoft-com:vml" Requires="v">
                <p:oleObj spid="_x0000_s12900" name="公式" r:id="rId7" imgW="752548" imgH="180778" progId="Equation.3">
                  <p:embed/>
                </p:oleObj>
              </mc:Choice>
              <mc:Fallback>
                <p:oleObj name="公式" r:id="rId7" imgW="752548" imgH="180778" progId="Equation.3">
                  <p:embed/>
                  <p:pic>
                    <p:nvPicPr>
                      <p:cNvPr id="0" name="Object 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1377950"/>
                        <a:ext cx="2058987"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0" name="Object 100"/>
          <p:cNvGraphicFramePr>
            <a:graphicFrameLocks noChangeAspect="1"/>
          </p:cNvGraphicFramePr>
          <p:nvPr>
            <p:extLst>
              <p:ext uri="{D42A27DB-BD31-4B8C-83A1-F6EECF244321}">
                <p14:modId xmlns:p14="http://schemas.microsoft.com/office/powerpoint/2010/main" val="1581373837"/>
              </p:ext>
            </p:extLst>
          </p:nvPr>
        </p:nvGraphicFramePr>
        <p:xfrm>
          <a:off x="684213" y="2060575"/>
          <a:ext cx="1825625" cy="839639"/>
        </p:xfrm>
        <a:graphic>
          <a:graphicData uri="http://schemas.openxmlformats.org/presentationml/2006/ole">
            <mc:AlternateContent xmlns:mc="http://schemas.openxmlformats.org/markup-compatibility/2006">
              <mc:Choice xmlns:v="urn:schemas-microsoft-com:vml" Requires="v">
                <p:oleObj spid="_x0000_s12901" name="公式" r:id="rId9" imgW="886017" imgH="371646" progId="Equation.3">
                  <p:embed/>
                </p:oleObj>
              </mc:Choice>
              <mc:Fallback>
                <p:oleObj name="公式" r:id="rId9" imgW="886017" imgH="371646" progId="Equation.3">
                  <p:embed/>
                  <p:pic>
                    <p:nvPicPr>
                      <p:cNvPr id="0" name="Object 10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2060575"/>
                        <a:ext cx="1825625" cy="839639"/>
                      </a:xfrm>
                      <a:prstGeom prst="rect">
                        <a:avLst/>
                      </a:prstGeom>
                      <a:noFill/>
                      <a:ln>
                        <a:noFill/>
                      </a:ln>
                      <a:effectLst/>
                      <a:extLst/>
                    </p:spPr>
                  </p:pic>
                </p:oleObj>
              </mc:Fallback>
            </mc:AlternateContent>
          </a:graphicData>
        </a:graphic>
      </p:graphicFrame>
      <p:sp>
        <p:nvSpPr>
          <p:cNvPr id="112741" name="Text Box 101"/>
          <p:cNvSpPr txBox="1">
            <a:spLocks noChangeArrowheads="1"/>
          </p:cNvSpPr>
          <p:nvPr/>
        </p:nvSpPr>
        <p:spPr bwMode="auto">
          <a:xfrm>
            <a:off x="452438" y="4214813"/>
            <a:ext cx="2895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达静电平衡时，</a:t>
            </a:r>
          </a:p>
        </p:txBody>
      </p:sp>
      <p:graphicFrame>
        <p:nvGraphicFramePr>
          <p:cNvPr id="112742" name="Object 102"/>
          <p:cNvGraphicFramePr>
            <a:graphicFrameLocks noChangeAspect="1"/>
          </p:cNvGraphicFramePr>
          <p:nvPr/>
        </p:nvGraphicFramePr>
        <p:xfrm>
          <a:off x="3176588" y="4214813"/>
          <a:ext cx="1492250" cy="571500"/>
        </p:xfrm>
        <a:graphic>
          <a:graphicData uri="http://schemas.openxmlformats.org/presentationml/2006/ole">
            <mc:AlternateContent xmlns:mc="http://schemas.openxmlformats.org/markup-compatibility/2006">
              <mc:Choice xmlns:v="urn:schemas-microsoft-com:vml" Requires="v">
                <p:oleObj spid="_x0000_s12902" name="公式" r:id="rId11" imgW="504917" imgH="161859" progId="Equation.3">
                  <p:embed/>
                </p:oleObj>
              </mc:Choice>
              <mc:Fallback>
                <p:oleObj name="公式" r:id="rId11" imgW="504917" imgH="161859" progId="Equation.3">
                  <p:embed/>
                  <p:pic>
                    <p:nvPicPr>
                      <p:cNvPr id="0" name="Object 10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76588" y="4214813"/>
                        <a:ext cx="14922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3" name="Object 103"/>
          <p:cNvGraphicFramePr>
            <a:graphicFrameLocks noChangeAspect="1"/>
          </p:cNvGraphicFramePr>
          <p:nvPr/>
        </p:nvGraphicFramePr>
        <p:xfrm>
          <a:off x="4932363" y="3997325"/>
          <a:ext cx="2089150" cy="1158875"/>
        </p:xfrm>
        <a:graphic>
          <a:graphicData uri="http://schemas.openxmlformats.org/presentationml/2006/ole">
            <mc:AlternateContent xmlns:mc="http://schemas.openxmlformats.org/markup-compatibility/2006">
              <mc:Choice xmlns:v="urn:schemas-microsoft-com:vml" Requires="v">
                <p:oleObj spid="_x0000_s12903" name="公式" r:id="rId13" imgW="714354" imgH="371646" progId="Equation.3">
                  <p:embed/>
                </p:oleObj>
              </mc:Choice>
              <mc:Fallback>
                <p:oleObj name="公式" r:id="rId13" imgW="714354" imgH="371646" progId="Equation.3">
                  <p:embed/>
                  <p:pic>
                    <p:nvPicPr>
                      <p:cNvPr id="0" name="Object 10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32363" y="3997325"/>
                        <a:ext cx="2089150" cy="115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4" name="Object 104"/>
          <p:cNvGraphicFramePr>
            <a:graphicFrameLocks noChangeAspect="1"/>
          </p:cNvGraphicFramePr>
          <p:nvPr/>
        </p:nvGraphicFramePr>
        <p:xfrm>
          <a:off x="3205163" y="5148263"/>
          <a:ext cx="3167062" cy="585787"/>
        </p:xfrm>
        <a:graphic>
          <a:graphicData uri="http://schemas.openxmlformats.org/presentationml/2006/ole">
            <mc:AlternateContent xmlns:mc="http://schemas.openxmlformats.org/markup-compatibility/2006">
              <mc:Choice xmlns:v="urn:schemas-microsoft-com:vml" Requires="v">
                <p:oleObj spid="_x0000_s12904" name="公式" r:id="rId15" imgW="1095455" imgH="161859" progId="Equation.3">
                  <p:embed/>
                </p:oleObj>
              </mc:Choice>
              <mc:Fallback>
                <p:oleObj name="公式" r:id="rId15" imgW="1095455" imgH="161859" progId="Equation.3">
                  <p:embed/>
                  <p:pic>
                    <p:nvPicPr>
                      <p:cNvPr id="0" name="Object 10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5163" y="5148263"/>
                        <a:ext cx="3167062" cy="58578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2750" name="Group 110"/>
          <p:cNvGrpSpPr>
            <a:grpSpLocks/>
          </p:cNvGrpSpPr>
          <p:nvPr/>
        </p:nvGrpSpPr>
        <p:grpSpPr bwMode="auto">
          <a:xfrm>
            <a:off x="457200" y="692150"/>
            <a:ext cx="5122863" cy="630238"/>
            <a:chOff x="288" y="527"/>
            <a:chExt cx="3227" cy="397"/>
          </a:xfrm>
        </p:grpSpPr>
        <p:sp>
          <p:nvSpPr>
            <p:cNvPr id="12311" name="Text Box 37"/>
            <p:cNvSpPr txBox="1">
              <a:spLocks noChangeArrowheads="1"/>
            </p:cNvSpPr>
            <p:nvPr/>
          </p:nvSpPr>
          <p:spPr bwMode="auto">
            <a:xfrm>
              <a:off x="288" y="530"/>
              <a:ext cx="3227"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Font typeface="Wingdings" panose="05000000000000000000" pitchFamily="2" charset="2"/>
                <a:buChar char="§"/>
              </a:pPr>
              <a:r>
                <a:rPr lang="en-US" altLang="zh-CN" sz="2800">
                  <a:solidFill>
                    <a:srgbClr val="FF0000"/>
                  </a:solidFill>
                  <a:ea typeface="楷体_GB2312"/>
                </a:rPr>
                <a:t>          </a:t>
              </a:r>
              <a:r>
                <a:rPr lang="zh-CN" altLang="en-US" sz="2800">
                  <a:solidFill>
                    <a:srgbClr val="000000"/>
                  </a:solidFill>
                  <a:ea typeface="楷体_GB2312"/>
                </a:rPr>
                <a:t>与导体表面曲率的关系</a:t>
              </a:r>
              <a:endParaRPr lang="zh-CN" altLang="en-US" sz="2800">
                <a:solidFill>
                  <a:schemeClr val="accent2"/>
                </a:solidFill>
                <a:latin typeface="Arial" panose="020B0604020202020204" pitchFamily="34" charset="0"/>
                <a:ea typeface="楷体_GB2312"/>
              </a:endParaRPr>
            </a:p>
          </p:txBody>
        </p:sp>
        <p:graphicFrame>
          <p:nvGraphicFramePr>
            <p:cNvPr id="12312" name="Object 108"/>
            <p:cNvGraphicFramePr>
              <a:graphicFrameLocks noChangeAspect="1"/>
            </p:cNvGraphicFramePr>
            <p:nvPr/>
          </p:nvGraphicFramePr>
          <p:xfrm>
            <a:off x="485" y="527"/>
            <a:ext cx="544" cy="397"/>
          </p:xfrm>
          <a:graphic>
            <a:graphicData uri="http://schemas.openxmlformats.org/presentationml/2006/ole">
              <mc:AlternateContent xmlns:mc="http://schemas.openxmlformats.org/markup-compatibility/2006">
                <mc:Choice xmlns:v="urn:schemas-microsoft-com:vml" Requires="v">
                  <p:oleObj spid="_x0000_s12905" name="公式" r:id="rId17" imgW="276172" imgH="180778" progId="Equation.3">
                    <p:embed/>
                  </p:oleObj>
                </mc:Choice>
                <mc:Fallback>
                  <p:oleObj name="公式" r:id="rId17" imgW="276172" imgH="180778" progId="Equation.3">
                    <p:embed/>
                    <p:pic>
                      <p:nvPicPr>
                        <p:cNvPr id="0" name="Object 10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5" y="527"/>
                          <a:ext cx="544"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2749" name="Rectangle 109"/>
          <p:cNvSpPr>
            <a:spLocks noChangeArrowheads="1"/>
          </p:cNvSpPr>
          <p:nvPr/>
        </p:nvSpPr>
        <p:spPr bwMode="auto">
          <a:xfrm>
            <a:off x="288131" y="5685632"/>
            <a:ext cx="9001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FF0000"/>
                </a:solidFill>
                <a:ea typeface="楷体_GB2312"/>
              </a:rPr>
              <a:t>导体表面曲率越大电荷面密度越大，电场强度也越大。</a:t>
            </a:r>
          </a:p>
        </p:txBody>
      </p:sp>
      <p:graphicFrame>
        <p:nvGraphicFramePr>
          <p:cNvPr id="112751" name="Object 111"/>
          <p:cNvGraphicFramePr>
            <a:graphicFrameLocks noChangeAspect="1"/>
          </p:cNvGraphicFramePr>
          <p:nvPr>
            <p:extLst>
              <p:ext uri="{D42A27DB-BD31-4B8C-83A1-F6EECF244321}">
                <p14:modId xmlns:p14="http://schemas.microsoft.com/office/powerpoint/2010/main" val="1664712391"/>
              </p:ext>
            </p:extLst>
          </p:nvPr>
        </p:nvGraphicFramePr>
        <p:xfrm>
          <a:off x="1244031" y="3057367"/>
          <a:ext cx="1065782" cy="957421"/>
        </p:xfrm>
        <a:graphic>
          <a:graphicData uri="http://schemas.openxmlformats.org/presentationml/2006/ole">
            <mc:AlternateContent xmlns:mc="http://schemas.openxmlformats.org/markup-compatibility/2006">
              <mc:Choice xmlns:v="urn:schemas-microsoft-com:vml" Requires="v">
                <p:oleObj spid="_x0000_s12906" name="公式" r:id="rId19" imgW="438182" imgH="390564" progId="Equation.3">
                  <p:embed/>
                </p:oleObj>
              </mc:Choice>
              <mc:Fallback>
                <p:oleObj name="公式" r:id="rId19" imgW="438182" imgH="390564" progId="Equation.3">
                  <p:embed/>
                  <p:pic>
                    <p:nvPicPr>
                      <p:cNvPr id="0" name="Object 1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44031" y="3057367"/>
                        <a:ext cx="1065782" cy="957421"/>
                      </a:xfrm>
                      <a:prstGeom prst="rect">
                        <a:avLst/>
                      </a:prstGeom>
                      <a:noFill/>
                      <a:ln>
                        <a:noFill/>
                      </a:ln>
                      <a:effectLst/>
                      <a:extLst/>
                    </p:spPr>
                  </p:pic>
                </p:oleObj>
              </mc:Fallback>
            </mc:AlternateContent>
          </a:graphicData>
        </a:graphic>
      </p:graphicFrame>
      <p:sp>
        <p:nvSpPr>
          <p:cNvPr id="112752" name="Text Box 112"/>
          <p:cNvSpPr txBox="1">
            <a:spLocks noChangeArrowheads="1"/>
          </p:cNvSpPr>
          <p:nvPr/>
        </p:nvSpPr>
        <p:spPr bwMode="auto">
          <a:xfrm>
            <a:off x="6227763" y="1125538"/>
            <a:ext cx="2900362" cy="528637"/>
          </a:xfrm>
          <a:prstGeom prst="rect">
            <a:avLst/>
          </a:prstGeom>
          <a:solidFill>
            <a:schemeClr val="accent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D60093"/>
                </a:solidFill>
                <a:ea typeface="楷体_GB2312"/>
              </a:rPr>
              <a:t>曲率</a:t>
            </a:r>
            <a:r>
              <a:rPr lang="en-US" altLang="zh-CN" sz="2800">
                <a:solidFill>
                  <a:srgbClr val="D60093"/>
                </a:solidFill>
                <a:ea typeface="楷体_GB2312"/>
              </a:rPr>
              <a:t>=1/</a:t>
            </a:r>
            <a:r>
              <a:rPr lang="zh-CN" altLang="en-US" sz="2800">
                <a:solidFill>
                  <a:srgbClr val="D60093"/>
                </a:solidFill>
                <a:ea typeface="楷体_GB2312"/>
              </a:rPr>
              <a:t>曲率半径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5"/>
                                        </p:tgtEl>
                                        <p:attrNameLst>
                                          <p:attrName>style.visibility</p:attrName>
                                        </p:attrNameLst>
                                      </p:cBhvr>
                                      <p:to>
                                        <p:strVal val="visible"/>
                                      </p:to>
                                    </p:set>
                                    <p:animEffect transition="in" filter="wipe(left)">
                                      <p:cBhvr>
                                        <p:cTn id="7" dur="500"/>
                                        <p:tgtEl>
                                          <p:spTgt spid="1126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12752"/>
                                        </p:tgtEl>
                                        <p:attrNameLst>
                                          <p:attrName>style.visibility</p:attrName>
                                        </p:attrNameLst>
                                      </p:cBhvr>
                                      <p:to>
                                        <p:strVal val="visible"/>
                                      </p:to>
                                    </p:set>
                                    <p:anim calcmode="lin" valueType="num">
                                      <p:cBhvr additive="base">
                                        <p:cTn id="12" dur="500" fill="hold"/>
                                        <p:tgtEl>
                                          <p:spTgt spid="112752"/>
                                        </p:tgtEl>
                                        <p:attrNameLst>
                                          <p:attrName>ppt_x</p:attrName>
                                        </p:attrNameLst>
                                      </p:cBhvr>
                                      <p:tavLst>
                                        <p:tav tm="0">
                                          <p:val>
                                            <p:strVal val="1+#ppt_w/2"/>
                                          </p:val>
                                        </p:tav>
                                        <p:tav tm="100000">
                                          <p:val>
                                            <p:strVal val="#ppt_x"/>
                                          </p:val>
                                        </p:tav>
                                      </p:tavLst>
                                    </p:anim>
                                    <p:anim calcmode="lin" valueType="num">
                                      <p:cBhvr additive="base">
                                        <p:cTn id="13" dur="500" fill="hold"/>
                                        <p:tgtEl>
                                          <p:spTgt spid="11275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12750"/>
                                        </p:tgtEl>
                                        <p:attrNameLst>
                                          <p:attrName>style.visibility</p:attrName>
                                        </p:attrNameLst>
                                      </p:cBhvr>
                                      <p:to>
                                        <p:strVal val="visible"/>
                                      </p:to>
                                    </p:set>
                                    <p:animEffect transition="in" filter="wipe(left)">
                                      <p:cBhvr>
                                        <p:cTn id="18" dur="500"/>
                                        <p:tgtEl>
                                          <p:spTgt spid="11275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1273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273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12734">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1273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1273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1273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12735">
                                            <p:txEl>
                                              <p:pRg st="0" end="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11273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1273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nodeType="clickEffect">
                                  <p:stCondLst>
                                    <p:cond delay="0"/>
                                  </p:stCondLst>
                                  <p:childTnLst>
                                    <p:set>
                                      <p:cBhvr>
                                        <p:cTn id="58" dur="1" fill="hold">
                                          <p:stCondLst>
                                            <p:cond delay="0"/>
                                          </p:stCondLst>
                                        </p:cTn>
                                        <p:tgtEl>
                                          <p:spTgt spid="112739"/>
                                        </p:tgtEl>
                                        <p:attrNameLst>
                                          <p:attrName>style.visibility</p:attrName>
                                        </p:attrNameLst>
                                      </p:cBhvr>
                                      <p:to>
                                        <p:strVal val="visible"/>
                                      </p:to>
                                    </p:set>
                                    <p:anim calcmode="lin" valueType="num">
                                      <p:cBhvr additive="base">
                                        <p:cTn id="59" dur="500" fill="hold"/>
                                        <p:tgtEl>
                                          <p:spTgt spid="112739"/>
                                        </p:tgtEl>
                                        <p:attrNameLst>
                                          <p:attrName>ppt_x</p:attrName>
                                        </p:attrNameLst>
                                      </p:cBhvr>
                                      <p:tavLst>
                                        <p:tav tm="0">
                                          <p:val>
                                            <p:strVal val="0-#ppt_w/2"/>
                                          </p:val>
                                        </p:tav>
                                        <p:tav tm="100000">
                                          <p:val>
                                            <p:strVal val="#ppt_x"/>
                                          </p:val>
                                        </p:tav>
                                      </p:tavLst>
                                    </p:anim>
                                    <p:anim calcmode="lin" valueType="num">
                                      <p:cBhvr additive="base">
                                        <p:cTn id="60" dur="500" fill="hold"/>
                                        <p:tgtEl>
                                          <p:spTgt spid="112739"/>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nodeType="clickEffect">
                                  <p:stCondLst>
                                    <p:cond delay="0"/>
                                  </p:stCondLst>
                                  <p:childTnLst>
                                    <p:set>
                                      <p:cBhvr>
                                        <p:cTn id="64" dur="1" fill="hold">
                                          <p:stCondLst>
                                            <p:cond delay="0"/>
                                          </p:stCondLst>
                                        </p:cTn>
                                        <p:tgtEl>
                                          <p:spTgt spid="112740"/>
                                        </p:tgtEl>
                                        <p:attrNameLst>
                                          <p:attrName>style.visibility</p:attrName>
                                        </p:attrNameLst>
                                      </p:cBhvr>
                                      <p:to>
                                        <p:strVal val="visible"/>
                                      </p:to>
                                    </p:set>
                                    <p:anim calcmode="lin" valueType="num">
                                      <p:cBhvr additive="base">
                                        <p:cTn id="65" dur="500" fill="hold"/>
                                        <p:tgtEl>
                                          <p:spTgt spid="112740"/>
                                        </p:tgtEl>
                                        <p:attrNameLst>
                                          <p:attrName>ppt_x</p:attrName>
                                        </p:attrNameLst>
                                      </p:cBhvr>
                                      <p:tavLst>
                                        <p:tav tm="0">
                                          <p:val>
                                            <p:strVal val="0-#ppt_w/2"/>
                                          </p:val>
                                        </p:tav>
                                        <p:tav tm="100000">
                                          <p:val>
                                            <p:strVal val="#ppt_x"/>
                                          </p:val>
                                        </p:tav>
                                      </p:tavLst>
                                    </p:anim>
                                    <p:anim calcmode="lin" valueType="num">
                                      <p:cBhvr additive="base">
                                        <p:cTn id="66" dur="500" fill="hold"/>
                                        <p:tgtEl>
                                          <p:spTgt spid="112740"/>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nodeType="clickEffect">
                                  <p:stCondLst>
                                    <p:cond delay="0"/>
                                  </p:stCondLst>
                                  <p:childTnLst>
                                    <p:set>
                                      <p:cBhvr>
                                        <p:cTn id="70" dur="1" fill="hold">
                                          <p:stCondLst>
                                            <p:cond delay="0"/>
                                          </p:stCondLst>
                                        </p:cTn>
                                        <p:tgtEl>
                                          <p:spTgt spid="112751"/>
                                        </p:tgtEl>
                                        <p:attrNameLst>
                                          <p:attrName>style.visibility</p:attrName>
                                        </p:attrNameLst>
                                      </p:cBhvr>
                                      <p:to>
                                        <p:strVal val="visible"/>
                                      </p:to>
                                    </p:set>
                                    <p:anim calcmode="lin" valueType="num">
                                      <p:cBhvr additive="base">
                                        <p:cTn id="71" dur="500" fill="hold"/>
                                        <p:tgtEl>
                                          <p:spTgt spid="112751"/>
                                        </p:tgtEl>
                                        <p:attrNameLst>
                                          <p:attrName>ppt_x</p:attrName>
                                        </p:attrNameLst>
                                      </p:cBhvr>
                                      <p:tavLst>
                                        <p:tav tm="0">
                                          <p:val>
                                            <p:strVal val="0-#ppt_w/2"/>
                                          </p:val>
                                        </p:tav>
                                        <p:tav tm="100000">
                                          <p:val>
                                            <p:strVal val="#ppt_x"/>
                                          </p:val>
                                        </p:tav>
                                      </p:tavLst>
                                    </p:anim>
                                    <p:anim calcmode="lin" valueType="num">
                                      <p:cBhvr additive="base">
                                        <p:cTn id="72" dur="500" fill="hold"/>
                                        <p:tgtEl>
                                          <p:spTgt spid="112751"/>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12741">
                                            <p:txEl>
                                              <p:pRg st="0" end="0"/>
                                            </p:txEl>
                                          </p:spTgt>
                                        </p:tgtEl>
                                        <p:attrNameLst>
                                          <p:attrName>style.visibility</p:attrName>
                                        </p:attrNameLst>
                                      </p:cBhvr>
                                      <p:to>
                                        <p:strVal val="visible"/>
                                      </p:to>
                                    </p:set>
                                    <p:animEffect transition="in" filter="wipe(left)">
                                      <p:cBhvr>
                                        <p:cTn id="77" dur="500"/>
                                        <p:tgtEl>
                                          <p:spTgt spid="112741">
                                            <p:txEl>
                                              <p:pRg st="0" end="0"/>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12742"/>
                                        </p:tgtEl>
                                        <p:attrNameLst>
                                          <p:attrName>style.visibility</p:attrName>
                                        </p:attrNameLst>
                                      </p:cBhvr>
                                      <p:to>
                                        <p:strVal val="visible"/>
                                      </p:to>
                                    </p:set>
                                    <p:animEffect transition="in" filter="wipe(left)">
                                      <p:cBhvr>
                                        <p:cTn id="82" dur="500"/>
                                        <p:tgtEl>
                                          <p:spTgt spid="11274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12743"/>
                                        </p:tgtEl>
                                        <p:attrNameLst>
                                          <p:attrName>style.visibility</p:attrName>
                                        </p:attrNameLst>
                                      </p:cBhvr>
                                      <p:to>
                                        <p:strVal val="visible"/>
                                      </p:to>
                                    </p:set>
                                    <p:animEffect transition="in" filter="wipe(left)">
                                      <p:cBhvr>
                                        <p:cTn id="87" dur="500"/>
                                        <p:tgtEl>
                                          <p:spTgt spid="11274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499"/>
                                          </p:stCondLst>
                                        </p:cTn>
                                        <p:tgtEl>
                                          <p:spTgt spid="112744"/>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12749"/>
                                        </p:tgtEl>
                                        <p:attrNameLst>
                                          <p:attrName>style.visibility</p:attrName>
                                        </p:attrNameLst>
                                      </p:cBhvr>
                                      <p:to>
                                        <p:strVal val="visible"/>
                                      </p:to>
                                    </p:set>
                                    <p:animEffect transition="in" filter="wipe(left)">
                                      <p:cBhvr>
                                        <p:cTn id="96" dur="500"/>
                                        <p:tgtEl>
                                          <p:spTgt spid="112749"/>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6" presetClass="entr" presetSubtype="37" fill="hold" grpId="0" nodeType="clickEffect">
                                  <p:stCondLst>
                                    <p:cond delay="0"/>
                                  </p:stCondLst>
                                  <p:childTnLst>
                                    <p:set>
                                      <p:cBhvr>
                                        <p:cTn id="100" dur="1" fill="hold">
                                          <p:stCondLst>
                                            <p:cond delay="0"/>
                                          </p:stCondLst>
                                        </p:cTn>
                                        <p:tgtEl>
                                          <p:spTgt spid="112681"/>
                                        </p:tgtEl>
                                        <p:attrNameLst>
                                          <p:attrName>style.visibility</p:attrName>
                                        </p:attrNameLst>
                                      </p:cBhvr>
                                      <p:to>
                                        <p:strVal val="visible"/>
                                      </p:to>
                                    </p:set>
                                    <p:animEffect transition="in" filter="barn(outVertical)">
                                      <p:cBhvr>
                                        <p:cTn id="101" dur="500"/>
                                        <p:tgtEl>
                                          <p:spTgt spid="112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5" grpId="0"/>
      <p:bldP spid="112681" grpId="0"/>
      <p:bldP spid="112730" grpId="0" animBg="1"/>
      <p:bldP spid="112731" grpId="0" animBg="1"/>
      <p:bldP spid="112732" grpId="0" animBg="1"/>
      <p:bldP spid="112733" grpId="0" animBg="1"/>
      <p:bldP spid="112734" grpId="0" build="p" autoUpdateAnimBg="0"/>
      <p:bldP spid="112735" grpId="0" build="p" autoUpdateAnimBg="0"/>
      <p:bldP spid="112736" grpId="0" animBg="1"/>
      <p:bldP spid="112741" grpId="0" build="p" autoUpdateAnimBg="0"/>
      <p:bldP spid="112749" grpId="0"/>
      <p:bldP spid="11275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6" name="Text Box 6"/>
          <p:cNvSpPr txBox="1">
            <a:spLocks noChangeArrowheads="1"/>
          </p:cNvSpPr>
          <p:nvPr/>
        </p:nvSpPr>
        <p:spPr bwMode="auto">
          <a:xfrm>
            <a:off x="457200" y="339725"/>
            <a:ext cx="1981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
            </a:pPr>
            <a:r>
              <a:rPr lang="en-US" altLang="zh-CN" sz="2800">
                <a:solidFill>
                  <a:srgbClr val="FF0000"/>
                </a:solidFill>
                <a:ea typeface="楷体_GB2312"/>
              </a:rPr>
              <a:t> </a:t>
            </a:r>
            <a:r>
              <a:rPr lang="zh-CN" altLang="en-US" sz="2800">
                <a:solidFill>
                  <a:schemeClr val="tx2"/>
                </a:solidFill>
                <a:ea typeface="楷体_GB2312"/>
              </a:rPr>
              <a:t>尖端放电</a:t>
            </a:r>
          </a:p>
        </p:txBody>
      </p:sp>
      <p:sp>
        <p:nvSpPr>
          <p:cNvPr id="158727" name="Text Box 7"/>
          <p:cNvSpPr txBox="1">
            <a:spLocks noChangeArrowheads="1"/>
          </p:cNvSpPr>
          <p:nvPr/>
        </p:nvSpPr>
        <p:spPr bwMode="auto">
          <a:xfrm>
            <a:off x="457200" y="1055688"/>
            <a:ext cx="4343400" cy="338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buFontTx/>
              <a:buNone/>
            </a:pPr>
            <a:r>
              <a:rPr lang="en-US" altLang="zh-CN" sz="2800" dirty="0">
                <a:ea typeface="楷体_GB2312"/>
              </a:rPr>
              <a:t>        </a:t>
            </a:r>
            <a:r>
              <a:rPr lang="zh-CN" altLang="en-US" sz="2800" dirty="0">
                <a:ea typeface="楷体_GB2312"/>
              </a:rPr>
              <a:t>与尖端上电荷异号的带电粒子受尖端电荷的吸引而趋向尖端，与尖端上电荷同号的带电</a:t>
            </a:r>
            <a:r>
              <a:rPr lang="zh-CN" altLang="en-US" sz="2800" dirty="0">
                <a:latin typeface="Arial" panose="020B0604020202020204" pitchFamily="34" charset="0"/>
                <a:ea typeface="楷体_GB2312"/>
              </a:rPr>
              <a:t>粒子受排斥而飞开，使得导体上的电荷从尖端漏失，这种现象叫做尖端放电。</a:t>
            </a:r>
            <a:endParaRPr lang="zh-CN" altLang="en-US" sz="2800" dirty="0">
              <a:ea typeface="楷体_GB2312"/>
            </a:endParaRPr>
          </a:p>
        </p:txBody>
      </p:sp>
      <p:grpSp>
        <p:nvGrpSpPr>
          <p:cNvPr id="158769" name="Group 49"/>
          <p:cNvGrpSpPr>
            <a:grpSpLocks/>
          </p:cNvGrpSpPr>
          <p:nvPr/>
        </p:nvGrpSpPr>
        <p:grpSpPr bwMode="auto">
          <a:xfrm>
            <a:off x="6270625" y="1925638"/>
            <a:ext cx="2667000" cy="1371600"/>
            <a:chOff x="3950" y="1213"/>
            <a:chExt cx="1680" cy="864"/>
          </a:xfrm>
        </p:grpSpPr>
        <p:sp>
          <p:nvSpPr>
            <p:cNvPr id="13334" name="Text Box 4"/>
            <p:cNvSpPr txBox="1">
              <a:spLocks noChangeArrowheads="1"/>
            </p:cNvSpPr>
            <p:nvPr/>
          </p:nvSpPr>
          <p:spPr bwMode="auto">
            <a:xfrm>
              <a:off x="4126" y="1523"/>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35" name="Text Box 5"/>
            <p:cNvSpPr txBox="1">
              <a:spLocks noChangeArrowheads="1"/>
            </p:cNvSpPr>
            <p:nvPr/>
          </p:nvSpPr>
          <p:spPr bwMode="auto">
            <a:xfrm>
              <a:off x="4198" y="1434"/>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36" name="Text Box 16"/>
            <p:cNvSpPr txBox="1">
              <a:spLocks noChangeArrowheads="1"/>
            </p:cNvSpPr>
            <p:nvPr/>
          </p:nvSpPr>
          <p:spPr bwMode="auto">
            <a:xfrm>
              <a:off x="5246" y="1389"/>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37" name="Text Box 17"/>
            <p:cNvSpPr txBox="1">
              <a:spLocks noChangeArrowheads="1"/>
            </p:cNvSpPr>
            <p:nvPr/>
          </p:nvSpPr>
          <p:spPr bwMode="auto">
            <a:xfrm>
              <a:off x="5246" y="1635"/>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38" name="Text Box 18"/>
            <p:cNvSpPr txBox="1">
              <a:spLocks noChangeArrowheads="1"/>
            </p:cNvSpPr>
            <p:nvPr/>
          </p:nvSpPr>
          <p:spPr bwMode="auto">
            <a:xfrm>
              <a:off x="4318" y="1613"/>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39" name="Text Box 19"/>
            <p:cNvSpPr txBox="1">
              <a:spLocks noChangeArrowheads="1"/>
            </p:cNvSpPr>
            <p:nvPr/>
          </p:nvSpPr>
          <p:spPr bwMode="auto">
            <a:xfrm>
              <a:off x="4302" y="1398"/>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40" name="Line 20"/>
            <p:cNvSpPr>
              <a:spLocks noChangeShapeType="1"/>
            </p:cNvSpPr>
            <p:nvPr/>
          </p:nvSpPr>
          <p:spPr bwMode="auto">
            <a:xfrm flipV="1">
              <a:off x="4334" y="1597"/>
              <a:ext cx="288" cy="53"/>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1" name="Line 21"/>
            <p:cNvSpPr>
              <a:spLocks noChangeShapeType="1"/>
            </p:cNvSpPr>
            <p:nvPr/>
          </p:nvSpPr>
          <p:spPr bwMode="auto">
            <a:xfrm>
              <a:off x="4334" y="1650"/>
              <a:ext cx="288" cy="43"/>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2" name="Line 22"/>
            <p:cNvSpPr>
              <a:spLocks noChangeShapeType="1"/>
            </p:cNvSpPr>
            <p:nvPr/>
          </p:nvSpPr>
          <p:spPr bwMode="auto">
            <a:xfrm>
              <a:off x="4622" y="1693"/>
              <a:ext cx="816"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3" name="Line 23"/>
            <p:cNvSpPr>
              <a:spLocks noChangeShapeType="1"/>
            </p:cNvSpPr>
            <p:nvPr/>
          </p:nvSpPr>
          <p:spPr bwMode="auto">
            <a:xfrm>
              <a:off x="4622" y="1597"/>
              <a:ext cx="816"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4" name="Text Box 24"/>
            <p:cNvSpPr txBox="1">
              <a:spLocks noChangeArrowheads="1"/>
            </p:cNvSpPr>
            <p:nvPr/>
          </p:nvSpPr>
          <p:spPr bwMode="auto">
            <a:xfrm>
              <a:off x="4526" y="1395"/>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45" name="Text Box 25"/>
            <p:cNvSpPr txBox="1">
              <a:spLocks noChangeArrowheads="1"/>
            </p:cNvSpPr>
            <p:nvPr/>
          </p:nvSpPr>
          <p:spPr bwMode="auto">
            <a:xfrm>
              <a:off x="4206" y="1610"/>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46" name="Text Box 26"/>
            <p:cNvSpPr txBox="1">
              <a:spLocks noChangeArrowheads="1"/>
            </p:cNvSpPr>
            <p:nvPr/>
          </p:nvSpPr>
          <p:spPr bwMode="auto">
            <a:xfrm>
              <a:off x="4862" y="1395"/>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47" name="Text Box 27"/>
            <p:cNvSpPr txBox="1">
              <a:spLocks noChangeArrowheads="1"/>
            </p:cNvSpPr>
            <p:nvPr/>
          </p:nvSpPr>
          <p:spPr bwMode="auto">
            <a:xfrm>
              <a:off x="4574" y="1645"/>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48" name="Text Box 28"/>
            <p:cNvSpPr txBox="1">
              <a:spLocks noChangeArrowheads="1"/>
            </p:cNvSpPr>
            <p:nvPr/>
          </p:nvSpPr>
          <p:spPr bwMode="auto">
            <a:xfrm>
              <a:off x="4862" y="1635"/>
              <a:ext cx="33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3349" name="Line 29"/>
            <p:cNvSpPr>
              <a:spLocks noChangeShapeType="1"/>
            </p:cNvSpPr>
            <p:nvPr/>
          </p:nvSpPr>
          <p:spPr bwMode="auto">
            <a:xfrm flipH="1" flipV="1">
              <a:off x="3950" y="1453"/>
              <a:ext cx="336" cy="96"/>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0" name="Line 30"/>
            <p:cNvSpPr>
              <a:spLocks noChangeShapeType="1"/>
            </p:cNvSpPr>
            <p:nvPr/>
          </p:nvSpPr>
          <p:spPr bwMode="auto">
            <a:xfrm flipH="1" flipV="1">
              <a:off x="4238" y="1309"/>
              <a:ext cx="192" cy="192"/>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1" name="Line 31"/>
            <p:cNvSpPr>
              <a:spLocks noChangeShapeType="1"/>
            </p:cNvSpPr>
            <p:nvPr/>
          </p:nvSpPr>
          <p:spPr bwMode="auto">
            <a:xfrm flipH="1" flipV="1">
              <a:off x="4478" y="1213"/>
              <a:ext cx="142" cy="237"/>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2" name="Line 32"/>
            <p:cNvSpPr>
              <a:spLocks noChangeShapeType="1"/>
            </p:cNvSpPr>
            <p:nvPr/>
          </p:nvSpPr>
          <p:spPr bwMode="auto">
            <a:xfrm flipV="1">
              <a:off x="5390" y="1309"/>
              <a:ext cx="240" cy="144"/>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3" name="Line 33"/>
            <p:cNvSpPr>
              <a:spLocks noChangeShapeType="1"/>
            </p:cNvSpPr>
            <p:nvPr/>
          </p:nvSpPr>
          <p:spPr bwMode="auto">
            <a:xfrm>
              <a:off x="5390" y="1837"/>
              <a:ext cx="192" cy="144"/>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4" name="Line 34"/>
            <p:cNvSpPr>
              <a:spLocks noChangeShapeType="1"/>
            </p:cNvSpPr>
            <p:nvPr/>
          </p:nvSpPr>
          <p:spPr bwMode="auto">
            <a:xfrm>
              <a:off x="5006" y="1885"/>
              <a:ext cx="0" cy="192"/>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5" name="Line 35"/>
            <p:cNvSpPr>
              <a:spLocks noChangeShapeType="1"/>
            </p:cNvSpPr>
            <p:nvPr/>
          </p:nvSpPr>
          <p:spPr bwMode="auto">
            <a:xfrm flipH="1">
              <a:off x="4614" y="1877"/>
              <a:ext cx="96" cy="192"/>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6" name="Line 36"/>
            <p:cNvSpPr>
              <a:spLocks noChangeShapeType="1"/>
            </p:cNvSpPr>
            <p:nvPr/>
          </p:nvSpPr>
          <p:spPr bwMode="auto">
            <a:xfrm flipH="1">
              <a:off x="3998" y="1789"/>
              <a:ext cx="288" cy="144"/>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7" name="Line 37"/>
            <p:cNvSpPr>
              <a:spLocks noChangeShapeType="1"/>
            </p:cNvSpPr>
            <p:nvPr/>
          </p:nvSpPr>
          <p:spPr bwMode="auto">
            <a:xfrm flipH="1" flipV="1">
              <a:off x="4982" y="1213"/>
              <a:ext cx="0" cy="227"/>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8" name="Freeform 38"/>
            <p:cNvSpPr>
              <a:spLocks/>
            </p:cNvSpPr>
            <p:nvPr/>
          </p:nvSpPr>
          <p:spPr bwMode="auto">
            <a:xfrm>
              <a:off x="5438" y="1589"/>
              <a:ext cx="56" cy="104"/>
            </a:xfrm>
            <a:custGeom>
              <a:avLst/>
              <a:gdLst>
                <a:gd name="T0" fmla="*/ 0 w 56"/>
                <a:gd name="T1" fmla="*/ 0 h 104"/>
                <a:gd name="T2" fmla="*/ 48 w 56"/>
                <a:gd name="T3" fmla="*/ 48 h 104"/>
                <a:gd name="T4" fmla="*/ 48 w 56"/>
                <a:gd name="T5" fmla="*/ 96 h 104"/>
                <a:gd name="T6" fmla="*/ 0 w 56"/>
                <a:gd name="T7" fmla="*/ 96 h 1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 h="104">
                  <a:moveTo>
                    <a:pt x="0" y="0"/>
                  </a:moveTo>
                  <a:cubicBezTo>
                    <a:pt x="20" y="16"/>
                    <a:pt x="40" y="32"/>
                    <a:pt x="48" y="48"/>
                  </a:cubicBezTo>
                  <a:cubicBezTo>
                    <a:pt x="56" y="64"/>
                    <a:pt x="56" y="88"/>
                    <a:pt x="48" y="96"/>
                  </a:cubicBezTo>
                  <a:cubicBezTo>
                    <a:pt x="40" y="104"/>
                    <a:pt x="8" y="96"/>
                    <a:pt x="0" y="96"/>
                  </a:cubicBezTo>
                </a:path>
              </a:pathLst>
            </a:custGeom>
            <a:noFill/>
            <a:ln w="28575" cmpd="sng">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9" name="Line 39"/>
            <p:cNvSpPr>
              <a:spLocks noChangeShapeType="1"/>
            </p:cNvSpPr>
            <p:nvPr/>
          </p:nvSpPr>
          <p:spPr bwMode="auto">
            <a:xfrm flipH="1">
              <a:off x="4286" y="1837"/>
              <a:ext cx="144" cy="19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60" name="Line 40"/>
            <p:cNvSpPr>
              <a:spLocks noChangeShapeType="1"/>
            </p:cNvSpPr>
            <p:nvPr/>
          </p:nvSpPr>
          <p:spPr bwMode="auto">
            <a:xfrm flipH="1">
              <a:off x="3950" y="1661"/>
              <a:ext cx="240"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8761" name="Text Box 41"/>
          <p:cNvSpPr txBox="1">
            <a:spLocks noChangeArrowheads="1"/>
          </p:cNvSpPr>
          <p:nvPr/>
        </p:nvSpPr>
        <p:spPr bwMode="auto">
          <a:xfrm>
            <a:off x="325438" y="4997450"/>
            <a:ext cx="2590800" cy="519113"/>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660066"/>
                </a:solidFill>
                <a:ea typeface="楷体_GB2312"/>
              </a:rPr>
              <a:t>尖端处曲率大</a:t>
            </a:r>
          </a:p>
        </p:txBody>
      </p:sp>
      <p:sp>
        <p:nvSpPr>
          <p:cNvPr id="158762" name="AutoShape 42"/>
          <p:cNvSpPr>
            <a:spLocks noChangeArrowheads="1"/>
          </p:cNvSpPr>
          <p:nvPr/>
        </p:nvSpPr>
        <p:spPr bwMode="auto">
          <a:xfrm>
            <a:off x="2698750" y="5143500"/>
            <a:ext cx="685800" cy="228600"/>
          </a:xfrm>
          <a:prstGeom prst="rightArrow">
            <a:avLst>
              <a:gd name="adj1" fmla="val 50000"/>
              <a:gd name="adj2" fmla="val 75000"/>
            </a:avLst>
          </a:prstGeom>
          <a:solidFill>
            <a:srgbClr val="00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8763" name="Text Box 43"/>
          <p:cNvSpPr txBox="1">
            <a:spLocks noChangeArrowheads="1"/>
          </p:cNvSpPr>
          <p:nvPr/>
        </p:nvSpPr>
        <p:spPr bwMode="auto">
          <a:xfrm>
            <a:off x="3360738" y="4991100"/>
            <a:ext cx="1066800" cy="519113"/>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660066"/>
                </a:solidFill>
                <a:ea typeface="楷体_GB2312"/>
              </a:rPr>
              <a:t>σ</a:t>
            </a:r>
            <a:r>
              <a:rPr lang="zh-CN" altLang="en-US" sz="2800">
                <a:solidFill>
                  <a:srgbClr val="660066"/>
                </a:solidFill>
                <a:ea typeface="楷体_GB2312"/>
              </a:rPr>
              <a:t>大</a:t>
            </a:r>
          </a:p>
        </p:txBody>
      </p:sp>
      <p:sp>
        <p:nvSpPr>
          <p:cNvPr id="158764" name="AutoShape 44"/>
          <p:cNvSpPr>
            <a:spLocks noChangeArrowheads="1"/>
          </p:cNvSpPr>
          <p:nvPr/>
        </p:nvSpPr>
        <p:spPr bwMode="auto">
          <a:xfrm>
            <a:off x="4451350" y="5143500"/>
            <a:ext cx="685800" cy="228600"/>
          </a:xfrm>
          <a:prstGeom prst="rightArrow">
            <a:avLst>
              <a:gd name="adj1" fmla="val 50000"/>
              <a:gd name="adj2" fmla="val 75000"/>
            </a:avLst>
          </a:prstGeom>
          <a:solidFill>
            <a:srgbClr val="00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8765" name="Text Box 45"/>
          <p:cNvSpPr txBox="1">
            <a:spLocks noChangeArrowheads="1"/>
          </p:cNvSpPr>
          <p:nvPr/>
        </p:nvSpPr>
        <p:spPr bwMode="auto">
          <a:xfrm>
            <a:off x="5089525" y="4991100"/>
            <a:ext cx="1066800" cy="519113"/>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i="1">
                <a:solidFill>
                  <a:srgbClr val="660066"/>
                </a:solidFill>
                <a:ea typeface="楷体_GB2312"/>
              </a:rPr>
              <a:t>E</a:t>
            </a:r>
            <a:r>
              <a:rPr lang="en-US" altLang="zh-CN" sz="2400" i="1">
                <a:solidFill>
                  <a:srgbClr val="660066"/>
                </a:solidFill>
                <a:ea typeface="楷体_GB2312"/>
              </a:rPr>
              <a:t> </a:t>
            </a:r>
            <a:r>
              <a:rPr lang="en-US" altLang="zh-CN" sz="1000" i="1">
                <a:solidFill>
                  <a:srgbClr val="660066"/>
                </a:solidFill>
                <a:ea typeface="楷体_GB2312"/>
              </a:rPr>
              <a:t> </a:t>
            </a:r>
            <a:r>
              <a:rPr lang="zh-CN" altLang="en-US" sz="2800">
                <a:solidFill>
                  <a:srgbClr val="660066"/>
                </a:solidFill>
                <a:ea typeface="楷体_GB2312"/>
              </a:rPr>
              <a:t>大</a:t>
            </a:r>
          </a:p>
        </p:txBody>
      </p:sp>
      <p:sp>
        <p:nvSpPr>
          <p:cNvPr id="158766" name="AutoShape 46"/>
          <p:cNvSpPr>
            <a:spLocks noChangeArrowheads="1"/>
          </p:cNvSpPr>
          <p:nvPr/>
        </p:nvSpPr>
        <p:spPr bwMode="auto">
          <a:xfrm>
            <a:off x="6051550" y="5143500"/>
            <a:ext cx="685800" cy="228600"/>
          </a:xfrm>
          <a:prstGeom prst="rightArrow">
            <a:avLst>
              <a:gd name="adj1" fmla="val 50000"/>
              <a:gd name="adj2" fmla="val 75000"/>
            </a:avLst>
          </a:prstGeom>
          <a:solidFill>
            <a:srgbClr val="00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8767" name="Text Box 47"/>
          <p:cNvSpPr txBox="1">
            <a:spLocks noChangeArrowheads="1"/>
          </p:cNvSpPr>
          <p:nvPr/>
        </p:nvSpPr>
        <p:spPr bwMode="auto">
          <a:xfrm>
            <a:off x="6732588" y="4997450"/>
            <a:ext cx="2411412" cy="519113"/>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660066"/>
                </a:solidFill>
                <a:ea typeface="楷体_GB2312"/>
              </a:rPr>
              <a:t>产生带电粒子</a:t>
            </a:r>
          </a:p>
        </p:txBody>
      </p:sp>
      <p:sp>
        <p:nvSpPr>
          <p:cNvPr id="158770" name="Line 50"/>
          <p:cNvSpPr>
            <a:spLocks noChangeShapeType="1"/>
          </p:cNvSpPr>
          <p:nvPr/>
        </p:nvSpPr>
        <p:spPr bwMode="auto">
          <a:xfrm flipH="1">
            <a:off x="4995863" y="2560638"/>
            <a:ext cx="381000" cy="0"/>
          </a:xfrm>
          <a:prstGeom prst="line">
            <a:avLst/>
          </a:prstGeom>
          <a:noFill/>
          <a:ln w="38100" cap="sq">
            <a:solidFill>
              <a:srgbClr val="000066"/>
            </a:solidFill>
            <a:miter lim="800000"/>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8771" name="Group 51"/>
          <p:cNvGrpSpPr>
            <a:grpSpLocks/>
          </p:cNvGrpSpPr>
          <p:nvPr/>
        </p:nvGrpSpPr>
        <p:grpSpPr bwMode="auto">
          <a:xfrm>
            <a:off x="5338763" y="2271713"/>
            <a:ext cx="457200" cy="457200"/>
            <a:chOff x="1004" y="1706"/>
            <a:chExt cx="288" cy="288"/>
          </a:xfrm>
        </p:grpSpPr>
        <p:sp>
          <p:nvSpPr>
            <p:cNvPr id="13332" name="Oval 52"/>
            <p:cNvSpPr>
              <a:spLocks noChangeArrowheads="1"/>
            </p:cNvSpPr>
            <p:nvPr/>
          </p:nvSpPr>
          <p:spPr bwMode="auto">
            <a:xfrm>
              <a:off x="1028" y="1776"/>
              <a:ext cx="192" cy="192"/>
            </a:xfrm>
            <a:prstGeom prst="ellipse">
              <a:avLst/>
            </a:prstGeom>
            <a:solidFill>
              <a:srgbClr val="CCFFFF"/>
            </a:solidFill>
            <a:ln w="12700" cap="sq">
              <a:solidFill>
                <a:srgbClr val="6600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8773" name="Text Box 53"/>
            <p:cNvSpPr txBox="1">
              <a:spLocks noChangeArrowheads="1"/>
            </p:cNvSpPr>
            <p:nvPr/>
          </p:nvSpPr>
          <p:spPr bwMode="auto">
            <a:xfrm>
              <a:off x="1004" y="170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400">
                  <a:solidFill>
                    <a:srgbClr val="FF0000"/>
                  </a:solidFill>
                  <a:effectLst>
                    <a:outerShdw blurRad="38100" dist="38100" dir="2700000" algn="tl">
                      <a:srgbClr val="000000"/>
                    </a:outerShdw>
                  </a:effectLst>
                </a:rPr>
                <a:t>+</a:t>
              </a:r>
            </a:p>
          </p:txBody>
        </p:sp>
      </p:grpSp>
      <p:sp>
        <p:nvSpPr>
          <p:cNvPr id="158774" name="Line 54"/>
          <p:cNvSpPr>
            <a:spLocks noChangeShapeType="1"/>
          </p:cNvSpPr>
          <p:nvPr/>
        </p:nvSpPr>
        <p:spPr bwMode="auto">
          <a:xfrm rot="10367131" flipH="1" flipV="1">
            <a:off x="5502275" y="2914650"/>
            <a:ext cx="509588" cy="77788"/>
          </a:xfrm>
          <a:prstGeom prst="line">
            <a:avLst/>
          </a:prstGeom>
          <a:noFill/>
          <a:ln w="38100" cap="sq">
            <a:solidFill>
              <a:srgbClr val="000066"/>
            </a:solidFill>
            <a:miter lim="800000"/>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8775" name="Group 55"/>
          <p:cNvGrpSpPr>
            <a:grpSpLocks/>
          </p:cNvGrpSpPr>
          <p:nvPr/>
        </p:nvGrpSpPr>
        <p:grpSpPr bwMode="auto">
          <a:xfrm>
            <a:off x="5191125" y="2759075"/>
            <a:ext cx="461963" cy="309563"/>
            <a:chOff x="911" y="2013"/>
            <a:chExt cx="291" cy="195"/>
          </a:xfrm>
        </p:grpSpPr>
        <p:sp>
          <p:nvSpPr>
            <p:cNvPr id="13330" name="Oval 56"/>
            <p:cNvSpPr>
              <a:spLocks noChangeArrowheads="1"/>
            </p:cNvSpPr>
            <p:nvPr/>
          </p:nvSpPr>
          <p:spPr bwMode="auto">
            <a:xfrm>
              <a:off x="932" y="2016"/>
              <a:ext cx="192" cy="192"/>
            </a:xfrm>
            <a:prstGeom prst="ellipse">
              <a:avLst/>
            </a:prstGeom>
            <a:solidFill>
              <a:srgbClr val="FF9900"/>
            </a:solidFill>
            <a:ln w="12700" cap="sq">
              <a:solidFill>
                <a:srgbClr val="660066"/>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3331" name="Text Box 57"/>
            <p:cNvSpPr txBox="1">
              <a:spLocks noChangeArrowheads="1"/>
            </p:cNvSpPr>
            <p:nvPr/>
          </p:nvSpPr>
          <p:spPr bwMode="auto">
            <a:xfrm>
              <a:off x="911" y="2013"/>
              <a:ext cx="291"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66"/>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400">
                  <a:solidFill>
                    <a:srgbClr val="000000"/>
                  </a:solidFill>
                  <a:ea typeface="楷体_GB2312"/>
                </a:rPr>
                <a:t>－</a:t>
              </a:r>
            </a:p>
          </p:txBody>
        </p:sp>
      </p:grpSp>
      <p:sp>
        <p:nvSpPr>
          <p:cNvPr id="158778" name="AutoShape 58"/>
          <p:cNvSpPr>
            <a:spLocks noChangeArrowheads="1"/>
          </p:cNvSpPr>
          <p:nvPr/>
        </p:nvSpPr>
        <p:spPr bwMode="auto">
          <a:xfrm>
            <a:off x="1174750" y="6015038"/>
            <a:ext cx="685800" cy="228600"/>
          </a:xfrm>
          <a:prstGeom prst="rightArrow">
            <a:avLst>
              <a:gd name="adj1" fmla="val 50000"/>
              <a:gd name="adj2" fmla="val 75000"/>
            </a:avLst>
          </a:prstGeom>
          <a:solidFill>
            <a:srgbClr val="00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8779" name="Text Box 59"/>
          <p:cNvSpPr txBox="1">
            <a:spLocks noChangeArrowheads="1"/>
          </p:cNvSpPr>
          <p:nvPr/>
        </p:nvSpPr>
        <p:spPr bwMode="auto">
          <a:xfrm>
            <a:off x="1936750" y="5862638"/>
            <a:ext cx="1981200" cy="519112"/>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0000"/>
                </a:solidFill>
                <a:ea typeface="楷体_GB2312"/>
              </a:rPr>
              <a:t>尖端放电</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26">
                                            <p:txEl>
                                              <p:pRg st="0" end="0"/>
                                            </p:txEl>
                                          </p:spTgt>
                                        </p:tgtEl>
                                        <p:attrNameLst>
                                          <p:attrName>style.visibility</p:attrName>
                                        </p:attrNameLst>
                                      </p:cBhvr>
                                      <p:to>
                                        <p:strVal val="visible"/>
                                      </p:to>
                                    </p:set>
                                    <p:animEffect transition="in" filter="wipe(left)">
                                      <p:cBhvr>
                                        <p:cTn id="7" dur="500"/>
                                        <p:tgtEl>
                                          <p:spTgt spid="1587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58727">
                                            <p:txEl>
                                              <p:pRg st="0" end="0"/>
                                            </p:txEl>
                                          </p:spTgt>
                                        </p:tgtEl>
                                        <p:attrNameLst>
                                          <p:attrName>style.visibility</p:attrName>
                                        </p:attrNameLst>
                                      </p:cBhvr>
                                      <p:to>
                                        <p:strVal val="visible"/>
                                      </p:to>
                                    </p:set>
                                    <p:animEffect transition="in" filter="barn(outVertical)">
                                      <p:cBhvr>
                                        <p:cTn id="12" dur="500"/>
                                        <p:tgtEl>
                                          <p:spTgt spid="1587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876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8761"/>
                                        </p:tgtEl>
                                        <p:attrNameLst>
                                          <p:attrName>style.visibility</p:attrName>
                                        </p:attrNameLst>
                                      </p:cBhvr>
                                      <p:to>
                                        <p:strVal val="visible"/>
                                      </p:to>
                                    </p:set>
                                    <p:animEffect transition="in" filter="wipe(left)">
                                      <p:cBhvr>
                                        <p:cTn id="21" dur="500"/>
                                        <p:tgtEl>
                                          <p:spTgt spid="15876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5876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8763"/>
                                        </p:tgtEl>
                                        <p:attrNameLst>
                                          <p:attrName>style.visibility</p:attrName>
                                        </p:attrNameLst>
                                      </p:cBhvr>
                                      <p:to>
                                        <p:strVal val="visible"/>
                                      </p:to>
                                    </p:set>
                                    <p:animEffect transition="in" filter="wipe(left)">
                                      <p:cBhvr>
                                        <p:cTn id="30" dur="500"/>
                                        <p:tgtEl>
                                          <p:spTgt spid="15876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87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8765"/>
                                        </p:tgtEl>
                                        <p:attrNameLst>
                                          <p:attrName>style.visibility</p:attrName>
                                        </p:attrNameLst>
                                      </p:cBhvr>
                                      <p:to>
                                        <p:strVal val="visible"/>
                                      </p:to>
                                    </p:set>
                                    <p:animEffect transition="in" filter="wipe(left)">
                                      <p:cBhvr>
                                        <p:cTn id="39" dur="500"/>
                                        <p:tgtEl>
                                          <p:spTgt spid="15876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5876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58767"/>
                                        </p:tgtEl>
                                        <p:attrNameLst>
                                          <p:attrName>style.visibility</p:attrName>
                                        </p:attrNameLst>
                                      </p:cBhvr>
                                      <p:to>
                                        <p:strVal val="visible"/>
                                      </p:to>
                                    </p:set>
                                    <p:animEffect transition="in" filter="wipe(left)">
                                      <p:cBhvr>
                                        <p:cTn id="48" dur="500"/>
                                        <p:tgtEl>
                                          <p:spTgt spid="158767"/>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877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5877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5877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5877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15877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58779"/>
                                        </p:tgtEl>
                                        <p:attrNameLst>
                                          <p:attrName>style.visibility</p:attrName>
                                        </p:attrNameLst>
                                      </p:cBhvr>
                                      <p:to>
                                        <p:strVal val="visible"/>
                                      </p:to>
                                    </p:set>
                                    <p:animEffect transition="in" filter="wipe(left)">
                                      <p:cBhvr>
                                        <p:cTn id="73" dur="500"/>
                                        <p:tgtEl>
                                          <p:spTgt spid="158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6" grpId="0" build="p" autoUpdateAnimBg="0"/>
      <p:bldP spid="158727" grpId="0" build="p" autoUpdateAnimBg="0"/>
      <p:bldP spid="158761" grpId="0"/>
      <p:bldP spid="158762" grpId="0" animBg="1"/>
      <p:bldP spid="158763" grpId="0"/>
      <p:bldP spid="158764" grpId="0" animBg="1"/>
      <p:bldP spid="158765" grpId="0"/>
      <p:bldP spid="158766" grpId="0" animBg="1"/>
      <p:bldP spid="158767" grpId="0"/>
      <p:bldP spid="158770" grpId="0" animBg="1"/>
      <p:bldP spid="158774" grpId="0" animBg="1"/>
      <p:bldP spid="158778" grpId="0" animBg="1"/>
      <p:bldP spid="15877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42" name="Group 2"/>
          <p:cNvGrpSpPr>
            <a:grpSpLocks/>
          </p:cNvGrpSpPr>
          <p:nvPr/>
        </p:nvGrpSpPr>
        <p:grpSpPr bwMode="auto">
          <a:xfrm>
            <a:off x="7391400" y="1143000"/>
            <a:ext cx="1752600" cy="1004888"/>
            <a:chOff x="4416" y="816"/>
            <a:chExt cx="1104" cy="633"/>
          </a:xfrm>
        </p:grpSpPr>
        <p:sp>
          <p:nvSpPr>
            <p:cNvPr id="14378" name="Text Box 3"/>
            <p:cNvSpPr txBox="1">
              <a:spLocks noChangeArrowheads="1"/>
            </p:cNvSpPr>
            <p:nvPr/>
          </p:nvSpPr>
          <p:spPr bwMode="auto">
            <a:xfrm>
              <a:off x="4704" y="816"/>
              <a:ext cx="816"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99"/>
                  </a:solidFill>
                  <a:ea typeface="楷体_GB2312"/>
                </a:rPr>
                <a:t>荧光质</a:t>
              </a:r>
            </a:p>
            <a:p>
              <a:pPr eaLnBrk="1" hangingPunct="1">
                <a:spcBef>
                  <a:spcPct val="50000"/>
                </a:spcBef>
                <a:buFontTx/>
                <a:buNone/>
              </a:pPr>
              <a:r>
                <a:rPr lang="zh-CN" altLang="en-US" sz="2400">
                  <a:solidFill>
                    <a:srgbClr val="000099"/>
                  </a:solidFill>
                  <a:ea typeface="楷体_GB2312"/>
                </a:rPr>
                <a:t>导电膜</a:t>
              </a:r>
            </a:p>
          </p:txBody>
        </p:sp>
        <p:sp>
          <p:nvSpPr>
            <p:cNvPr id="14379" name="Line 4"/>
            <p:cNvSpPr>
              <a:spLocks noChangeShapeType="1"/>
            </p:cNvSpPr>
            <p:nvPr/>
          </p:nvSpPr>
          <p:spPr bwMode="auto">
            <a:xfrm flipV="1">
              <a:off x="4416" y="1056"/>
              <a:ext cx="240" cy="192"/>
            </a:xfrm>
            <a:prstGeom prst="line">
              <a:avLst/>
            </a:prstGeom>
            <a:noFill/>
            <a:ln w="38100">
              <a:solidFill>
                <a:srgbClr val="CC00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9845" name="Text Box 5"/>
          <p:cNvSpPr txBox="1">
            <a:spLocks noChangeArrowheads="1"/>
          </p:cNvSpPr>
          <p:nvPr/>
        </p:nvSpPr>
        <p:spPr bwMode="auto">
          <a:xfrm>
            <a:off x="7010400" y="5300663"/>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FF0000"/>
                </a:solidFill>
                <a:latin typeface="宋体" panose="02010600030101010101" pitchFamily="2" charset="-122"/>
                <a:ea typeface="楷体_GB2312"/>
              </a:rPr>
              <a:t> + </a:t>
            </a:r>
            <a:r>
              <a:rPr lang="zh-CN" altLang="en-US" sz="2400">
                <a:solidFill>
                  <a:srgbClr val="FF0000"/>
                </a:solidFill>
                <a:latin typeface="宋体" panose="02010600030101010101" pitchFamily="2" charset="-122"/>
                <a:ea typeface="楷体_GB2312"/>
              </a:rPr>
              <a:t>高压（</a:t>
            </a:r>
            <a:r>
              <a:rPr lang="en-US" altLang="zh-CN" sz="2400">
                <a:solidFill>
                  <a:srgbClr val="FF0000"/>
                </a:solidFill>
                <a:latin typeface="宋体" panose="02010600030101010101" pitchFamily="2" charset="-122"/>
                <a:ea typeface="楷体_GB2312"/>
              </a:rPr>
              <a:t>10KV</a:t>
            </a:r>
            <a:r>
              <a:rPr lang="zh-CN" altLang="en-US" sz="2400">
                <a:solidFill>
                  <a:srgbClr val="FF0000"/>
                </a:solidFill>
                <a:latin typeface="宋体" panose="02010600030101010101" pitchFamily="2" charset="-122"/>
                <a:ea typeface="楷体_GB2312"/>
              </a:rPr>
              <a:t>）</a:t>
            </a:r>
          </a:p>
        </p:txBody>
      </p:sp>
      <p:grpSp>
        <p:nvGrpSpPr>
          <p:cNvPr id="419846" name="Group 6"/>
          <p:cNvGrpSpPr>
            <a:grpSpLocks/>
          </p:cNvGrpSpPr>
          <p:nvPr/>
        </p:nvGrpSpPr>
        <p:grpSpPr bwMode="auto">
          <a:xfrm>
            <a:off x="5181600" y="1524000"/>
            <a:ext cx="2819400" cy="4495800"/>
            <a:chOff x="3456" y="336"/>
            <a:chExt cx="1776" cy="2832"/>
          </a:xfrm>
        </p:grpSpPr>
        <p:sp>
          <p:nvSpPr>
            <p:cNvPr id="14361" name="AutoShape 7"/>
            <p:cNvSpPr>
              <a:spLocks noChangeArrowheads="1"/>
            </p:cNvSpPr>
            <p:nvPr/>
          </p:nvSpPr>
          <p:spPr bwMode="auto">
            <a:xfrm>
              <a:off x="3984" y="336"/>
              <a:ext cx="1248" cy="12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7 w 21600"/>
                <a:gd name="T25" fmla="*/ 3167 h 21600"/>
                <a:gd name="T26" fmla="*/ 18433 w 21600"/>
                <a:gd name="T27" fmla="*/ 1843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302" y="10800"/>
                  </a:moveTo>
                  <a:cubicBezTo>
                    <a:pt x="2302" y="15493"/>
                    <a:pt x="6107" y="19298"/>
                    <a:pt x="10800" y="19298"/>
                  </a:cubicBezTo>
                  <a:cubicBezTo>
                    <a:pt x="15493" y="19298"/>
                    <a:pt x="19298" y="15493"/>
                    <a:pt x="19298" y="10800"/>
                  </a:cubicBezTo>
                  <a:cubicBezTo>
                    <a:pt x="19298" y="6107"/>
                    <a:pt x="15493" y="2302"/>
                    <a:pt x="10800" y="2302"/>
                  </a:cubicBezTo>
                  <a:cubicBezTo>
                    <a:pt x="6107" y="2302"/>
                    <a:pt x="2302" y="6107"/>
                    <a:pt x="2302" y="10800"/>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2" name="Oval 8"/>
            <p:cNvSpPr>
              <a:spLocks noChangeArrowheads="1"/>
            </p:cNvSpPr>
            <p:nvPr/>
          </p:nvSpPr>
          <p:spPr bwMode="auto">
            <a:xfrm>
              <a:off x="4080" y="432"/>
              <a:ext cx="1056" cy="10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4363" name="Line 9"/>
            <p:cNvSpPr>
              <a:spLocks noChangeShapeType="1"/>
            </p:cNvSpPr>
            <p:nvPr/>
          </p:nvSpPr>
          <p:spPr bwMode="auto">
            <a:xfrm>
              <a:off x="4368" y="1536"/>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 name="Line 10"/>
            <p:cNvSpPr>
              <a:spLocks noChangeShapeType="1"/>
            </p:cNvSpPr>
            <p:nvPr/>
          </p:nvSpPr>
          <p:spPr bwMode="auto">
            <a:xfrm flipH="1">
              <a:off x="3744" y="201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 name="Line 11"/>
            <p:cNvSpPr>
              <a:spLocks noChangeShapeType="1"/>
            </p:cNvSpPr>
            <p:nvPr/>
          </p:nvSpPr>
          <p:spPr bwMode="auto">
            <a:xfrm>
              <a:off x="4896" y="1488"/>
              <a:ext cx="0"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66" name="Object 12"/>
            <p:cNvGraphicFramePr>
              <a:graphicFrameLocks noChangeAspect="1"/>
            </p:cNvGraphicFramePr>
            <p:nvPr/>
          </p:nvGraphicFramePr>
          <p:xfrm>
            <a:off x="3739" y="2373"/>
            <a:ext cx="1095" cy="543"/>
          </p:xfrm>
          <a:graphic>
            <a:graphicData uri="http://schemas.openxmlformats.org/presentationml/2006/ole">
              <mc:AlternateContent xmlns:mc="http://schemas.openxmlformats.org/markup-compatibility/2006">
                <mc:Choice xmlns:v="urn:schemas-microsoft-com:vml" Requires="v">
                  <p:oleObj spid="_x0000_s14508" name="文档" r:id="rId3" imgW="0" imgH="0" progId="Word.Document.8">
                    <p:embed/>
                  </p:oleObj>
                </mc:Choice>
                <mc:Fallback>
                  <p:oleObj name="文档" r:id="rId3" imgW="0" imgH="0" progId="Word.Document.8">
                    <p:embed/>
                    <p:pic>
                      <p:nvPicPr>
                        <p:cNvPr id="0" name="Object 1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739" y="2373"/>
                          <a:ext cx="1095"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67" name="Line 13"/>
            <p:cNvSpPr>
              <a:spLocks noChangeShapeType="1"/>
            </p:cNvSpPr>
            <p:nvPr/>
          </p:nvSpPr>
          <p:spPr bwMode="auto">
            <a:xfrm>
              <a:off x="3792" y="23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 name="Line 14"/>
            <p:cNvSpPr>
              <a:spLocks noChangeShapeType="1"/>
            </p:cNvSpPr>
            <p:nvPr/>
          </p:nvSpPr>
          <p:spPr bwMode="auto">
            <a:xfrm>
              <a:off x="4272" y="2304"/>
              <a:ext cx="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 name="Line 15"/>
            <p:cNvSpPr>
              <a:spLocks noChangeShapeType="1"/>
            </p:cNvSpPr>
            <p:nvPr/>
          </p:nvSpPr>
          <p:spPr bwMode="auto">
            <a:xfrm>
              <a:off x="4272" y="268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 name="Oval 16"/>
            <p:cNvSpPr>
              <a:spLocks noChangeArrowheads="1"/>
            </p:cNvSpPr>
            <p:nvPr/>
          </p:nvSpPr>
          <p:spPr bwMode="auto">
            <a:xfrm>
              <a:off x="4368" y="1344"/>
              <a:ext cx="528" cy="336"/>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4371" name="Line 17"/>
            <p:cNvSpPr>
              <a:spLocks noChangeShapeType="1"/>
            </p:cNvSpPr>
            <p:nvPr/>
          </p:nvSpPr>
          <p:spPr bwMode="auto">
            <a:xfrm>
              <a:off x="4608" y="960"/>
              <a:ext cx="0" cy="22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2" name="Line 18"/>
            <p:cNvSpPr>
              <a:spLocks noChangeShapeType="1"/>
            </p:cNvSpPr>
            <p:nvPr/>
          </p:nvSpPr>
          <p:spPr bwMode="auto">
            <a:xfrm flipV="1">
              <a:off x="4608" y="720"/>
              <a:ext cx="43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 name="Line 19"/>
            <p:cNvSpPr>
              <a:spLocks noChangeShapeType="1"/>
            </p:cNvSpPr>
            <p:nvPr/>
          </p:nvSpPr>
          <p:spPr bwMode="auto">
            <a:xfrm flipH="1" flipV="1">
              <a:off x="4272" y="672"/>
              <a:ext cx="336"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4" name="Line 20"/>
            <p:cNvSpPr>
              <a:spLocks noChangeShapeType="1"/>
            </p:cNvSpPr>
            <p:nvPr/>
          </p:nvSpPr>
          <p:spPr bwMode="auto">
            <a:xfrm flipH="1">
              <a:off x="4224" y="9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 name="Line 21"/>
            <p:cNvSpPr>
              <a:spLocks noChangeShapeType="1"/>
            </p:cNvSpPr>
            <p:nvPr/>
          </p:nvSpPr>
          <p:spPr bwMode="auto">
            <a:xfrm>
              <a:off x="4608" y="960"/>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6" name="Line 22"/>
            <p:cNvSpPr>
              <a:spLocks noChangeShapeType="1"/>
            </p:cNvSpPr>
            <p:nvPr/>
          </p:nvSpPr>
          <p:spPr bwMode="auto">
            <a:xfrm flipV="1">
              <a:off x="4608" y="432"/>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7" name="Line 23"/>
            <p:cNvSpPr>
              <a:spLocks noChangeShapeType="1"/>
            </p:cNvSpPr>
            <p:nvPr/>
          </p:nvSpPr>
          <p:spPr bwMode="auto">
            <a:xfrm>
              <a:off x="3456" y="2160"/>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419864" name="Object 24"/>
          <p:cNvGraphicFramePr>
            <a:graphicFrameLocks noChangeAspect="1"/>
          </p:cNvGraphicFramePr>
          <p:nvPr/>
        </p:nvGraphicFramePr>
        <p:xfrm>
          <a:off x="5334000" y="3352800"/>
          <a:ext cx="533400" cy="533400"/>
        </p:xfrm>
        <a:graphic>
          <a:graphicData uri="http://schemas.openxmlformats.org/presentationml/2006/ole">
            <mc:AlternateContent xmlns:mc="http://schemas.openxmlformats.org/markup-compatibility/2006">
              <mc:Choice xmlns:v="urn:schemas-microsoft-com:vml" Requires="v">
                <p:oleObj spid="_x0000_s14509" name="公式" r:id="rId4" imgW="355292" imgH="342603" progId="Equation.3">
                  <p:embed/>
                </p:oleObj>
              </mc:Choice>
              <mc:Fallback>
                <p:oleObj name="公式" r:id="rId4" imgW="355292" imgH="342603"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3352800"/>
                        <a:ext cx="5334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9865" name="Group 25"/>
          <p:cNvGrpSpPr>
            <a:grpSpLocks/>
          </p:cNvGrpSpPr>
          <p:nvPr/>
        </p:nvGrpSpPr>
        <p:grpSpPr bwMode="auto">
          <a:xfrm>
            <a:off x="4800600" y="6096000"/>
            <a:ext cx="4419600" cy="685800"/>
            <a:chOff x="240" y="192"/>
            <a:chExt cx="2544" cy="432"/>
          </a:xfrm>
        </p:grpSpPr>
        <p:sp>
          <p:nvSpPr>
            <p:cNvPr id="14359" name="Text Box 26"/>
            <p:cNvSpPr txBox="1">
              <a:spLocks noChangeArrowheads="1"/>
            </p:cNvSpPr>
            <p:nvPr/>
          </p:nvSpPr>
          <p:spPr bwMode="auto">
            <a:xfrm>
              <a:off x="240" y="240"/>
              <a:ext cx="25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a:solidFill>
                    <a:srgbClr val="000099"/>
                  </a:solidFill>
                  <a:latin typeface="宋体" panose="02010600030101010101" pitchFamily="2" charset="-122"/>
                  <a:ea typeface="楷体_GB2312"/>
                </a:rPr>
                <a:t>场离子显微镜</a:t>
              </a:r>
              <a:r>
                <a:rPr lang="en-US" altLang="zh-CN">
                  <a:solidFill>
                    <a:srgbClr val="000099"/>
                  </a:solidFill>
                  <a:latin typeface="宋体" panose="02010600030101010101" pitchFamily="2" charset="-122"/>
                  <a:ea typeface="楷体_GB2312"/>
                </a:rPr>
                <a:t>(</a:t>
              </a:r>
              <a:r>
                <a:rPr lang="en-US" altLang="zh-CN">
                  <a:solidFill>
                    <a:srgbClr val="000099"/>
                  </a:solidFill>
                  <a:ea typeface="楷体_GB2312"/>
                </a:rPr>
                <a:t>FIM</a:t>
              </a:r>
              <a:r>
                <a:rPr lang="en-US" altLang="zh-CN">
                  <a:solidFill>
                    <a:srgbClr val="000099"/>
                  </a:solidFill>
                  <a:latin typeface="宋体" panose="02010600030101010101" pitchFamily="2" charset="-122"/>
                  <a:ea typeface="楷体_GB2312"/>
                </a:rPr>
                <a:t>)</a:t>
              </a:r>
            </a:p>
          </p:txBody>
        </p:sp>
        <p:sp>
          <p:nvSpPr>
            <p:cNvPr id="14360" name="Rectangle 27"/>
            <p:cNvSpPr>
              <a:spLocks noChangeArrowheads="1"/>
            </p:cNvSpPr>
            <p:nvPr/>
          </p:nvSpPr>
          <p:spPr bwMode="auto">
            <a:xfrm>
              <a:off x="240" y="192"/>
              <a:ext cx="2256" cy="432"/>
            </a:xfrm>
            <a:prstGeom prst="rect">
              <a:avLst/>
            </a:prstGeom>
            <a:noFill/>
            <a:ln w="9525">
              <a:solidFill>
                <a:srgbClr val="00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grpSp>
      <p:sp>
        <p:nvSpPr>
          <p:cNvPr id="419868" name="Text Box 28"/>
          <p:cNvSpPr txBox="1">
            <a:spLocks noChangeArrowheads="1"/>
          </p:cNvSpPr>
          <p:nvPr/>
        </p:nvSpPr>
        <p:spPr bwMode="auto">
          <a:xfrm>
            <a:off x="0" y="2971800"/>
            <a:ext cx="556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8000"/>
                </a:solidFill>
                <a:ea typeface="楷体_GB2312"/>
              </a:rPr>
              <a:t>金属尖端的强电场的应用一例</a:t>
            </a:r>
          </a:p>
        </p:txBody>
      </p:sp>
      <p:sp>
        <p:nvSpPr>
          <p:cNvPr id="419869" name="Text Box 29"/>
          <p:cNvSpPr txBox="1">
            <a:spLocks noChangeArrowheads="1"/>
          </p:cNvSpPr>
          <p:nvPr/>
        </p:nvSpPr>
        <p:spPr bwMode="auto">
          <a:xfrm>
            <a:off x="4800600" y="4724400"/>
            <a:ext cx="1981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99"/>
                </a:solidFill>
                <a:ea typeface="楷体_GB2312"/>
              </a:rPr>
              <a:t>接真空泵或充氦气设备</a:t>
            </a:r>
          </a:p>
        </p:txBody>
      </p:sp>
      <p:grpSp>
        <p:nvGrpSpPr>
          <p:cNvPr id="419870" name="Group 30"/>
          <p:cNvGrpSpPr>
            <a:grpSpLocks/>
          </p:cNvGrpSpPr>
          <p:nvPr/>
        </p:nvGrpSpPr>
        <p:grpSpPr bwMode="auto">
          <a:xfrm>
            <a:off x="5943600" y="457200"/>
            <a:ext cx="1143000" cy="2133600"/>
            <a:chOff x="1920" y="624"/>
            <a:chExt cx="720" cy="1344"/>
          </a:xfrm>
        </p:grpSpPr>
        <p:sp>
          <p:nvSpPr>
            <p:cNvPr id="14355" name="Oval 31"/>
            <p:cNvSpPr>
              <a:spLocks noChangeArrowheads="1"/>
            </p:cNvSpPr>
            <p:nvPr/>
          </p:nvSpPr>
          <p:spPr bwMode="auto">
            <a:xfrm>
              <a:off x="2544" y="1872"/>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grpSp>
          <p:nvGrpSpPr>
            <p:cNvPr id="14356" name="Group 32"/>
            <p:cNvGrpSpPr>
              <a:grpSpLocks/>
            </p:cNvGrpSpPr>
            <p:nvPr/>
          </p:nvGrpSpPr>
          <p:grpSpPr bwMode="auto">
            <a:xfrm>
              <a:off x="1920" y="624"/>
              <a:ext cx="672" cy="624"/>
              <a:chOff x="3456" y="384"/>
              <a:chExt cx="672" cy="624"/>
            </a:xfrm>
          </p:grpSpPr>
          <p:sp>
            <p:nvSpPr>
              <p:cNvPr id="14357" name="Text Box 33"/>
              <p:cNvSpPr txBox="1">
                <a:spLocks noChangeArrowheads="1"/>
              </p:cNvSpPr>
              <p:nvPr/>
            </p:nvSpPr>
            <p:spPr bwMode="auto">
              <a:xfrm>
                <a:off x="3504" y="432"/>
                <a:ext cx="52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99"/>
                    </a:solidFill>
                    <a:ea typeface="楷体_GB2312"/>
                  </a:rPr>
                  <a:t>金属尖端</a:t>
                </a:r>
              </a:p>
            </p:txBody>
          </p:sp>
          <p:sp>
            <p:nvSpPr>
              <p:cNvPr id="14358" name="AutoShape 34"/>
              <p:cNvSpPr>
                <a:spLocks noChangeArrowheads="1"/>
              </p:cNvSpPr>
              <p:nvPr/>
            </p:nvSpPr>
            <p:spPr bwMode="auto">
              <a:xfrm>
                <a:off x="3456" y="384"/>
                <a:ext cx="672" cy="624"/>
              </a:xfrm>
              <a:prstGeom prst="wedgeEllipseCallout">
                <a:avLst>
                  <a:gd name="adj1" fmla="val 44792"/>
                  <a:gd name="adj2" fmla="val 149681"/>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zh-CN" sz="2400">
                  <a:ea typeface="楷体_GB2312"/>
                </a:endParaRPr>
              </a:p>
            </p:txBody>
          </p:sp>
        </p:grpSp>
      </p:grpSp>
      <p:grpSp>
        <p:nvGrpSpPr>
          <p:cNvPr id="419875" name="Group 35"/>
          <p:cNvGrpSpPr>
            <a:grpSpLocks/>
          </p:cNvGrpSpPr>
          <p:nvPr/>
        </p:nvGrpSpPr>
        <p:grpSpPr bwMode="auto">
          <a:xfrm>
            <a:off x="7772400" y="2819400"/>
            <a:ext cx="1371600" cy="457200"/>
            <a:chOff x="4656" y="1680"/>
            <a:chExt cx="864" cy="288"/>
          </a:xfrm>
        </p:grpSpPr>
        <p:grpSp>
          <p:nvGrpSpPr>
            <p:cNvPr id="14349" name="Group 36"/>
            <p:cNvGrpSpPr>
              <a:grpSpLocks/>
            </p:cNvGrpSpPr>
            <p:nvPr/>
          </p:nvGrpSpPr>
          <p:grpSpPr bwMode="auto">
            <a:xfrm>
              <a:off x="4656" y="1680"/>
              <a:ext cx="240" cy="144"/>
              <a:chOff x="4656" y="1680"/>
              <a:chExt cx="240" cy="144"/>
            </a:xfrm>
          </p:grpSpPr>
          <p:sp>
            <p:nvSpPr>
              <p:cNvPr id="14351" name="Line 37"/>
              <p:cNvSpPr>
                <a:spLocks noChangeShapeType="1"/>
              </p:cNvSpPr>
              <p:nvPr/>
            </p:nvSpPr>
            <p:spPr bwMode="auto">
              <a:xfrm>
                <a:off x="4656" y="1680"/>
                <a:ext cx="240"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Line 38"/>
              <p:cNvSpPr>
                <a:spLocks noChangeShapeType="1"/>
              </p:cNvSpPr>
              <p:nvPr/>
            </p:nvSpPr>
            <p:spPr bwMode="auto">
              <a:xfrm>
                <a:off x="4656" y="1776"/>
                <a:ext cx="240" cy="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3" name="Line 39"/>
              <p:cNvSpPr>
                <a:spLocks noChangeShapeType="1"/>
              </p:cNvSpPr>
              <p:nvPr/>
            </p:nvSpPr>
            <p:spPr bwMode="auto">
              <a:xfrm>
                <a:off x="4704" y="1728"/>
                <a:ext cx="144" cy="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4" name="Line 40"/>
              <p:cNvSpPr>
                <a:spLocks noChangeShapeType="1"/>
              </p:cNvSpPr>
              <p:nvPr/>
            </p:nvSpPr>
            <p:spPr bwMode="auto">
              <a:xfrm>
                <a:off x="4656" y="1728"/>
                <a:ext cx="192"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50" name="Text Box 41"/>
            <p:cNvSpPr txBox="1">
              <a:spLocks noChangeArrowheads="1"/>
            </p:cNvSpPr>
            <p:nvPr/>
          </p:nvSpPr>
          <p:spPr bwMode="auto">
            <a:xfrm>
              <a:off x="4944" y="1680"/>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楷体_GB2312"/>
                </a:rPr>
                <a:t>接地</a:t>
              </a:r>
            </a:p>
          </p:txBody>
        </p:sp>
      </p:grpSp>
      <p:sp>
        <p:nvSpPr>
          <p:cNvPr id="419882" name="Text Box 42"/>
          <p:cNvSpPr txBox="1">
            <a:spLocks noChangeArrowheads="1"/>
          </p:cNvSpPr>
          <p:nvPr/>
        </p:nvSpPr>
        <p:spPr bwMode="auto">
          <a:xfrm>
            <a:off x="228600" y="3722688"/>
            <a:ext cx="4572000" cy="283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ea typeface="楷体_GB2312"/>
              </a:rPr>
              <a:t>原理：</a:t>
            </a:r>
          </a:p>
          <a:p>
            <a:pPr eaLnBrk="1" hangingPunct="1">
              <a:spcBef>
                <a:spcPct val="50000"/>
              </a:spcBef>
              <a:buFontTx/>
              <a:buNone/>
            </a:pPr>
            <a:r>
              <a:rPr lang="zh-CN" altLang="en-US" sz="2400">
                <a:ea typeface="楷体_GB2312"/>
              </a:rPr>
              <a:t>样品制成针尖形状，针尖（样品）与荧光膜之间加高压，样品附近极强的电场使吸附在表面的原 子 电离，氦离子沿电力线运动， 撞击荧光膜引起发光，从而获得样品表面的图象。</a:t>
            </a:r>
          </a:p>
        </p:txBody>
      </p:sp>
      <p:sp>
        <p:nvSpPr>
          <p:cNvPr id="419883" name="Text Box 43"/>
          <p:cNvSpPr txBox="1">
            <a:spLocks noChangeArrowheads="1"/>
          </p:cNvSpPr>
          <p:nvPr/>
        </p:nvSpPr>
        <p:spPr bwMode="auto">
          <a:xfrm>
            <a:off x="76200" y="228600"/>
            <a:ext cx="48768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FF3300"/>
                </a:solidFill>
                <a:ea typeface="楷体_GB2312"/>
              </a:rPr>
              <a:t>应用：</a:t>
            </a:r>
          </a:p>
          <a:p>
            <a:pPr lvl="1" eaLnBrk="1" hangingPunct="1">
              <a:spcBef>
                <a:spcPct val="0"/>
              </a:spcBef>
              <a:buFontTx/>
              <a:buNone/>
            </a:pPr>
            <a:r>
              <a:rPr lang="zh-CN" altLang="en-US" sz="2400">
                <a:ea typeface="楷体_GB2312"/>
              </a:rPr>
              <a:t>高压输电线</a:t>
            </a:r>
          </a:p>
          <a:p>
            <a:pPr lvl="1" eaLnBrk="1" hangingPunct="1">
              <a:spcBef>
                <a:spcPct val="0"/>
              </a:spcBef>
              <a:buFontTx/>
              <a:buChar char="•"/>
            </a:pPr>
            <a:r>
              <a:rPr lang="zh-CN" altLang="en-US" sz="2400">
                <a:ea typeface="楷体_GB2312"/>
              </a:rPr>
              <a:t>避雷针</a:t>
            </a:r>
          </a:p>
          <a:p>
            <a:pPr eaLnBrk="1" hangingPunct="1">
              <a:spcBef>
                <a:spcPct val="0"/>
              </a:spcBef>
              <a:buFontTx/>
              <a:buNone/>
            </a:pPr>
            <a:r>
              <a:rPr lang="zh-CN" altLang="en-US" sz="2400">
                <a:solidFill>
                  <a:srgbClr val="FF3300"/>
                </a:solidFill>
                <a:ea typeface="楷体_GB2312"/>
              </a:rPr>
              <a:t>不利的一面：</a:t>
            </a:r>
            <a:r>
              <a:rPr lang="zh-CN" altLang="en-US" sz="2400">
                <a:ea typeface="楷体_GB2312"/>
              </a:rPr>
              <a:t>浪费电能</a:t>
            </a:r>
          </a:p>
          <a:p>
            <a:pPr eaLnBrk="1" hangingPunct="1">
              <a:spcBef>
                <a:spcPct val="0"/>
              </a:spcBef>
              <a:buFontTx/>
              <a:buNone/>
            </a:pPr>
            <a:r>
              <a:rPr lang="zh-CN" altLang="en-US" sz="2400">
                <a:solidFill>
                  <a:srgbClr val="FF3300"/>
                </a:solidFill>
                <a:ea typeface="楷体_GB2312"/>
              </a:rPr>
              <a:t>避免方法：</a:t>
            </a:r>
            <a:r>
              <a:rPr lang="zh-CN" altLang="en-US" sz="2400">
                <a:ea typeface="楷体_GB2312"/>
              </a:rPr>
              <a:t>金属元件尽量做成球形，并使导体表面尽可能的光滑</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83">
                                            <p:txEl>
                                              <p:pRg st="0" end="0"/>
                                            </p:txEl>
                                          </p:spTgt>
                                        </p:tgtEl>
                                        <p:attrNameLst>
                                          <p:attrName>style.visibility</p:attrName>
                                        </p:attrNameLst>
                                      </p:cBhvr>
                                      <p:to>
                                        <p:strVal val="visible"/>
                                      </p:to>
                                    </p:set>
                                    <p:animEffect transition="in" filter="wipe(left)">
                                      <p:cBhvr>
                                        <p:cTn id="7" dur="500"/>
                                        <p:tgtEl>
                                          <p:spTgt spid="4198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9883">
                                            <p:txEl>
                                              <p:pRg st="1" end="1"/>
                                            </p:txEl>
                                          </p:spTgt>
                                        </p:tgtEl>
                                        <p:attrNameLst>
                                          <p:attrName>style.visibility</p:attrName>
                                        </p:attrNameLst>
                                      </p:cBhvr>
                                      <p:to>
                                        <p:strVal val="visible"/>
                                      </p:to>
                                    </p:set>
                                    <p:animEffect transition="in" filter="wipe(left)">
                                      <p:cBhvr>
                                        <p:cTn id="12" dur="500"/>
                                        <p:tgtEl>
                                          <p:spTgt spid="4198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9883">
                                            <p:txEl>
                                              <p:pRg st="2" end="2"/>
                                            </p:txEl>
                                          </p:spTgt>
                                        </p:tgtEl>
                                        <p:attrNameLst>
                                          <p:attrName>style.visibility</p:attrName>
                                        </p:attrNameLst>
                                      </p:cBhvr>
                                      <p:to>
                                        <p:strVal val="visible"/>
                                      </p:to>
                                    </p:set>
                                    <p:animEffect transition="in" filter="wipe(left)">
                                      <p:cBhvr>
                                        <p:cTn id="17" dur="500"/>
                                        <p:tgtEl>
                                          <p:spTgt spid="4198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19883">
                                            <p:txEl>
                                              <p:pRg st="3" end="3"/>
                                            </p:txEl>
                                          </p:spTgt>
                                        </p:tgtEl>
                                        <p:attrNameLst>
                                          <p:attrName>style.visibility</p:attrName>
                                        </p:attrNameLst>
                                      </p:cBhvr>
                                      <p:to>
                                        <p:strVal val="visible"/>
                                      </p:to>
                                    </p:set>
                                    <p:animEffect transition="in" filter="wipe(left)">
                                      <p:cBhvr>
                                        <p:cTn id="22" dur="500"/>
                                        <p:tgtEl>
                                          <p:spTgt spid="4198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9883">
                                            <p:txEl>
                                              <p:pRg st="4" end="4"/>
                                            </p:txEl>
                                          </p:spTgt>
                                        </p:tgtEl>
                                        <p:attrNameLst>
                                          <p:attrName>style.visibility</p:attrName>
                                        </p:attrNameLst>
                                      </p:cBhvr>
                                      <p:to>
                                        <p:strVal val="visible"/>
                                      </p:to>
                                    </p:set>
                                    <p:animEffect transition="in" filter="wipe(left)">
                                      <p:cBhvr>
                                        <p:cTn id="27" dur="500"/>
                                        <p:tgtEl>
                                          <p:spTgt spid="4198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419868">
                                            <p:txEl>
                                              <p:pRg st="0" end="0"/>
                                            </p:txEl>
                                          </p:spTgt>
                                        </p:tgtEl>
                                        <p:attrNameLst>
                                          <p:attrName>style.visibility</p:attrName>
                                        </p:attrNameLst>
                                      </p:cBhvr>
                                      <p:to>
                                        <p:strVal val="visible"/>
                                      </p:to>
                                    </p:set>
                                    <p:animEffect transition="in" filter="blinds(vertical)">
                                      <p:cBhvr>
                                        <p:cTn id="32" dur="500"/>
                                        <p:tgtEl>
                                          <p:spTgt spid="419868">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nodeType="clickEffect">
                                  <p:stCondLst>
                                    <p:cond delay="0"/>
                                  </p:stCondLst>
                                  <p:childTnLst>
                                    <p:set>
                                      <p:cBhvr>
                                        <p:cTn id="36" dur="1" fill="hold">
                                          <p:stCondLst>
                                            <p:cond delay="0"/>
                                          </p:stCondLst>
                                        </p:cTn>
                                        <p:tgtEl>
                                          <p:spTgt spid="419865"/>
                                        </p:tgtEl>
                                        <p:attrNameLst>
                                          <p:attrName>style.visibility</p:attrName>
                                        </p:attrNameLst>
                                      </p:cBhvr>
                                      <p:to>
                                        <p:strVal val="visible"/>
                                      </p:to>
                                    </p:set>
                                    <p:animEffect transition="in" filter="blinds(vertical)">
                                      <p:cBhvr>
                                        <p:cTn id="37" dur="500"/>
                                        <p:tgtEl>
                                          <p:spTgt spid="4198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19882"/>
                                        </p:tgtEl>
                                        <p:attrNameLst>
                                          <p:attrName>style.visibility</p:attrName>
                                        </p:attrNameLst>
                                      </p:cBhvr>
                                      <p:to>
                                        <p:strVal val="visible"/>
                                      </p:to>
                                    </p:set>
                                    <p:animEffect transition="in" filter="blinds(horizontal)">
                                      <p:cBhvr>
                                        <p:cTn id="42" dur="500"/>
                                        <p:tgtEl>
                                          <p:spTgt spid="41988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19846"/>
                                        </p:tgtEl>
                                        <p:attrNameLst>
                                          <p:attrName>style.visibility</p:attrName>
                                        </p:attrNameLst>
                                      </p:cBhvr>
                                      <p:to>
                                        <p:strVal val="visible"/>
                                      </p:to>
                                    </p:set>
                                    <p:animEffect transition="in" filter="blinds(horizontal)">
                                      <p:cBhvr>
                                        <p:cTn id="47" dur="500"/>
                                        <p:tgtEl>
                                          <p:spTgt spid="41984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nodeType="clickEffect">
                                  <p:stCondLst>
                                    <p:cond delay="0"/>
                                  </p:stCondLst>
                                  <p:childTnLst>
                                    <p:set>
                                      <p:cBhvr>
                                        <p:cTn id="51" dur="1" fill="hold">
                                          <p:stCondLst>
                                            <p:cond delay="0"/>
                                          </p:stCondLst>
                                        </p:cTn>
                                        <p:tgtEl>
                                          <p:spTgt spid="419870"/>
                                        </p:tgtEl>
                                        <p:attrNameLst>
                                          <p:attrName>style.visibility</p:attrName>
                                        </p:attrNameLst>
                                      </p:cBhvr>
                                      <p:to>
                                        <p:strVal val="visible"/>
                                      </p:to>
                                    </p:set>
                                    <p:animEffect transition="in" filter="blinds(vertical)">
                                      <p:cBhvr>
                                        <p:cTn id="52" dur="500"/>
                                        <p:tgtEl>
                                          <p:spTgt spid="41987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19845"/>
                                        </p:tgtEl>
                                        <p:attrNameLst>
                                          <p:attrName>style.visibility</p:attrName>
                                        </p:attrNameLst>
                                      </p:cBhvr>
                                      <p:to>
                                        <p:strVal val="visible"/>
                                      </p:to>
                                    </p:set>
                                    <p:animEffect transition="in" filter="blinds(horizontal)">
                                      <p:cBhvr>
                                        <p:cTn id="57" dur="500"/>
                                        <p:tgtEl>
                                          <p:spTgt spid="41984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nodeType="clickEffect">
                                  <p:stCondLst>
                                    <p:cond delay="0"/>
                                  </p:stCondLst>
                                  <p:childTnLst>
                                    <p:set>
                                      <p:cBhvr>
                                        <p:cTn id="61" dur="1" fill="hold">
                                          <p:stCondLst>
                                            <p:cond delay="0"/>
                                          </p:stCondLst>
                                        </p:cTn>
                                        <p:tgtEl>
                                          <p:spTgt spid="419842"/>
                                        </p:tgtEl>
                                        <p:attrNameLst>
                                          <p:attrName>style.visibility</p:attrName>
                                        </p:attrNameLst>
                                      </p:cBhvr>
                                      <p:to>
                                        <p:strVal val="visible"/>
                                      </p:to>
                                    </p:set>
                                    <p:animEffect transition="in" filter="blinds(vertical)">
                                      <p:cBhvr>
                                        <p:cTn id="62" dur="500"/>
                                        <p:tgtEl>
                                          <p:spTgt spid="41984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5" fill="hold" grpId="0" nodeType="clickEffect">
                                  <p:stCondLst>
                                    <p:cond delay="0"/>
                                  </p:stCondLst>
                                  <p:childTnLst>
                                    <p:set>
                                      <p:cBhvr>
                                        <p:cTn id="66" dur="1" fill="hold">
                                          <p:stCondLst>
                                            <p:cond delay="0"/>
                                          </p:stCondLst>
                                        </p:cTn>
                                        <p:tgtEl>
                                          <p:spTgt spid="419869"/>
                                        </p:tgtEl>
                                        <p:attrNameLst>
                                          <p:attrName>style.visibility</p:attrName>
                                        </p:attrNameLst>
                                      </p:cBhvr>
                                      <p:to>
                                        <p:strVal val="visible"/>
                                      </p:to>
                                    </p:set>
                                    <p:animEffect transition="in" filter="blinds(vertical)">
                                      <p:cBhvr>
                                        <p:cTn id="67" dur="500"/>
                                        <p:tgtEl>
                                          <p:spTgt spid="41986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5" fill="hold" nodeType="clickEffect">
                                  <p:stCondLst>
                                    <p:cond delay="0"/>
                                  </p:stCondLst>
                                  <p:childTnLst>
                                    <p:set>
                                      <p:cBhvr>
                                        <p:cTn id="71" dur="1" fill="hold">
                                          <p:stCondLst>
                                            <p:cond delay="0"/>
                                          </p:stCondLst>
                                        </p:cTn>
                                        <p:tgtEl>
                                          <p:spTgt spid="419875"/>
                                        </p:tgtEl>
                                        <p:attrNameLst>
                                          <p:attrName>style.visibility</p:attrName>
                                        </p:attrNameLst>
                                      </p:cBhvr>
                                      <p:to>
                                        <p:strVal val="visible"/>
                                      </p:to>
                                    </p:set>
                                    <p:animEffect transition="in" filter="blinds(vertical)">
                                      <p:cBhvr>
                                        <p:cTn id="72" dur="500"/>
                                        <p:tgtEl>
                                          <p:spTgt spid="419875"/>
                                        </p:tgtEl>
                                      </p:cBhvr>
                                    </p:animEffect>
                                  </p:childTnLst>
                                </p:cTn>
                              </p:par>
                            </p:childTnLst>
                          </p:cTn>
                        </p:par>
                        <p:par>
                          <p:cTn id="73" fill="hold" nodeType="afterGroup">
                            <p:stCondLst>
                              <p:cond delay="500"/>
                            </p:stCondLst>
                            <p:childTnLst>
                              <p:par>
                                <p:cTn id="74" presetID="3" presetClass="entr" presetSubtype="5" fill="hold" nodeType="afterEffect">
                                  <p:stCondLst>
                                    <p:cond delay="0"/>
                                  </p:stCondLst>
                                  <p:childTnLst>
                                    <p:set>
                                      <p:cBhvr>
                                        <p:cTn id="75" dur="1" fill="hold">
                                          <p:stCondLst>
                                            <p:cond delay="0"/>
                                          </p:stCondLst>
                                        </p:cTn>
                                        <p:tgtEl>
                                          <p:spTgt spid="419864"/>
                                        </p:tgtEl>
                                        <p:attrNameLst>
                                          <p:attrName>style.visibility</p:attrName>
                                        </p:attrNameLst>
                                      </p:cBhvr>
                                      <p:to>
                                        <p:strVal val="visible"/>
                                      </p:to>
                                    </p:set>
                                    <p:animEffect transition="in" filter="blinds(vertical)">
                                      <p:cBhvr>
                                        <p:cTn id="76" dur="500"/>
                                        <p:tgtEl>
                                          <p:spTgt spid="419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5" grpId="0" autoUpdateAnimBg="0"/>
      <p:bldP spid="419868" grpId="0" build="p" autoUpdateAnimBg="0"/>
      <p:bldP spid="419869" grpId="0" autoUpdateAnimBg="0"/>
      <p:bldP spid="419882" grpId="0" autoUpdateAnimBg="0"/>
      <p:bldP spid="419883" grpId="0" build="p" bldLvl="2"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685800" y="533400"/>
            <a:ext cx="3581400" cy="519113"/>
          </a:xfrm>
          <a:prstGeom prst="rect">
            <a:avLst/>
          </a:prstGeom>
          <a:solidFill>
            <a:srgbClr val="F7A1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chemeClr val="bg1"/>
                </a:solidFill>
                <a:latin typeface="楷体_GB2312"/>
                <a:ea typeface="楷体_GB2312"/>
              </a:rPr>
              <a:t>避雷针的工作原理</a:t>
            </a:r>
          </a:p>
        </p:txBody>
      </p:sp>
      <p:sp>
        <p:nvSpPr>
          <p:cNvPr id="15363" name="Text Box 3"/>
          <p:cNvSpPr txBox="1">
            <a:spLocks noChangeArrowheads="1"/>
          </p:cNvSpPr>
          <p:nvPr/>
        </p:nvSpPr>
        <p:spPr bwMode="auto">
          <a:xfrm>
            <a:off x="6553200" y="1981200"/>
            <a:ext cx="1905000" cy="5191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rgbClr val="FFFFCC"/>
                </a:solidFill>
                <a:latin typeface="楷体_GB2312"/>
                <a:ea typeface="楷体_GB2312"/>
              </a:rPr>
              <a:t>云层带电</a:t>
            </a:r>
          </a:p>
        </p:txBody>
      </p:sp>
      <p:sp>
        <p:nvSpPr>
          <p:cNvPr id="15364" name="Text Box 4"/>
          <p:cNvSpPr txBox="1">
            <a:spLocks noChangeArrowheads="1"/>
          </p:cNvSpPr>
          <p:nvPr/>
        </p:nvSpPr>
        <p:spPr bwMode="auto">
          <a:xfrm>
            <a:off x="609600" y="1219200"/>
            <a:ext cx="411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solidFill>
                  <a:srgbClr val="0000FF"/>
                </a:solidFill>
                <a:latin typeface="楷体_GB2312"/>
                <a:ea typeface="楷体_GB2312"/>
              </a:rPr>
              <a:t>绝大多数带电云底层带负电</a:t>
            </a:r>
            <a:r>
              <a:rPr lang="en-US" altLang="zh-CN" sz="2800">
                <a:solidFill>
                  <a:srgbClr val="0000FF"/>
                </a:solidFill>
                <a:latin typeface="楷体_GB2312"/>
                <a:ea typeface="楷体_GB2312"/>
              </a:rPr>
              <a:t>,</a:t>
            </a:r>
            <a:r>
              <a:rPr lang="zh-CN" altLang="en-US" sz="2800">
                <a:solidFill>
                  <a:srgbClr val="0000FF"/>
                </a:solidFill>
                <a:latin typeface="楷体_GB2312"/>
                <a:ea typeface="楷体_GB2312"/>
              </a:rPr>
              <a:t>顶层带正电</a:t>
            </a:r>
          </a:p>
        </p:txBody>
      </p:sp>
      <p:sp>
        <p:nvSpPr>
          <p:cNvPr id="525317" name="AutoShape 5"/>
          <p:cNvSpPr>
            <a:spLocks noChangeArrowheads="1"/>
          </p:cNvSpPr>
          <p:nvPr/>
        </p:nvSpPr>
        <p:spPr bwMode="auto">
          <a:xfrm>
            <a:off x="5105400" y="609600"/>
            <a:ext cx="2667000" cy="1143000"/>
          </a:xfrm>
          <a:prstGeom prst="cloudCallout">
            <a:avLst>
              <a:gd name="adj1" fmla="val -54227"/>
              <a:gd name="adj2" fmla="val 47361"/>
            </a:avLst>
          </a:prstGeom>
          <a:gradFill rotWithShape="0">
            <a:gsLst>
              <a:gs pos="0">
                <a:schemeClr val="accent2"/>
              </a:gs>
              <a:gs pos="100000">
                <a:schemeClr val="accent2">
                  <a:gamma/>
                  <a:tint val="16471"/>
                  <a:invGamma/>
                </a:schemeClr>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20000"/>
              </a:spcBef>
              <a:defRPr/>
            </a:pPr>
            <a:endParaRPr lang="zh-CN" altLang="zh-CN" sz="3200">
              <a:latin typeface="楷体_GB2312" pitchFamily="49" charset="-122"/>
              <a:ea typeface="楷体_GB2312" pitchFamily="49" charset="-122"/>
            </a:endParaRPr>
          </a:p>
        </p:txBody>
      </p:sp>
      <p:sp>
        <p:nvSpPr>
          <p:cNvPr id="15366" name="Line 6"/>
          <p:cNvSpPr>
            <a:spLocks noChangeShapeType="1"/>
          </p:cNvSpPr>
          <p:nvPr/>
        </p:nvSpPr>
        <p:spPr bwMode="auto">
          <a:xfrm>
            <a:off x="5791200" y="1524000"/>
            <a:ext cx="304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Line 7"/>
          <p:cNvSpPr>
            <a:spLocks noChangeShapeType="1"/>
          </p:cNvSpPr>
          <p:nvPr/>
        </p:nvSpPr>
        <p:spPr bwMode="auto">
          <a:xfrm flipV="1">
            <a:off x="6400800" y="1524000"/>
            <a:ext cx="304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Line 8"/>
          <p:cNvSpPr>
            <a:spLocks noChangeShapeType="1"/>
          </p:cNvSpPr>
          <p:nvPr/>
        </p:nvSpPr>
        <p:spPr bwMode="auto">
          <a:xfrm>
            <a:off x="7010400" y="1447800"/>
            <a:ext cx="304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69" name="Group 9"/>
          <p:cNvGrpSpPr>
            <a:grpSpLocks/>
          </p:cNvGrpSpPr>
          <p:nvPr/>
        </p:nvGrpSpPr>
        <p:grpSpPr bwMode="auto">
          <a:xfrm>
            <a:off x="6858000" y="838200"/>
            <a:ext cx="304800" cy="304800"/>
            <a:chOff x="2400" y="3072"/>
            <a:chExt cx="192" cy="192"/>
          </a:xfrm>
        </p:grpSpPr>
        <p:sp>
          <p:nvSpPr>
            <p:cNvPr id="15392" name="Line 10"/>
            <p:cNvSpPr>
              <a:spLocks noChangeShapeType="1"/>
            </p:cNvSpPr>
            <p:nvPr/>
          </p:nvSpPr>
          <p:spPr bwMode="auto">
            <a:xfrm>
              <a:off x="2400" y="3168"/>
              <a:ext cx="192" cy="0"/>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3" name="Line 11"/>
            <p:cNvSpPr>
              <a:spLocks noChangeShapeType="1"/>
            </p:cNvSpPr>
            <p:nvPr/>
          </p:nvSpPr>
          <p:spPr bwMode="auto">
            <a:xfrm>
              <a:off x="2496" y="3072"/>
              <a:ext cx="0" cy="192"/>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70" name="Group 12"/>
          <p:cNvGrpSpPr>
            <a:grpSpLocks/>
          </p:cNvGrpSpPr>
          <p:nvPr/>
        </p:nvGrpSpPr>
        <p:grpSpPr bwMode="auto">
          <a:xfrm>
            <a:off x="6248400" y="838200"/>
            <a:ext cx="304800" cy="304800"/>
            <a:chOff x="2400" y="3072"/>
            <a:chExt cx="192" cy="192"/>
          </a:xfrm>
        </p:grpSpPr>
        <p:sp>
          <p:nvSpPr>
            <p:cNvPr id="15390" name="Line 13"/>
            <p:cNvSpPr>
              <a:spLocks noChangeShapeType="1"/>
            </p:cNvSpPr>
            <p:nvPr/>
          </p:nvSpPr>
          <p:spPr bwMode="auto">
            <a:xfrm>
              <a:off x="2400" y="3168"/>
              <a:ext cx="192" cy="0"/>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1" name="Line 14"/>
            <p:cNvSpPr>
              <a:spLocks noChangeShapeType="1"/>
            </p:cNvSpPr>
            <p:nvPr/>
          </p:nvSpPr>
          <p:spPr bwMode="auto">
            <a:xfrm>
              <a:off x="2496" y="3072"/>
              <a:ext cx="0" cy="192"/>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371" name="Group 15"/>
          <p:cNvGrpSpPr>
            <a:grpSpLocks/>
          </p:cNvGrpSpPr>
          <p:nvPr/>
        </p:nvGrpSpPr>
        <p:grpSpPr bwMode="auto">
          <a:xfrm>
            <a:off x="5715000" y="838200"/>
            <a:ext cx="304800" cy="304800"/>
            <a:chOff x="2400" y="3072"/>
            <a:chExt cx="192" cy="192"/>
          </a:xfrm>
        </p:grpSpPr>
        <p:sp>
          <p:nvSpPr>
            <p:cNvPr id="15388" name="Line 16"/>
            <p:cNvSpPr>
              <a:spLocks noChangeShapeType="1"/>
            </p:cNvSpPr>
            <p:nvPr/>
          </p:nvSpPr>
          <p:spPr bwMode="auto">
            <a:xfrm>
              <a:off x="2400" y="3168"/>
              <a:ext cx="192" cy="0"/>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Line 17"/>
            <p:cNvSpPr>
              <a:spLocks noChangeShapeType="1"/>
            </p:cNvSpPr>
            <p:nvPr/>
          </p:nvSpPr>
          <p:spPr bwMode="auto">
            <a:xfrm>
              <a:off x="2496" y="3072"/>
              <a:ext cx="0" cy="192"/>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5372" name="Object 18"/>
          <p:cNvGraphicFramePr>
            <a:graphicFrameLocks noChangeAspect="1"/>
          </p:cNvGraphicFramePr>
          <p:nvPr/>
        </p:nvGraphicFramePr>
        <p:xfrm>
          <a:off x="609600" y="2819400"/>
          <a:ext cx="3841750" cy="4038600"/>
        </p:xfrm>
        <a:graphic>
          <a:graphicData uri="http://schemas.openxmlformats.org/presentationml/2006/ole">
            <mc:AlternateContent xmlns:mc="http://schemas.openxmlformats.org/markup-compatibility/2006">
              <mc:Choice xmlns:v="urn:schemas-microsoft-com:vml" Requires="v">
                <p:oleObj spid="_x0000_s15458" name="Clip" r:id="rId3" imgW="2827338" imgH="3497263" progId="MS_ClipArt_Gallery.5">
                  <p:embed/>
                </p:oleObj>
              </mc:Choice>
              <mc:Fallback>
                <p:oleObj name="Clip" r:id="rId3" imgW="2827338" imgH="3497263" progId="MS_ClipArt_Gallery.5">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819400"/>
                        <a:ext cx="3841750" cy="403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3" name="AutoShape 19"/>
          <p:cNvSpPr>
            <a:spLocks noChangeArrowheads="1"/>
          </p:cNvSpPr>
          <p:nvPr/>
        </p:nvSpPr>
        <p:spPr bwMode="auto">
          <a:xfrm flipH="1">
            <a:off x="3505200" y="1752600"/>
            <a:ext cx="1752600" cy="533400"/>
          </a:xfrm>
          <a:prstGeom prst="lightningBol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5374" name="Line 20"/>
          <p:cNvSpPr>
            <a:spLocks noChangeShapeType="1"/>
          </p:cNvSpPr>
          <p:nvPr/>
        </p:nvSpPr>
        <p:spPr bwMode="auto">
          <a:xfrm flipV="1">
            <a:off x="3352800" y="2286000"/>
            <a:ext cx="0" cy="685800"/>
          </a:xfrm>
          <a:prstGeom prst="line">
            <a:avLst/>
          </a:prstGeom>
          <a:noFill/>
          <a:ln w="762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75" name="Group 21"/>
          <p:cNvGrpSpPr>
            <a:grpSpLocks/>
          </p:cNvGrpSpPr>
          <p:nvPr/>
        </p:nvGrpSpPr>
        <p:grpSpPr bwMode="auto">
          <a:xfrm>
            <a:off x="3276600" y="2209800"/>
            <a:ext cx="152400" cy="228600"/>
            <a:chOff x="2400" y="3072"/>
            <a:chExt cx="192" cy="192"/>
          </a:xfrm>
        </p:grpSpPr>
        <p:sp>
          <p:nvSpPr>
            <p:cNvPr id="15386" name="Line 22"/>
            <p:cNvSpPr>
              <a:spLocks noChangeShapeType="1"/>
            </p:cNvSpPr>
            <p:nvPr/>
          </p:nvSpPr>
          <p:spPr bwMode="auto">
            <a:xfrm>
              <a:off x="2400" y="3168"/>
              <a:ext cx="192" cy="0"/>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23"/>
            <p:cNvSpPr>
              <a:spLocks noChangeShapeType="1"/>
            </p:cNvSpPr>
            <p:nvPr/>
          </p:nvSpPr>
          <p:spPr bwMode="auto">
            <a:xfrm>
              <a:off x="2496" y="3072"/>
              <a:ext cx="0" cy="192"/>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76" name="Line 24"/>
          <p:cNvSpPr>
            <a:spLocks noChangeShapeType="1"/>
          </p:cNvSpPr>
          <p:nvPr/>
        </p:nvSpPr>
        <p:spPr bwMode="auto">
          <a:xfrm>
            <a:off x="3886200" y="2971800"/>
            <a:ext cx="0" cy="3505200"/>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7" name="Line 25"/>
          <p:cNvSpPr>
            <a:spLocks noChangeShapeType="1"/>
          </p:cNvSpPr>
          <p:nvPr/>
        </p:nvSpPr>
        <p:spPr bwMode="auto">
          <a:xfrm>
            <a:off x="3810000" y="6477000"/>
            <a:ext cx="381000" cy="0"/>
          </a:xfrm>
          <a:prstGeom prst="line">
            <a:avLst/>
          </a:prstGeom>
          <a:noFill/>
          <a:ln w="571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8" name="Line 26"/>
          <p:cNvSpPr>
            <a:spLocks noChangeShapeType="1"/>
          </p:cNvSpPr>
          <p:nvPr/>
        </p:nvSpPr>
        <p:spPr bwMode="auto">
          <a:xfrm flipH="1">
            <a:off x="3886200" y="6629400"/>
            <a:ext cx="228600" cy="0"/>
          </a:xfrm>
          <a:prstGeom prst="line">
            <a:avLst/>
          </a:prstGeom>
          <a:noFill/>
          <a:ln w="571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379" name="Group 27"/>
          <p:cNvGrpSpPr>
            <a:grpSpLocks/>
          </p:cNvGrpSpPr>
          <p:nvPr/>
        </p:nvGrpSpPr>
        <p:grpSpPr bwMode="auto">
          <a:xfrm>
            <a:off x="3276600" y="2514600"/>
            <a:ext cx="152400" cy="228600"/>
            <a:chOff x="2400" y="3072"/>
            <a:chExt cx="192" cy="192"/>
          </a:xfrm>
        </p:grpSpPr>
        <p:sp>
          <p:nvSpPr>
            <p:cNvPr id="15384" name="Line 28"/>
            <p:cNvSpPr>
              <a:spLocks noChangeShapeType="1"/>
            </p:cNvSpPr>
            <p:nvPr/>
          </p:nvSpPr>
          <p:spPr bwMode="auto">
            <a:xfrm>
              <a:off x="2400" y="3168"/>
              <a:ext cx="192" cy="0"/>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29"/>
            <p:cNvSpPr>
              <a:spLocks noChangeShapeType="1"/>
            </p:cNvSpPr>
            <p:nvPr/>
          </p:nvSpPr>
          <p:spPr bwMode="auto">
            <a:xfrm>
              <a:off x="2496" y="3072"/>
              <a:ext cx="0" cy="192"/>
            </a:xfrm>
            <a:prstGeom prst="line">
              <a:avLst/>
            </a:prstGeom>
            <a:noFill/>
            <a:ln w="571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80" name="Text Box 30"/>
          <p:cNvSpPr txBox="1">
            <a:spLocks noChangeArrowheads="1"/>
          </p:cNvSpPr>
          <p:nvPr/>
        </p:nvSpPr>
        <p:spPr bwMode="auto">
          <a:xfrm>
            <a:off x="4343400" y="6096000"/>
            <a:ext cx="1371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a:solidFill>
                  <a:schemeClr val="bg2"/>
                </a:solidFill>
                <a:latin typeface="楷体_GB2312"/>
                <a:ea typeface="楷体_GB2312"/>
              </a:rPr>
              <a:t>接地</a:t>
            </a:r>
          </a:p>
        </p:txBody>
      </p:sp>
      <p:sp>
        <p:nvSpPr>
          <p:cNvPr id="15381" name="Line 31"/>
          <p:cNvSpPr>
            <a:spLocks noChangeShapeType="1"/>
          </p:cNvSpPr>
          <p:nvPr/>
        </p:nvSpPr>
        <p:spPr bwMode="auto">
          <a:xfrm>
            <a:off x="3352800" y="2971800"/>
            <a:ext cx="533400" cy="0"/>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382" name="Line 32"/>
          <p:cNvSpPr>
            <a:spLocks noChangeShapeType="1"/>
          </p:cNvSpPr>
          <p:nvPr/>
        </p:nvSpPr>
        <p:spPr bwMode="auto">
          <a:xfrm flipV="1">
            <a:off x="6858000" y="1524000"/>
            <a:ext cx="0" cy="457200"/>
          </a:xfrm>
          <a:prstGeom prst="line">
            <a:avLst/>
          </a:prstGeom>
          <a:noFill/>
          <a:ln w="762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15383" name="Picture 33" descr="ZW_003"/>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3733800"/>
            <a:ext cx="36576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127E40F2-0990-4FAA-917B-50057C8DE72C}"/>
              </a:ext>
            </a:extLst>
          </p:cNvPr>
          <p:cNvGrpSpPr/>
          <p:nvPr/>
        </p:nvGrpSpPr>
        <p:grpSpPr>
          <a:xfrm>
            <a:off x="62244" y="332656"/>
            <a:ext cx="4437852" cy="3804340"/>
            <a:chOff x="2436124" y="1023734"/>
            <a:chExt cx="4171663" cy="3128747"/>
          </a:xfrm>
        </p:grpSpPr>
        <p:pic>
          <p:nvPicPr>
            <p:cNvPr id="73730" name="Picture 2" descr="https://gimg2.baidu.com/image_search/src=http%3A%2F%2Finews.gtimg.com%2Fnewsapp_match%2F0%2F10954728602%2F0.jpg&amp;refer=http%3A%2F%2Finews.gtimg.com&amp;app=2002&amp;size=f9999,10000&amp;q=a80&amp;n=0&amp;g=0n&amp;fmt=jpeg?sec=1642642041&amp;t=4f243b3f9be7524f50a3411fdb88bd07">
              <a:extLst>
                <a:ext uri="{FF2B5EF4-FFF2-40B4-BE49-F238E27FC236}">
                  <a16:creationId xmlns:a16="http://schemas.microsoft.com/office/drawing/2014/main" id="{F8C8489C-DBA1-4D8F-831F-17FE3F428D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124" y="1023734"/>
              <a:ext cx="4171663" cy="3128747"/>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A6487971-52E8-4DF2-8D18-C6EBD2B77D3D}"/>
                </a:ext>
              </a:extLst>
            </p:cNvPr>
            <p:cNvSpPr txBox="1"/>
            <p:nvPr/>
          </p:nvSpPr>
          <p:spPr>
            <a:xfrm>
              <a:off x="3879741" y="3429000"/>
              <a:ext cx="1980029" cy="400110"/>
            </a:xfrm>
            <a:prstGeom prst="rect">
              <a:avLst/>
            </a:prstGeom>
            <a:solidFill>
              <a:schemeClr val="bg1"/>
            </a:solidFill>
          </p:spPr>
          <p:txBody>
            <a:bodyPr wrap="none" rtlCol="0">
              <a:spAutoFit/>
            </a:bodyPr>
            <a:lstStyle/>
            <a:p>
              <a:r>
                <a:rPr lang="en-US" altLang="zh-CN"/>
                <a:t>2019</a:t>
              </a:r>
              <a:r>
                <a:rPr lang="zh-CN" altLang="en-US"/>
                <a:t>年齐齐哈尔</a:t>
              </a:r>
            </a:p>
          </p:txBody>
        </p:sp>
      </p:grpSp>
      <p:sp>
        <p:nvSpPr>
          <p:cNvPr id="16386" name="Rectangle 2" hidden="1"/>
          <p:cNvSpPr>
            <a:spLocks noGrp="1" noChangeArrowheads="1"/>
          </p:cNvSpPr>
          <p:nvPr>
            <p:ph type="title"/>
          </p:nvPr>
        </p:nvSpPr>
        <p:spPr/>
        <p:txBody>
          <a:bodyPr/>
          <a:lstStyle/>
          <a:p>
            <a:pPr eaLnBrk="1" hangingPunct="1"/>
            <a:r>
              <a:rPr lang="en-US" altLang="zh-CN"/>
              <a:t>	</a:t>
            </a:r>
          </a:p>
        </p:txBody>
      </p:sp>
      <p:pic>
        <p:nvPicPr>
          <p:cNvPr id="18437" name="Picture 4" descr="2525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976" y="332656"/>
            <a:ext cx="2386013" cy="426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0" name="Text Box 2"/>
          <p:cNvSpPr txBox="1">
            <a:spLocks noChangeArrowheads="1"/>
          </p:cNvSpPr>
          <p:nvPr/>
        </p:nvSpPr>
        <p:spPr bwMode="auto">
          <a:xfrm>
            <a:off x="2822575" y="4506913"/>
            <a:ext cx="3581400" cy="519112"/>
          </a:xfrm>
          <a:prstGeom prst="rect">
            <a:avLst/>
          </a:prstGeom>
          <a:solidFill>
            <a:srgbClr val="F7A1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800">
                <a:latin typeface="楷体_GB2312"/>
                <a:ea typeface="楷体_GB2312"/>
              </a:rPr>
              <a:t>静电除尘原理</a:t>
            </a:r>
          </a:p>
        </p:txBody>
      </p:sp>
      <p:sp>
        <p:nvSpPr>
          <p:cNvPr id="16391" name="矩形 1"/>
          <p:cNvSpPr>
            <a:spLocks noChangeArrowheads="1"/>
          </p:cNvSpPr>
          <p:nvPr/>
        </p:nvSpPr>
        <p:spPr bwMode="auto">
          <a:xfrm>
            <a:off x="107950" y="4960938"/>
            <a:ext cx="89281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500">
                <a:ea typeface="楷体_GB2312"/>
              </a:rPr>
              <a:t>静电除尘器的工作原理：含有粉尘颗粒的气体，在接有高压直流电源的阴极线</a:t>
            </a:r>
            <a:r>
              <a:rPr lang="en-US" altLang="zh-CN" sz="1500">
                <a:ea typeface="楷体_GB2312"/>
              </a:rPr>
              <a:t>(</a:t>
            </a:r>
            <a:r>
              <a:rPr lang="zh-CN" altLang="en-US" sz="1500">
                <a:ea typeface="楷体_GB2312"/>
              </a:rPr>
              <a:t>又称电晕极</a:t>
            </a:r>
            <a:r>
              <a:rPr lang="en-US" altLang="zh-CN" sz="1500">
                <a:ea typeface="楷体_GB2312"/>
              </a:rPr>
              <a:t>)</a:t>
            </a:r>
            <a:r>
              <a:rPr lang="zh-CN" altLang="en-US" sz="1500">
                <a:ea typeface="楷体_GB2312"/>
              </a:rPr>
              <a:t>和接地的阳极板之间所形成的高压电场通过时，由于阴极发生电晕放电、气体被电离，此时，带负电的气体离子，在电场力的作用下，向阳板运动，在运动中与粉尘颗粒相碰，则使尘粒荷以负电，荷电后的尘粒在电场力的作用下，亦向阳极运动，到达阳极后，放出所带的电子，尘粒则沉积于阳极板上，而得到净化的气体排出防尘器外。</a:t>
            </a:r>
            <a:br>
              <a:rPr lang="zh-CN" altLang="en-US" sz="1500">
                <a:ea typeface="楷体_GB2312"/>
              </a:rPr>
            </a:br>
            <a:r>
              <a:rPr lang="zh-CN" altLang="en-US" sz="1500">
                <a:ea typeface="楷体_GB2312"/>
              </a:rPr>
              <a:t>根据目前国内常见的静电除尘器型式可概略地分为以下几类：按气流方向分为立式和卧式，按沉淀极极型式分为板式和管式，按沉淀极板上粉尘的清除方法分为干式湿式等。</a:t>
            </a:r>
          </a:p>
        </p:txBody>
      </p:sp>
      <p:pic>
        <p:nvPicPr>
          <p:cNvPr id="3" name="图片 2">
            <a:extLst>
              <a:ext uri="{FF2B5EF4-FFF2-40B4-BE49-F238E27FC236}">
                <a16:creationId xmlns:a16="http://schemas.microsoft.com/office/drawing/2014/main" id="{0CF9AC62-8346-4D1C-B091-137F229633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63314" y="266456"/>
            <a:ext cx="2469534" cy="4390281"/>
          </a:xfrm>
          <a:prstGeom prst="rect">
            <a:avLst/>
          </a:prstGeom>
        </p:spPr>
      </p:pic>
      <p:sp>
        <p:nvSpPr>
          <p:cNvPr id="4" name="文本框 3">
            <a:extLst>
              <a:ext uri="{FF2B5EF4-FFF2-40B4-BE49-F238E27FC236}">
                <a16:creationId xmlns:a16="http://schemas.microsoft.com/office/drawing/2014/main" id="{75F19521-E4F9-4390-9A3C-40038DCC840C}"/>
              </a:ext>
            </a:extLst>
          </p:cNvPr>
          <p:cNvSpPr txBox="1"/>
          <p:nvPr/>
        </p:nvSpPr>
        <p:spPr>
          <a:xfrm>
            <a:off x="7243169" y="3952426"/>
            <a:ext cx="1467068" cy="400110"/>
          </a:xfrm>
          <a:prstGeom prst="rect">
            <a:avLst/>
          </a:prstGeom>
          <a:solidFill>
            <a:schemeClr val="bg1"/>
          </a:solidFill>
        </p:spPr>
        <p:txBody>
          <a:bodyPr wrap="none" rtlCol="0">
            <a:spAutoFit/>
          </a:bodyPr>
          <a:lstStyle/>
          <a:p>
            <a:r>
              <a:rPr lang="en-US" altLang="zh-CN"/>
              <a:t>2021</a:t>
            </a:r>
            <a:r>
              <a:rPr lang="zh-CN" altLang="en-US"/>
              <a:t>年沈阳</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descr="25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 y="116632"/>
            <a:ext cx="8940800" cy="282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5" name="Rectangle 2" hidden="1"/>
          <p:cNvSpPr>
            <a:spLocks noGrp="1" noChangeArrowheads="1"/>
          </p:cNvSpPr>
          <p:nvPr>
            <p:ph type="title"/>
          </p:nvPr>
        </p:nvSpPr>
        <p:spPr/>
        <p:txBody>
          <a:bodyPr/>
          <a:lstStyle/>
          <a:p>
            <a:pPr eaLnBrk="1" hangingPunct="1"/>
            <a:r>
              <a:rPr lang="en-US" altLang="zh-CN"/>
              <a:t>	</a:t>
            </a:r>
          </a:p>
        </p:txBody>
      </p:sp>
      <p:sp>
        <p:nvSpPr>
          <p:cNvPr id="18436" name="Text Box 2"/>
          <p:cNvSpPr txBox="1">
            <a:spLocks noChangeArrowheads="1"/>
          </p:cNvSpPr>
          <p:nvPr/>
        </p:nvSpPr>
        <p:spPr bwMode="auto">
          <a:xfrm>
            <a:off x="2124075" y="5929313"/>
            <a:ext cx="5256213" cy="523875"/>
          </a:xfrm>
          <a:prstGeom prst="rect">
            <a:avLst/>
          </a:prstGeom>
          <a:solidFill>
            <a:srgbClr val="F7A1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a:latin typeface="楷体_GB2312"/>
                <a:ea typeface="楷体_GB2312"/>
              </a:rPr>
              <a:t>静电复印机和激光打印机的原理</a:t>
            </a:r>
          </a:p>
        </p:txBody>
      </p:sp>
      <p:sp>
        <p:nvSpPr>
          <p:cNvPr id="18437" name="矩形 1"/>
          <p:cNvSpPr>
            <a:spLocks noChangeArrowheads="1"/>
          </p:cNvSpPr>
          <p:nvPr/>
        </p:nvSpPr>
        <p:spPr bwMode="auto">
          <a:xfrm>
            <a:off x="101600" y="3178175"/>
            <a:ext cx="8574088"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1500">
                <a:ea typeface="楷体_GB2312"/>
              </a:rPr>
              <a:t>        像正好落在光导硒鼓上，光导硒鼓是一个圆鼓形结构的筒，表面覆有硒光导体薄膜。光导体对光很敏感，没有光线时具有高电阻率，一遇光照，电阻率就急剧下降；在充电机的作用下，电阻率就急剧下降。光导体表面，在充电极的作用下，带有均匀的静电荷。当由图像的反射光形成的光像落在光导体表面上时，由于反射光有强有弱</a:t>
            </a:r>
            <a:r>
              <a:rPr lang="en-US" altLang="zh-CN" sz="1500">
                <a:ea typeface="楷体_GB2312"/>
              </a:rPr>
              <a:t>(</a:t>
            </a:r>
            <a:r>
              <a:rPr lang="zh-CN" altLang="en-US" sz="1500">
                <a:ea typeface="楷体_GB2312"/>
              </a:rPr>
              <a:t>因为原稿的图像有深有浅</a:t>
            </a:r>
            <a:r>
              <a:rPr lang="en-US" altLang="zh-CN" sz="1500">
                <a:ea typeface="楷体_GB2312"/>
              </a:rPr>
              <a:t>)</a:t>
            </a:r>
            <a:r>
              <a:rPr lang="zh-CN" altLang="en-US" sz="1500">
                <a:ea typeface="楷体_GB2312"/>
              </a:rPr>
              <a:t>，使光导体的电阻率相应发生变化。光导体表面的静电电荷也随光线强弱程度而消失或部分消失，在光导体膜层上形成一个相应的静电图像，也称静电潜像。人们看不到它，好像潜藏在膜层内。这时，一种与静电潜像上的电荷极性相反的显影墨粉末，在电场力的吸引下，加到光导体表面上去。潜像上吸附的墨粉量，随潜像上电荷的多少而增减。于是，在“硒鼓”的表面显现出有深浅层次的墨粉图像。 当复印纸与墨粉图像接触时，在电场力的作用下，吸附着墨粉的图像，好比用图章盖印一样，将墨粉转移到复印纸上，在复印纸上也形成了墨粉图像。再在定影器中经加热，墨粉中所含树脂融化，墨粉被牢固地粘结在纸上，图像和文字就在纸上复印出来了。 </a:t>
            </a: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07950" y="187325"/>
            <a:ext cx="2667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None/>
            </a:pPr>
            <a:r>
              <a:rPr lang="zh-CN" altLang="zh-CN" sz="2800">
                <a:ea typeface="楷体_GB2312"/>
              </a:rPr>
              <a:t>三</a:t>
            </a:r>
            <a:r>
              <a:rPr lang="en-US" altLang="zh-CN" sz="2800">
                <a:ea typeface="楷体_GB2312"/>
              </a:rPr>
              <a:t>.</a:t>
            </a:r>
            <a:r>
              <a:rPr lang="zh-CN" altLang="zh-CN" sz="2800">
                <a:ea typeface="楷体_GB2312"/>
              </a:rPr>
              <a:t>静电屏蔽</a:t>
            </a:r>
            <a:endParaRPr lang="zh-CN" altLang="en-US" sz="2800">
              <a:ea typeface="楷体_GB2312"/>
            </a:endParaRPr>
          </a:p>
        </p:txBody>
      </p:sp>
      <p:pic>
        <p:nvPicPr>
          <p:cNvPr id="3" name="图片 2">
            <a:hlinkClick r:id="rId2"/>
            <a:extLst>
              <a:ext uri="{FF2B5EF4-FFF2-40B4-BE49-F238E27FC236}">
                <a16:creationId xmlns:a16="http://schemas.microsoft.com/office/drawing/2014/main" id="{88C89736-8473-4111-93EE-D56D7B9E09A2}"/>
              </a:ext>
            </a:extLst>
          </p:cNvPr>
          <p:cNvPicPr>
            <a:picLocks noChangeAspect="1"/>
          </p:cNvPicPr>
          <p:nvPr/>
        </p:nvPicPr>
        <p:blipFill rotWithShape="1">
          <a:blip r:embed="rId3"/>
          <a:srcRect l="20076" t="22001" r="29525" b="19201"/>
          <a:stretch/>
        </p:blipFill>
        <p:spPr>
          <a:xfrm>
            <a:off x="611560" y="908720"/>
            <a:ext cx="8229486" cy="5400600"/>
          </a:xfrm>
          <a:prstGeom prst="rect">
            <a:avLst/>
          </a:prstGeom>
        </p:spPr>
      </p:pic>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65" name="Line 73"/>
          <p:cNvSpPr>
            <a:spLocks noChangeShapeType="1"/>
          </p:cNvSpPr>
          <p:nvPr/>
        </p:nvSpPr>
        <p:spPr bwMode="auto">
          <a:xfrm>
            <a:off x="409575" y="5368925"/>
            <a:ext cx="990600" cy="83820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66" name="Line 74"/>
          <p:cNvSpPr>
            <a:spLocks noChangeShapeType="1"/>
          </p:cNvSpPr>
          <p:nvPr/>
        </p:nvSpPr>
        <p:spPr bwMode="auto">
          <a:xfrm flipV="1">
            <a:off x="409575" y="5292725"/>
            <a:ext cx="990600" cy="91440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67" name="Line 75"/>
          <p:cNvSpPr>
            <a:spLocks noChangeShapeType="1"/>
          </p:cNvSpPr>
          <p:nvPr/>
        </p:nvSpPr>
        <p:spPr bwMode="auto">
          <a:xfrm>
            <a:off x="942975" y="5140325"/>
            <a:ext cx="0" cy="121920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68" name="Line 76"/>
          <p:cNvSpPr>
            <a:spLocks noChangeShapeType="1"/>
          </p:cNvSpPr>
          <p:nvPr/>
        </p:nvSpPr>
        <p:spPr bwMode="auto">
          <a:xfrm>
            <a:off x="257175" y="5749925"/>
            <a:ext cx="1219200" cy="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664" name="Text Box 72"/>
          <p:cNvSpPr txBox="1">
            <a:spLocks noChangeArrowheads="1"/>
          </p:cNvSpPr>
          <p:nvPr/>
        </p:nvSpPr>
        <p:spPr bwMode="auto">
          <a:xfrm>
            <a:off x="228600" y="1052513"/>
            <a:ext cx="3960813" cy="338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buFontTx/>
              <a:buNone/>
            </a:pPr>
            <a:r>
              <a:rPr lang="en-US" altLang="zh-CN" sz="2800">
                <a:ea typeface="楷体_GB2312"/>
              </a:rPr>
              <a:t>        </a:t>
            </a:r>
            <a:r>
              <a:rPr lang="zh-CN" altLang="en-US" sz="2800">
                <a:ea typeface="楷体_GB2312"/>
              </a:rPr>
              <a:t>空腔导体外的带电体的电场，只会影响导体外表面上的电荷和外部电场的分布，对</a:t>
            </a:r>
            <a:r>
              <a:rPr lang="zh-CN" altLang="en-US" sz="2800">
                <a:latin typeface="Arial" panose="020B0604020202020204" pitchFamily="34" charset="0"/>
                <a:ea typeface="楷体_GB2312"/>
              </a:rPr>
              <a:t>导体空腔内部的电场没有影响，从而起到静电屏蔽作用。</a:t>
            </a:r>
          </a:p>
        </p:txBody>
      </p:sp>
      <p:sp>
        <p:nvSpPr>
          <p:cNvPr id="110672" name="Text Box 80"/>
          <p:cNvSpPr txBox="1">
            <a:spLocks noChangeArrowheads="1"/>
          </p:cNvSpPr>
          <p:nvPr/>
        </p:nvSpPr>
        <p:spPr bwMode="auto">
          <a:xfrm>
            <a:off x="304800" y="276225"/>
            <a:ext cx="2000250" cy="56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buFontTx/>
              <a:buNone/>
            </a:pPr>
            <a:r>
              <a:rPr lang="en-US" altLang="zh-CN" sz="2800">
                <a:ea typeface="楷体_GB2312"/>
              </a:rPr>
              <a:t>1.</a:t>
            </a:r>
            <a:r>
              <a:rPr lang="zh-CN" altLang="en-US" sz="2800">
                <a:solidFill>
                  <a:schemeClr val="tx2"/>
                </a:solidFill>
                <a:ea typeface="楷体_GB2312"/>
              </a:rPr>
              <a:t>屏外场</a:t>
            </a:r>
            <a:endParaRPr lang="zh-CN" altLang="en-US" sz="2800">
              <a:ea typeface="楷体_GB2312"/>
            </a:endParaRPr>
          </a:p>
        </p:txBody>
      </p:sp>
      <p:sp>
        <p:nvSpPr>
          <p:cNvPr id="110673" name="AutoShape 81"/>
          <p:cNvSpPr>
            <a:spLocks noChangeArrowheads="1"/>
          </p:cNvSpPr>
          <p:nvPr/>
        </p:nvSpPr>
        <p:spPr bwMode="auto">
          <a:xfrm>
            <a:off x="2057400" y="4495800"/>
            <a:ext cx="2057400" cy="22098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837" y="10800"/>
                </a:moveTo>
                <a:cubicBezTo>
                  <a:pt x="3837" y="14646"/>
                  <a:pt x="6954" y="17763"/>
                  <a:pt x="10800" y="17763"/>
                </a:cubicBezTo>
                <a:cubicBezTo>
                  <a:pt x="14646" y="17763"/>
                  <a:pt x="17763" y="14646"/>
                  <a:pt x="17763" y="10800"/>
                </a:cubicBezTo>
                <a:cubicBezTo>
                  <a:pt x="17763" y="6954"/>
                  <a:pt x="14646" y="3837"/>
                  <a:pt x="10800" y="3837"/>
                </a:cubicBezTo>
                <a:cubicBezTo>
                  <a:pt x="6954" y="3837"/>
                  <a:pt x="3837" y="6954"/>
                  <a:pt x="3837" y="10800"/>
                </a:cubicBezTo>
                <a:close/>
              </a:path>
            </a:pathLst>
          </a:custGeom>
          <a:solidFill>
            <a:schemeClr val="hlink"/>
          </a:solidFill>
          <a:ln w="9525">
            <a:solidFill>
              <a:schemeClr val="tx1"/>
            </a:solidFill>
            <a:round/>
            <a:headEnd/>
            <a:tailEnd/>
          </a:ln>
        </p:spPr>
        <p:txBody>
          <a:bodyPr wrap="none" anchor="ctr"/>
          <a:lstStyle/>
          <a:p>
            <a:endParaRPr lang="zh-CN" altLang="en-US"/>
          </a:p>
        </p:txBody>
      </p:sp>
      <p:sp>
        <p:nvSpPr>
          <p:cNvPr id="110674" name="Text Box 82"/>
          <p:cNvSpPr txBox="1">
            <a:spLocks noChangeArrowheads="1"/>
          </p:cNvSpPr>
          <p:nvPr/>
        </p:nvSpPr>
        <p:spPr bwMode="auto">
          <a:xfrm>
            <a:off x="1676400" y="5519738"/>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楷体_GB2312"/>
              </a:rPr>
              <a:t>－</a:t>
            </a:r>
          </a:p>
        </p:txBody>
      </p:sp>
      <p:sp>
        <p:nvSpPr>
          <p:cNvPr id="110675" name="Text Box 83"/>
          <p:cNvSpPr txBox="1">
            <a:spLocks noChangeArrowheads="1"/>
          </p:cNvSpPr>
          <p:nvPr/>
        </p:nvSpPr>
        <p:spPr bwMode="auto">
          <a:xfrm>
            <a:off x="1752600" y="5976938"/>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楷体_GB2312"/>
              </a:rPr>
              <a:t>－</a:t>
            </a:r>
          </a:p>
        </p:txBody>
      </p:sp>
      <p:sp>
        <p:nvSpPr>
          <p:cNvPr id="110676" name="Text Box 84"/>
          <p:cNvSpPr txBox="1">
            <a:spLocks noChangeArrowheads="1"/>
          </p:cNvSpPr>
          <p:nvPr/>
        </p:nvSpPr>
        <p:spPr bwMode="auto">
          <a:xfrm>
            <a:off x="1752600" y="4986338"/>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楷体_GB2312"/>
              </a:rPr>
              <a:t>－</a:t>
            </a:r>
          </a:p>
        </p:txBody>
      </p:sp>
      <p:sp>
        <p:nvSpPr>
          <p:cNvPr id="110677" name="Text Box 85"/>
          <p:cNvSpPr txBox="1">
            <a:spLocks noChangeArrowheads="1"/>
          </p:cNvSpPr>
          <p:nvPr/>
        </p:nvSpPr>
        <p:spPr bwMode="auto">
          <a:xfrm>
            <a:off x="3886200" y="6000750"/>
            <a:ext cx="533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楷体_GB2312"/>
              </a:rPr>
              <a:t>＋</a:t>
            </a:r>
          </a:p>
        </p:txBody>
      </p:sp>
      <p:graphicFrame>
        <p:nvGraphicFramePr>
          <p:cNvPr id="110680" name="Object 88"/>
          <p:cNvGraphicFramePr>
            <a:graphicFrameLocks noChangeAspect="1"/>
          </p:cNvGraphicFramePr>
          <p:nvPr/>
        </p:nvGraphicFramePr>
        <p:xfrm>
          <a:off x="2438400" y="5237163"/>
          <a:ext cx="1295400" cy="722312"/>
        </p:xfrm>
        <a:graphic>
          <a:graphicData uri="http://schemas.openxmlformats.org/presentationml/2006/ole">
            <mc:AlternateContent xmlns:mc="http://schemas.openxmlformats.org/markup-compatibility/2006">
              <mc:Choice xmlns:v="urn:schemas-microsoft-com:vml" Requires="v">
                <p:oleObj spid="_x0000_s21654" name="公式" r:id="rId3" imgW="285826" imgH="133271" progId="Equation.3">
                  <p:embed/>
                </p:oleObj>
              </mc:Choice>
              <mc:Fallback>
                <p:oleObj name="公式" r:id="rId3" imgW="285826" imgH="133271" progId="Equation.3">
                  <p:embed/>
                  <p:pic>
                    <p:nvPicPr>
                      <p:cNvPr id="0" name="Object 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5237163"/>
                        <a:ext cx="129540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0685" name="Group 93"/>
          <p:cNvGrpSpPr>
            <a:grpSpLocks/>
          </p:cNvGrpSpPr>
          <p:nvPr/>
        </p:nvGrpSpPr>
        <p:grpSpPr bwMode="auto">
          <a:xfrm>
            <a:off x="638175" y="5461000"/>
            <a:ext cx="762000" cy="519113"/>
            <a:chOff x="402" y="3440"/>
            <a:chExt cx="480" cy="327"/>
          </a:xfrm>
        </p:grpSpPr>
        <p:sp>
          <p:nvSpPr>
            <p:cNvPr id="21524" name="Oval 78"/>
            <p:cNvSpPr>
              <a:spLocks noChangeArrowheads="1"/>
            </p:cNvSpPr>
            <p:nvPr/>
          </p:nvSpPr>
          <p:spPr bwMode="auto">
            <a:xfrm>
              <a:off x="450" y="3478"/>
              <a:ext cx="240" cy="240"/>
            </a:xfrm>
            <a:prstGeom prst="ellipse">
              <a:avLst/>
            </a:prstGeom>
            <a:solidFill>
              <a:srgbClr val="FF9900"/>
            </a:solidFill>
            <a:ln w="28575">
              <a:solidFill>
                <a:srgbClr val="CC66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21525" name="Text Box 79"/>
            <p:cNvSpPr txBox="1">
              <a:spLocks noChangeArrowheads="1"/>
            </p:cNvSpPr>
            <p:nvPr/>
          </p:nvSpPr>
          <p:spPr bwMode="auto">
            <a:xfrm>
              <a:off x="402" y="3440"/>
              <a:ext cx="48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a:t>
              </a:r>
            </a:p>
          </p:txBody>
        </p:sp>
      </p:grpSp>
      <p:sp>
        <p:nvSpPr>
          <p:cNvPr id="110679" name="Text Box 87"/>
          <p:cNvSpPr txBox="1">
            <a:spLocks noChangeArrowheads="1"/>
          </p:cNvSpPr>
          <p:nvPr/>
        </p:nvSpPr>
        <p:spPr bwMode="auto">
          <a:xfrm>
            <a:off x="3963988" y="4905375"/>
            <a:ext cx="684212"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楷体_GB2312"/>
              </a:rPr>
              <a:t>＋</a:t>
            </a:r>
          </a:p>
        </p:txBody>
      </p:sp>
      <p:sp>
        <p:nvSpPr>
          <p:cNvPr id="110678" name="Text Box 86"/>
          <p:cNvSpPr txBox="1">
            <a:spLocks noChangeArrowheads="1"/>
          </p:cNvSpPr>
          <p:nvPr/>
        </p:nvSpPr>
        <p:spPr bwMode="auto">
          <a:xfrm>
            <a:off x="4038600" y="5475288"/>
            <a:ext cx="533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ea typeface="楷体_GB2312"/>
              </a:rPr>
              <a:t>＋</a:t>
            </a:r>
          </a:p>
        </p:txBody>
      </p:sp>
      <p:grpSp>
        <p:nvGrpSpPr>
          <p:cNvPr id="110687" name="Group 95"/>
          <p:cNvGrpSpPr>
            <a:grpSpLocks/>
          </p:cNvGrpSpPr>
          <p:nvPr/>
        </p:nvGrpSpPr>
        <p:grpSpPr bwMode="auto">
          <a:xfrm>
            <a:off x="4427538" y="142875"/>
            <a:ext cx="4716462" cy="6715125"/>
            <a:chOff x="2789" y="90"/>
            <a:chExt cx="2971" cy="4230"/>
          </a:xfrm>
        </p:grpSpPr>
        <p:graphicFrame>
          <p:nvGraphicFramePr>
            <p:cNvPr id="21522" name="Object 90"/>
            <p:cNvGraphicFramePr>
              <a:graphicFrameLocks noChangeAspect="1"/>
            </p:cNvGraphicFramePr>
            <p:nvPr/>
          </p:nvGraphicFramePr>
          <p:xfrm>
            <a:off x="2789" y="90"/>
            <a:ext cx="2971" cy="4230"/>
          </p:xfrm>
          <a:graphic>
            <a:graphicData uri="http://schemas.openxmlformats.org/presentationml/2006/ole">
              <mc:AlternateContent xmlns:mc="http://schemas.openxmlformats.org/markup-compatibility/2006">
                <mc:Choice xmlns:v="urn:schemas-microsoft-com:vml" Requires="v">
                  <p:oleObj spid="_x0000_s21655" name="Image" r:id="rId5" imgW="4035218" imgH="3285472" progId="Photoshop.Image.7">
                    <p:embed/>
                  </p:oleObj>
                </mc:Choice>
                <mc:Fallback>
                  <p:oleObj name="Image" r:id="rId5" imgW="4035218" imgH="3285472" progId="Photoshop.Image.7">
                    <p:embed/>
                    <p:pic>
                      <p:nvPicPr>
                        <p:cNvPr id="0" name="Object 9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9" y="90"/>
                          <a:ext cx="2971" cy="4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23" name="Rectangle 92"/>
            <p:cNvSpPr>
              <a:spLocks noChangeArrowheads="1"/>
            </p:cNvSpPr>
            <p:nvPr/>
          </p:nvSpPr>
          <p:spPr bwMode="auto">
            <a:xfrm>
              <a:off x="3120" y="4041"/>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zh-CN" sz="2000">
                  <a:solidFill>
                    <a:srgbClr val="FFFF00"/>
                  </a:solidFill>
                  <a:ea typeface="楷体_GB2312"/>
                </a:rPr>
                <a:t>静电屏蔽</a:t>
              </a:r>
              <a:endParaRPr lang="zh-CN" altLang="en-US" sz="2000">
                <a:solidFill>
                  <a:srgbClr val="FFFF00"/>
                </a:solidFill>
                <a:ea typeface="楷体_GB231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672">
                                            <p:txEl>
                                              <p:pRg st="0" end="0"/>
                                            </p:txEl>
                                          </p:spTgt>
                                        </p:tgtEl>
                                        <p:attrNameLst>
                                          <p:attrName>style.visibility</p:attrName>
                                        </p:attrNameLst>
                                      </p:cBhvr>
                                      <p:to>
                                        <p:strVal val="visible"/>
                                      </p:to>
                                    </p:set>
                                    <p:animEffect transition="in" filter="wipe(left)">
                                      <p:cBhvr>
                                        <p:cTn id="7" dur="500"/>
                                        <p:tgtEl>
                                          <p:spTgt spid="1106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067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1068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10667"/>
                                        </p:tgtEl>
                                        <p:attrNameLst>
                                          <p:attrName>style.visibility</p:attrName>
                                        </p:attrNameLst>
                                      </p:cBhvr>
                                      <p:to>
                                        <p:strVal val="visible"/>
                                      </p:to>
                                    </p:set>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10665"/>
                                        </p:tgtEl>
                                        <p:attrNameLst>
                                          <p:attrName>style.visibility</p:attrName>
                                        </p:attrNameLst>
                                      </p:cBhvr>
                                      <p:to>
                                        <p:strVal val="visible"/>
                                      </p:to>
                                    </p:set>
                                  </p:childTnLst>
                                </p:cTn>
                              </p:par>
                            </p:childTnLst>
                          </p:cTn>
                        </p:par>
                        <p:par>
                          <p:cTn id="23" fill="hold" nodeType="afterGroup">
                            <p:stCondLst>
                              <p:cond delay="1000"/>
                            </p:stCondLst>
                            <p:childTnLst>
                              <p:par>
                                <p:cTn id="24" presetID="1" presetClass="entr" presetSubtype="0" fill="hold" grpId="0" nodeType="afterEffect">
                                  <p:stCondLst>
                                    <p:cond delay="0"/>
                                  </p:stCondLst>
                                  <p:childTnLst>
                                    <p:set>
                                      <p:cBhvr>
                                        <p:cTn id="25" dur="1" fill="hold">
                                          <p:stCondLst>
                                            <p:cond delay="499"/>
                                          </p:stCondLst>
                                        </p:cTn>
                                        <p:tgtEl>
                                          <p:spTgt spid="110666"/>
                                        </p:tgtEl>
                                        <p:attrNameLst>
                                          <p:attrName>style.visibility</p:attrName>
                                        </p:attrNameLst>
                                      </p:cBhvr>
                                      <p:to>
                                        <p:strVal val="visible"/>
                                      </p:to>
                                    </p:set>
                                  </p:childTnLst>
                                </p:cTn>
                              </p:par>
                            </p:childTnLst>
                          </p:cTn>
                        </p:par>
                        <p:par>
                          <p:cTn id="26" fill="hold" nodeType="afterGroup">
                            <p:stCondLst>
                              <p:cond delay="1500"/>
                            </p:stCondLst>
                            <p:childTnLst>
                              <p:par>
                                <p:cTn id="27" presetID="1" presetClass="entr" presetSubtype="0" fill="hold" grpId="0" nodeType="afterEffect">
                                  <p:stCondLst>
                                    <p:cond delay="0"/>
                                  </p:stCondLst>
                                  <p:childTnLst>
                                    <p:set>
                                      <p:cBhvr>
                                        <p:cTn id="28" dur="1" fill="hold">
                                          <p:stCondLst>
                                            <p:cond delay="499"/>
                                          </p:stCondLst>
                                        </p:cTn>
                                        <p:tgtEl>
                                          <p:spTgt spid="11066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0676">
                                            <p:txEl>
                                              <p:pRg st="0" end="0"/>
                                            </p:txEl>
                                          </p:spTgt>
                                        </p:tgtEl>
                                        <p:attrNameLst>
                                          <p:attrName>style.visibility</p:attrName>
                                        </p:attrNameLst>
                                      </p:cBhvr>
                                      <p:to>
                                        <p:strVal val="visible"/>
                                      </p:to>
                                    </p:se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110674">
                                            <p:txEl>
                                              <p:pRg st="0" end="0"/>
                                            </p:txEl>
                                          </p:spTgt>
                                        </p:tgtEl>
                                        <p:attrNameLst>
                                          <p:attrName>style.visibility</p:attrName>
                                        </p:attrNameLst>
                                      </p:cBhvr>
                                      <p:to>
                                        <p:strVal val="visible"/>
                                      </p:to>
                                    </p:set>
                                  </p:childTnLst>
                                </p:cTn>
                              </p:par>
                            </p:childTnLst>
                          </p:cTn>
                        </p:par>
                        <p:par>
                          <p:cTn id="36" fill="hold" nodeType="afterGroup">
                            <p:stCondLst>
                              <p:cond delay="1000"/>
                            </p:stCondLst>
                            <p:childTnLst>
                              <p:par>
                                <p:cTn id="37" presetID="1" presetClass="entr" presetSubtype="0" fill="hold" grpId="0" nodeType="afterEffect">
                                  <p:stCondLst>
                                    <p:cond delay="0"/>
                                  </p:stCondLst>
                                  <p:childTnLst>
                                    <p:set>
                                      <p:cBhvr>
                                        <p:cTn id="38" dur="1" fill="hold">
                                          <p:stCondLst>
                                            <p:cond delay="499"/>
                                          </p:stCondLst>
                                        </p:cTn>
                                        <p:tgtEl>
                                          <p:spTgt spid="110675">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067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067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067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11068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10664">
                                            <p:txEl>
                                              <p:pRg st="0" end="0"/>
                                            </p:txEl>
                                          </p:spTgt>
                                        </p:tgtEl>
                                        <p:attrNameLst>
                                          <p:attrName>style.visibility</p:attrName>
                                        </p:attrNameLst>
                                      </p:cBhvr>
                                      <p:to>
                                        <p:strVal val="visible"/>
                                      </p:to>
                                    </p:set>
                                    <p:animEffect transition="in" filter="wipe(left)">
                                      <p:cBhvr>
                                        <p:cTn id="57" dur="500"/>
                                        <p:tgtEl>
                                          <p:spTgt spid="110664">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110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65" grpId="0" animBg="1"/>
      <p:bldP spid="110666" grpId="0" animBg="1"/>
      <p:bldP spid="110667" grpId="0" animBg="1"/>
      <p:bldP spid="110668" grpId="0" animBg="1"/>
      <p:bldP spid="110672" grpId="0" build="p" autoUpdateAnimBg="0"/>
      <p:bldP spid="110673" grpId="0" animBg="1"/>
      <p:bldP spid="110674" grpId="0" build="p" autoUpdateAnimBg="0" advAuto="0"/>
      <p:bldP spid="110675" grpId="0" build="p" autoUpdateAnimBg="0" advAuto="0"/>
      <p:bldP spid="110676" grpId="0" build="p" autoUpdateAnimBg="0"/>
      <p:bldP spid="110677" grpId="0"/>
      <p:bldP spid="110679" grpId="0"/>
      <p:bldP spid="11067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70" name="Text Box 6"/>
          <p:cNvSpPr txBox="1">
            <a:spLocks noChangeArrowheads="1"/>
          </p:cNvSpPr>
          <p:nvPr/>
        </p:nvSpPr>
        <p:spPr bwMode="auto">
          <a:xfrm>
            <a:off x="4899025" y="4316413"/>
            <a:ext cx="3849688" cy="519112"/>
          </a:xfrm>
          <a:prstGeom prst="rect">
            <a:avLst/>
          </a:prstGeom>
          <a:solidFill>
            <a:schemeClr val="folHlink"/>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FF00"/>
                </a:solidFill>
                <a:ea typeface="楷体_GB2312"/>
              </a:rPr>
              <a:t>外表面上的电荷消失</a:t>
            </a:r>
          </a:p>
        </p:txBody>
      </p:sp>
      <p:sp>
        <p:nvSpPr>
          <p:cNvPr id="113671" name="Text Box 7"/>
          <p:cNvSpPr txBox="1">
            <a:spLocks noChangeArrowheads="1"/>
          </p:cNvSpPr>
          <p:nvPr/>
        </p:nvSpPr>
        <p:spPr bwMode="auto">
          <a:xfrm>
            <a:off x="7848600" y="2505075"/>
            <a:ext cx="533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72" name="Text Box 8"/>
          <p:cNvSpPr txBox="1">
            <a:spLocks noChangeArrowheads="1"/>
          </p:cNvSpPr>
          <p:nvPr/>
        </p:nvSpPr>
        <p:spPr bwMode="auto">
          <a:xfrm>
            <a:off x="7524750" y="2743200"/>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73" name="Text Box 9"/>
          <p:cNvSpPr txBox="1">
            <a:spLocks noChangeArrowheads="1"/>
          </p:cNvSpPr>
          <p:nvPr/>
        </p:nvSpPr>
        <p:spPr bwMode="auto">
          <a:xfrm>
            <a:off x="92075" y="242888"/>
            <a:ext cx="18891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ea typeface="楷体_GB2312"/>
              </a:rPr>
              <a:t>2.</a:t>
            </a:r>
            <a:r>
              <a:rPr lang="zh-CN" altLang="en-US" sz="2800">
                <a:solidFill>
                  <a:schemeClr val="tx2"/>
                </a:solidFill>
                <a:ea typeface="楷体_GB2312"/>
              </a:rPr>
              <a:t>屏内场</a:t>
            </a:r>
            <a:endParaRPr lang="zh-CN" altLang="en-US" sz="2800">
              <a:ea typeface="楷体_GB2312"/>
            </a:endParaRPr>
          </a:p>
        </p:txBody>
      </p:sp>
      <p:sp>
        <p:nvSpPr>
          <p:cNvPr id="113674" name="AutoShape 10"/>
          <p:cNvSpPr>
            <a:spLocks noChangeArrowheads="1"/>
          </p:cNvSpPr>
          <p:nvPr/>
        </p:nvSpPr>
        <p:spPr bwMode="auto">
          <a:xfrm>
            <a:off x="6397625" y="1066800"/>
            <a:ext cx="2286000" cy="25146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837" y="10800"/>
                </a:moveTo>
                <a:cubicBezTo>
                  <a:pt x="3837" y="14646"/>
                  <a:pt x="6954" y="17763"/>
                  <a:pt x="10800" y="17763"/>
                </a:cubicBezTo>
                <a:cubicBezTo>
                  <a:pt x="14646" y="17763"/>
                  <a:pt x="17763" y="14646"/>
                  <a:pt x="17763" y="10800"/>
                </a:cubicBezTo>
                <a:cubicBezTo>
                  <a:pt x="17763" y="6954"/>
                  <a:pt x="14646" y="3837"/>
                  <a:pt x="10800" y="3837"/>
                </a:cubicBezTo>
                <a:cubicBezTo>
                  <a:pt x="6954" y="3837"/>
                  <a:pt x="3837" y="6954"/>
                  <a:pt x="3837" y="10800"/>
                </a:cubicBezTo>
                <a:close/>
              </a:path>
            </a:pathLst>
          </a:custGeom>
          <a:solidFill>
            <a:schemeClr val="hlink"/>
          </a:solidFill>
          <a:ln w="9525">
            <a:solidFill>
              <a:schemeClr val="tx1"/>
            </a:solidFill>
            <a:round/>
            <a:headEnd/>
            <a:tailEnd/>
          </a:ln>
        </p:spPr>
        <p:txBody>
          <a:bodyPr wrap="none" anchor="ctr"/>
          <a:lstStyle/>
          <a:p>
            <a:endParaRPr lang="zh-CN" altLang="en-US"/>
          </a:p>
        </p:txBody>
      </p:sp>
      <p:sp>
        <p:nvSpPr>
          <p:cNvPr id="113675" name="Text Box 11"/>
          <p:cNvSpPr txBox="1">
            <a:spLocks noChangeArrowheads="1"/>
          </p:cNvSpPr>
          <p:nvPr/>
        </p:nvSpPr>
        <p:spPr bwMode="auto">
          <a:xfrm>
            <a:off x="6702425" y="2276475"/>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76" name="Text Box 12"/>
          <p:cNvSpPr txBox="1">
            <a:spLocks noChangeArrowheads="1"/>
          </p:cNvSpPr>
          <p:nvPr/>
        </p:nvSpPr>
        <p:spPr bwMode="auto">
          <a:xfrm>
            <a:off x="7010400" y="2673350"/>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77" name="Text Box 13"/>
          <p:cNvSpPr txBox="1">
            <a:spLocks noChangeArrowheads="1"/>
          </p:cNvSpPr>
          <p:nvPr/>
        </p:nvSpPr>
        <p:spPr bwMode="auto">
          <a:xfrm>
            <a:off x="6781800" y="1752600"/>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78" name="Line 14"/>
          <p:cNvSpPr>
            <a:spLocks noChangeShapeType="1"/>
          </p:cNvSpPr>
          <p:nvPr/>
        </p:nvSpPr>
        <p:spPr bwMode="auto">
          <a:xfrm>
            <a:off x="6931025" y="1828800"/>
            <a:ext cx="1298575" cy="84455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9" name="Line 15"/>
          <p:cNvSpPr>
            <a:spLocks noChangeShapeType="1"/>
          </p:cNvSpPr>
          <p:nvPr/>
        </p:nvSpPr>
        <p:spPr bwMode="auto">
          <a:xfrm flipV="1">
            <a:off x="7315200" y="1828800"/>
            <a:ext cx="835025" cy="122555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0" name="Line 16"/>
          <p:cNvSpPr>
            <a:spLocks noChangeShapeType="1"/>
          </p:cNvSpPr>
          <p:nvPr/>
        </p:nvSpPr>
        <p:spPr bwMode="auto">
          <a:xfrm>
            <a:off x="7596188" y="1524000"/>
            <a:ext cx="328612" cy="145415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1" name="Line 17"/>
          <p:cNvSpPr>
            <a:spLocks noChangeShapeType="1"/>
          </p:cNvSpPr>
          <p:nvPr/>
        </p:nvSpPr>
        <p:spPr bwMode="auto">
          <a:xfrm>
            <a:off x="6854825" y="2362200"/>
            <a:ext cx="1447800" cy="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5" name="Text Box 21"/>
          <p:cNvSpPr txBox="1">
            <a:spLocks noChangeArrowheads="1"/>
          </p:cNvSpPr>
          <p:nvPr/>
        </p:nvSpPr>
        <p:spPr bwMode="auto">
          <a:xfrm>
            <a:off x="7924800" y="2047875"/>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86" name="Text Box 22"/>
          <p:cNvSpPr txBox="1">
            <a:spLocks noChangeArrowheads="1"/>
          </p:cNvSpPr>
          <p:nvPr/>
        </p:nvSpPr>
        <p:spPr bwMode="auto">
          <a:xfrm>
            <a:off x="7772400" y="1606550"/>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87" name="Text Box 23"/>
          <p:cNvSpPr txBox="1">
            <a:spLocks noChangeArrowheads="1"/>
          </p:cNvSpPr>
          <p:nvPr/>
        </p:nvSpPr>
        <p:spPr bwMode="auto">
          <a:xfrm>
            <a:off x="7239000" y="1377950"/>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sp>
        <p:nvSpPr>
          <p:cNvPr id="113688" name="Text Box 24"/>
          <p:cNvSpPr txBox="1">
            <a:spLocks noChangeArrowheads="1"/>
          </p:cNvSpPr>
          <p:nvPr/>
        </p:nvSpPr>
        <p:spPr bwMode="auto">
          <a:xfrm>
            <a:off x="396875" y="1057275"/>
            <a:ext cx="5013325" cy="244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buFontTx/>
              <a:buNone/>
            </a:pPr>
            <a:r>
              <a:rPr lang="en-US" altLang="zh-CN" sz="2800">
                <a:ea typeface="楷体_GB2312"/>
              </a:rPr>
              <a:t>        </a:t>
            </a:r>
            <a:r>
              <a:rPr lang="zh-CN" altLang="en-US" sz="2800">
                <a:ea typeface="楷体_GB2312"/>
              </a:rPr>
              <a:t>当空腔导体内有带电体时</a:t>
            </a:r>
            <a:r>
              <a:rPr lang="en-US" altLang="zh-CN" sz="2800">
                <a:ea typeface="楷体_GB2312"/>
              </a:rPr>
              <a:t>,</a:t>
            </a:r>
            <a:r>
              <a:rPr lang="zh-CN" altLang="en-US" sz="2800">
                <a:ea typeface="楷体_GB2312"/>
              </a:rPr>
              <a:t>在静电平衡下，由于静电感应使得空腔的内、外表面将感应出等值异号的电荷 。从而影响空腔导体外部的电场分布。</a:t>
            </a:r>
          </a:p>
        </p:txBody>
      </p:sp>
      <p:grpSp>
        <p:nvGrpSpPr>
          <p:cNvPr id="113689" name="Group 25"/>
          <p:cNvGrpSpPr>
            <a:grpSpLocks/>
          </p:cNvGrpSpPr>
          <p:nvPr/>
        </p:nvGrpSpPr>
        <p:grpSpPr bwMode="auto">
          <a:xfrm>
            <a:off x="8435975" y="3105150"/>
            <a:ext cx="476250" cy="704850"/>
            <a:chOff x="5316" y="3588"/>
            <a:chExt cx="300" cy="444"/>
          </a:xfrm>
        </p:grpSpPr>
        <p:sp>
          <p:nvSpPr>
            <p:cNvPr id="22556" name="Freeform 26"/>
            <p:cNvSpPr>
              <a:spLocks/>
            </p:cNvSpPr>
            <p:nvPr/>
          </p:nvSpPr>
          <p:spPr bwMode="auto">
            <a:xfrm>
              <a:off x="5316" y="3588"/>
              <a:ext cx="204" cy="348"/>
            </a:xfrm>
            <a:custGeom>
              <a:avLst/>
              <a:gdLst>
                <a:gd name="T0" fmla="*/ 0 w 204"/>
                <a:gd name="T1" fmla="*/ 0 h 348"/>
                <a:gd name="T2" fmla="*/ 84 w 204"/>
                <a:gd name="T3" fmla="*/ 60 h 348"/>
                <a:gd name="T4" fmla="*/ 132 w 204"/>
                <a:gd name="T5" fmla="*/ 168 h 348"/>
                <a:gd name="T6" fmla="*/ 168 w 204"/>
                <a:gd name="T7" fmla="*/ 240 h 348"/>
                <a:gd name="T8" fmla="*/ 204 w 204"/>
                <a:gd name="T9" fmla="*/ 348 h 3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4" h="348">
                  <a:moveTo>
                    <a:pt x="0" y="0"/>
                  </a:moveTo>
                  <a:cubicBezTo>
                    <a:pt x="28" y="21"/>
                    <a:pt x="60" y="36"/>
                    <a:pt x="84" y="60"/>
                  </a:cubicBezTo>
                  <a:cubicBezTo>
                    <a:pt x="113" y="89"/>
                    <a:pt x="120" y="132"/>
                    <a:pt x="132" y="168"/>
                  </a:cubicBezTo>
                  <a:cubicBezTo>
                    <a:pt x="132" y="169"/>
                    <a:pt x="166" y="234"/>
                    <a:pt x="168" y="240"/>
                  </a:cubicBezTo>
                  <a:cubicBezTo>
                    <a:pt x="182" y="335"/>
                    <a:pt x="160" y="304"/>
                    <a:pt x="204" y="348"/>
                  </a:cubicBezTo>
                </a:path>
              </a:pathLst>
            </a:custGeom>
            <a:noFill/>
            <a:ln w="38100" cmpd="sng">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2557" name="Line 27"/>
            <p:cNvSpPr>
              <a:spLocks noChangeShapeType="1"/>
            </p:cNvSpPr>
            <p:nvPr/>
          </p:nvSpPr>
          <p:spPr bwMode="auto">
            <a:xfrm>
              <a:off x="5424" y="3936"/>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8" name="Line 28"/>
            <p:cNvSpPr>
              <a:spLocks noChangeShapeType="1"/>
            </p:cNvSpPr>
            <p:nvPr/>
          </p:nvSpPr>
          <p:spPr bwMode="auto">
            <a:xfrm>
              <a:off x="5472" y="3984"/>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9" name="Line 29"/>
            <p:cNvSpPr>
              <a:spLocks noChangeShapeType="1"/>
            </p:cNvSpPr>
            <p:nvPr/>
          </p:nvSpPr>
          <p:spPr bwMode="auto">
            <a:xfrm>
              <a:off x="5520" y="4032"/>
              <a:ext cx="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3694" name="Text Box 30"/>
          <p:cNvSpPr txBox="1">
            <a:spLocks noChangeArrowheads="1"/>
          </p:cNvSpPr>
          <p:nvPr/>
        </p:nvSpPr>
        <p:spPr bwMode="auto">
          <a:xfrm>
            <a:off x="533400" y="4302125"/>
            <a:ext cx="3894138" cy="519113"/>
          </a:xfrm>
          <a:prstGeom prst="rect">
            <a:avLst/>
          </a:prstGeom>
          <a:solidFill>
            <a:schemeClr val="folHlink"/>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dirty="0">
                <a:solidFill>
                  <a:srgbClr val="FFFF00"/>
                </a:solidFill>
                <a:ea typeface="楷体_GB2312"/>
              </a:rPr>
              <a:t>将空腔导体外表面接地</a:t>
            </a:r>
          </a:p>
        </p:txBody>
      </p:sp>
      <p:sp>
        <p:nvSpPr>
          <p:cNvPr id="113695" name="AutoShape 31"/>
          <p:cNvSpPr>
            <a:spLocks noChangeArrowheads="1"/>
          </p:cNvSpPr>
          <p:nvPr/>
        </p:nvSpPr>
        <p:spPr bwMode="auto">
          <a:xfrm>
            <a:off x="4289425" y="4475163"/>
            <a:ext cx="533400" cy="228600"/>
          </a:xfrm>
          <a:prstGeom prst="rightArrow">
            <a:avLst>
              <a:gd name="adj1" fmla="val 50000"/>
              <a:gd name="adj2" fmla="val 58333"/>
            </a:avLst>
          </a:prstGeom>
          <a:solidFill>
            <a:srgbClr val="FF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13706" name="AutoShape 42"/>
          <p:cNvSpPr>
            <a:spLocks noChangeArrowheads="1"/>
          </p:cNvSpPr>
          <p:nvPr/>
        </p:nvSpPr>
        <p:spPr bwMode="auto">
          <a:xfrm>
            <a:off x="1331913" y="5257800"/>
            <a:ext cx="520700" cy="234950"/>
          </a:xfrm>
          <a:prstGeom prst="rightArrow">
            <a:avLst>
              <a:gd name="adj1" fmla="val 50000"/>
              <a:gd name="adj2" fmla="val 55405"/>
            </a:avLst>
          </a:prstGeom>
          <a:solidFill>
            <a:srgbClr val="FF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113709" name="Text Box 45"/>
          <p:cNvSpPr txBox="1">
            <a:spLocks noChangeArrowheads="1"/>
          </p:cNvSpPr>
          <p:nvPr/>
        </p:nvSpPr>
        <p:spPr bwMode="auto">
          <a:xfrm>
            <a:off x="7296150" y="5084763"/>
            <a:ext cx="1379538" cy="519112"/>
          </a:xfrm>
          <a:prstGeom prst="rect">
            <a:avLst/>
          </a:prstGeom>
          <a:solidFill>
            <a:schemeClr val="folHlink"/>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FF00"/>
                </a:solidFill>
                <a:ea typeface="楷体_GB2312"/>
              </a:rPr>
              <a:t>屏内场</a:t>
            </a:r>
          </a:p>
        </p:txBody>
      </p:sp>
      <p:sp>
        <p:nvSpPr>
          <p:cNvPr id="113707" name="Text Box 43"/>
          <p:cNvSpPr txBox="1">
            <a:spLocks noChangeArrowheads="1"/>
          </p:cNvSpPr>
          <p:nvPr/>
        </p:nvSpPr>
        <p:spPr bwMode="auto">
          <a:xfrm>
            <a:off x="1936750" y="5105400"/>
            <a:ext cx="5040313" cy="519113"/>
          </a:xfrm>
          <a:prstGeom prst="rect">
            <a:avLst/>
          </a:prstGeom>
          <a:solidFill>
            <a:schemeClr val="folHlink"/>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FFFF00"/>
                </a:solidFill>
                <a:ea typeface="楷体_GB2312"/>
              </a:rPr>
              <a:t>消除对空腔导体外电场的影响</a:t>
            </a:r>
          </a:p>
        </p:txBody>
      </p:sp>
      <p:grpSp>
        <p:nvGrpSpPr>
          <p:cNvPr id="113711" name="Group 47"/>
          <p:cNvGrpSpPr>
            <a:grpSpLocks/>
          </p:cNvGrpSpPr>
          <p:nvPr/>
        </p:nvGrpSpPr>
        <p:grpSpPr bwMode="auto">
          <a:xfrm>
            <a:off x="7620000" y="2124075"/>
            <a:ext cx="457200" cy="396875"/>
            <a:chOff x="4808" y="1208"/>
            <a:chExt cx="288" cy="250"/>
          </a:xfrm>
        </p:grpSpPr>
        <p:sp>
          <p:nvSpPr>
            <p:cNvPr id="22554" name="Oval 19"/>
            <p:cNvSpPr>
              <a:spLocks noChangeArrowheads="1"/>
            </p:cNvSpPr>
            <p:nvPr/>
          </p:nvSpPr>
          <p:spPr bwMode="auto">
            <a:xfrm>
              <a:off x="4848" y="1248"/>
              <a:ext cx="192" cy="192"/>
            </a:xfrm>
            <a:prstGeom prst="ellipse">
              <a:avLst/>
            </a:prstGeom>
            <a:solidFill>
              <a:srgbClr val="FF9900"/>
            </a:solidFill>
            <a:ln w="28575">
              <a:solidFill>
                <a:srgbClr val="CC66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22555" name="Text Box 20"/>
            <p:cNvSpPr txBox="1">
              <a:spLocks noChangeArrowheads="1"/>
            </p:cNvSpPr>
            <p:nvPr/>
          </p:nvSpPr>
          <p:spPr bwMode="auto">
            <a:xfrm>
              <a:off x="4808" y="1208"/>
              <a:ext cx="288"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000000"/>
                  </a:solidFill>
                  <a:ea typeface="楷体_GB2312"/>
                </a:rPr>
                <a:t>＋</a:t>
              </a:r>
            </a:p>
          </p:txBody>
        </p:sp>
      </p:grpSp>
      <p:sp>
        <p:nvSpPr>
          <p:cNvPr id="113708" name="AutoShape 44"/>
          <p:cNvSpPr>
            <a:spLocks noChangeArrowheads="1"/>
          </p:cNvSpPr>
          <p:nvPr/>
        </p:nvSpPr>
        <p:spPr bwMode="auto">
          <a:xfrm>
            <a:off x="6732588" y="5264150"/>
            <a:ext cx="520700" cy="234950"/>
          </a:xfrm>
          <a:prstGeom prst="rightArrow">
            <a:avLst>
              <a:gd name="adj1" fmla="val 50000"/>
              <a:gd name="adj2" fmla="val 55405"/>
            </a:avLst>
          </a:prstGeom>
          <a:solidFill>
            <a:srgbClr val="FF9900"/>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3673">
                                            <p:txEl>
                                              <p:pRg st="0" end="0"/>
                                            </p:txEl>
                                          </p:spTgt>
                                        </p:tgtEl>
                                        <p:attrNameLst>
                                          <p:attrName>style.visibility</p:attrName>
                                        </p:attrNameLst>
                                      </p:cBhvr>
                                      <p:to>
                                        <p:strVal val="visible"/>
                                      </p:to>
                                    </p:set>
                                    <p:animEffect transition="in" filter="wipe(left)">
                                      <p:cBhvr>
                                        <p:cTn id="7" dur="500"/>
                                        <p:tgtEl>
                                          <p:spTgt spid="11367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367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1371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13680"/>
                                        </p:tgtEl>
                                        <p:attrNameLst>
                                          <p:attrName>style.visibility</p:attrName>
                                        </p:attrNameLst>
                                      </p:cBhvr>
                                      <p:to>
                                        <p:strVal val="visible"/>
                                      </p:to>
                                    </p:set>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13681"/>
                                        </p:tgtEl>
                                        <p:attrNameLst>
                                          <p:attrName>style.visibility</p:attrName>
                                        </p:attrNameLst>
                                      </p:cBhvr>
                                      <p:to>
                                        <p:strVal val="visible"/>
                                      </p:to>
                                    </p:set>
                                  </p:childTnLst>
                                </p:cTn>
                              </p:par>
                            </p:childTnLst>
                          </p:cTn>
                        </p:par>
                        <p:par>
                          <p:cTn id="23" fill="hold" nodeType="afterGroup">
                            <p:stCondLst>
                              <p:cond delay="1000"/>
                            </p:stCondLst>
                            <p:childTnLst>
                              <p:par>
                                <p:cTn id="24" presetID="1" presetClass="entr" presetSubtype="0" fill="hold" grpId="0" nodeType="afterEffect">
                                  <p:stCondLst>
                                    <p:cond delay="0"/>
                                  </p:stCondLst>
                                  <p:childTnLst>
                                    <p:set>
                                      <p:cBhvr>
                                        <p:cTn id="25" dur="1" fill="hold">
                                          <p:stCondLst>
                                            <p:cond delay="499"/>
                                          </p:stCondLst>
                                        </p:cTn>
                                        <p:tgtEl>
                                          <p:spTgt spid="113679"/>
                                        </p:tgtEl>
                                        <p:attrNameLst>
                                          <p:attrName>style.visibility</p:attrName>
                                        </p:attrNameLst>
                                      </p:cBhvr>
                                      <p:to>
                                        <p:strVal val="visible"/>
                                      </p:to>
                                    </p:set>
                                  </p:childTnLst>
                                </p:cTn>
                              </p:par>
                            </p:childTnLst>
                          </p:cTn>
                        </p:par>
                        <p:par>
                          <p:cTn id="26" fill="hold" nodeType="afterGroup">
                            <p:stCondLst>
                              <p:cond delay="1500"/>
                            </p:stCondLst>
                            <p:childTnLst>
                              <p:par>
                                <p:cTn id="27" presetID="1" presetClass="entr" presetSubtype="0" fill="hold" grpId="0" nodeType="afterEffect">
                                  <p:stCondLst>
                                    <p:cond delay="0"/>
                                  </p:stCondLst>
                                  <p:childTnLst>
                                    <p:set>
                                      <p:cBhvr>
                                        <p:cTn id="28" dur="1" fill="hold">
                                          <p:stCondLst>
                                            <p:cond delay="499"/>
                                          </p:stCondLst>
                                        </p:cTn>
                                        <p:tgtEl>
                                          <p:spTgt spid="11367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3687">
                                            <p:txEl>
                                              <p:pRg st="0" end="0"/>
                                            </p:txEl>
                                          </p:spTgt>
                                        </p:tgtEl>
                                        <p:attrNameLst>
                                          <p:attrName>style.visibility</p:attrName>
                                        </p:attrNameLst>
                                      </p:cBhvr>
                                      <p:to>
                                        <p:strVal val="visible"/>
                                      </p:to>
                                    </p:se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113671">
                                            <p:txEl>
                                              <p:pRg st="0" end="0"/>
                                            </p:txEl>
                                          </p:spTgt>
                                        </p:tgtEl>
                                        <p:attrNameLst>
                                          <p:attrName>style.visibility</p:attrName>
                                        </p:attrNameLst>
                                      </p:cBhvr>
                                      <p:to>
                                        <p:strVal val="visible"/>
                                      </p:to>
                                    </p:set>
                                  </p:childTnLst>
                                </p:cTn>
                              </p:par>
                            </p:childTnLst>
                          </p:cTn>
                        </p:par>
                        <p:par>
                          <p:cTn id="36" fill="hold" nodeType="afterGroup">
                            <p:stCondLst>
                              <p:cond delay="1000"/>
                            </p:stCondLst>
                            <p:childTnLst>
                              <p:par>
                                <p:cTn id="37" presetID="1" presetClass="entr" presetSubtype="0" fill="hold" grpId="0" nodeType="afterEffect">
                                  <p:stCondLst>
                                    <p:cond delay="0"/>
                                  </p:stCondLst>
                                  <p:childTnLst>
                                    <p:set>
                                      <p:cBhvr>
                                        <p:cTn id="38" dur="1" fill="hold">
                                          <p:stCondLst>
                                            <p:cond delay="499"/>
                                          </p:stCondLst>
                                        </p:cTn>
                                        <p:tgtEl>
                                          <p:spTgt spid="113672">
                                            <p:txEl>
                                              <p:pRg st="0" end="0"/>
                                            </p:txEl>
                                          </p:spTgt>
                                        </p:tgtEl>
                                        <p:attrNameLst>
                                          <p:attrName>style.visibility</p:attrName>
                                        </p:attrNameLst>
                                      </p:cBhvr>
                                      <p:to>
                                        <p:strVal val="visible"/>
                                      </p:to>
                                    </p:set>
                                  </p:childTnLst>
                                </p:cTn>
                              </p:par>
                            </p:childTnLst>
                          </p:cTn>
                        </p:par>
                        <p:par>
                          <p:cTn id="39" fill="hold" nodeType="afterGroup">
                            <p:stCondLst>
                              <p:cond delay="1500"/>
                            </p:stCondLst>
                            <p:childTnLst>
                              <p:par>
                                <p:cTn id="40" presetID="1" presetClass="entr" presetSubtype="0" fill="hold" grpId="0" nodeType="afterEffect">
                                  <p:stCondLst>
                                    <p:cond delay="0"/>
                                  </p:stCondLst>
                                  <p:childTnLst>
                                    <p:set>
                                      <p:cBhvr>
                                        <p:cTn id="41" dur="1" fill="hold">
                                          <p:stCondLst>
                                            <p:cond delay="499"/>
                                          </p:stCondLst>
                                        </p:cTn>
                                        <p:tgtEl>
                                          <p:spTgt spid="113675">
                                            <p:txEl>
                                              <p:pRg st="0" end="0"/>
                                            </p:txEl>
                                          </p:spTgt>
                                        </p:tgtEl>
                                        <p:attrNameLst>
                                          <p:attrName>style.visibility</p:attrName>
                                        </p:attrNameLst>
                                      </p:cBhvr>
                                      <p:to>
                                        <p:strVal val="visible"/>
                                      </p:to>
                                    </p:set>
                                  </p:childTnLst>
                                </p:cTn>
                              </p:par>
                            </p:childTnLst>
                          </p:cTn>
                        </p:par>
                        <p:par>
                          <p:cTn id="42" fill="hold" nodeType="afterGroup">
                            <p:stCondLst>
                              <p:cond delay="2000"/>
                            </p:stCondLst>
                            <p:childTnLst>
                              <p:par>
                                <p:cTn id="43" presetID="1" presetClass="entr" presetSubtype="0" fill="hold" grpId="0" nodeType="afterEffect">
                                  <p:stCondLst>
                                    <p:cond delay="0"/>
                                  </p:stCondLst>
                                  <p:childTnLst>
                                    <p:set>
                                      <p:cBhvr>
                                        <p:cTn id="44" dur="1" fill="hold">
                                          <p:stCondLst>
                                            <p:cond delay="499"/>
                                          </p:stCondLst>
                                        </p:cTn>
                                        <p:tgtEl>
                                          <p:spTgt spid="113676">
                                            <p:txEl>
                                              <p:pRg st="0" end="0"/>
                                            </p:txEl>
                                          </p:spTgt>
                                        </p:tgtEl>
                                        <p:attrNameLst>
                                          <p:attrName>style.visibility</p:attrName>
                                        </p:attrNameLst>
                                      </p:cBhvr>
                                      <p:to>
                                        <p:strVal val="visible"/>
                                      </p:to>
                                    </p:set>
                                  </p:childTnLst>
                                </p:cTn>
                              </p:par>
                            </p:childTnLst>
                          </p:cTn>
                        </p:par>
                        <p:par>
                          <p:cTn id="45" fill="hold" nodeType="afterGroup">
                            <p:stCondLst>
                              <p:cond delay="2500"/>
                            </p:stCondLst>
                            <p:childTnLst>
                              <p:par>
                                <p:cTn id="46" presetID="1" presetClass="entr" presetSubtype="0" fill="hold" grpId="0" nodeType="afterEffect">
                                  <p:stCondLst>
                                    <p:cond delay="0"/>
                                  </p:stCondLst>
                                  <p:childTnLst>
                                    <p:set>
                                      <p:cBhvr>
                                        <p:cTn id="47" dur="1" fill="hold">
                                          <p:stCondLst>
                                            <p:cond delay="499"/>
                                          </p:stCondLst>
                                        </p:cTn>
                                        <p:tgtEl>
                                          <p:spTgt spid="113677">
                                            <p:txEl>
                                              <p:pRg st="0" end="0"/>
                                            </p:txEl>
                                          </p:spTgt>
                                        </p:tgtEl>
                                        <p:attrNameLst>
                                          <p:attrName>style.visibility</p:attrName>
                                        </p:attrNameLst>
                                      </p:cBhvr>
                                      <p:to>
                                        <p:strVal val="visible"/>
                                      </p:to>
                                    </p:set>
                                  </p:childTnLst>
                                </p:cTn>
                              </p:par>
                            </p:childTnLst>
                          </p:cTn>
                        </p:par>
                        <p:par>
                          <p:cTn id="48" fill="hold" nodeType="afterGroup">
                            <p:stCondLst>
                              <p:cond delay="3000"/>
                            </p:stCondLst>
                            <p:childTnLst>
                              <p:par>
                                <p:cTn id="49" presetID="1" presetClass="entr" presetSubtype="0" fill="hold" grpId="0" nodeType="afterEffect">
                                  <p:stCondLst>
                                    <p:cond delay="0"/>
                                  </p:stCondLst>
                                  <p:childTnLst>
                                    <p:set>
                                      <p:cBhvr>
                                        <p:cTn id="50" dur="1" fill="hold">
                                          <p:stCondLst>
                                            <p:cond delay="499"/>
                                          </p:stCondLst>
                                        </p:cTn>
                                        <p:tgtEl>
                                          <p:spTgt spid="113685">
                                            <p:txEl>
                                              <p:pRg st="0" end="0"/>
                                            </p:txEl>
                                          </p:spTgt>
                                        </p:tgtEl>
                                        <p:attrNameLst>
                                          <p:attrName>style.visibility</p:attrName>
                                        </p:attrNameLst>
                                      </p:cBhvr>
                                      <p:to>
                                        <p:strVal val="visible"/>
                                      </p:to>
                                    </p:set>
                                  </p:childTnLst>
                                </p:cTn>
                              </p:par>
                            </p:childTnLst>
                          </p:cTn>
                        </p:par>
                        <p:par>
                          <p:cTn id="51" fill="hold" nodeType="afterGroup">
                            <p:stCondLst>
                              <p:cond delay="3500"/>
                            </p:stCondLst>
                            <p:childTnLst>
                              <p:par>
                                <p:cTn id="52" presetID="1" presetClass="entr" presetSubtype="0" fill="hold" grpId="0" nodeType="afterEffect">
                                  <p:stCondLst>
                                    <p:cond delay="0"/>
                                  </p:stCondLst>
                                  <p:childTnLst>
                                    <p:set>
                                      <p:cBhvr>
                                        <p:cTn id="53" dur="1" fill="hold">
                                          <p:stCondLst>
                                            <p:cond delay="499"/>
                                          </p:stCondLst>
                                        </p:cTn>
                                        <p:tgtEl>
                                          <p:spTgt spid="113686">
                                            <p:txEl>
                                              <p:pRg st="0" end="0"/>
                                            </p:txEl>
                                          </p:spTgt>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13688">
                                            <p:txEl>
                                              <p:pRg st="0" end="0"/>
                                            </p:txEl>
                                          </p:spTgt>
                                        </p:tgtEl>
                                        <p:attrNameLst>
                                          <p:attrName>style.visibility</p:attrName>
                                        </p:attrNameLst>
                                      </p:cBhvr>
                                      <p:to>
                                        <p:strVal val="visible"/>
                                      </p:to>
                                    </p:set>
                                    <p:animEffect transition="in" filter="wipe(left)">
                                      <p:cBhvr>
                                        <p:cTn id="58" dur="500"/>
                                        <p:tgtEl>
                                          <p:spTgt spid="113688">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13694"/>
                                        </p:tgtEl>
                                        <p:attrNameLst>
                                          <p:attrName>style.visibility</p:attrName>
                                        </p:attrNameLst>
                                      </p:cBhvr>
                                      <p:to>
                                        <p:strVal val="visible"/>
                                      </p:to>
                                    </p:set>
                                    <p:animEffect transition="in" filter="wipe(left)">
                                      <p:cBhvr>
                                        <p:cTn id="63" dur="500"/>
                                        <p:tgtEl>
                                          <p:spTgt spid="11369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499"/>
                                          </p:stCondLst>
                                        </p:cTn>
                                        <p:tgtEl>
                                          <p:spTgt spid="113689"/>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13695"/>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13670"/>
                                        </p:tgtEl>
                                        <p:attrNameLst>
                                          <p:attrName>style.visibility</p:attrName>
                                        </p:attrNameLst>
                                      </p:cBhvr>
                                      <p:to>
                                        <p:strVal val="visible"/>
                                      </p:to>
                                    </p:set>
                                    <p:animEffect transition="in" filter="wipe(left)">
                                      <p:cBhvr>
                                        <p:cTn id="76" dur="500"/>
                                        <p:tgtEl>
                                          <p:spTgt spid="11367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13706"/>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13707"/>
                                        </p:tgtEl>
                                        <p:attrNameLst>
                                          <p:attrName>style.visibility</p:attrName>
                                        </p:attrNameLst>
                                      </p:cBhvr>
                                      <p:to>
                                        <p:strVal val="visible"/>
                                      </p:to>
                                    </p:set>
                                    <p:animEffect transition="in" filter="wipe(left)">
                                      <p:cBhvr>
                                        <p:cTn id="85" dur="500"/>
                                        <p:tgtEl>
                                          <p:spTgt spid="11370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grpId="0" nodeType="clickEffect">
                                  <p:stCondLst>
                                    <p:cond delay="0"/>
                                  </p:stCondLst>
                                  <p:childTnLst>
                                    <p:set>
                                      <p:cBhvr>
                                        <p:cTn id="89" dur="1" fill="hold">
                                          <p:stCondLst>
                                            <p:cond delay="499"/>
                                          </p:stCondLst>
                                        </p:cTn>
                                        <p:tgtEl>
                                          <p:spTgt spid="113708"/>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13709"/>
                                        </p:tgtEl>
                                        <p:attrNameLst>
                                          <p:attrName>style.visibility</p:attrName>
                                        </p:attrNameLst>
                                      </p:cBhvr>
                                      <p:to>
                                        <p:strVal val="visible"/>
                                      </p:to>
                                    </p:set>
                                    <p:animEffect transition="in" filter="wipe(left)">
                                      <p:cBhvr>
                                        <p:cTn id="94" dur="500"/>
                                        <p:tgtEl>
                                          <p:spTgt spid="113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0" grpId="0" animBg="1" autoUpdateAnimBg="0"/>
      <p:bldP spid="113671" grpId="0" build="p" autoUpdateAnimBg="0" advAuto="0"/>
      <p:bldP spid="113672" grpId="0" build="p" autoUpdateAnimBg="0" advAuto="0"/>
      <p:bldP spid="113674" grpId="0" animBg="1"/>
      <p:bldP spid="113675" grpId="0" build="p" autoUpdateAnimBg="0" advAuto="0"/>
      <p:bldP spid="113676" grpId="0" build="p" autoUpdateAnimBg="0" advAuto="0"/>
      <p:bldP spid="113677" grpId="0" build="p" autoUpdateAnimBg="0" advAuto="0"/>
      <p:bldP spid="113678" grpId="0" animBg="1"/>
      <p:bldP spid="113679" grpId="0" animBg="1"/>
      <p:bldP spid="113680" grpId="0" animBg="1"/>
      <p:bldP spid="113681" grpId="0" animBg="1"/>
      <p:bldP spid="113685" grpId="0" build="p" autoUpdateAnimBg="0" advAuto="0"/>
      <p:bldP spid="113686" grpId="0" build="p" autoUpdateAnimBg="0" advAuto="0"/>
      <p:bldP spid="113687" grpId="0" build="p" autoUpdateAnimBg="0"/>
      <p:bldP spid="113694" grpId="0" animBg="1" autoUpdateAnimBg="0"/>
      <p:bldP spid="113695" grpId="0" animBg="1"/>
      <p:bldP spid="113706" grpId="0" animBg="1"/>
      <p:bldP spid="113709" grpId="0" animBg="1" autoUpdateAnimBg="0"/>
      <p:bldP spid="113707" grpId="0" animBg="1"/>
      <p:bldP spid="11370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612" name="Group 4"/>
          <p:cNvGrpSpPr>
            <a:grpSpLocks/>
          </p:cNvGrpSpPr>
          <p:nvPr/>
        </p:nvGrpSpPr>
        <p:grpSpPr bwMode="auto">
          <a:xfrm>
            <a:off x="1135063" y="476250"/>
            <a:ext cx="7812087" cy="1096963"/>
            <a:chOff x="839" y="1480"/>
            <a:chExt cx="4921" cy="691"/>
          </a:xfrm>
        </p:grpSpPr>
        <p:sp>
          <p:nvSpPr>
            <p:cNvPr id="23565" name="Text Box 5"/>
            <p:cNvSpPr txBox="1">
              <a:spLocks noChangeArrowheads="1"/>
            </p:cNvSpPr>
            <p:nvPr/>
          </p:nvSpPr>
          <p:spPr bwMode="auto">
            <a:xfrm>
              <a:off x="839" y="1494"/>
              <a:ext cx="4921" cy="6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en-US" altLang="zh-CN" sz="2800">
                  <a:solidFill>
                    <a:srgbClr val="000000"/>
                  </a:solidFill>
                  <a:ea typeface="楷体_GB2312"/>
                </a:rPr>
                <a:t>①             </a:t>
              </a:r>
              <a:r>
                <a:rPr lang="zh-CN" altLang="en-US" sz="2800">
                  <a:solidFill>
                    <a:srgbClr val="000000"/>
                  </a:solidFill>
                  <a:ea typeface="楷体_GB2312"/>
                </a:rPr>
                <a:t>为导体表面电荷与导体外部电荷产生</a:t>
              </a:r>
            </a:p>
            <a:p>
              <a:pPr eaLnBrk="1" hangingPunct="1">
                <a:lnSpc>
                  <a:spcPct val="110000"/>
                </a:lnSpc>
                <a:spcBef>
                  <a:spcPct val="0"/>
                </a:spcBef>
                <a:buFontTx/>
                <a:buNone/>
              </a:pPr>
              <a:r>
                <a:rPr lang="zh-CN" altLang="en-US" sz="2800">
                  <a:solidFill>
                    <a:srgbClr val="000000"/>
                  </a:solidFill>
                  <a:ea typeface="楷体_GB2312"/>
                </a:rPr>
                <a:t>     的电场在导体内部叠加的总效果或合贡献。</a:t>
              </a:r>
            </a:p>
          </p:txBody>
        </p:sp>
        <p:graphicFrame>
          <p:nvGraphicFramePr>
            <p:cNvPr id="23566" name="Object 6"/>
            <p:cNvGraphicFramePr>
              <a:graphicFrameLocks noChangeAspect="1"/>
            </p:cNvGraphicFramePr>
            <p:nvPr/>
          </p:nvGraphicFramePr>
          <p:xfrm>
            <a:off x="1089" y="1480"/>
            <a:ext cx="861" cy="443"/>
          </p:xfrm>
          <a:graphic>
            <a:graphicData uri="http://schemas.openxmlformats.org/presentationml/2006/ole">
              <mc:AlternateContent xmlns:mc="http://schemas.openxmlformats.org/markup-compatibility/2006">
                <mc:Choice xmlns:v="urn:schemas-microsoft-com:vml" Requires="v">
                  <p:oleObj spid="_x0000_s23823" name="公式" r:id="rId3" imgW="466723" imgH="209366" progId="Equation.3">
                    <p:embed/>
                  </p:oleObj>
                </mc:Choice>
                <mc:Fallback>
                  <p:oleObj name="公式" r:id="rId3" imgW="466723" imgH="209366"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 y="1480"/>
                          <a:ext cx="861" cy="44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6618" name="Text Box 10"/>
          <p:cNvSpPr txBox="1">
            <a:spLocks noChangeArrowheads="1"/>
          </p:cNvSpPr>
          <p:nvPr/>
        </p:nvSpPr>
        <p:spPr bwMode="auto">
          <a:xfrm>
            <a:off x="107950" y="565150"/>
            <a:ext cx="1371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总结：</a:t>
            </a:r>
          </a:p>
        </p:txBody>
      </p:sp>
      <p:sp>
        <p:nvSpPr>
          <p:cNvPr id="196619" name="Text Box 11"/>
          <p:cNvSpPr txBox="1">
            <a:spLocks noChangeArrowheads="1"/>
          </p:cNvSpPr>
          <p:nvPr/>
        </p:nvSpPr>
        <p:spPr bwMode="auto">
          <a:xfrm>
            <a:off x="1063625" y="4565650"/>
            <a:ext cx="7848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000000"/>
                </a:solidFill>
                <a:ea typeface="楷体_GB2312"/>
              </a:rPr>
              <a:t>④</a:t>
            </a:r>
            <a:r>
              <a:rPr lang="zh-CN" altLang="en-US" sz="2800">
                <a:solidFill>
                  <a:srgbClr val="000000"/>
                </a:solidFill>
                <a:ea typeface="楷体_GB2312"/>
              </a:rPr>
              <a:t>导体与大地相连只表明导体与地球等电位。</a:t>
            </a:r>
          </a:p>
        </p:txBody>
      </p:sp>
      <p:sp>
        <p:nvSpPr>
          <p:cNvPr id="196620" name="Text Box 12"/>
          <p:cNvSpPr txBox="1">
            <a:spLocks noChangeArrowheads="1"/>
          </p:cNvSpPr>
          <p:nvPr/>
        </p:nvSpPr>
        <p:spPr bwMode="auto">
          <a:xfrm>
            <a:off x="1062038" y="3403600"/>
            <a:ext cx="8393112"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0"/>
              </a:spcBef>
              <a:buFontTx/>
              <a:buNone/>
            </a:pPr>
            <a:r>
              <a:rPr lang="en-US" altLang="zh-CN" sz="2800">
                <a:solidFill>
                  <a:srgbClr val="000000"/>
                </a:solidFill>
                <a:ea typeface="楷体_GB2312"/>
              </a:rPr>
              <a:t>③</a:t>
            </a:r>
            <a:r>
              <a:rPr lang="zh-CN" altLang="en-US" sz="2800">
                <a:solidFill>
                  <a:srgbClr val="000000"/>
                </a:solidFill>
                <a:ea typeface="楷体_GB2312"/>
              </a:rPr>
              <a:t>空腔导体的静电屏蔽作用是空腔内、外电荷及</a:t>
            </a:r>
          </a:p>
          <a:p>
            <a:pPr eaLnBrk="1" hangingPunct="1">
              <a:lnSpc>
                <a:spcPct val="110000"/>
              </a:lnSpc>
              <a:spcBef>
                <a:spcPct val="0"/>
              </a:spcBef>
              <a:buFontTx/>
              <a:buNone/>
            </a:pPr>
            <a:r>
              <a:rPr lang="zh-CN" altLang="en-US" sz="2800">
                <a:solidFill>
                  <a:srgbClr val="000000"/>
                </a:solidFill>
                <a:ea typeface="楷体_GB2312"/>
              </a:rPr>
              <a:t>    导体上电荷在导体内产生的合场强为零的结果。</a:t>
            </a:r>
          </a:p>
        </p:txBody>
      </p:sp>
      <p:grpSp>
        <p:nvGrpSpPr>
          <p:cNvPr id="196621" name="Group 13"/>
          <p:cNvGrpSpPr>
            <a:grpSpLocks/>
          </p:cNvGrpSpPr>
          <p:nvPr/>
        </p:nvGrpSpPr>
        <p:grpSpPr bwMode="auto">
          <a:xfrm>
            <a:off x="1062038" y="1628775"/>
            <a:ext cx="8066087" cy="1814513"/>
            <a:chOff x="793" y="2160"/>
            <a:chExt cx="4967" cy="1143"/>
          </a:xfrm>
        </p:grpSpPr>
        <p:sp>
          <p:nvSpPr>
            <p:cNvPr id="23559" name="Text Box 14"/>
            <p:cNvSpPr txBox="1">
              <a:spLocks noChangeArrowheads="1"/>
            </p:cNvSpPr>
            <p:nvPr/>
          </p:nvSpPr>
          <p:spPr bwMode="auto">
            <a:xfrm>
              <a:off x="996" y="2509"/>
              <a:ext cx="4606" cy="7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800">
                  <a:solidFill>
                    <a:srgbClr val="000000"/>
                  </a:solidFill>
                  <a:ea typeface="楷体_GB2312"/>
                </a:rPr>
                <a:t>然成立。此时，   为电荷重新分布后该点的电荷面密度，    为新的电荷分布下该处的合场强</a:t>
              </a:r>
              <a:r>
                <a:rPr lang="en-US" altLang="zh-CN" sz="2800">
                  <a:solidFill>
                    <a:srgbClr val="000000"/>
                  </a:solidFill>
                  <a:ea typeface="楷体_GB2312"/>
                </a:rPr>
                <a:t>.</a:t>
              </a:r>
            </a:p>
          </p:txBody>
        </p:sp>
        <p:graphicFrame>
          <p:nvGraphicFramePr>
            <p:cNvPr id="23560" name="Object 15"/>
            <p:cNvGraphicFramePr>
              <a:graphicFrameLocks noChangeAspect="1"/>
            </p:cNvGraphicFramePr>
            <p:nvPr/>
          </p:nvGraphicFramePr>
          <p:xfrm>
            <a:off x="2018" y="2850"/>
            <a:ext cx="431" cy="453"/>
          </p:xfrm>
          <a:graphic>
            <a:graphicData uri="http://schemas.openxmlformats.org/presentationml/2006/ole">
              <mc:AlternateContent xmlns:mc="http://schemas.openxmlformats.org/markup-compatibility/2006">
                <mc:Choice xmlns:v="urn:schemas-microsoft-com:vml" Requires="v">
                  <p:oleObj spid="_x0000_s23824" name="公式" r:id="rId5" imgW="200204" imgH="209366" progId="Equation.3">
                    <p:embed/>
                  </p:oleObj>
                </mc:Choice>
                <mc:Fallback>
                  <p:oleObj name="公式" r:id="rId5" imgW="200204" imgH="209366"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8" y="2850"/>
                          <a:ext cx="431" cy="453"/>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1" name="Object 16"/>
            <p:cNvGraphicFramePr>
              <a:graphicFrameLocks noChangeAspect="1"/>
            </p:cNvGraphicFramePr>
            <p:nvPr/>
          </p:nvGraphicFramePr>
          <p:xfrm>
            <a:off x="1054" y="2168"/>
            <a:ext cx="1315" cy="400"/>
          </p:xfrm>
          <a:graphic>
            <a:graphicData uri="http://schemas.openxmlformats.org/presentationml/2006/ole">
              <mc:AlternateContent xmlns:mc="http://schemas.openxmlformats.org/markup-compatibility/2006">
                <mc:Choice xmlns:v="urn:schemas-microsoft-com:vml" Requires="v">
                  <p:oleObj spid="_x0000_s23825" name="公式" r:id="rId7" imgW="733241" imgH="180778" progId="Equation.3">
                    <p:embed/>
                  </p:oleObj>
                </mc:Choice>
                <mc:Fallback>
                  <p:oleObj name="公式" r:id="rId7" imgW="733241" imgH="180778"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4" y="2168"/>
                          <a:ext cx="1315" cy="400"/>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2" name="Text Box 17"/>
            <p:cNvSpPr txBox="1">
              <a:spLocks noChangeArrowheads="1"/>
            </p:cNvSpPr>
            <p:nvPr/>
          </p:nvSpPr>
          <p:spPr bwMode="auto">
            <a:xfrm>
              <a:off x="793" y="2160"/>
              <a:ext cx="48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a:solidFill>
                    <a:srgbClr val="000000"/>
                  </a:solidFill>
                  <a:ea typeface="楷体_GB2312"/>
                </a:rPr>
                <a:t>②</a:t>
              </a:r>
            </a:p>
          </p:txBody>
        </p:sp>
        <p:sp>
          <p:nvSpPr>
            <p:cNvPr id="23563" name="Text Box 18"/>
            <p:cNvSpPr txBox="1">
              <a:spLocks noChangeArrowheads="1"/>
            </p:cNvSpPr>
            <p:nvPr/>
          </p:nvSpPr>
          <p:spPr bwMode="auto">
            <a:xfrm>
              <a:off x="2462" y="2208"/>
              <a:ext cx="329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800">
                  <a:solidFill>
                    <a:srgbClr val="000000"/>
                  </a:solidFill>
                  <a:ea typeface="楷体_GB2312"/>
                </a:rPr>
                <a:t>当导体处于外场中后，上式仍</a:t>
              </a:r>
            </a:p>
          </p:txBody>
        </p:sp>
        <p:graphicFrame>
          <p:nvGraphicFramePr>
            <p:cNvPr id="23564" name="Object 19"/>
            <p:cNvGraphicFramePr>
              <a:graphicFrameLocks noChangeAspect="1"/>
            </p:cNvGraphicFramePr>
            <p:nvPr/>
          </p:nvGraphicFramePr>
          <p:xfrm>
            <a:off x="2562" y="2618"/>
            <a:ext cx="255" cy="232"/>
          </p:xfrm>
          <a:graphic>
            <a:graphicData uri="http://schemas.openxmlformats.org/presentationml/2006/ole">
              <mc:AlternateContent xmlns:mc="http://schemas.openxmlformats.org/markup-compatibility/2006">
                <mc:Choice xmlns:v="urn:schemas-microsoft-com:vml" Requires="v">
                  <p:oleObj spid="_x0000_s23826" name="公式" r:id="rId9" imgW="95275" imgH="85764" progId="Equation.3">
                    <p:embed/>
                  </p:oleObj>
                </mc:Choice>
                <mc:Fallback>
                  <p:oleObj name="公式" r:id="rId9" imgW="95275" imgH="85764"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2" y="2618"/>
                          <a:ext cx="255" cy="232"/>
                        </a:xfrm>
                        <a:prstGeom prst="rect">
                          <a:avLst/>
                        </a:prstGeom>
                        <a:noFill/>
                        <a:ln>
                          <a:noFill/>
                        </a:ln>
                        <a:effectLst/>
                        <a:extLst>
                          <a:ext uri="{909E8E84-426E-40DD-AFC4-6F175D3DCCD1}">
                            <a14:hiddenFill xmlns:a14="http://schemas.microsoft.com/office/drawing/2010/main">
                              <a:solidFill>
                                <a:srgbClr val="0066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8">
                                            <p:txEl>
                                              <p:pRg st="0" end="0"/>
                                            </p:txEl>
                                          </p:spTgt>
                                        </p:tgtEl>
                                        <p:attrNameLst>
                                          <p:attrName>style.visibility</p:attrName>
                                        </p:attrNameLst>
                                      </p:cBhvr>
                                      <p:to>
                                        <p:strVal val="visible"/>
                                      </p:to>
                                    </p:set>
                                    <p:animEffect transition="in" filter="wipe(left)">
                                      <p:cBhvr>
                                        <p:cTn id="7" dur="500"/>
                                        <p:tgtEl>
                                          <p:spTgt spid="1966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6612"/>
                                        </p:tgtEl>
                                        <p:attrNameLst>
                                          <p:attrName>style.visibility</p:attrName>
                                        </p:attrNameLst>
                                      </p:cBhvr>
                                      <p:to>
                                        <p:strVal val="visible"/>
                                      </p:to>
                                    </p:set>
                                    <p:animEffect transition="in" filter="wipe(left)">
                                      <p:cBhvr>
                                        <p:cTn id="12" dur="500"/>
                                        <p:tgtEl>
                                          <p:spTgt spid="196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6621"/>
                                        </p:tgtEl>
                                        <p:attrNameLst>
                                          <p:attrName>style.visibility</p:attrName>
                                        </p:attrNameLst>
                                      </p:cBhvr>
                                      <p:to>
                                        <p:strVal val="visible"/>
                                      </p:to>
                                    </p:set>
                                    <p:animEffect transition="in" filter="wipe(left)">
                                      <p:cBhvr>
                                        <p:cTn id="17" dur="500"/>
                                        <p:tgtEl>
                                          <p:spTgt spid="1966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6620">
                                            <p:txEl>
                                              <p:pRg st="0" end="0"/>
                                            </p:txEl>
                                          </p:spTgt>
                                        </p:tgtEl>
                                        <p:attrNameLst>
                                          <p:attrName>style.visibility</p:attrName>
                                        </p:attrNameLst>
                                      </p:cBhvr>
                                      <p:to>
                                        <p:strVal val="visible"/>
                                      </p:to>
                                    </p:set>
                                    <p:animEffect transition="in" filter="wipe(left)">
                                      <p:cBhvr>
                                        <p:cTn id="22" dur="500"/>
                                        <p:tgtEl>
                                          <p:spTgt spid="19662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6620">
                                            <p:txEl>
                                              <p:pRg st="1" end="1"/>
                                            </p:txEl>
                                          </p:spTgt>
                                        </p:tgtEl>
                                        <p:attrNameLst>
                                          <p:attrName>style.visibility</p:attrName>
                                        </p:attrNameLst>
                                      </p:cBhvr>
                                      <p:to>
                                        <p:strVal val="visible"/>
                                      </p:to>
                                    </p:set>
                                    <p:animEffect transition="in" filter="wipe(left)">
                                      <p:cBhvr>
                                        <p:cTn id="27" dur="500"/>
                                        <p:tgtEl>
                                          <p:spTgt spid="196620">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6619">
                                            <p:txEl>
                                              <p:pRg st="0" end="0"/>
                                            </p:txEl>
                                          </p:spTgt>
                                        </p:tgtEl>
                                        <p:attrNameLst>
                                          <p:attrName>style.visibility</p:attrName>
                                        </p:attrNameLst>
                                      </p:cBhvr>
                                      <p:to>
                                        <p:strVal val="visible"/>
                                      </p:to>
                                    </p:set>
                                    <p:animEffect transition="in" filter="wipe(left)">
                                      <p:cBhvr>
                                        <p:cTn id="32" dur="500"/>
                                        <p:tgtEl>
                                          <p:spTgt spid="1966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8" grpId="0" build="p" autoUpdateAnimBg="0"/>
      <p:bldP spid="196619" grpId="0" build="p" autoUpdateAnimBg="0"/>
      <p:bldP spid="196620"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Text Box 2"/>
          <p:cNvSpPr txBox="1">
            <a:spLocks noChangeArrowheads="1"/>
          </p:cNvSpPr>
          <p:nvPr/>
        </p:nvSpPr>
        <p:spPr bwMode="auto">
          <a:xfrm>
            <a:off x="304800" y="228600"/>
            <a:ext cx="320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b="1">
                <a:solidFill>
                  <a:srgbClr val="A50021"/>
                </a:solidFill>
                <a:latin typeface="隶书" panose="02010509060101010101" pitchFamily="49" charset="-122"/>
                <a:ea typeface="隶书" panose="02010509060101010101" pitchFamily="49" charset="-122"/>
              </a:rPr>
              <a:t>四、</a:t>
            </a:r>
            <a:r>
              <a:rPr kumimoji="0" lang="en-US" altLang="zh-CN" b="1">
                <a:solidFill>
                  <a:srgbClr val="A50021"/>
                </a:solidFill>
                <a:latin typeface="隶书" panose="02010509060101010101" pitchFamily="49" charset="-122"/>
                <a:ea typeface="隶书" panose="02010509060101010101" pitchFamily="49" charset="-122"/>
              </a:rPr>
              <a:t> </a:t>
            </a:r>
            <a:r>
              <a:rPr kumimoji="0" lang="zh-CN" altLang="en-US" b="1">
                <a:solidFill>
                  <a:srgbClr val="A50021"/>
                </a:solidFill>
                <a:latin typeface="华文细黑" panose="02010600040101010101" pitchFamily="2" charset="-122"/>
                <a:ea typeface="华文细黑" panose="02010600040101010101" pitchFamily="2" charset="-122"/>
              </a:rPr>
              <a:t>计算举例</a:t>
            </a:r>
          </a:p>
        </p:txBody>
      </p:sp>
      <p:graphicFrame>
        <p:nvGraphicFramePr>
          <p:cNvPr id="375811" name="Object 3"/>
          <p:cNvGraphicFramePr>
            <a:graphicFrameLocks noChangeAspect="1"/>
          </p:cNvGraphicFramePr>
          <p:nvPr/>
        </p:nvGraphicFramePr>
        <p:xfrm>
          <a:off x="4648200" y="1676400"/>
          <a:ext cx="1608138" cy="631825"/>
        </p:xfrm>
        <a:graphic>
          <a:graphicData uri="http://schemas.openxmlformats.org/presentationml/2006/ole">
            <mc:AlternateContent xmlns:mc="http://schemas.openxmlformats.org/markup-compatibility/2006">
              <mc:Choice xmlns:v="urn:schemas-microsoft-com:vml" Requires="v">
                <p:oleObj spid="_x0000_s26959" name="Equation" r:id="rId3" imgW="482391" imgH="228501" progId="Equation.3">
                  <p:embed/>
                </p:oleObj>
              </mc:Choice>
              <mc:Fallback>
                <p:oleObj name="Equation" r:id="rId3" imgW="482391" imgH="22850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676400"/>
                        <a:ext cx="1608138"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5812" name="Object 4"/>
          <p:cNvGraphicFramePr>
            <a:graphicFrameLocks noChangeAspect="1"/>
          </p:cNvGraphicFramePr>
          <p:nvPr/>
        </p:nvGraphicFramePr>
        <p:xfrm>
          <a:off x="6448425" y="1676400"/>
          <a:ext cx="2325688" cy="531813"/>
        </p:xfrm>
        <a:graphic>
          <a:graphicData uri="http://schemas.openxmlformats.org/presentationml/2006/ole">
            <mc:AlternateContent xmlns:mc="http://schemas.openxmlformats.org/markup-compatibility/2006">
              <mc:Choice xmlns:v="urn:schemas-microsoft-com:vml" Requires="v">
                <p:oleObj spid="_x0000_s26960" name="Equation" r:id="rId5" imgW="863225" imgH="177723" progId="Equation.DSMT4">
                  <p:embed/>
                </p:oleObj>
              </mc:Choice>
              <mc:Fallback>
                <p:oleObj name="Equation" r:id="rId5" imgW="863225" imgH="177723"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8425" y="1676400"/>
                        <a:ext cx="2325688"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5813" name="Object 5"/>
          <p:cNvGraphicFramePr>
            <a:graphicFrameLocks noChangeAspect="1"/>
          </p:cNvGraphicFramePr>
          <p:nvPr/>
        </p:nvGraphicFramePr>
        <p:xfrm>
          <a:off x="4248150" y="5426075"/>
          <a:ext cx="2484438" cy="811213"/>
        </p:xfrm>
        <a:graphic>
          <a:graphicData uri="http://schemas.openxmlformats.org/presentationml/2006/ole">
            <mc:AlternateContent xmlns:mc="http://schemas.openxmlformats.org/markup-compatibility/2006">
              <mc:Choice xmlns:v="urn:schemas-microsoft-com:vml" Requires="v">
                <p:oleObj spid="_x0000_s26961" name="Equation" r:id="rId7" imgW="1066800" imgH="342900" progId="Equation.DSMT4">
                  <p:embed/>
                </p:oleObj>
              </mc:Choice>
              <mc:Fallback>
                <p:oleObj name="Equation" r:id="rId7" imgW="1066800" imgH="3429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8150" y="5426075"/>
                        <a:ext cx="2484438"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5814" name="Rectangle 6"/>
          <p:cNvSpPr>
            <a:spLocks noChangeArrowheads="1"/>
          </p:cNvSpPr>
          <p:nvPr/>
        </p:nvSpPr>
        <p:spPr bwMode="auto">
          <a:xfrm>
            <a:off x="381000" y="3124200"/>
            <a:ext cx="5905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zh-CN" altLang="en-US" sz="2800" b="1">
                <a:solidFill>
                  <a:srgbClr val="0066FF"/>
                </a:solidFill>
                <a:latin typeface="Arial" panose="020B0604020202020204" pitchFamily="34" charset="0"/>
                <a:ea typeface="楷体_GB2312"/>
              </a:rPr>
              <a:t>原</a:t>
            </a:r>
          </a:p>
          <a:p>
            <a:pPr>
              <a:spcBef>
                <a:spcPct val="0"/>
              </a:spcBef>
              <a:buFontTx/>
              <a:buNone/>
            </a:pPr>
            <a:endParaRPr kumimoji="0" lang="zh-CN" altLang="en-US" sz="2800" b="1">
              <a:solidFill>
                <a:srgbClr val="0066FF"/>
              </a:solidFill>
              <a:latin typeface="Arial" panose="020B0604020202020204" pitchFamily="34" charset="0"/>
              <a:ea typeface="楷体_GB2312"/>
            </a:endParaRPr>
          </a:p>
          <a:p>
            <a:pPr>
              <a:spcBef>
                <a:spcPct val="0"/>
              </a:spcBef>
              <a:buFontTx/>
              <a:buNone/>
            </a:pPr>
            <a:r>
              <a:rPr kumimoji="0" lang="zh-CN" altLang="en-US" sz="2800" b="1">
                <a:solidFill>
                  <a:srgbClr val="0066FF"/>
                </a:solidFill>
                <a:latin typeface="Arial" panose="020B0604020202020204" pitchFamily="34" charset="0"/>
                <a:ea typeface="楷体_GB2312"/>
              </a:rPr>
              <a:t>则</a:t>
            </a:r>
          </a:p>
        </p:txBody>
      </p:sp>
      <p:sp>
        <p:nvSpPr>
          <p:cNvPr id="375815" name="Rectangle 7"/>
          <p:cNvSpPr>
            <a:spLocks noChangeArrowheads="1"/>
          </p:cNvSpPr>
          <p:nvPr/>
        </p:nvSpPr>
        <p:spPr bwMode="auto">
          <a:xfrm>
            <a:off x="1371600" y="16764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800" b="1">
                <a:latin typeface="Arial" panose="020B0604020202020204" pitchFamily="34" charset="0"/>
                <a:ea typeface="楷体_GB2312"/>
              </a:rPr>
              <a:t>1.</a:t>
            </a:r>
            <a:r>
              <a:rPr kumimoji="0" lang="zh-CN" altLang="en-US" sz="2800" b="1">
                <a:latin typeface="Arial" panose="020B0604020202020204" pitchFamily="34" charset="0"/>
                <a:ea typeface="楷体_GB2312"/>
              </a:rPr>
              <a:t>静电平衡的条件</a:t>
            </a:r>
          </a:p>
        </p:txBody>
      </p:sp>
      <p:sp>
        <p:nvSpPr>
          <p:cNvPr id="375816" name="Rectangle 8"/>
          <p:cNvSpPr>
            <a:spLocks noChangeArrowheads="1"/>
          </p:cNvSpPr>
          <p:nvPr/>
        </p:nvSpPr>
        <p:spPr bwMode="auto">
          <a:xfrm>
            <a:off x="1371600" y="3505200"/>
            <a:ext cx="274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800" b="1">
                <a:solidFill>
                  <a:schemeClr val="tx2"/>
                </a:solidFill>
                <a:latin typeface="Arial" panose="020B0604020202020204" pitchFamily="34" charset="0"/>
                <a:ea typeface="楷体_GB2312"/>
              </a:rPr>
              <a:t>2.</a:t>
            </a:r>
            <a:r>
              <a:rPr kumimoji="0" lang="zh-CN" altLang="en-US" sz="2800" b="1">
                <a:solidFill>
                  <a:schemeClr val="tx2"/>
                </a:solidFill>
                <a:latin typeface="Arial" panose="020B0604020202020204" pitchFamily="34" charset="0"/>
                <a:ea typeface="楷体_GB2312"/>
              </a:rPr>
              <a:t>基本性质方程</a:t>
            </a:r>
          </a:p>
        </p:txBody>
      </p:sp>
      <p:sp>
        <p:nvSpPr>
          <p:cNvPr id="375817" name="Rectangle 9"/>
          <p:cNvSpPr>
            <a:spLocks noChangeArrowheads="1"/>
          </p:cNvSpPr>
          <p:nvPr/>
        </p:nvSpPr>
        <p:spPr bwMode="auto">
          <a:xfrm>
            <a:off x="1371600" y="5486400"/>
            <a:ext cx="274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800" b="1">
                <a:latin typeface="Arial" panose="020B0604020202020204" pitchFamily="34" charset="0"/>
                <a:ea typeface="楷体_GB2312"/>
              </a:rPr>
              <a:t>3.</a:t>
            </a:r>
            <a:r>
              <a:rPr kumimoji="0" lang="zh-CN" altLang="en-US" sz="2800" b="1">
                <a:latin typeface="Arial" panose="020B0604020202020204" pitchFamily="34" charset="0"/>
                <a:ea typeface="楷体_GB2312"/>
              </a:rPr>
              <a:t>电荷守恒定律</a:t>
            </a:r>
          </a:p>
        </p:txBody>
      </p:sp>
      <p:sp>
        <p:nvSpPr>
          <p:cNvPr id="375818" name="AutoShape 10"/>
          <p:cNvSpPr>
            <a:spLocks/>
          </p:cNvSpPr>
          <p:nvPr/>
        </p:nvSpPr>
        <p:spPr bwMode="auto">
          <a:xfrm>
            <a:off x="914400" y="1905000"/>
            <a:ext cx="533400" cy="3886200"/>
          </a:xfrm>
          <a:prstGeom prst="leftBrace">
            <a:avLst>
              <a:gd name="adj1" fmla="val 34067"/>
              <a:gd name="adj2" fmla="val 48602"/>
            </a:avLst>
          </a:prstGeom>
          <a:noFill/>
          <a:ln w="22225">
            <a:solidFill>
              <a:srgbClr val="CC00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graphicFrame>
        <p:nvGraphicFramePr>
          <p:cNvPr id="375819" name="Object 11"/>
          <p:cNvGraphicFramePr>
            <a:graphicFrameLocks noChangeAspect="1"/>
          </p:cNvGraphicFramePr>
          <p:nvPr/>
        </p:nvGraphicFramePr>
        <p:xfrm>
          <a:off x="4419600" y="2590800"/>
          <a:ext cx="2971800" cy="1143000"/>
        </p:xfrm>
        <a:graphic>
          <a:graphicData uri="http://schemas.openxmlformats.org/presentationml/2006/ole">
            <mc:AlternateContent xmlns:mc="http://schemas.openxmlformats.org/markup-compatibility/2006">
              <mc:Choice xmlns:v="urn:schemas-microsoft-com:vml" Requires="v">
                <p:oleObj spid="_x0000_s26962" name="公式" r:id="rId9" imgW="1104900" imgH="431800" progId="Equation.3">
                  <p:embed/>
                </p:oleObj>
              </mc:Choice>
              <mc:Fallback>
                <p:oleObj name="公式" r:id="rId9" imgW="1104900" imgH="4318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2590800"/>
                        <a:ext cx="29718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5820" name="Object 12"/>
          <p:cNvGraphicFramePr>
            <a:graphicFrameLocks noChangeAspect="1"/>
          </p:cNvGraphicFramePr>
          <p:nvPr/>
        </p:nvGraphicFramePr>
        <p:xfrm>
          <a:off x="4570413" y="3962400"/>
          <a:ext cx="2060575" cy="787400"/>
        </p:xfrm>
        <a:graphic>
          <a:graphicData uri="http://schemas.openxmlformats.org/presentationml/2006/ole">
            <mc:AlternateContent xmlns:mc="http://schemas.openxmlformats.org/markup-compatibility/2006">
              <mc:Choice xmlns:v="urn:schemas-microsoft-com:vml" Requires="v">
                <p:oleObj spid="_x0000_s26963" name="Equation" r:id="rId11" imgW="698197" imgH="291973" progId="Equation.3">
                  <p:embed/>
                </p:oleObj>
              </mc:Choice>
              <mc:Fallback>
                <p:oleObj name="Equation" r:id="rId11" imgW="698197" imgH="291973"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0413" y="3962400"/>
                        <a:ext cx="20605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5821" name="AutoShape 13"/>
          <p:cNvSpPr>
            <a:spLocks/>
          </p:cNvSpPr>
          <p:nvPr/>
        </p:nvSpPr>
        <p:spPr bwMode="auto">
          <a:xfrm>
            <a:off x="3962400" y="2971800"/>
            <a:ext cx="304800" cy="1628775"/>
          </a:xfrm>
          <a:prstGeom prst="leftBrace">
            <a:avLst>
              <a:gd name="adj1" fmla="val 44531"/>
              <a:gd name="adj2" fmla="val 50000"/>
            </a:avLst>
          </a:prstGeom>
          <a:noFill/>
          <a:ln w="22225">
            <a:solidFill>
              <a:srgbClr val="0000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75822" name="Text Box 14"/>
          <p:cNvSpPr txBox="1">
            <a:spLocks noChangeArrowheads="1"/>
          </p:cNvSpPr>
          <p:nvPr/>
        </p:nvSpPr>
        <p:spPr bwMode="auto">
          <a:xfrm>
            <a:off x="1143000" y="914400"/>
            <a:ext cx="5257800" cy="519113"/>
          </a:xfrm>
          <a:prstGeom prst="rect">
            <a:avLst/>
          </a:prstGeom>
          <a:noFill/>
          <a:ln>
            <a:noFill/>
          </a:ln>
          <a:effectLst/>
          <a:extLst>
            <a:ext uri="{909E8E84-426E-40DD-AFC4-6F175D3DCCD1}">
              <a14:hiddenFill xmlns:a14="http://schemas.microsoft.com/office/drawing/2010/main">
                <a:gradFill rotWithShape="0">
                  <a:gsLst>
                    <a:gs pos="0">
                      <a:srgbClr val="825600"/>
                    </a:gs>
                    <a:gs pos="50000">
                      <a:schemeClr val="bg1"/>
                    </a:gs>
                    <a:gs pos="100000">
                      <a:srgbClr val="825600"/>
                    </a:gs>
                  </a:gsLst>
                  <a:lin ang="5400000" scaled="1"/>
                </a:gra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kumimoji="0" lang="zh-CN" altLang="en-US" sz="2800" b="1">
                <a:solidFill>
                  <a:srgbClr val="333399"/>
                </a:solidFill>
                <a:latin typeface="Arial" charset="0"/>
                <a:ea typeface="宋体" charset="-122"/>
                <a:cs typeface="+mn-cs"/>
              </a:rPr>
              <a:t>有导体存在时静电场的计算</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5810"/>
                                        </p:tgtEl>
                                        <p:attrNameLst>
                                          <p:attrName>style.visibility</p:attrName>
                                        </p:attrNameLst>
                                      </p:cBhvr>
                                      <p:to>
                                        <p:strVal val="visible"/>
                                      </p:to>
                                    </p:set>
                                    <p:animEffect transition="in" filter="wipe(left)">
                                      <p:cBhvr>
                                        <p:cTn id="7" dur="500"/>
                                        <p:tgtEl>
                                          <p:spTgt spid="3758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375822"/>
                                        </p:tgtEl>
                                        <p:attrNameLst>
                                          <p:attrName>style.visibility</p:attrName>
                                        </p:attrNameLst>
                                      </p:cBhvr>
                                      <p:to>
                                        <p:strVal val="visible"/>
                                      </p:to>
                                    </p:set>
                                    <p:animEffect transition="in" filter="wipe(left)">
                                      <p:cBhvr>
                                        <p:cTn id="12" dur="75"/>
                                        <p:tgtEl>
                                          <p:spTgt spid="375822"/>
                                        </p:tgtEl>
                                      </p:cBhvr>
                                    </p:animEffect>
                                  </p:childTnLst>
                                  <p:subTnLst>
                                    <p:animClr clrSpc="rgb" dir="cw">
                                      <p:cBhvr override="childStyle">
                                        <p:cTn dur="1" fill="hold" display="0" masterRel="nextClick" afterEffect="1"/>
                                        <p:tgtEl>
                                          <p:spTgt spid="375822"/>
                                        </p:tgtEl>
                                        <p:attrNameLst>
                                          <p:attrName>ppt_c</p:attrName>
                                        </p:attrNameLst>
                                      </p:cBhvr>
                                      <p:to>
                                        <a:srgbClr val="CC00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375814"/>
                                        </p:tgtEl>
                                        <p:attrNameLst>
                                          <p:attrName>style.visibility</p:attrName>
                                        </p:attrNameLst>
                                      </p:cBhvr>
                                      <p:to>
                                        <p:strVal val="visible"/>
                                      </p:to>
                                    </p:set>
                                    <p:animEffect transition="in" filter="wipe(up)">
                                      <p:cBhvr>
                                        <p:cTn id="17" dur="75"/>
                                        <p:tgtEl>
                                          <p:spTgt spid="3758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75818"/>
                                        </p:tgtEl>
                                        <p:attrNameLst>
                                          <p:attrName>style.visibility</p:attrName>
                                        </p:attrNameLst>
                                      </p:cBhvr>
                                      <p:to>
                                        <p:strVal val="visible"/>
                                      </p:to>
                                    </p:set>
                                    <p:animEffect transition="in" filter="barn(outHorizontal)">
                                      <p:cBhvr>
                                        <p:cTn id="22" dur="500"/>
                                        <p:tgtEl>
                                          <p:spTgt spid="3758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375815"/>
                                        </p:tgtEl>
                                        <p:attrNameLst>
                                          <p:attrName>style.visibility</p:attrName>
                                        </p:attrNameLst>
                                      </p:cBhvr>
                                      <p:to>
                                        <p:strVal val="visible"/>
                                      </p:to>
                                    </p:set>
                                    <p:animEffect transition="in" filter="wipe(left)">
                                      <p:cBhvr>
                                        <p:cTn id="27" dur="75"/>
                                        <p:tgtEl>
                                          <p:spTgt spid="3758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375811"/>
                                        </p:tgtEl>
                                        <p:attrNameLst>
                                          <p:attrName>style.visibility</p:attrName>
                                        </p:attrNameLst>
                                      </p:cBhvr>
                                      <p:to>
                                        <p:strVal val="visible"/>
                                      </p:to>
                                    </p:set>
                                    <p:animEffect transition="in" filter="blinds(vertical)">
                                      <p:cBhvr>
                                        <p:cTn id="32" dur="500"/>
                                        <p:tgtEl>
                                          <p:spTgt spid="3758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nodeType="clickEffect">
                                  <p:stCondLst>
                                    <p:cond delay="0"/>
                                  </p:stCondLst>
                                  <p:childTnLst>
                                    <p:set>
                                      <p:cBhvr>
                                        <p:cTn id="36" dur="1" fill="hold">
                                          <p:stCondLst>
                                            <p:cond delay="0"/>
                                          </p:stCondLst>
                                        </p:cTn>
                                        <p:tgtEl>
                                          <p:spTgt spid="375812"/>
                                        </p:tgtEl>
                                        <p:attrNameLst>
                                          <p:attrName>style.visibility</p:attrName>
                                        </p:attrNameLst>
                                      </p:cBhvr>
                                      <p:to>
                                        <p:strVal val="visible"/>
                                      </p:to>
                                    </p:set>
                                    <p:animEffect transition="in" filter="blinds(vertical)">
                                      <p:cBhvr>
                                        <p:cTn id="37" dur="500"/>
                                        <p:tgtEl>
                                          <p:spTgt spid="3758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lt">
                                    <p:tmPct val="100000"/>
                                  </p:iterate>
                                  <p:childTnLst>
                                    <p:set>
                                      <p:cBhvr>
                                        <p:cTn id="41" dur="1" fill="hold">
                                          <p:stCondLst>
                                            <p:cond delay="0"/>
                                          </p:stCondLst>
                                        </p:cTn>
                                        <p:tgtEl>
                                          <p:spTgt spid="375816"/>
                                        </p:tgtEl>
                                        <p:attrNameLst>
                                          <p:attrName>style.visibility</p:attrName>
                                        </p:attrNameLst>
                                      </p:cBhvr>
                                      <p:to>
                                        <p:strVal val="visible"/>
                                      </p:to>
                                    </p:set>
                                    <p:animEffect transition="in" filter="wipe(left)">
                                      <p:cBhvr>
                                        <p:cTn id="42" dur="75"/>
                                        <p:tgtEl>
                                          <p:spTgt spid="3758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375821"/>
                                        </p:tgtEl>
                                        <p:attrNameLst>
                                          <p:attrName>style.visibility</p:attrName>
                                        </p:attrNameLst>
                                      </p:cBhvr>
                                      <p:to>
                                        <p:strVal val="visible"/>
                                      </p:to>
                                    </p:set>
                                    <p:animEffect transition="in" filter="barn(outHorizontal)">
                                      <p:cBhvr>
                                        <p:cTn id="47" dur="500"/>
                                        <p:tgtEl>
                                          <p:spTgt spid="37582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nodeType="clickEffect">
                                  <p:stCondLst>
                                    <p:cond delay="0"/>
                                  </p:stCondLst>
                                  <p:childTnLst>
                                    <p:set>
                                      <p:cBhvr>
                                        <p:cTn id="51" dur="1" fill="hold">
                                          <p:stCondLst>
                                            <p:cond delay="0"/>
                                          </p:stCondLst>
                                        </p:cTn>
                                        <p:tgtEl>
                                          <p:spTgt spid="375819"/>
                                        </p:tgtEl>
                                        <p:attrNameLst>
                                          <p:attrName>style.visibility</p:attrName>
                                        </p:attrNameLst>
                                      </p:cBhvr>
                                      <p:to>
                                        <p:strVal val="visible"/>
                                      </p:to>
                                    </p:set>
                                    <p:animEffect transition="in" filter="blinds(vertical)">
                                      <p:cBhvr>
                                        <p:cTn id="52" dur="500"/>
                                        <p:tgtEl>
                                          <p:spTgt spid="37581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nodeType="clickEffect">
                                  <p:stCondLst>
                                    <p:cond delay="0"/>
                                  </p:stCondLst>
                                  <p:childTnLst>
                                    <p:set>
                                      <p:cBhvr>
                                        <p:cTn id="56" dur="1" fill="hold">
                                          <p:stCondLst>
                                            <p:cond delay="0"/>
                                          </p:stCondLst>
                                        </p:cTn>
                                        <p:tgtEl>
                                          <p:spTgt spid="375820"/>
                                        </p:tgtEl>
                                        <p:attrNameLst>
                                          <p:attrName>style.visibility</p:attrName>
                                        </p:attrNameLst>
                                      </p:cBhvr>
                                      <p:to>
                                        <p:strVal val="visible"/>
                                      </p:to>
                                    </p:set>
                                    <p:animEffect transition="in" filter="blinds(vertical)">
                                      <p:cBhvr>
                                        <p:cTn id="57" dur="500"/>
                                        <p:tgtEl>
                                          <p:spTgt spid="37582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375817"/>
                                        </p:tgtEl>
                                        <p:attrNameLst>
                                          <p:attrName>style.visibility</p:attrName>
                                        </p:attrNameLst>
                                      </p:cBhvr>
                                      <p:to>
                                        <p:strVal val="visible"/>
                                      </p:to>
                                    </p:set>
                                    <p:animEffect transition="in" filter="wipe(left)">
                                      <p:cBhvr>
                                        <p:cTn id="62" dur="75"/>
                                        <p:tgtEl>
                                          <p:spTgt spid="37581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375813"/>
                                        </p:tgtEl>
                                        <p:attrNameLst>
                                          <p:attrName>style.visibility</p:attrName>
                                        </p:attrNameLst>
                                      </p:cBhvr>
                                      <p:to>
                                        <p:strVal val="visible"/>
                                      </p:to>
                                    </p:set>
                                    <p:animEffect transition="in" filter="blinds(horizontal)">
                                      <p:cBhvr>
                                        <p:cTn id="67" dur="500"/>
                                        <p:tgtEl>
                                          <p:spTgt spid="375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0" grpId="0" autoUpdateAnimBg="0"/>
      <p:bldP spid="375814" grpId="0" autoUpdateAnimBg="0"/>
      <p:bldP spid="375815" grpId="0" autoUpdateAnimBg="0"/>
      <p:bldP spid="375816" grpId="0" autoUpdateAnimBg="0"/>
      <p:bldP spid="375817" grpId="0" autoUpdateAnimBg="0"/>
      <p:bldP spid="375818" grpId="0" animBg="1"/>
      <p:bldP spid="375821" grpId="0" animBg="1"/>
      <p:bldP spid="375822"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51520" y="1700808"/>
            <a:ext cx="8153028" cy="4764757"/>
          </a:xfrm>
          <a:prstGeom prst="rect">
            <a:avLst/>
          </a:prstGeom>
        </p:spPr>
      </p:pic>
      <p:pic>
        <p:nvPicPr>
          <p:cNvPr id="2" name="图片 1"/>
          <p:cNvPicPr>
            <a:picLocks noChangeAspect="1"/>
          </p:cNvPicPr>
          <p:nvPr/>
        </p:nvPicPr>
        <p:blipFill>
          <a:blip r:embed="rId3"/>
          <a:stretch>
            <a:fillRect/>
          </a:stretch>
        </p:blipFill>
        <p:spPr>
          <a:xfrm>
            <a:off x="-5703" y="188640"/>
            <a:ext cx="6429375" cy="1152525"/>
          </a:xfrm>
          <a:prstGeom prst="rect">
            <a:avLst/>
          </a:prstGeom>
        </p:spPr>
      </p:pic>
      <p:pic>
        <p:nvPicPr>
          <p:cNvPr id="3" name="图片 2"/>
          <p:cNvPicPr>
            <a:picLocks noChangeAspect="1"/>
          </p:cNvPicPr>
          <p:nvPr/>
        </p:nvPicPr>
        <p:blipFill>
          <a:blip r:embed="rId4"/>
          <a:stretch>
            <a:fillRect/>
          </a:stretch>
        </p:blipFill>
        <p:spPr>
          <a:xfrm>
            <a:off x="6423672" y="116632"/>
            <a:ext cx="2627784" cy="2896535"/>
          </a:xfrm>
          <a:prstGeom prst="rect">
            <a:avLst/>
          </a:prstGeom>
        </p:spPr>
      </p:pic>
      <p:pic>
        <p:nvPicPr>
          <p:cNvPr id="5" name="图片 4"/>
          <p:cNvPicPr>
            <a:picLocks noChangeAspect="1"/>
          </p:cNvPicPr>
          <p:nvPr/>
        </p:nvPicPr>
        <p:blipFill>
          <a:blip r:embed="rId5"/>
          <a:stretch>
            <a:fillRect/>
          </a:stretch>
        </p:blipFill>
        <p:spPr>
          <a:xfrm>
            <a:off x="6588224" y="116632"/>
            <a:ext cx="444392" cy="288032"/>
          </a:xfrm>
          <a:prstGeom prst="rect">
            <a:avLst/>
          </a:prstGeom>
        </p:spPr>
      </p:pic>
    </p:spTree>
    <p:extLst>
      <p:ext uri="{BB962C8B-B14F-4D97-AF65-F5344CB8AC3E}">
        <p14:creationId xmlns:p14="http://schemas.microsoft.com/office/powerpoint/2010/main" val="326987809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51520" y="44624"/>
            <a:ext cx="8353425" cy="1647825"/>
          </a:xfrm>
          <a:prstGeom prst="rect">
            <a:avLst/>
          </a:prstGeom>
        </p:spPr>
      </p:pic>
      <p:pic>
        <p:nvPicPr>
          <p:cNvPr id="3" name="图片 2"/>
          <p:cNvPicPr>
            <a:picLocks noChangeAspect="1"/>
          </p:cNvPicPr>
          <p:nvPr/>
        </p:nvPicPr>
        <p:blipFill>
          <a:blip r:embed="rId3"/>
          <a:stretch>
            <a:fillRect/>
          </a:stretch>
        </p:blipFill>
        <p:spPr>
          <a:xfrm>
            <a:off x="4932040" y="1628800"/>
            <a:ext cx="3905250" cy="3362325"/>
          </a:xfrm>
          <a:prstGeom prst="rect">
            <a:avLst/>
          </a:prstGeom>
        </p:spPr>
      </p:pic>
      <p:pic>
        <p:nvPicPr>
          <p:cNvPr id="4" name="图片 3"/>
          <p:cNvPicPr>
            <a:picLocks noChangeAspect="1"/>
          </p:cNvPicPr>
          <p:nvPr/>
        </p:nvPicPr>
        <p:blipFill>
          <a:blip r:embed="rId4"/>
          <a:stretch>
            <a:fillRect/>
          </a:stretch>
        </p:blipFill>
        <p:spPr>
          <a:xfrm>
            <a:off x="-1659" y="1800184"/>
            <a:ext cx="5086350" cy="3533775"/>
          </a:xfrm>
          <a:prstGeom prst="rect">
            <a:avLst/>
          </a:prstGeom>
        </p:spPr>
      </p:pic>
      <p:pic>
        <p:nvPicPr>
          <p:cNvPr id="5" name="图片 4"/>
          <p:cNvPicPr>
            <a:picLocks noChangeAspect="1"/>
          </p:cNvPicPr>
          <p:nvPr/>
        </p:nvPicPr>
        <p:blipFill>
          <a:blip r:embed="rId5"/>
          <a:stretch>
            <a:fillRect/>
          </a:stretch>
        </p:blipFill>
        <p:spPr>
          <a:xfrm>
            <a:off x="407290" y="5255667"/>
            <a:ext cx="8041884" cy="1631817"/>
          </a:xfrm>
          <a:prstGeom prst="rect">
            <a:avLst/>
          </a:prstGeom>
        </p:spPr>
      </p:pic>
    </p:spTree>
    <p:extLst>
      <p:ext uri="{BB962C8B-B14F-4D97-AF65-F5344CB8AC3E}">
        <p14:creationId xmlns:p14="http://schemas.microsoft.com/office/powerpoint/2010/main" val="200227516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94692" y="374639"/>
            <a:ext cx="8754615" cy="6108721"/>
          </a:xfrm>
          <a:prstGeom prst="rect">
            <a:avLst/>
          </a:prstGeom>
        </p:spPr>
      </p:pic>
    </p:spTree>
    <p:extLst>
      <p:ext uri="{BB962C8B-B14F-4D97-AF65-F5344CB8AC3E}">
        <p14:creationId xmlns:p14="http://schemas.microsoft.com/office/powerpoint/2010/main" val="2090294149"/>
      </p:ext>
    </p:extLst>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70899" y="444749"/>
            <a:ext cx="8602202" cy="5968501"/>
          </a:xfrm>
          <a:prstGeom prst="rect">
            <a:avLst/>
          </a:prstGeom>
        </p:spPr>
      </p:pic>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srcRect b="19100"/>
          <a:stretch/>
        </p:blipFill>
        <p:spPr>
          <a:xfrm>
            <a:off x="35496" y="116633"/>
            <a:ext cx="8724900" cy="2088231"/>
          </a:xfrm>
          <a:prstGeom prst="rect">
            <a:avLst/>
          </a:prstGeom>
        </p:spPr>
      </p:pic>
      <p:sp>
        <p:nvSpPr>
          <p:cNvPr id="5" name="文本框 4"/>
          <p:cNvSpPr txBox="1"/>
          <p:nvPr/>
        </p:nvSpPr>
        <p:spPr>
          <a:xfrm>
            <a:off x="971600" y="2204864"/>
            <a:ext cx="7850226" cy="430887"/>
          </a:xfrm>
          <a:prstGeom prst="rect">
            <a:avLst/>
          </a:prstGeom>
          <a:noFill/>
        </p:spPr>
        <p:txBody>
          <a:bodyPr wrap="none" rtlCol="0">
            <a:spAutoFit/>
          </a:bodyPr>
          <a:lstStyle/>
          <a:p>
            <a:r>
              <a:rPr lang="en-US" altLang="zh-CN" sz="2200" b="1">
                <a:solidFill>
                  <a:schemeClr val="tx1"/>
                </a:solidFill>
                <a:latin typeface="黑体" panose="02010609060101010101" pitchFamily="49" charset="-122"/>
                <a:ea typeface="黑体" panose="02010609060101010101" pitchFamily="49" charset="-122"/>
              </a:rPr>
              <a:t>3</a:t>
            </a:r>
            <a:r>
              <a:rPr lang="zh-CN" altLang="en-US" sz="2200" b="1">
                <a:solidFill>
                  <a:schemeClr val="tx1"/>
                </a:solidFill>
                <a:latin typeface="黑体" panose="02010609060101010101" pitchFamily="49" charset="-122"/>
                <a:ea typeface="黑体" panose="02010609060101010101" pitchFamily="49" charset="-122"/>
              </a:rPr>
              <a:t>、把点电荷移开球心</a:t>
            </a:r>
            <a:r>
              <a:rPr lang="en-US" altLang="zh-CN" sz="2200" b="1">
                <a:solidFill>
                  <a:schemeClr val="tx1"/>
                </a:solidFill>
                <a:latin typeface="黑体" panose="02010609060101010101" pitchFamily="49" charset="-122"/>
                <a:ea typeface="黑体" panose="02010609060101010101" pitchFamily="49" charset="-122"/>
              </a:rPr>
              <a:t>1.0cm</a:t>
            </a:r>
            <a:r>
              <a:rPr lang="zh-CN" altLang="en-US" sz="2200" b="1">
                <a:solidFill>
                  <a:schemeClr val="tx1"/>
                </a:solidFill>
                <a:latin typeface="黑体" panose="02010609060101010101" pitchFamily="49" charset="-122"/>
                <a:ea typeface="黑体" panose="02010609060101010101" pitchFamily="49" charset="-122"/>
              </a:rPr>
              <a:t>后导体球壳的电势和球心的电势。</a:t>
            </a:r>
          </a:p>
        </p:txBody>
      </p:sp>
      <p:pic>
        <p:nvPicPr>
          <p:cNvPr id="6" name="图片 5"/>
          <p:cNvPicPr>
            <a:picLocks noChangeAspect="1"/>
          </p:cNvPicPr>
          <p:nvPr/>
        </p:nvPicPr>
        <p:blipFill>
          <a:blip r:embed="rId3"/>
          <a:stretch>
            <a:fillRect/>
          </a:stretch>
        </p:blipFill>
        <p:spPr>
          <a:xfrm>
            <a:off x="251520" y="2682308"/>
            <a:ext cx="8753475" cy="4191000"/>
          </a:xfrm>
          <a:prstGeom prst="rect">
            <a:avLst/>
          </a:prstGeom>
        </p:spPr>
      </p:pic>
      <p:sp>
        <p:nvSpPr>
          <p:cNvPr id="2" name="文本框 1"/>
          <p:cNvSpPr txBox="1"/>
          <p:nvPr/>
        </p:nvSpPr>
        <p:spPr>
          <a:xfrm>
            <a:off x="971600" y="2852936"/>
            <a:ext cx="4968552" cy="3888432"/>
          </a:xfrm>
          <a:prstGeom prst="rect">
            <a:avLst/>
          </a:prstGeom>
          <a:solidFill>
            <a:schemeClr val="bg1"/>
          </a:solidFill>
        </p:spPr>
        <p:txBody>
          <a:bodyPr wrap="square" rtlCol="0">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93079" y="176502"/>
            <a:ext cx="8626588" cy="6504996"/>
          </a:xfrm>
          <a:prstGeom prst="rect">
            <a:avLst/>
          </a:prstGeom>
        </p:spPr>
      </p:pic>
      <p:cxnSp>
        <p:nvCxnSpPr>
          <p:cNvPr id="8" name="直接箭头连接符 7"/>
          <p:cNvCxnSpPr/>
          <p:nvPr/>
        </p:nvCxnSpPr>
        <p:spPr bwMode="auto">
          <a:xfrm flipH="1" flipV="1">
            <a:off x="7186791" y="4945523"/>
            <a:ext cx="150483" cy="515784"/>
          </a:xfrm>
          <a:prstGeom prst="straightConnector1">
            <a:avLst/>
          </a:prstGeom>
          <a:solidFill>
            <a:srgbClr val="FFFF66"/>
          </a:solidFill>
          <a:ln w="38100" cap="flat" cmpd="sng" algn="ctr">
            <a:solidFill>
              <a:srgbClr val="FF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文本框 12"/>
          <p:cNvSpPr txBox="1"/>
          <p:nvPr/>
        </p:nvSpPr>
        <p:spPr>
          <a:xfrm>
            <a:off x="6660232" y="4653136"/>
            <a:ext cx="344966" cy="584775"/>
          </a:xfrm>
          <a:prstGeom prst="rect">
            <a:avLst/>
          </a:prstGeom>
          <a:noFill/>
        </p:spPr>
        <p:txBody>
          <a:bodyPr wrap="none" rtlCol="0">
            <a:spAutoFit/>
          </a:bodyPr>
          <a:lstStyle/>
          <a:p>
            <a:r>
              <a:rPr lang="en-US" altLang="zh-CN" sz="3200" b="1" i="1"/>
              <a:t>r</a:t>
            </a:r>
            <a:endParaRPr lang="zh-CN" altLang="en-US" sz="3200" b="1" i="1"/>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260648"/>
            <a:ext cx="1863011" cy="400110"/>
          </a:xfrm>
          <a:prstGeom prst="rect">
            <a:avLst/>
          </a:prstGeom>
        </p:spPr>
        <p:txBody>
          <a:bodyPr wrap="none">
            <a:spAutoFit/>
          </a:bodyPr>
          <a:lstStyle/>
          <a:p>
            <a:r>
              <a:rPr lang="en-US" altLang="zh-CN" b="1">
                <a:solidFill>
                  <a:schemeClr val="tx1"/>
                </a:solidFill>
                <a:latin typeface="黑体" panose="02010609060101010101" pitchFamily="49" charset="-122"/>
                <a:ea typeface="黑体" panose="02010609060101010101" pitchFamily="49" charset="-122"/>
              </a:rPr>
              <a:t>3</a:t>
            </a:r>
            <a:r>
              <a:rPr lang="zh-CN" altLang="en-US" b="1">
                <a:solidFill>
                  <a:schemeClr val="tx1"/>
                </a:solidFill>
                <a:latin typeface="黑体" panose="02010609060101010101" pitchFamily="49" charset="-122"/>
                <a:ea typeface="黑体" panose="02010609060101010101" pitchFamily="49" charset="-122"/>
              </a:rPr>
              <a:t>、球心的电势</a:t>
            </a:r>
          </a:p>
        </p:txBody>
      </p:sp>
      <p:sp>
        <p:nvSpPr>
          <p:cNvPr id="3" name="Text Box 53"/>
          <p:cNvSpPr txBox="1">
            <a:spLocks noChangeArrowheads="1"/>
          </p:cNvSpPr>
          <p:nvPr/>
        </p:nvSpPr>
        <p:spPr bwMode="auto">
          <a:xfrm>
            <a:off x="7312868" y="2004267"/>
            <a:ext cx="533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D60093"/>
                </a:solidFill>
                <a:ea typeface="楷体_GB2312"/>
              </a:rPr>
              <a:t>2</a:t>
            </a:r>
          </a:p>
        </p:txBody>
      </p:sp>
      <p:sp>
        <p:nvSpPr>
          <p:cNvPr id="4" name="Text Box 11"/>
          <p:cNvSpPr txBox="1">
            <a:spLocks noChangeArrowheads="1"/>
          </p:cNvSpPr>
          <p:nvPr/>
        </p:nvSpPr>
        <p:spPr bwMode="auto">
          <a:xfrm>
            <a:off x="7960568" y="1205754"/>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5" name="AutoShape 13"/>
          <p:cNvSpPr>
            <a:spLocks noChangeArrowheads="1"/>
          </p:cNvSpPr>
          <p:nvPr/>
        </p:nvSpPr>
        <p:spPr bwMode="auto">
          <a:xfrm>
            <a:off x="6284168" y="596154"/>
            <a:ext cx="2438400" cy="2286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837" y="10800"/>
                </a:moveTo>
                <a:cubicBezTo>
                  <a:pt x="3837" y="14646"/>
                  <a:pt x="6954" y="17763"/>
                  <a:pt x="10800" y="17763"/>
                </a:cubicBezTo>
                <a:cubicBezTo>
                  <a:pt x="14646" y="17763"/>
                  <a:pt x="17763" y="14646"/>
                  <a:pt x="17763" y="10800"/>
                </a:cubicBezTo>
                <a:cubicBezTo>
                  <a:pt x="17763" y="6954"/>
                  <a:pt x="14646" y="3837"/>
                  <a:pt x="10800" y="3837"/>
                </a:cubicBezTo>
                <a:cubicBezTo>
                  <a:pt x="6954" y="3837"/>
                  <a:pt x="3837" y="6954"/>
                  <a:pt x="3837" y="10800"/>
                </a:cubicBezTo>
                <a:close/>
              </a:path>
            </a:pathLst>
          </a:custGeom>
          <a:solidFill>
            <a:schemeClr val="hlink"/>
          </a:solidFill>
          <a:ln w="9525">
            <a:solidFill>
              <a:schemeClr val="tx1"/>
            </a:solidFill>
            <a:round/>
            <a:headEnd/>
            <a:tailEnd/>
          </a:ln>
        </p:spPr>
        <p:txBody>
          <a:bodyPr wrap="none" anchor="ctr"/>
          <a:lstStyle/>
          <a:p>
            <a:endParaRPr lang="zh-CN" altLang="en-US"/>
          </a:p>
        </p:txBody>
      </p:sp>
      <p:sp>
        <p:nvSpPr>
          <p:cNvPr id="6" name="Text Box 14"/>
          <p:cNvSpPr txBox="1">
            <a:spLocks noChangeArrowheads="1"/>
          </p:cNvSpPr>
          <p:nvPr/>
        </p:nvSpPr>
        <p:spPr bwMode="auto">
          <a:xfrm>
            <a:off x="7884368" y="1434354"/>
            <a:ext cx="914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i="1">
                <a:solidFill>
                  <a:schemeClr val="tx2"/>
                </a:solidFill>
                <a:ea typeface="楷体_GB2312"/>
              </a:rPr>
              <a:t>q</a:t>
            </a:r>
          </a:p>
        </p:txBody>
      </p:sp>
      <p:grpSp>
        <p:nvGrpSpPr>
          <p:cNvPr id="7" name="Group 16"/>
          <p:cNvGrpSpPr>
            <a:grpSpLocks/>
          </p:cNvGrpSpPr>
          <p:nvPr/>
        </p:nvGrpSpPr>
        <p:grpSpPr bwMode="auto">
          <a:xfrm>
            <a:off x="7490668" y="1561354"/>
            <a:ext cx="457200" cy="396875"/>
            <a:chOff x="4504" y="3056"/>
            <a:chExt cx="288" cy="250"/>
          </a:xfrm>
        </p:grpSpPr>
        <p:sp>
          <p:nvSpPr>
            <p:cNvPr id="8" name="Oval 17"/>
            <p:cNvSpPr>
              <a:spLocks noChangeArrowheads="1"/>
            </p:cNvSpPr>
            <p:nvPr/>
          </p:nvSpPr>
          <p:spPr bwMode="auto">
            <a:xfrm>
              <a:off x="4560" y="3120"/>
              <a:ext cx="144" cy="144"/>
            </a:xfrm>
            <a:prstGeom prst="ellipse">
              <a:avLst/>
            </a:prstGeom>
            <a:solidFill>
              <a:srgbClr val="0066FF"/>
            </a:solidFill>
            <a:ln w="28575">
              <a:solidFill>
                <a:srgbClr val="CC66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ea typeface="楷体_GB2312"/>
              </a:endParaRPr>
            </a:p>
          </p:txBody>
        </p:sp>
        <p:sp>
          <p:nvSpPr>
            <p:cNvPr id="9" name="Text Box 18"/>
            <p:cNvSpPr txBox="1">
              <a:spLocks noChangeArrowheads="1"/>
            </p:cNvSpPr>
            <p:nvPr/>
          </p:nvSpPr>
          <p:spPr bwMode="auto">
            <a:xfrm>
              <a:off x="4504" y="3056"/>
              <a:ext cx="288"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FF0000"/>
                  </a:solidFill>
                  <a:ea typeface="楷体_GB2312"/>
                </a:rPr>
                <a:t>＋</a:t>
              </a:r>
            </a:p>
          </p:txBody>
        </p:sp>
      </p:grpSp>
      <p:sp>
        <p:nvSpPr>
          <p:cNvPr id="10" name="Text Box 19"/>
          <p:cNvSpPr txBox="1">
            <a:spLocks noChangeArrowheads="1"/>
          </p:cNvSpPr>
          <p:nvPr/>
        </p:nvSpPr>
        <p:spPr bwMode="auto">
          <a:xfrm>
            <a:off x="6817568" y="2028079"/>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1" name="Text Box 20"/>
          <p:cNvSpPr txBox="1">
            <a:spLocks noChangeArrowheads="1"/>
          </p:cNvSpPr>
          <p:nvPr/>
        </p:nvSpPr>
        <p:spPr bwMode="auto">
          <a:xfrm>
            <a:off x="7274768" y="2196354"/>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2" name="Text Box 21"/>
          <p:cNvSpPr txBox="1">
            <a:spLocks noChangeArrowheads="1"/>
          </p:cNvSpPr>
          <p:nvPr/>
        </p:nvSpPr>
        <p:spPr bwMode="auto">
          <a:xfrm>
            <a:off x="7808168" y="1891554"/>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3" name="Text Box 22"/>
          <p:cNvSpPr txBox="1">
            <a:spLocks noChangeArrowheads="1"/>
          </p:cNvSpPr>
          <p:nvPr/>
        </p:nvSpPr>
        <p:spPr bwMode="auto">
          <a:xfrm>
            <a:off x="6741368" y="1189879"/>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4" name="Text Box 23"/>
          <p:cNvSpPr txBox="1">
            <a:spLocks noChangeArrowheads="1"/>
          </p:cNvSpPr>
          <p:nvPr/>
        </p:nvSpPr>
        <p:spPr bwMode="auto">
          <a:xfrm>
            <a:off x="7427168" y="885079"/>
            <a:ext cx="6858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5" name="Text Box 24"/>
          <p:cNvSpPr txBox="1">
            <a:spLocks noChangeArrowheads="1"/>
          </p:cNvSpPr>
          <p:nvPr/>
        </p:nvSpPr>
        <p:spPr bwMode="auto">
          <a:xfrm>
            <a:off x="6207968" y="2272554"/>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6" name="Text Box 25"/>
          <p:cNvSpPr txBox="1">
            <a:spLocks noChangeArrowheads="1"/>
          </p:cNvSpPr>
          <p:nvPr/>
        </p:nvSpPr>
        <p:spPr bwMode="auto">
          <a:xfrm>
            <a:off x="7427168" y="2805954"/>
            <a:ext cx="6096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7" name="Text Box 26"/>
          <p:cNvSpPr txBox="1">
            <a:spLocks noChangeArrowheads="1"/>
          </p:cNvSpPr>
          <p:nvPr/>
        </p:nvSpPr>
        <p:spPr bwMode="auto">
          <a:xfrm>
            <a:off x="8493968" y="2043954"/>
            <a:ext cx="4572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8" name="Text Box 27"/>
          <p:cNvSpPr txBox="1">
            <a:spLocks noChangeArrowheads="1"/>
          </p:cNvSpPr>
          <p:nvPr/>
        </p:nvSpPr>
        <p:spPr bwMode="auto">
          <a:xfrm>
            <a:off x="8265368" y="672354"/>
            <a:ext cx="3810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19" name="Text Box 28"/>
          <p:cNvSpPr txBox="1">
            <a:spLocks noChangeArrowheads="1"/>
          </p:cNvSpPr>
          <p:nvPr/>
        </p:nvSpPr>
        <p:spPr bwMode="auto">
          <a:xfrm>
            <a:off x="7046168" y="275479"/>
            <a:ext cx="6096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20" name="Text Box 29"/>
          <p:cNvSpPr txBox="1">
            <a:spLocks noChangeArrowheads="1"/>
          </p:cNvSpPr>
          <p:nvPr/>
        </p:nvSpPr>
        <p:spPr bwMode="auto">
          <a:xfrm>
            <a:off x="6055568" y="977154"/>
            <a:ext cx="533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chemeClr val="tx2"/>
                </a:solidFill>
                <a:ea typeface="楷体_GB2312"/>
              </a:rPr>
              <a:t>＋</a:t>
            </a:r>
          </a:p>
        </p:txBody>
      </p:sp>
      <p:sp>
        <p:nvSpPr>
          <p:cNvPr id="21" name="Line 30"/>
          <p:cNvSpPr>
            <a:spLocks noChangeShapeType="1"/>
          </p:cNvSpPr>
          <p:nvPr/>
        </p:nvSpPr>
        <p:spPr bwMode="auto">
          <a:xfrm flipH="1">
            <a:off x="6893768" y="1815354"/>
            <a:ext cx="762000" cy="3810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31"/>
          <p:cNvSpPr>
            <a:spLocks noChangeShapeType="1"/>
          </p:cNvSpPr>
          <p:nvPr/>
        </p:nvSpPr>
        <p:spPr bwMode="auto">
          <a:xfrm flipH="1">
            <a:off x="7655768" y="1891554"/>
            <a:ext cx="0" cy="609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32"/>
          <p:cNvSpPr>
            <a:spLocks noChangeShapeType="1"/>
          </p:cNvSpPr>
          <p:nvPr/>
        </p:nvSpPr>
        <p:spPr bwMode="auto">
          <a:xfrm>
            <a:off x="7808168" y="1815354"/>
            <a:ext cx="4572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33"/>
          <p:cNvSpPr>
            <a:spLocks noChangeShapeType="1"/>
          </p:cNvSpPr>
          <p:nvPr/>
        </p:nvSpPr>
        <p:spPr bwMode="auto">
          <a:xfrm flipV="1">
            <a:off x="7808168" y="1281954"/>
            <a:ext cx="304800" cy="3810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34"/>
          <p:cNvSpPr>
            <a:spLocks noChangeShapeType="1"/>
          </p:cNvSpPr>
          <p:nvPr/>
        </p:nvSpPr>
        <p:spPr bwMode="auto">
          <a:xfrm flipH="1" flipV="1">
            <a:off x="7427168" y="977154"/>
            <a:ext cx="228600" cy="685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35"/>
          <p:cNvSpPr>
            <a:spLocks noChangeShapeType="1"/>
          </p:cNvSpPr>
          <p:nvPr/>
        </p:nvSpPr>
        <p:spPr bwMode="auto">
          <a:xfrm flipH="1" flipV="1">
            <a:off x="6741368" y="1510554"/>
            <a:ext cx="8382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49"/>
          <p:cNvSpPr>
            <a:spLocks noChangeShapeType="1"/>
          </p:cNvSpPr>
          <p:nvPr/>
        </p:nvSpPr>
        <p:spPr bwMode="auto">
          <a:xfrm>
            <a:off x="7646243" y="1988392"/>
            <a:ext cx="0" cy="76200"/>
          </a:xfrm>
          <a:prstGeom prst="line">
            <a:avLst/>
          </a:prstGeom>
          <a:noFill/>
          <a:ln w="57150">
            <a:solidFill>
              <a:srgbClr val="D6009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50"/>
          <p:cNvSpPr txBox="1">
            <a:spLocks noChangeArrowheads="1"/>
          </p:cNvSpPr>
          <p:nvPr/>
        </p:nvSpPr>
        <p:spPr bwMode="auto">
          <a:xfrm>
            <a:off x="7631956" y="1788367"/>
            <a:ext cx="457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solidFill>
                  <a:srgbClr val="D60093"/>
                </a:solidFill>
                <a:ea typeface="楷体_GB2312"/>
              </a:rPr>
              <a:t>1</a:t>
            </a:r>
          </a:p>
        </p:txBody>
      </p:sp>
      <p:sp>
        <p:nvSpPr>
          <p:cNvPr id="29" name="Line 51"/>
          <p:cNvSpPr>
            <a:spLocks noChangeShapeType="1"/>
          </p:cNvSpPr>
          <p:nvPr/>
        </p:nvSpPr>
        <p:spPr bwMode="auto">
          <a:xfrm>
            <a:off x="7646243" y="2191592"/>
            <a:ext cx="0" cy="76200"/>
          </a:xfrm>
          <a:prstGeom prst="line">
            <a:avLst/>
          </a:prstGeom>
          <a:noFill/>
          <a:ln w="57150">
            <a:solidFill>
              <a:srgbClr val="D60093"/>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矩形 30"/>
          <p:cNvSpPr/>
          <p:nvPr/>
        </p:nvSpPr>
        <p:spPr>
          <a:xfrm>
            <a:off x="271926" y="795593"/>
            <a:ext cx="5175250" cy="1631216"/>
          </a:xfrm>
          <a:prstGeom prst="rect">
            <a:avLst/>
          </a:prstGeom>
        </p:spPr>
        <p:txBody>
          <a:bodyPr wrap="square">
            <a:spAutoFit/>
          </a:bodyPr>
          <a:lstStyle/>
          <a:p>
            <a:r>
              <a:rPr lang="zh-CN" altLang="en-US" b="1">
                <a:solidFill>
                  <a:schemeClr val="tx1"/>
                </a:solidFill>
                <a:latin typeface="黑体" panose="02010609060101010101" pitchFamily="49" charset="-122"/>
                <a:ea typeface="黑体" panose="02010609060101010101" pitchFamily="49" charset="-122"/>
              </a:rPr>
              <a:t>把点电荷移开球心</a:t>
            </a:r>
            <a:r>
              <a:rPr lang="en-US" altLang="zh-CN" b="1">
                <a:solidFill>
                  <a:schemeClr val="tx1"/>
                </a:solidFill>
                <a:latin typeface="黑体" panose="02010609060101010101" pitchFamily="49" charset="-122"/>
                <a:ea typeface="黑体" panose="02010609060101010101" pitchFamily="49" charset="-122"/>
              </a:rPr>
              <a:t>1.0cm</a:t>
            </a:r>
            <a:r>
              <a:rPr lang="zh-CN" altLang="en-US" b="1">
                <a:solidFill>
                  <a:schemeClr val="tx1"/>
                </a:solidFill>
                <a:latin typeface="黑体" panose="02010609060101010101" pitchFamily="49" charset="-122"/>
                <a:ea typeface="黑体" panose="02010609060101010101" pitchFamily="49" charset="-122"/>
              </a:rPr>
              <a:t>后导体球心处的电势为点电荷</a:t>
            </a:r>
            <a:r>
              <a:rPr lang="en-US" altLang="zh-CN" b="1">
                <a:solidFill>
                  <a:schemeClr val="tx1"/>
                </a:solidFill>
                <a:latin typeface="黑体" panose="02010609060101010101" pitchFamily="49" charset="-122"/>
                <a:ea typeface="黑体" panose="02010609060101010101" pitchFamily="49" charset="-122"/>
              </a:rPr>
              <a:t>q</a:t>
            </a:r>
            <a:r>
              <a:rPr lang="zh-CN" altLang="en-US" b="1">
                <a:solidFill>
                  <a:schemeClr val="tx1"/>
                </a:solidFill>
                <a:latin typeface="黑体" panose="02010609060101010101" pitchFamily="49" charset="-122"/>
                <a:ea typeface="黑体" panose="02010609060101010101" pitchFamily="49" charset="-122"/>
              </a:rPr>
              <a:t>和内表面的电荷</a:t>
            </a:r>
            <a:r>
              <a:rPr lang="en-US" altLang="zh-CN" b="1">
                <a:solidFill>
                  <a:schemeClr val="tx1"/>
                </a:solidFill>
                <a:latin typeface="黑体" panose="02010609060101010101" pitchFamily="49" charset="-122"/>
                <a:ea typeface="黑体" panose="02010609060101010101" pitchFamily="49" charset="-122"/>
              </a:rPr>
              <a:t>-q</a:t>
            </a:r>
            <a:r>
              <a:rPr lang="zh-CN" altLang="en-US" b="1">
                <a:solidFill>
                  <a:schemeClr val="tx1"/>
                </a:solidFill>
                <a:latin typeface="黑体" panose="02010609060101010101" pitchFamily="49" charset="-122"/>
                <a:ea typeface="黑体" panose="02010609060101010101" pitchFamily="49" charset="-122"/>
              </a:rPr>
              <a:t>及外表面</a:t>
            </a:r>
            <a:r>
              <a:rPr lang="en-US" altLang="zh-CN" b="1">
                <a:solidFill>
                  <a:schemeClr val="tx1"/>
                </a:solidFill>
                <a:latin typeface="黑体" panose="02010609060101010101" pitchFamily="49" charset="-122"/>
                <a:ea typeface="黑体" panose="02010609060101010101" pitchFamily="49" charset="-122"/>
              </a:rPr>
              <a:t>+q</a:t>
            </a:r>
            <a:r>
              <a:rPr lang="zh-CN" altLang="en-US" b="1">
                <a:solidFill>
                  <a:schemeClr val="tx1"/>
                </a:solidFill>
                <a:latin typeface="黑体" panose="02010609060101010101" pitchFamily="49" charset="-122"/>
                <a:ea typeface="黑体" panose="02010609060101010101" pitchFamily="49" charset="-122"/>
              </a:rPr>
              <a:t>产生的，内表面电荷不在是均匀分布，但外表面仍为均匀分布，内表面每一点距离球心都为</a:t>
            </a:r>
            <a:r>
              <a:rPr lang="en-US" altLang="zh-CN" b="1">
                <a:solidFill>
                  <a:schemeClr val="tx1"/>
                </a:solidFill>
                <a:latin typeface="黑体" panose="02010609060101010101" pitchFamily="49" charset="-122"/>
                <a:ea typeface="黑体" panose="02010609060101010101" pitchFamily="49" charset="-122"/>
              </a:rPr>
              <a:t>R</a:t>
            </a:r>
            <a:r>
              <a:rPr lang="en-US" altLang="zh-CN" b="1" baseline="-25000">
                <a:solidFill>
                  <a:schemeClr val="tx1"/>
                </a:solidFill>
                <a:latin typeface="黑体" panose="02010609060101010101" pitchFamily="49" charset="-122"/>
                <a:ea typeface="黑体" panose="02010609060101010101" pitchFamily="49" charset="-122"/>
              </a:rPr>
              <a:t>1</a:t>
            </a:r>
            <a:r>
              <a:rPr lang="zh-CN" altLang="en-US" b="1">
                <a:solidFill>
                  <a:schemeClr val="tx1"/>
                </a:solidFill>
                <a:latin typeface="黑体" panose="02010609060101010101" pitchFamily="49" charset="-122"/>
                <a:ea typeface="黑体" panose="02010609060101010101" pitchFamily="49" charset="-122"/>
              </a:rPr>
              <a:t>，三者在</a:t>
            </a:r>
            <a:r>
              <a:rPr lang="en-US" altLang="zh-CN" b="1">
                <a:solidFill>
                  <a:schemeClr val="tx1"/>
                </a:solidFill>
                <a:latin typeface="黑体" panose="02010609060101010101" pitchFamily="49" charset="-122"/>
                <a:ea typeface="黑体" panose="02010609060101010101" pitchFamily="49" charset="-122"/>
              </a:rPr>
              <a:t>O</a:t>
            </a:r>
            <a:r>
              <a:rPr lang="zh-CN" altLang="en-US" b="1">
                <a:solidFill>
                  <a:schemeClr val="tx1"/>
                </a:solidFill>
                <a:latin typeface="黑体" panose="02010609060101010101" pitchFamily="49" charset="-122"/>
                <a:ea typeface="黑体" panose="02010609060101010101" pitchFamily="49" charset="-122"/>
              </a:rPr>
              <a:t>点的电势分别为</a:t>
            </a:r>
          </a:p>
        </p:txBody>
      </p:sp>
      <p:graphicFrame>
        <p:nvGraphicFramePr>
          <p:cNvPr id="32" name="对象 31"/>
          <p:cNvGraphicFramePr>
            <a:graphicFrameLocks noChangeAspect="1"/>
          </p:cNvGraphicFramePr>
          <p:nvPr>
            <p:extLst>
              <p:ext uri="{D42A27DB-BD31-4B8C-83A1-F6EECF244321}">
                <p14:modId xmlns:p14="http://schemas.microsoft.com/office/powerpoint/2010/main" val="2510475095"/>
              </p:ext>
            </p:extLst>
          </p:nvPr>
        </p:nvGraphicFramePr>
        <p:xfrm>
          <a:off x="666750" y="3248866"/>
          <a:ext cx="6760418" cy="2619375"/>
        </p:xfrm>
        <a:graphic>
          <a:graphicData uri="http://schemas.openxmlformats.org/presentationml/2006/ole">
            <mc:AlternateContent xmlns:mc="http://schemas.openxmlformats.org/markup-compatibility/2006">
              <mc:Choice xmlns:v="urn:schemas-microsoft-com:vml" Requires="v">
                <p:oleObj spid="_x0000_s58421" name="Equation" r:id="rId3" imgW="2590560" imgH="1091880" progId="Equation.DSMT4">
                  <p:embed/>
                </p:oleObj>
              </mc:Choice>
              <mc:Fallback>
                <p:oleObj name="Equation" r:id="rId3" imgW="2590560" imgH="1091880" progId="Equation.DSMT4">
                  <p:embed/>
                  <p:pic>
                    <p:nvPicPr>
                      <p:cNvPr id="3" name="对象 2"/>
                      <p:cNvPicPr>
                        <a:picLocks noChangeAspect="1" noChangeArrowheads="1"/>
                      </p:cNvPicPr>
                      <p:nvPr/>
                    </p:nvPicPr>
                    <p:blipFill>
                      <a:blip r:embed="rId4"/>
                      <a:srcRect/>
                      <a:stretch>
                        <a:fillRect/>
                      </a:stretch>
                    </p:blipFill>
                    <p:spPr bwMode="auto">
                      <a:xfrm>
                        <a:off x="666750" y="3248866"/>
                        <a:ext cx="6760418" cy="2619375"/>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879624020"/>
      </p:ext>
    </p:ext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188640"/>
            <a:ext cx="8668569" cy="1932696"/>
          </a:xfrm>
          <a:prstGeom prst="rect">
            <a:avLst/>
          </a:prstGeom>
        </p:spPr>
      </p:pic>
      <p:pic>
        <p:nvPicPr>
          <p:cNvPr id="3" name="图片 2"/>
          <p:cNvPicPr>
            <a:picLocks noChangeAspect="1"/>
          </p:cNvPicPr>
          <p:nvPr/>
        </p:nvPicPr>
        <p:blipFill>
          <a:blip r:embed="rId3"/>
          <a:stretch>
            <a:fillRect/>
          </a:stretch>
        </p:blipFill>
        <p:spPr>
          <a:xfrm>
            <a:off x="5940152" y="2250038"/>
            <a:ext cx="3042717" cy="3370726"/>
          </a:xfrm>
          <a:prstGeom prst="rect">
            <a:avLst/>
          </a:prstGeom>
        </p:spPr>
      </p:pic>
      <p:pic>
        <p:nvPicPr>
          <p:cNvPr id="4" name="图片 3"/>
          <p:cNvPicPr>
            <a:picLocks noChangeAspect="1"/>
          </p:cNvPicPr>
          <p:nvPr/>
        </p:nvPicPr>
        <p:blipFill>
          <a:blip r:embed="rId4"/>
          <a:stretch>
            <a:fillRect/>
          </a:stretch>
        </p:blipFill>
        <p:spPr>
          <a:xfrm>
            <a:off x="106414" y="2121336"/>
            <a:ext cx="5803479" cy="4511782"/>
          </a:xfrm>
          <a:prstGeom prst="rect">
            <a:avLst/>
          </a:prstGeom>
        </p:spPr>
      </p:pic>
      <p:pic>
        <p:nvPicPr>
          <p:cNvPr id="5" name="图片 4"/>
          <p:cNvPicPr>
            <a:picLocks noChangeAspect="1"/>
          </p:cNvPicPr>
          <p:nvPr/>
        </p:nvPicPr>
        <p:blipFill>
          <a:blip r:embed="rId5"/>
          <a:stretch>
            <a:fillRect/>
          </a:stretch>
        </p:blipFill>
        <p:spPr>
          <a:xfrm>
            <a:off x="5733993" y="2110522"/>
            <a:ext cx="3386664" cy="3887019"/>
          </a:xfrm>
          <a:prstGeom prst="rect">
            <a:avLst/>
          </a:prstGeom>
        </p:spPr>
      </p:pic>
    </p:spTree>
    <p:extLst>
      <p:ext uri="{BB962C8B-B14F-4D97-AF65-F5344CB8AC3E}">
        <p14:creationId xmlns:p14="http://schemas.microsoft.com/office/powerpoint/2010/main" val="53588860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12982" y="21040"/>
            <a:ext cx="8718036" cy="6815919"/>
          </a:xfrm>
          <a:prstGeom prst="rect">
            <a:avLst/>
          </a:prstGeom>
        </p:spPr>
      </p:pic>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55658" y="341108"/>
            <a:ext cx="8632684" cy="6175783"/>
          </a:xfrm>
          <a:prstGeom prst="rect">
            <a:avLst/>
          </a:prstGeom>
        </p:spPr>
      </p:pic>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a:hlinkClick r:id="rId3"/>
          </p:cNvPr>
          <p:cNvSpPr>
            <a:spLocks noChangeArrowheads="1"/>
          </p:cNvSpPr>
          <p:nvPr/>
        </p:nvSpPr>
        <p:spPr bwMode="auto">
          <a:xfrm>
            <a:off x="2133600" y="152400"/>
            <a:ext cx="5140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3600" b="1">
                <a:solidFill>
                  <a:srgbClr val="CC0000"/>
                </a:solidFill>
                <a:ea typeface="楷体_GB2312"/>
              </a:rPr>
              <a:t>§7-7 </a:t>
            </a:r>
            <a:r>
              <a:rPr lang="zh-CN" altLang="en-US" sz="3600" b="1">
                <a:solidFill>
                  <a:srgbClr val="FF3300"/>
                </a:solidFill>
                <a:ea typeface="楷体_GB2312"/>
              </a:rPr>
              <a:t>电容器的电容</a:t>
            </a:r>
          </a:p>
        </p:txBody>
      </p:sp>
      <p:sp>
        <p:nvSpPr>
          <p:cNvPr id="435203" name="Text Box 3"/>
          <p:cNvSpPr txBox="1">
            <a:spLocks noChangeArrowheads="1"/>
          </p:cNvSpPr>
          <p:nvPr/>
        </p:nvSpPr>
        <p:spPr bwMode="auto">
          <a:xfrm>
            <a:off x="76200" y="990600"/>
            <a:ext cx="50292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b="1">
                <a:solidFill>
                  <a:schemeClr val="folHlink"/>
                </a:solidFill>
                <a:latin typeface="Arial" panose="020B0604020202020204" pitchFamily="34" charset="0"/>
                <a:ea typeface="楷体_GB2312"/>
              </a:rPr>
              <a:t>一、孤立导体的电容</a:t>
            </a:r>
          </a:p>
        </p:txBody>
      </p:sp>
      <p:sp>
        <p:nvSpPr>
          <p:cNvPr id="435204" name="Text Box 4"/>
          <p:cNvSpPr txBox="1">
            <a:spLocks noChangeArrowheads="1"/>
          </p:cNvSpPr>
          <p:nvPr/>
        </p:nvSpPr>
        <p:spPr bwMode="auto">
          <a:xfrm>
            <a:off x="457200" y="2924175"/>
            <a:ext cx="8382000" cy="822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ea typeface="楷体_GB2312"/>
              </a:rPr>
              <a:t>孤立导体是指其它导体或带电体都离它足够远，以至于其它导体或带电体对它的影响可以忽略不计。</a:t>
            </a:r>
          </a:p>
        </p:txBody>
      </p:sp>
      <p:sp>
        <p:nvSpPr>
          <p:cNvPr id="435205" name="Text Box 5"/>
          <p:cNvSpPr txBox="1">
            <a:spLocks noChangeArrowheads="1"/>
          </p:cNvSpPr>
          <p:nvPr/>
        </p:nvSpPr>
        <p:spPr bwMode="auto">
          <a:xfrm>
            <a:off x="457200" y="3786188"/>
            <a:ext cx="8229600" cy="463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ea typeface="楷体_GB2312"/>
              </a:rPr>
              <a:t>真空中一个半径为</a:t>
            </a:r>
            <a:r>
              <a:rPr lang="en-US" altLang="zh-CN" sz="2400" b="1" i="1">
                <a:ea typeface="楷体_GB2312"/>
              </a:rPr>
              <a:t>R</a:t>
            </a:r>
            <a:r>
              <a:rPr lang="zh-CN" altLang="en-US" sz="2400" b="1">
                <a:ea typeface="楷体_GB2312"/>
              </a:rPr>
              <a:t>、带电量为</a:t>
            </a:r>
            <a:r>
              <a:rPr lang="en-US" altLang="zh-CN" sz="2400" b="1" i="1">
                <a:ea typeface="楷体_GB2312"/>
              </a:rPr>
              <a:t>q </a:t>
            </a:r>
            <a:r>
              <a:rPr lang="zh-CN" altLang="en-US" sz="2400" b="1">
                <a:ea typeface="楷体_GB2312"/>
              </a:rPr>
              <a:t>的孤立球形导体的电势为</a:t>
            </a:r>
          </a:p>
        </p:txBody>
      </p:sp>
      <p:graphicFrame>
        <p:nvGraphicFramePr>
          <p:cNvPr id="435206" name="Object 6"/>
          <p:cNvGraphicFramePr>
            <a:graphicFrameLocks noChangeAspect="1"/>
          </p:cNvGraphicFramePr>
          <p:nvPr/>
        </p:nvGraphicFramePr>
        <p:xfrm>
          <a:off x="2667000" y="4275138"/>
          <a:ext cx="1600200" cy="962025"/>
        </p:xfrm>
        <a:graphic>
          <a:graphicData uri="http://schemas.openxmlformats.org/presentationml/2006/ole">
            <mc:AlternateContent xmlns:mc="http://schemas.openxmlformats.org/markup-compatibility/2006">
              <mc:Choice xmlns:v="urn:schemas-microsoft-com:vml" Requires="v">
                <p:oleObj spid="_x0000_s37006" name="公式" r:id="rId4" imgW="736280" imgH="444307" progId="Equation.3">
                  <p:embed/>
                </p:oleObj>
              </mc:Choice>
              <mc:Fallback>
                <p:oleObj name="公式" r:id="rId4" imgW="736280" imgH="444307"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4275138"/>
                        <a:ext cx="1600200" cy="9620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5207" name="Text Box 7"/>
          <p:cNvSpPr txBox="1">
            <a:spLocks noChangeArrowheads="1"/>
          </p:cNvSpPr>
          <p:nvPr/>
        </p:nvSpPr>
        <p:spPr bwMode="auto">
          <a:xfrm>
            <a:off x="323850" y="5229225"/>
            <a:ext cx="8435975" cy="1187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b="1">
                <a:ea typeface="楷体_GB2312"/>
              </a:rPr>
              <a:t>电量与电势的比值却是一个常量，只与导体的形状有关，由此可以引入</a:t>
            </a:r>
            <a:r>
              <a:rPr lang="zh-CN" altLang="en-US" sz="2400" b="1">
                <a:solidFill>
                  <a:srgbClr val="FF3300"/>
                </a:solidFill>
                <a:ea typeface="楷体_GB2312"/>
              </a:rPr>
              <a:t>电容</a:t>
            </a:r>
            <a:r>
              <a:rPr lang="zh-CN" altLang="en-US" sz="2400" b="1">
                <a:ea typeface="楷体_GB2312"/>
              </a:rPr>
              <a:t>的概念。</a:t>
            </a:r>
            <a:r>
              <a:rPr lang="zh-CN" altLang="en-US" sz="2400" b="1">
                <a:solidFill>
                  <a:srgbClr val="FF3300"/>
                </a:solidFill>
                <a:ea typeface="楷体_GB2312"/>
              </a:rPr>
              <a:t>反映导体储存电荷或电能的能力的物理量；</a:t>
            </a:r>
          </a:p>
        </p:txBody>
      </p:sp>
      <p:grpSp>
        <p:nvGrpSpPr>
          <p:cNvPr id="435208" name="Group 8"/>
          <p:cNvGrpSpPr>
            <a:grpSpLocks/>
          </p:cNvGrpSpPr>
          <p:nvPr/>
        </p:nvGrpSpPr>
        <p:grpSpPr bwMode="auto">
          <a:xfrm>
            <a:off x="176213" y="1828800"/>
            <a:ext cx="2795587" cy="762000"/>
            <a:chOff x="111" y="1392"/>
            <a:chExt cx="1761" cy="480"/>
          </a:xfrm>
        </p:grpSpPr>
        <p:sp>
          <p:nvSpPr>
            <p:cNvPr id="36874" name="Text Box 9"/>
            <p:cNvSpPr txBox="1">
              <a:spLocks noChangeArrowheads="1"/>
            </p:cNvSpPr>
            <p:nvPr/>
          </p:nvSpPr>
          <p:spPr bwMode="auto">
            <a:xfrm>
              <a:off x="111" y="1440"/>
              <a:ext cx="1761"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1</a:t>
              </a:r>
              <a:r>
                <a:rPr lang="zh-CN" altLang="en-US" sz="2800" b="1">
                  <a:solidFill>
                    <a:srgbClr val="3333FF"/>
                  </a:solidFill>
                  <a:ea typeface="楷体_GB2312"/>
                </a:rPr>
                <a:t>、引入</a:t>
              </a:r>
            </a:p>
          </p:txBody>
        </p:sp>
        <p:sp>
          <p:nvSpPr>
            <p:cNvPr id="36875" name="AutoShape 10"/>
            <p:cNvSpPr>
              <a:spLocks noChangeArrowheads="1"/>
            </p:cNvSpPr>
            <p:nvPr/>
          </p:nvSpPr>
          <p:spPr bwMode="auto">
            <a:xfrm>
              <a:off x="192" y="1392"/>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1</a:t>
              </a:r>
            </a:p>
          </p:txBody>
        </p:sp>
      </p:grpSp>
      <p:graphicFrame>
        <p:nvGraphicFramePr>
          <p:cNvPr id="435211" name="Object 11"/>
          <p:cNvGraphicFramePr>
            <a:graphicFrameLocks noChangeAspect="1"/>
          </p:cNvGraphicFramePr>
          <p:nvPr/>
        </p:nvGraphicFramePr>
        <p:xfrm>
          <a:off x="4727575" y="5997575"/>
          <a:ext cx="1847850" cy="744538"/>
        </p:xfrm>
        <a:graphic>
          <a:graphicData uri="http://schemas.openxmlformats.org/presentationml/2006/ole">
            <mc:AlternateContent xmlns:mc="http://schemas.openxmlformats.org/markup-compatibility/2006">
              <mc:Choice xmlns:v="urn:schemas-microsoft-com:vml" Requires="v">
                <p:oleObj spid="_x0000_s37007" name="Equation" r:id="rId6" imgW="1002865" imgH="406224" progId="Equation.DSMT4">
                  <p:embed/>
                </p:oleObj>
              </mc:Choice>
              <mc:Fallback>
                <p:oleObj name="Equation" r:id="rId6" imgW="1002865" imgH="406224"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7575" y="5997575"/>
                        <a:ext cx="1847850" cy="74453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5202"/>
                                        </p:tgtEl>
                                        <p:attrNameLst>
                                          <p:attrName>style.visibility</p:attrName>
                                        </p:attrNameLst>
                                      </p:cBhvr>
                                      <p:to>
                                        <p:strVal val="visible"/>
                                      </p:to>
                                    </p:set>
                                    <p:animEffect transition="in" filter="wipe(left)">
                                      <p:cBhvr>
                                        <p:cTn id="7" dur="500"/>
                                        <p:tgtEl>
                                          <p:spTgt spid="4352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5203"/>
                                        </p:tgtEl>
                                        <p:attrNameLst>
                                          <p:attrName>style.visibility</p:attrName>
                                        </p:attrNameLst>
                                      </p:cBhvr>
                                      <p:to>
                                        <p:strVal val="visible"/>
                                      </p:to>
                                    </p:set>
                                    <p:animEffect transition="in" filter="wipe(left)">
                                      <p:cBhvr>
                                        <p:cTn id="12" dur="500"/>
                                        <p:tgtEl>
                                          <p:spTgt spid="4352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35208"/>
                                        </p:tgtEl>
                                        <p:attrNameLst>
                                          <p:attrName>style.visibility</p:attrName>
                                        </p:attrNameLst>
                                      </p:cBhvr>
                                      <p:to>
                                        <p:strVal val="visible"/>
                                      </p:to>
                                    </p:set>
                                    <p:animEffect transition="in" filter="wipe(left)">
                                      <p:cBhvr>
                                        <p:cTn id="17" dur="500"/>
                                        <p:tgtEl>
                                          <p:spTgt spid="4352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435204">
                                            <p:txEl>
                                              <p:pRg st="0" end="0"/>
                                            </p:txEl>
                                          </p:spTgt>
                                        </p:tgtEl>
                                        <p:attrNameLst>
                                          <p:attrName>style.visibility</p:attrName>
                                        </p:attrNameLst>
                                      </p:cBhvr>
                                      <p:to>
                                        <p:strVal val="visible"/>
                                      </p:to>
                                    </p:set>
                                    <p:animEffect transition="in" filter="wipe(left)">
                                      <p:cBhvr>
                                        <p:cTn id="22" dur="75"/>
                                        <p:tgtEl>
                                          <p:spTgt spid="43520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435205">
                                            <p:txEl>
                                              <p:pRg st="0" end="0"/>
                                            </p:txEl>
                                          </p:spTgt>
                                        </p:tgtEl>
                                        <p:attrNameLst>
                                          <p:attrName>style.visibility</p:attrName>
                                        </p:attrNameLst>
                                      </p:cBhvr>
                                      <p:to>
                                        <p:strVal val="visible"/>
                                      </p:to>
                                    </p:set>
                                    <p:animEffect transition="in" filter="wipe(left)">
                                      <p:cBhvr>
                                        <p:cTn id="27" dur="75"/>
                                        <p:tgtEl>
                                          <p:spTgt spid="43520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35206"/>
                                        </p:tgtEl>
                                        <p:attrNameLst>
                                          <p:attrName>style.visibility</p:attrName>
                                        </p:attrNameLst>
                                      </p:cBhvr>
                                      <p:to>
                                        <p:strVal val="visible"/>
                                      </p:to>
                                    </p:set>
                                    <p:animEffect transition="in" filter="wipe(left)">
                                      <p:cBhvr>
                                        <p:cTn id="32" dur="500"/>
                                        <p:tgtEl>
                                          <p:spTgt spid="43520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435207">
                                            <p:txEl>
                                              <p:pRg st="0" end="0"/>
                                            </p:txEl>
                                          </p:spTgt>
                                        </p:tgtEl>
                                        <p:attrNameLst>
                                          <p:attrName>style.visibility</p:attrName>
                                        </p:attrNameLst>
                                      </p:cBhvr>
                                      <p:to>
                                        <p:strVal val="visible"/>
                                      </p:to>
                                    </p:set>
                                    <p:animEffect transition="in" filter="wipe(left)">
                                      <p:cBhvr>
                                        <p:cTn id="37" dur="75"/>
                                        <p:tgtEl>
                                          <p:spTgt spid="43520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35211"/>
                                        </p:tgtEl>
                                        <p:attrNameLst>
                                          <p:attrName>style.visibility</p:attrName>
                                        </p:attrNameLst>
                                      </p:cBhvr>
                                      <p:to>
                                        <p:strVal val="visible"/>
                                      </p:to>
                                    </p:set>
                                    <p:animEffect transition="in" filter="wipe(left)">
                                      <p:cBhvr>
                                        <p:cTn id="42" dur="500"/>
                                        <p:tgtEl>
                                          <p:spTgt spid="435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2" grpId="0" autoUpdateAnimBg="0"/>
      <p:bldP spid="435203" grpId="0" animBg="1" autoUpdateAnimBg="0"/>
      <p:bldP spid="435204" grpId="0" build="p" autoUpdateAnimBg="0"/>
      <p:bldP spid="435205" grpId="0" build="p" autoUpdateAnimBg="0"/>
      <p:bldP spid="435207"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Text Box 2"/>
          <p:cNvSpPr txBox="1">
            <a:spLocks noChangeArrowheads="1"/>
          </p:cNvSpPr>
          <p:nvPr/>
        </p:nvSpPr>
        <p:spPr bwMode="auto">
          <a:xfrm>
            <a:off x="533400" y="1112838"/>
            <a:ext cx="3657600" cy="1187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b="1">
                <a:solidFill>
                  <a:srgbClr val="FF3300"/>
                </a:solidFill>
                <a:ea typeface="楷体_GB2312"/>
              </a:rPr>
              <a:t>孤立导体所带的电量与其电势的比值叫做孤立导体的电容</a:t>
            </a:r>
            <a:endParaRPr lang="zh-CN" altLang="en-US" sz="1800" b="1">
              <a:ea typeface="楷体_GB2312"/>
            </a:endParaRPr>
          </a:p>
        </p:txBody>
      </p:sp>
      <p:graphicFrame>
        <p:nvGraphicFramePr>
          <p:cNvPr id="436227" name="Object 3"/>
          <p:cNvGraphicFramePr>
            <a:graphicFrameLocks noChangeAspect="1"/>
          </p:cNvGraphicFramePr>
          <p:nvPr/>
        </p:nvGraphicFramePr>
        <p:xfrm>
          <a:off x="2057400" y="2438400"/>
          <a:ext cx="914400" cy="809625"/>
        </p:xfrm>
        <a:graphic>
          <a:graphicData uri="http://schemas.openxmlformats.org/presentationml/2006/ole">
            <mc:AlternateContent xmlns:mc="http://schemas.openxmlformats.org/markup-compatibility/2006">
              <mc:Choice xmlns:v="urn:schemas-microsoft-com:vml" Requires="v">
                <p:oleObj spid="_x0000_s38037" name="公式" r:id="rId4" imgW="457002" imgH="406224" progId="Equation.3">
                  <p:embed/>
                </p:oleObj>
              </mc:Choice>
              <mc:Fallback>
                <p:oleObj name="公式" r:id="rId4" imgW="457002" imgH="406224"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438400"/>
                        <a:ext cx="914400" cy="8096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6228" name="Text Box 4"/>
          <p:cNvSpPr txBox="1">
            <a:spLocks noChangeArrowheads="1"/>
          </p:cNvSpPr>
          <p:nvPr/>
        </p:nvSpPr>
        <p:spPr bwMode="auto">
          <a:xfrm>
            <a:off x="533400" y="3429000"/>
            <a:ext cx="4632325" cy="4572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400" b="1">
                <a:ea typeface="楷体_GB2312"/>
              </a:rPr>
              <a:t>孤立球形导体的电容为</a:t>
            </a:r>
          </a:p>
        </p:txBody>
      </p:sp>
      <p:graphicFrame>
        <p:nvGraphicFramePr>
          <p:cNvPr id="436229" name="Object 5"/>
          <p:cNvGraphicFramePr>
            <a:graphicFrameLocks noChangeAspect="1"/>
          </p:cNvGraphicFramePr>
          <p:nvPr/>
        </p:nvGraphicFramePr>
        <p:xfrm>
          <a:off x="1660525" y="3962400"/>
          <a:ext cx="2239963" cy="903288"/>
        </p:xfrm>
        <a:graphic>
          <a:graphicData uri="http://schemas.openxmlformats.org/presentationml/2006/ole">
            <mc:AlternateContent xmlns:mc="http://schemas.openxmlformats.org/markup-compatibility/2006">
              <mc:Choice xmlns:v="urn:schemas-microsoft-com:vml" Requires="v">
                <p:oleObj spid="_x0000_s38038" name="Equation" r:id="rId6" imgW="1002865" imgH="406224" progId="Equation.DSMT4">
                  <p:embed/>
                </p:oleObj>
              </mc:Choice>
              <mc:Fallback>
                <p:oleObj name="Equation" r:id="rId6" imgW="1002865" imgH="406224"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60525" y="3962400"/>
                        <a:ext cx="2239963" cy="903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6230" name="Text Box 6"/>
          <p:cNvSpPr txBox="1">
            <a:spLocks noChangeArrowheads="1"/>
          </p:cNvSpPr>
          <p:nvPr/>
        </p:nvSpPr>
        <p:spPr bwMode="auto">
          <a:xfrm>
            <a:off x="533400" y="5334000"/>
            <a:ext cx="3733800" cy="1187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solidFill>
                  <a:srgbClr val="CC3300"/>
                </a:solidFill>
                <a:ea typeface="楷体_GB2312"/>
              </a:rPr>
              <a:t>孤立导体的电容与导体的形状有关，与其带电量和电势无关。</a:t>
            </a:r>
          </a:p>
        </p:txBody>
      </p:sp>
      <p:grpSp>
        <p:nvGrpSpPr>
          <p:cNvPr id="37895" name="Group 7"/>
          <p:cNvGrpSpPr>
            <a:grpSpLocks/>
          </p:cNvGrpSpPr>
          <p:nvPr/>
        </p:nvGrpSpPr>
        <p:grpSpPr bwMode="auto">
          <a:xfrm>
            <a:off x="0" y="0"/>
            <a:ext cx="4067175" cy="762000"/>
            <a:chOff x="96" y="2448"/>
            <a:chExt cx="2313" cy="480"/>
          </a:xfrm>
        </p:grpSpPr>
        <p:sp>
          <p:nvSpPr>
            <p:cNvPr id="37905" name="Text Box 8"/>
            <p:cNvSpPr txBox="1">
              <a:spLocks noChangeArrowheads="1"/>
            </p:cNvSpPr>
            <p:nvPr/>
          </p:nvSpPr>
          <p:spPr bwMode="auto">
            <a:xfrm>
              <a:off x="96" y="2592"/>
              <a:ext cx="2313"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2</a:t>
              </a:r>
              <a:r>
                <a:rPr lang="zh-CN" altLang="en-US" sz="2800" b="1">
                  <a:solidFill>
                    <a:srgbClr val="3333FF"/>
                  </a:solidFill>
                  <a:ea typeface="楷体_GB2312"/>
                </a:rPr>
                <a:t>、电容的定义</a:t>
              </a:r>
            </a:p>
          </p:txBody>
        </p:sp>
        <p:sp>
          <p:nvSpPr>
            <p:cNvPr id="37906" name="AutoShape 9"/>
            <p:cNvSpPr>
              <a:spLocks noChangeArrowheads="1"/>
            </p:cNvSpPr>
            <p:nvPr/>
          </p:nvSpPr>
          <p:spPr bwMode="auto">
            <a:xfrm>
              <a:off x="336" y="2448"/>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2</a:t>
              </a:r>
            </a:p>
          </p:txBody>
        </p:sp>
      </p:grpSp>
      <p:sp>
        <p:nvSpPr>
          <p:cNvPr id="436234" name="Line 10"/>
          <p:cNvSpPr>
            <a:spLocks noChangeShapeType="1"/>
          </p:cNvSpPr>
          <p:nvPr/>
        </p:nvSpPr>
        <p:spPr bwMode="auto">
          <a:xfrm>
            <a:off x="4419600" y="0"/>
            <a:ext cx="0" cy="685800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36235" name="Text Box 11"/>
          <p:cNvSpPr txBox="1">
            <a:spLocks noChangeArrowheads="1"/>
          </p:cNvSpPr>
          <p:nvPr/>
        </p:nvSpPr>
        <p:spPr bwMode="auto">
          <a:xfrm>
            <a:off x="4862513" y="1184275"/>
            <a:ext cx="3114675" cy="1187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ea typeface="楷体_GB2312"/>
              </a:rPr>
              <a:t>法拉</a:t>
            </a:r>
            <a:r>
              <a:rPr lang="en-US" altLang="zh-CN" sz="2400" b="1">
                <a:ea typeface="楷体_GB2312"/>
              </a:rPr>
              <a:t>(F)   1F=1C.V</a:t>
            </a:r>
            <a:r>
              <a:rPr lang="en-US" altLang="zh-CN" sz="2400" b="1" baseline="30000">
                <a:ea typeface="楷体_GB2312"/>
              </a:rPr>
              <a:t>-1</a:t>
            </a:r>
            <a:endParaRPr lang="en-US" altLang="zh-CN" sz="2400" b="1">
              <a:ea typeface="楷体_GB2312"/>
            </a:endParaRPr>
          </a:p>
          <a:p>
            <a:pPr lvl="1" eaLnBrk="1" hangingPunct="1">
              <a:spcBef>
                <a:spcPct val="0"/>
              </a:spcBef>
              <a:buFontTx/>
              <a:buNone/>
            </a:pPr>
            <a:r>
              <a:rPr lang="zh-CN" altLang="en-US" sz="2400" b="1">
                <a:ea typeface="楷体_GB2312"/>
              </a:rPr>
              <a:t>微法 </a:t>
            </a:r>
            <a:r>
              <a:rPr lang="en-US" altLang="zh-CN" sz="2400" b="1">
                <a:ea typeface="楷体_GB2312"/>
              </a:rPr>
              <a:t>1μF=10</a:t>
            </a:r>
            <a:r>
              <a:rPr lang="en-US" altLang="zh-CN" sz="2400" b="1" baseline="30000">
                <a:ea typeface="楷体_GB2312"/>
              </a:rPr>
              <a:t>-6</a:t>
            </a:r>
            <a:r>
              <a:rPr lang="en-US" altLang="zh-CN" sz="2400" b="1">
                <a:ea typeface="楷体_GB2312"/>
              </a:rPr>
              <a:t>F    </a:t>
            </a:r>
          </a:p>
          <a:p>
            <a:pPr lvl="1" eaLnBrk="1" hangingPunct="1">
              <a:spcBef>
                <a:spcPct val="0"/>
              </a:spcBef>
              <a:buFontTx/>
              <a:buNone/>
            </a:pPr>
            <a:r>
              <a:rPr lang="zh-CN" altLang="en-US" sz="2400" b="1">
                <a:ea typeface="楷体_GB2312"/>
              </a:rPr>
              <a:t>皮法 </a:t>
            </a:r>
            <a:r>
              <a:rPr lang="en-US" altLang="zh-CN" sz="2400" b="1">
                <a:ea typeface="楷体_GB2312"/>
              </a:rPr>
              <a:t>1pF=10</a:t>
            </a:r>
            <a:r>
              <a:rPr lang="en-US" altLang="zh-CN" sz="2400" b="1" baseline="30000">
                <a:ea typeface="楷体_GB2312"/>
              </a:rPr>
              <a:t>-12</a:t>
            </a:r>
            <a:r>
              <a:rPr lang="en-US" altLang="zh-CN" sz="2400" b="1">
                <a:ea typeface="楷体_GB2312"/>
              </a:rPr>
              <a:t>F </a:t>
            </a:r>
            <a:endParaRPr lang="en-US" altLang="zh-CN" sz="3600" b="1">
              <a:solidFill>
                <a:srgbClr val="FF3300"/>
              </a:solidFill>
              <a:ea typeface="楷体_GB2312"/>
            </a:endParaRPr>
          </a:p>
        </p:txBody>
      </p:sp>
      <p:grpSp>
        <p:nvGrpSpPr>
          <p:cNvPr id="436236" name="Group 12"/>
          <p:cNvGrpSpPr>
            <a:grpSpLocks/>
          </p:cNvGrpSpPr>
          <p:nvPr/>
        </p:nvGrpSpPr>
        <p:grpSpPr bwMode="auto">
          <a:xfrm>
            <a:off x="4572000" y="0"/>
            <a:ext cx="3367088" cy="762000"/>
            <a:chOff x="48" y="0"/>
            <a:chExt cx="2121" cy="480"/>
          </a:xfrm>
        </p:grpSpPr>
        <p:sp>
          <p:nvSpPr>
            <p:cNvPr id="37903" name="Text Box 13"/>
            <p:cNvSpPr txBox="1">
              <a:spLocks noChangeArrowheads="1"/>
            </p:cNvSpPr>
            <p:nvPr/>
          </p:nvSpPr>
          <p:spPr bwMode="auto">
            <a:xfrm>
              <a:off x="96" y="144"/>
              <a:ext cx="2073"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3</a:t>
              </a:r>
              <a:r>
                <a:rPr lang="zh-CN" altLang="en-US" sz="2800" b="1">
                  <a:solidFill>
                    <a:srgbClr val="3333FF"/>
                  </a:solidFill>
                  <a:ea typeface="楷体_GB2312"/>
                </a:rPr>
                <a:t>、电容的单位</a:t>
              </a:r>
            </a:p>
          </p:txBody>
        </p:sp>
        <p:sp>
          <p:nvSpPr>
            <p:cNvPr id="37904" name="AutoShape 14"/>
            <p:cNvSpPr>
              <a:spLocks noChangeArrowheads="1"/>
            </p:cNvSpPr>
            <p:nvPr/>
          </p:nvSpPr>
          <p:spPr bwMode="auto">
            <a:xfrm>
              <a:off x="48" y="0"/>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3</a:t>
              </a:r>
            </a:p>
          </p:txBody>
        </p:sp>
      </p:grpSp>
      <p:grpSp>
        <p:nvGrpSpPr>
          <p:cNvPr id="436239" name="Group 15"/>
          <p:cNvGrpSpPr>
            <a:grpSpLocks/>
          </p:cNvGrpSpPr>
          <p:nvPr/>
        </p:nvGrpSpPr>
        <p:grpSpPr bwMode="auto">
          <a:xfrm>
            <a:off x="4495800" y="2971800"/>
            <a:ext cx="4343400" cy="762000"/>
            <a:chOff x="96" y="2112"/>
            <a:chExt cx="3552" cy="480"/>
          </a:xfrm>
        </p:grpSpPr>
        <p:sp>
          <p:nvSpPr>
            <p:cNvPr id="37901" name="Text Box 16"/>
            <p:cNvSpPr txBox="1">
              <a:spLocks noChangeArrowheads="1"/>
            </p:cNvSpPr>
            <p:nvPr/>
          </p:nvSpPr>
          <p:spPr bwMode="auto">
            <a:xfrm>
              <a:off x="96" y="2208"/>
              <a:ext cx="3552"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b="1">
                  <a:solidFill>
                    <a:srgbClr val="3333FF"/>
                  </a:solidFill>
                  <a:ea typeface="楷体_GB2312"/>
                </a:rPr>
                <a:t>            </a:t>
              </a:r>
              <a:r>
                <a:rPr lang="zh-CN" altLang="en-US" sz="2800" b="1">
                  <a:solidFill>
                    <a:srgbClr val="3333FF"/>
                  </a:solidFill>
                  <a:ea typeface="楷体_GB2312"/>
                </a:rPr>
                <a:t>关于电容的说明：</a:t>
              </a:r>
            </a:p>
          </p:txBody>
        </p:sp>
        <p:sp>
          <p:nvSpPr>
            <p:cNvPr id="37902" name="AutoShape 17"/>
            <p:cNvSpPr>
              <a:spLocks noChangeArrowheads="1"/>
            </p:cNvSpPr>
            <p:nvPr/>
          </p:nvSpPr>
          <p:spPr bwMode="auto">
            <a:xfrm>
              <a:off x="144" y="2112"/>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4</a:t>
              </a:r>
            </a:p>
          </p:txBody>
        </p:sp>
      </p:grpSp>
      <p:sp>
        <p:nvSpPr>
          <p:cNvPr id="436242" name="Text Box 18"/>
          <p:cNvSpPr txBox="1">
            <a:spLocks noChangeArrowheads="1"/>
          </p:cNvSpPr>
          <p:nvPr/>
        </p:nvSpPr>
        <p:spPr bwMode="auto">
          <a:xfrm>
            <a:off x="3962400" y="4191000"/>
            <a:ext cx="4953000" cy="22828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spcBef>
                <a:spcPct val="0"/>
              </a:spcBef>
              <a:buFontTx/>
              <a:buChar char="•"/>
            </a:pPr>
            <a:r>
              <a:rPr lang="zh-CN" altLang="en-US" sz="2400" b="1">
                <a:ea typeface="楷体_GB2312"/>
              </a:rPr>
              <a:t>是导体的一种性质，与导体是否带电无关；</a:t>
            </a:r>
          </a:p>
          <a:p>
            <a:pPr lvl="1" eaLnBrk="1" hangingPunct="1">
              <a:spcBef>
                <a:spcPct val="0"/>
              </a:spcBef>
              <a:buFontTx/>
              <a:buChar char="•"/>
            </a:pPr>
            <a:r>
              <a:rPr lang="zh-CN" altLang="en-US" sz="2400" b="1">
                <a:ea typeface="楷体_GB2312"/>
              </a:rPr>
              <a:t>是反映导体储存电荷或电能的能力的物理量；</a:t>
            </a:r>
          </a:p>
          <a:p>
            <a:pPr lvl="1" eaLnBrk="1" hangingPunct="1">
              <a:spcBef>
                <a:spcPct val="0"/>
              </a:spcBef>
              <a:buFontTx/>
              <a:buChar char="•"/>
            </a:pPr>
            <a:r>
              <a:rPr lang="zh-CN" altLang="en-US" sz="2400" b="1">
                <a:ea typeface="楷体_GB2312"/>
              </a:rPr>
              <a:t>只与导体本身的性质和尺寸有关。</a:t>
            </a:r>
            <a:endParaRPr lang="zh-CN" altLang="en-US" sz="3600" b="1">
              <a:solidFill>
                <a:srgbClr val="FF3300"/>
              </a:solidFill>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36226"/>
                                        </p:tgtEl>
                                        <p:attrNameLst>
                                          <p:attrName>style.visibility</p:attrName>
                                        </p:attrNameLst>
                                      </p:cBhvr>
                                      <p:to>
                                        <p:strVal val="visible"/>
                                      </p:to>
                                    </p:set>
                                    <p:animEffect transition="in" filter="wipe(left)">
                                      <p:cBhvr>
                                        <p:cTn id="7" dur="75"/>
                                        <p:tgtEl>
                                          <p:spTgt spid="436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36227"/>
                                        </p:tgtEl>
                                        <p:attrNameLst>
                                          <p:attrName>style.visibility</p:attrName>
                                        </p:attrNameLst>
                                      </p:cBhvr>
                                      <p:to>
                                        <p:strVal val="visible"/>
                                      </p:to>
                                    </p:set>
                                    <p:animEffect transition="in" filter="wipe(left)">
                                      <p:cBhvr>
                                        <p:cTn id="12" dur="500"/>
                                        <p:tgtEl>
                                          <p:spTgt spid="4362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6228"/>
                                        </p:tgtEl>
                                        <p:attrNameLst>
                                          <p:attrName>style.visibility</p:attrName>
                                        </p:attrNameLst>
                                      </p:cBhvr>
                                      <p:to>
                                        <p:strVal val="visible"/>
                                      </p:to>
                                    </p:set>
                                    <p:animEffect transition="in" filter="wipe(left)">
                                      <p:cBhvr>
                                        <p:cTn id="17" dur="500"/>
                                        <p:tgtEl>
                                          <p:spTgt spid="4362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36229"/>
                                        </p:tgtEl>
                                        <p:attrNameLst>
                                          <p:attrName>style.visibility</p:attrName>
                                        </p:attrNameLst>
                                      </p:cBhvr>
                                      <p:to>
                                        <p:strVal val="visible"/>
                                      </p:to>
                                    </p:set>
                                    <p:animEffect transition="in" filter="wipe(left)">
                                      <p:cBhvr>
                                        <p:cTn id="22" dur="500"/>
                                        <p:tgtEl>
                                          <p:spTgt spid="4362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436230"/>
                                        </p:tgtEl>
                                        <p:attrNameLst>
                                          <p:attrName>style.visibility</p:attrName>
                                        </p:attrNameLst>
                                      </p:cBhvr>
                                      <p:to>
                                        <p:strVal val="visible"/>
                                      </p:to>
                                    </p:set>
                                    <p:animEffect transition="in" filter="wipe(left)">
                                      <p:cBhvr>
                                        <p:cTn id="27" dur="75"/>
                                        <p:tgtEl>
                                          <p:spTgt spid="4362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36234"/>
                                        </p:tgtEl>
                                        <p:attrNameLst>
                                          <p:attrName>style.visibility</p:attrName>
                                        </p:attrNameLst>
                                      </p:cBhvr>
                                      <p:to>
                                        <p:strVal val="visible"/>
                                      </p:to>
                                    </p:set>
                                    <p:animEffect transition="in" filter="wipe(up)">
                                      <p:cBhvr>
                                        <p:cTn id="32" dur="500"/>
                                        <p:tgtEl>
                                          <p:spTgt spid="4362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36236"/>
                                        </p:tgtEl>
                                        <p:attrNameLst>
                                          <p:attrName>style.visibility</p:attrName>
                                        </p:attrNameLst>
                                      </p:cBhvr>
                                      <p:to>
                                        <p:strVal val="visible"/>
                                      </p:to>
                                    </p:set>
                                    <p:animEffect transition="in" filter="wipe(left)">
                                      <p:cBhvr>
                                        <p:cTn id="37" dur="500"/>
                                        <p:tgtEl>
                                          <p:spTgt spid="4362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36235">
                                            <p:txEl>
                                              <p:pRg st="0" end="0"/>
                                            </p:txEl>
                                          </p:spTgt>
                                        </p:tgtEl>
                                        <p:attrNameLst>
                                          <p:attrName>style.visibility</p:attrName>
                                        </p:attrNameLst>
                                      </p:cBhvr>
                                      <p:to>
                                        <p:strVal val="visible"/>
                                      </p:to>
                                    </p:set>
                                    <p:animEffect transition="in" filter="wipe(left)">
                                      <p:cBhvr>
                                        <p:cTn id="42" dur="500"/>
                                        <p:tgtEl>
                                          <p:spTgt spid="436235">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36235">
                                            <p:txEl>
                                              <p:pRg st="1" end="1"/>
                                            </p:txEl>
                                          </p:spTgt>
                                        </p:tgtEl>
                                        <p:attrNameLst>
                                          <p:attrName>style.visibility</p:attrName>
                                        </p:attrNameLst>
                                      </p:cBhvr>
                                      <p:to>
                                        <p:strVal val="visible"/>
                                      </p:to>
                                    </p:set>
                                    <p:animEffect transition="in" filter="wipe(left)">
                                      <p:cBhvr>
                                        <p:cTn id="47" dur="500"/>
                                        <p:tgtEl>
                                          <p:spTgt spid="436235">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36235">
                                            <p:txEl>
                                              <p:pRg st="2" end="2"/>
                                            </p:txEl>
                                          </p:spTgt>
                                        </p:tgtEl>
                                        <p:attrNameLst>
                                          <p:attrName>style.visibility</p:attrName>
                                        </p:attrNameLst>
                                      </p:cBhvr>
                                      <p:to>
                                        <p:strVal val="visible"/>
                                      </p:to>
                                    </p:set>
                                    <p:animEffect transition="in" filter="wipe(left)">
                                      <p:cBhvr>
                                        <p:cTn id="52" dur="500"/>
                                        <p:tgtEl>
                                          <p:spTgt spid="436235">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36239"/>
                                        </p:tgtEl>
                                        <p:attrNameLst>
                                          <p:attrName>style.visibility</p:attrName>
                                        </p:attrNameLst>
                                      </p:cBhvr>
                                      <p:to>
                                        <p:strVal val="visible"/>
                                      </p:to>
                                    </p:set>
                                    <p:animEffect transition="in" filter="wipe(left)">
                                      <p:cBhvr>
                                        <p:cTn id="57" dur="500"/>
                                        <p:tgtEl>
                                          <p:spTgt spid="43623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36242">
                                            <p:txEl>
                                              <p:pRg st="0" end="0"/>
                                            </p:txEl>
                                          </p:spTgt>
                                        </p:tgtEl>
                                        <p:attrNameLst>
                                          <p:attrName>style.visibility</p:attrName>
                                        </p:attrNameLst>
                                      </p:cBhvr>
                                      <p:to>
                                        <p:strVal val="visible"/>
                                      </p:to>
                                    </p:set>
                                    <p:animEffect transition="in" filter="wipe(left)">
                                      <p:cBhvr>
                                        <p:cTn id="62" dur="500"/>
                                        <p:tgtEl>
                                          <p:spTgt spid="436242">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36242">
                                            <p:txEl>
                                              <p:pRg st="1" end="1"/>
                                            </p:txEl>
                                          </p:spTgt>
                                        </p:tgtEl>
                                        <p:attrNameLst>
                                          <p:attrName>style.visibility</p:attrName>
                                        </p:attrNameLst>
                                      </p:cBhvr>
                                      <p:to>
                                        <p:strVal val="visible"/>
                                      </p:to>
                                    </p:set>
                                    <p:animEffect transition="in" filter="wipe(left)">
                                      <p:cBhvr>
                                        <p:cTn id="67" dur="500"/>
                                        <p:tgtEl>
                                          <p:spTgt spid="436242">
                                            <p:txEl>
                                              <p:pRg st="1" end="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36242">
                                            <p:txEl>
                                              <p:pRg st="2" end="2"/>
                                            </p:txEl>
                                          </p:spTgt>
                                        </p:tgtEl>
                                        <p:attrNameLst>
                                          <p:attrName>style.visibility</p:attrName>
                                        </p:attrNameLst>
                                      </p:cBhvr>
                                      <p:to>
                                        <p:strVal val="visible"/>
                                      </p:to>
                                    </p:set>
                                    <p:animEffect transition="in" filter="wipe(left)">
                                      <p:cBhvr>
                                        <p:cTn id="72" dur="500"/>
                                        <p:tgtEl>
                                          <p:spTgt spid="4362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6" grpId="0" autoUpdateAnimBg="0"/>
      <p:bldP spid="436228" grpId="0" autoUpdateAnimBg="0"/>
      <p:bldP spid="436230" grpId="0" autoUpdateAnimBg="0"/>
      <p:bldP spid="436234" grpId="0" animBg="1"/>
      <p:bldP spid="436235" grpId="0" build="p" bldLvl="2" autoUpdateAnimBg="0"/>
      <p:bldP spid="436242" grpId="0" build="p" bldLvl="2"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Text Box 2"/>
          <p:cNvSpPr txBox="1">
            <a:spLocks noChangeArrowheads="1"/>
          </p:cNvSpPr>
          <p:nvPr/>
        </p:nvSpPr>
        <p:spPr bwMode="auto">
          <a:xfrm>
            <a:off x="0" y="228600"/>
            <a:ext cx="2909888"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b="1">
                <a:solidFill>
                  <a:schemeClr val="folHlink"/>
                </a:solidFill>
                <a:latin typeface="Arial" panose="020B0604020202020204" pitchFamily="34" charset="0"/>
                <a:ea typeface="楷体_GB2312"/>
              </a:rPr>
              <a:t>二、电容器</a:t>
            </a:r>
          </a:p>
        </p:txBody>
      </p:sp>
      <p:sp>
        <p:nvSpPr>
          <p:cNvPr id="437251" name="Text Box 3"/>
          <p:cNvSpPr txBox="1">
            <a:spLocks noChangeArrowheads="1"/>
          </p:cNvSpPr>
          <p:nvPr/>
        </p:nvSpPr>
        <p:spPr bwMode="auto">
          <a:xfrm>
            <a:off x="0" y="1706563"/>
            <a:ext cx="7596188" cy="19907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200" b="1">
                <a:ea typeface="楷体_GB2312"/>
              </a:rPr>
              <a:t>两个带有等值而异号电荷的导体所组成的系统，叫做</a:t>
            </a:r>
            <a:r>
              <a:rPr lang="zh-CN" altLang="en-US" sz="2200" b="1">
                <a:solidFill>
                  <a:srgbClr val="FF0000"/>
                </a:solidFill>
                <a:ea typeface="楷体_GB2312"/>
              </a:rPr>
              <a:t>电容器。</a:t>
            </a:r>
            <a:r>
              <a:rPr lang="zh-CN" altLang="en-US" sz="2200">
                <a:solidFill>
                  <a:srgbClr val="FF0000"/>
                </a:solidFill>
                <a:ea typeface="楷体_GB2312"/>
              </a:rPr>
              <a:t> </a:t>
            </a:r>
          </a:p>
          <a:p>
            <a:pPr eaLnBrk="1" hangingPunct="1">
              <a:buFontTx/>
              <a:buNone/>
            </a:pPr>
            <a:r>
              <a:rPr lang="zh-CN" altLang="en-US" sz="2200" b="1">
                <a:ea typeface="楷体_GB2312"/>
              </a:rPr>
              <a:t>电容器可以用来储存电荷和能量。</a:t>
            </a:r>
          </a:p>
          <a:p>
            <a:pPr eaLnBrk="1" hangingPunct="1">
              <a:buFontTx/>
              <a:buNone/>
            </a:pPr>
            <a:r>
              <a:rPr lang="zh-CN" altLang="en-US" sz="2200" b="1">
                <a:ea typeface="楷体_GB2312"/>
              </a:rPr>
              <a:t>（</a:t>
            </a:r>
            <a:r>
              <a:rPr lang="en-US" altLang="zh-CN" sz="2200" b="1">
                <a:ea typeface="楷体_GB2312"/>
              </a:rPr>
              <a:t>1</a:t>
            </a:r>
            <a:r>
              <a:rPr lang="zh-CN" altLang="en-US" sz="2200" b="1">
                <a:ea typeface="楷体_GB2312"/>
              </a:rPr>
              <a:t>）电容器</a:t>
            </a:r>
            <a:r>
              <a:rPr lang="zh-CN" altLang="en-US" sz="2200" b="1">
                <a:solidFill>
                  <a:srgbClr val="FF0000"/>
                </a:solidFill>
                <a:ea typeface="楷体_GB2312"/>
              </a:rPr>
              <a:t>电容的大小</a:t>
            </a:r>
            <a:r>
              <a:rPr lang="zh-CN" altLang="en-US" sz="2200" b="1">
                <a:ea typeface="楷体_GB2312"/>
              </a:rPr>
              <a:t>取决于极板的</a:t>
            </a:r>
            <a:r>
              <a:rPr lang="zh-CN" altLang="en-US" sz="2200" b="1">
                <a:solidFill>
                  <a:srgbClr val="FF0000"/>
                </a:solidFill>
                <a:ea typeface="楷体_GB2312"/>
              </a:rPr>
              <a:t>形状、大小、相对位置</a:t>
            </a:r>
            <a:r>
              <a:rPr lang="zh-CN" altLang="en-US" sz="2200" b="1">
                <a:ea typeface="楷体_GB2312"/>
              </a:rPr>
              <a:t>以及电介质的</a:t>
            </a:r>
            <a:r>
              <a:rPr lang="zh-CN" altLang="en-US" sz="2200" b="1">
                <a:solidFill>
                  <a:srgbClr val="FF0000"/>
                </a:solidFill>
                <a:ea typeface="楷体_GB2312"/>
              </a:rPr>
              <a:t>电容率</a:t>
            </a:r>
            <a:r>
              <a:rPr lang="zh-CN" altLang="en-US" sz="2200" b="1">
                <a:ea typeface="楷体_GB2312"/>
              </a:rPr>
              <a:t>。与电容器是否带电无关。</a:t>
            </a:r>
            <a:endParaRPr lang="en-US" altLang="zh-CN" sz="2200" b="1">
              <a:ea typeface="楷体_GB2312"/>
            </a:endParaRPr>
          </a:p>
          <a:p>
            <a:pPr eaLnBrk="1" hangingPunct="1">
              <a:buFontTx/>
              <a:buNone/>
            </a:pPr>
            <a:r>
              <a:rPr lang="zh-CN" altLang="en-US" sz="2200" b="1">
                <a:ea typeface="楷体_GB2312"/>
              </a:rPr>
              <a:t>（</a:t>
            </a:r>
            <a:r>
              <a:rPr lang="en-US" altLang="zh-CN" sz="2200" b="1">
                <a:ea typeface="楷体_GB2312"/>
              </a:rPr>
              <a:t>2</a:t>
            </a:r>
            <a:r>
              <a:rPr lang="zh-CN" altLang="en-US" sz="2200" b="1">
                <a:ea typeface="楷体_GB2312"/>
              </a:rPr>
              <a:t>）电容器符号</a:t>
            </a:r>
            <a:r>
              <a:rPr lang="en-US" altLang="zh-CN" sz="2200" b="1">
                <a:ea typeface="楷体_GB2312"/>
              </a:rPr>
              <a:t>:  </a:t>
            </a:r>
            <a:r>
              <a:rPr lang="zh-CN" altLang="en-US" sz="2200" b="1">
                <a:ea typeface="楷体_GB2312"/>
              </a:rPr>
              <a:t>：      固定电容器；      ，可变电容器。</a:t>
            </a:r>
          </a:p>
        </p:txBody>
      </p:sp>
      <p:grpSp>
        <p:nvGrpSpPr>
          <p:cNvPr id="437252" name="Group 4"/>
          <p:cNvGrpSpPr>
            <a:grpSpLocks/>
          </p:cNvGrpSpPr>
          <p:nvPr/>
        </p:nvGrpSpPr>
        <p:grpSpPr bwMode="auto">
          <a:xfrm>
            <a:off x="76200" y="692150"/>
            <a:ext cx="3900488" cy="762000"/>
            <a:chOff x="192" y="624"/>
            <a:chExt cx="2457" cy="480"/>
          </a:xfrm>
        </p:grpSpPr>
        <p:sp>
          <p:nvSpPr>
            <p:cNvPr id="38930" name="Text Box 5"/>
            <p:cNvSpPr txBox="1">
              <a:spLocks noChangeArrowheads="1"/>
            </p:cNvSpPr>
            <p:nvPr/>
          </p:nvSpPr>
          <p:spPr bwMode="auto">
            <a:xfrm>
              <a:off x="192" y="720"/>
              <a:ext cx="2457"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1</a:t>
              </a:r>
              <a:r>
                <a:rPr lang="zh-CN" altLang="en-US" sz="2800" b="1">
                  <a:solidFill>
                    <a:srgbClr val="3333FF"/>
                  </a:solidFill>
                  <a:ea typeface="楷体_GB2312"/>
                </a:rPr>
                <a:t>、电容器的定义</a:t>
              </a:r>
            </a:p>
          </p:txBody>
        </p:sp>
        <p:sp>
          <p:nvSpPr>
            <p:cNvPr id="38931" name="AutoShape 6"/>
            <p:cNvSpPr>
              <a:spLocks noChangeArrowheads="1"/>
            </p:cNvSpPr>
            <p:nvPr/>
          </p:nvSpPr>
          <p:spPr bwMode="auto">
            <a:xfrm>
              <a:off x="240" y="624"/>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1</a:t>
              </a:r>
            </a:p>
          </p:txBody>
        </p:sp>
      </p:grpSp>
      <p:sp>
        <p:nvSpPr>
          <p:cNvPr id="437255" name="Text Box 7"/>
          <p:cNvSpPr txBox="1">
            <a:spLocks noChangeArrowheads="1"/>
          </p:cNvSpPr>
          <p:nvPr/>
        </p:nvSpPr>
        <p:spPr bwMode="auto">
          <a:xfrm>
            <a:off x="250825" y="5581650"/>
            <a:ext cx="4608513" cy="12033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ea typeface="楷体_GB2312"/>
              </a:rPr>
              <a:t>电容器两个极板所带的电量为</a:t>
            </a:r>
            <a:r>
              <a:rPr lang="en-US" altLang="zh-CN" sz="2400" b="1">
                <a:ea typeface="楷体_GB2312"/>
              </a:rPr>
              <a:t>+</a:t>
            </a:r>
            <a:r>
              <a:rPr lang="en-US" altLang="zh-CN" sz="2400" b="1" i="1">
                <a:ea typeface="楷体_GB2312"/>
              </a:rPr>
              <a:t>q</a:t>
            </a:r>
            <a:r>
              <a:rPr lang="zh-CN" altLang="en-US" sz="2400" b="1">
                <a:ea typeface="楷体_GB2312"/>
              </a:rPr>
              <a:t>、</a:t>
            </a:r>
            <a:r>
              <a:rPr lang="en-US" altLang="zh-CN" sz="2400" b="1">
                <a:ea typeface="楷体_GB2312"/>
              </a:rPr>
              <a:t>-</a:t>
            </a:r>
            <a:r>
              <a:rPr lang="en-US" altLang="zh-CN" sz="2400" b="1" i="1">
                <a:ea typeface="楷体_GB2312"/>
              </a:rPr>
              <a:t>q</a:t>
            </a:r>
            <a:r>
              <a:rPr lang="zh-CN" altLang="en-US" sz="2400" b="1">
                <a:ea typeface="楷体_GB2312"/>
              </a:rPr>
              <a:t>，它们的电势分别为</a:t>
            </a:r>
            <a:r>
              <a:rPr lang="en-US" altLang="zh-CN" sz="2400" b="1" i="1">
                <a:ea typeface="楷体_GB2312"/>
              </a:rPr>
              <a:t>V</a:t>
            </a:r>
            <a:r>
              <a:rPr lang="en-US" altLang="zh-CN" sz="2400" b="1" baseline="-25000">
                <a:ea typeface="楷体_GB2312"/>
              </a:rPr>
              <a:t>A</a:t>
            </a:r>
            <a:r>
              <a:rPr lang="zh-CN" altLang="en-US" sz="2400" b="1">
                <a:ea typeface="楷体_GB2312"/>
              </a:rPr>
              <a:t>、</a:t>
            </a:r>
            <a:r>
              <a:rPr lang="en-US" altLang="zh-CN" sz="2400" b="1" i="1">
                <a:ea typeface="楷体_GB2312"/>
              </a:rPr>
              <a:t>V</a:t>
            </a:r>
            <a:r>
              <a:rPr lang="en-US" altLang="zh-CN" sz="2400" b="1" baseline="-25000">
                <a:ea typeface="楷体_GB2312"/>
              </a:rPr>
              <a:t>B</a:t>
            </a:r>
            <a:r>
              <a:rPr lang="zh-CN" altLang="en-US" sz="2400" b="1">
                <a:ea typeface="楷体_GB2312"/>
              </a:rPr>
              <a:t>，定义电容器的电容为：</a:t>
            </a:r>
            <a:endParaRPr lang="zh-CN" altLang="en-US" sz="3600" b="1">
              <a:solidFill>
                <a:srgbClr val="FF3300"/>
              </a:solidFill>
              <a:ea typeface="楷体_GB2312"/>
            </a:endParaRPr>
          </a:p>
        </p:txBody>
      </p:sp>
      <p:graphicFrame>
        <p:nvGraphicFramePr>
          <p:cNvPr id="437256" name="Object 8"/>
          <p:cNvGraphicFramePr>
            <a:graphicFrameLocks noChangeAspect="1"/>
          </p:cNvGraphicFramePr>
          <p:nvPr/>
        </p:nvGraphicFramePr>
        <p:xfrm>
          <a:off x="5364163" y="5589588"/>
          <a:ext cx="2852737" cy="1014412"/>
        </p:xfrm>
        <a:graphic>
          <a:graphicData uri="http://schemas.openxmlformats.org/presentationml/2006/ole">
            <mc:AlternateContent xmlns:mc="http://schemas.openxmlformats.org/markup-compatibility/2006">
              <mc:Choice xmlns:v="urn:schemas-microsoft-com:vml" Requires="v">
                <p:oleObj spid="_x0000_s38996" name="Equation" r:id="rId3" imgW="1244600" imgH="444500" progId="Equation.DSMT4">
                  <p:embed/>
                </p:oleObj>
              </mc:Choice>
              <mc:Fallback>
                <p:oleObj name="Equation" r:id="rId3" imgW="1244600" imgH="4445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5589588"/>
                        <a:ext cx="2852737" cy="101441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37257" name="Group 9"/>
          <p:cNvGrpSpPr>
            <a:grpSpLocks/>
          </p:cNvGrpSpPr>
          <p:nvPr/>
        </p:nvGrpSpPr>
        <p:grpSpPr bwMode="auto">
          <a:xfrm>
            <a:off x="323850" y="3890963"/>
            <a:ext cx="3595688" cy="762000"/>
            <a:chOff x="96" y="2592"/>
            <a:chExt cx="2265" cy="480"/>
          </a:xfrm>
        </p:grpSpPr>
        <p:sp>
          <p:nvSpPr>
            <p:cNvPr id="38928" name="Text Box 10"/>
            <p:cNvSpPr txBox="1">
              <a:spLocks noChangeArrowheads="1"/>
            </p:cNvSpPr>
            <p:nvPr/>
          </p:nvSpPr>
          <p:spPr bwMode="auto">
            <a:xfrm>
              <a:off x="96" y="2640"/>
              <a:ext cx="2265"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2</a:t>
              </a:r>
              <a:r>
                <a:rPr lang="zh-CN" altLang="en-US" sz="2800" b="1">
                  <a:solidFill>
                    <a:srgbClr val="3333FF"/>
                  </a:solidFill>
                  <a:ea typeface="楷体_GB2312"/>
                </a:rPr>
                <a:t>、电容器的电容</a:t>
              </a:r>
            </a:p>
          </p:txBody>
        </p:sp>
        <p:sp>
          <p:nvSpPr>
            <p:cNvPr id="38929" name="AutoShape 11"/>
            <p:cNvSpPr>
              <a:spLocks noChangeArrowheads="1"/>
            </p:cNvSpPr>
            <p:nvPr/>
          </p:nvSpPr>
          <p:spPr bwMode="auto">
            <a:xfrm>
              <a:off x="96" y="2592"/>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2</a:t>
              </a:r>
            </a:p>
          </p:txBody>
        </p:sp>
      </p:grpSp>
      <p:sp>
        <p:nvSpPr>
          <p:cNvPr id="437260" name="Rectangle 12"/>
          <p:cNvSpPr>
            <a:spLocks noChangeArrowheads="1"/>
          </p:cNvSpPr>
          <p:nvPr/>
        </p:nvSpPr>
        <p:spPr bwMode="auto">
          <a:xfrm>
            <a:off x="250825" y="4686300"/>
            <a:ext cx="785018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A </a:t>
            </a:r>
            <a:r>
              <a:rPr kumimoji="0" lang="zh-CN" altLang="en-US" sz="2400" b="1">
                <a:ea typeface="楷体_GB2312"/>
              </a:rPr>
              <a:t>带电 </a:t>
            </a:r>
            <a:r>
              <a:rPr kumimoji="0" lang="en-US" altLang="zh-CN" sz="2400" b="1" i="1">
                <a:ea typeface="楷体_GB2312"/>
              </a:rPr>
              <a:t>q</a:t>
            </a:r>
            <a:r>
              <a:rPr kumimoji="0" lang="en-US" altLang="zh-CN" sz="2400" b="1" i="1" baseline="-25000">
                <a:ea typeface="楷体_GB2312"/>
              </a:rPr>
              <a:t> </a:t>
            </a:r>
            <a:r>
              <a:rPr kumimoji="0" lang="en-US" altLang="zh-CN" sz="2400" b="1">
                <a:ea typeface="楷体_GB2312"/>
              </a:rPr>
              <a:t>,  </a:t>
            </a:r>
            <a:r>
              <a:rPr kumimoji="0" lang="en-US" altLang="zh-CN" sz="2400" b="1" i="1">
                <a:ea typeface="楷体_GB2312"/>
              </a:rPr>
              <a:t>B </a:t>
            </a:r>
            <a:r>
              <a:rPr kumimoji="0" lang="zh-CN" altLang="en-US" sz="2400" b="1">
                <a:ea typeface="楷体_GB2312"/>
              </a:rPr>
              <a:t>带电 </a:t>
            </a:r>
            <a:r>
              <a:rPr kumimoji="0" lang="en-US" altLang="zh-CN" sz="2400" b="1">
                <a:ea typeface="楷体_GB2312"/>
              </a:rPr>
              <a:t>-</a:t>
            </a:r>
            <a:r>
              <a:rPr kumimoji="0" lang="en-US" altLang="zh-CN" sz="2400" b="1" i="1">
                <a:ea typeface="楷体_GB2312"/>
              </a:rPr>
              <a:t>q</a:t>
            </a:r>
            <a:r>
              <a:rPr kumimoji="0" lang="en-US" altLang="zh-CN" sz="2400" b="1" i="1" baseline="-25000">
                <a:ea typeface="楷体_GB2312"/>
              </a:rPr>
              <a:t> </a:t>
            </a:r>
            <a:r>
              <a:rPr kumimoji="0" lang="en-US" altLang="zh-CN" sz="2400" b="1">
                <a:ea typeface="楷体_GB2312"/>
              </a:rPr>
              <a:t>, AB</a:t>
            </a:r>
            <a:r>
              <a:rPr kumimoji="0" lang="zh-CN" altLang="en-US" sz="2400" b="1">
                <a:ea typeface="楷体_GB2312"/>
              </a:rPr>
              <a:t>间的场强</a:t>
            </a:r>
            <a:r>
              <a:rPr kumimoji="0" lang="en-US" altLang="zh-CN" sz="2400" b="1" i="1">
                <a:ea typeface="楷体_GB2312"/>
              </a:rPr>
              <a:t>E</a:t>
            </a:r>
            <a:r>
              <a:rPr kumimoji="0" lang="en-US" altLang="zh-CN" sz="2400" b="1">
                <a:ea typeface="楷体_GB2312"/>
              </a:rPr>
              <a:t> ,  </a:t>
            </a:r>
            <a:r>
              <a:rPr kumimoji="0" lang="en-US" altLang="zh-CN" sz="2400" b="1" i="1">
                <a:ea typeface="楷体_GB2312"/>
              </a:rPr>
              <a:t>A B</a:t>
            </a:r>
            <a:r>
              <a:rPr kumimoji="0" lang="zh-CN" altLang="en-US" sz="2400" b="1">
                <a:ea typeface="楷体_GB2312"/>
              </a:rPr>
              <a:t>间电势差  </a:t>
            </a:r>
          </a:p>
          <a:p>
            <a:pPr lvl="1">
              <a:spcBef>
                <a:spcPct val="0"/>
              </a:spcBef>
              <a:buFontTx/>
              <a:buNone/>
            </a:pPr>
            <a:r>
              <a:rPr kumimoji="0" lang="en-US" altLang="zh-CN" sz="2400" b="1" i="1">
                <a:ea typeface="楷体_GB2312"/>
              </a:rPr>
              <a:t>U</a:t>
            </a:r>
            <a:r>
              <a:rPr kumimoji="0" lang="en-US" altLang="zh-CN" sz="2400" b="1" i="1" baseline="-25000">
                <a:ea typeface="楷体_GB2312"/>
              </a:rPr>
              <a:t>AB</a:t>
            </a:r>
            <a:r>
              <a:rPr kumimoji="0" lang="en-US" altLang="zh-CN" sz="2400" b="1">
                <a:ea typeface="楷体_GB2312"/>
              </a:rPr>
              <a:t> </a:t>
            </a:r>
            <a:r>
              <a:rPr kumimoji="0" lang="en-US" altLang="zh-CN" sz="2400" b="1" i="1">
                <a:ea typeface="楷体_GB2312"/>
              </a:rPr>
              <a:t>= V</a:t>
            </a:r>
            <a:r>
              <a:rPr kumimoji="0" lang="en-US" altLang="zh-CN" sz="2400" b="1" i="1" baseline="-25000">
                <a:ea typeface="楷体_GB2312"/>
              </a:rPr>
              <a:t>A </a:t>
            </a:r>
            <a:r>
              <a:rPr kumimoji="0" lang="en-US" altLang="zh-CN" sz="2400" b="1">
                <a:ea typeface="楷体_GB2312"/>
              </a:rPr>
              <a:t>– V</a:t>
            </a:r>
            <a:r>
              <a:rPr kumimoji="0" lang="en-US" altLang="zh-CN" sz="2400" b="1" i="1" baseline="-25000">
                <a:ea typeface="楷体_GB2312"/>
              </a:rPr>
              <a:t>B  </a:t>
            </a:r>
            <a:endParaRPr kumimoji="0" lang="en-US" altLang="zh-CN" sz="2400" b="1">
              <a:ea typeface="楷体_GB2312"/>
            </a:endParaRPr>
          </a:p>
        </p:txBody>
      </p:sp>
      <p:grpSp>
        <p:nvGrpSpPr>
          <p:cNvPr id="437261" name="Group 13"/>
          <p:cNvGrpSpPr>
            <a:grpSpLocks/>
          </p:cNvGrpSpPr>
          <p:nvPr/>
        </p:nvGrpSpPr>
        <p:grpSpPr bwMode="auto">
          <a:xfrm>
            <a:off x="6948488" y="476250"/>
            <a:ext cx="2303462" cy="3302000"/>
            <a:chOff x="3969" y="300"/>
            <a:chExt cx="1451" cy="2080"/>
          </a:xfrm>
        </p:grpSpPr>
        <p:sp>
          <p:nvSpPr>
            <p:cNvPr id="38924" name="Text Box 14"/>
            <p:cNvSpPr txBox="1">
              <a:spLocks noChangeArrowheads="1"/>
            </p:cNvSpPr>
            <p:nvPr/>
          </p:nvSpPr>
          <p:spPr bwMode="auto">
            <a:xfrm>
              <a:off x="4224" y="300"/>
              <a:ext cx="10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CC0000"/>
                  </a:solidFill>
                  <a:ea typeface="楷体_GB2312"/>
                </a:rPr>
                <a:t>平行板</a:t>
              </a:r>
            </a:p>
          </p:txBody>
        </p:sp>
        <p:sp>
          <p:nvSpPr>
            <p:cNvPr id="38925" name="Rectangle 15" descr="深色下对角线"/>
            <p:cNvSpPr>
              <a:spLocks noChangeArrowheads="1"/>
            </p:cNvSpPr>
            <p:nvPr/>
          </p:nvSpPr>
          <p:spPr bwMode="auto">
            <a:xfrm>
              <a:off x="4848" y="684"/>
              <a:ext cx="144" cy="1440"/>
            </a:xfrm>
            <a:prstGeom prst="rect">
              <a:avLst/>
            </a:prstGeom>
            <a:pattFill prst="dkDnDiag">
              <a:fgClr>
                <a:schemeClr val="hlink"/>
              </a:fgClr>
              <a:bgClr>
                <a:schemeClr val="bg1"/>
              </a:bgClr>
            </a:patt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8926" name="Rectangle 16" descr="深色下对角线"/>
            <p:cNvSpPr>
              <a:spLocks noChangeArrowheads="1"/>
            </p:cNvSpPr>
            <p:nvPr/>
          </p:nvSpPr>
          <p:spPr bwMode="auto">
            <a:xfrm>
              <a:off x="4320" y="684"/>
              <a:ext cx="144" cy="1440"/>
            </a:xfrm>
            <a:prstGeom prst="rect">
              <a:avLst/>
            </a:prstGeom>
            <a:pattFill prst="dkDnDiag">
              <a:fgClr>
                <a:schemeClr val="hlink"/>
              </a:fgClr>
              <a:bgClr>
                <a:schemeClr val="bg1"/>
              </a:bgClr>
            </a:patt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8927" name="Text Box 17"/>
            <p:cNvSpPr txBox="1">
              <a:spLocks noChangeArrowheads="1"/>
            </p:cNvSpPr>
            <p:nvPr/>
          </p:nvSpPr>
          <p:spPr bwMode="auto">
            <a:xfrm>
              <a:off x="3969" y="1842"/>
              <a:ext cx="1451"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i="1">
                  <a:ea typeface="楷体_GB2312"/>
                </a:rPr>
                <a:t>＋</a:t>
              </a:r>
              <a:r>
                <a:rPr lang="en-US" altLang="zh-CN" sz="2000" b="1" i="1">
                  <a:ea typeface="楷体_GB2312"/>
                </a:rPr>
                <a:t>q       d        </a:t>
              </a:r>
              <a:r>
                <a:rPr lang="zh-CN" altLang="en-US" sz="2000" b="1" i="1">
                  <a:ea typeface="楷体_GB2312"/>
                </a:rPr>
                <a:t>－</a:t>
              </a:r>
              <a:r>
                <a:rPr lang="en-US" altLang="zh-CN" sz="2000" b="1" i="1">
                  <a:ea typeface="楷体_GB2312"/>
                </a:rPr>
                <a:t>q</a:t>
              </a:r>
            </a:p>
            <a:p>
              <a:pPr eaLnBrk="1" hangingPunct="1">
                <a:spcBef>
                  <a:spcPct val="50000"/>
                </a:spcBef>
                <a:buFontTx/>
                <a:buNone/>
              </a:pPr>
              <a:r>
                <a:rPr lang="en-US" altLang="zh-CN" sz="2000" b="1">
                  <a:ea typeface="楷体_GB2312"/>
                </a:rPr>
                <a:t>      A            B</a:t>
              </a:r>
              <a:endParaRPr lang="en-US" altLang="zh-CN" sz="2000">
                <a:ea typeface="楷体_GB2312"/>
              </a:endParaRPr>
            </a:p>
          </p:txBody>
        </p:sp>
      </p:grpSp>
      <p:pic>
        <p:nvPicPr>
          <p:cNvPr id="38922"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3357563"/>
            <a:ext cx="576262"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3"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3284538"/>
            <a:ext cx="684212"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7250"/>
                                        </p:tgtEl>
                                        <p:attrNameLst>
                                          <p:attrName>style.visibility</p:attrName>
                                        </p:attrNameLst>
                                      </p:cBhvr>
                                      <p:to>
                                        <p:strVal val="visible"/>
                                      </p:to>
                                    </p:set>
                                    <p:animEffect transition="in" filter="wipe(left)">
                                      <p:cBhvr>
                                        <p:cTn id="7" dur="500"/>
                                        <p:tgtEl>
                                          <p:spTgt spid="437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3726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37252"/>
                                        </p:tgtEl>
                                        <p:attrNameLst>
                                          <p:attrName>style.visibility</p:attrName>
                                        </p:attrNameLst>
                                      </p:cBhvr>
                                      <p:to>
                                        <p:strVal val="visible"/>
                                      </p:to>
                                    </p:set>
                                    <p:animEffect transition="in" filter="wipe(left)">
                                      <p:cBhvr>
                                        <p:cTn id="16" dur="500"/>
                                        <p:tgtEl>
                                          <p:spTgt spid="43725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37256"/>
                                        </p:tgtEl>
                                        <p:attrNameLst>
                                          <p:attrName>style.visibility</p:attrName>
                                        </p:attrNameLst>
                                      </p:cBhvr>
                                      <p:to>
                                        <p:strVal val="visible"/>
                                      </p:to>
                                    </p:set>
                                    <p:animEffect transition="in" filter="wipe(left)">
                                      <p:cBhvr>
                                        <p:cTn id="21" dur="500"/>
                                        <p:tgtEl>
                                          <p:spTgt spid="43725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iterate type="lt">
                                    <p:tmPct val="100000"/>
                                  </p:iterate>
                                  <p:childTnLst>
                                    <p:set>
                                      <p:cBhvr>
                                        <p:cTn id="25" dur="1" fill="hold">
                                          <p:stCondLst>
                                            <p:cond delay="0"/>
                                          </p:stCondLst>
                                        </p:cTn>
                                        <p:tgtEl>
                                          <p:spTgt spid="437251"/>
                                        </p:tgtEl>
                                        <p:attrNameLst>
                                          <p:attrName>style.visibility</p:attrName>
                                        </p:attrNameLst>
                                      </p:cBhvr>
                                      <p:to>
                                        <p:strVal val="visible"/>
                                      </p:to>
                                    </p:set>
                                    <p:animEffect transition="in" filter="wipe(left)">
                                      <p:cBhvr>
                                        <p:cTn id="26" dur="75"/>
                                        <p:tgtEl>
                                          <p:spTgt spid="4372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37257"/>
                                        </p:tgtEl>
                                        <p:attrNameLst>
                                          <p:attrName>style.visibility</p:attrName>
                                        </p:attrNameLst>
                                      </p:cBhvr>
                                      <p:to>
                                        <p:strVal val="visible"/>
                                      </p:to>
                                    </p:set>
                                    <p:animEffect transition="in" filter="wipe(left)">
                                      <p:cBhvr>
                                        <p:cTn id="31" dur="500"/>
                                        <p:tgtEl>
                                          <p:spTgt spid="43725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37260"/>
                                        </p:tgtEl>
                                        <p:attrNameLst>
                                          <p:attrName>style.visibility</p:attrName>
                                        </p:attrNameLst>
                                      </p:cBhvr>
                                      <p:to>
                                        <p:strVal val="visible"/>
                                      </p:to>
                                    </p:set>
                                    <p:animEffect transition="in" filter="wipe(up)">
                                      <p:cBhvr>
                                        <p:cTn id="36" dur="500"/>
                                        <p:tgtEl>
                                          <p:spTgt spid="43726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iterate type="lt">
                                    <p:tmPct val="100000"/>
                                  </p:iterate>
                                  <p:childTnLst>
                                    <p:set>
                                      <p:cBhvr>
                                        <p:cTn id="40" dur="1" fill="hold">
                                          <p:stCondLst>
                                            <p:cond delay="0"/>
                                          </p:stCondLst>
                                        </p:cTn>
                                        <p:tgtEl>
                                          <p:spTgt spid="437255"/>
                                        </p:tgtEl>
                                        <p:attrNameLst>
                                          <p:attrName>style.visibility</p:attrName>
                                        </p:attrNameLst>
                                      </p:cBhvr>
                                      <p:to>
                                        <p:strVal val="visible"/>
                                      </p:to>
                                    </p:set>
                                    <p:animEffect transition="in" filter="wipe(left)">
                                      <p:cBhvr>
                                        <p:cTn id="41" dur="75"/>
                                        <p:tgtEl>
                                          <p:spTgt spid="437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0" grpId="0" animBg="1" autoUpdateAnimBg="0"/>
      <p:bldP spid="437251" grpId="0" autoUpdateAnimBg="0"/>
      <p:bldP spid="437255" grpId="0" autoUpdateAnimBg="0"/>
      <p:bldP spid="437260"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Text Box 2"/>
          <p:cNvSpPr txBox="1">
            <a:spLocks noChangeArrowheads="1"/>
          </p:cNvSpPr>
          <p:nvPr/>
        </p:nvSpPr>
        <p:spPr bwMode="auto">
          <a:xfrm>
            <a:off x="457200" y="619125"/>
            <a:ext cx="8382000" cy="27209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FontTx/>
              <a:buNone/>
            </a:pPr>
            <a:r>
              <a:rPr lang="zh-CN" altLang="en-US" sz="2400" b="1">
                <a:solidFill>
                  <a:srgbClr val="FF0000"/>
                </a:solidFill>
                <a:ea typeface="楷体_GB2312"/>
              </a:rPr>
              <a:t>按可调分类：</a:t>
            </a:r>
            <a:r>
              <a:rPr lang="zh-CN" altLang="en-US" sz="2400" b="1">
                <a:ea typeface="楷体_GB2312"/>
              </a:rPr>
              <a:t>可调电容器、微调电容器、</a:t>
            </a:r>
          </a:p>
          <a:p>
            <a:pPr eaLnBrk="1" hangingPunct="1">
              <a:lnSpc>
                <a:spcPct val="120000"/>
              </a:lnSpc>
              <a:spcBef>
                <a:spcPct val="0"/>
              </a:spcBef>
              <a:buFontTx/>
              <a:buNone/>
            </a:pPr>
            <a:r>
              <a:rPr lang="zh-CN" altLang="en-US" sz="2400" b="1">
                <a:ea typeface="楷体_GB2312"/>
              </a:rPr>
              <a:t>                        双连电容器、固定电容器</a:t>
            </a:r>
          </a:p>
          <a:p>
            <a:pPr eaLnBrk="1" hangingPunct="1">
              <a:lnSpc>
                <a:spcPct val="120000"/>
              </a:lnSpc>
              <a:spcBef>
                <a:spcPct val="0"/>
              </a:spcBef>
              <a:buFontTx/>
              <a:buNone/>
            </a:pPr>
            <a:r>
              <a:rPr lang="zh-CN" altLang="en-US" sz="2400" b="1">
                <a:solidFill>
                  <a:srgbClr val="FF0000"/>
                </a:solidFill>
                <a:ea typeface="楷体_GB2312"/>
              </a:rPr>
              <a:t>按介质分类：</a:t>
            </a:r>
            <a:r>
              <a:rPr lang="zh-CN" altLang="en-US" sz="2400" b="1">
                <a:ea typeface="楷体_GB2312"/>
              </a:rPr>
              <a:t>空气电容器、云母电容器、陶瓷电容器、</a:t>
            </a:r>
          </a:p>
          <a:p>
            <a:pPr eaLnBrk="1" hangingPunct="1">
              <a:lnSpc>
                <a:spcPct val="120000"/>
              </a:lnSpc>
              <a:spcBef>
                <a:spcPct val="0"/>
              </a:spcBef>
              <a:buFontTx/>
              <a:buNone/>
            </a:pPr>
            <a:r>
              <a:rPr lang="zh-CN" altLang="en-US" sz="2400" b="1">
                <a:ea typeface="楷体_GB2312"/>
              </a:rPr>
              <a:t>                        纸质电容器、电解电容器</a:t>
            </a:r>
          </a:p>
          <a:p>
            <a:pPr eaLnBrk="1" hangingPunct="1">
              <a:lnSpc>
                <a:spcPct val="120000"/>
              </a:lnSpc>
              <a:spcBef>
                <a:spcPct val="0"/>
              </a:spcBef>
              <a:buFontTx/>
              <a:buNone/>
            </a:pPr>
            <a:r>
              <a:rPr lang="zh-CN" altLang="en-US" sz="2400" b="1">
                <a:solidFill>
                  <a:srgbClr val="FF0000"/>
                </a:solidFill>
                <a:ea typeface="楷体_GB2312"/>
              </a:rPr>
              <a:t>按体积分类：</a:t>
            </a:r>
            <a:r>
              <a:rPr lang="zh-CN" altLang="en-US" sz="2400" b="1">
                <a:ea typeface="楷体_GB2312"/>
              </a:rPr>
              <a:t>大型电容器、小型电容器、微型电容器</a:t>
            </a:r>
          </a:p>
          <a:p>
            <a:pPr eaLnBrk="1" hangingPunct="1">
              <a:lnSpc>
                <a:spcPct val="120000"/>
              </a:lnSpc>
              <a:spcBef>
                <a:spcPct val="0"/>
              </a:spcBef>
              <a:buFontTx/>
              <a:buNone/>
            </a:pPr>
            <a:r>
              <a:rPr lang="zh-CN" altLang="en-US" sz="2400" b="1">
                <a:solidFill>
                  <a:srgbClr val="FF0000"/>
                </a:solidFill>
                <a:ea typeface="楷体_GB2312"/>
              </a:rPr>
              <a:t>按形状分类：</a:t>
            </a:r>
            <a:r>
              <a:rPr lang="zh-CN" altLang="en-US" sz="2400" b="1">
                <a:ea typeface="楷体_GB2312"/>
              </a:rPr>
              <a:t>平板电容器、圆柱形电容器、球形电容器</a:t>
            </a:r>
            <a:endParaRPr lang="zh-CN" altLang="en-US" sz="3600" b="1">
              <a:solidFill>
                <a:srgbClr val="FF3300"/>
              </a:solidFill>
              <a:ea typeface="楷体_GB2312"/>
            </a:endParaRPr>
          </a:p>
        </p:txBody>
      </p:sp>
      <p:grpSp>
        <p:nvGrpSpPr>
          <p:cNvPr id="39939" name="Group 3"/>
          <p:cNvGrpSpPr>
            <a:grpSpLocks/>
          </p:cNvGrpSpPr>
          <p:nvPr/>
        </p:nvGrpSpPr>
        <p:grpSpPr bwMode="auto">
          <a:xfrm>
            <a:off x="76200" y="0"/>
            <a:ext cx="3581400" cy="762000"/>
            <a:chOff x="48" y="0"/>
            <a:chExt cx="2256" cy="480"/>
          </a:xfrm>
        </p:grpSpPr>
        <p:sp>
          <p:nvSpPr>
            <p:cNvPr id="39962" name="Text Box 4"/>
            <p:cNvSpPr txBox="1">
              <a:spLocks noChangeArrowheads="1"/>
            </p:cNvSpPr>
            <p:nvPr/>
          </p:nvSpPr>
          <p:spPr bwMode="auto">
            <a:xfrm>
              <a:off x="87" y="96"/>
              <a:ext cx="2217"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      </a:t>
              </a:r>
              <a:r>
                <a:rPr lang="zh-CN" altLang="en-US" sz="2800" b="1">
                  <a:solidFill>
                    <a:srgbClr val="3333FF"/>
                  </a:solidFill>
                  <a:ea typeface="楷体_GB2312"/>
                </a:rPr>
                <a:t>电容器的分类</a:t>
              </a:r>
            </a:p>
          </p:txBody>
        </p:sp>
        <p:sp>
          <p:nvSpPr>
            <p:cNvPr id="39963" name="AutoShape 5"/>
            <p:cNvSpPr>
              <a:spLocks noChangeArrowheads="1"/>
            </p:cNvSpPr>
            <p:nvPr/>
          </p:nvSpPr>
          <p:spPr bwMode="auto">
            <a:xfrm>
              <a:off x="48" y="0"/>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3</a:t>
              </a:r>
            </a:p>
          </p:txBody>
        </p:sp>
      </p:grpSp>
      <p:grpSp>
        <p:nvGrpSpPr>
          <p:cNvPr id="438278" name="Group 6"/>
          <p:cNvGrpSpPr>
            <a:grpSpLocks/>
          </p:cNvGrpSpPr>
          <p:nvPr/>
        </p:nvGrpSpPr>
        <p:grpSpPr bwMode="auto">
          <a:xfrm>
            <a:off x="6705600" y="3535363"/>
            <a:ext cx="1600200" cy="3094037"/>
            <a:chOff x="3984" y="192"/>
            <a:chExt cx="1008" cy="1949"/>
          </a:xfrm>
        </p:grpSpPr>
        <p:sp>
          <p:nvSpPr>
            <p:cNvPr id="39958" name="Text Box 7"/>
            <p:cNvSpPr txBox="1">
              <a:spLocks noChangeArrowheads="1"/>
            </p:cNvSpPr>
            <p:nvPr/>
          </p:nvSpPr>
          <p:spPr bwMode="auto">
            <a:xfrm>
              <a:off x="3984" y="192"/>
              <a:ext cx="100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CC0000"/>
                  </a:solidFill>
                  <a:ea typeface="楷体_GB2312"/>
                </a:rPr>
                <a:t>平行板</a:t>
              </a:r>
            </a:p>
          </p:txBody>
        </p:sp>
        <p:sp>
          <p:nvSpPr>
            <p:cNvPr id="39959" name="Rectangle 8" descr="深色下对角线"/>
            <p:cNvSpPr>
              <a:spLocks noChangeArrowheads="1"/>
            </p:cNvSpPr>
            <p:nvPr/>
          </p:nvSpPr>
          <p:spPr bwMode="auto">
            <a:xfrm>
              <a:off x="4608" y="576"/>
              <a:ext cx="144" cy="1440"/>
            </a:xfrm>
            <a:prstGeom prst="rect">
              <a:avLst/>
            </a:prstGeom>
            <a:pattFill prst="dkDnDiag">
              <a:fgClr>
                <a:schemeClr val="hlink"/>
              </a:fgClr>
              <a:bgClr>
                <a:schemeClr val="bg1"/>
              </a:bgClr>
            </a:patt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9960" name="Rectangle 9" descr="深色下对角线"/>
            <p:cNvSpPr>
              <a:spLocks noChangeArrowheads="1"/>
            </p:cNvSpPr>
            <p:nvPr/>
          </p:nvSpPr>
          <p:spPr bwMode="auto">
            <a:xfrm>
              <a:off x="4080" y="576"/>
              <a:ext cx="144" cy="1440"/>
            </a:xfrm>
            <a:prstGeom prst="rect">
              <a:avLst/>
            </a:prstGeom>
            <a:pattFill prst="dkDnDiag">
              <a:fgClr>
                <a:schemeClr val="hlink"/>
              </a:fgClr>
              <a:bgClr>
                <a:schemeClr val="bg1"/>
              </a:bgClr>
            </a:patt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9961" name="Text Box 10"/>
            <p:cNvSpPr txBox="1">
              <a:spLocks noChangeArrowheads="1"/>
            </p:cNvSpPr>
            <p:nvPr/>
          </p:nvSpPr>
          <p:spPr bwMode="auto">
            <a:xfrm>
              <a:off x="4272" y="1776"/>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i="1">
                  <a:ea typeface="楷体_GB2312"/>
                </a:rPr>
                <a:t>d</a:t>
              </a:r>
              <a:endParaRPr lang="en-US" altLang="zh-CN" sz="2400">
                <a:ea typeface="楷体_GB2312"/>
              </a:endParaRPr>
            </a:p>
          </p:txBody>
        </p:sp>
      </p:grpSp>
      <p:grpSp>
        <p:nvGrpSpPr>
          <p:cNvPr id="438283" name="Group 11"/>
          <p:cNvGrpSpPr>
            <a:grpSpLocks/>
          </p:cNvGrpSpPr>
          <p:nvPr/>
        </p:nvGrpSpPr>
        <p:grpSpPr bwMode="auto">
          <a:xfrm>
            <a:off x="1371600" y="3581400"/>
            <a:ext cx="1454150" cy="2209800"/>
            <a:chOff x="912" y="192"/>
            <a:chExt cx="916" cy="1392"/>
          </a:xfrm>
        </p:grpSpPr>
        <p:grpSp>
          <p:nvGrpSpPr>
            <p:cNvPr id="39951" name="Group 12"/>
            <p:cNvGrpSpPr>
              <a:grpSpLocks/>
            </p:cNvGrpSpPr>
            <p:nvPr/>
          </p:nvGrpSpPr>
          <p:grpSpPr bwMode="auto">
            <a:xfrm>
              <a:off x="912" y="192"/>
              <a:ext cx="912" cy="1392"/>
              <a:chOff x="912" y="192"/>
              <a:chExt cx="912" cy="1392"/>
            </a:xfrm>
          </p:grpSpPr>
          <p:sp>
            <p:nvSpPr>
              <p:cNvPr id="39953" name="Text Box 13"/>
              <p:cNvSpPr txBox="1">
                <a:spLocks noChangeArrowheads="1"/>
              </p:cNvSpPr>
              <p:nvPr/>
            </p:nvSpPr>
            <p:spPr bwMode="auto">
              <a:xfrm>
                <a:off x="1056" y="192"/>
                <a:ext cx="6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CC0000"/>
                    </a:solidFill>
                    <a:ea typeface="楷体_GB2312"/>
                  </a:rPr>
                  <a:t>球形</a:t>
                </a:r>
              </a:p>
            </p:txBody>
          </p:sp>
          <p:sp>
            <p:nvSpPr>
              <p:cNvPr id="39954" name="Oval 14" descr="深色下对角线"/>
              <p:cNvSpPr>
                <a:spLocks noChangeArrowheads="1"/>
              </p:cNvSpPr>
              <p:nvPr/>
            </p:nvSpPr>
            <p:spPr bwMode="auto">
              <a:xfrm>
                <a:off x="1248" y="1056"/>
                <a:ext cx="240" cy="240"/>
              </a:xfrm>
              <a:prstGeom prst="ellipse">
                <a:avLst/>
              </a:prstGeom>
              <a:pattFill prst="dkDnDiag">
                <a:fgClr>
                  <a:schemeClr val="hlink"/>
                </a:fgClr>
                <a:bgClr>
                  <a:schemeClr val="bg1"/>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9955" name="AutoShape 15" descr="深色上对角线"/>
              <p:cNvSpPr>
                <a:spLocks noChangeArrowheads="1"/>
              </p:cNvSpPr>
              <p:nvPr/>
            </p:nvSpPr>
            <p:spPr bwMode="auto">
              <a:xfrm>
                <a:off x="912" y="768"/>
                <a:ext cx="912" cy="81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74 w 21600"/>
                  <a:gd name="T25" fmla="*/ 3150 h 21600"/>
                  <a:gd name="T26" fmla="*/ 18426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00" y="10800"/>
                    </a:moveTo>
                    <a:cubicBezTo>
                      <a:pt x="2400" y="15439"/>
                      <a:pt x="6161" y="19200"/>
                      <a:pt x="10800" y="19200"/>
                    </a:cubicBezTo>
                    <a:cubicBezTo>
                      <a:pt x="15439" y="19200"/>
                      <a:pt x="19200" y="15439"/>
                      <a:pt x="19200" y="10800"/>
                    </a:cubicBezTo>
                    <a:cubicBezTo>
                      <a:pt x="19200" y="6161"/>
                      <a:pt x="15439" y="2400"/>
                      <a:pt x="10800" y="2400"/>
                    </a:cubicBezTo>
                    <a:cubicBezTo>
                      <a:pt x="6161" y="2400"/>
                      <a:pt x="2400" y="6161"/>
                      <a:pt x="2400" y="10800"/>
                    </a:cubicBezTo>
                    <a:close/>
                  </a:path>
                </a:pathLst>
              </a:custGeom>
              <a:pattFill prst="dkUpDiag">
                <a:fgClr>
                  <a:schemeClr val="accent1"/>
                </a:fgClr>
                <a:bgClr>
                  <a:schemeClr val="bg1"/>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6" name="Line 16"/>
              <p:cNvSpPr>
                <a:spLocks noChangeShapeType="1"/>
              </p:cNvSpPr>
              <p:nvPr/>
            </p:nvSpPr>
            <p:spPr bwMode="auto">
              <a:xfrm>
                <a:off x="1344" y="1152"/>
                <a:ext cx="288" cy="24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7" name="Line 17"/>
              <p:cNvSpPr>
                <a:spLocks noChangeShapeType="1"/>
              </p:cNvSpPr>
              <p:nvPr/>
            </p:nvSpPr>
            <p:spPr bwMode="auto">
              <a:xfrm flipH="1">
                <a:off x="1296" y="1152"/>
                <a:ext cx="48" cy="144"/>
              </a:xfrm>
              <a:prstGeom prst="line">
                <a:avLst/>
              </a:prstGeom>
              <a:noFill/>
              <a:ln w="28575">
                <a:solidFill>
                  <a:srgbClr val="FF5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9952" name="Object 18"/>
            <p:cNvGraphicFramePr>
              <a:graphicFrameLocks noChangeAspect="1"/>
            </p:cNvGraphicFramePr>
            <p:nvPr/>
          </p:nvGraphicFramePr>
          <p:xfrm>
            <a:off x="1056" y="1008"/>
            <a:ext cx="772" cy="381"/>
          </p:xfrm>
          <a:graphic>
            <a:graphicData uri="http://schemas.openxmlformats.org/presentationml/2006/ole">
              <mc:AlternateContent xmlns:mc="http://schemas.openxmlformats.org/markup-compatibility/2006">
                <mc:Choice xmlns:v="urn:schemas-microsoft-com:vml" Requires="v">
                  <p:oleObj spid="_x0000_s40156" name="公式" r:id="rId3" imgW="469696" imgH="215806" progId="Equation.3">
                    <p:embed/>
                  </p:oleObj>
                </mc:Choice>
                <mc:Fallback>
                  <p:oleObj name="公式" r:id="rId3" imgW="469696" imgH="215806"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1008"/>
                          <a:ext cx="772"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8291" name="Group 19"/>
          <p:cNvGrpSpPr>
            <a:grpSpLocks/>
          </p:cNvGrpSpPr>
          <p:nvPr/>
        </p:nvGrpSpPr>
        <p:grpSpPr bwMode="auto">
          <a:xfrm>
            <a:off x="3962400" y="3429000"/>
            <a:ext cx="1531938" cy="3505200"/>
            <a:chOff x="2400" y="192"/>
            <a:chExt cx="965" cy="2208"/>
          </a:xfrm>
        </p:grpSpPr>
        <p:sp>
          <p:nvSpPr>
            <p:cNvPr id="39943" name="Text Box 20"/>
            <p:cNvSpPr txBox="1">
              <a:spLocks noChangeArrowheads="1"/>
            </p:cNvSpPr>
            <p:nvPr/>
          </p:nvSpPr>
          <p:spPr bwMode="auto">
            <a:xfrm>
              <a:off x="2496" y="192"/>
              <a:ext cx="6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CC0000"/>
                  </a:solidFill>
                  <a:ea typeface="楷体_GB2312"/>
                </a:rPr>
                <a:t>柱形</a:t>
              </a:r>
              <a:endParaRPr lang="zh-CN" altLang="en-US" sz="2400">
                <a:solidFill>
                  <a:srgbClr val="CC0000"/>
                </a:solidFill>
                <a:ea typeface="楷体_GB2312"/>
              </a:endParaRPr>
            </a:p>
          </p:txBody>
        </p:sp>
        <p:sp>
          <p:nvSpPr>
            <p:cNvPr id="39944" name="AutoShape 21" descr="深色上对角线"/>
            <p:cNvSpPr>
              <a:spLocks noChangeArrowheads="1"/>
            </p:cNvSpPr>
            <p:nvPr/>
          </p:nvSpPr>
          <p:spPr bwMode="auto">
            <a:xfrm>
              <a:off x="2688" y="768"/>
              <a:ext cx="384" cy="1200"/>
            </a:xfrm>
            <a:prstGeom prst="can">
              <a:avLst>
                <a:gd name="adj" fmla="val 36458"/>
              </a:avLst>
            </a:prstGeom>
            <a:noFill/>
            <a:ln w="9525">
              <a:solidFill>
                <a:schemeClr val="tx1"/>
              </a:solidFill>
              <a:prstDash val="sysDot"/>
              <a:round/>
              <a:headEnd/>
              <a:tailEnd/>
            </a:ln>
            <a:effectLst/>
            <a:extLst>
              <a:ext uri="{909E8E84-426E-40DD-AFC4-6F175D3DCCD1}">
                <a14:hiddenFill xmlns:a14="http://schemas.microsoft.com/office/drawing/2010/main">
                  <a:pattFill prst="dkUpDiag">
                    <a:fgClr>
                      <a:schemeClr val="hlink"/>
                    </a:fgClr>
                    <a:bgClr>
                      <a:schemeClr val="bg1"/>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9945" name="AutoShape 22"/>
            <p:cNvSpPr>
              <a:spLocks noChangeArrowheads="1"/>
            </p:cNvSpPr>
            <p:nvPr/>
          </p:nvSpPr>
          <p:spPr bwMode="auto">
            <a:xfrm>
              <a:off x="2400" y="672"/>
              <a:ext cx="960" cy="1296"/>
            </a:xfrm>
            <a:prstGeom prst="can">
              <a:avLst>
                <a:gd name="adj" fmla="val 3375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39946" name="Line 23"/>
            <p:cNvSpPr>
              <a:spLocks noChangeShapeType="1"/>
            </p:cNvSpPr>
            <p:nvPr/>
          </p:nvSpPr>
          <p:spPr bwMode="auto">
            <a:xfrm>
              <a:off x="2880" y="528"/>
              <a:ext cx="0" cy="187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9947" name="Object 24"/>
            <p:cNvGraphicFramePr>
              <a:graphicFrameLocks noChangeAspect="1"/>
            </p:cNvGraphicFramePr>
            <p:nvPr/>
          </p:nvGraphicFramePr>
          <p:xfrm>
            <a:off x="2832" y="1056"/>
            <a:ext cx="279" cy="359"/>
          </p:xfrm>
          <a:graphic>
            <a:graphicData uri="http://schemas.openxmlformats.org/presentationml/2006/ole">
              <mc:AlternateContent xmlns:mc="http://schemas.openxmlformats.org/markup-compatibility/2006">
                <mc:Choice xmlns:v="urn:schemas-microsoft-com:vml" Requires="v">
                  <p:oleObj spid="_x0000_s40157" name="公式" r:id="rId5" imgW="266469" imgH="342603" progId="Equation.3">
                    <p:embed/>
                  </p:oleObj>
                </mc:Choice>
                <mc:Fallback>
                  <p:oleObj name="公式" r:id="rId5" imgW="266469" imgH="342603" progId="Equation.3">
                    <p:embed/>
                    <p:pic>
                      <p:nvPicPr>
                        <p:cNvPr id="0"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1056"/>
                          <a:ext cx="279"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8" name="Object 25"/>
            <p:cNvGraphicFramePr>
              <a:graphicFrameLocks noChangeAspect="1"/>
            </p:cNvGraphicFramePr>
            <p:nvPr/>
          </p:nvGraphicFramePr>
          <p:xfrm>
            <a:off x="3024" y="1488"/>
            <a:ext cx="341" cy="336"/>
          </p:xfrm>
          <a:graphic>
            <a:graphicData uri="http://schemas.openxmlformats.org/presentationml/2006/ole">
              <mc:AlternateContent xmlns:mc="http://schemas.openxmlformats.org/markup-compatibility/2006">
                <mc:Choice xmlns:v="urn:schemas-microsoft-com:vml" Requires="v">
                  <p:oleObj spid="_x0000_s40158" name="公式" r:id="rId7" imgW="304668" imgH="342751" progId="Equation.3">
                    <p:embed/>
                  </p:oleObj>
                </mc:Choice>
                <mc:Fallback>
                  <p:oleObj name="公式" r:id="rId7" imgW="304668" imgH="342751"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1488"/>
                          <a:ext cx="34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9" name="Line 26"/>
            <p:cNvSpPr>
              <a:spLocks noChangeShapeType="1"/>
            </p:cNvSpPr>
            <p:nvPr/>
          </p:nvSpPr>
          <p:spPr bwMode="auto">
            <a:xfrm>
              <a:off x="2880" y="1392"/>
              <a:ext cx="19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0" name="Line 27"/>
            <p:cNvSpPr>
              <a:spLocks noChangeShapeType="1"/>
            </p:cNvSpPr>
            <p:nvPr/>
          </p:nvSpPr>
          <p:spPr bwMode="auto">
            <a:xfrm>
              <a:off x="2880" y="1824"/>
              <a:ext cx="48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38274">
                                            <p:txEl>
                                              <p:pRg st="0" end="0"/>
                                            </p:txEl>
                                          </p:spTgt>
                                        </p:tgtEl>
                                        <p:attrNameLst>
                                          <p:attrName>style.visibility</p:attrName>
                                        </p:attrNameLst>
                                      </p:cBhvr>
                                      <p:to>
                                        <p:strVal val="visible"/>
                                      </p:to>
                                    </p:set>
                                    <p:animEffect transition="in" filter="wipe(left)">
                                      <p:cBhvr>
                                        <p:cTn id="7" dur="75"/>
                                        <p:tgtEl>
                                          <p:spTgt spid="4382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38274">
                                            <p:txEl>
                                              <p:pRg st="1" end="1"/>
                                            </p:txEl>
                                          </p:spTgt>
                                        </p:tgtEl>
                                        <p:attrNameLst>
                                          <p:attrName>style.visibility</p:attrName>
                                        </p:attrNameLst>
                                      </p:cBhvr>
                                      <p:to>
                                        <p:strVal val="visible"/>
                                      </p:to>
                                    </p:set>
                                    <p:animEffect transition="in" filter="wipe(left)">
                                      <p:cBhvr>
                                        <p:cTn id="12" dur="75"/>
                                        <p:tgtEl>
                                          <p:spTgt spid="43827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438274">
                                            <p:txEl>
                                              <p:pRg st="2" end="2"/>
                                            </p:txEl>
                                          </p:spTgt>
                                        </p:tgtEl>
                                        <p:attrNameLst>
                                          <p:attrName>style.visibility</p:attrName>
                                        </p:attrNameLst>
                                      </p:cBhvr>
                                      <p:to>
                                        <p:strVal val="visible"/>
                                      </p:to>
                                    </p:set>
                                    <p:animEffect transition="in" filter="wipe(left)">
                                      <p:cBhvr>
                                        <p:cTn id="17" dur="75"/>
                                        <p:tgtEl>
                                          <p:spTgt spid="43827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438274">
                                            <p:txEl>
                                              <p:pRg st="3" end="3"/>
                                            </p:txEl>
                                          </p:spTgt>
                                        </p:tgtEl>
                                        <p:attrNameLst>
                                          <p:attrName>style.visibility</p:attrName>
                                        </p:attrNameLst>
                                      </p:cBhvr>
                                      <p:to>
                                        <p:strVal val="visible"/>
                                      </p:to>
                                    </p:set>
                                    <p:animEffect transition="in" filter="wipe(left)">
                                      <p:cBhvr>
                                        <p:cTn id="22" dur="75"/>
                                        <p:tgtEl>
                                          <p:spTgt spid="43827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438274">
                                            <p:txEl>
                                              <p:pRg st="4" end="4"/>
                                            </p:txEl>
                                          </p:spTgt>
                                        </p:tgtEl>
                                        <p:attrNameLst>
                                          <p:attrName>style.visibility</p:attrName>
                                        </p:attrNameLst>
                                      </p:cBhvr>
                                      <p:to>
                                        <p:strVal val="visible"/>
                                      </p:to>
                                    </p:set>
                                    <p:animEffect transition="in" filter="wipe(left)">
                                      <p:cBhvr>
                                        <p:cTn id="27" dur="75"/>
                                        <p:tgtEl>
                                          <p:spTgt spid="438274">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438274">
                                            <p:txEl>
                                              <p:pRg st="5" end="5"/>
                                            </p:txEl>
                                          </p:spTgt>
                                        </p:tgtEl>
                                        <p:attrNameLst>
                                          <p:attrName>style.visibility</p:attrName>
                                        </p:attrNameLst>
                                      </p:cBhvr>
                                      <p:to>
                                        <p:strVal val="visible"/>
                                      </p:to>
                                    </p:set>
                                    <p:animEffect transition="in" filter="wipe(left)">
                                      <p:cBhvr>
                                        <p:cTn id="32" dur="75"/>
                                        <p:tgtEl>
                                          <p:spTgt spid="438274">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nodeType="clickEffect">
                                  <p:stCondLst>
                                    <p:cond delay="0"/>
                                  </p:stCondLst>
                                  <p:childTnLst>
                                    <p:set>
                                      <p:cBhvr>
                                        <p:cTn id="36" dur="1" fill="hold">
                                          <p:stCondLst>
                                            <p:cond delay="0"/>
                                          </p:stCondLst>
                                        </p:cTn>
                                        <p:tgtEl>
                                          <p:spTgt spid="438283"/>
                                        </p:tgtEl>
                                        <p:attrNameLst>
                                          <p:attrName>style.visibility</p:attrName>
                                        </p:attrNameLst>
                                      </p:cBhvr>
                                      <p:to>
                                        <p:strVal val="visible"/>
                                      </p:to>
                                    </p:set>
                                    <p:animEffect transition="in" filter="blinds(vertical)">
                                      <p:cBhvr>
                                        <p:cTn id="37" dur="500"/>
                                        <p:tgtEl>
                                          <p:spTgt spid="4382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nodeType="clickEffect">
                                  <p:stCondLst>
                                    <p:cond delay="0"/>
                                  </p:stCondLst>
                                  <p:childTnLst>
                                    <p:set>
                                      <p:cBhvr>
                                        <p:cTn id="41" dur="1" fill="hold">
                                          <p:stCondLst>
                                            <p:cond delay="0"/>
                                          </p:stCondLst>
                                        </p:cTn>
                                        <p:tgtEl>
                                          <p:spTgt spid="438291"/>
                                        </p:tgtEl>
                                        <p:attrNameLst>
                                          <p:attrName>style.visibility</p:attrName>
                                        </p:attrNameLst>
                                      </p:cBhvr>
                                      <p:to>
                                        <p:strVal val="visible"/>
                                      </p:to>
                                    </p:set>
                                    <p:animEffect transition="in" filter="blinds(vertical)">
                                      <p:cBhvr>
                                        <p:cTn id="42" dur="500"/>
                                        <p:tgtEl>
                                          <p:spTgt spid="43829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nodeType="clickEffect">
                                  <p:stCondLst>
                                    <p:cond delay="0"/>
                                  </p:stCondLst>
                                  <p:childTnLst>
                                    <p:set>
                                      <p:cBhvr>
                                        <p:cTn id="46" dur="1" fill="hold">
                                          <p:stCondLst>
                                            <p:cond delay="0"/>
                                          </p:stCondLst>
                                        </p:cTn>
                                        <p:tgtEl>
                                          <p:spTgt spid="438278"/>
                                        </p:tgtEl>
                                        <p:attrNameLst>
                                          <p:attrName>style.visibility</p:attrName>
                                        </p:attrNameLst>
                                      </p:cBhvr>
                                      <p:to>
                                        <p:strVal val="visible"/>
                                      </p:to>
                                    </p:set>
                                    <p:animEffect transition="in" filter="blinds(vertical)">
                                      <p:cBhvr>
                                        <p:cTn id="47" dur="500"/>
                                        <p:tgtEl>
                                          <p:spTgt spid="438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4"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8" descr="dcx117"/>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a:stretch>
            <a:fillRect/>
          </a:stretch>
        </p:blipFill>
        <p:spPr bwMode="auto">
          <a:xfrm>
            <a:off x="7938" y="6350"/>
            <a:ext cx="3836987"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3" name="Picture 7" descr="IMG_24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 y="3573463"/>
            <a:ext cx="3889375" cy="291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2"/>
          <p:cNvSpPr txBox="1">
            <a:spLocks noChangeArrowheads="1"/>
          </p:cNvSpPr>
          <p:nvPr/>
        </p:nvSpPr>
        <p:spPr bwMode="auto">
          <a:xfrm>
            <a:off x="-468313" y="6105525"/>
            <a:ext cx="51927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4000" b="1">
                <a:solidFill>
                  <a:srgbClr val="FF0000"/>
                </a:solidFill>
                <a:ea typeface="楷体_GB2312"/>
              </a:rPr>
              <a:t>闪光灯的内部结构</a:t>
            </a:r>
          </a:p>
        </p:txBody>
      </p:sp>
      <p:pic>
        <p:nvPicPr>
          <p:cNvPr id="40966" name="Picture 6" descr="26-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4388" y="39688"/>
            <a:ext cx="4038600" cy="331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图片 2">
            <a:extLst>
              <a:ext uri="{FF2B5EF4-FFF2-40B4-BE49-F238E27FC236}">
                <a16:creationId xmlns:a16="http://schemas.microsoft.com/office/drawing/2014/main" id="{A17A6B5D-69BF-49C8-9D84-5647CEAAB9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1858" y="3359150"/>
            <a:ext cx="4038600" cy="3237611"/>
          </a:xfrm>
          <a:prstGeom prst="rect">
            <a:avLst/>
          </a:prstGeom>
        </p:spPr>
      </p:pic>
      <p:sp>
        <p:nvSpPr>
          <p:cNvPr id="9" name="Rectangle 2">
            <a:extLst>
              <a:ext uri="{FF2B5EF4-FFF2-40B4-BE49-F238E27FC236}">
                <a16:creationId xmlns:a16="http://schemas.microsoft.com/office/drawing/2014/main" id="{0CE48E60-7CD3-47D3-9E0D-66A366FB5312}"/>
              </a:ext>
            </a:extLst>
          </p:cNvPr>
          <p:cNvSpPr txBox="1">
            <a:spLocks noChangeArrowheads="1"/>
          </p:cNvSpPr>
          <p:nvPr/>
        </p:nvSpPr>
        <p:spPr bwMode="auto">
          <a:xfrm>
            <a:off x="4033838" y="6105525"/>
            <a:ext cx="51927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4000" b="1">
                <a:solidFill>
                  <a:srgbClr val="FF0000"/>
                </a:solidFill>
                <a:ea typeface="楷体_GB2312"/>
              </a:rPr>
              <a:t>计算机主板</a:t>
            </a:r>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a:extLst>
              <a:ext uri="{FF2B5EF4-FFF2-40B4-BE49-F238E27FC236}">
                <a16:creationId xmlns:a16="http://schemas.microsoft.com/office/drawing/2014/main" id="{C033F0AE-6509-45CD-956C-BC3A61AEB9FB}"/>
              </a:ext>
            </a:extLst>
          </p:cNvPr>
          <p:cNvSpPr>
            <a:spLocks noChangeArrowheads="1"/>
          </p:cNvSpPr>
          <p:nvPr/>
        </p:nvSpPr>
        <p:spPr bwMode="auto">
          <a:xfrm>
            <a:off x="89594" y="652517"/>
            <a:ext cx="9036050" cy="6016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b="1">
                <a:solidFill>
                  <a:srgbClr val="FF0000"/>
                </a:solidFill>
                <a:ea typeface="楷体_GB2312" pitchFamily="49" charset="-122"/>
              </a:rPr>
              <a:t>1</a:t>
            </a:r>
            <a:r>
              <a:rPr lang="zh-CN" altLang="en-US" sz="2400" b="1">
                <a:solidFill>
                  <a:srgbClr val="FF0000"/>
                </a:solidFill>
                <a:ea typeface="楷体_GB2312" pitchFamily="49" charset="-122"/>
              </a:rPr>
              <a:t>、静电场中的导体</a:t>
            </a:r>
          </a:p>
          <a:p>
            <a:pPr eaLnBrk="1" hangingPunct="1">
              <a:buFontTx/>
              <a:buNone/>
            </a:pPr>
            <a:r>
              <a:rPr lang="en-US" altLang="zh-CN" sz="2400" b="1">
                <a:ea typeface="楷体_GB2312" pitchFamily="49" charset="-122"/>
              </a:rPr>
              <a:t>1</a:t>
            </a:r>
            <a:r>
              <a:rPr lang="zh-CN" altLang="en-US" sz="2400" b="1">
                <a:ea typeface="楷体_GB2312" pitchFamily="49" charset="-122"/>
              </a:rPr>
              <a:t>）、导体的静电平衡及其条件</a:t>
            </a:r>
            <a:endParaRPr lang="zh-CN" altLang="en-US" sz="2400" b="1">
              <a:solidFill>
                <a:schemeClr val="accent2"/>
              </a:solidFill>
              <a:ea typeface="楷体_GB2312" pitchFamily="49" charset="-122"/>
            </a:endParaRPr>
          </a:p>
          <a:p>
            <a:pPr eaLnBrk="1" hangingPunct="1">
              <a:buFontTx/>
              <a:buNone/>
            </a:pPr>
            <a:r>
              <a:rPr lang="zh-CN" altLang="en-US" sz="2400" b="1">
                <a:solidFill>
                  <a:schemeClr val="accent2"/>
                </a:solidFill>
                <a:ea typeface="楷体_GB2312" pitchFamily="49" charset="-122"/>
              </a:rPr>
              <a:t>导体处于静电平衡状态的</a:t>
            </a:r>
            <a:r>
              <a:rPr lang="zh-CN" altLang="en-US" sz="2400" b="1">
                <a:solidFill>
                  <a:srgbClr val="FF6600"/>
                </a:solidFill>
                <a:ea typeface="楷体_GB2312" pitchFamily="49" charset="-122"/>
              </a:rPr>
              <a:t>必要条件</a:t>
            </a:r>
            <a:r>
              <a:rPr lang="zh-CN" altLang="en-US" sz="2400" b="1">
                <a:solidFill>
                  <a:schemeClr val="accent2"/>
                </a:solidFill>
                <a:ea typeface="楷体_GB2312" pitchFamily="49" charset="-122"/>
              </a:rPr>
              <a:t>是： </a:t>
            </a:r>
            <a:r>
              <a:rPr lang="en-US" altLang="zh-CN" sz="2400" b="1">
                <a:solidFill>
                  <a:schemeClr val="accent2"/>
                </a:solidFill>
                <a:ea typeface="楷体_GB2312" pitchFamily="49" charset="-122"/>
              </a:rPr>
              <a:t>(1)</a:t>
            </a:r>
            <a:r>
              <a:rPr lang="zh-CN" altLang="en-US" sz="2400" b="1">
                <a:solidFill>
                  <a:schemeClr val="accent2"/>
                </a:solidFill>
                <a:ea typeface="楷体_GB2312" pitchFamily="49" charset="-122"/>
              </a:rPr>
              <a:t>导体内部任何一点的场强都等于零；</a:t>
            </a:r>
          </a:p>
          <a:p>
            <a:pPr eaLnBrk="1" hangingPunct="1">
              <a:buFontTx/>
              <a:buNone/>
            </a:pPr>
            <a:r>
              <a:rPr lang="zh-CN" altLang="en-US" sz="2400" b="1">
                <a:solidFill>
                  <a:schemeClr val="accent2"/>
                </a:solidFill>
                <a:ea typeface="楷体_GB2312" pitchFamily="49" charset="-122"/>
              </a:rPr>
              <a:t> </a:t>
            </a:r>
            <a:r>
              <a:rPr lang="en-US" altLang="zh-CN" sz="2400" b="1">
                <a:solidFill>
                  <a:schemeClr val="accent2"/>
                </a:solidFill>
                <a:ea typeface="楷体_GB2312" pitchFamily="49" charset="-122"/>
              </a:rPr>
              <a:t>(2)</a:t>
            </a:r>
            <a:r>
              <a:rPr lang="zh-CN" altLang="en-US" sz="2400" b="1">
                <a:solidFill>
                  <a:schemeClr val="accent2"/>
                </a:solidFill>
                <a:ea typeface="楷体_GB2312" pitchFamily="49" charset="-122"/>
              </a:rPr>
              <a:t>导体表面附近任一点的场强方向垂直于该点的表面。</a:t>
            </a:r>
          </a:p>
          <a:p>
            <a:pPr eaLnBrk="1" hangingPunct="1">
              <a:buFontTx/>
              <a:buNone/>
            </a:pPr>
            <a:r>
              <a:rPr lang="en-US" altLang="zh-CN" sz="2400" b="1">
                <a:ea typeface="楷体_GB2312" pitchFamily="49" charset="-122"/>
              </a:rPr>
              <a:t>2</a:t>
            </a:r>
            <a:r>
              <a:rPr lang="zh-CN" altLang="en-US" sz="2400" b="1">
                <a:ea typeface="楷体_GB2312" pitchFamily="49" charset="-122"/>
              </a:rPr>
              <a:t>）、静电平衡的导体的基本性质</a:t>
            </a:r>
          </a:p>
          <a:p>
            <a:pPr eaLnBrk="1" hangingPunct="1">
              <a:buFontTx/>
              <a:buNone/>
            </a:pPr>
            <a:r>
              <a:rPr lang="zh-CN" altLang="en-US" sz="2400" b="1">
                <a:solidFill>
                  <a:schemeClr val="accent2"/>
                </a:solidFill>
                <a:ea typeface="楷体_GB2312" pitchFamily="49" charset="-122"/>
              </a:rPr>
              <a:t>（</a:t>
            </a:r>
            <a:r>
              <a:rPr lang="en-US" altLang="zh-CN" sz="2400" b="1">
                <a:solidFill>
                  <a:schemeClr val="accent2"/>
                </a:solidFill>
                <a:ea typeface="楷体_GB2312" pitchFamily="49" charset="-122"/>
              </a:rPr>
              <a:t>1</a:t>
            </a:r>
            <a:r>
              <a:rPr lang="zh-CN" altLang="en-US" sz="2400" b="1">
                <a:solidFill>
                  <a:schemeClr val="accent2"/>
                </a:solidFill>
                <a:ea typeface="楷体_GB2312" pitchFamily="49" charset="-122"/>
              </a:rPr>
              <a:t>）导体是个等势体，导体表面是个等势面。</a:t>
            </a:r>
            <a:endParaRPr lang="en-US" altLang="zh-CN" sz="2400" b="1">
              <a:solidFill>
                <a:schemeClr val="accent2"/>
              </a:solidFill>
              <a:ea typeface="楷体_GB2312" pitchFamily="49" charset="-122"/>
            </a:endParaRPr>
          </a:p>
          <a:p>
            <a:pPr eaLnBrk="1" hangingPunct="1">
              <a:buFontTx/>
              <a:buNone/>
            </a:pPr>
            <a:r>
              <a:rPr lang="zh-CN" altLang="en-US" sz="2400" b="1">
                <a:solidFill>
                  <a:schemeClr val="accent2"/>
                </a:solidFill>
                <a:ea typeface="楷体_GB2312" pitchFamily="49" charset="-122"/>
              </a:rPr>
              <a:t>（</a:t>
            </a:r>
            <a:r>
              <a:rPr lang="en-US" altLang="zh-CN" sz="2400" b="1">
                <a:solidFill>
                  <a:schemeClr val="accent2"/>
                </a:solidFill>
                <a:ea typeface="楷体_GB2312" pitchFamily="49" charset="-122"/>
              </a:rPr>
              <a:t>2</a:t>
            </a:r>
            <a:r>
              <a:rPr lang="zh-CN" altLang="en-US" sz="2400" b="1">
                <a:solidFill>
                  <a:schemeClr val="accent2"/>
                </a:solidFill>
                <a:ea typeface="楷体_GB2312" pitchFamily="49" charset="-122"/>
              </a:rPr>
              <a:t>）</a:t>
            </a:r>
            <a:r>
              <a:rPr lang="zh-CN" altLang="en-US" sz="2400" b="1">
                <a:solidFill>
                  <a:schemeClr val="accent2"/>
                </a:solidFill>
                <a:ea typeface="楷体_GB2312" pitchFamily="49" charset="-122"/>
                <a:sym typeface="Symbol" panose="05050102010706020507" pitchFamily="18" charset="2"/>
              </a:rPr>
              <a:t>导体内部没有静电荷，电荷只分布在导体表面。</a:t>
            </a:r>
          </a:p>
          <a:p>
            <a:pPr eaLnBrk="1" hangingPunct="1">
              <a:buFontTx/>
              <a:buNone/>
            </a:pPr>
            <a:r>
              <a:rPr lang="zh-CN" altLang="en-US" sz="2400" b="1">
                <a:solidFill>
                  <a:schemeClr val="accent2"/>
                </a:solidFill>
                <a:ea typeface="楷体_GB2312" pitchFamily="49" charset="-122"/>
                <a:sym typeface="Symbol" panose="05050102010706020507" pitchFamily="18" charset="2"/>
              </a:rPr>
              <a:t>（</a:t>
            </a:r>
            <a:r>
              <a:rPr lang="en-US" altLang="zh-CN" sz="2400" b="1">
                <a:solidFill>
                  <a:schemeClr val="accent2"/>
                </a:solidFill>
                <a:ea typeface="楷体_GB2312" pitchFamily="49" charset="-122"/>
                <a:sym typeface="Symbol" panose="05050102010706020507" pitchFamily="18" charset="2"/>
              </a:rPr>
              <a:t>3</a:t>
            </a:r>
            <a:r>
              <a:rPr lang="zh-CN" altLang="en-US" sz="2400" b="1">
                <a:solidFill>
                  <a:schemeClr val="accent2"/>
                </a:solidFill>
                <a:ea typeface="楷体_GB2312" pitchFamily="49" charset="-122"/>
                <a:sym typeface="Symbol" panose="05050102010706020507" pitchFamily="18" charset="2"/>
              </a:rPr>
              <a:t>）</a:t>
            </a:r>
            <a:r>
              <a:rPr lang="zh-CN" altLang="en-US" sz="2400" b="1">
                <a:solidFill>
                  <a:schemeClr val="accent2"/>
                </a:solidFill>
                <a:ea typeface="楷体_GB2312" pitchFamily="49" charset="-122"/>
              </a:rPr>
              <a:t>导体表面附近的场强处处垂直于导体表面，大小：</a:t>
            </a:r>
            <a:r>
              <a:rPr lang="en-US" altLang="zh-CN" sz="2400" b="1">
                <a:solidFill>
                  <a:schemeClr val="accent2"/>
                </a:solidFill>
                <a:ea typeface="楷体_GB2312" pitchFamily="49" charset="-122"/>
              </a:rPr>
              <a:t>E</a:t>
            </a:r>
            <a:r>
              <a:rPr lang="zh-CN" altLang="en-US" sz="2400" b="1">
                <a:solidFill>
                  <a:schemeClr val="accent2"/>
                </a:solidFill>
                <a:ea typeface="楷体_GB2312" pitchFamily="49" charset="-122"/>
              </a:rPr>
              <a:t>＝</a:t>
            </a:r>
            <a:r>
              <a:rPr lang="zh-CN" altLang="en-US" sz="2400" b="1">
                <a:solidFill>
                  <a:schemeClr val="accent2"/>
                </a:solidFill>
                <a:ea typeface="楷体_GB2312" pitchFamily="49" charset="-122"/>
                <a:sym typeface="Symbol" panose="05050102010706020507" pitchFamily="18" charset="2"/>
              </a:rPr>
              <a:t></a:t>
            </a:r>
            <a:r>
              <a:rPr lang="en-US" altLang="zh-CN" sz="2400" b="1">
                <a:solidFill>
                  <a:schemeClr val="accent2"/>
                </a:solidFill>
                <a:ea typeface="楷体_GB2312" pitchFamily="49" charset="-122"/>
                <a:sym typeface="Symbol" panose="05050102010706020507" pitchFamily="18" charset="2"/>
              </a:rPr>
              <a:t>/ </a:t>
            </a:r>
            <a:r>
              <a:rPr lang="en-US" altLang="zh-CN" sz="2400" b="1" baseline="-25000">
                <a:solidFill>
                  <a:schemeClr val="accent2"/>
                </a:solidFill>
                <a:ea typeface="楷体_GB2312" pitchFamily="49" charset="-122"/>
                <a:sym typeface="Symbol" panose="05050102010706020507" pitchFamily="18" charset="2"/>
              </a:rPr>
              <a:t>0</a:t>
            </a:r>
          </a:p>
          <a:p>
            <a:pPr eaLnBrk="1" hangingPunct="1">
              <a:buFontTx/>
              <a:buNone/>
            </a:pPr>
            <a:r>
              <a:rPr lang="zh-CN" altLang="en-US" sz="2400" b="1">
                <a:solidFill>
                  <a:schemeClr val="accent2"/>
                </a:solidFill>
                <a:ea typeface="楷体_GB2312" pitchFamily="49" charset="-122"/>
                <a:sym typeface="Symbol" panose="05050102010706020507" pitchFamily="18" charset="2"/>
              </a:rPr>
              <a:t>（</a:t>
            </a:r>
            <a:r>
              <a:rPr lang="en-US" altLang="zh-CN" sz="2400" b="1">
                <a:solidFill>
                  <a:schemeClr val="accent2"/>
                </a:solidFill>
                <a:ea typeface="楷体_GB2312" pitchFamily="49" charset="-122"/>
                <a:sym typeface="Symbol" panose="05050102010706020507" pitchFamily="18" charset="2"/>
              </a:rPr>
              <a:t>4</a:t>
            </a:r>
            <a:r>
              <a:rPr lang="zh-CN" altLang="en-US" sz="2400" b="1">
                <a:solidFill>
                  <a:schemeClr val="accent2"/>
                </a:solidFill>
                <a:ea typeface="楷体_GB2312" pitchFamily="49" charset="-122"/>
                <a:sym typeface="Symbol" panose="05050102010706020507" pitchFamily="18" charset="2"/>
              </a:rPr>
              <a:t>）导体腔内如果</a:t>
            </a:r>
            <a:r>
              <a:rPr lang="zh-CN" altLang="en-US" sz="2400" b="1">
                <a:solidFill>
                  <a:srgbClr val="FF0000"/>
                </a:solidFill>
                <a:ea typeface="楷体_GB2312" pitchFamily="49" charset="-122"/>
                <a:sym typeface="Symbol" panose="05050102010706020507" pitchFamily="18" charset="2"/>
              </a:rPr>
              <a:t>没有带电体</a:t>
            </a:r>
            <a:r>
              <a:rPr lang="zh-CN" altLang="en-US" sz="2400" b="1">
                <a:solidFill>
                  <a:schemeClr val="accent2"/>
                </a:solidFill>
                <a:ea typeface="楷体_GB2312" pitchFamily="49" charset="-122"/>
                <a:sym typeface="Symbol" panose="05050102010706020507" pitchFamily="18" charset="2"/>
              </a:rPr>
              <a:t>，则导体内表面处处无电荷，电荷只分布在导体</a:t>
            </a:r>
            <a:r>
              <a:rPr lang="zh-CN" altLang="en-US" sz="2400" b="1">
                <a:solidFill>
                  <a:srgbClr val="FF0000"/>
                </a:solidFill>
                <a:ea typeface="楷体_GB2312" pitchFamily="49" charset="-122"/>
                <a:sym typeface="Symbol" panose="05050102010706020507" pitchFamily="18" charset="2"/>
              </a:rPr>
              <a:t>外表面</a:t>
            </a:r>
            <a:r>
              <a:rPr lang="zh-CN" altLang="en-US" sz="2400" b="1">
                <a:solidFill>
                  <a:schemeClr val="accent2"/>
                </a:solidFill>
                <a:ea typeface="楷体_GB2312" pitchFamily="49" charset="-122"/>
                <a:sym typeface="Symbol" panose="05050102010706020507" pitchFamily="18" charset="2"/>
              </a:rPr>
              <a:t>。导体腔内如果</a:t>
            </a:r>
            <a:r>
              <a:rPr lang="zh-CN" altLang="en-US" sz="2400" b="1">
                <a:solidFill>
                  <a:srgbClr val="FF0000"/>
                </a:solidFill>
                <a:ea typeface="楷体_GB2312" pitchFamily="49" charset="-122"/>
                <a:sym typeface="Symbol" panose="05050102010706020507" pitchFamily="18" charset="2"/>
              </a:rPr>
              <a:t>有隔离电荷</a:t>
            </a:r>
            <a:r>
              <a:rPr lang="en-US" altLang="zh-CN" sz="2400" b="1">
                <a:solidFill>
                  <a:srgbClr val="FF0000"/>
                </a:solidFill>
                <a:ea typeface="楷体_GB2312" pitchFamily="49" charset="-122"/>
                <a:sym typeface="Symbol" panose="05050102010706020507" pitchFamily="18" charset="2"/>
              </a:rPr>
              <a:t>Q</a:t>
            </a:r>
            <a:r>
              <a:rPr lang="zh-CN" altLang="en-US" sz="2400" b="1">
                <a:solidFill>
                  <a:schemeClr val="accent2"/>
                </a:solidFill>
                <a:ea typeface="楷体_GB2312" pitchFamily="49" charset="-122"/>
                <a:sym typeface="Symbol" panose="05050102010706020507" pitchFamily="18" charset="2"/>
              </a:rPr>
              <a:t>，则导体内表面应分布有等量的异号电荷－</a:t>
            </a:r>
            <a:r>
              <a:rPr lang="en-US" altLang="zh-CN" sz="2400" b="1">
                <a:solidFill>
                  <a:schemeClr val="accent2"/>
                </a:solidFill>
                <a:ea typeface="楷体_GB2312" pitchFamily="49" charset="-122"/>
                <a:sym typeface="Symbol" panose="05050102010706020507" pitchFamily="18" charset="2"/>
              </a:rPr>
              <a:t>Q</a:t>
            </a:r>
            <a:r>
              <a:rPr lang="zh-CN" altLang="en-US" sz="2400" b="1">
                <a:solidFill>
                  <a:schemeClr val="accent2"/>
                </a:solidFill>
                <a:ea typeface="楷体_GB2312" pitchFamily="49" charset="-122"/>
                <a:sym typeface="Symbol" panose="05050102010706020507" pitchFamily="18" charset="2"/>
              </a:rPr>
              <a:t>。</a:t>
            </a:r>
          </a:p>
          <a:p>
            <a:pPr eaLnBrk="1" hangingPunct="1">
              <a:buFontTx/>
              <a:buNone/>
            </a:pPr>
            <a:endParaRPr lang="en-US" altLang="zh-CN" sz="2400" b="1">
              <a:solidFill>
                <a:srgbClr val="FF0000"/>
              </a:solidFill>
              <a:ea typeface="楷体_GB2312" pitchFamily="49" charset="-122"/>
            </a:endParaRPr>
          </a:p>
          <a:p>
            <a:pPr eaLnBrk="1" hangingPunct="1">
              <a:buFontTx/>
              <a:buNone/>
            </a:pPr>
            <a:r>
              <a:rPr lang="en-US" altLang="zh-CN" sz="2400" b="1">
                <a:solidFill>
                  <a:srgbClr val="FF0000"/>
                </a:solidFill>
                <a:ea typeface="楷体_GB2312" pitchFamily="49" charset="-122"/>
              </a:rPr>
              <a:t>2</a:t>
            </a:r>
            <a:r>
              <a:rPr lang="zh-CN" altLang="en-US" sz="2400" b="1">
                <a:solidFill>
                  <a:srgbClr val="FF0000"/>
                </a:solidFill>
                <a:ea typeface="楷体_GB2312" pitchFamily="49" charset="-122"/>
              </a:rPr>
              <a:t>、电容及其计算     孤立带电体的电容：</a:t>
            </a:r>
          </a:p>
        </p:txBody>
      </p:sp>
      <p:graphicFrame>
        <p:nvGraphicFramePr>
          <p:cNvPr id="64516" name="Object 7">
            <a:extLst>
              <a:ext uri="{FF2B5EF4-FFF2-40B4-BE49-F238E27FC236}">
                <a16:creationId xmlns:a16="http://schemas.microsoft.com/office/drawing/2014/main" id="{2C0BC6C2-9F79-43B4-85A0-7696EA6E46A0}"/>
              </a:ext>
            </a:extLst>
          </p:cNvPr>
          <p:cNvGraphicFramePr>
            <a:graphicFrameLocks noChangeAspect="1"/>
          </p:cNvGraphicFramePr>
          <p:nvPr>
            <p:extLst>
              <p:ext uri="{D42A27DB-BD31-4B8C-83A1-F6EECF244321}">
                <p14:modId xmlns:p14="http://schemas.microsoft.com/office/powerpoint/2010/main" val="3376756464"/>
              </p:ext>
            </p:extLst>
          </p:nvPr>
        </p:nvGraphicFramePr>
        <p:xfrm>
          <a:off x="6471027" y="5847502"/>
          <a:ext cx="833437" cy="715962"/>
        </p:xfrm>
        <a:graphic>
          <a:graphicData uri="http://schemas.openxmlformats.org/presentationml/2006/ole">
            <mc:AlternateContent xmlns:mc="http://schemas.openxmlformats.org/markup-compatibility/2006">
              <mc:Choice xmlns:v="urn:schemas-microsoft-com:vml" Requires="v">
                <p:oleObj spid="_x0000_s108558" name="Equation" r:id="rId3" imgW="457002" imgH="393529" progId="Equation.DSMT4">
                  <p:embed/>
                </p:oleObj>
              </mc:Choice>
              <mc:Fallback>
                <p:oleObj name="Equation" r:id="rId3" imgW="457002" imgH="393529" progId="Equation.DSMT4">
                  <p:embed/>
                  <p:pic>
                    <p:nvPicPr>
                      <p:cNvPr id="64516" name="Object 7">
                        <a:extLst>
                          <a:ext uri="{FF2B5EF4-FFF2-40B4-BE49-F238E27FC236}">
                            <a16:creationId xmlns:a16="http://schemas.microsoft.com/office/drawing/2014/main" id="{2C0BC6C2-9F79-43B4-85A0-7696EA6E46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1027" y="5847502"/>
                        <a:ext cx="833437" cy="715962"/>
                      </a:xfrm>
                      <a:prstGeom prst="rect">
                        <a:avLst/>
                      </a:prstGeom>
                      <a:solidFill>
                        <a:srgbClr val="FFFF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2">
            <a:extLst>
              <a:ext uri="{FF2B5EF4-FFF2-40B4-BE49-F238E27FC236}">
                <a16:creationId xmlns:a16="http://schemas.microsoft.com/office/drawing/2014/main" id="{1E854AF3-69B1-4652-A970-D030997B7722}"/>
              </a:ext>
            </a:extLst>
          </p:cNvPr>
          <p:cNvSpPr>
            <a:spLocks noRot="1" noChangeArrowheads="1"/>
          </p:cNvSpPr>
          <p:nvPr/>
        </p:nvSpPr>
        <p:spPr bwMode="auto">
          <a:xfrm>
            <a:off x="1475656" y="95954"/>
            <a:ext cx="5832648" cy="556563"/>
          </a:xfrm>
          <a:prstGeom prst="rect">
            <a:avLst/>
          </a:prstGeom>
          <a:gradFill rotWithShape="0">
            <a:gsLst>
              <a:gs pos="0">
                <a:srgbClr val="83A1FF"/>
              </a:gs>
              <a:gs pos="50000">
                <a:srgbClr val="FFFFFF"/>
              </a:gs>
              <a:gs pos="100000">
                <a:srgbClr val="83A1FF"/>
              </a:gs>
            </a:gsLst>
            <a:lin ang="5400000" scaled="1"/>
          </a:gradFill>
          <a:ln>
            <a:noFill/>
          </a:ln>
          <a:effectLst/>
          <a:extLst>
            <a:ext uri="{91240B29-F687-4F45-9708-019B960494DF}">
              <a14:hiddenLine xmlns:a14="http://schemas.microsoft.com/office/drawing/2010/main" w="57150">
                <a:solidFill>
                  <a:srgbClr val="FF9900"/>
                </a:solidFill>
                <a:miter lim="800000"/>
                <a:headEnd/>
                <a:tailEnd/>
              </a14:hiddenLine>
            </a:ext>
            <a:ext uri="{AF507438-7753-43E0-B8FC-AC1667EBCBE1}">
              <a14:hiddenEffects xmlns:a14="http://schemas.microsoft.com/office/drawing/2010/main">
                <a:effectLst>
                  <a:outerShdw dist="107763" dir="13500000" algn="ctr" rotWithShape="0">
                    <a:schemeClr val="bg2"/>
                  </a:outerShdw>
                </a:effectLst>
              </a14:hiddenEffects>
            </a:ext>
          </a:extLst>
        </p:spPr>
        <p:txBody>
          <a:bodyPr anchor="ctr"/>
          <a:lstStyle/>
          <a:p>
            <a:pPr eaLnBrk="0" hangingPunct="0">
              <a:lnSpc>
                <a:spcPct val="80000"/>
              </a:lnSpc>
              <a:spcBef>
                <a:spcPct val="0"/>
              </a:spcBef>
            </a:pPr>
            <a:r>
              <a:rPr kumimoji="0" lang="zh-CN" altLang="en-US" sz="2400" b="1" dirty="0">
                <a:solidFill>
                  <a:schemeClr val="tx1"/>
                </a:solidFill>
                <a:latin typeface="华文细黑" pitchFamily="2" charset="-122"/>
                <a:ea typeface="华文细黑" pitchFamily="2" charset="-122"/>
              </a:rPr>
              <a:t>                      静电场中的导体</a:t>
            </a:r>
            <a:r>
              <a:rPr kumimoji="0" lang="en-US" altLang="zh-CN" sz="2400" b="1" dirty="0">
                <a:solidFill>
                  <a:schemeClr val="tx1"/>
                </a:solidFill>
                <a:latin typeface="华文细黑" pitchFamily="2" charset="-122"/>
                <a:ea typeface="华文细黑" pitchFamily="2" charset="-122"/>
              </a:rPr>
              <a:t>-</a:t>
            </a:r>
            <a:r>
              <a:rPr kumimoji="0" lang="zh-CN" altLang="en-US" sz="2400" b="1" dirty="0">
                <a:solidFill>
                  <a:srgbClr val="FF0000"/>
                </a:solidFill>
                <a:latin typeface="华文细黑" pitchFamily="2" charset="-122"/>
                <a:ea typeface="华文细黑" pitchFamily="2" charset="-122"/>
              </a:rPr>
              <a:t>内容回顾</a:t>
            </a:r>
          </a:p>
        </p:txBody>
      </p:sp>
      <p:pic>
        <p:nvPicPr>
          <p:cNvPr id="6" name="图片 5">
            <a:extLst>
              <a:ext uri="{FF2B5EF4-FFF2-40B4-BE49-F238E27FC236}">
                <a16:creationId xmlns:a16="http://schemas.microsoft.com/office/drawing/2014/main" id="{A0D61856-BFF8-4678-9ED5-9000C59269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17585" y="2107658"/>
            <a:ext cx="1149878" cy="1002037"/>
          </a:xfrm>
          <a:prstGeom prst="rect">
            <a:avLst/>
          </a:prstGeom>
        </p:spPr>
      </p:pic>
      <p:graphicFrame>
        <p:nvGraphicFramePr>
          <p:cNvPr id="7" name="Object 13">
            <a:extLst>
              <a:ext uri="{FF2B5EF4-FFF2-40B4-BE49-F238E27FC236}">
                <a16:creationId xmlns:a16="http://schemas.microsoft.com/office/drawing/2014/main" id="{F71CEC33-E3E1-42BE-829E-2356893CA9EA}"/>
              </a:ext>
            </a:extLst>
          </p:cNvPr>
          <p:cNvGraphicFramePr>
            <a:graphicFrameLocks noChangeAspect="1"/>
          </p:cNvGraphicFramePr>
          <p:nvPr>
            <p:extLst>
              <p:ext uri="{D42A27DB-BD31-4B8C-83A1-F6EECF244321}">
                <p14:modId xmlns:p14="http://schemas.microsoft.com/office/powerpoint/2010/main" val="753520350"/>
              </p:ext>
            </p:extLst>
          </p:nvPr>
        </p:nvGraphicFramePr>
        <p:xfrm>
          <a:off x="7760189" y="3259958"/>
          <a:ext cx="992088" cy="762000"/>
        </p:xfrm>
        <a:graphic>
          <a:graphicData uri="http://schemas.openxmlformats.org/presentationml/2006/ole">
            <mc:AlternateContent xmlns:mc="http://schemas.openxmlformats.org/markup-compatibility/2006">
              <mc:Choice xmlns:v="urn:schemas-microsoft-com:vml" Requires="v">
                <p:oleObj spid="_x0000_s108559" name="Equation" r:id="rId6" imgW="596900" imgH="431800" progId="Equation.3">
                  <p:embed/>
                </p:oleObj>
              </mc:Choice>
              <mc:Fallback>
                <p:oleObj name="Equation" r:id="rId6" imgW="596900" imgH="431800" progId="Equation.3">
                  <p:embed/>
                  <p:pic>
                    <p:nvPicPr>
                      <p:cNvPr id="409613"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0189" y="3259958"/>
                        <a:ext cx="992088" cy="762000"/>
                      </a:xfrm>
                      <a:prstGeom prst="rect">
                        <a:avLst/>
                      </a:prstGeom>
                      <a:gradFill rotWithShape="0">
                        <a:gsLst>
                          <a:gs pos="0">
                            <a:srgbClr val="3D8CFF"/>
                          </a:gs>
                          <a:gs pos="50000">
                            <a:srgbClr val="FFFFFF"/>
                          </a:gs>
                          <a:gs pos="100000">
                            <a:srgbClr val="3D8CFF"/>
                          </a:gs>
                        </a:gsLst>
                        <a:lin ang="5400000" scaled="1"/>
                      </a:gradFill>
                      <a:ln w="38100">
                        <a:solidFill>
                          <a:srgbClr val="FF0000"/>
                        </a:solidFill>
                        <a:miter lim="800000"/>
                        <a:headEnd/>
                        <a:tailEnd/>
                      </a:ln>
                      <a:effectLst/>
                      <a:extLst/>
                    </p:spPr>
                  </p:pic>
                </p:oleObj>
              </mc:Fallback>
            </mc:AlternateContent>
          </a:graphicData>
        </a:graphic>
      </p:graphicFrame>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2"/>
          <p:cNvSpPr txBox="1">
            <a:spLocks noChangeArrowheads="1"/>
          </p:cNvSpPr>
          <p:nvPr/>
        </p:nvSpPr>
        <p:spPr bwMode="auto">
          <a:xfrm>
            <a:off x="503600" y="4554986"/>
            <a:ext cx="4140408" cy="231050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zh-CN" altLang="en-US" sz="2400" b="1">
                <a:ea typeface="楷体_GB2312"/>
              </a:rPr>
              <a:t>在电路中：通交流、隔直流；</a:t>
            </a:r>
          </a:p>
          <a:p>
            <a:pPr eaLnBrk="1" hangingPunct="1">
              <a:spcBef>
                <a:spcPct val="0"/>
              </a:spcBef>
            </a:pPr>
            <a:r>
              <a:rPr lang="zh-CN" altLang="en-US" sz="2400" b="1">
                <a:ea typeface="楷体_GB2312"/>
              </a:rPr>
              <a:t>与其它元件可以组成振荡器、时间延迟电路等；</a:t>
            </a:r>
          </a:p>
          <a:p>
            <a:pPr eaLnBrk="1" hangingPunct="1">
              <a:spcBef>
                <a:spcPct val="0"/>
              </a:spcBef>
            </a:pPr>
            <a:r>
              <a:rPr lang="zh-CN" altLang="en-US" sz="2400" b="1">
                <a:ea typeface="楷体_GB2312"/>
              </a:rPr>
              <a:t>储存电能的元件；</a:t>
            </a:r>
          </a:p>
          <a:p>
            <a:pPr eaLnBrk="1" hangingPunct="1">
              <a:spcBef>
                <a:spcPct val="0"/>
              </a:spcBef>
            </a:pPr>
            <a:r>
              <a:rPr lang="zh-CN" altLang="en-US" sz="2400" b="1">
                <a:ea typeface="楷体_GB2312"/>
              </a:rPr>
              <a:t>真空器件中建立各种电场；</a:t>
            </a:r>
          </a:p>
          <a:p>
            <a:pPr eaLnBrk="1" hangingPunct="1">
              <a:spcBef>
                <a:spcPct val="0"/>
              </a:spcBef>
            </a:pPr>
            <a:r>
              <a:rPr lang="zh-CN" altLang="en-US" sz="2400" b="1">
                <a:ea typeface="楷体_GB2312"/>
              </a:rPr>
              <a:t>各种电子仪器。</a:t>
            </a:r>
            <a:endParaRPr lang="zh-CN" altLang="en-US" sz="3600" b="1">
              <a:solidFill>
                <a:srgbClr val="FF3300"/>
              </a:solidFill>
              <a:ea typeface="楷体_GB2312"/>
            </a:endParaRPr>
          </a:p>
        </p:txBody>
      </p:sp>
      <p:sp>
        <p:nvSpPr>
          <p:cNvPr id="440323" name="Text Box 3"/>
          <p:cNvSpPr txBox="1">
            <a:spLocks noChangeArrowheads="1"/>
          </p:cNvSpPr>
          <p:nvPr/>
        </p:nvSpPr>
        <p:spPr bwMode="auto">
          <a:xfrm>
            <a:off x="-49287" y="1338262"/>
            <a:ext cx="6629400" cy="23558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ea typeface="楷体_GB2312"/>
              </a:rPr>
              <a:t>计算电容的一般步骤为：</a:t>
            </a:r>
          </a:p>
          <a:p>
            <a:pPr lvl="1" eaLnBrk="1" hangingPunct="1">
              <a:lnSpc>
                <a:spcPct val="130000"/>
              </a:lnSpc>
              <a:spcBef>
                <a:spcPct val="0"/>
              </a:spcBef>
              <a:buFontTx/>
              <a:buChar char="•"/>
            </a:pPr>
            <a:r>
              <a:rPr lang="zh-CN" altLang="en-US" sz="2400" b="1">
                <a:ea typeface="楷体_GB2312"/>
              </a:rPr>
              <a:t>设电容器的两极板带有</a:t>
            </a:r>
            <a:r>
              <a:rPr lang="zh-CN" altLang="en-US" sz="2400" b="1">
                <a:solidFill>
                  <a:srgbClr val="FF0000"/>
                </a:solidFill>
                <a:ea typeface="楷体_GB2312"/>
              </a:rPr>
              <a:t>等量异号电荷</a:t>
            </a:r>
            <a:r>
              <a:rPr lang="zh-CN" altLang="en-US" sz="2400" b="1">
                <a:ea typeface="楷体_GB2312"/>
              </a:rPr>
              <a:t>；</a:t>
            </a:r>
          </a:p>
          <a:p>
            <a:pPr lvl="1" eaLnBrk="1" hangingPunct="1">
              <a:lnSpc>
                <a:spcPct val="130000"/>
              </a:lnSpc>
              <a:spcBef>
                <a:spcPct val="0"/>
              </a:spcBef>
              <a:buFontTx/>
              <a:buChar char="•"/>
            </a:pPr>
            <a:r>
              <a:rPr lang="zh-CN" altLang="en-US" sz="2400" b="1">
                <a:ea typeface="楷体_GB2312"/>
              </a:rPr>
              <a:t>求出两极板之间的</a:t>
            </a:r>
            <a:r>
              <a:rPr lang="zh-CN" altLang="en-US" sz="2400" b="1">
                <a:solidFill>
                  <a:srgbClr val="FF0000"/>
                </a:solidFill>
                <a:ea typeface="楷体_GB2312"/>
              </a:rPr>
              <a:t>电场强度</a:t>
            </a:r>
            <a:r>
              <a:rPr lang="zh-CN" altLang="en-US" sz="2400" b="1">
                <a:ea typeface="楷体_GB2312"/>
              </a:rPr>
              <a:t>的分布；</a:t>
            </a:r>
          </a:p>
          <a:p>
            <a:pPr lvl="1" eaLnBrk="1" hangingPunct="1">
              <a:lnSpc>
                <a:spcPct val="130000"/>
              </a:lnSpc>
              <a:spcBef>
                <a:spcPct val="0"/>
              </a:spcBef>
              <a:buFontTx/>
              <a:buChar char="•"/>
            </a:pPr>
            <a:r>
              <a:rPr lang="zh-CN" altLang="en-US" sz="2400" b="1">
                <a:ea typeface="楷体_GB2312"/>
              </a:rPr>
              <a:t>计算两极板之间的</a:t>
            </a:r>
            <a:r>
              <a:rPr lang="zh-CN" altLang="en-US" sz="2400" b="1">
                <a:solidFill>
                  <a:srgbClr val="FF0000"/>
                </a:solidFill>
                <a:ea typeface="楷体_GB2312"/>
              </a:rPr>
              <a:t>电势差</a:t>
            </a:r>
            <a:r>
              <a:rPr lang="zh-CN" altLang="en-US" sz="2400" b="1">
                <a:ea typeface="楷体_GB2312"/>
              </a:rPr>
              <a:t>；</a:t>
            </a:r>
          </a:p>
          <a:p>
            <a:pPr lvl="1" eaLnBrk="1" hangingPunct="1">
              <a:lnSpc>
                <a:spcPct val="130000"/>
              </a:lnSpc>
              <a:spcBef>
                <a:spcPct val="0"/>
              </a:spcBef>
              <a:buFontTx/>
              <a:buChar char="•"/>
            </a:pPr>
            <a:r>
              <a:rPr lang="zh-CN" altLang="en-US" sz="2400" b="1">
                <a:ea typeface="楷体_GB2312"/>
              </a:rPr>
              <a:t>根据电容器电容的定义求得</a:t>
            </a:r>
            <a:r>
              <a:rPr lang="zh-CN" altLang="en-US" sz="2400" b="1">
                <a:solidFill>
                  <a:srgbClr val="FF0000"/>
                </a:solidFill>
                <a:ea typeface="楷体_GB2312"/>
              </a:rPr>
              <a:t>电容</a:t>
            </a:r>
            <a:r>
              <a:rPr lang="zh-CN" altLang="en-US" sz="2400" b="1">
                <a:ea typeface="楷体_GB2312"/>
              </a:rPr>
              <a:t>。</a:t>
            </a:r>
          </a:p>
        </p:txBody>
      </p:sp>
      <p:grpSp>
        <p:nvGrpSpPr>
          <p:cNvPr id="36868" name="Group 4"/>
          <p:cNvGrpSpPr>
            <a:grpSpLocks/>
          </p:cNvGrpSpPr>
          <p:nvPr/>
        </p:nvGrpSpPr>
        <p:grpSpPr bwMode="auto">
          <a:xfrm>
            <a:off x="0" y="3836988"/>
            <a:ext cx="4281488" cy="762000"/>
            <a:chOff x="0" y="96"/>
            <a:chExt cx="2697" cy="480"/>
          </a:xfrm>
        </p:grpSpPr>
        <p:sp>
          <p:nvSpPr>
            <p:cNvPr id="41993" name="Text Box 5"/>
            <p:cNvSpPr txBox="1">
              <a:spLocks noChangeArrowheads="1"/>
            </p:cNvSpPr>
            <p:nvPr/>
          </p:nvSpPr>
          <p:spPr bwMode="auto">
            <a:xfrm>
              <a:off x="0" y="192"/>
              <a:ext cx="2697"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800" b="1">
                  <a:solidFill>
                    <a:srgbClr val="3333FF"/>
                  </a:solidFill>
                  <a:ea typeface="楷体_GB2312"/>
                </a:rPr>
                <a:t>4</a:t>
              </a:r>
              <a:r>
                <a:rPr lang="zh-CN" altLang="en-US" sz="2800" b="1">
                  <a:solidFill>
                    <a:srgbClr val="3333FF"/>
                  </a:solidFill>
                  <a:ea typeface="楷体_GB2312"/>
                </a:rPr>
                <a:t>、电容器的作用</a:t>
              </a:r>
            </a:p>
          </p:txBody>
        </p:sp>
        <p:sp>
          <p:nvSpPr>
            <p:cNvPr id="41994" name="AutoShape 6"/>
            <p:cNvSpPr>
              <a:spLocks noChangeArrowheads="1"/>
            </p:cNvSpPr>
            <p:nvPr/>
          </p:nvSpPr>
          <p:spPr bwMode="auto">
            <a:xfrm>
              <a:off x="144" y="96"/>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5</a:t>
              </a:r>
            </a:p>
          </p:txBody>
        </p:sp>
      </p:grpSp>
      <p:grpSp>
        <p:nvGrpSpPr>
          <p:cNvPr id="440327" name="Group 7"/>
          <p:cNvGrpSpPr>
            <a:grpSpLocks/>
          </p:cNvGrpSpPr>
          <p:nvPr/>
        </p:nvGrpSpPr>
        <p:grpSpPr bwMode="auto">
          <a:xfrm>
            <a:off x="107950" y="530226"/>
            <a:ext cx="4373563" cy="762000"/>
            <a:chOff x="2822" y="2299"/>
            <a:chExt cx="2755" cy="480"/>
          </a:xfrm>
        </p:grpSpPr>
        <p:sp>
          <p:nvSpPr>
            <p:cNvPr id="41991" name="Text Box 8"/>
            <p:cNvSpPr txBox="1">
              <a:spLocks noChangeArrowheads="1"/>
            </p:cNvSpPr>
            <p:nvPr/>
          </p:nvSpPr>
          <p:spPr bwMode="auto">
            <a:xfrm>
              <a:off x="2976" y="2423"/>
              <a:ext cx="2601" cy="327"/>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zh-CN" altLang="en-US" sz="2800" b="1">
                  <a:solidFill>
                    <a:srgbClr val="3333FF"/>
                  </a:solidFill>
                  <a:ea typeface="楷体_GB2312"/>
                </a:rPr>
                <a:t>、电容器电容的计算</a:t>
              </a:r>
            </a:p>
          </p:txBody>
        </p:sp>
        <p:sp>
          <p:nvSpPr>
            <p:cNvPr id="41992" name="AutoShape 9"/>
            <p:cNvSpPr>
              <a:spLocks noChangeArrowheads="1"/>
            </p:cNvSpPr>
            <p:nvPr/>
          </p:nvSpPr>
          <p:spPr bwMode="auto">
            <a:xfrm>
              <a:off x="2822" y="2299"/>
              <a:ext cx="576" cy="480"/>
            </a:xfrm>
            <a:prstGeom prst="star8">
              <a:avLst>
                <a:gd name="adj" fmla="val 33630"/>
              </a:avLst>
            </a:prstGeom>
            <a:gradFill rotWithShape="0">
              <a:gsLst>
                <a:gs pos="0">
                  <a:srgbClr val="000000"/>
                </a:gs>
                <a:gs pos="100000">
                  <a:srgbClr val="14FE14"/>
                </a:gs>
              </a:gsLst>
              <a:path path="shape">
                <a:fillToRect l="50000" t="50000" r="50000" b="50000"/>
              </a:path>
            </a:gradFill>
            <a:ln>
              <a:noFill/>
            </a:ln>
            <a:effectLst>
              <a:outerShdw dist="89803" dir="2700000" algn="ctr" rotWithShape="0">
                <a:srgbClr val="111111"/>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400" b="1">
                  <a:solidFill>
                    <a:srgbClr val="FFFF00"/>
                  </a:solidFill>
                  <a:ea typeface="楷体_GB2312"/>
                </a:rPr>
                <a:t>4</a:t>
              </a:r>
            </a:p>
          </p:txBody>
        </p:sp>
      </p:grpSp>
      <p:pic>
        <p:nvPicPr>
          <p:cNvPr id="36870" name="Picture 11" descr="jendong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4370372"/>
            <a:ext cx="3866432" cy="249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Object 8">
            <a:extLst>
              <a:ext uri="{FF2B5EF4-FFF2-40B4-BE49-F238E27FC236}">
                <a16:creationId xmlns:a16="http://schemas.microsoft.com/office/drawing/2014/main" id="{04E1DD4B-7BBA-40BF-962F-9A34492D89DB}"/>
              </a:ext>
            </a:extLst>
          </p:cNvPr>
          <p:cNvGraphicFramePr>
            <a:graphicFrameLocks noChangeAspect="1"/>
          </p:cNvGraphicFramePr>
          <p:nvPr>
            <p:extLst>
              <p:ext uri="{D42A27DB-BD31-4B8C-83A1-F6EECF244321}">
                <p14:modId xmlns:p14="http://schemas.microsoft.com/office/powerpoint/2010/main" val="2936101405"/>
              </p:ext>
            </p:extLst>
          </p:nvPr>
        </p:nvGraphicFramePr>
        <p:xfrm>
          <a:off x="5004048" y="628011"/>
          <a:ext cx="2852737" cy="1014412"/>
        </p:xfrm>
        <a:graphic>
          <a:graphicData uri="http://schemas.openxmlformats.org/presentationml/2006/ole">
            <mc:AlternateContent xmlns:mc="http://schemas.openxmlformats.org/markup-compatibility/2006">
              <mc:Choice xmlns:v="urn:schemas-microsoft-com:vml" Requires="v">
                <p:oleObj spid="_x0000_s77848" name="Equation" r:id="rId5" imgW="1244600" imgH="444500" progId="Equation.DSMT4">
                  <p:embed/>
                </p:oleObj>
              </mc:Choice>
              <mc:Fallback>
                <p:oleObj name="Equation" r:id="rId5" imgW="1244600" imgH="444500" progId="Equation.DSMT4">
                  <p:embed/>
                  <p:pic>
                    <p:nvPicPr>
                      <p:cNvPr id="43725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4048" y="628011"/>
                        <a:ext cx="2852737" cy="101441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8">
            <a:extLst>
              <a:ext uri="{FF2B5EF4-FFF2-40B4-BE49-F238E27FC236}">
                <a16:creationId xmlns:a16="http://schemas.microsoft.com/office/drawing/2014/main" id="{B39556A5-C400-4807-84AF-0BB4B7CD4BC1}"/>
              </a:ext>
            </a:extLst>
          </p:cNvPr>
          <p:cNvSpPr txBox="1">
            <a:spLocks noChangeArrowheads="1"/>
          </p:cNvSpPr>
          <p:nvPr/>
        </p:nvSpPr>
        <p:spPr bwMode="auto">
          <a:xfrm>
            <a:off x="325105" y="95972"/>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990033"/>
                </a:solidFill>
              </a:rPr>
              <a:t>3</a:t>
            </a:r>
            <a:r>
              <a:rPr lang="zh-CN" altLang="en-US" sz="2400" b="1">
                <a:solidFill>
                  <a:srgbClr val="990033"/>
                </a:solidFill>
              </a:rPr>
              <a:t>  电容器</a:t>
            </a:r>
            <a:r>
              <a:rPr lang="en-US" altLang="zh-CN" sz="2400" b="1">
                <a:solidFill>
                  <a:srgbClr val="990033"/>
                </a:solidFill>
              </a:rPr>
              <a:t>:</a:t>
            </a:r>
          </a:p>
        </p:txBody>
      </p:sp>
      <p:sp>
        <p:nvSpPr>
          <p:cNvPr id="13" name="Text Box 9">
            <a:extLst>
              <a:ext uri="{FF2B5EF4-FFF2-40B4-BE49-F238E27FC236}">
                <a16:creationId xmlns:a16="http://schemas.microsoft.com/office/drawing/2014/main" id="{E454A0F2-878F-4FBA-A48E-A9B7647FA3C9}"/>
              </a:ext>
            </a:extLst>
          </p:cNvPr>
          <p:cNvSpPr txBox="1">
            <a:spLocks noChangeArrowheads="1"/>
          </p:cNvSpPr>
          <p:nvPr/>
        </p:nvSpPr>
        <p:spPr bwMode="auto">
          <a:xfrm>
            <a:off x="1842318" y="56832"/>
            <a:ext cx="5486400" cy="482600"/>
          </a:xfrm>
          <a:prstGeom prst="rect">
            <a:avLst/>
          </a:prstGeom>
          <a:solidFill>
            <a:srgbClr val="CCFFFF">
              <a:alpha val="50195"/>
            </a:srgbClr>
          </a:solidFill>
          <a:ln w="254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b="1">
                <a:solidFill>
                  <a:srgbClr val="CC0000"/>
                </a:solidFill>
              </a:rPr>
              <a:t>两个带有等量异号的导体组成的系统</a:t>
            </a:r>
            <a:r>
              <a:rPr lang="en-US" altLang="zh-CN" sz="2400" b="1">
                <a:solidFill>
                  <a:srgbClr val="CC0000"/>
                </a:solidFill>
              </a:rPr>
              <a:t>.</a:t>
            </a:r>
          </a:p>
        </p:txBody>
      </p:sp>
      <p:pic>
        <p:nvPicPr>
          <p:cNvPr id="2" name="图片 1">
            <a:extLst>
              <a:ext uri="{FF2B5EF4-FFF2-40B4-BE49-F238E27FC236}">
                <a16:creationId xmlns:a16="http://schemas.microsoft.com/office/drawing/2014/main" id="{CA429BB3-E717-49F6-9333-4103903CA60B}"/>
              </a:ext>
            </a:extLst>
          </p:cNvPr>
          <p:cNvPicPr>
            <a:picLocks noChangeAspect="1"/>
          </p:cNvPicPr>
          <p:nvPr/>
        </p:nvPicPr>
        <p:blipFill rotWithShape="1">
          <a:blip r:embed="rId7"/>
          <a:srcRect l="17711" t="36080" r="35939" b="5201"/>
          <a:stretch/>
        </p:blipFill>
        <p:spPr>
          <a:xfrm>
            <a:off x="5578046" y="1875253"/>
            <a:ext cx="3501344" cy="2495119"/>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0327"/>
                                        </p:tgtEl>
                                        <p:attrNameLst>
                                          <p:attrName>style.visibility</p:attrName>
                                        </p:attrNameLst>
                                      </p:cBhvr>
                                      <p:to>
                                        <p:strVal val="visible"/>
                                      </p:to>
                                    </p:set>
                                    <p:animEffect transition="in" filter="wipe(left)">
                                      <p:cBhvr>
                                        <p:cTn id="12" dur="500"/>
                                        <p:tgtEl>
                                          <p:spTgt spid="4403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440323">
                                            <p:txEl>
                                              <p:pRg st="0" end="0"/>
                                            </p:txEl>
                                          </p:spTgt>
                                        </p:tgtEl>
                                        <p:attrNameLst>
                                          <p:attrName>style.visibility</p:attrName>
                                        </p:attrNameLst>
                                      </p:cBhvr>
                                      <p:to>
                                        <p:strVal val="visible"/>
                                      </p:to>
                                    </p:set>
                                    <p:animEffect transition="in" filter="wipe(left)">
                                      <p:cBhvr>
                                        <p:cTn id="17" dur="75"/>
                                        <p:tgtEl>
                                          <p:spTgt spid="44032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440323">
                                            <p:txEl>
                                              <p:pRg st="1" end="1"/>
                                            </p:txEl>
                                          </p:spTgt>
                                        </p:tgtEl>
                                        <p:attrNameLst>
                                          <p:attrName>style.visibility</p:attrName>
                                        </p:attrNameLst>
                                      </p:cBhvr>
                                      <p:to>
                                        <p:strVal val="visible"/>
                                      </p:to>
                                    </p:set>
                                    <p:animEffect transition="in" filter="wipe(left)">
                                      <p:cBhvr>
                                        <p:cTn id="22" dur="75"/>
                                        <p:tgtEl>
                                          <p:spTgt spid="440323">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440323">
                                            <p:txEl>
                                              <p:pRg st="2" end="2"/>
                                            </p:txEl>
                                          </p:spTgt>
                                        </p:tgtEl>
                                        <p:attrNameLst>
                                          <p:attrName>style.visibility</p:attrName>
                                        </p:attrNameLst>
                                      </p:cBhvr>
                                      <p:to>
                                        <p:strVal val="visible"/>
                                      </p:to>
                                    </p:set>
                                    <p:animEffect transition="in" filter="wipe(left)">
                                      <p:cBhvr>
                                        <p:cTn id="27" dur="75"/>
                                        <p:tgtEl>
                                          <p:spTgt spid="440323">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440323">
                                            <p:txEl>
                                              <p:pRg st="3" end="3"/>
                                            </p:txEl>
                                          </p:spTgt>
                                        </p:tgtEl>
                                        <p:attrNameLst>
                                          <p:attrName>style.visibility</p:attrName>
                                        </p:attrNameLst>
                                      </p:cBhvr>
                                      <p:to>
                                        <p:strVal val="visible"/>
                                      </p:to>
                                    </p:set>
                                    <p:animEffect transition="in" filter="wipe(left)">
                                      <p:cBhvr>
                                        <p:cTn id="32" dur="75"/>
                                        <p:tgtEl>
                                          <p:spTgt spid="440323">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440323">
                                            <p:txEl>
                                              <p:pRg st="4" end="4"/>
                                            </p:txEl>
                                          </p:spTgt>
                                        </p:tgtEl>
                                        <p:attrNameLst>
                                          <p:attrName>style.visibility</p:attrName>
                                        </p:attrNameLst>
                                      </p:cBhvr>
                                      <p:to>
                                        <p:strVal val="visible"/>
                                      </p:to>
                                    </p:set>
                                    <p:animEffect transition="in" filter="wipe(left)">
                                      <p:cBhvr>
                                        <p:cTn id="37" dur="75"/>
                                        <p:tgtEl>
                                          <p:spTgt spid="44032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6868"/>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687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440322">
                                            <p:txEl>
                                              <p:pRg st="0" end="0"/>
                                            </p:txEl>
                                          </p:spTgt>
                                        </p:tgtEl>
                                        <p:attrNameLst>
                                          <p:attrName>style.visibility</p:attrName>
                                        </p:attrNameLst>
                                      </p:cBhvr>
                                      <p:to>
                                        <p:strVal val="visible"/>
                                      </p:to>
                                    </p:set>
                                    <p:animEffect transition="in" filter="wipe(left)">
                                      <p:cBhvr>
                                        <p:cTn id="52" dur="75"/>
                                        <p:tgtEl>
                                          <p:spTgt spid="440322">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440322">
                                            <p:txEl>
                                              <p:pRg st="1" end="1"/>
                                            </p:txEl>
                                          </p:spTgt>
                                        </p:tgtEl>
                                        <p:attrNameLst>
                                          <p:attrName>style.visibility</p:attrName>
                                        </p:attrNameLst>
                                      </p:cBhvr>
                                      <p:to>
                                        <p:strVal val="visible"/>
                                      </p:to>
                                    </p:set>
                                    <p:animEffect transition="in" filter="wipe(left)">
                                      <p:cBhvr>
                                        <p:cTn id="57" dur="75"/>
                                        <p:tgtEl>
                                          <p:spTgt spid="440322">
                                            <p:txEl>
                                              <p:pRg st="1" end="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440322">
                                            <p:txEl>
                                              <p:pRg st="2" end="2"/>
                                            </p:txEl>
                                          </p:spTgt>
                                        </p:tgtEl>
                                        <p:attrNameLst>
                                          <p:attrName>style.visibility</p:attrName>
                                        </p:attrNameLst>
                                      </p:cBhvr>
                                      <p:to>
                                        <p:strVal val="visible"/>
                                      </p:to>
                                    </p:set>
                                    <p:animEffect transition="in" filter="wipe(left)">
                                      <p:cBhvr>
                                        <p:cTn id="62" dur="75"/>
                                        <p:tgtEl>
                                          <p:spTgt spid="440322">
                                            <p:txEl>
                                              <p:pRg st="2" end="2"/>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440322">
                                            <p:txEl>
                                              <p:pRg st="3" end="3"/>
                                            </p:txEl>
                                          </p:spTgt>
                                        </p:tgtEl>
                                        <p:attrNameLst>
                                          <p:attrName>style.visibility</p:attrName>
                                        </p:attrNameLst>
                                      </p:cBhvr>
                                      <p:to>
                                        <p:strVal val="visible"/>
                                      </p:to>
                                    </p:set>
                                    <p:animEffect transition="in" filter="wipe(left)">
                                      <p:cBhvr>
                                        <p:cTn id="67" dur="75"/>
                                        <p:tgtEl>
                                          <p:spTgt spid="440322">
                                            <p:txEl>
                                              <p:pRg st="3" end="3"/>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440322">
                                            <p:txEl>
                                              <p:pRg st="4" end="4"/>
                                            </p:txEl>
                                          </p:spTgt>
                                        </p:tgtEl>
                                        <p:attrNameLst>
                                          <p:attrName>style.visibility</p:attrName>
                                        </p:attrNameLst>
                                      </p:cBhvr>
                                      <p:to>
                                        <p:strVal val="visible"/>
                                      </p:to>
                                    </p:set>
                                    <p:animEffect transition="in" filter="wipe(left)">
                                      <p:cBhvr>
                                        <p:cTn id="72" dur="75"/>
                                        <p:tgtEl>
                                          <p:spTgt spid="4403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2" grpId="0" build="p" autoUpdateAnimBg="0"/>
      <p:bldP spid="440323" grpId="0" build="p" bldLvl="2"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4"/>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78482C1-6717-4DC9-8762-924CA098A709}" type="slidenum">
              <a:rPr lang="zh-TW" altLang="en-US" sz="1400">
                <a:ea typeface="楷体_GB2312"/>
              </a:rPr>
              <a:pPr>
                <a:spcBef>
                  <a:spcPct val="0"/>
                </a:spcBef>
                <a:buFontTx/>
                <a:buNone/>
              </a:pPr>
              <a:t>68</a:t>
            </a:fld>
            <a:endParaRPr lang="en-US" altLang="zh-TW" sz="1400">
              <a:ea typeface="楷体_GB2312"/>
            </a:endParaRPr>
          </a:p>
        </p:txBody>
      </p:sp>
      <p:sp>
        <p:nvSpPr>
          <p:cNvPr id="43011" name="Rectangle 2" hidden="1"/>
          <p:cNvSpPr>
            <a:spLocks noGrp="1" noChangeArrowheads="1"/>
          </p:cNvSpPr>
          <p:nvPr>
            <p:ph type="title"/>
          </p:nvPr>
        </p:nvSpPr>
        <p:spPr/>
        <p:txBody>
          <a:bodyPr/>
          <a:lstStyle/>
          <a:p>
            <a:endParaRPr lang="en-US" altLang="en-US"/>
          </a:p>
        </p:txBody>
      </p:sp>
      <p:sp>
        <p:nvSpPr>
          <p:cNvPr id="43012" name="Rectangle 3" descr="26-14"/>
          <p:cNvSpPr>
            <a:spLocks noGrp="1" noChangeAspect="1" noChangeArrowheads="1"/>
          </p:cNvSpPr>
          <p:nvPr isPhoto="1"/>
        </p:nvSpPr>
        <p:spPr bwMode="auto">
          <a:xfrm>
            <a:off x="198438" y="52388"/>
            <a:ext cx="5270500" cy="3952875"/>
          </a:xfrm>
          <a:prstGeom prst="rect">
            <a:avLst/>
          </a:prstGeom>
          <a:blipFill dpi="0" rotWithShape="1">
            <a:blip r:embed="rId3"/>
            <a:srcRect/>
            <a:stretch>
              <a:fillRect/>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sp>
        <p:nvSpPr>
          <p:cNvPr id="43013" name="Rectangle 3"/>
          <p:cNvSpPr txBox="1">
            <a:spLocks noChangeArrowheads="1"/>
          </p:cNvSpPr>
          <p:nvPr/>
        </p:nvSpPr>
        <p:spPr bwMode="auto">
          <a:xfrm>
            <a:off x="228600" y="3821113"/>
            <a:ext cx="8640763" cy="3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sz="2600">
                <a:ea typeface="楷体_GB2312"/>
              </a:rPr>
              <a:t>Defibrillators</a:t>
            </a:r>
          </a:p>
          <a:p>
            <a:pPr lvl="1">
              <a:lnSpc>
                <a:spcPct val="90000"/>
              </a:lnSpc>
            </a:pPr>
            <a:r>
              <a:rPr lang="en-US" altLang="zh-CN" sz="2200">
                <a:ea typeface="楷体_GB2312"/>
              </a:rPr>
              <a:t>When cardiac fibrillation occurs, the heart produces a rapid, irregular pattern of beats</a:t>
            </a:r>
          </a:p>
          <a:p>
            <a:pPr lvl="1">
              <a:lnSpc>
                <a:spcPct val="90000"/>
              </a:lnSpc>
            </a:pPr>
            <a:r>
              <a:rPr lang="en-US" altLang="zh-CN" sz="2200">
                <a:ea typeface="楷体_GB2312"/>
              </a:rPr>
              <a:t>A fast discharge of electrical energy through the heart can return the organ to its normal beat pattern</a:t>
            </a:r>
          </a:p>
          <a:p>
            <a:pPr>
              <a:lnSpc>
                <a:spcPct val="90000"/>
              </a:lnSpc>
            </a:pPr>
            <a:r>
              <a:rPr lang="en-US" altLang="zh-CN" sz="2600">
                <a:ea typeface="楷体_GB2312"/>
              </a:rPr>
              <a:t>In general, capacitors act as energy reservoirs that can be slowly charged and then discharged quickly to provide large amounts of energy in a short pulse</a:t>
            </a:r>
          </a:p>
        </p:txBody>
      </p:sp>
      <p:sp>
        <p:nvSpPr>
          <p:cNvPr id="43014" name="矩形 1"/>
          <p:cNvSpPr>
            <a:spLocks noChangeArrowheads="1"/>
          </p:cNvSpPr>
          <p:nvPr/>
        </p:nvSpPr>
        <p:spPr bwMode="auto">
          <a:xfrm>
            <a:off x="5446431" y="253411"/>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en-US" altLang="zh-CN" sz="4400" b="1">
                <a:solidFill>
                  <a:srgbClr val="FF3300"/>
                </a:solidFill>
                <a:ea typeface="楷体_GB2312"/>
              </a:rPr>
              <a:t>Defibrillators</a:t>
            </a:r>
          </a:p>
        </p:txBody>
      </p:sp>
      <p:sp>
        <p:nvSpPr>
          <p:cNvPr id="43015" name="矩形 2"/>
          <p:cNvSpPr>
            <a:spLocks noChangeArrowheads="1"/>
          </p:cNvSpPr>
          <p:nvPr/>
        </p:nvSpPr>
        <p:spPr bwMode="auto">
          <a:xfrm>
            <a:off x="6012160" y="992842"/>
            <a:ext cx="20351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b="1">
                <a:solidFill>
                  <a:srgbClr val="FF3300"/>
                </a:solidFill>
                <a:ea typeface="楷体_GB2312"/>
              </a:rPr>
              <a:t>用电流停止心脏纤维性颤动器</a:t>
            </a:r>
          </a:p>
        </p:txBody>
      </p:sp>
      <p:pic>
        <p:nvPicPr>
          <p:cNvPr id="72707" name="Picture 3" descr="http://xmwb.xinmin.cn/lab/xmwb/resfile/2017-02-20/A07/p1_b.jpg">
            <a:hlinkClick r:id="rId4"/>
            <a:extLst>
              <a:ext uri="{FF2B5EF4-FFF2-40B4-BE49-F238E27FC236}">
                <a16:creationId xmlns:a16="http://schemas.microsoft.com/office/drawing/2014/main" id="{992C55F0-AA85-43B2-BFBD-4AA787A6BB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3813" y="1820368"/>
            <a:ext cx="3139818" cy="21429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60E9ABA3-3662-4632-AE09-22D85F44E4E2}"/>
              </a:ext>
            </a:extLst>
          </p:cNvPr>
          <p:cNvSpPr>
            <a:spLocks noChangeArrowheads="1"/>
          </p:cNvSpPr>
          <p:nvPr/>
        </p:nvSpPr>
        <p:spPr bwMode="auto">
          <a:xfrm>
            <a:off x="5499100" y="16887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5ACA4C2-4E94-44BB-97E1-91C2ED423EF7}"/>
              </a:ext>
            </a:extLst>
          </p:cNvPr>
          <p:cNvPicPr>
            <a:picLocks noChangeAspect="1"/>
          </p:cNvPicPr>
          <p:nvPr/>
        </p:nvPicPr>
        <p:blipFill>
          <a:blip r:embed="rId2"/>
          <a:stretch>
            <a:fillRect/>
          </a:stretch>
        </p:blipFill>
        <p:spPr>
          <a:xfrm>
            <a:off x="0" y="45720"/>
            <a:ext cx="3724275" cy="1143000"/>
          </a:xfrm>
          <a:prstGeom prst="rect">
            <a:avLst/>
          </a:prstGeom>
        </p:spPr>
      </p:pic>
      <p:pic>
        <p:nvPicPr>
          <p:cNvPr id="8" name="图片 7">
            <a:extLst>
              <a:ext uri="{FF2B5EF4-FFF2-40B4-BE49-F238E27FC236}">
                <a16:creationId xmlns:a16="http://schemas.microsoft.com/office/drawing/2014/main" id="{10B90FB8-EA4D-4D65-9873-785683B2A84C}"/>
              </a:ext>
            </a:extLst>
          </p:cNvPr>
          <p:cNvPicPr>
            <a:picLocks noChangeAspect="1"/>
          </p:cNvPicPr>
          <p:nvPr/>
        </p:nvPicPr>
        <p:blipFill>
          <a:blip r:embed="rId3"/>
          <a:stretch>
            <a:fillRect/>
          </a:stretch>
        </p:blipFill>
        <p:spPr>
          <a:xfrm>
            <a:off x="4133850" y="70128"/>
            <a:ext cx="5010150" cy="2619375"/>
          </a:xfrm>
          <a:prstGeom prst="rect">
            <a:avLst/>
          </a:prstGeom>
        </p:spPr>
      </p:pic>
      <p:pic>
        <p:nvPicPr>
          <p:cNvPr id="10" name="图片 9">
            <a:extLst>
              <a:ext uri="{FF2B5EF4-FFF2-40B4-BE49-F238E27FC236}">
                <a16:creationId xmlns:a16="http://schemas.microsoft.com/office/drawing/2014/main" id="{3E5EA48E-64EF-4F35-AFC9-113459276FBC}"/>
              </a:ext>
            </a:extLst>
          </p:cNvPr>
          <p:cNvPicPr>
            <a:picLocks noChangeAspect="1"/>
          </p:cNvPicPr>
          <p:nvPr/>
        </p:nvPicPr>
        <p:blipFill>
          <a:blip r:embed="rId4"/>
          <a:stretch>
            <a:fillRect/>
          </a:stretch>
        </p:blipFill>
        <p:spPr>
          <a:xfrm>
            <a:off x="179512" y="1484784"/>
            <a:ext cx="4048125" cy="4810125"/>
          </a:xfrm>
          <a:prstGeom prst="rect">
            <a:avLst/>
          </a:prstGeom>
        </p:spPr>
      </p:pic>
      <p:pic>
        <p:nvPicPr>
          <p:cNvPr id="12" name="图片 11">
            <a:extLst>
              <a:ext uri="{FF2B5EF4-FFF2-40B4-BE49-F238E27FC236}">
                <a16:creationId xmlns:a16="http://schemas.microsoft.com/office/drawing/2014/main" id="{53A230CF-A4D8-4FA3-91AD-FA1889753559}"/>
              </a:ext>
            </a:extLst>
          </p:cNvPr>
          <p:cNvPicPr>
            <a:picLocks noChangeAspect="1"/>
          </p:cNvPicPr>
          <p:nvPr/>
        </p:nvPicPr>
        <p:blipFill>
          <a:blip r:embed="rId5"/>
          <a:stretch>
            <a:fillRect/>
          </a:stretch>
        </p:blipFill>
        <p:spPr>
          <a:xfrm>
            <a:off x="4227637" y="2985567"/>
            <a:ext cx="4229100" cy="1657350"/>
          </a:xfrm>
          <a:prstGeom prst="rect">
            <a:avLst/>
          </a:prstGeom>
        </p:spPr>
      </p:pic>
      <p:pic>
        <p:nvPicPr>
          <p:cNvPr id="14" name="图片 13">
            <a:extLst>
              <a:ext uri="{FF2B5EF4-FFF2-40B4-BE49-F238E27FC236}">
                <a16:creationId xmlns:a16="http://schemas.microsoft.com/office/drawing/2014/main" id="{402CA906-202A-4D7C-888B-A397EF65424C}"/>
              </a:ext>
            </a:extLst>
          </p:cNvPr>
          <p:cNvPicPr>
            <a:picLocks noChangeAspect="1"/>
          </p:cNvPicPr>
          <p:nvPr/>
        </p:nvPicPr>
        <p:blipFill>
          <a:blip r:embed="rId6"/>
          <a:stretch>
            <a:fillRect/>
          </a:stretch>
        </p:blipFill>
        <p:spPr>
          <a:xfrm>
            <a:off x="4572000" y="4797152"/>
            <a:ext cx="4105275" cy="1905000"/>
          </a:xfrm>
          <a:prstGeom prst="rect">
            <a:avLst/>
          </a:prstGeom>
        </p:spPr>
      </p:pic>
    </p:spTree>
    <p:extLst>
      <p:ext uri="{BB962C8B-B14F-4D97-AF65-F5344CB8AC3E}">
        <p14:creationId xmlns:p14="http://schemas.microsoft.com/office/powerpoint/2010/main" val="267971888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1DCDFBB-822C-40EF-92E6-9E97D6935638}" type="slidenum">
              <a:rPr lang="zh-TW" altLang="en-US" sz="1400">
                <a:ea typeface="楷体_GB2312"/>
              </a:rPr>
              <a:pPr>
                <a:spcBef>
                  <a:spcPct val="0"/>
                </a:spcBef>
                <a:buFontTx/>
                <a:buNone/>
              </a:pPr>
              <a:t>70</a:t>
            </a:fld>
            <a:endParaRPr lang="en-US" altLang="zh-TW" sz="1400">
              <a:ea typeface="楷体_GB2312"/>
            </a:endParaRPr>
          </a:p>
        </p:txBody>
      </p:sp>
      <p:graphicFrame>
        <p:nvGraphicFramePr>
          <p:cNvPr id="17411" name="Object 2"/>
          <p:cNvGraphicFramePr>
            <a:graphicFrameLocks noChangeAspect="1"/>
          </p:cNvGraphicFramePr>
          <p:nvPr/>
        </p:nvGraphicFramePr>
        <p:xfrm>
          <a:off x="611188" y="0"/>
          <a:ext cx="7885112" cy="1885950"/>
        </p:xfrm>
        <a:graphic>
          <a:graphicData uri="http://schemas.openxmlformats.org/presentationml/2006/ole">
            <mc:AlternateContent xmlns:mc="http://schemas.openxmlformats.org/markup-compatibility/2006">
              <mc:Choice xmlns:v="urn:schemas-microsoft-com:vml" Requires="v">
                <p:oleObj spid="_x0000_s46215" name="Image" r:id="rId3" imgW="3119781" imgH="745887" progId="Photoshop.Image.7">
                  <p:embed/>
                </p:oleObj>
              </mc:Choice>
              <mc:Fallback>
                <p:oleObj name="Image" r:id="rId3" imgW="3119781" imgH="745887" progId="Photoshop.Image.7">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0"/>
                        <a:ext cx="7885112"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427" name="Object 3"/>
          <p:cNvGraphicFramePr>
            <a:graphicFrameLocks noChangeAspect="1"/>
          </p:cNvGraphicFramePr>
          <p:nvPr/>
        </p:nvGraphicFramePr>
        <p:xfrm>
          <a:off x="468313" y="2133600"/>
          <a:ext cx="6911975" cy="1487488"/>
        </p:xfrm>
        <a:graphic>
          <a:graphicData uri="http://schemas.openxmlformats.org/presentationml/2006/ole">
            <mc:AlternateContent xmlns:mc="http://schemas.openxmlformats.org/markup-compatibility/2006">
              <mc:Choice xmlns:v="urn:schemas-microsoft-com:vml" Requires="v">
                <p:oleObj spid="_x0000_s46216" name="Image" r:id="rId5" imgW="2819586" imgH="606947" progId="Photoshop.Image.7">
                  <p:embed/>
                </p:oleObj>
              </mc:Choice>
              <mc:Fallback>
                <p:oleObj name="Image" r:id="rId5" imgW="2819586" imgH="606947" progId="Photoshop.Image.7">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2133600"/>
                        <a:ext cx="6911975" cy="148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3" descr="26-05"/>
          <p:cNvSpPr>
            <a:spLocks noGrp="1" noChangeAspect="1" noChangeArrowheads="1"/>
          </p:cNvSpPr>
          <p:nvPr isPhoto="1"/>
        </p:nvSpPr>
        <p:spPr bwMode="auto">
          <a:xfrm>
            <a:off x="4854575" y="3284538"/>
            <a:ext cx="4305300" cy="3294062"/>
          </a:xfrm>
          <a:prstGeom prst="rect">
            <a:avLst/>
          </a:prstGeom>
          <a:blipFill dpi="0" rotWithShape="1">
            <a:blip r:embed="rId7"/>
            <a:srcRect/>
            <a:stretch>
              <a:fillRect/>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pic>
        <p:nvPicPr>
          <p:cNvPr id="63493" name="Picture 5" descr="http://img.sootuu.com/Exchange/2006-12/20067546128452450648.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863" y="3789363"/>
            <a:ext cx="3629025"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4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103427"/>
                                        </p:tgtEl>
                                        <p:attrNameLst>
                                          <p:attrName>style.visibility</p:attrName>
                                        </p:attrNameLst>
                                      </p:cBhvr>
                                      <p:to>
                                        <p:strVal val="visible"/>
                                      </p:to>
                                    </p:set>
                                    <p:animEffect transition="in" filter="blinds(horizontal)">
                                      <p:cBhvr>
                                        <p:cTn id="19" dur="500"/>
                                        <p:tgtEl>
                                          <p:spTgt spid="10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33C9B9F-FA26-4AD4-AA8E-7F9A61900824}"/>
              </a:ext>
            </a:extLst>
          </p:cNvPr>
          <p:cNvPicPr>
            <a:picLocks noChangeAspect="1"/>
          </p:cNvPicPr>
          <p:nvPr/>
        </p:nvPicPr>
        <p:blipFill>
          <a:blip r:embed="rId2"/>
          <a:stretch>
            <a:fillRect/>
          </a:stretch>
        </p:blipFill>
        <p:spPr>
          <a:xfrm>
            <a:off x="0" y="25400"/>
            <a:ext cx="3371850" cy="1085850"/>
          </a:xfrm>
          <a:prstGeom prst="rect">
            <a:avLst/>
          </a:prstGeom>
        </p:spPr>
      </p:pic>
      <p:pic>
        <p:nvPicPr>
          <p:cNvPr id="7" name="图片 6">
            <a:extLst>
              <a:ext uri="{FF2B5EF4-FFF2-40B4-BE49-F238E27FC236}">
                <a16:creationId xmlns:a16="http://schemas.microsoft.com/office/drawing/2014/main" id="{29881A4F-CDCF-4696-AD7E-1EB6D63AD0BD}"/>
              </a:ext>
            </a:extLst>
          </p:cNvPr>
          <p:cNvPicPr>
            <a:picLocks noChangeAspect="1"/>
          </p:cNvPicPr>
          <p:nvPr/>
        </p:nvPicPr>
        <p:blipFill>
          <a:blip r:embed="rId3"/>
          <a:stretch>
            <a:fillRect/>
          </a:stretch>
        </p:blipFill>
        <p:spPr>
          <a:xfrm>
            <a:off x="4867275" y="37976"/>
            <a:ext cx="4276725" cy="2667000"/>
          </a:xfrm>
          <a:prstGeom prst="rect">
            <a:avLst/>
          </a:prstGeom>
        </p:spPr>
      </p:pic>
      <p:pic>
        <p:nvPicPr>
          <p:cNvPr id="9" name="图片 8">
            <a:extLst>
              <a:ext uri="{FF2B5EF4-FFF2-40B4-BE49-F238E27FC236}">
                <a16:creationId xmlns:a16="http://schemas.microsoft.com/office/drawing/2014/main" id="{BD1FD483-8712-48E0-88CD-45CC409080C1}"/>
              </a:ext>
            </a:extLst>
          </p:cNvPr>
          <p:cNvPicPr>
            <a:picLocks noChangeAspect="1"/>
          </p:cNvPicPr>
          <p:nvPr/>
        </p:nvPicPr>
        <p:blipFill>
          <a:blip r:embed="rId4"/>
          <a:stretch>
            <a:fillRect/>
          </a:stretch>
        </p:blipFill>
        <p:spPr>
          <a:xfrm>
            <a:off x="104775" y="1366004"/>
            <a:ext cx="4467225" cy="5391150"/>
          </a:xfrm>
          <a:prstGeom prst="rect">
            <a:avLst/>
          </a:prstGeom>
        </p:spPr>
      </p:pic>
      <p:pic>
        <p:nvPicPr>
          <p:cNvPr id="11" name="图片 10">
            <a:extLst>
              <a:ext uri="{FF2B5EF4-FFF2-40B4-BE49-F238E27FC236}">
                <a16:creationId xmlns:a16="http://schemas.microsoft.com/office/drawing/2014/main" id="{4F1B31AC-6DEF-4FC4-9AAF-B2F281C37921}"/>
              </a:ext>
            </a:extLst>
          </p:cNvPr>
          <p:cNvPicPr>
            <a:picLocks noChangeAspect="1"/>
          </p:cNvPicPr>
          <p:nvPr/>
        </p:nvPicPr>
        <p:blipFill>
          <a:blip r:embed="rId5"/>
          <a:stretch>
            <a:fillRect/>
          </a:stretch>
        </p:blipFill>
        <p:spPr>
          <a:xfrm>
            <a:off x="4867275" y="2996952"/>
            <a:ext cx="3857625" cy="3657600"/>
          </a:xfrm>
          <a:prstGeom prst="rect">
            <a:avLst/>
          </a:prstGeom>
        </p:spPr>
      </p:pic>
    </p:spTree>
    <p:extLst>
      <p:ext uri="{BB962C8B-B14F-4D97-AF65-F5344CB8AC3E}">
        <p14:creationId xmlns:p14="http://schemas.microsoft.com/office/powerpoint/2010/main" val="16054801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91185C9-A6E7-4518-BFB2-EF0CAFA70810}"/>
              </a:ext>
            </a:extLst>
          </p:cNvPr>
          <p:cNvPicPr>
            <a:picLocks noChangeAspect="1"/>
          </p:cNvPicPr>
          <p:nvPr/>
        </p:nvPicPr>
        <p:blipFill>
          <a:blip r:embed="rId2"/>
          <a:stretch>
            <a:fillRect/>
          </a:stretch>
        </p:blipFill>
        <p:spPr>
          <a:xfrm>
            <a:off x="22488" y="0"/>
            <a:ext cx="3829050" cy="1028700"/>
          </a:xfrm>
          <a:prstGeom prst="rect">
            <a:avLst/>
          </a:prstGeom>
        </p:spPr>
      </p:pic>
      <p:pic>
        <p:nvPicPr>
          <p:cNvPr id="6" name="图片 5">
            <a:extLst>
              <a:ext uri="{FF2B5EF4-FFF2-40B4-BE49-F238E27FC236}">
                <a16:creationId xmlns:a16="http://schemas.microsoft.com/office/drawing/2014/main" id="{9B2C59D4-3CE4-42C2-A76E-29968DC2A67A}"/>
              </a:ext>
            </a:extLst>
          </p:cNvPr>
          <p:cNvPicPr>
            <a:picLocks noChangeAspect="1"/>
          </p:cNvPicPr>
          <p:nvPr/>
        </p:nvPicPr>
        <p:blipFill>
          <a:blip r:embed="rId3"/>
          <a:stretch>
            <a:fillRect/>
          </a:stretch>
        </p:blipFill>
        <p:spPr>
          <a:xfrm>
            <a:off x="5724128" y="116632"/>
            <a:ext cx="3286125" cy="3552825"/>
          </a:xfrm>
          <a:prstGeom prst="rect">
            <a:avLst/>
          </a:prstGeom>
        </p:spPr>
      </p:pic>
      <p:pic>
        <p:nvPicPr>
          <p:cNvPr id="8" name="图片 7">
            <a:extLst>
              <a:ext uri="{FF2B5EF4-FFF2-40B4-BE49-F238E27FC236}">
                <a16:creationId xmlns:a16="http://schemas.microsoft.com/office/drawing/2014/main" id="{E2541FE4-CECF-479C-A12C-C8A6A9899C31}"/>
              </a:ext>
            </a:extLst>
          </p:cNvPr>
          <p:cNvPicPr>
            <a:picLocks noChangeAspect="1"/>
          </p:cNvPicPr>
          <p:nvPr/>
        </p:nvPicPr>
        <p:blipFill>
          <a:blip r:embed="rId4"/>
          <a:stretch>
            <a:fillRect/>
          </a:stretch>
        </p:blipFill>
        <p:spPr>
          <a:xfrm>
            <a:off x="150515" y="1047988"/>
            <a:ext cx="4564385" cy="3389124"/>
          </a:xfrm>
          <a:prstGeom prst="rect">
            <a:avLst/>
          </a:prstGeom>
        </p:spPr>
      </p:pic>
      <p:pic>
        <p:nvPicPr>
          <p:cNvPr id="10" name="图片 9">
            <a:extLst>
              <a:ext uri="{FF2B5EF4-FFF2-40B4-BE49-F238E27FC236}">
                <a16:creationId xmlns:a16="http://schemas.microsoft.com/office/drawing/2014/main" id="{68E89F2B-30D1-4A5F-B586-04BB96F46E1A}"/>
              </a:ext>
            </a:extLst>
          </p:cNvPr>
          <p:cNvPicPr>
            <a:picLocks noChangeAspect="1"/>
          </p:cNvPicPr>
          <p:nvPr/>
        </p:nvPicPr>
        <p:blipFill>
          <a:blip r:embed="rId5"/>
          <a:stretch>
            <a:fillRect/>
          </a:stretch>
        </p:blipFill>
        <p:spPr>
          <a:xfrm>
            <a:off x="4860032" y="3765252"/>
            <a:ext cx="3286125" cy="1038225"/>
          </a:xfrm>
          <a:prstGeom prst="rect">
            <a:avLst/>
          </a:prstGeom>
        </p:spPr>
      </p:pic>
      <p:pic>
        <p:nvPicPr>
          <p:cNvPr id="12" name="图片 11">
            <a:extLst>
              <a:ext uri="{FF2B5EF4-FFF2-40B4-BE49-F238E27FC236}">
                <a16:creationId xmlns:a16="http://schemas.microsoft.com/office/drawing/2014/main" id="{673B4B1D-7A49-40D0-AA47-FA4EDCC6D35E}"/>
              </a:ext>
            </a:extLst>
          </p:cNvPr>
          <p:cNvPicPr>
            <a:picLocks noChangeAspect="1"/>
          </p:cNvPicPr>
          <p:nvPr/>
        </p:nvPicPr>
        <p:blipFill>
          <a:blip r:embed="rId6"/>
          <a:stretch>
            <a:fillRect/>
          </a:stretch>
        </p:blipFill>
        <p:spPr>
          <a:xfrm>
            <a:off x="22488" y="4899273"/>
            <a:ext cx="8280995" cy="1881659"/>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ChangeArrowheads="1"/>
          </p:cNvSpPr>
          <p:nvPr/>
        </p:nvSpPr>
        <p:spPr bwMode="auto">
          <a:xfrm>
            <a:off x="228600" y="2286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a:latin typeface="Arial" panose="020B0604020202020204" pitchFamily="34" charset="0"/>
                <a:ea typeface="楷体_GB2312"/>
              </a:rPr>
              <a:t>6</a:t>
            </a:r>
            <a:r>
              <a:rPr kumimoji="0" lang="zh-CN" altLang="en-US" sz="2400" b="1">
                <a:latin typeface="Arial" panose="020B0604020202020204" pitchFamily="34" charset="0"/>
                <a:ea typeface="楷体_GB2312"/>
              </a:rPr>
              <a:t>、</a:t>
            </a:r>
            <a:r>
              <a:rPr kumimoji="0" lang="zh-CN" altLang="en-US" sz="2400" b="1">
                <a:solidFill>
                  <a:srgbClr val="CC0000"/>
                </a:solidFill>
                <a:latin typeface="Arial" panose="020B0604020202020204" pitchFamily="34" charset="0"/>
                <a:ea typeface="楷体_GB2312"/>
              </a:rPr>
              <a:t>电容器的串联和并联 </a:t>
            </a:r>
          </a:p>
        </p:txBody>
      </p:sp>
      <p:sp>
        <p:nvSpPr>
          <p:cNvPr id="388099" name="Text Box 3"/>
          <p:cNvSpPr txBox="1">
            <a:spLocks noChangeArrowheads="1"/>
          </p:cNvSpPr>
          <p:nvPr/>
        </p:nvSpPr>
        <p:spPr bwMode="auto">
          <a:xfrm>
            <a:off x="609600" y="762000"/>
            <a:ext cx="4572000" cy="4572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a:solidFill>
                  <a:schemeClr val="accent2"/>
                </a:solidFill>
                <a:latin typeface="Arial" panose="020B0604020202020204" pitchFamily="34" charset="0"/>
                <a:ea typeface="楷体_GB2312"/>
              </a:rPr>
              <a:t>A  </a:t>
            </a:r>
            <a:r>
              <a:rPr kumimoji="0" lang="zh-CN" altLang="en-US" sz="2400" b="1">
                <a:solidFill>
                  <a:schemeClr val="accent2"/>
                </a:solidFill>
                <a:latin typeface="Arial" panose="020B0604020202020204" pitchFamily="34" charset="0"/>
                <a:ea typeface="楷体_GB2312"/>
              </a:rPr>
              <a:t>电容器的串联</a:t>
            </a:r>
          </a:p>
        </p:txBody>
      </p:sp>
      <p:graphicFrame>
        <p:nvGraphicFramePr>
          <p:cNvPr id="388100" name="Object 4"/>
          <p:cNvGraphicFramePr>
            <a:graphicFrameLocks noChangeAspect="1"/>
          </p:cNvGraphicFramePr>
          <p:nvPr/>
        </p:nvGraphicFramePr>
        <p:xfrm>
          <a:off x="838200" y="1219200"/>
          <a:ext cx="1158875" cy="923925"/>
        </p:xfrm>
        <a:graphic>
          <a:graphicData uri="http://schemas.openxmlformats.org/presentationml/2006/ole">
            <mc:AlternateContent xmlns:mc="http://schemas.openxmlformats.org/markup-compatibility/2006">
              <mc:Choice xmlns:v="urn:schemas-microsoft-com:vml" Requires="v">
                <p:oleObj spid="_x0000_s49911" name="Equation" r:id="rId3" imgW="520474" imgH="431613" progId="Equation.3">
                  <p:embed/>
                </p:oleObj>
              </mc:Choice>
              <mc:Fallback>
                <p:oleObj name="Equation" r:id="rId3" imgW="520474"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9200"/>
                        <a:ext cx="1158875"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1" name="Object 5"/>
          <p:cNvGraphicFramePr>
            <a:graphicFrameLocks noChangeAspect="1"/>
          </p:cNvGraphicFramePr>
          <p:nvPr/>
        </p:nvGraphicFramePr>
        <p:xfrm>
          <a:off x="2374900" y="1219200"/>
          <a:ext cx="1192213" cy="908050"/>
        </p:xfrm>
        <a:graphic>
          <a:graphicData uri="http://schemas.openxmlformats.org/presentationml/2006/ole">
            <mc:AlternateContent xmlns:mc="http://schemas.openxmlformats.org/markup-compatibility/2006">
              <mc:Choice xmlns:v="urn:schemas-microsoft-com:vml" Requires="v">
                <p:oleObj spid="_x0000_s49912" name="Equation" r:id="rId5" imgW="558558" imgH="431613" progId="Equation.3">
                  <p:embed/>
                </p:oleObj>
              </mc:Choice>
              <mc:Fallback>
                <p:oleObj name="Equation" r:id="rId5" imgW="558558" imgH="431613"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4900" y="1219200"/>
                        <a:ext cx="1192213"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2" name="Object 6"/>
          <p:cNvGraphicFramePr>
            <a:graphicFrameLocks noChangeAspect="1"/>
          </p:cNvGraphicFramePr>
          <p:nvPr/>
        </p:nvGraphicFramePr>
        <p:xfrm>
          <a:off x="1524000" y="2819400"/>
          <a:ext cx="1371600" cy="982663"/>
        </p:xfrm>
        <a:graphic>
          <a:graphicData uri="http://schemas.openxmlformats.org/presentationml/2006/ole">
            <mc:AlternateContent xmlns:mc="http://schemas.openxmlformats.org/markup-compatibility/2006">
              <mc:Choice xmlns:v="urn:schemas-microsoft-com:vml" Requires="v">
                <p:oleObj spid="_x0000_s49913" name="Equation" r:id="rId7" imgW="558558" imgH="431613" progId="Equation.3">
                  <p:embed/>
                </p:oleObj>
              </mc:Choice>
              <mc:Fallback>
                <p:oleObj name="Equation" r:id="rId7" imgW="558558" imgH="431613"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819400"/>
                        <a:ext cx="1371600"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3" name="Object 7"/>
          <p:cNvGraphicFramePr>
            <a:graphicFrameLocks noChangeAspect="1"/>
          </p:cNvGraphicFramePr>
          <p:nvPr/>
        </p:nvGraphicFramePr>
        <p:xfrm>
          <a:off x="838200" y="3962400"/>
          <a:ext cx="3184525" cy="568325"/>
        </p:xfrm>
        <a:graphic>
          <a:graphicData uri="http://schemas.openxmlformats.org/presentationml/2006/ole">
            <mc:AlternateContent xmlns:mc="http://schemas.openxmlformats.org/markup-compatibility/2006">
              <mc:Choice xmlns:v="urn:schemas-microsoft-com:vml" Requires="v">
                <p:oleObj spid="_x0000_s49914" name="Equation" r:id="rId9" imgW="1333500" imgH="228600" progId="Equation.3">
                  <p:embed/>
                </p:oleObj>
              </mc:Choice>
              <mc:Fallback>
                <p:oleObj name="Equation" r:id="rId9" imgW="1333500" imgH="2286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200" y="3962400"/>
                        <a:ext cx="318452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4" name="Object 8"/>
          <p:cNvGraphicFramePr>
            <a:graphicFrameLocks noChangeAspect="1"/>
          </p:cNvGraphicFramePr>
          <p:nvPr/>
        </p:nvGraphicFramePr>
        <p:xfrm>
          <a:off x="4038600" y="3810000"/>
          <a:ext cx="3276600" cy="998538"/>
        </p:xfrm>
        <a:graphic>
          <a:graphicData uri="http://schemas.openxmlformats.org/presentationml/2006/ole">
            <mc:AlternateContent xmlns:mc="http://schemas.openxmlformats.org/markup-compatibility/2006">
              <mc:Choice xmlns:v="urn:schemas-microsoft-com:vml" Requires="v">
                <p:oleObj spid="_x0000_s49915" name="Equation" r:id="rId11" imgW="1435100" imgH="431800" progId="Equation.3">
                  <p:embed/>
                </p:oleObj>
              </mc:Choice>
              <mc:Fallback>
                <p:oleObj name="Equation" r:id="rId11" imgW="1435100" imgH="4318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8600" y="3810000"/>
                        <a:ext cx="3276600"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5" name="Object 9"/>
          <p:cNvGraphicFramePr>
            <a:graphicFrameLocks noChangeAspect="1"/>
          </p:cNvGraphicFramePr>
          <p:nvPr/>
        </p:nvGraphicFramePr>
        <p:xfrm>
          <a:off x="1268413" y="5105400"/>
          <a:ext cx="1358900" cy="984250"/>
        </p:xfrm>
        <a:graphic>
          <a:graphicData uri="http://schemas.openxmlformats.org/presentationml/2006/ole">
            <mc:AlternateContent xmlns:mc="http://schemas.openxmlformats.org/markup-compatibility/2006">
              <mc:Choice xmlns:v="urn:schemas-microsoft-com:vml" Requires="v">
                <p:oleObj spid="_x0000_s49916" name="Equation" r:id="rId13" imgW="444307" imgH="393529" progId="Equation.3">
                  <p:embed/>
                </p:oleObj>
              </mc:Choice>
              <mc:Fallback>
                <p:oleObj name="Equation" r:id="rId13" imgW="444307" imgH="393529"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68413" y="5105400"/>
                        <a:ext cx="1358900"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6" name="Object 10"/>
          <p:cNvGraphicFramePr>
            <a:graphicFrameLocks noChangeAspect="1"/>
          </p:cNvGraphicFramePr>
          <p:nvPr/>
        </p:nvGraphicFramePr>
        <p:xfrm>
          <a:off x="411163" y="5334000"/>
          <a:ext cx="436562" cy="374650"/>
        </p:xfrm>
        <a:graphic>
          <a:graphicData uri="http://schemas.openxmlformats.org/presentationml/2006/ole">
            <mc:AlternateContent xmlns:mc="http://schemas.openxmlformats.org/markup-compatibility/2006">
              <mc:Choice xmlns:v="urn:schemas-microsoft-com:vml" Requires="v">
                <p:oleObj spid="_x0000_s49917" name="Equation" r:id="rId15" imgW="139518" imgH="126835" progId="Equation.3">
                  <p:embed/>
                </p:oleObj>
              </mc:Choice>
              <mc:Fallback>
                <p:oleObj name="Equation" r:id="rId15" imgW="139518" imgH="12683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1163" y="5334000"/>
                        <a:ext cx="43656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8107" name="Object 11"/>
          <p:cNvGraphicFramePr>
            <a:graphicFrameLocks noChangeAspect="1"/>
          </p:cNvGraphicFramePr>
          <p:nvPr/>
        </p:nvGraphicFramePr>
        <p:xfrm>
          <a:off x="3154363" y="5410200"/>
          <a:ext cx="436562" cy="374650"/>
        </p:xfrm>
        <a:graphic>
          <a:graphicData uri="http://schemas.openxmlformats.org/presentationml/2006/ole">
            <mc:AlternateContent xmlns:mc="http://schemas.openxmlformats.org/markup-compatibility/2006">
              <mc:Choice xmlns:v="urn:schemas-microsoft-com:vml" Requires="v">
                <p:oleObj spid="_x0000_s49918" name="Equation" r:id="rId17" imgW="139518" imgH="126835" progId="Equation.3">
                  <p:embed/>
                </p:oleObj>
              </mc:Choice>
              <mc:Fallback>
                <p:oleObj name="Equation" r:id="rId17" imgW="139518" imgH="126835"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54363" y="5410200"/>
                        <a:ext cx="43656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8108" name="Group 12"/>
          <p:cNvGrpSpPr>
            <a:grpSpLocks/>
          </p:cNvGrpSpPr>
          <p:nvPr/>
        </p:nvGrpSpPr>
        <p:grpSpPr bwMode="auto">
          <a:xfrm>
            <a:off x="3810000" y="5029200"/>
            <a:ext cx="4191000" cy="1219200"/>
            <a:chOff x="2304" y="3264"/>
            <a:chExt cx="2736" cy="672"/>
          </a:xfrm>
        </p:grpSpPr>
        <p:graphicFrame>
          <p:nvGraphicFramePr>
            <p:cNvPr id="49204" name="Object 13"/>
            <p:cNvGraphicFramePr>
              <a:graphicFrameLocks noChangeAspect="1"/>
            </p:cNvGraphicFramePr>
            <p:nvPr/>
          </p:nvGraphicFramePr>
          <p:xfrm>
            <a:off x="2352" y="3360"/>
            <a:ext cx="1895" cy="480"/>
          </p:xfrm>
          <a:graphic>
            <a:graphicData uri="http://schemas.openxmlformats.org/presentationml/2006/ole">
              <mc:AlternateContent xmlns:mc="http://schemas.openxmlformats.org/markup-compatibility/2006">
                <mc:Choice xmlns:v="urn:schemas-microsoft-com:vml" Requires="v">
                  <p:oleObj spid="_x0000_s49919" name="Equation" r:id="rId19" imgW="1459866" imgH="431613" progId="Equation.3">
                    <p:embed/>
                  </p:oleObj>
                </mc:Choice>
                <mc:Fallback>
                  <p:oleObj name="Equation" r:id="rId19" imgW="1459866" imgH="431613"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52" y="3360"/>
                          <a:ext cx="1895"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205" name="Object 14"/>
            <p:cNvGraphicFramePr>
              <a:graphicFrameLocks noChangeAspect="1"/>
            </p:cNvGraphicFramePr>
            <p:nvPr/>
          </p:nvGraphicFramePr>
          <p:xfrm>
            <a:off x="4224" y="3360"/>
            <a:ext cx="807" cy="494"/>
          </p:xfrm>
          <a:graphic>
            <a:graphicData uri="http://schemas.openxmlformats.org/presentationml/2006/ole">
              <mc:AlternateContent xmlns:mc="http://schemas.openxmlformats.org/markup-compatibility/2006">
                <mc:Choice xmlns:v="urn:schemas-microsoft-com:vml" Requires="v">
                  <p:oleObj spid="_x0000_s49920" name="Equation" r:id="rId21" imgW="622030" imgH="444307" progId="Equation.3">
                    <p:embed/>
                  </p:oleObj>
                </mc:Choice>
                <mc:Fallback>
                  <p:oleObj name="Equation" r:id="rId21" imgW="622030" imgH="444307" progId="Equation.3">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24" y="3360"/>
                          <a:ext cx="807" cy="4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206" name="Rectangle 15"/>
            <p:cNvSpPr>
              <a:spLocks noChangeArrowheads="1"/>
            </p:cNvSpPr>
            <p:nvPr/>
          </p:nvSpPr>
          <p:spPr bwMode="auto">
            <a:xfrm>
              <a:off x="2304" y="3264"/>
              <a:ext cx="2736" cy="67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grpSp>
      <p:graphicFrame>
        <p:nvGraphicFramePr>
          <p:cNvPr id="388112" name="Object 16"/>
          <p:cNvGraphicFramePr>
            <a:graphicFrameLocks noChangeAspect="1"/>
          </p:cNvGraphicFramePr>
          <p:nvPr/>
        </p:nvGraphicFramePr>
        <p:xfrm>
          <a:off x="2057400" y="2286000"/>
          <a:ext cx="501650" cy="762000"/>
        </p:xfrm>
        <a:graphic>
          <a:graphicData uri="http://schemas.openxmlformats.org/presentationml/2006/ole">
            <mc:AlternateContent xmlns:mc="http://schemas.openxmlformats.org/markup-compatibility/2006">
              <mc:Choice xmlns:v="urn:schemas-microsoft-com:vml" Requires="v">
                <p:oleObj spid="_x0000_s49921" name="Equation" r:id="rId23" imgW="76101" imgH="190252" progId="Equation.3">
                  <p:embed/>
                </p:oleObj>
              </mc:Choice>
              <mc:Fallback>
                <p:oleObj name="Equation" r:id="rId23" imgW="76101" imgH="190252" progId="Equation.3">
                  <p:embed/>
                  <p:pic>
                    <p:nvPicPr>
                      <p:cNvPr id="0" name="Object 1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57400" y="2286000"/>
                        <a:ext cx="50165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8113" name="Group 17"/>
          <p:cNvGrpSpPr>
            <a:grpSpLocks/>
          </p:cNvGrpSpPr>
          <p:nvPr/>
        </p:nvGrpSpPr>
        <p:grpSpPr bwMode="auto">
          <a:xfrm>
            <a:off x="4724400" y="703263"/>
            <a:ext cx="3762375" cy="2438400"/>
            <a:chOff x="3120" y="576"/>
            <a:chExt cx="2370" cy="1536"/>
          </a:xfrm>
        </p:grpSpPr>
        <p:sp>
          <p:nvSpPr>
            <p:cNvPr id="49167" name="Line 18"/>
            <p:cNvSpPr>
              <a:spLocks noChangeShapeType="1"/>
            </p:cNvSpPr>
            <p:nvPr/>
          </p:nvSpPr>
          <p:spPr bwMode="auto">
            <a:xfrm>
              <a:off x="4512" y="1104"/>
              <a:ext cx="24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9168" name="Group 19"/>
            <p:cNvGrpSpPr>
              <a:grpSpLocks/>
            </p:cNvGrpSpPr>
            <p:nvPr/>
          </p:nvGrpSpPr>
          <p:grpSpPr bwMode="auto">
            <a:xfrm>
              <a:off x="3120" y="576"/>
              <a:ext cx="2370" cy="1536"/>
              <a:chOff x="3168" y="576"/>
              <a:chExt cx="2370" cy="1536"/>
            </a:xfrm>
          </p:grpSpPr>
          <p:sp>
            <p:nvSpPr>
              <p:cNvPr id="49169" name="Text Box 20"/>
              <p:cNvSpPr txBox="1">
                <a:spLocks noChangeArrowheads="1"/>
              </p:cNvSpPr>
              <p:nvPr/>
            </p:nvSpPr>
            <p:spPr bwMode="auto">
              <a:xfrm>
                <a:off x="3600" y="816"/>
                <a:ext cx="350" cy="250"/>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rgbClr val="CC0000"/>
                    </a:solidFill>
                    <a:ea typeface="楷体_GB2312"/>
                  </a:rPr>
                  <a:t>-q</a:t>
                </a:r>
                <a:endParaRPr kumimoji="0" lang="en-US" altLang="zh-CN" sz="2000" b="1" i="1" baseline="-25000">
                  <a:solidFill>
                    <a:srgbClr val="CC0000"/>
                  </a:solidFill>
                  <a:ea typeface="楷体_GB2312"/>
                </a:endParaRPr>
              </a:p>
            </p:txBody>
          </p:sp>
          <p:sp>
            <p:nvSpPr>
              <p:cNvPr id="49170" name="Text Box 21"/>
              <p:cNvSpPr txBox="1">
                <a:spLocks noChangeArrowheads="1"/>
              </p:cNvSpPr>
              <p:nvPr/>
            </p:nvSpPr>
            <p:spPr bwMode="auto">
              <a:xfrm>
                <a:off x="4800" y="816"/>
                <a:ext cx="353" cy="250"/>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rgbClr val="CC0000"/>
                    </a:solidFill>
                    <a:ea typeface="楷体_GB2312"/>
                  </a:rPr>
                  <a:t>+q</a:t>
                </a:r>
                <a:endParaRPr kumimoji="0" lang="en-US" altLang="zh-CN" sz="2000" b="1" i="1" baseline="-25000">
                  <a:solidFill>
                    <a:srgbClr val="CC0000"/>
                  </a:solidFill>
                  <a:ea typeface="楷体_GB2312"/>
                </a:endParaRPr>
              </a:p>
            </p:txBody>
          </p:sp>
          <p:sp>
            <p:nvSpPr>
              <p:cNvPr id="49171" name="Text Box 22"/>
              <p:cNvSpPr txBox="1">
                <a:spLocks noChangeArrowheads="1"/>
              </p:cNvSpPr>
              <p:nvPr/>
            </p:nvSpPr>
            <p:spPr bwMode="auto">
              <a:xfrm>
                <a:off x="4224" y="1776"/>
                <a:ext cx="351"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U</a:t>
                </a:r>
                <a:endParaRPr kumimoji="0" lang="en-US" altLang="zh-CN" sz="2400" b="1" i="1" baseline="-25000">
                  <a:ea typeface="楷体_GB2312"/>
                </a:endParaRPr>
              </a:p>
            </p:txBody>
          </p:sp>
          <p:sp>
            <p:nvSpPr>
              <p:cNvPr id="49172" name="Text Box 23"/>
              <p:cNvSpPr txBox="1">
                <a:spLocks noChangeArrowheads="1"/>
              </p:cNvSpPr>
              <p:nvPr/>
            </p:nvSpPr>
            <p:spPr bwMode="auto">
              <a:xfrm>
                <a:off x="4944" y="576"/>
                <a:ext cx="350"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solidFill>
                      <a:schemeClr val="tx2"/>
                    </a:solidFill>
                    <a:ea typeface="楷体_GB2312"/>
                  </a:rPr>
                  <a:t>U</a:t>
                </a:r>
                <a:r>
                  <a:rPr kumimoji="0" lang="en-US" altLang="zh-CN" sz="2400" b="1" i="1" baseline="-25000">
                    <a:solidFill>
                      <a:schemeClr val="tx2"/>
                    </a:solidFill>
                    <a:ea typeface="楷体_GB2312"/>
                  </a:rPr>
                  <a:t>n</a:t>
                </a:r>
              </a:p>
            </p:txBody>
          </p:sp>
          <p:sp>
            <p:nvSpPr>
              <p:cNvPr id="49173" name="Text Box 24"/>
              <p:cNvSpPr txBox="1">
                <a:spLocks noChangeArrowheads="1"/>
              </p:cNvSpPr>
              <p:nvPr/>
            </p:nvSpPr>
            <p:spPr bwMode="auto">
              <a:xfrm>
                <a:off x="3984" y="576"/>
                <a:ext cx="350"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U</a:t>
                </a:r>
                <a:r>
                  <a:rPr kumimoji="0" lang="en-US" altLang="zh-CN" sz="2400" b="1" i="1" baseline="-25000">
                    <a:ea typeface="楷体_GB2312"/>
                  </a:rPr>
                  <a:t>2</a:t>
                </a:r>
              </a:p>
            </p:txBody>
          </p:sp>
          <p:sp>
            <p:nvSpPr>
              <p:cNvPr id="49174" name="Text Box 25"/>
              <p:cNvSpPr txBox="1">
                <a:spLocks noChangeArrowheads="1"/>
              </p:cNvSpPr>
              <p:nvPr/>
            </p:nvSpPr>
            <p:spPr bwMode="auto">
              <a:xfrm>
                <a:off x="3408" y="576"/>
                <a:ext cx="355"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U</a:t>
                </a:r>
                <a:r>
                  <a:rPr kumimoji="0" lang="en-US" altLang="zh-CN" sz="2400" b="1" i="1" baseline="-25000">
                    <a:ea typeface="楷体_GB2312"/>
                  </a:rPr>
                  <a:t>1</a:t>
                </a:r>
              </a:p>
            </p:txBody>
          </p:sp>
          <p:sp>
            <p:nvSpPr>
              <p:cNvPr id="49175" name="Text Box 26"/>
              <p:cNvSpPr txBox="1">
                <a:spLocks noChangeArrowheads="1"/>
              </p:cNvSpPr>
              <p:nvPr/>
            </p:nvSpPr>
            <p:spPr bwMode="auto">
              <a:xfrm>
                <a:off x="4992" y="1440"/>
                <a:ext cx="350"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C</a:t>
                </a:r>
                <a:r>
                  <a:rPr kumimoji="0" lang="en-US" altLang="zh-CN" sz="2400" b="1" i="1" baseline="-25000">
                    <a:ea typeface="楷体_GB2312"/>
                  </a:rPr>
                  <a:t>n</a:t>
                </a:r>
              </a:p>
            </p:txBody>
          </p:sp>
          <p:sp>
            <p:nvSpPr>
              <p:cNvPr id="49176" name="Text Box 27"/>
              <p:cNvSpPr txBox="1">
                <a:spLocks noChangeArrowheads="1"/>
              </p:cNvSpPr>
              <p:nvPr/>
            </p:nvSpPr>
            <p:spPr bwMode="auto">
              <a:xfrm>
                <a:off x="4032" y="1392"/>
                <a:ext cx="350"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C</a:t>
                </a:r>
                <a:r>
                  <a:rPr kumimoji="0" lang="en-US" altLang="zh-CN" sz="2400" b="1" i="1" baseline="-25000">
                    <a:ea typeface="楷体_GB2312"/>
                  </a:rPr>
                  <a:t>2</a:t>
                </a:r>
              </a:p>
            </p:txBody>
          </p:sp>
          <p:sp>
            <p:nvSpPr>
              <p:cNvPr id="49177" name="Text Box 28"/>
              <p:cNvSpPr txBox="1">
                <a:spLocks noChangeArrowheads="1"/>
              </p:cNvSpPr>
              <p:nvPr/>
            </p:nvSpPr>
            <p:spPr bwMode="auto">
              <a:xfrm>
                <a:off x="3456" y="1392"/>
                <a:ext cx="355" cy="288"/>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C</a:t>
                </a:r>
                <a:r>
                  <a:rPr kumimoji="0" lang="en-US" altLang="zh-CN" sz="2400" b="1" i="1" baseline="-25000">
                    <a:ea typeface="楷体_GB2312"/>
                  </a:rPr>
                  <a:t>1</a:t>
                </a:r>
              </a:p>
            </p:txBody>
          </p:sp>
          <p:sp>
            <p:nvSpPr>
              <p:cNvPr id="49178" name="Text Box 29"/>
              <p:cNvSpPr txBox="1">
                <a:spLocks noChangeArrowheads="1"/>
              </p:cNvSpPr>
              <p:nvPr/>
            </p:nvSpPr>
            <p:spPr bwMode="auto">
              <a:xfrm>
                <a:off x="5184" y="816"/>
                <a:ext cx="354" cy="250"/>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rgbClr val="CC0000"/>
                    </a:solidFill>
                    <a:ea typeface="楷体_GB2312"/>
                  </a:rPr>
                  <a:t>-q</a:t>
                </a:r>
                <a:endParaRPr kumimoji="0" lang="en-US" altLang="zh-CN" sz="2000" b="1" i="1" baseline="-25000">
                  <a:solidFill>
                    <a:srgbClr val="CC0000"/>
                  </a:solidFill>
                  <a:ea typeface="楷体_GB2312"/>
                </a:endParaRPr>
              </a:p>
            </p:txBody>
          </p:sp>
          <p:sp>
            <p:nvSpPr>
              <p:cNvPr id="49179" name="Text Box 30"/>
              <p:cNvSpPr txBox="1">
                <a:spLocks noChangeArrowheads="1"/>
              </p:cNvSpPr>
              <p:nvPr/>
            </p:nvSpPr>
            <p:spPr bwMode="auto">
              <a:xfrm>
                <a:off x="4272" y="816"/>
                <a:ext cx="350" cy="250"/>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rgbClr val="CC0000"/>
                    </a:solidFill>
                    <a:ea typeface="楷体_GB2312"/>
                  </a:rPr>
                  <a:t>-q</a:t>
                </a:r>
                <a:endParaRPr kumimoji="0" lang="en-US" altLang="zh-CN" sz="2000" b="1" i="1" baseline="-25000">
                  <a:solidFill>
                    <a:srgbClr val="CC0000"/>
                  </a:solidFill>
                  <a:ea typeface="楷体_GB2312"/>
                </a:endParaRPr>
              </a:p>
            </p:txBody>
          </p:sp>
          <p:sp>
            <p:nvSpPr>
              <p:cNvPr id="49180" name="Text Box 31"/>
              <p:cNvSpPr txBox="1">
                <a:spLocks noChangeArrowheads="1"/>
              </p:cNvSpPr>
              <p:nvPr/>
            </p:nvSpPr>
            <p:spPr bwMode="auto">
              <a:xfrm>
                <a:off x="3168" y="816"/>
                <a:ext cx="353" cy="250"/>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rgbClr val="CC0000"/>
                    </a:solidFill>
                    <a:ea typeface="楷体_GB2312"/>
                  </a:rPr>
                  <a:t>+q</a:t>
                </a:r>
                <a:endParaRPr kumimoji="0" lang="en-US" altLang="zh-CN" sz="2000" b="1" i="1" baseline="-25000">
                  <a:solidFill>
                    <a:srgbClr val="CC0000"/>
                  </a:solidFill>
                  <a:ea typeface="楷体_GB2312"/>
                </a:endParaRPr>
              </a:p>
            </p:txBody>
          </p:sp>
          <p:sp>
            <p:nvSpPr>
              <p:cNvPr id="49181" name="Text Box 32"/>
              <p:cNvSpPr txBox="1">
                <a:spLocks noChangeArrowheads="1"/>
              </p:cNvSpPr>
              <p:nvPr/>
            </p:nvSpPr>
            <p:spPr bwMode="auto">
              <a:xfrm>
                <a:off x="3840" y="816"/>
                <a:ext cx="352" cy="250"/>
              </a:xfrm>
              <a:prstGeom prst="rect">
                <a:avLst/>
              </a:prstGeom>
              <a:noFill/>
              <a:ln>
                <a:noFill/>
              </a:ln>
              <a:effectLst/>
              <a:extLst>
                <a:ext uri="{909E8E84-426E-40DD-AFC4-6F175D3DCCD1}">
                  <a14:hiddenFill xmlns:a14="http://schemas.microsoft.com/office/drawing/2010/main">
                    <a:solidFill>
                      <a:srgbClr val="33CCCC">
                        <a:alpha val="50195"/>
                      </a:srgbClr>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rgbClr val="CC0000"/>
                    </a:solidFill>
                    <a:ea typeface="楷体_GB2312"/>
                  </a:rPr>
                  <a:t>+q</a:t>
                </a:r>
                <a:endParaRPr kumimoji="0" lang="en-US" altLang="zh-CN" sz="2000" b="1" i="1" baseline="-25000">
                  <a:solidFill>
                    <a:srgbClr val="CC0000"/>
                  </a:solidFill>
                  <a:ea typeface="楷体_GB2312"/>
                </a:endParaRPr>
              </a:p>
            </p:txBody>
          </p:sp>
          <p:sp>
            <p:nvSpPr>
              <p:cNvPr id="49182" name="Line 33"/>
              <p:cNvSpPr>
                <a:spLocks noChangeShapeType="1"/>
              </p:cNvSpPr>
              <p:nvPr/>
            </p:nvSpPr>
            <p:spPr bwMode="auto">
              <a:xfrm>
                <a:off x="3216" y="1104"/>
                <a:ext cx="0" cy="100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3" name="Line 34"/>
              <p:cNvSpPr>
                <a:spLocks noChangeShapeType="1"/>
              </p:cNvSpPr>
              <p:nvPr/>
            </p:nvSpPr>
            <p:spPr bwMode="auto">
              <a:xfrm>
                <a:off x="5472" y="1104"/>
                <a:ext cx="0" cy="100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9184" name="Group 35"/>
              <p:cNvGrpSpPr>
                <a:grpSpLocks/>
              </p:cNvGrpSpPr>
              <p:nvPr/>
            </p:nvGrpSpPr>
            <p:grpSpPr bwMode="auto">
              <a:xfrm>
                <a:off x="3216" y="960"/>
                <a:ext cx="662" cy="322"/>
                <a:chOff x="4848" y="2304"/>
                <a:chExt cx="662" cy="322"/>
              </a:xfrm>
            </p:grpSpPr>
            <p:grpSp>
              <p:nvGrpSpPr>
                <p:cNvPr id="49199" name="Group 36"/>
                <p:cNvGrpSpPr>
                  <a:grpSpLocks/>
                </p:cNvGrpSpPr>
                <p:nvPr/>
              </p:nvGrpSpPr>
              <p:grpSpPr bwMode="auto">
                <a:xfrm>
                  <a:off x="5136" y="2304"/>
                  <a:ext cx="104" cy="322"/>
                  <a:chOff x="1824" y="1968"/>
                  <a:chExt cx="144" cy="528"/>
                </a:xfrm>
              </p:grpSpPr>
              <p:sp>
                <p:nvSpPr>
                  <p:cNvPr id="49202" name="Line 37"/>
                  <p:cNvSpPr>
                    <a:spLocks noChangeShapeType="1"/>
                  </p:cNvSpPr>
                  <p:nvPr/>
                </p:nvSpPr>
                <p:spPr bwMode="auto">
                  <a:xfrm>
                    <a:off x="1824" y="1968"/>
                    <a:ext cx="0" cy="52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3" name="Line 38"/>
                  <p:cNvSpPr>
                    <a:spLocks noChangeShapeType="1"/>
                  </p:cNvSpPr>
                  <p:nvPr/>
                </p:nvSpPr>
                <p:spPr bwMode="auto">
                  <a:xfrm>
                    <a:off x="1968" y="1968"/>
                    <a:ext cx="0" cy="52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200" name="Line 39"/>
                <p:cNvSpPr>
                  <a:spLocks noChangeShapeType="1"/>
                </p:cNvSpPr>
                <p:nvPr/>
              </p:nvSpPr>
              <p:spPr bwMode="auto">
                <a:xfrm flipH="1">
                  <a:off x="4848" y="2448"/>
                  <a:ext cx="27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201" name="Line 40"/>
                <p:cNvSpPr>
                  <a:spLocks noChangeShapeType="1"/>
                </p:cNvSpPr>
                <p:nvPr/>
              </p:nvSpPr>
              <p:spPr bwMode="auto">
                <a:xfrm flipH="1">
                  <a:off x="5232" y="2448"/>
                  <a:ext cx="27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185" name="Group 41"/>
              <p:cNvGrpSpPr>
                <a:grpSpLocks/>
              </p:cNvGrpSpPr>
              <p:nvPr/>
            </p:nvGrpSpPr>
            <p:grpSpPr bwMode="auto">
              <a:xfrm>
                <a:off x="3840" y="960"/>
                <a:ext cx="662" cy="322"/>
                <a:chOff x="4848" y="2304"/>
                <a:chExt cx="662" cy="322"/>
              </a:xfrm>
            </p:grpSpPr>
            <p:grpSp>
              <p:nvGrpSpPr>
                <p:cNvPr id="49194" name="Group 42"/>
                <p:cNvGrpSpPr>
                  <a:grpSpLocks/>
                </p:cNvGrpSpPr>
                <p:nvPr/>
              </p:nvGrpSpPr>
              <p:grpSpPr bwMode="auto">
                <a:xfrm>
                  <a:off x="5136" y="2304"/>
                  <a:ext cx="104" cy="322"/>
                  <a:chOff x="1824" y="1968"/>
                  <a:chExt cx="144" cy="528"/>
                </a:xfrm>
              </p:grpSpPr>
              <p:sp>
                <p:nvSpPr>
                  <p:cNvPr id="49197" name="Line 43"/>
                  <p:cNvSpPr>
                    <a:spLocks noChangeShapeType="1"/>
                  </p:cNvSpPr>
                  <p:nvPr/>
                </p:nvSpPr>
                <p:spPr bwMode="auto">
                  <a:xfrm>
                    <a:off x="1824" y="1968"/>
                    <a:ext cx="0" cy="52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8" name="Line 44"/>
                  <p:cNvSpPr>
                    <a:spLocks noChangeShapeType="1"/>
                  </p:cNvSpPr>
                  <p:nvPr/>
                </p:nvSpPr>
                <p:spPr bwMode="auto">
                  <a:xfrm>
                    <a:off x="1968" y="1968"/>
                    <a:ext cx="0" cy="52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195" name="Line 45"/>
                <p:cNvSpPr>
                  <a:spLocks noChangeShapeType="1"/>
                </p:cNvSpPr>
                <p:nvPr/>
              </p:nvSpPr>
              <p:spPr bwMode="auto">
                <a:xfrm flipH="1">
                  <a:off x="4848" y="2448"/>
                  <a:ext cx="27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6" name="Line 46"/>
                <p:cNvSpPr>
                  <a:spLocks noChangeShapeType="1"/>
                </p:cNvSpPr>
                <p:nvPr/>
              </p:nvSpPr>
              <p:spPr bwMode="auto">
                <a:xfrm flipH="1">
                  <a:off x="5232" y="2448"/>
                  <a:ext cx="27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186" name="Group 47"/>
              <p:cNvGrpSpPr>
                <a:grpSpLocks/>
              </p:cNvGrpSpPr>
              <p:nvPr/>
            </p:nvGrpSpPr>
            <p:grpSpPr bwMode="auto">
              <a:xfrm>
                <a:off x="4800" y="960"/>
                <a:ext cx="662" cy="322"/>
                <a:chOff x="4848" y="2304"/>
                <a:chExt cx="662" cy="322"/>
              </a:xfrm>
            </p:grpSpPr>
            <p:grpSp>
              <p:nvGrpSpPr>
                <p:cNvPr id="49189" name="Group 48"/>
                <p:cNvGrpSpPr>
                  <a:grpSpLocks/>
                </p:cNvGrpSpPr>
                <p:nvPr/>
              </p:nvGrpSpPr>
              <p:grpSpPr bwMode="auto">
                <a:xfrm>
                  <a:off x="5136" y="2304"/>
                  <a:ext cx="104" cy="322"/>
                  <a:chOff x="1824" y="1968"/>
                  <a:chExt cx="144" cy="528"/>
                </a:xfrm>
              </p:grpSpPr>
              <p:sp>
                <p:nvSpPr>
                  <p:cNvPr id="49192" name="Line 49"/>
                  <p:cNvSpPr>
                    <a:spLocks noChangeShapeType="1"/>
                  </p:cNvSpPr>
                  <p:nvPr/>
                </p:nvSpPr>
                <p:spPr bwMode="auto">
                  <a:xfrm>
                    <a:off x="1824" y="1968"/>
                    <a:ext cx="0" cy="52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3" name="Line 50"/>
                  <p:cNvSpPr>
                    <a:spLocks noChangeShapeType="1"/>
                  </p:cNvSpPr>
                  <p:nvPr/>
                </p:nvSpPr>
                <p:spPr bwMode="auto">
                  <a:xfrm>
                    <a:off x="1968" y="1968"/>
                    <a:ext cx="0" cy="528"/>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190" name="Line 51"/>
                <p:cNvSpPr>
                  <a:spLocks noChangeShapeType="1"/>
                </p:cNvSpPr>
                <p:nvPr/>
              </p:nvSpPr>
              <p:spPr bwMode="auto">
                <a:xfrm flipH="1">
                  <a:off x="4848" y="2448"/>
                  <a:ext cx="27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91" name="Line 52"/>
                <p:cNvSpPr>
                  <a:spLocks noChangeShapeType="1"/>
                </p:cNvSpPr>
                <p:nvPr/>
              </p:nvSpPr>
              <p:spPr bwMode="auto">
                <a:xfrm flipH="1">
                  <a:off x="5232" y="2448"/>
                  <a:ext cx="278" cy="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187" name="Line 53"/>
              <p:cNvSpPr>
                <a:spLocks noChangeShapeType="1"/>
              </p:cNvSpPr>
              <p:nvPr/>
            </p:nvSpPr>
            <p:spPr bwMode="auto">
              <a:xfrm>
                <a:off x="3216" y="1920"/>
                <a:ext cx="864" cy="0"/>
              </a:xfrm>
              <a:prstGeom prst="line">
                <a:avLst/>
              </a:prstGeom>
              <a:noFill/>
              <a:ln w="12700">
                <a:solidFill>
                  <a:schemeClr val="tx1"/>
                </a:solidFill>
                <a:prstDash val="sys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188" name="Line 54"/>
              <p:cNvSpPr>
                <a:spLocks noChangeShapeType="1"/>
              </p:cNvSpPr>
              <p:nvPr/>
            </p:nvSpPr>
            <p:spPr bwMode="auto">
              <a:xfrm>
                <a:off x="4656" y="1920"/>
                <a:ext cx="816" cy="0"/>
              </a:xfrm>
              <a:prstGeom prst="line">
                <a:avLst/>
              </a:prstGeom>
              <a:noFill/>
              <a:ln w="127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88098"/>
                                        </p:tgtEl>
                                        <p:attrNameLst>
                                          <p:attrName>style.visibility</p:attrName>
                                        </p:attrNameLst>
                                      </p:cBhvr>
                                      <p:to>
                                        <p:strVal val="visible"/>
                                      </p:to>
                                    </p:set>
                                    <p:animEffect transition="in" filter="wipe(left)">
                                      <p:cBhvr>
                                        <p:cTn id="7" dur="500"/>
                                        <p:tgtEl>
                                          <p:spTgt spid="388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8099"/>
                                        </p:tgtEl>
                                        <p:attrNameLst>
                                          <p:attrName>style.visibility</p:attrName>
                                        </p:attrNameLst>
                                      </p:cBhvr>
                                      <p:to>
                                        <p:strVal val="visible"/>
                                      </p:to>
                                    </p:set>
                                    <p:animEffect transition="in" filter="wipe(left)">
                                      <p:cBhvr>
                                        <p:cTn id="12" dur="500"/>
                                        <p:tgtEl>
                                          <p:spTgt spid="3880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388113"/>
                                        </p:tgtEl>
                                        <p:attrNameLst>
                                          <p:attrName>style.visibility</p:attrName>
                                        </p:attrNameLst>
                                      </p:cBhvr>
                                      <p:to>
                                        <p:strVal val="visible"/>
                                      </p:to>
                                    </p:set>
                                    <p:animEffect transition="in" filter="barn(outHorizontal)">
                                      <p:cBhvr>
                                        <p:cTn id="17" dur="500"/>
                                        <p:tgtEl>
                                          <p:spTgt spid="3881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88100"/>
                                        </p:tgtEl>
                                        <p:attrNameLst>
                                          <p:attrName>style.visibility</p:attrName>
                                        </p:attrNameLst>
                                      </p:cBhvr>
                                      <p:to>
                                        <p:strVal val="visible"/>
                                      </p:to>
                                    </p:set>
                                    <p:animEffect transition="in" filter="wipe(left)">
                                      <p:cBhvr>
                                        <p:cTn id="22" dur="500"/>
                                        <p:tgtEl>
                                          <p:spTgt spid="3881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88101"/>
                                        </p:tgtEl>
                                        <p:attrNameLst>
                                          <p:attrName>style.visibility</p:attrName>
                                        </p:attrNameLst>
                                      </p:cBhvr>
                                      <p:to>
                                        <p:strVal val="visible"/>
                                      </p:to>
                                    </p:set>
                                    <p:animEffect transition="in" filter="wipe(left)">
                                      <p:cBhvr>
                                        <p:cTn id="27" dur="500"/>
                                        <p:tgtEl>
                                          <p:spTgt spid="3881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388112"/>
                                        </p:tgtEl>
                                        <p:attrNameLst>
                                          <p:attrName>style.visibility</p:attrName>
                                        </p:attrNameLst>
                                      </p:cBhvr>
                                      <p:to>
                                        <p:strVal val="visible"/>
                                      </p:to>
                                    </p:set>
                                    <p:animEffect transition="in" filter="wipe(up)">
                                      <p:cBhvr>
                                        <p:cTn id="32" dur="500"/>
                                        <p:tgtEl>
                                          <p:spTgt spid="3881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88102"/>
                                        </p:tgtEl>
                                        <p:attrNameLst>
                                          <p:attrName>style.visibility</p:attrName>
                                        </p:attrNameLst>
                                      </p:cBhvr>
                                      <p:to>
                                        <p:strVal val="visible"/>
                                      </p:to>
                                    </p:set>
                                    <p:animEffect transition="in" filter="wipe(left)">
                                      <p:cBhvr>
                                        <p:cTn id="37" dur="500"/>
                                        <p:tgtEl>
                                          <p:spTgt spid="3881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88103"/>
                                        </p:tgtEl>
                                        <p:attrNameLst>
                                          <p:attrName>style.visibility</p:attrName>
                                        </p:attrNameLst>
                                      </p:cBhvr>
                                      <p:to>
                                        <p:strVal val="visible"/>
                                      </p:to>
                                    </p:set>
                                    <p:animEffect transition="in" filter="wipe(left)">
                                      <p:cBhvr>
                                        <p:cTn id="42" dur="500"/>
                                        <p:tgtEl>
                                          <p:spTgt spid="38810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88104"/>
                                        </p:tgtEl>
                                        <p:attrNameLst>
                                          <p:attrName>style.visibility</p:attrName>
                                        </p:attrNameLst>
                                      </p:cBhvr>
                                      <p:to>
                                        <p:strVal val="visible"/>
                                      </p:to>
                                    </p:set>
                                    <p:animEffect transition="in" filter="wipe(left)">
                                      <p:cBhvr>
                                        <p:cTn id="47" dur="500"/>
                                        <p:tgtEl>
                                          <p:spTgt spid="38810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38810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388105"/>
                                        </p:tgtEl>
                                        <p:attrNameLst>
                                          <p:attrName>style.visibility</p:attrName>
                                        </p:attrNameLst>
                                      </p:cBhvr>
                                      <p:to>
                                        <p:strVal val="visible"/>
                                      </p:to>
                                    </p:set>
                                    <p:animEffect transition="in" filter="wipe(left)">
                                      <p:cBhvr>
                                        <p:cTn id="56" dur="500"/>
                                        <p:tgtEl>
                                          <p:spTgt spid="38810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499"/>
                                          </p:stCondLst>
                                        </p:cTn>
                                        <p:tgtEl>
                                          <p:spTgt spid="38810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388108"/>
                                        </p:tgtEl>
                                        <p:attrNameLst>
                                          <p:attrName>style.visibility</p:attrName>
                                        </p:attrNameLst>
                                      </p:cBhvr>
                                      <p:to>
                                        <p:strVal val="visible"/>
                                      </p:to>
                                    </p:set>
                                    <p:animEffect transition="in" filter="wipe(left)">
                                      <p:cBhvr>
                                        <p:cTn id="65" dur="500"/>
                                        <p:tgtEl>
                                          <p:spTgt spid="388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8" grpId="0" autoUpdateAnimBg="0"/>
      <p:bldP spid="388099"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Text Box 2"/>
          <p:cNvSpPr txBox="1">
            <a:spLocks noChangeArrowheads="1"/>
          </p:cNvSpPr>
          <p:nvPr/>
        </p:nvSpPr>
        <p:spPr bwMode="auto">
          <a:xfrm>
            <a:off x="685800" y="228600"/>
            <a:ext cx="4038600" cy="5334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a:solidFill>
                  <a:schemeClr val="accent2"/>
                </a:solidFill>
                <a:latin typeface="Arial" panose="020B0604020202020204" pitchFamily="34" charset="0"/>
                <a:ea typeface="楷体_GB2312"/>
              </a:rPr>
              <a:t>B   </a:t>
            </a:r>
            <a:r>
              <a:rPr kumimoji="0" lang="zh-CN" altLang="en-US" sz="2400" b="1">
                <a:solidFill>
                  <a:schemeClr val="accent2"/>
                </a:solidFill>
                <a:latin typeface="Arial" panose="020B0604020202020204" pitchFamily="34" charset="0"/>
                <a:ea typeface="楷体_GB2312"/>
              </a:rPr>
              <a:t>电容器的并联</a:t>
            </a:r>
          </a:p>
        </p:txBody>
      </p:sp>
      <p:graphicFrame>
        <p:nvGraphicFramePr>
          <p:cNvPr id="389123" name="Object 3"/>
          <p:cNvGraphicFramePr>
            <a:graphicFrameLocks noChangeAspect="1"/>
          </p:cNvGraphicFramePr>
          <p:nvPr/>
        </p:nvGraphicFramePr>
        <p:xfrm>
          <a:off x="1157288" y="2636838"/>
          <a:ext cx="3095625" cy="639762"/>
        </p:xfrm>
        <a:graphic>
          <a:graphicData uri="http://schemas.openxmlformats.org/presentationml/2006/ole">
            <mc:AlternateContent xmlns:mc="http://schemas.openxmlformats.org/markup-compatibility/2006">
              <mc:Choice xmlns:v="urn:schemas-microsoft-com:vml" Requires="v">
                <p:oleObj spid="_x0000_s50797" name="Equation" r:id="rId3" imgW="1206500" imgH="228600" progId="Equation.3">
                  <p:embed/>
                </p:oleObj>
              </mc:Choice>
              <mc:Fallback>
                <p:oleObj name="Equation" r:id="rId3" imgW="12065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7288" y="2636838"/>
                        <a:ext cx="3095625"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24" name="Object 4"/>
          <p:cNvGraphicFramePr>
            <a:graphicFrameLocks noChangeAspect="1"/>
          </p:cNvGraphicFramePr>
          <p:nvPr/>
        </p:nvGraphicFramePr>
        <p:xfrm>
          <a:off x="685800" y="990600"/>
          <a:ext cx="1511300" cy="585788"/>
        </p:xfrm>
        <a:graphic>
          <a:graphicData uri="http://schemas.openxmlformats.org/presentationml/2006/ole">
            <mc:AlternateContent xmlns:mc="http://schemas.openxmlformats.org/markup-compatibility/2006">
              <mc:Choice xmlns:v="urn:schemas-microsoft-com:vml" Requires="v">
                <p:oleObj spid="_x0000_s50798" name="Equation" r:id="rId5" imgW="596641" imgH="215806" progId="Equation.3">
                  <p:embed/>
                </p:oleObj>
              </mc:Choice>
              <mc:Fallback>
                <p:oleObj name="Equation" r:id="rId5" imgW="596641" imgH="21580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990600"/>
                        <a:ext cx="151130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25" name="Object 5"/>
          <p:cNvGraphicFramePr>
            <a:graphicFrameLocks noChangeAspect="1"/>
          </p:cNvGraphicFramePr>
          <p:nvPr/>
        </p:nvGraphicFramePr>
        <p:xfrm>
          <a:off x="2438400" y="990600"/>
          <a:ext cx="1458913" cy="554038"/>
        </p:xfrm>
        <a:graphic>
          <a:graphicData uri="http://schemas.openxmlformats.org/presentationml/2006/ole">
            <mc:AlternateContent xmlns:mc="http://schemas.openxmlformats.org/markup-compatibility/2006">
              <mc:Choice xmlns:v="urn:schemas-microsoft-com:vml" Requires="v">
                <p:oleObj spid="_x0000_s50799" name="Equation" r:id="rId7" imgW="609336" imgH="215806" progId="Equation.3">
                  <p:embed/>
                </p:oleObj>
              </mc:Choice>
              <mc:Fallback>
                <p:oleObj name="Equation" r:id="rId7" imgW="609336" imgH="215806"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990600"/>
                        <a:ext cx="1458913"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26" name="Object 6"/>
          <p:cNvGraphicFramePr>
            <a:graphicFrameLocks noChangeAspect="1"/>
          </p:cNvGraphicFramePr>
          <p:nvPr/>
        </p:nvGraphicFramePr>
        <p:xfrm>
          <a:off x="1295400" y="1954213"/>
          <a:ext cx="1611313" cy="647700"/>
        </p:xfrm>
        <a:graphic>
          <a:graphicData uri="http://schemas.openxmlformats.org/presentationml/2006/ole">
            <mc:AlternateContent xmlns:mc="http://schemas.openxmlformats.org/markup-compatibility/2006">
              <mc:Choice xmlns:v="urn:schemas-microsoft-com:vml" Requires="v">
                <p:oleObj spid="_x0000_s50800" name="Equation" r:id="rId9" imgW="609600" imgH="228600" progId="Equation.3">
                  <p:embed/>
                </p:oleObj>
              </mc:Choice>
              <mc:Fallback>
                <p:oleObj name="Equation" r:id="rId9" imgW="609600" imgH="2286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5400" y="1954213"/>
                        <a:ext cx="16113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27" name="Object 7"/>
          <p:cNvGraphicFramePr>
            <a:graphicFrameLocks noChangeAspect="1"/>
          </p:cNvGraphicFramePr>
          <p:nvPr/>
        </p:nvGraphicFramePr>
        <p:xfrm>
          <a:off x="4217988" y="2768600"/>
          <a:ext cx="3563937" cy="636588"/>
        </p:xfrm>
        <a:graphic>
          <a:graphicData uri="http://schemas.openxmlformats.org/presentationml/2006/ole">
            <mc:AlternateContent xmlns:mc="http://schemas.openxmlformats.org/markup-compatibility/2006">
              <mc:Choice xmlns:v="urn:schemas-microsoft-com:vml" Requires="v">
                <p:oleObj spid="_x0000_s50801" name="Equation" r:id="rId11" imgW="1397000" imgH="228600" progId="Equation.3">
                  <p:embed/>
                </p:oleObj>
              </mc:Choice>
              <mc:Fallback>
                <p:oleObj name="Equation" r:id="rId11" imgW="139700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17988" y="2768600"/>
                        <a:ext cx="3563937" cy="636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28" name="Object 8"/>
          <p:cNvGraphicFramePr>
            <a:graphicFrameLocks noChangeAspect="1"/>
          </p:cNvGraphicFramePr>
          <p:nvPr/>
        </p:nvGraphicFramePr>
        <p:xfrm>
          <a:off x="1371600" y="3933825"/>
          <a:ext cx="609600" cy="530225"/>
        </p:xfrm>
        <a:graphic>
          <a:graphicData uri="http://schemas.openxmlformats.org/presentationml/2006/ole">
            <mc:AlternateContent xmlns:mc="http://schemas.openxmlformats.org/markup-compatibility/2006">
              <mc:Choice xmlns:v="urn:schemas-microsoft-com:vml" Requires="v">
                <p:oleObj spid="_x0000_s50802" name="Equation" r:id="rId13" imgW="190417" imgH="152334" progId="Equation.3">
                  <p:embed/>
                </p:oleObj>
              </mc:Choice>
              <mc:Fallback>
                <p:oleObj name="Equation" r:id="rId13" imgW="190417" imgH="152334"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71600" y="3933825"/>
                        <a:ext cx="6096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129" name="Group 9"/>
          <p:cNvGrpSpPr>
            <a:grpSpLocks/>
          </p:cNvGrpSpPr>
          <p:nvPr/>
        </p:nvGrpSpPr>
        <p:grpSpPr bwMode="auto">
          <a:xfrm>
            <a:off x="2057400" y="3429000"/>
            <a:ext cx="5334000" cy="1524000"/>
            <a:chOff x="912" y="2736"/>
            <a:chExt cx="2832" cy="720"/>
          </a:xfrm>
        </p:grpSpPr>
        <p:graphicFrame>
          <p:nvGraphicFramePr>
            <p:cNvPr id="50218" name="Object 10"/>
            <p:cNvGraphicFramePr>
              <a:graphicFrameLocks noChangeAspect="1"/>
            </p:cNvGraphicFramePr>
            <p:nvPr/>
          </p:nvGraphicFramePr>
          <p:xfrm>
            <a:off x="960" y="2784"/>
            <a:ext cx="2060" cy="558"/>
          </p:xfrm>
          <a:graphic>
            <a:graphicData uri="http://schemas.openxmlformats.org/presentationml/2006/ole">
              <mc:AlternateContent xmlns:mc="http://schemas.openxmlformats.org/markup-compatibility/2006">
                <mc:Choice xmlns:v="urn:schemas-microsoft-com:vml" Requires="v">
                  <p:oleObj spid="_x0000_s50803" name="Equation" r:id="rId15" imgW="1586811" imgH="393529" progId="Equation.3">
                    <p:embed/>
                  </p:oleObj>
                </mc:Choice>
                <mc:Fallback>
                  <p:oleObj name="Equation" r:id="rId15" imgW="1586811" imgH="393529"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0" y="2784"/>
                          <a:ext cx="2060" cy="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219" name="Object 11"/>
            <p:cNvGraphicFramePr>
              <a:graphicFrameLocks noChangeAspect="1"/>
            </p:cNvGraphicFramePr>
            <p:nvPr/>
          </p:nvGraphicFramePr>
          <p:xfrm>
            <a:off x="3024" y="2736"/>
            <a:ext cx="692" cy="612"/>
          </p:xfrm>
          <a:graphic>
            <a:graphicData uri="http://schemas.openxmlformats.org/presentationml/2006/ole">
              <mc:AlternateContent xmlns:mc="http://schemas.openxmlformats.org/markup-compatibility/2006">
                <mc:Choice xmlns:v="urn:schemas-microsoft-com:vml" Requires="v">
                  <p:oleObj spid="_x0000_s50804" name="Equation" r:id="rId17" imgW="533169" imgH="431613" progId="Equation.3">
                    <p:embed/>
                  </p:oleObj>
                </mc:Choice>
                <mc:Fallback>
                  <p:oleObj name="Equation" r:id="rId17" imgW="533169" imgH="431613"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24" y="2736"/>
                          <a:ext cx="692" cy="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220" name="Rectangle 12"/>
            <p:cNvSpPr>
              <a:spLocks noChangeArrowheads="1"/>
            </p:cNvSpPr>
            <p:nvPr/>
          </p:nvSpPr>
          <p:spPr bwMode="auto">
            <a:xfrm>
              <a:off x="912" y="2736"/>
              <a:ext cx="2832" cy="72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000">
                <a:solidFill>
                  <a:srgbClr val="FF3300"/>
                </a:solidFill>
                <a:ea typeface="楷体_GB2312"/>
              </a:endParaRPr>
            </a:p>
          </p:txBody>
        </p:sp>
      </p:grpSp>
      <p:graphicFrame>
        <p:nvGraphicFramePr>
          <p:cNvPr id="389133" name="Object 13"/>
          <p:cNvGraphicFramePr>
            <a:graphicFrameLocks noChangeAspect="1"/>
          </p:cNvGraphicFramePr>
          <p:nvPr/>
        </p:nvGraphicFramePr>
        <p:xfrm>
          <a:off x="1981200" y="1268413"/>
          <a:ext cx="501650" cy="762000"/>
        </p:xfrm>
        <a:graphic>
          <a:graphicData uri="http://schemas.openxmlformats.org/presentationml/2006/ole">
            <mc:AlternateContent xmlns:mc="http://schemas.openxmlformats.org/markup-compatibility/2006">
              <mc:Choice xmlns:v="urn:schemas-microsoft-com:vml" Requires="v">
                <p:oleObj spid="_x0000_s50805" name="Equation" r:id="rId19" imgW="76101" imgH="190252" progId="Equation.3">
                  <p:embed/>
                </p:oleObj>
              </mc:Choice>
              <mc:Fallback>
                <p:oleObj name="Equation" r:id="rId19" imgW="76101" imgH="190252"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81200" y="1268413"/>
                        <a:ext cx="50165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134" name="Group 14"/>
          <p:cNvGrpSpPr>
            <a:grpSpLocks/>
          </p:cNvGrpSpPr>
          <p:nvPr/>
        </p:nvGrpSpPr>
        <p:grpSpPr bwMode="auto">
          <a:xfrm>
            <a:off x="4419600" y="685800"/>
            <a:ext cx="4191000" cy="1600200"/>
            <a:chOff x="2640" y="480"/>
            <a:chExt cx="2976" cy="1008"/>
          </a:xfrm>
        </p:grpSpPr>
        <p:sp>
          <p:nvSpPr>
            <p:cNvPr id="50189" name="Line 15"/>
            <p:cNvSpPr>
              <a:spLocks noChangeShapeType="1"/>
            </p:cNvSpPr>
            <p:nvPr/>
          </p:nvSpPr>
          <p:spPr bwMode="auto">
            <a:xfrm flipV="1">
              <a:off x="2912" y="1488"/>
              <a:ext cx="573"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0" name="Line 16"/>
            <p:cNvSpPr>
              <a:spLocks noChangeShapeType="1"/>
            </p:cNvSpPr>
            <p:nvPr/>
          </p:nvSpPr>
          <p:spPr bwMode="auto">
            <a:xfrm flipV="1">
              <a:off x="4631" y="480"/>
              <a:ext cx="749"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1" name="Line 17"/>
            <p:cNvSpPr>
              <a:spLocks noChangeShapeType="1"/>
            </p:cNvSpPr>
            <p:nvPr/>
          </p:nvSpPr>
          <p:spPr bwMode="auto">
            <a:xfrm flipV="1">
              <a:off x="4631" y="1488"/>
              <a:ext cx="793"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2" name="Line 18"/>
            <p:cNvSpPr>
              <a:spLocks noChangeShapeType="1"/>
            </p:cNvSpPr>
            <p:nvPr/>
          </p:nvSpPr>
          <p:spPr bwMode="auto">
            <a:xfrm flipV="1">
              <a:off x="3485" y="1488"/>
              <a:ext cx="1146"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3" name="Line 19"/>
            <p:cNvSpPr>
              <a:spLocks noChangeShapeType="1"/>
            </p:cNvSpPr>
            <p:nvPr/>
          </p:nvSpPr>
          <p:spPr bwMode="auto">
            <a:xfrm flipV="1">
              <a:off x="2912" y="480"/>
              <a:ext cx="573"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4" name="Line 20"/>
            <p:cNvSpPr>
              <a:spLocks noChangeShapeType="1"/>
            </p:cNvSpPr>
            <p:nvPr/>
          </p:nvSpPr>
          <p:spPr bwMode="auto">
            <a:xfrm flipV="1">
              <a:off x="3485" y="480"/>
              <a:ext cx="1146"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5" name="Line 21"/>
            <p:cNvSpPr>
              <a:spLocks noChangeShapeType="1"/>
            </p:cNvSpPr>
            <p:nvPr/>
          </p:nvSpPr>
          <p:spPr bwMode="auto">
            <a:xfrm>
              <a:off x="5336" y="480"/>
              <a:ext cx="0" cy="1008"/>
            </a:xfrm>
            <a:prstGeom prst="line">
              <a:avLst/>
            </a:prstGeom>
            <a:noFill/>
            <a:ln w="19050">
              <a:solidFill>
                <a:srgbClr val="0000FF"/>
              </a:solidFill>
              <a:round/>
              <a:headEnd type="stealth" w="lg" len="med"/>
              <a:tailEnd type="stealth"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6" name="Text Box 22"/>
            <p:cNvSpPr txBox="1">
              <a:spLocks noChangeArrowheads="1"/>
            </p:cNvSpPr>
            <p:nvPr/>
          </p:nvSpPr>
          <p:spPr bwMode="auto">
            <a:xfrm>
              <a:off x="5376" y="86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ea typeface="楷体_GB2312"/>
                </a:rPr>
                <a:t>U</a:t>
              </a:r>
            </a:p>
          </p:txBody>
        </p:sp>
        <p:sp>
          <p:nvSpPr>
            <p:cNvPr id="50197" name="Text Box 23"/>
            <p:cNvSpPr txBox="1">
              <a:spLocks noChangeArrowheads="1"/>
            </p:cNvSpPr>
            <p:nvPr/>
          </p:nvSpPr>
          <p:spPr bwMode="auto">
            <a:xfrm>
              <a:off x="2640" y="105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ea typeface="楷体_GB2312"/>
                </a:rPr>
                <a:t>C</a:t>
              </a:r>
              <a:r>
                <a:rPr kumimoji="0" lang="en-US" altLang="zh-CN" sz="2400" b="1" i="1" baseline="-25000">
                  <a:ea typeface="楷体_GB2312"/>
                </a:rPr>
                <a:t>1</a:t>
              </a:r>
            </a:p>
          </p:txBody>
        </p:sp>
        <p:sp>
          <p:nvSpPr>
            <p:cNvPr id="50198" name="Text Box 24"/>
            <p:cNvSpPr txBox="1">
              <a:spLocks noChangeArrowheads="1"/>
            </p:cNvSpPr>
            <p:nvPr/>
          </p:nvSpPr>
          <p:spPr bwMode="auto">
            <a:xfrm>
              <a:off x="2640" y="5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solidFill>
                    <a:srgbClr val="CC0000"/>
                  </a:solidFill>
                  <a:ea typeface="楷体_GB2312"/>
                </a:rPr>
                <a:t>q</a:t>
              </a:r>
              <a:r>
                <a:rPr kumimoji="0" lang="en-US" altLang="zh-CN" sz="2400" b="1" i="1" baseline="-25000">
                  <a:solidFill>
                    <a:srgbClr val="CC0000"/>
                  </a:solidFill>
                  <a:ea typeface="楷体_GB2312"/>
                </a:rPr>
                <a:t>1</a:t>
              </a:r>
            </a:p>
          </p:txBody>
        </p:sp>
        <p:sp>
          <p:nvSpPr>
            <p:cNvPr id="50199" name="Text Box 25"/>
            <p:cNvSpPr txBox="1">
              <a:spLocks noChangeArrowheads="1"/>
            </p:cNvSpPr>
            <p:nvPr/>
          </p:nvSpPr>
          <p:spPr bwMode="auto">
            <a:xfrm>
              <a:off x="3216" y="105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chemeClr val="tx2"/>
                  </a:solidFill>
                  <a:ea typeface="楷体_GB2312"/>
                </a:rPr>
                <a:t>C</a:t>
              </a:r>
              <a:r>
                <a:rPr kumimoji="0" lang="en-US" altLang="zh-CN" sz="2400" b="1" i="1" baseline="-25000">
                  <a:solidFill>
                    <a:schemeClr val="tx2"/>
                  </a:solidFill>
                  <a:ea typeface="楷体_GB2312"/>
                </a:rPr>
                <a:t>2</a:t>
              </a:r>
            </a:p>
          </p:txBody>
        </p:sp>
        <p:sp>
          <p:nvSpPr>
            <p:cNvPr id="50200" name="Text Box 26"/>
            <p:cNvSpPr txBox="1">
              <a:spLocks noChangeArrowheads="1"/>
            </p:cNvSpPr>
            <p:nvPr/>
          </p:nvSpPr>
          <p:spPr bwMode="auto">
            <a:xfrm>
              <a:off x="4272" y="1056"/>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000" b="1" i="1">
                  <a:solidFill>
                    <a:schemeClr val="tx2"/>
                  </a:solidFill>
                  <a:ea typeface="楷体_GB2312"/>
                </a:rPr>
                <a:t>C</a:t>
              </a:r>
              <a:r>
                <a:rPr kumimoji="0" lang="en-US" altLang="zh-CN" sz="2400" b="1" i="1" baseline="-25000">
                  <a:solidFill>
                    <a:schemeClr val="tx2"/>
                  </a:solidFill>
                  <a:ea typeface="楷体_GB2312"/>
                </a:rPr>
                <a:t>n</a:t>
              </a:r>
            </a:p>
          </p:txBody>
        </p:sp>
        <p:sp>
          <p:nvSpPr>
            <p:cNvPr id="50201" name="Text Box 27"/>
            <p:cNvSpPr txBox="1">
              <a:spLocks noChangeArrowheads="1"/>
            </p:cNvSpPr>
            <p:nvPr/>
          </p:nvSpPr>
          <p:spPr bwMode="auto">
            <a:xfrm>
              <a:off x="3216" y="5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solidFill>
                    <a:srgbClr val="CC0000"/>
                  </a:solidFill>
                  <a:ea typeface="楷体_GB2312"/>
                </a:rPr>
                <a:t>q</a:t>
              </a:r>
              <a:r>
                <a:rPr kumimoji="0" lang="en-US" altLang="zh-CN" sz="2400" b="1" i="1" baseline="-25000">
                  <a:solidFill>
                    <a:srgbClr val="CC0000"/>
                  </a:solidFill>
                  <a:ea typeface="楷体_GB2312"/>
                </a:rPr>
                <a:t>2</a:t>
              </a:r>
            </a:p>
          </p:txBody>
        </p:sp>
        <p:sp>
          <p:nvSpPr>
            <p:cNvPr id="50202" name="Text Box 28"/>
            <p:cNvSpPr txBox="1">
              <a:spLocks noChangeArrowheads="1"/>
            </p:cNvSpPr>
            <p:nvPr/>
          </p:nvSpPr>
          <p:spPr bwMode="auto">
            <a:xfrm>
              <a:off x="4272" y="57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en-US" altLang="zh-CN" sz="2400" b="1" i="1">
                  <a:solidFill>
                    <a:srgbClr val="CC0000"/>
                  </a:solidFill>
                  <a:ea typeface="楷体_GB2312"/>
                </a:rPr>
                <a:t>q</a:t>
              </a:r>
              <a:r>
                <a:rPr kumimoji="0" lang="en-US" altLang="zh-CN" sz="2400" b="1" i="1" baseline="-25000">
                  <a:solidFill>
                    <a:srgbClr val="CC0000"/>
                  </a:solidFill>
                  <a:ea typeface="楷体_GB2312"/>
                </a:rPr>
                <a:t>n</a:t>
              </a:r>
            </a:p>
          </p:txBody>
        </p:sp>
        <p:grpSp>
          <p:nvGrpSpPr>
            <p:cNvPr id="50203" name="Group 29"/>
            <p:cNvGrpSpPr>
              <a:grpSpLocks/>
            </p:cNvGrpSpPr>
            <p:nvPr/>
          </p:nvGrpSpPr>
          <p:grpSpPr bwMode="auto">
            <a:xfrm>
              <a:off x="4416" y="480"/>
              <a:ext cx="352" cy="1008"/>
              <a:chOff x="4992" y="2256"/>
              <a:chExt cx="352" cy="1008"/>
            </a:xfrm>
          </p:grpSpPr>
          <p:sp>
            <p:nvSpPr>
              <p:cNvPr id="50214" name="Line 30"/>
              <p:cNvSpPr>
                <a:spLocks noChangeShapeType="1"/>
              </p:cNvSpPr>
              <p:nvPr/>
            </p:nvSpPr>
            <p:spPr bwMode="auto">
              <a:xfrm>
                <a:off x="4992" y="2640"/>
                <a:ext cx="352"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5" name="Line 31"/>
              <p:cNvSpPr>
                <a:spLocks noChangeShapeType="1"/>
              </p:cNvSpPr>
              <p:nvPr/>
            </p:nvSpPr>
            <p:spPr bwMode="auto">
              <a:xfrm>
                <a:off x="4992" y="2784"/>
                <a:ext cx="352"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6" name="Line 32"/>
              <p:cNvSpPr>
                <a:spLocks noChangeShapeType="1"/>
              </p:cNvSpPr>
              <p:nvPr/>
            </p:nvSpPr>
            <p:spPr bwMode="auto">
              <a:xfrm>
                <a:off x="5184" y="2256"/>
                <a:ext cx="0" cy="38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7" name="Line 33"/>
              <p:cNvSpPr>
                <a:spLocks noChangeShapeType="1"/>
              </p:cNvSpPr>
              <p:nvPr/>
            </p:nvSpPr>
            <p:spPr bwMode="auto">
              <a:xfrm>
                <a:off x="5184" y="2784"/>
                <a:ext cx="0" cy="48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204" name="Group 34"/>
            <p:cNvGrpSpPr>
              <a:grpSpLocks/>
            </p:cNvGrpSpPr>
            <p:nvPr/>
          </p:nvGrpSpPr>
          <p:grpSpPr bwMode="auto">
            <a:xfrm>
              <a:off x="3408" y="480"/>
              <a:ext cx="352" cy="1008"/>
              <a:chOff x="4992" y="2256"/>
              <a:chExt cx="352" cy="1008"/>
            </a:xfrm>
          </p:grpSpPr>
          <p:sp>
            <p:nvSpPr>
              <p:cNvPr id="50210" name="Line 35"/>
              <p:cNvSpPr>
                <a:spLocks noChangeShapeType="1"/>
              </p:cNvSpPr>
              <p:nvPr/>
            </p:nvSpPr>
            <p:spPr bwMode="auto">
              <a:xfrm>
                <a:off x="4992" y="2640"/>
                <a:ext cx="352"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1" name="Line 36"/>
              <p:cNvSpPr>
                <a:spLocks noChangeShapeType="1"/>
              </p:cNvSpPr>
              <p:nvPr/>
            </p:nvSpPr>
            <p:spPr bwMode="auto">
              <a:xfrm>
                <a:off x="4992" y="2784"/>
                <a:ext cx="352"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2" name="Line 37"/>
              <p:cNvSpPr>
                <a:spLocks noChangeShapeType="1"/>
              </p:cNvSpPr>
              <p:nvPr/>
            </p:nvSpPr>
            <p:spPr bwMode="auto">
              <a:xfrm>
                <a:off x="5184" y="2256"/>
                <a:ext cx="0" cy="38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13" name="Line 38"/>
              <p:cNvSpPr>
                <a:spLocks noChangeShapeType="1"/>
              </p:cNvSpPr>
              <p:nvPr/>
            </p:nvSpPr>
            <p:spPr bwMode="auto">
              <a:xfrm>
                <a:off x="5184" y="2784"/>
                <a:ext cx="0" cy="48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0205" name="Group 39"/>
            <p:cNvGrpSpPr>
              <a:grpSpLocks/>
            </p:cNvGrpSpPr>
            <p:nvPr/>
          </p:nvGrpSpPr>
          <p:grpSpPr bwMode="auto">
            <a:xfrm>
              <a:off x="2736" y="480"/>
              <a:ext cx="352" cy="1008"/>
              <a:chOff x="4992" y="2256"/>
              <a:chExt cx="352" cy="1008"/>
            </a:xfrm>
          </p:grpSpPr>
          <p:sp>
            <p:nvSpPr>
              <p:cNvPr id="50206" name="Line 40"/>
              <p:cNvSpPr>
                <a:spLocks noChangeShapeType="1"/>
              </p:cNvSpPr>
              <p:nvPr/>
            </p:nvSpPr>
            <p:spPr bwMode="auto">
              <a:xfrm>
                <a:off x="4992" y="2640"/>
                <a:ext cx="352"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7" name="Line 41"/>
              <p:cNvSpPr>
                <a:spLocks noChangeShapeType="1"/>
              </p:cNvSpPr>
              <p:nvPr/>
            </p:nvSpPr>
            <p:spPr bwMode="auto">
              <a:xfrm>
                <a:off x="4992" y="2784"/>
                <a:ext cx="352"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8" name="Line 42"/>
              <p:cNvSpPr>
                <a:spLocks noChangeShapeType="1"/>
              </p:cNvSpPr>
              <p:nvPr/>
            </p:nvSpPr>
            <p:spPr bwMode="auto">
              <a:xfrm>
                <a:off x="5184" y="2256"/>
                <a:ext cx="0" cy="384"/>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9" name="Line 43"/>
              <p:cNvSpPr>
                <a:spLocks noChangeShapeType="1"/>
              </p:cNvSpPr>
              <p:nvPr/>
            </p:nvSpPr>
            <p:spPr bwMode="auto">
              <a:xfrm>
                <a:off x="5184" y="2784"/>
                <a:ext cx="0" cy="48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44044" name="矩形 1"/>
          <p:cNvSpPr>
            <a:spLocks noChangeArrowheads="1"/>
          </p:cNvSpPr>
          <p:nvPr/>
        </p:nvSpPr>
        <p:spPr bwMode="auto">
          <a:xfrm>
            <a:off x="323850" y="5233988"/>
            <a:ext cx="87122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000" b="1">
                <a:solidFill>
                  <a:schemeClr val="accent2"/>
                </a:solidFill>
                <a:latin typeface="宋体" panose="02010600030101010101" pitchFamily="2" charset="-122"/>
                <a:ea typeface="楷体_GB2312"/>
              </a:rPr>
              <a:t>电容器的性能主要由其电容和耐压来标定。在使用电容器时，所加电压不</a:t>
            </a:r>
          </a:p>
          <a:p>
            <a:pPr eaLnBrk="1" hangingPunct="1">
              <a:buFontTx/>
              <a:buNone/>
            </a:pPr>
            <a:r>
              <a:rPr lang="zh-CN" altLang="en-US" sz="2000" b="1">
                <a:solidFill>
                  <a:schemeClr val="accent2"/>
                </a:solidFill>
                <a:latin typeface="宋体" panose="02010600030101010101" pitchFamily="2" charset="-122"/>
                <a:ea typeface="楷体_GB2312"/>
              </a:rPr>
              <a:t>能超过耐压值，否则就会因场强过大使电介质的绝缘性能遭到破坏而烧坏</a:t>
            </a:r>
          </a:p>
          <a:p>
            <a:pPr eaLnBrk="1" hangingPunct="1">
              <a:buFontTx/>
              <a:buNone/>
            </a:pPr>
            <a:r>
              <a:rPr lang="zh-CN" altLang="en-US" sz="2000" b="1">
                <a:solidFill>
                  <a:schemeClr val="accent2"/>
                </a:solidFill>
                <a:latin typeface="宋体" panose="02010600030101010101" pitchFamily="2" charset="-122"/>
                <a:ea typeface="楷体_GB2312"/>
              </a:rPr>
              <a:t>电容器（击穿）。电介质所能承受的不被击穿的最大场强叫做击穿场强。</a:t>
            </a:r>
            <a:endParaRPr lang="zh-CN" altLang="en-US" sz="2000" b="1">
              <a:solidFill>
                <a:schemeClr val="accent2"/>
              </a:solidFill>
              <a:ea typeface="楷体_GB2312"/>
            </a:endParaRPr>
          </a:p>
          <a:p>
            <a:pPr eaLnBrk="1" hangingPunct="1">
              <a:buFontTx/>
              <a:buNone/>
            </a:pPr>
            <a:endParaRPr lang="zh-CN" altLang="en-US" sz="2000" b="1">
              <a:solidFill>
                <a:schemeClr val="accent2"/>
              </a:solidFill>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22"/>
                                        </p:tgtEl>
                                        <p:attrNameLst>
                                          <p:attrName>style.visibility</p:attrName>
                                        </p:attrNameLst>
                                      </p:cBhvr>
                                      <p:to>
                                        <p:strVal val="visible"/>
                                      </p:to>
                                    </p:set>
                                    <p:animEffect transition="in" filter="wipe(left)">
                                      <p:cBhvr>
                                        <p:cTn id="7" dur="500"/>
                                        <p:tgtEl>
                                          <p:spTgt spid="389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nodeType="clickEffect">
                                  <p:stCondLst>
                                    <p:cond delay="0"/>
                                  </p:stCondLst>
                                  <p:childTnLst>
                                    <p:set>
                                      <p:cBhvr>
                                        <p:cTn id="11" dur="1" fill="hold">
                                          <p:stCondLst>
                                            <p:cond delay="0"/>
                                          </p:stCondLst>
                                        </p:cTn>
                                        <p:tgtEl>
                                          <p:spTgt spid="389134"/>
                                        </p:tgtEl>
                                        <p:attrNameLst>
                                          <p:attrName>style.visibility</p:attrName>
                                        </p:attrNameLst>
                                      </p:cBhvr>
                                      <p:to>
                                        <p:strVal val="visible"/>
                                      </p:to>
                                    </p:set>
                                    <p:anim calcmode="lin" valueType="num">
                                      <p:cBhvr>
                                        <p:cTn id="12" dur="500" fill="hold"/>
                                        <p:tgtEl>
                                          <p:spTgt spid="389134"/>
                                        </p:tgtEl>
                                        <p:attrNameLst>
                                          <p:attrName>ppt_x</p:attrName>
                                        </p:attrNameLst>
                                      </p:cBhvr>
                                      <p:tavLst>
                                        <p:tav tm="0">
                                          <p:val>
                                            <p:strVal val="#ppt_x-#ppt_w/2"/>
                                          </p:val>
                                        </p:tav>
                                        <p:tav tm="100000">
                                          <p:val>
                                            <p:strVal val="#ppt_x"/>
                                          </p:val>
                                        </p:tav>
                                      </p:tavLst>
                                    </p:anim>
                                    <p:anim calcmode="lin" valueType="num">
                                      <p:cBhvr>
                                        <p:cTn id="13" dur="500" fill="hold"/>
                                        <p:tgtEl>
                                          <p:spTgt spid="389134"/>
                                        </p:tgtEl>
                                        <p:attrNameLst>
                                          <p:attrName>ppt_y</p:attrName>
                                        </p:attrNameLst>
                                      </p:cBhvr>
                                      <p:tavLst>
                                        <p:tav tm="0">
                                          <p:val>
                                            <p:strVal val="#ppt_y"/>
                                          </p:val>
                                        </p:tav>
                                        <p:tav tm="100000">
                                          <p:val>
                                            <p:strVal val="#ppt_y"/>
                                          </p:val>
                                        </p:tav>
                                      </p:tavLst>
                                    </p:anim>
                                    <p:anim calcmode="lin" valueType="num">
                                      <p:cBhvr>
                                        <p:cTn id="14" dur="500" fill="hold"/>
                                        <p:tgtEl>
                                          <p:spTgt spid="389134"/>
                                        </p:tgtEl>
                                        <p:attrNameLst>
                                          <p:attrName>ppt_w</p:attrName>
                                        </p:attrNameLst>
                                      </p:cBhvr>
                                      <p:tavLst>
                                        <p:tav tm="0">
                                          <p:val>
                                            <p:fltVal val="0"/>
                                          </p:val>
                                        </p:tav>
                                        <p:tav tm="100000">
                                          <p:val>
                                            <p:strVal val="#ppt_w"/>
                                          </p:val>
                                        </p:tav>
                                      </p:tavLst>
                                    </p:anim>
                                    <p:anim calcmode="lin" valueType="num">
                                      <p:cBhvr>
                                        <p:cTn id="15" dur="500" fill="hold"/>
                                        <p:tgtEl>
                                          <p:spTgt spid="389134"/>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89124"/>
                                        </p:tgtEl>
                                        <p:attrNameLst>
                                          <p:attrName>style.visibility</p:attrName>
                                        </p:attrNameLst>
                                      </p:cBhvr>
                                      <p:to>
                                        <p:strVal val="visible"/>
                                      </p:to>
                                    </p:set>
                                    <p:animEffect transition="in" filter="wipe(left)">
                                      <p:cBhvr>
                                        <p:cTn id="20" dur="500"/>
                                        <p:tgtEl>
                                          <p:spTgt spid="38912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89125"/>
                                        </p:tgtEl>
                                        <p:attrNameLst>
                                          <p:attrName>style.visibility</p:attrName>
                                        </p:attrNameLst>
                                      </p:cBhvr>
                                      <p:to>
                                        <p:strVal val="visible"/>
                                      </p:to>
                                    </p:set>
                                    <p:animEffect transition="in" filter="wipe(left)">
                                      <p:cBhvr>
                                        <p:cTn id="25" dur="500"/>
                                        <p:tgtEl>
                                          <p:spTgt spid="38912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89133"/>
                                        </p:tgtEl>
                                        <p:attrNameLst>
                                          <p:attrName>style.visibility</p:attrName>
                                        </p:attrNameLst>
                                      </p:cBhvr>
                                      <p:to>
                                        <p:strVal val="visible"/>
                                      </p:to>
                                    </p:set>
                                    <p:animEffect transition="in" filter="wipe(up)">
                                      <p:cBhvr>
                                        <p:cTn id="30" dur="500"/>
                                        <p:tgtEl>
                                          <p:spTgt spid="38913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89126"/>
                                        </p:tgtEl>
                                        <p:attrNameLst>
                                          <p:attrName>style.visibility</p:attrName>
                                        </p:attrNameLst>
                                      </p:cBhvr>
                                      <p:to>
                                        <p:strVal val="visible"/>
                                      </p:to>
                                    </p:set>
                                    <p:animEffect transition="in" filter="wipe(left)">
                                      <p:cBhvr>
                                        <p:cTn id="35" dur="500"/>
                                        <p:tgtEl>
                                          <p:spTgt spid="38912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89123"/>
                                        </p:tgtEl>
                                        <p:attrNameLst>
                                          <p:attrName>style.visibility</p:attrName>
                                        </p:attrNameLst>
                                      </p:cBhvr>
                                      <p:to>
                                        <p:strVal val="visible"/>
                                      </p:to>
                                    </p:set>
                                    <p:animEffect transition="in" filter="wipe(left)">
                                      <p:cBhvr>
                                        <p:cTn id="40" dur="500"/>
                                        <p:tgtEl>
                                          <p:spTgt spid="38912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89127"/>
                                        </p:tgtEl>
                                        <p:attrNameLst>
                                          <p:attrName>style.visibility</p:attrName>
                                        </p:attrNameLst>
                                      </p:cBhvr>
                                      <p:to>
                                        <p:strVal val="visible"/>
                                      </p:to>
                                    </p:set>
                                    <p:animEffect transition="in" filter="wipe(left)">
                                      <p:cBhvr>
                                        <p:cTn id="45" dur="500"/>
                                        <p:tgtEl>
                                          <p:spTgt spid="3891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89128"/>
                                        </p:tgtEl>
                                        <p:attrNameLst>
                                          <p:attrName>style.visibility</p:attrName>
                                        </p:attrNameLst>
                                      </p:cBhvr>
                                      <p:to>
                                        <p:strVal val="visible"/>
                                      </p:to>
                                    </p:set>
                                    <p:animEffect transition="in" filter="wipe(left)">
                                      <p:cBhvr>
                                        <p:cTn id="50" dur="500"/>
                                        <p:tgtEl>
                                          <p:spTgt spid="3891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89129"/>
                                        </p:tgtEl>
                                        <p:attrNameLst>
                                          <p:attrName>style.visibility</p:attrName>
                                        </p:attrNameLst>
                                      </p:cBhvr>
                                      <p:to>
                                        <p:strVal val="visible"/>
                                      </p:to>
                                    </p:set>
                                    <p:animEffect transition="in" filter="wipe(left)">
                                      <p:cBhvr>
                                        <p:cTn id="55" dur="500"/>
                                        <p:tgtEl>
                                          <p:spTgt spid="38912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40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2" grpId="0" autoUpdateAnimBg="0"/>
      <p:bldP spid="4404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89" y="1801573"/>
            <a:ext cx="4905924" cy="2813187"/>
          </a:xfrm>
          <a:prstGeom prst="rect">
            <a:avLst/>
          </a:prstGeom>
        </p:spPr>
      </p:pic>
      <p:sp>
        <p:nvSpPr>
          <p:cNvPr id="3" name="Rectangle 1"/>
          <p:cNvSpPr>
            <a:spLocks noChangeArrowheads="1"/>
          </p:cNvSpPr>
          <p:nvPr/>
        </p:nvSpPr>
        <p:spPr bwMode="auto">
          <a:xfrm>
            <a:off x="323528" y="260648"/>
            <a:ext cx="8656567" cy="15734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7610" rIns="0" bIns="47610" numCol="1" anchor="ctr" anchorCtr="0" compatLnSpc="1">
            <a:prstTxWarp prst="textNoShape">
              <a:avLst/>
            </a:prstTxWarp>
            <a:spAutoFit/>
          </a:bodyPr>
          <a:lstStyle/>
          <a:p>
            <a:pPr lvl="0" eaLnBrk="0" hangingPunct="0">
              <a:spcBef>
                <a:spcPct val="0"/>
              </a:spcBef>
            </a:pPr>
            <a:r>
              <a:rPr lang="zh-CN" altLang="en-US" sz="3200" b="1" dirty="0"/>
              <a:t>绝缘材料被击穿的瞬间所加的最高电压称为材料的击穿电压</a:t>
            </a:r>
            <a:r>
              <a:rPr lang="en-US" altLang="zh-CN" sz="3200" b="1" dirty="0"/>
              <a:t>; </a:t>
            </a:r>
            <a:r>
              <a:rPr lang="zh-CN" altLang="en-US" sz="3200" b="1" dirty="0"/>
              <a:t>绝缘材料所具有的抵抗电击穿的能力</a:t>
            </a:r>
            <a:r>
              <a:rPr lang="en-US" altLang="zh-CN" sz="3200" b="1" dirty="0"/>
              <a:t>,</a:t>
            </a:r>
            <a:r>
              <a:rPr lang="zh-CN" altLang="en-US" sz="3200" b="1" dirty="0"/>
              <a:t>称击穿强度</a:t>
            </a:r>
            <a:endParaRPr kumimoji="0" lang="zh-CN" altLang="zh-CN" sz="3200" b="1" i="0" u="none" strike="noStrike" cap="none" normalizeH="0" baseline="0" dirty="0">
              <a:ln>
                <a:noFill/>
              </a:ln>
              <a:solidFill>
                <a:schemeClr val="tx1"/>
              </a:solidFill>
              <a:effectLst/>
              <a:latin typeface="Arial" panose="020B0604020202020204" pitchFamily="34" charset="0"/>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4143" y="1964895"/>
            <a:ext cx="3795952" cy="2651001"/>
          </a:xfrm>
          <a:prstGeom prst="rect">
            <a:avLst/>
          </a:prstGeom>
        </p:spPr>
      </p:pic>
      <p:sp>
        <p:nvSpPr>
          <p:cNvPr id="5" name="矩形 4"/>
          <p:cNvSpPr/>
          <p:nvPr/>
        </p:nvSpPr>
        <p:spPr>
          <a:xfrm>
            <a:off x="5078367" y="4607643"/>
            <a:ext cx="3816424" cy="1323439"/>
          </a:xfrm>
          <a:prstGeom prst="rect">
            <a:avLst/>
          </a:prstGeom>
        </p:spPr>
        <p:txBody>
          <a:bodyPr wrap="square">
            <a:spAutoFit/>
          </a:bodyPr>
          <a:lstStyle/>
          <a:p>
            <a:r>
              <a:rPr lang="zh-CN" altLang="en-US" dirty="0">
                <a:solidFill>
                  <a:srgbClr val="222222"/>
                </a:solidFill>
                <a:latin typeface="Helvetica Neue"/>
              </a:rPr>
              <a:t>气体的击穿电压：纵坐标就是气体的击穿电压，它的单位是千伏，而横坐标的单位是压强和厚度之积（</a:t>
            </a:r>
            <a:r>
              <a:rPr lang="en-US" altLang="zh-CN" dirty="0">
                <a:solidFill>
                  <a:srgbClr val="222222"/>
                </a:solidFill>
                <a:latin typeface="Helvetica Neue"/>
              </a:rPr>
              <a:t>cm.133Pa</a:t>
            </a:r>
            <a:r>
              <a:rPr lang="zh-CN" altLang="en-US" dirty="0">
                <a:solidFill>
                  <a:srgbClr val="222222"/>
                </a:solidFill>
                <a:latin typeface="Helvetica Neue"/>
              </a:rPr>
              <a:t>）</a:t>
            </a:r>
            <a:endParaRPr lang="zh-CN" altLang="en-US" dirty="0"/>
          </a:p>
        </p:txBody>
      </p:sp>
      <p:sp>
        <p:nvSpPr>
          <p:cNvPr id="6" name="矩形 5"/>
          <p:cNvSpPr/>
          <p:nvPr/>
        </p:nvSpPr>
        <p:spPr>
          <a:xfrm>
            <a:off x="1403648" y="4718958"/>
            <a:ext cx="2880320" cy="400110"/>
          </a:xfrm>
          <a:prstGeom prst="rect">
            <a:avLst/>
          </a:prstGeom>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hlinkClick r:id="rId4" tooltip="气体绝缘材料具有高的电离场强和 击穿 场强"/>
              </a:rPr>
              <a:t>绝缘材料的击穿场强</a:t>
            </a:r>
            <a:endParaRPr lang="zh-CN" altLang="en-US" dirty="0"/>
          </a:p>
        </p:txBody>
      </p:sp>
      <p:sp>
        <p:nvSpPr>
          <p:cNvPr id="7" name="矩形 6">
            <a:extLst>
              <a:ext uri="{FF2B5EF4-FFF2-40B4-BE49-F238E27FC236}">
                <a16:creationId xmlns:a16="http://schemas.microsoft.com/office/drawing/2014/main" id="{6F9262F7-EB5D-40BF-8C4E-0955A0EF0808}"/>
              </a:ext>
            </a:extLst>
          </p:cNvPr>
          <p:cNvSpPr/>
          <p:nvPr/>
        </p:nvSpPr>
        <p:spPr>
          <a:xfrm>
            <a:off x="146810" y="5346572"/>
            <a:ext cx="4137158" cy="400110"/>
          </a:xfrm>
          <a:prstGeom prst="rect">
            <a:avLst/>
          </a:prstGeom>
        </p:spPr>
        <p:txBody>
          <a:bodyPr wrap="none">
            <a:spAutoFit/>
          </a:bodyPr>
          <a:lstStyle/>
          <a:p>
            <a:r>
              <a:rPr lang="en-US" altLang="zh-CN" b="1">
                <a:solidFill>
                  <a:srgbClr val="333333"/>
                </a:solidFill>
                <a:latin typeface="PingFang SC"/>
              </a:rPr>
              <a:t>PE</a:t>
            </a:r>
            <a:r>
              <a:rPr lang="zh-CN" altLang="en-US" b="1">
                <a:solidFill>
                  <a:srgbClr val="333333"/>
                </a:solidFill>
                <a:latin typeface="PingFang SC"/>
              </a:rPr>
              <a:t>，全称为聚乙烯（</a:t>
            </a:r>
            <a:r>
              <a:rPr lang="en-US" altLang="zh-CN" b="1">
                <a:solidFill>
                  <a:srgbClr val="333333"/>
                </a:solidFill>
                <a:latin typeface="PingFang SC"/>
              </a:rPr>
              <a:t>Polyethylene</a:t>
            </a:r>
            <a:r>
              <a:rPr lang="zh-CN" altLang="en-US" b="1">
                <a:solidFill>
                  <a:srgbClr val="333333"/>
                </a:solidFill>
                <a:latin typeface="PingFang SC"/>
              </a:rPr>
              <a:t>）</a:t>
            </a:r>
            <a:endParaRPr lang="zh-CN" altLang="en-US"/>
          </a:p>
        </p:txBody>
      </p:sp>
      <p:sp>
        <p:nvSpPr>
          <p:cNvPr id="8" name="矩形 7">
            <a:extLst>
              <a:ext uri="{FF2B5EF4-FFF2-40B4-BE49-F238E27FC236}">
                <a16:creationId xmlns:a16="http://schemas.microsoft.com/office/drawing/2014/main" id="{8E674C89-BD7F-401D-BA64-8186DE3114C3}"/>
              </a:ext>
            </a:extLst>
          </p:cNvPr>
          <p:cNvSpPr/>
          <p:nvPr/>
        </p:nvSpPr>
        <p:spPr>
          <a:xfrm>
            <a:off x="162482" y="5731027"/>
            <a:ext cx="4822733" cy="400110"/>
          </a:xfrm>
          <a:prstGeom prst="rect">
            <a:avLst/>
          </a:prstGeom>
        </p:spPr>
        <p:txBody>
          <a:bodyPr wrap="square">
            <a:spAutoFit/>
          </a:bodyPr>
          <a:lstStyle/>
          <a:p>
            <a:r>
              <a:rPr lang="en-US" altLang="zh-CN">
                <a:solidFill>
                  <a:srgbClr val="333333"/>
                </a:solidFill>
                <a:latin typeface="PingFang SC"/>
              </a:rPr>
              <a:t>‌</a:t>
            </a:r>
            <a:r>
              <a:rPr lang="en-US" altLang="zh-CN" b="1">
                <a:solidFill>
                  <a:srgbClr val="333333"/>
                </a:solidFill>
                <a:latin typeface="PingFang SC"/>
                <a:hlinkClick r:id="rId5"/>
              </a:rPr>
              <a:t>PVC</a:t>
            </a:r>
            <a:r>
              <a:rPr lang="zh-CN" altLang="en-US" b="1">
                <a:solidFill>
                  <a:srgbClr val="333333"/>
                </a:solidFill>
                <a:latin typeface="PingFang SC"/>
              </a:rPr>
              <a:t>（</a:t>
            </a:r>
            <a:r>
              <a:rPr lang="en-US" altLang="zh-CN" b="1">
                <a:solidFill>
                  <a:srgbClr val="333333"/>
                </a:solidFill>
                <a:latin typeface="PingFang SC"/>
              </a:rPr>
              <a:t>Polyvinyl Chloride</a:t>
            </a:r>
            <a:r>
              <a:rPr lang="zh-CN" altLang="en-US" b="1">
                <a:solidFill>
                  <a:srgbClr val="333333"/>
                </a:solidFill>
                <a:latin typeface="PingFang SC"/>
              </a:rPr>
              <a:t>）合成聚合物塑料</a:t>
            </a:r>
            <a:endParaRPr lang="zh-CN" altLang="en-US"/>
          </a:p>
        </p:txBody>
      </p:sp>
      <p:sp>
        <p:nvSpPr>
          <p:cNvPr id="9" name="矩形 8">
            <a:extLst>
              <a:ext uri="{FF2B5EF4-FFF2-40B4-BE49-F238E27FC236}">
                <a16:creationId xmlns:a16="http://schemas.microsoft.com/office/drawing/2014/main" id="{BDE4FE48-5A9C-4466-83E8-47B75FE220B2}"/>
              </a:ext>
            </a:extLst>
          </p:cNvPr>
          <p:cNvSpPr/>
          <p:nvPr/>
        </p:nvSpPr>
        <p:spPr>
          <a:xfrm>
            <a:off x="146810" y="6149466"/>
            <a:ext cx="2315057" cy="400110"/>
          </a:xfrm>
          <a:prstGeom prst="rect">
            <a:avLst/>
          </a:prstGeom>
        </p:spPr>
        <p:txBody>
          <a:bodyPr wrap="none">
            <a:spAutoFit/>
          </a:bodyPr>
          <a:lstStyle/>
          <a:p>
            <a:r>
              <a:rPr lang="zh-CN" altLang="en-US">
                <a:solidFill>
                  <a:srgbClr val="333333"/>
                </a:solidFill>
                <a:latin typeface="PingFang SC"/>
              </a:rPr>
              <a:t>‌</a:t>
            </a:r>
            <a:r>
              <a:rPr lang="en-US" altLang="zh-CN" b="1">
                <a:solidFill>
                  <a:srgbClr val="333333"/>
                </a:solidFill>
                <a:latin typeface="PingFang SC"/>
                <a:hlinkClick r:id="rId6"/>
              </a:rPr>
              <a:t>XLPE</a:t>
            </a:r>
            <a:r>
              <a:rPr lang="zh-CN" altLang="en-US" b="1">
                <a:solidFill>
                  <a:srgbClr val="333333"/>
                </a:solidFill>
                <a:latin typeface="PingFang SC"/>
              </a:rPr>
              <a:t>（交联聚乙烯</a:t>
            </a:r>
            <a:r>
              <a:rPr lang="en-US" altLang="zh-CN" b="1">
                <a:solidFill>
                  <a:srgbClr val="333333"/>
                </a:solidFill>
                <a:latin typeface="PingFang SC"/>
              </a:rPr>
              <a:t>)</a:t>
            </a:r>
            <a:endParaRPr lang="zh-CN" altLang="en-US"/>
          </a:p>
        </p:txBody>
      </p:sp>
      <p:sp>
        <p:nvSpPr>
          <p:cNvPr id="10" name="矩形 9">
            <a:extLst>
              <a:ext uri="{FF2B5EF4-FFF2-40B4-BE49-F238E27FC236}">
                <a16:creationId xmlns:a16="http://schemas.microsoft.com/office/drawing/2014/main" id="{4C3F432A-FE64-4E99-A6E2-22270EA17DE3}"/>
              </a:ext>
            </a:extLst>
          </p:cNvPr>
          <p:cNvSpPr/>
          <p:nvPr/>
        </p:nvSpPr>
        <p:spPr>
          <a:xfrm>
            <a:off x="2366425" y="6134641"/>
            <a:ext cx="5184576" cy="400110"/>
          </a:xfrm>
          <a:prstGeom prst="rect">
            <a:avLst/>
          </a:prstGeom>
        </p:spPr>
        <p:txBody>
          <a:bodyPr wrap="square">
            <a:spAutoFit/>
          </a:bodyPr>
          <a:lstStyle/>
          <a:p>
            <a:r>
              <a:rPr lang="en-US" altLang="zh-CN">
                <a:solidFill>
                  <a:srgbClr val="333333"/>
                </a:solidFill>
                <a:latin typeface="PingFang SC"/>
              </a:rPr>
              <a:t>‌</a:t>
            </a:r>
            <a:r>
              <a:rPr lang="en-US" altLang="zh-CN" b="1">
                <a:solidFill>
                  <a:srgbClr val="333333"/>
                </a:solidFill>
                <a:latin typeface="PingFang SC"/>
                <a:hlinkClick r:id="rId7"/>
              </a:rPr>
              <a:t>EPDM</a:t>
            </a:r>
            <a:r>
              <a:rPr lang="zh-CN" altLang="en-US" b="1" u="sng">
                <a:solidFill>
                  <a:srgbClr val="333333"/>
                </a:solidFill>
                <a:latin typeface="PingFang SC"/>
                <a:hlinkClick r:id="rId8"/>
              </a:rPr>
              <a:t>三元乙丙橡胶</a:t>
            </a:r>
            <a:endParaRPr lang="zh-CN" altLang="en-US"/>
          </a:p>
        </p:txBody>
      </p:sp>
      <p:sp>
        <p:nvSpPr>
          <p:cNvPr id="11" name="矩形 10">
            <a:extLst>
              <a:ext uri="{FF2B5EF4-FFF2-40B4-BE49-F238E27FC236}">
                <a16:creationId xmlns:a16="http://schemas.microsoft.com/office/drawing/2014/main" id="{C54002E5-8BF6-4B93-9835-744AEEC19360}"/>
              </a:ext>
            </a:extLst>
          </p:cNvPr>
          <p:cNvSpPr/>
          <p:nvPr/>
        </p:nvSpPr>
        <p:spPr>
          <a:xfrm>
            <a:off x="4863633" y="6257800"/>
            <a:ext cx="4572000" cy="400110"/>
          </a:xfrm>
          <a:prstGeom prst="rect">
            <a:avLst/>
          </a:prstGeom>
        </p:spPr>
        <p:txBody>
          <a:bodyPr>
            <a:spAutoFit/>
          </a:bodyPr>
          <a:lstStyle/>
          <a:p>
            <a:r>
              <a:rPr lang="en-US" altLang="zh-CN" b="1">
                <a:solidFill>
                  <a:srgbClr val="333333"/>
                </a:solidFill>
                <a:latin typeface="PingFang SC"/>
              </a:rPr>
              <a:t>CPE</a:t>
            </a:r>
            <a:r>
              <a:rPr lang="zh-CN" altLang="en-US" b="1">
                <a:solidFill>
                  <a:srgbClr val="333333"/>
                </a:solidFill>
                <a:latin typeface="PingFang SC"/>
              </a:rPr>
              <a:t>（氯化聚乙烯）</a:t>
            </a:r>
            <a:endParaRPr lang="zh-CN" altLang="en-US"/>
          </a:p>
        </p:txBody>
      </p:sp>
    </p:spTree>
    <p:extLst>
      <p:ext uri="{BB962C8B-B14F-4D97-AF65-F5344CB8AC3E}">
        <p14:creationId xmlns:p14="http://schemas.microsoft.com/office/powerpoint/2010/main" val="4067004346"/>
      </p:ext>
    </p:extLst>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515938" y="374650"/>
            <a:ext cx="3962400" cy="294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zh-CN" altLang="en-US" sz="2600" b="1">
                <a:ea typeface="楷体_GB2312"/>
              </a:rPr>
              <a:t>例：　三个电容器按图连接，其电容分别为</a:t>
            </a:r>
            <a:r>
              <a:rPr lang="en-US" altLang="zh-CN" sz="2600" b="1" i="1">
                <a:ea typeface="楷体_GB2312"/>
              </a:rPr>
              <a:t>C</a:t>
            </a:r>
            <a:r>
              <a:rPr lang="en-US" altLang="zh-CN" sz="2600" b="1" baseline="-25000">
                <a:ea typeface="楷体_GB2312"/>
              </a:rPr>
              <a:t>1</a:t>
            </a:r>
            <a:r>
              <a:rPr lang="en-US" altLang="zh-CN" sz="2600" b="1">
                <a:ea typeface="楷体_GB2312"/>
              </a:rPr>
              <a:t> </a:t>
            </a:r>
            <a:r>
              <a:rPr lang="zh-CN" altLang="en-US" sz="2600" b="1">
                <a:ea typeface="楷体_GB2312"/>
              </a:rPr>
              <a:t>、</a:t>
            </a:r>
            <a:r>
              <a:rPr lang="en-US" altLang="zh-CN" sz="2600" b="1" i="1">
                <a:ea typeface="楷体_GB2312"/>
              </a:rPr>
              <a:t>C</a:t>
            </a:r>
            <a:r>
              <a:rPr lang="en-US" altLang="zh-CN" sz="2600" b="1" baseline="-25000">
                <a:ea typeface="楷体_GB2312"/>
              </a:rPr>
              <a:t>2</a:t>
            </a:r>
            <a:r>
              <a:rPr lang="zh-CN" altLang="en-US" sz="2600" b="1">
                <a:ea typeface="楷体_GB2312"/>
              </a:rPr>
              <a:t>和</a:t>
            </a:r>
            <a:r>
              <a:rPr lang="en-US" altLang="zh-CN" sz="2600" b="1" i="1">
                <a:ea typeface="楷体_GB2312"/>
              </a:rPr>
              <a:t>C</a:t>
            </a:r>
            <a:r>
              <a:rPr lang="en-US" altLang="zh-CN" sz="2600" b="1" baseline="-25000">
                <a:ea typeface="楷体_GB2312"/>
              </a:rPr>
              <a:t>3</a:t>
            </a:r>
            <a:r>
              <a:rPr lang="zh-CN" altLang="en-US" sz="2600" b="1">
                <a:ea typeface="楷体_GB2312"/>
              </a:rPr>
              <a:t>。求当电键</a:t>
            </a:r>
            <a:r>
              <a:rPr lang="en-US" altLang="zh-CN" sz="2600" b="1" i="1">
                <a:ea typeface="楷体_GB2312"/>
              </a:rPr>
              <a:t>S</a:t>
            </a:r>
            <a:r>
              <a:rPr lang="zh-CN" altLang="en-US" sz="2600" b="1">
                <a:ea typeface="楷体_GB2312"/>
              </a:rPr>
              <a:t>打开时， </a:t>
            </a:r>
            <a:r>
              <a:rPr lang="en-US" altLang="zh-CN" sz="2600" b="1" i="1">
                <a:ea typeface="楷体_GB2312"/>
              </a:rPr>
              <a:t>C</a:t>
            </a:r>
            <a:r>
              <a:rPr lang="en-US" altLang="zh-CN" sz="2600" b="1" baseline="-25000">
                <a:ea typeface="楷体_GB2312"/>
              </a:rPr>
              <a:t>1</a:t>
            </a:r>
            <a:r>
              <a:rPr lang="zh-CN" altLang="en-US" sz="2600" b="1">
                <a:ea typeface="楷体_GB2312"/>
              </a:rPr>
              <a:t>将充电到</a:t>
            </a:r>
            <a:r>
              <a:rPr lang="en-US" altLang="zh-CN" sz="2600" b="1" i="1">
                <a:ea typeface="楷体_GB2312"/>
              </a:rPr>
              <a:t>U</a:t>
            </a:r>
            <a:r>
              <a:rPr lang="en-US" altLang="zh-CN" sz="2600" b="1" baseline="-25000">
                <a:ea typeface="楷体_GB2312"/>
              </a:rPr>
              <a:t>0</a:t>
            </a:r>
            <a:r>
              <a:rPr lang="zh-CN" altLang="en-US" sz="2600" b="1">
                <a:ea typeface="楷体_GB2312"/>
              </a:rPr>
              <a:t>，然后断开电源，并闭合电键</a:t>
            </a:r>
            <a:r>
              <a:rPr lang="en-US" altLang="zh-CN" sz="2600" b="1" i="1">
                <a:ea typeface="楷体_GB2312"/>
              </a:rPr>
              <a:t>S</a:t>
            </a:r>
            <a:r>
              <a:rPr lang="zh-CN" altLang="en-US" sz="2600" b="1">
                <a:ea typeface="楷体_GB2312"/>
              </a:rPr>
              <a:t>。求各电容器上的电势差。</a:t>
            </a:r>
            <a:endParaRPr lang="zh-CN" altLang="en-US" sz="2600">
              <a:ea typeface="楷体_GB2312"/>
            </a:endParaRPr>
          </a:p>
        </p:txBody>
      </p:sp>
      <p:sp>
        <p:nvSpPr>
          <p:cNvPr id="69635" name="Text Box 3"/>
          <p:cNvSpPr txBox="1">
            <a:spLocks noChangeArrowheads="1"/>
          </p:cNvSpPr>
          <p:nvPr/>
        </p:nvSpPr>
        <p:spPr bwMode="auto">
          <a:xfrm>
            <a:off x="76200" y="3657600"/>
            <a:ext cx="8915400" cy="257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buFontTx/>
              <a:buNone/>
            </a:pPr>
            <a:r>
              <a:rPr lang="zh-CN" altLang="en-US" sz="2800" b="1">
                <a:solidFill>
                  <a:schemeClr val="accent2"/>
                </a:solidFill>
                <a:ea typeface="楷体_GB2312"/>
              </a:rPr>
              <a:t>解    已知在</a:t>
            </a:r>
            <a:r>
              <a:rPr lang="en-US" altLang="zh-CN" sz="2800" b="1" i="1">
                <a:solidFill>
                  <a:schemeClr val="accent2"/>
                </a:solidFill>
                <a:ea typeface="楷体_GB2312"/>
              </a:rPr>
              <a:t>S </a:t>
            </a:r>
            <a:r>
              <a:rPr lang="zh-CN" altLang="en-US" sz="2800" b="1">
                <a:solidFill>
                  <a:schemeClr val="accent2"/>
                </a:solidFill>
                <a:ea typeface="楷体_GB2312"/>
              </a:rPr>
              <a:t>闭合前，</a:t>
            </a:r>
            <a:r>
              <a:rPr lang="zh-CN" altLang="en-US" sz="2800" b="1" i="1">
                <a:solidFill>
                  <a:schemeClr val="accent2"/>
                </a:solidFill>
                <a:ea typeface="楷体_GB2312"/>
              </a:rPr>
              <a:t> </a:t>
            </a:r>
            <a:r>
              <a:rPr lang="en-US" altLang="zh-CN" sz="2800" b="1" i="1">
                <a:solidFill>
                  <a:schemeClr val="accent2"/>
                </a:solidFill>
                <a:ea typeface="楷体_GB2312"/>
              </a:rPr>
              <a:t>C</a:t>
            </a:r>
            <a:r>
              <a:rPr lang="en-US" altLang="zh-CN" sz="2800" b="1" baseline="-25000">
                <a:solidFill>
                  <a:schemeClr val="accent2"/>
                </a:solidFill>
                <a:ea typeface="楷体_GB2312"/>
              </a:rPr>
              <a:t>1</a:t>
            </a:r>
            <a:r>
              <a:rPr lang="zh-CN" altLang="en-US" sz="2800" b="1">
                <a:solidFill>
                  <a:schemeClr val="accent2"/>
                </a:solidFill>
                <a:ea typeface="楷体_GB2312"/>
              </a:rPr>
              <a:t>极板上所带电荷量为</a:t>
            </a:r>
            <a:r>
              <a:rPr lang="en-US" altLang="zh-CN" sz="2800" b="1" i="1">
                <a:solidFill>
                  <a:schemeClr val="accent2"/>
                </a:solidFill>
                <a:ea typeface="楷体_GB2312"/>
              </a:rPr>
              <a:t>q</a:t>
            </a:r>
            <a:r>
              <a:rPr lang="en-US" altLang="zh-CN" sz="2800" b="1" baseline="-25000">
                <a:solidFill>
                  <a:schemeClr val="accent2"/>
                </a:solidFill>
                <a:ea typeface="楷体_GB2312"/>
              </a:rPr>
              <a:t>0 </a:t>
            </a:r>
            <a:r>
              <a:rPr lang="en-US" altLang="zh-CN" sz="2800" b="1">
                <a:solidFill>
                  <a:schemeClr val="accent2"/>
                </a:solidFill>
                <a:ea typeface="楷体_GB2312"/>
              </a:rPr>
              <a:t>=</a:t>
            </a:r>
            <a:r>
              <a:rPr lang="en-US" altLang="zh-CN" sz="2800" b="1" i="1">
                <a:solidFill>
                  <a:schemeClr val="accent2"/>
                </a:solidFill>
                <a:ea typeface="楷体_GB2312"/>
              </a:rPr>
              <a:t>C</a:t>
            </a:r>
            <a:r>
              <a:rPr lang="en-US" altLang="zh-CN" sz="2800" b="1" baseline="-25000">
                <a:solidFill>
                  <a:schemeClr val="accent2"/>
                </a:solidFill>
                <a:ea typeface="楷体_GB2312"/>
              </a:rPr>
              <a:t>1</a:t>
            </a:r>
            <a:r>
              <a:rPr lang="en-US" altLang="zh-CN" sz="2800" b="1">
                <a:solidFill>
                  <a:schemeClr val="accent2"/>
                </a:solidFill>
                <a:ea typeface="楷体_GB2312"/>
              </a:rPr>
              <a:t> </a:t>
            </a:r>
            <a:r>
              <a:rPr lang="en-US" altLang="zh-CN" sz="2800" b="1" i="1">
                <a:solidFill>
                  <a:schemeClr val="accent2"/>
                </a:solidFill>
                <a:ea typeface="楷体_GB2312"/>
              </a:rPr>
              <a:t>U</a:t>
            </a:r>
            <a:r>
              <a:rPr lang="en-US" altLang="zh-CN" sz="2800" b="1" baseline="-25000">
                <a:solidFill>
                  <a:schemeClr val="accent2"/>
                </a:solidFill>
                <a:ea typeface="楷体_GB2312"/>
              </a:rPr>
              <a:t>0</a:t>
            </a:r>
            <a:r>
              <a:rPr lang="en-US" altLang="zh-CN" sz="2800" b="1">
                <a:solidFill>
                  <a:schemeClr val="accent2"/>
                </a:solidFill>
                <a:ea typeface="楷体_GB2312"/>
              </a:rPr>
              <a:t> </a:t>
            </a:r>
            <a:r>
              <a:rPr lang="zh-CN" altLang="en-US" sz="2800" b="1">
                <a:solidFill>
                  <a:schemeClr val="accent2"/>
                </a:solidFill>
                <a:ea typeface="楷体_GB2312"/>
              </a:rPr>
              <a:t>， </a:t>
            </a:r>
            <a:r>
              <a:rPr lang="en-US" altLang="zh-CN" sz="2800" b="1" i="1">
                <a:solidFill>
                  <a:schemeClr val="accent2"/>
                </a:solidFill>
                <a:ea typeface="楷体_GB2312"/>
              </a:rPr>
              <a:t>C</a:t>
            </a:r>
            <a:r>
              <a:rPr lang="en-US" altLang="zh-CN" sz="2800" b="1" i="1" baseline="-25000">
                <a:solidFill>
                  <a:schemeClr val="accent2"/>
                </a:solidFill>
                <a:ea typeface="楷体_GB2312"/>
              </a:rPr>
              <a:t>2</a:t>
            </a:r>
            <a:r>
              <a:rPr lang="zh-CN" altLang="en-US" sz="2800" b="1">
                <a:solidFill>
                  <a:schemeClr val="accent2"/>
                </a:solidFill>
                <a:ea typeface="楷体_GB2312"/>
              </a:rPr>
              <a:t>和</a:t>
            </a:r>
            <a:r>
              <a:rPr lang="en-US" altLang="zh-CN" sz="2800" b="1" i="1">
                <a:solidFill>
                  <a:schemeClr val="accent2"/>
                </a:solidFill>
                <a:ea typeface="楷体_GB2312"/>
              </a:rPr>
              <a:t>C</a:t>
            </a:r>
            <a:r>
              <a:rPr lang="en-US" altLang="zh-CN" sz="2800" b="1" baseline="-25000">
                <a:solidFill>
                  <a:schemeClr val="accent2"/>
                </a:solidFill>
                <a:ea typeface="楷体_GB2312"/>
              </a:rPr>
              <a:t>3</a:t>
            </a:r>
            <a:r>
              <a:rPr lang="zh-CN" altLang="en-US" sz="2800" b="1">
                <a:solidFill>
                  <a:schemeClr val="accent2"/>
                </a:solidFill>
                <a:ea typeface="楷体_GB2312"/>
              </a:rPr>
              <a:t>极板上的电荷量为零。</a:t>
            </a:r>
            <a:r>
              <a:rPr lang="en-US" altLang="zh-CN" sz="2800" b="1" i="1">
                <a:solidFill>
                  <a:schemeClr val="accent2"/>
                </a:solidFill>
                <a:ea typeface="楷体_GB2312"/>
              </a:rPr>
              <a:t>S</a:t>
            </a:r>
            <a:r>
              <a:rPr lang="zh-CN" altLang="en-US" sz="2800" b="1">
                <a:solidFill>
                  <a:schemeClr val="accent2"/>
                </a:solidFill>
                <a:ea typeface="楷体_GB2312"/>
              </a:rPr>
              <a:t>闭合后， </a:t>
            </a:r>
            <a:r>
              <a:rPr lang="en-US" altLang="zh-CN" sz="2800" b="1" i="1">
                <a:solidFill>
                  <a:schemeClr val="accent2"/>
                </a:solidFill>
                <a:ea typeface="楷体_GB2312"/>
              </a:rPr>
              <a:t>C</a:t>
            </a:r>
            <a:r>
              <a:rPr lang="en-US" altLang="zh-CN" sz="2800" b="1" baseline="-25000">
                <a:solidFill>
                  <a:schemeClr val="accent2"/>
                </a:solidFill>
                <a:ea typeface="楷体_GB2312"/>
              </a:rPr>
              <a:t>1</a:t>
            </a:r>
            <a:r>
              <a:rPr lang="zh-CN" altLang="en-US" sz="2800" b="1">
                <a:solidFill>
                  <a:schemeClr val="accent2"/>
                </a:solidFill>
                <a:ea typeface="楷体_GB2312"/>
              </a:rPr>
              <a:t>放电并对</a:t>
            </a:r>
            <a:r>
              <a:rPr lang="en-US" altLang="zh-CN" sz="2800" b="1" i="1">
                <a:solidFill>
                  <a:schemeClr val="accent2"/>
                </a:solidFill>
                <a:ea typeface="楷体_GB2312"/>
              </a:rPr>
              <a:t>C</a:t>
            </a:r>
            <a:r>
              <a:rPr lang="en-US" altLang="zh-CN" sz="2800" b="1" baseline="-25000">
                <a:solidFill>
                  <a:schemeClr val="accent2"/>
                </a:solidFill>
                <a:ea typeface="楷体_GB2312"/>
              </a:rPr>
              <a:t>2</a:t>
            </a:r>
            <a:r>
              <a:rPr lang="en-US" altLang="zh-CN" sz="2800" b="1">
                <a:solidFill>
                  <a:schemeClr val="accent2"/>
                </a:solidFill>
                <a:ea typeface="楷体_GB2312"/>
              </a:rPr>
              <a:t> </a:t>
            </a:r>
            <a:r>
              <a:rPr lang="zh-CN" altLang="en-US" sz="2800" b="1">
                <a:solidFill>
                  <a:schemeClr val="accent2"/>
                </a:solidFill>
                <a:ea typeface="楷体_GB2312"/>
              </a:rPr>
              <a:t>、 </a:t>
            </a:r>
            <a:r>
              <a:rPr lang="en-US" altLang="zh-CN" sz="2800" b="1" i="1">
                <a:solidFill>
                  <a:schemeClr val="accent2"/>
                </a:solidFill>
                <a:ea typeface="楷体_GB2312"/>
              </a:rPr>
              <a:t>C</a:t>
            </a:r>
            <a:r>
              <a:rPr lang="en-US" altLang="zh-CN" sz="2800" b="1" baseline="-25000">
                <a:solidFill>
                  <a:schemeClr val="accent2"/>
                </a:solidFill>
                <a:ea typeface="楷体_GB2312"/>
              </a:rPr>
              <a:t>3</a:t>
            </a:r>
            <a:r>
              <a:rPr lang="zh-CN" altLang="en-US" sz="2800" b="1">
                <a:solidFill>
                  <a:schemeClr val="accent2"/>
                </a:solidFill>
                <a:ea typeface="楷体_GB2312"/>
              </a:rPr>
              <a:t>充电，整个电路可看作为</a:t>
            </a:r>
            <a:r>
              <a:rPr lang="en-US" altLang="zh-CN" sz="2800" b="1" i="1">
                <a:solidFill>
                  <a:schemeClr val="accent2"/>
                </a:solidFill>
                <a:ea typeface="楷体_GB2312"/>
              </a:rPr>
              <a:t>C</a:t>
            </a:r>
            <a:r>
              <a:rPr lang="en-US" altLang="zh-CN" sz="2800" b="1" baseline="-25000">
                <a:solidFill>
                  <a:schemeClr val="accent2"/>
                </a:solidFill>
                <a:ea typeface="楷体_GB2312"/>
              </a:rPr>
              <a:t>2</a:t>
            </a:r>
            <a:r>
              <a:rPr lang="zh-CN" altLang="en-US" sz="2800" b="1">
                <a:solidFill>
                  <a:schemeClr val="accent2"/>
                </a:solidFill>
                <a:ea typeface="楷体_GB2312"/>
              </a:rPr>
              <a:t>、</a:t>
            </a:r>
            <a:r>
              <a:rPr lang="en-US" altLang="zh-CN" sz="2800" b="1" i="1">
                <a:solidFill>
                  <a:schemeClr val="accent2"/>
                </a:solidFill>
                <a:ea typeface="楷体_GB2312"/>
              </a:rPr>
              <a:t>C</a:t>
            </a:r>
            <a:r>
              <a:rPr lang="en-US" altLang="zh-CN" sz="2800" b="1" baseline="-25000">
                <a:solidFill>
                  <a:schemeClr val="accent2"/>
                </a:solidFill>
                <a:ea typeface="楷体_GB2312"/>
              </a:rPr>
              <a:t>3</a:t>
            </a:r>
            <a:r>
              <a:rPr lang="zh-CN" altLang="en-US" sz="2800" b="1">
                <a:solidFill>
                  <a:schemeClr val="accent2"/>
                </a:solidFill>
                <a:ea typeface="楷体_GB2312"/>
              </a:rPr>
              <a:t>串联再与</a:t>
            </a:r>
            <a:r>
              <a:rPr lang="en-US" altLang="zh-CN" sz="2800" b="1" i="1">
                <a:solidFill>
                  <a:schemeClr val="accent2"/>
                </a:solidFill>
                <a:ea typeface="楷体_GB2312"/>
              </a:rPr>
              <a:t>C</a:t>
            </a:r>
            <a:r>
              <a:rPr lang="en-US" altLang="zh-CN" sz="2800" b="1" baseline="-25000">
                <a:solidFill>
                  <a:schemeClr val="accent2"/>
                </a:solidFill>
                <a:ea typeface="楷体_GB2312"/>
              </a:rPr>
              <a:t>1</a:t>
            </a:r>
            <a:r>
              <a:rPr lang="zh-CN" altLang="en-US" sz="2800" b="1">
                <a:solidFill>
                  <a:schemeClr val="accent2"/>
                </a:solidFill>
                <a:ea typeface="楷体_GB2312"/>
              </a:rPr>
              <a:t>并联。设稳定时， </a:t>
            </a:r>
            <a:r>
              <a:rPr lang="en-US" altLang="zh-CN" sz="2800" b="1" i="1">
                <a:solidFill>
                  <a:schemeClr val="accent2"/>
                </a:solidFill>
                <a:ea typeface="楷体_GB2312"/>
              </a:rPr>
              <a:t>C</a:t>
            </a:r>
            <a:r>
              <a:rPr lang="en-US" altLang="zh-CN" sz="2800" b="1" baseline="-25000">
                <a:solidFill>
                  <a:schemeClr val="accent2"/>
                </a:solidFill>
                <a:ea typeface="楷体_GB2312"/>
              </a:rPr>
              <a:t>1</a:t>
            </a:r>
            <a:r>
              <a:rPr lang="zh-CN" altLang="en-US" sz="2800" b="1">
                <a:solidFill>
                  <a:schemeClr val="accent2"/>
                </a:solidFill>
                <a:ea typeface="楷体_GB2312"/>
              </a:rPr>
              <a:t>极板上的电荷量为</a:t>
            </a:r>
            <a:r>
              <a:rPr lang="en-US" altLang="zh-CN" sz="2800" b="1" i="1">
                <a:solidFill>
                  <a:schemeClr val="accent2"/>
                </a:solidFill>
                <a:ea typeface="楷体_GB2312"/>
              </a:rPr>
              <a:t>q</a:t>
            </a:r>
            <a:r>
              <a:rPr lang="en-US" altLang="zh-CN" sz="2800" b="1" baseline="-25000">
                <a:solidFill>
                  <a:schemeClr val="accent2"/>
                </a:solidFill>
                <a:ea typeface="楷体_GB2312"/>
              </a:rPr>
              <a:t>1</a:t>
            </a:r>
            <a:r>
              <a:rPr lang="zh-CN" altLang="en-US" sz="2800" b="1">
                <a:solidFill>
                  <a:schemeClr val="accent2"/>
                </a:solidFill>
                <a:ea typeface="楷体_GB2312"/>
              </a:rPr>
              <a:t>， </a:t>
            </a:r>
            <a:r>
              <a:rPr lang="en-US" altLang="zh-CN" sz="2800" b="1" i="1">
                <a:solidFill>
                  <a:schemeClr val="accent2"/>
                </a:solidFill>
                <a:ea typeface="楷体_GB2312"/>
              </a:rPr>
              <a:t>C</a:t>
            </a:r>
            <a:r>
              <a:rPr lang="en-US" altLang="zh-CN" sz="2800" b="1" baseline="-25000">
                <a:solidFill>
                  <a:schemeClr val="accent2"/>
                </a:solidFill>
                <a:ea typeface="楷体_GB2312"/>
              </a:rPr>
              <a:t>2</a:t>
            </a:r>
            <a:r>
              <a:rPr lang="zh-CN" altLang="en-US" sz="2800" b="1">
                <a:solidFill>
                  <a:schemeClr val="accent2"/>
                </a:solidFill>
                <a:ea typeface="楷体_GB2312"/>
              </a:rPr>
              <a:t>和</a:t>
            </a:r>
            <a:r>
              <a:rPr lang="en-US" altLang="zh-CN" sz="2800" b="1" i="1">
                <a:solidFill>
                  <a:schemeClr val="accent2"/>
                </a:solidFill>
                <a:ea typeface="楷体_GB2312"/>
              </a:rPr>
              <a:t>C</a:t>
            </a:r>
            <a:r>
              <a:rPr lang="en-US" altLang="zh-CN" sz="2800" b="1" baseline="-25000">
                <a:solidFill>
                  <a:schemeClr val="accent2"/>
                </a:solidFill>
                <a:ea typeface="楷体_GB2312"/>
              </a:rPr>
              <a:t>3</a:t>
            </a:r>
            <a:r>
              <a:rPr lang="zh-CN" altLang="en-US" sz="2800" b="1">
                <a:solidFill>
                  <a:schemeClr val="accent2"/>
                </a:solidFill>
                <a:ea typeface="楷体_GB2312"/>
              </a:rPr>
              <a:t>极板上的电荷量为</a:t>
            </a:r>
            <a:r>
              <a:rPr lang="en-US" altLang="zh-CN" sz="2800" b="1" i="1">
                <a:solidFill>
                  <a:schemeClr val="accent2"/>
                </a:solidFill>
                <a:ea typeface="楷体_GB2312"/>
              </a:rPr>
              <a:t>q</a:t>
            </a:r>
            <a:r>
              <a:rPr lang="en-US" altLang="zh-CN" sz="2800" b="1" baseline="-25000">
                <a:solidFill>
                  <a:schemeClr val="accent2"/>
                </a:solidFill>
                <a:ea typeface="楷体_GB2312"/>
              </a:rPr>
              <a:t>2</a:t>
            </a:r>
            <a:r>
              <a:rPr lang="zh-CN" altLang="en-US" sz="2800" b="1">
                <a:solidFill>
                  <a:schemeClr val="accent2"/>
                </a:solidFill>
                <a:ea typeface="楷体_GB2312"/>
              </a:rPr>
              <a:t>，因而有</a:t>
            </a:r>
          </a:p>
        </p:txBody>
      </p:sp>
      <p:grpSp>
        <p:nvGrpSpPr>
          <p:cNvPr id="51204" name="Group 4"/>
          <p:cNvGrpSpPr>
            <a:grpSpLocks/>
          </p:cNvGrpSpPr>
          <p:nvPr/>
        </p:nvGrpSpPr>
        <p:grpSpPr bwMode="auto">
          <a:xfrm>
            <a:off x="5105400" y="457200"/>
            <a:ext cx="3352800" cy="2819400"/>
            <a:chOff x="1728" y="1824"/>
            <a:chExt cx="2112" cy="1776"/>
          </a:xfrm>
        </p:grpSpPr>
        <p:grpSp>
          <p:nvGrpSpPr>
            <p:cNvPr id="51205" name="Group 5"/>
            <p:cNvGrpSpPr>
              <a:grpSpLocks/>
            </p:cNvGrpSpPr>
            <p:nvPr/>
          </p:nvGrpSpPr>
          <p:grpSpPr bwMode="auto">
            <a:xfrm>
              <a:off x="2064" y="2064"/>
              <a:ext cx="144" cy="432"/>
              <a:chOff x="2064" y="2064"/>
              <a:chExt cx="144" cy="432"/>
            </a:xfrm>
          </p:grpSpPr>
          <p:sp>
            <p:nvSpPr>
              <p:cNvPr id="51223" name="Line 6"/>
              <p:cNvSpPr>
                <a:spLocks noChangeShapeType="1"/>
              </p:cNvSpPr>
              <p:nvPr/>
            </p:nvSpPr>
            <p:spPr bwMode="auto">
              <a:xfrm>
                <a:off x="2064"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24" name="Line 7"/>
              <p:cNvSpPr>
                <a:spLocks noChangeShapeType="1"/>
              </p:cNvSpPr>
              <p:nvPr/>
            </p:nvSpPr>
            <p:spPr bwMode="auto">
              <a:xfrm>
                <a:off x="2208"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06" name="Group 8"/>
            <p:cNvGrpSpPr>
              <a:grpSpLocks/>
            </p:cNvGrpSpPr>
            <p:nvPr/>
          </p:nvGrpSpPr>
          <p:grpSpPr bwMode="auto">
            <a:xfrm>
              <a:off x="2064" y="3168"/>
              <a:ext cx="144" cy="432"/>
              <a:chOff x="2064" y="2064"/>
              <a:chExt cx="144" cy="432"/>
            </a:xfrm>
          </p:grpSpPr>
          <p:sp>
            <p:nvSpPr>
              <p:cNvPr id="51221" name="Line 9"/>
              <p:cNvSpPr>
                <a:spLocks noChangeShapeType="1"/>
              </p:cNvSpPr>
              <p:nvPr/>
            </p:nvSpPr>
            <p:spPr bwMode="auto">
              <a:xfrm>
                <a:off x="2064"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22" name="Line 10"/>
              <p:cNvSpPr>
                <a:spLocks noChangeShapeType="1"/>
              </p:cNvSpPr>
              <p:nvPr/>
            </p:nvSpPr>
            <p:spPr bwMode="auto">
              <a:xfrm>
                <a:off x="2208"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207" name="Group 11"/>
            <p:cNvGrpSpPr>
              <a:grpSpLocks/>
            </p:cNvGrpSpPr>
            <p:nvPr/>
          </p:nvGrpSpPr>
          <p:grpSpPr bwMode="auto">
            <a:xfrm>
              <a:off x="3360" y="3168"/>
              <a:ext cx="144" cy="432"/>
              <a:chOff x="2064" y="2064"/>
              <a:chExt cx="144" cy="432"/>
            </a:xfrm>
          </p:grpSpPr>
          <p:sp>
            <p:nvSpPr>
              <p:cNvPr id="51219" name="Line 12"/>
              <p:cNvSpPr>
                <a:spLocks noChangeShapeType="1"/>
              </p:cNvSpPr>
              <p:nvPr/>
            </p:nvSpPr>
            <p:spPr bwMode="auto">
              <a:xfrm>
                <a:off x="2064"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20" name="Line 13"/>
              <p:cNvSpPr>
                <a:spLocks noChangeShapeType="1"/>
              </p:cNvSpPr>
              <p:nvPr/>
            </p:nvSpPr>
            <p:spPr bwMode="auto">
              <a:xfrm>
                <a:off x="2208"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1208" name="Freeform 14"/>
            <p:cNvSpPr>
              <a:spLocks/>
            </p:cNvSpPr>
            <p:nvPr/>
          </p:nvSpPr>
          <p:spPr bwMode="auto">
            <a:xfrm>
              <a:off x="2208" y="2160"/>
              <a:ext cx="1200" cy="144"/>
            </a:xfrm>
            <a:custGeom>
              <a:avLst/>
              <a:gdLst>
                <a:gd name="T0" fmla="*/ 0 w 1200"/>
                <a:gd name="T1" fmla="*/ 144 h 144"/>
                <a:gd name="T2" fmla="*/ 912 w 1200"/>
                <a:gd name="T3" fmla="*/ 144 h 144"/>
                <a:gd name="T4" fmla="*/ 1200 w 1200"/>
                <a:gd name="T5" fmla="*/ 0 h 144"/>
                <a:gd name="T6" fmla="*/ 0 60000 65536"/>
                <a:gd name="T7" fmla="*/ 0 60000 65536"/>
                <a:gd name="T8" fmla="*/ 0 60000 65536"/>
              </a:gdLst>
              <a:ahLst/>
              <a:cxnLst>
                <a:cxn ang="T6">
                  <a:pos x="T0" y="T1"/>
                </a:cxn>
                <a:cxn ang="T7">
                  <a:pos x="T2" y="T3"/>
                </a:cxn>
                <a:cxn ang="T8">
                  <a:pos x="T4" y="T5"/>
                </a:cxn>
              </a:cxnLst>
              <a:rect l="0" t="0" r="r" b="b"/>
              <a:pathLst>
                <a:path w="1200" h="144">
                  <a:moveTo>
                    <a:pt x="0" y="144"/>
                  </a:moveTo>
                  <a:lnTo>
                    <a:pt x="912" y="144"/>
                  </a:lnTo>
                  <a:lnTo>
                    <a:pt x="1200"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09" name="Freeform 15"/>
            <p:cNvSpPr>
              <a:spLocks/>
            </p:cNvSpPr>
            <p:nvPr/>
          </p:nvSpPr>
          <p:spPr bwMode="auto">
            <a:xfrm>
              <a:off x="1728" y="2304"/>
              <a:ext cx="336" cy="1104"/>
            </a:xfrm>
            <a:custGeom>
              <a:avLst/>
              <a:gdLst>
                <a:gd name="T0" fmla="*/ 336 w 336"/>
                <a:gd name="T1" fmla="*/ 0 h 1104"/>
                <a:gd name="T2" fmla="*/ 0 w 336"/>
                <a:gd name="T3" fmla="*/ 0 h 1104"/>
                <a:gd name="T4" fmla="*/ 0 w 336"/>
                <a:gd name="T5" fmla="*/ 1104 h 1104"/>
                <a:gd name="T6" fmla="*/ 336 w 336"/>
                <a:gd name="T7" fmla="*/ 1104 h 11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6" h="1104">
                  <a:moveTo>
                    <a:pt x="336" y="0"/>
                  </a:moveTo>
                  <a:lnTo>
                    <a:pt x="0" y="0"/>
                  </a:lnTo>
                  <a:lnTo>
                    <a:pt x="0" y="1104"/>
                  </a:lnTo>
                  <a:lnTo>
                    <a:pt x="336" y="110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10" name="Line 16"/>
            <p:cNvSpPr>
              <a:spLocks noChangeShapeType="1"/>
            </p:cNvSpPr>
            <p:nvPr/>
          </p:nvSpPr>
          <p:spPr bwMode="auto">
            <a:xfrm>
              <a:off x="2208" y="3408"/>
              <a:ext cx="11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11" name="Freeform 17"/>
            <p:cNvSpPr>
              <a:spLocks/>
            </p:cNvSpPr>
            <p:nvPr/>
          </p:nvSpPr>
          <p:spPr bwMode="auto">
            <a:xfrm>
              <a:off x="3408" y="2304"/>
              <a:ext cx="432" cy="1104"/>
            </a:xfrm>
            <a:custGeom>
              <a:avLst/>
              <a:gdLst>
                <a:gd name="T0" fmla="*/ 0 w 432"/>
                <a:gd name="T1" fmla="*/ 0 h 1104"/>
                <a:gd name="T2" fmla="*/ 432 w 432"/>
                <a:gd name="T3" fmla="*/ 0 h 1104"/>
                <a:gd name="T4" fmla="*/ 432 w 432"/>
                <a:gd name="T5" fmla="*/ 1104 h 1104"/>
                <a:gd name="T6" fmla="*/ 96 w 432"/>
                <a:gd name="T7" fmla="*/ 1104 h 11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1104">
                  <a:moveTo>
                    <a:pt x="0" y="0"/>
                  </a:moveTo>
                  <a:lnTo>
                    <a:pt x="432" y="0"/>
                  </a:lnTo>
                  <a:lnTo>
                    <a:pt x="432" y="1104"/>
                  </a:lnTo>
                  <a:lnTo>
                    <a:pt x="96" y="110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212" name="Text Box 18"/>
            <p:cNvSpPr txBox="1">
              <a:spLocks noChangeArrowheads="1"/>
            </p:cNvSpPr>
            <p:nvPr/>
          </p:nvSpPr>
          <p:spPr bwMode="auto">
            <a:xfrm>
              <a:off x="3019" y="1968"/>
              <a:ext cx="2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S</a:t>
              </a:r>
              <a:endParaRPr lang="en-US" altLang="zh-CN" sz="2000" b="1" baseline="-25000">
                <a:solidFill>
                  <a:srgbClr val="FF3300"/>
                </a:solidFill>
                <a:ea typeface="楷体_GB2312"/>
              </a:endParaRPr>
            </a:p>
          </p:txBody>
        </p:sp>
        <p:sp>
          <p:nvSpPr>
            <p:cNvPr id="51213" name="Text Box 19"/>
            <p:cNvSpPr txBox="1">
              <a:spLocks noChangeArrowheads="1"/>
            </p:cNvSpPr>
            <p:nvPr/>
          </p:nvSpPr>
          <p:spPr bwMode="auto">
            <a:xfrm>
              <a:off x="1986" y="1824"/>
              <a:ext cx="2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U</a:t>
              </a:r>
              <a:r>
                <a:rPr lang="en-US" altLang="zh-CN" sz="2000" b="1" baseline="-25000">
                  <a:solidFill>
                    <a:srgbClr val="FF3300"/>
                  </a:solidFill>
                  <a:ea typeface="楷体_GB2312"/>
                </a:rPr>
                <a:t>0</a:t>
              </a:r>
            </a:p>
          </p:txBody>
        </p:sp>
        <p:sp>
          <p:nvSpPr>
            <p:cNvPr id="51214" name="Text Box 20"/>
            <p:cNvSpPr txBox="1">
              <a:spLocks noChangeArrowheads="1"/>
            </p:cNvSpPr>
            <p:nvPr/>
          </p:nvSpPr>
          <p:spPr bwMode="auto">
            <a:xfrm>
              <a:off x="1728" y="2304"/>
              <a:ext cx="3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a:solidFill>
                    <a:srgbClr val="FF3300"/>
                  </a:solidFill>
                  <a:ea typeface="楷体_GB2312"/>
                </a:rPr>
                <a:t>+</a:t>
              </a:r>
              <a:r>
                <a:rPr lang="en-US" altLang="zh-CN" sz="2000" b="1" i="1">
                  <a:solidFill>
                    <a:srgbClr val="FF3300"/>
                  </a:solidFill>
                  <a:ea typeface="楷体_GB2312"/>
                </a:rPr>
                <a:t>q</a:t>
              </a:r>
              <a:r>
                <a:rPr lang="en-US" altLang="zh-CN" sz="2000" b="1" baseline="-25000">
                  <a:solidFill>
                    <a:srgbClr val="FF3300"/>
                  </a:solidFill>
                  <a:ea typeface="楷体_GB2312"/>
                </a:rPr>
                <a:t>0</a:t>
              </a:r>
            </a:p>
          </p:txBody>
        </p:sp>
        <p:sp>
          <p:nvSpPr>
            <p:cNvPr id="51215" name="Text Box 21"/>
            <p:cNvSpPr txBox="1">
              <a:spLocks noChangeArrowheads="1"/>
            </p:cNvSpPr>
            <p:nvPr/>
          </p:nvSpPr>
          <p:spPr bwMode="auto">
            <a:xfrm>
              <a:off x="2208" y="229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a:solidFill>
                    <a:srgbClr val="FF3300"/>
                  </a:solidFill>
                  <a:latin typeface="Symbol" panose="05050102010706020507" pitchFamily="18" charset="2"/>
                  <a:ea typeface="楷体_GB2312"/>
                </a:rPr>
                <a:t>-</a:t>
              </a:r>
              <a:r>
                <a:rPr lang="en-US" altLang="zh-CN" sz="2000" b="1" i="1">
                  <a:solidFill>
                    <a:srgbClr val="FF3300"/>
                  </a:solidFill>
                  <a:ea typeface="楷体_GB2312"/>
                </a:rPr>
                <a:t>q</a:t>
              </a:r>
              <a:r>
                <a:rPr lang="en-US" altLang="zh-CN" sz="2000" b="1" baseline="-25000">
                  <a:solidFill>
                    <a:srgbClr val="FF3300"/>
                  </a:solidFill>
                  <a:ea typeface="楷体_GB2312"/>
                </a:rPr>
                <a:t>0</a:t>
              </a:r>
            </a:p>
          </p:txBody>
        </p:sp>
        <p:sp>
          <p:nvSpPr>
            <p:cNvPr id="51216" name="Text Box 22"/>
            <p:cNvSpPr txBox="1">
              <a:spLocks noChangeArrowheads="1"/>
            </p:cNvSpPr>
            <p:nvPr/>
          </p:nvSpPr>
          <p:spPr bwMode="auto">
            <a:xfrm>
              <a:off x="2020" y="2496"/>
              <a:ext cx="2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C</a:t>
              </a:r>
              <a:r>
                <a:rPr lang="en-US" altLang="zh-CN" sz="2000" b="1" baseline="-25000">
                  <a:solidFill>
                    <a:srgbClr val="FF3300"/>
                  </a:solidFill>
                  <a:ea typeface="楷体_GB2312"/>
                </a:rPr>
                <a:t>1</a:t>
              </a:r>
            </a:p>
          </p:txBody>
        </p:sp>
        <p:sp>
          <p:nvSpPr>
            <p:cNvPr id="51217" name="Text Box 23"/>
            <p:cNvSpPr txBox="1">
              <a:spLocks noChangeArrowheads="1"/>
            </p:cNvSpPr>
            <p:nvPr/>
          </p:nvSpPr>
          <p:spPr bwMode="auto">
            <a:xfrm>
              <a:off x="2016" y="2928"/>
              <a:ext cx="2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C</a:t>
              </a:r>
              <a:r>
                <a:rPr lang="en-US" altLang="zh-CN" sz="2000" b="1" baseline="-25000">
                  <a:solidFill>
                    <a:srgbClr val="FF3300"/>
                  </a:solidFill>
                  <a:ea typeface="楷体_GB2312"/>
                </a:rPr>
                <a:t>2</a:t>
              </a:r>
            </a:p>
          </p:txBody>
        </p:sp>
        <p:sp>
          <p:nvSpPr>
            <p:cNvPr id="51218" name="Text Box 24"/>
            <p:cNvSpPr txBox="1">
              <a:spLocks noChangeArrowheads="1"/>
            </p:cNvSpPr>
            <p:nvPr/>
          </p:nvSpPr>
          <p:spPr bwMode="auto">
            <a:xfrm>
              <a:off x="3312" y="2928"/>
              <a:ext cx="2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C</a:t>
              </a:r>
              <a:r>
                <a:rPr lang="en-US" altLang="zh-CN" sz="2000" b="1" baseline="-25000">
                  <a:solidFill>
                    <a:srgbClr val="FF3300"/>
                  </a:solidFill>
                  <a:ea typeface="楷体_GB2312"/>
                </a:rPr>
                <a:t>3</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5"/>
                                        </p:tgtEl>
                                        <p:attrNameLst>
                                          <p:attrName>style.visibility</p:attrName>
                                        </p:attrNameLst>
                                      </p:cBhvr>
                                      <p:to>
                                        <p:strVal val="visible"/>
                                      </p:to>
                                    </p:set>
                                    <p:anim calcmode="lin" valueType="num">
                                      <p:cBhvr additive="base">
                                        <p:cTn id="7" dur="500" fill="hold"/>
                                        <p:tgtEl>
                                          <p:spTgt spid="69635"/>
                                        </p:tgtEl>
                                        <p:attrNameLst>
                                          <p:attrName>ppt_x</p:attrName>
                                        </p:attrNameLst>
                                      </p:cBhvr>
                                      <p:tavLst>
                                        <p:tav tm="0">
                                          <p:val>
                                            <p:strVal val="0-#ppt_w/2"/>
                                          </p:val>
                                        </p:tav>
                                        <p:tav tm="100000">
                                          <p:val>
                                            <p:strVal val="#ppt_x"/>
                                          </p:val>
                                        </p:tav>
                                      </p:tavLst>
                                    </p:anim>
                                    <p:anim calcmode="lin" valueType="num">
                                      <p:cBhvr additive="base">
                                        <p:cTn id="8" dur="500" fill="hold"/>
                                        <p:tgtEl>
                                          <p:spTgt spid="69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F14D98-F276-4200-A086-75D85AB91D93}"/>
              </a:ext>
            </a:extLst>
          </p:cNvPr>
          <p:cNvSpPr txBox="1"/>
          <p:nvPr/>
        </p:nvSpPr>
        <p:spPr>
          <a:xfrm>
            <a:off x="4824981" y="12956"/>
            <a:ext cx="3045181" cy="708540"/>
          </a:xfrm>
          <a:prstGeom prst="rect">
            <a:avLst/>
          </a:prstGeom>
          <a:solidFill>
            <a:schemeClr val="accent1"/>
          </a:solidFill>
        </p:spPr>
        <p:txBody>
          <a:bodyPr wrap="square" rtlCol="0">
            <a:spAutoFit/>
          </a:bodyPr>
          <a:lstStyle/>
          <a:p>
            <a:endParaRPr lang="zh-CN" altLang="en-US"/>
          </a:p>
        </p:txBody>
      </p:sp>
      <p:graphicFrame>
        <p:nvGraphicFramePr>
          <p:cNvPr id="52226" name="Object 2"/>
          <p:cNvGraphicFramePr>
            <a:graphicFrameLocks noChangeAspect="1"/>
          </p:cNvGraphicFramePr>
          <p:nvPr>
            <p:extLst>
              <p:ext uri="{D42A27DB-BD31-4B8C-83A1-F6EECF244321}">
                <p14:modId xmlns:p14="http://schemas.microsoft.com/office/powerpoint/2010/main" val="4006538578"/>
              </p:ext>
            </p:extLst>
          </p:nvPr>
        </p:nvGraphicFramePr>
        <p:xfrm>
          <a:off x="971600" y="784718"/>
          <a:ext cx="2173287" cy="517525"/>
        </p:xfrm>
        <a:graphic>
          <a:graphicData uri="http://schemas.openxmlformats.org/presentationml/2006/ole">
            <mc:AlternateContent xmlns:mc="http://schemas.openxmlformats.org/markup-compatibility/2006">
              <mc:Choice xmlns:v="urn:schemas-microsoft-com:vml" Requires="v">
                <p:oleObj spid="_x0000_s52581" name="Equation" r:id="rId3" imgW="1828800" imgH="520700" progId="Equation.3">
                  <p:embed/>
                </p:oleObj>
              </mc:Choice>
              <mc:Fallback>
                <p:oleObj name="Equation" r:id="rId3" imgW="1828800" imgH="520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784718"/>
                        <a:ext cx="217328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59" name="Object 3"/>
          <p:cNvGraphicFramePr>
            <a:graphicFrameLocks noChangeAspect="1"/>
          </p:cNvGraphicFramePr>
          <p:nvPr>
            <p:extLst>
              <p:ext uri="{D42A27DB-BD31-4B8C-83A1-F6EECF244321}">
                <p14:modId xmlns:p14="http://schemas.microsoft.com/office/powerpoint/2010/main" val="1894474803"/>
              </p:ext>
            </p:extLst>
          </p:nvPr>
        </p:nvGraphicFramePr>
        <p:xfrm>
          <a:off x="5237163" y="88900"/>
          <a:ext cx="2547937" cy="1611313"/>
        </p:xfrm>
        <a:graphic>
          <a:graphicData uri="http://schemas.openxmlformats.org/presentationml/2006/ole">
            <mc:AlternateContent xmlns:mc="http://schemas.openxmlformats.org/markup-compatibility/2006">
              <mc:Choice xmlns:v="urn:schemas-microsoft-com:vml" Requires="v">
                <p:oleObj spid="_x0000_s52582" name="Equation" r:id="rId5" imgW="888840" imgH="672840" progId="Equation.DSMT4">
                  <p:embed/>
                </p:oleObj>
              </mc:Choice>
              <mc:Fallback>
                <p:oleObj name="Equation" r:id="rId5" imgW="888840" imgH="672840" progId="Equation.DSMT4">
                  <p:embed/>
                  <p:pic>
                    <p:nvPicPr>
                      <p:cNvPr id="0" name="Object 3"/>
                      <p:cNvPicPr>
                        <a:picLocks noChangeAspect="1" noChangeArrowheads="1"/>
                      </p:cNvPicPr>
                      <p:nvPr/>
                    </p:nvPicPr>
                    <p:blipFill>
                      <a:blip r:embed="rId6"/>
                      <a:srcRect/>
                      <a:stretch>
                        <a:fillRect/>
                      </a:stretch>
                    </p:blipFill>
                    <p:spPr bwMode="auto">
                      <a:xfrm>
                        <a:off x="5237163" y="88900"/>
                        <a:ext cx="2547937" cy="16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0" name="Object 4"/>
          <p:cNvGraphicFramePr>
            <a:graphicFrameLocks noChangeAspect="1"/>
          </p:cNvGraphicFramePr>
          <p:nvPr/>
        </p:nvGraphicFramePr>
        <p:xfrm>
          <a:off x="1568450" y="4494213"/>
          <a:ext cx="6789738" cy="1022350"/>
        </p:xfrm>
        <a:graphic>
          <a:graphicData uri="http://schemas.openxmlformats.org/presentationml/2006/ole">
            <mc:AlternateContent xmlns:mc="http://schemas.openxmlformats.org/markup-compatibility/2006">
              <mc:Choice xmlns:v="urn:schemas-microsoft-com:vml" Requires="v">
                <p:oleObj spid="_x0000_s52583" name="Equation" r:id="rId7" imgW="6273800" imgH="1130300" progId="Equation.3">
                  <p:embed/>
                </p:oleObj>
              </mc:Choice>
              <mc:Fallback>
                <p:oleObj name="Equation" r:id="rId7" imgW="6273800" imgH="11303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8450" y="4494213"/>
                        <a:ext cx="6789738"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1" name="Object 5"/>
          <p:cNvGraphicFramePr>
            <a:graphicFrameLocks noChangeAspect="1"/>
          </p:cNvGraphicFramePr>
          <p:nvPr/>
        </p:nvGraphicFramePr>
        <p:xfrm>
          <a:off x="436563" y="2295525"/>
          <a:ext cx="4933950" cy="1022350"/>
        </p:xfrm>
        <a:graphic>
          <a:graphicData uri="http://schemas.openxmlformats.org/presentationml/2006/ole">
            <mc:AlternateContent xmlns:mc="http://schemas.openxmlformats.org/markup-compatibility/2006">
              <mc:Choice xmlns:v="urn:schemas-microsoft-com:vml" Requires="v">
                <p:oleObj spid="_x0000_s52584" name="Equation" r:id="rId9" imgW="4559300" imgH="1130300" progId="Equation.3">
                  <p:embed/>
                </p:oleObj>
              </mc:Choice>
              <mc:Fallback>
                <p:oleObj name="Equation" r:id="rId9" imgW="4559300" imgH="1130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6563" y="2295525"/>
                        <a:ext cx="49339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2" name="Rectangle 6"/>
          <p:cNvSpPr>
            <a:spLocks noChangeArrowheads="1"/>
          </p:cNvSpPr>
          <p:nvPr/>
        </p:nvSpPr>
        <p:spPr bwMode="auto">
          <a:xfrm>
            <a:off x="609600" y="1524000"/>
            <a:ext cx="426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b="1">
                <a:solidFill>
                  <a:srgbClr val="FF3300"/>
                </a:solidFill>
                <a:ea typeface="楷体_GB2312"/>
              </a:rPr>
              <a:t>解两式得</a:t>
            </a:r>
          </a:p>
        </p:txBody>
      </p:sp>
      <p:sp>
        <p:nvSpPr>
          <p:cNvPr id="70663" name="Rectangle 7"/>
          <p:cNvSpPr>
            <a:spLocks noChangeArrowheads="1"/>
          </p:cNvSpPr>
          <p:nvPr/>
        </p:nvSpPr>
        <p:spPr bwMode="auto">
          <a:xfrm>
            <a:off x="685800" y="5576888"/>
            <a:ext cx="723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sz="2800" b="1">
                <a:solidFill>
                  <a:srgbClr val="FF3300"/>
                </a:solidFill>
                <a:ea typeface="楷体_GB2312"/>
              </a:rPr>
              <a:t>因此，得</a:t>
            </a:r>
            <a:r>
              <a:rPr lang="en-US" altLang="zh-CN" sz="2800" b="1" i="1">
                <a:solidFill>
                  <a:srgbClr val="FF3300"/>
                </a:solidFill>
                <a:ea typeface="楷体_GB2312"/>
              </a:rPr>
              <a:t>C</a:t>
            </a:r>
            <a:r>
              <a:rPr lang="en-US" altLang="zh-CN" sz="2800" b="1" baseline="-25000">
                <a:solidFill>
                  <a:srgbClr val="FF3300"/>
                </a:solidFill>
                <a:ea typeface="楷体_GB2312"/>
              </a:rPr>
              <a:t>1</a:t>
            </a:r>
            <a:r>
              <a:rPr lang="en-US" altLang="zh-CN" sz="2800" b="1">
                <a:solidFill>
                  <a:srgbClr val="FF3300"/>
                </a:solidFill>
                <a:ea typeface="楷体_GB2312"/>
              </a:rPr>
              <a:t> </a:t>
            </a:r>
            <a:r>
              <a:rPr lang="zh-CN" altLang="en-US" sz="2800" b="1">
                <a:solidFill>
                  <a:srgbClr val="FF3300"/>
                </a:solidFill>
                <a:ea typeface="楷体_GB2312"/>
              </a:rPr>
              <a:t>、</a:t>
            </a:r>
            <a:r>
              <a:rPr lang="en-US" altLang="zh-CN" sz="2800" b="1" i="1">
                <a:solidFill>
                  <a:srgbClr val="FF3300"/>
                </a:solidFill>
                <a:ea typeface="楷体_GB2312"/>
              </a:rPr>
              <a:t>C</a:t>
            </a:r>
            <a:r>
              <a:rPr lang="en-US" altLang="zh-CN" sz="2800" b="1" i="1" baseline="-25000">
                <a:solidFill>
                  <a:srgbClr val="FF3300"/>
                </a:solidFill>
                <a:ea typeface="楷体_GB2312"/>
              </a:rPr>
              <a:t>2</a:t>
            </a:r>
            <a:r>
              <a:rPr lang="zh-CN" altLang="en-US" sz="2800" b="1">
                <a:solidFill>
                  <a:srgbClr val="FF3300"/>
                </a:solidFill>
                <a:ea typeface="楷体_GB2312"/>
              </a:rPr>
              <a:t>和</a:t>
            </a:r>
            <a:r>
              <a:rPr lang="en-US" altLang="zh-CN" sz="2800" b="1" i="1">
                <a:solidFill>
                  <a:srgbClr val="FF3300"/>
                </a:solidFill>
                <a:ea typeface="楷体_GB2312"/>
              </a:rPr>
              <a:t>C</a:t>
            </a:r>
            <a:r>
              <a:rPr lang="en-US" altLang="zh-CN" sz="2800" b="1" baseline="-25000">
                <a:solidFill>
                  <a:srgbClr val="FF3300"/>
                </a:solidFill>
                <a:ea typeface="楷体_GB2312"/>
              </a:rPr>
              <a:t>3</a:t>
            </a:r>
            <a:r>
              <a:rPr lang="zh-CN" altLang="en-US" sz="2800" b="1">
                <a:solidFill>
                  <a:srgbClr val="FF3300"/>
                </a:solidFill>
                <a:ea typeface="楷体_GB2312"/>
              </a:rPr>
              <a:t>上的电势差分别为</a:t>
            </a:r>
            <a:endParaRPr lang="zh-CN" altLang="en-US" sz="2800" b="1" baseline="-25000">
              <a:solidFill>
                <a:srgbClr val="FF3300"/>
              </a:solidFill>
              <a:ea typeface="楷体_GB2312"/>
            </a:endParaRPr>
          </a:p>
        </p:txBody>
      </p:sp>
      <p:graphicFrame>
        <p:nvGraphicFramePr>
          <p:cNvPr id="70664" name="Object 8"/>
          <p:cNvGraphicFramePr>
            <a:graphicFrameLocks noChangeAspect="1"/>
          </p:cNvGraphicFramePr>
          <p:nvPr/>
        </p:nvGraphicFramePr>
        <p:xfrm>
          <a:off x="693738" y="3467100"/>
          <a:ext cx="4570412" cy="1095375"/>
        </p:xfrm>
        <a:graphic>
          <a:graphicData uri="http://schemas.openxmlformats.org/presentationml/2006/ole">
            <mc:AlternateContent xmlns:mc="http://schemas.openxmlformats.org/markup-compatibility/2006">
              <mc:Choice xmlns:v="urn:schemas-microsoft-com:vml" Requires="v">
                <p:oleObj spid="_x0000_s52585" name="Equation" r:id="rId11" imgW="4216400" imgH="1206500" progId="Equation.3">
                  <p:embed/>
                </p:oleObj>
              </mc:Choice>
              <mc:Fallback>
                <p:oleObj name="Equation" r:id="rId11" imgW="4216400" imgH="12065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3738" y="3467100"/>
                        <a:ext cx="4570412"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2233" name="Group 4"/>
          <p:cNvGrpSpPr>
            <a:grpSpLocks/>
          </p:cNvGrpSpPr>
          <p:nvPr/>
        </p:nvGrpSpPr>
        <p:grpSpPr bwMode="auto">
          <a:xfrm>
            <a:off x="6019800" y="2133600"/>
            <a:ext cx="2368550" cy="2149475"/>
            <a:chOff x="1646" y="1824"/>
            <a:chExt cx="2194" cy="1776"/>
          </a:xfrm>
        </p:grpSpPr>
        <p:grpSp>
          <p:nvGrpSpPr>
            <p:cNvPr id="52236" name="Group 5"/>
            <p:cNvGrpSpPr>
              <a:grpSpLocks/>
            </p:cNvGrpSpPr>
            <p:nvPr/>
          </p:nvGrpSpPr>
          <p:grpSpPr bwMode="auto">
            <a:xfrm>
              <a:off x="2064" y="2064"/>
              <a:ext cx="144" cy="432"/>
              <a:chOff x="2064" y="2064"/>
              <a:chExt cx="144" cy="432"/>
            </a:xfrm>
          </p:grpSpPr>
          <p:sp>
            <p:nvSpPr>
              <p:cNvPr id="52254" name="Line 6"/>
              <p:cNvSpPr>
                <a:spLocks noChangeShapeType="1"/>
              </p:cNvSpPr>
              <p:nvPr/>
            </p:nvSpPr>
            <p:spPr bwMode="auto">
              <a:xfrm>
                <a:off x="2064"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55" name="Line 7"/>
              <p:cNvSpPr>
                <a:spLocks noChangeShapeType="1"/>
              </p:cNvSpPr>
              <p:nvPr/>
            </p:nvSpPr>
            <p:spPr bwMode="auto">
              <a:xfrm>
                <a:off x="2208"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37" name="Group 8"/>
            <p:cNvGrpSpPr>
              <a:grpSpLocks/>
            </p:cNvGrpSpPr>
            <p:nvPr/>
          </p:nvGrpSpPr>
          <p:grpSpPr bwMode="auto">
            <a:xfrm>
              <a:off x="2064" y="3168"/>
              <a:ext cx="144" cy="432"/>
              <a:chOff x="2064" y="2064"/>
              <a:chExt cx="144" cy="432"/>
            </a:xfrm>
          </p:grpSpPr>
          <p:sp>
            <p:nvSpPr>
              <p:cNvPr id="52252" name="Line 9"/>
              <p:cNvSpPr>
                <a:spLocks noChangeShapeType="1"/>
              </p:cNvSpPr>
              <p:nvPr/>
            </p:nvSpPr>
            <p:spPr bwMode="auto">
              <a:xfrm>
                <a:off x="2064"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53" name="Line 10"/>
              <p:cNvSpPr>
                <a:spLocks noChangeShapeType="1"/>
              </p:cNvSpPr>
              <p:nvPr/>
            </p:nvSpPr>
            <p:spPr bwMode="auto">
              <a:xfrm>
                <a:off x="2208"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2238" name="Group 11"/>
            <p:cNvGrpSpPr>
              <a:grpSpLocks/>
            </p:cNvGrpSpPr>
            <p:nvPr/>
          </p:nvGrpSpPr>
          <p:grpSpPr bwMode="auto">
            <a:xfrm>
              <a:off x="3360" y="3168"/>
              <a:ext cx="144" cy="432"/>
              <a:chOff x="2064" y="2064"/>
              <a:chExt cx="144" cy="432"/>
            </a:xfrm>
          </p:grpSpPr>
          <p:sp>
            <p:nvSpPr>
              <p:cNvPr id="52250" name="Line 12"/>
              <p:cNvSpPr>
                <a:spLocks noChangeShapeType="1"/>
              </p:cNvSpPr>
              <p:nvPr/>
            </p:nvSpPr>
            <p:spPr bwMode="auto">
              <a:xfrm>
                <a:off x="2064"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51" name="Line 13"/>
              <p:cNvSpPr>
                <a:spLocks noChangeShapeType="1"/>
              </p:cNvSpPr>
              <p:nvPr/>
            </p:nvSpPr>
            <p:spPr bwMode="auto">
              <a:xfrm>
                <a:off x="2208" y="2064"/>
                <a:ext cx="0" cy="432"/>
              </a:xfrm>
              <a:prstGeom prst="line">
                <a:avLst/>
              </a:prstGeom>
              <a:noFill/>
              <a:ln w="28575">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2239" name="Freeform 14"/>
            <p:cNvSpPr>
              <a:spLocks/>
            </p:cNvSpPr>
            <p:nvPr/>
          </p:nvSpPr>
          <p:spPr bwMode="auto">
            <a:xfrm>
              <a:off x="2208" y="2266"/>
              <a:ext cx="1296" cy="38"/>
            </a:xfrm>
            <a:custGeom>
              <a:avLst/>
              <a:gdLst>
                <a:gd name="T0" fmla="*/ 0 w 1200"/>
                <a:gd name="T1" fmla="*/ 10 h 144"/>
                <a:gd name="T2" fmla="*/ 1064 w 1200"/>
                <a:gd name="T3" fmla="*/ 10 h 144"/>
                <a:gd name="T4" fmla="*/ 1400 w 1200"/>
                <a:gd name="T5" fmla="*/ 0 h 144"/>
                <a:gd name="T6" fmla="*/ 0 60000 65536"/>
                <a:gd name="T7" fmla="*/ 0 60000 65536"/>
                <a:gd name="T8" fmla="*/ 0 60000 65536"/>
              </a:gdLst>
              <a:ahLst/>
              <a:cxnLst>
                <a:cxn ang="T6">
                  <a:pos x="T0" y="T1"/>
                </a:cxn>
                <a:cxn ang="T7">
                  <a:pos x="T2" y="T3"/>
                </a:cxn>
                <a:cxn ang="T8">
                  <a:pos x="T4" y="T5"/>
                </a:cxn>
              </a:cxnLst>
              <a:rect l="0" t="0" r="r" b="b"/>
              <a:pathLst>
                <a:path w="1200" h="144">
                  <a:moveTo>
                    <a:pt x="0" y="144"/>
                  </a:moveTo>
                  <a:lnTo>
                    <a:pt x="912" y="144"/>
                  </a:lnTo>
                  <a:lnTo>
                    <a:pt x="1200"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40" name="Freeform 15"/>
            <p:cNvSpPr>
              <a:spLocks/>
            </p:cNvSpPr>
            <p:nvPr/>
          </p:nvSpPr>
          <p:spPr bwMode="auto">
            <a:xfrm>
              <a:off x="1728" y="2304"/>
              <a:ext cx="336" cy="1104"/>
            </a:xfrm>
            <a:custGeom>
              <a:avLst/>
              <a:gdLst>
                <a:gd name="T0" fmla="*/ 336 w 336"/>
                <a:gd name="T1" fmla="*/ 0 h 1104"/>
                <a:gd name="T2" fmla="*/ 0 w 336"/>
                <a:gd name="T3" fmla="*/ 0 h 1104"/>
                <a:gd name="T4" fmla="*/ 0 w 336"/>
                <a:gd name="T5" fmla="*/ 1104 h 1104"/>
                <a:gd name="T6" fmla="*/ 336 w 336"/>
                <a:gd name="T7" fmla="*/ 1104 h 11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6" h="1104">
                  <a:moveTo>
                    <a:pt x="336" y="0"/>
                  </a:moveTo>
                  <a:lnTo>
                    <a:pt x="0" y="0"/>
                  </a:lnTo>
                  <a:lnTo>
                    <a:pt x="0" y="1104"/>
                  </a:lnTo>
                  <a:lnTo>
                    <a:pt x="336" y="110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41" name="Line 16"/>
            <p:cNvSpPr>
              <a:spLocks noChangeShapeType="1"/>
            </p:cNvSpPr>
            <p:nvPr/>
          </p:nvSpPr>
          <p:spPr bwMode="auto">
            <a:xfrm>
              <a:off x="2208" y="3408"/>
              <a:ext cx="11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42" name="Freeform 17"/>
            <p:cNvSpPr>
              <a:spLocks/>
            </p:cNvSpPr>
            <p:nvPr/>
          </p:nvSpPr>
          <p:spPr bwMode="auto">
            <a:xfrm>
              <a:off x="3408" y="2304"/>
              <a:ext cx="432" cy="1104"/>
            </a:xfrm>
            <a:custGeom>
              <a:avLst/>
              <a:gdLst>
                <a:gd name="T0" fmla="*/ 0 w 432"/>
                <a:gd name="T1" fmla="*/ 0 h 1104"/>
                <a:gd name="T2" fmla="*/ 432 w 432"/>
                <a:gd name="T3" fmla="*/ 0 h 1104"/>
                <a:gd name="T4" fmla="*/ 432 w 432"/>
                <a:gd name="T5" fmla="*/ 1104 h 1104"/>
                <a:gd name="T6" fmla="*/ 96 w 432"/>
                <a:gd name="T7" fmla="*/ 1104 h 11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2" h="1104">
                  <a:moveTo>
                    <a:pt x="0" y="0"/>
                  </a:moveTo>
                  <a:lnTo>
                    <a:pt x="432" y="0"/>
                  </a:lnTo>
                  <a:lnTo>
                    <a:pt x="432" y="1104"/>
                  </a:lnTo>
                  <a:lnTo>
                    <a:pt x="96" y="110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2243" name="Text Box 18"/>
            <p:cNvSpPr txBox="1">
              <a:spLocks noChangeArrowheads="1"/>
            </p:cNvSpPr>
            <p:nvPr/>
          </p:nvSpPr>
          <p:spPr bwMode="auto">
            <a:xfrm>
              <a:off x="3019" y="1968"/>
              <a:ext cx="2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S</a:t>
              </a:r>
              <a:endParaRPr lang="en-US" altLang="zh-CN" sz="2000" b="1" baseline="-25000">
                <a:solidFill>
                  <a:srgbClr val="FF3300"/>
                </a:solidFill>
                <a:ea typeface="楷体_GB2312"/>
              </a:endParaRPr>
            </a:p>
          </p:txBody>
        </p:sp>
        <p:sp>
          <p:nvSpPr>
            <p:cNvPr id="52244" name="Text Box 19"/>
            <p:cNvSpPr txBox="1">
              <a:spLocks noChangeArrowheads="1"/>
            </p:cNvSpPr>
            <p:nvPr/>
          </p:nvSpPr>
          <p:spPr bwMode="auto">
            <a:xfrm>
              <a:off x="1986" y="1824"/>
              <a:ext cx="2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U</a:t>
              </a:r>
              <a:r>
                <a:rPr lang="en-US" altLang="zh-CN" sz="2000" b="1" baseline="-25000">
                  <a:solidFill>
                    <a:srgbClr val="FF3300"/>
                  </a:solidFill>
                  <a:ea typeface="楷体_GB2312"/>
                </a:rPr>
                <a:t>0</a:t>
              </a:r>
            </a:p>
          </p:txBody>
        </p:sp>
        <p:sp>
          <p:nvSpPr>
            <p:cNvPr id="52245" name="Text Box 20"/>
            <p:cNvSpPr txBox="1">
              <a:spLocks noChangeArrowheads="1"/>
            </p:cNvSpPr>
            <p:nvPr/>
          </p:nvSpPr>
          <p:spPr bwMode="auto">
            <a:xfrm>
              <a:off x="1646" y="2304"/>
              <a:ext cx="50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a:solidFill>
                    <a:srgbClr val="FF3300"/>
                  </a:solidFill>
                  <a:ea typeface="楷体_GB2312"/>
                </a:rPr>
                <a:t>+</a:t>
              </a:r>
              <a:r>
                <a:rPr lang="en-US" altLang="zh-CN" sz="2000" b="1" i="1">
                  <a:solidFill>
                    <a:srgbClr val="FF3300"/>
                  </a:solidFill>
                  <a:ea typeface="楷体_GB2312"/>
                </a:rPr>
                <a:t>q</a:t>
              </a:r>
              <a:r>
                <a:rPr lang="en-US" altLang="zh-CN" sz="2000" b="1" baseline="-25000">
                  <a:solidFill>
                    <a:srgbClr val="FF3300"/>
                  </a:solidFill>
                  <a:ea typeface="楷体_GB2312"/>
                </a:rPr>
                <a:t>1</a:t>
              </a:r>
            </a:p>
          </p:txBody>
        </p:sp>
        <p:sp>
          <p:nvSpPr>
            <p:cNvPr id="52246" name="Text Box 21"/>
            <p:cNvSpPr txBox="1">
              <a:spLocks noChangeArrowheads="1"/>
            </p:cNvSpPr>
            <p:nvPr/>
          </p:nvSpPr>
          <p:spPr bwMode="auto">
            <a:xfrm>
              <a:off x="2126" y="2294"/>
              <a:ext cx="499"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a:solidFill>
                    <a:srgbClr val="FF3300"/>
                  </a:solidFill>
                  <a:latin typeface="Symbol" panose="05050102010706020507" pitchFamily="18" charset="2"/>
                  <a:ea typeface="楷体_GB2312"/>
                </a:rPr>
                <a:t>-</a:t>
              </a:r>
              <a:r>
                <a:rPr lang="en-US" altLang="zh-CN" sz="2000" b="1" i="1">
                  <a:solidFill>
                    <a:srgbClr val="FF3300"/>
                  </a:solidFill>
                  <a:ea typeface="楷体_GB2312"/>
                </a:rPr>
                <a:t>q</a:t>
              </a:r>
              <a:r>
                <a:rPr lang="en-US" altLang="zh-CN" sz="2000" b="1" baseline="-25000">
                  <a:solidFill>
                    <a:srgbClr val="FF3300"/>
                  </a:solidFill>
                  <a:ea typeface="楷体_GB2312"/>
                </a:rPr>
                <a:t>1</a:t>
              </a:r>
            </a:p>
          </p:txBody>
        </p:sp>
        <p:sp>
          <p:nvSpPr>
            <p:cNvPr id="52247" name="Text Box 22"/>
            <p:cNvSpPr txBox="1">
              <a:spLocks noChangeArrowheads="1"/>
            </p:cNvSpPr>
            <p:nvPr/>
          </p:nvSpPr>
          <p:spPr bwMode="auto">
            <a:xfrm>
              <a:off x="2020" y="2496"/>
              <a:ext cx="2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C</a:t>
              </a:r>
              <a:r>
                <a:rPr lang="en-US" altLang="zh-CN" sz="2000" b="1" baseline="-25000">
                  <a:solidFill>
                    <a:srgbClr val="FF3300"/>
                  </a:solidFill>
                  <a:ea typeface="楷体_GB2312"/>
                </a:rPr>
                <a:t>1</a:t>
              </a:r>
            </a:p>
          </p:txBody>
        </p:sp>
        <p:sp>
          <p:nvSpPr>
            <p:cNvPr id="52248" name="Text Box 23"/>
            <p:cNvSpPr txBox="1">
              <a:spLocks noChangeArrowheads="1"/>
            </p:cNvSpPr>
            <p:nvPr/>
          </p:nvSpPr>
          <p:spPr bwMode="auto">
            <a:xfrm>
              <a:off x="2016" y="2928"/>
              <a:ext cx="2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C</a:t>
              </a:r>
              <a:r>
                <a:rPr lang="en-US" altLang="zh-CN" sz="2000" b="1" baseline="-25000">
                  <a:solidFill>
                    <a:srgbClr val="FF3300"/>
                  </a:solidFill>
                  <a:ea typeface="楷体_GB2312"/>
                </a:rPr>
                <a:t>2</a:t>
              </a:r>
            </a:p>
          </p:txBody>
        </p:sp>
        <p:sp>
          <p:nvSpPr>
            <p:cNvPr id="52249" name="Text Box 24"/>
            <p:cNvSpPr txBox="1">
              <a:spLocks noChangeArrowheads="1"/>
            </p:cNvSpPr>
            <p:nvPr/>
          </p:nvSpPr>
          <p:spPr bwMode="auto">
            <a:xfrm>
              <a:off x="3312" y="2928"/>
              <a:ext cx="2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C</a:t>
              </a:r>
              <a:r>
                <a:rPr lang="en-US" altLang="zh-CN" sz="2000" b="1" baseline="-25000">
                  <a:solidFill>
                    <a:srgbClr val="FF3300"/>
                  </a:solidFill>
                  <a:ea typeface="楷体_GB2312"/>
                </a:rPr>
                <a:t>3</a:t>
              </a:r>
            </a:p>
          </p:txBody>
        </p:sp>
      </p:grpSp>
      <p:sp>
        <p:nvSpPr>
          <p:cNvPr id="52234" name="Text Box 21"/>
          <p:cNvSpPr txBox="1">
            <a:spLocks noChangeArrowheads="1"/>
          </p:cNvSpPr>
          <p:nvPr/>
        </p:nvSpPr>
        <p:spPr bwMode="auto">
          <a:xfrm>
            <a:off x="7818438" y="4081463"/>
            <a:ext cx="5381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a:solidFill>
                  <a:srgbClr val="FF3300"/>
                </a:solidFill>
                <a:latin typeface="Symbol" panose="05050102010706020507" pitchFamily="18" charset="2"/>
                <a:ea typeface="楷体_GB2312"/>
              </a:rPr>
              <a:t>-</a:t>
            </a:r>
            <a:r>
              <a:rPr lang="en-US" altLang="zh-CN" sz="2000" b="1" i="1">
                <a:solidFill>
                  <a:srgbClr val="FF3300"/>
                </a:solidFill>
                <a:ea typeface="楷体_GB2312"/>
              </a:rPr>
              <a:t>q</a:t>
            </a:r>
            <a:r>
              <a:rPr lang="en-US" altLang="zh-CN" sz="2000" b="1" baseline="-25000">
                <a:solidFill>
                  <a:srgbClr val="FF3300"/>
                </a:solidFill>
                <a:ea typeface="楷体_GB2312"/>
              </a:rPr>
              <a:t>2</a:t>
            </a:r>
          </a:p>
        </p:txBody>
      </p:sp>
      <p:sp>
        <p:nvSpPr>
          <p:cNvPr id="52235" name="Text Box 21"/>
          <p:cNvSpPr txBox="1">
            <a:spLocks noChangeArrowheads="1"/>
          </p:cNvSpPr>
          <p:nvPr/>
        </p:nvSpPr>
        <p:spPr bwMode="auto">
          <a:xfrm>
            <a:off x="6069013" y="4011613"/>
            <a:ext cx="3984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2000" b="1" i="1">
                <a:solidFill>
                  <a:srgbClr val="FF3300"/>
                </a:solidFill>
                <a:ea typeface="楷体_GB2312"/>
              </a:rPr>
              <a:t>q</a:t>
            </a:r>
            <a:r>
              <a:rPr lang="en-US" altLang="zh-CN" sz="2000" b="1" baseline="-25000">
                <a:solidFill>
                  <a:srgbClr val="FF3300"/>
                </a:solidFill>
                <a:ea typeface="楷体_GB2312"/>
              </a:rPr>
              <a:t>2</a:t>
            </a:r>
          </a:p>
        </p:txBody>
      </p:sp>
      <p:sp>
        <p:nvSpPr>
          <p:cNvPr id="3" name="矩形 2">
            <a:extLst>
              <a:ext uri="{FF2B5EF4-FFF2-40B4-BE49-F238E27FC236}">
                <a16:creationId xmlns:a16="http://schemas.microsoft.com/office/drawing/2014/main" id="{23BAEF63-E037-4F07-A5C9-E3690CC1F12E}"/>
              </a:ext>
            </a:extLst>
          </p:cNvPr>
          <p:cNvSpPr/>
          <p:nvPr/>
        </p:nvSpPr>
        <p:spPr>
          <a:xfrm>
            <a:off x="1309438" y="194439"/>
            <a:ext cx="1242648" cy="400110"/>
          </a:xfrm>
          <a:prstGeom prst="rect">
            <a:avLst/>
          </a:prstGeom>
        </p:spPr>
        <p:txBody>
          <a:bodyPr wrap="none">
            <a:spAutoFit/>
          </a:bodyPr>
          <a:lstStyle/>
          <a:p>
            <a:r>
              <a:rPr lang="en-US" altLang="zh-CN" b="1" i="1">
                <a:solidFill>
                  <a:schemeClr val="accent2"/>
                </a:solidFill>
              </a:rPr>
              <a:t>q</a:t>
            </a:r>
            <a:r>
              <a:rPr lang="en-US" altLang="zh-CN" b="1" baseline="-25000">
                <a:solidFill>
                  <a:schemeClr val="accent2"/>
                </a:solidFill>
              </a:rPr>
              <a:t>0 </a:t>
            </a:r>
            <a:r>
              <a:rPr lang="en-US" altLang="zh-CN" b="1">
                <a:solidFill>
                  <a:schemeClr val="accent2"/>
                </a:solidFill>
              </a:rPr>
              <a:t>=</a:t>
            </a:r>
            <a:r>
              <a:rPr lang="en-US" altLang="zh-CN" b="1" i="1">
                <a:solidFill>
                  <a:schemeClr val="accent2"/>
                </a:solidFill>
              </a:rPr>
              <a:t>C</a:t>
            </a:r>
            <a:r>
              <a:rPr lang="en-US" altLang="zh-CN" b="1" baseline="-25000">
                <a:solidFill>
                  <a:schemeClr val="accent2"/>
                </a:solidFill>
              </a:rPr>
              <a:t>1</a:t>
            </a:r>
            <a:r>
              <a:rPr lang="en-US" altLang="zh-CN" b="1">
                <a:solidFill>
                  <a:schemeClr val="accent2"/>
                </a:solidFill>
              </a:rPr>
              <a:t> </a:t>
            </a:r>
            <a:r>
              <a:rPr lang="en-US" altLang="zh-CN" b="1" i="1">
                <a:solidFill>
                  <a:schemeClr val="accent2"/>
                </a:solidFill>
              </a:rPr>
              <a:t>U</a:t>
            </a:r>
            <a:r>
              <a:rPr lang="en-US" altLang="zh-CN" b="1" baseline="-25000">
                <a:solidFill>
                  <a:schemeClr val="accent2"/>
                </a:solidFill>
              </a:rPr>
              <a:t>0</a:t>
            </a:r>
            <a:r>
              <a:rPr lang="en-US" altLang="zh-CN" b="1">
                <a:solidFill>
                  <a:schemeClr val="accent2"/>
                </a:solidFill>
              </a:rPr>
              <a:t> </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0659"/>
                                        </p:tgtEl>
                                        <p:attrNameLst>
                                          <p:attrName>style.visibility</p:attrName>
                                        </p:attrNameLst>
                                      </p:cBhvr>
                                      <p:to>
                                        <p:strVal val="visible"/>
                                      </p:to>
                                    </p:set>
                                    <p:animEffect transition="in" filter="box(in)">
                                      <p:cBhvr>
                                        <p:cTn id="7" dur="500"/>
                                        <p:tgtEl>
                                          <p:spTgt spid="70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0662"/>
                                        </p:tgtEl>
                                        <p:attrNameLst>
                                          <p:attrName>style.visibility</p:attrName>
                                        </p:attrNameLst>
                                      </p:cBhvr>
                                      <p:to>
                                        <p:strVal val="visible"/>
                                      </p:to>
                                    </p:set>
                                    <p:animEffect transition="in" filter="box(in)">
                                      <p:cBhvr>
                                        <p:cTn id="12" dur="500"/>
                                        <p:tgtEl>
                                          <p:spTgt spid="706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70661"/>
                                        </p:tgtEl>
                                        <p:attrNameLst>
                                          <p:attrName>style.visibility</p:attrName>
                                        </p:attrNameLst>
                                      </p:cBhvr>
                                      <p:to>
                                        <p:strVal val="visible"/>
                                      </p:to>
                                    </p:set>
                                    <p:animEffect transition="in" filter="checkerboard(across)">
                                      <p:cBhvr>
                                        <p:cTn id="17" dur="500"/>
                                        <p:tgtEl>
                                          <p:spTgt spid="706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70664"/>
                                        </p:tgtEl>
                                        <p:attrNameLst>
                                          <p:attrName>style.visibility</p:attrName>
                                        </p:attrNameLst>
                                      </p:cBhvr>
                                      <p:to>
                                        <p:strVal val="visible"/>
                                      </p:to>
                                    </p:set>
                                    <p:animEffect transition="in" filter="box(in)">
                                      <p:cBhvr>
                                        <p:cTn id="22" dur="500"/>
                                        <p:tgtEl>
                                          <p:spTgt spid="706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70660"/>
                                        </p:tgtEl>
                                        <p:attrNameLst>
                                          <p:attrName>style.visibility</p:attrName>
                                        </p:attrNameLst>
                                      </p:cBhvr>
                                      <p:to>
                                        <p:strVal val="visible"/>
                                      </p:to>
                                    </p:set>
                                    <p:animEffect transition="in" filter="box(in)">
                                      <p:cBhvr>
                                        <p:cTn id="27" dur="500"/>
                                        <p:tgtEl>
                                          <p:spTgt spid="706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0663"/>
                                        </p:tgtEl>
                                        <p:attrNameLst>
                                          <p:attrName>style.visibility</p:attrName>
                                        </p:attrNameLst>
                                      </p:cBhvr>
                                      <p:to>
                                        <p:strVal val="visible"/>
                                      </p:to>
                                    </p:set>
                                    <p:animEffect transition="in" filter="blinds(horizontal)">
                                      <p:cBhvr>
                                        <p:cTn id="32" dur="500"/>
                                        <p:tgtEl>
                                          <p:spTgt spid="7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2" grpId="0" autoUpdateAnimBg="0"/>
      <p:bldP spid="70663"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0" name="Object 2"/>
          <p:cNvGraphicFramePr>
            <a:graphicFrameLocks noChangeAspect="1"/>
          </p:cNvGraphicFramePr>
          <p:nvPr/>
        </p:nvGraphicFramePr>
        <p:xfrm>
          <a:off x="1600200" y="762000"/>
          <a:ext cx="5972175" cy="1027113"/>
        </p:xfrm>
        <a:graphic>
          <a:graphicData uri="http://schemas.openxmlformats.org/presentationml/2006/ole">
            <mc:AlternateContent xmlns:mc="http://schemas.openxmlformats.org/markup-compatibility/2006">
              <mc:Choice xmlns:v="urn:schemas-microsoft-com:vml" Requires="v">
                <p:oleObj spid="_x0000_s53445" name="Equation" r:id="rId3" imgW="2159000" imgH="444500" progId="Equation.3">
                  <p:embed/>
                </p:oleObj>
              </mc:Choice>
              <mc:Fallback>
                <p:oleObj name="Equation" r:id="rId3" imgW="21590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762000"/>
                        <a:ext cx="5972175"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83" name="Object 3"/>
          <p:cNvGraphicFramePr>
            <a:graphicFrameLocks noChangeAspect="1"/>
          </p:cNvGraphicFramePr>
          <p:nvPr/>
        </p:nvGraphicFramePr>
        <p:xfrm>
          <a:off x="1582738" y="1868488"/>
          <a:ext cx="6007100" cy="1027112"/>
        </p:xfrm>
        <a:graphic>
          <a:graphicData uri="http://schemas.openxmlformats.org/presentationml/2006/ole">
            <mc:AlternateContent xmlns:mc="http://schemas.openxmlformats.org/markup-compatibility/2006">
              <mc:Choice xmlns:v="urn:schemas-microsoft-com:vml" Requires="v">
                <p:oleObj spid="_x0000_s53446" name="Equation" r:id="rId5" imgW="2171700" imgH="444500" progId="Equation.3">
                  <p:embed/>
                </p:oleObj>
              </mc:Choice>
              <mc:Fallback>
                <p:oleObj name="Equation" r:id="rId5" imgW="2171700" imgH="444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2738" y="1868488"/>
                        <a:ext cx="600710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84" name="Object 4"/>
          <p:cNvGraphicFramePr>
            <a:graphicFrameLocks noChangeAspect="1"/>
          </p:cNvGraphicFramePr>
          <p:nvPr/>
        </p:nvGraphicFramePr>
        <p:xfrm>
          <a:off x="1536700" y="2935288"/>
          <a:ext cx="6007100" cy="1027112"/>
        </p:xfrm>
        <a:graphic>
          <a:graphicData uri="http://schemas.openxmlformats.org/presentationml/2006/ole">
            <mc:AlternateContent xmlns:mc="http://schemas.openxmlformats.org/markup-compatibility/2006">
              <mc:Choice xmlns:v="urn:schemas-microsoft-com:vml" Requires="v">
                <p:oleObj spid="_x0000_s53447" name="Equation" r:id="rId7" imgW="2171700" imgH="444500" progId="Equation.3">
                  <p:embed/>
                </p:oleObj>
              </mc:Choice>
              <mc:Fallback>
                <p:oleObj name="Equation" r:id="rId7" imgW="2171700" imgH="4445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6700" y="2935288"/>
                        <a:ext cx="600710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683"/>
                                        </p:tgtEl>
                                        <p:attrNameLst>
                                          <p:attrName>style.visibility</p:attrName>
                                        </p:attrNameLst>
                                      </p:cBhvr>
                                      <p:to>
                                        <p:strVal val="visible"/>
                                      </p:to>
                                    </p:set>
                                    <p:animEffect transition="in" filter="blinds(horizontal)">
                                      <p:cBhvr>
                                        <p:cTn id="7" dur="500"/>
                                        <p:tgtEl>
                                          <p:spTgt spid="716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71684"/>
                                        </p:tgtEl>
                                        <p:attrNameLst>
                                          <p:attrName>style.visibility</p:attrName>
                                        </p:attrNameLst>
                                      </p:cBhvr>
                                      <p:to>
                                        <p:strVal val="visible"/>
                                      </p:to>
                                    </p:set>
                                    <p:animEffect transition="in" filter="checkerboard(across)">
                                      <p:cBhvr>
                                        <p:cTn id="12" dur="5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4" name="Object 2"/>
          <p:cNvGraphicFramePr>
            <a:graphicFrameLocks noChangeAspect="1"/>
          </p:cNvGraphicFramePr>
          <p:nvPr/>
        </p:nvGraphicFramePr>
        <p:xfrm>
          <a:off x="1600200" y="762000"/>
          <a:ext cx="5972175" cy="1027113"/>
        </p:xfrm>
        <a:graphic>
          <a:graphicData uri="http://schemas.openxmlformats.org/presentationml/2006/ole">
            <mc:AlternateContent xmlns:mc="http://schemas.openxmlformats.org/markup-compatibility/2006">
              <mc:Choice xmlns:v="urn:schemas-microsoft-com:vml" Requires="v">
                <p:oleObj spid="_x0000_s54469" name="Equation" r:id="rId3" imgW="2159000" imgH="444500" progId="Equation.3">
                  <p:embed/>
                </p:oleObj>
              </mc:Choice>
              <mc:Fallback>
                <p:oleObj name="Equation" r:id="rId3" imgW="21590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762000"/>
                        <a:ext cx="5972175"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75" name="Object 3"/>
          <p:cNvGraphicFramePr>
            <a:graphicFrameLocks noChangeAspect="1"/>
          </p:cNvGraphicFramePr>
          <p:nvPr/>
        </p:nvGraphicFramePr>
        <p:xfrm>
          <a:off x="1582738" y="1868488"/>
          <a:ext cx="6007100" cy="1027112"/>
        </p:xfrm>
        <a:graphic>
          <a:graphicData uri="http://schemas.openxmlformats.org/presentationml/2006/ole">
            <mc:AlternateContent xmlns:mc="http://schemas.openxmlformats.org/markup-compatibility/2006">
              <mc:Choice xmlns:v="urn:schemas-microsoft-com:vml" Requires="v">
                <p:oleObj spid="_x0000_s54470" name="Equation" r:id="rId5" imgW="2171700" imgH="444500" progId="Equation.3">
                  <p:embed/>
                </p:oleObj>
              </mc:Choice>
              <mc:Fallback>
                <p:oleObj name="Equation" r:id="rId5" imgW="2171700" imgH="444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2738" y="1868488"/>
                        <a:ext cx="600710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76" name="Object 4"/>
          <p:cNvGraphicFramePr>
            <a:graphicFrameLocks noChangeAspect="1"/>
          </p:cNvGraphicFramePr>
          <p:nvPr/>
        </p:nvGraphicFramePr>
        <p:xfrm>
          <a:off x="1536700" y="2935288"/>
          <a:ext cx="6007100" cy="1027112"/>
        </p:xfrm>
        <a:graphic>
          <a:graphicData uri="http://schemas.openxmlformats.org/presentationml/2006/ole">
            <mc:AlternateContent xmlns:mc="http://schemas.openxmlformats.org/markup-compatibility/2006">
              <mc:Choice xmlns:v="urn:schemas-microsoft-com:vml" Requires="v">
                <p:oleObj spid="_x0000_s54471" name="Equation" r:id="rId7" imgW="2171700" imgH="444500" progId="Equation.3">
                  <p:embed/>
                </p:oleObj>
              </mc:Choice>
              <mc:Fallback>
                <p:oleObj name="Equation" r:id="rId7" imgW="2171700" imgH="4445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6700" y="2935288"/>
                        <a:ext cx="600710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advClick="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
            <a:extLst>
              <a:ext uri="{FF2B5EF4-FFF2-40B4-BE49-F238E27FC236}">
                <a16:creationId xmlns:a16="http://schemas.microsoft.com/office/drawing/2014/main" id="{B794E123-8ED9-47AB-8E10-FEF22F561476}"/>
              </a:ext>
            </a:extLst>
          </p:cNvPr>
          <p:cNvSpPr>
            <a:spLocks noChangeArrowheads="1"/>
          </p:cNvSpPr>
          <p:nvPr/>
        </p:nvSpPr>
        <p:spPr bwMode="auto">
          <a:xfrm>
            <a:off x="323528" y="1412776"/>
            <a:ext cx="8424863"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dirty="0">
                <a:solidFill>
                  <a:srgbClr val="FF3300"/>
                </a:solidFill>
                <a:ea typeface="楷体_GB2312"/>
              </a:rPr>
              <a:t>第</a:t>
            </a:r>
            <a:r>
              <a:rPr lang="en-US" altLang="zh-CN" sz="2800" dirty="0">
                <a:solidFill>
                  <a:srgbClr val="FF3300"/>
                </a:solidFill>
                <a:ea typeface="楷体_GB2312"/>
              </a:rPr>
              <a:t>7</a:t>
            </a:r>
            <a:r>
              <a:rPr lang="zh-CN" altLang="en-US" sz="2800" dirty="0">
                <a:solidFill>
                  <a:srgbClr val="FF3300"/>
                </a:solidFill>
                <a:ea typeface="楷体_GB2312"/>
              </a:rPr>
              <a:t>章作业</a:t>
            </a:r>
            <a:endParaRPr lang="en-US" altLang="zh-CN" sz="3600" dirty="0">
              <a:solidFill>
                <a:srgbClr val="FF3300"/>
              </a:solidFill>
              <a:ea typeface="楷体_GB2312"/>
            </a:endParaRPr>
          </a:p>
          <a:p>
            <a:pPr algn="ctr" eaLnBrk="1" hangingPunct="1">
              <a:spcBef>
                <a:spcPct val="0"/>
              </a:spcBef>
              <a:buFontTx/>
              <a:buNone/>
            </a:pPr>
            <a:r>
              <a:rPr lang="zh-CN" altLang="en-US" sz="3600">
                <a:ea typeface="楷体_GB2312"/>
              </a:rPr>
              <a:t>电势</a:t>
            </a:r>
            <a:r>
              <a:rPr lang="zh-CN" altLang="en-US" sz="3600" dirty="0">
                <a:ea typeface="楷体_GB2312"/>
              </a:rPr>
              <a:t>计算：</a:t>
            </a:r>
            <a:endParaRPr lang="en-US" altLang="zh-CN" sz="3600" dirty="0">
              <a:ea typeface="楷体_GB2312"/>
            </a:endParaRPr>
          </a:p>
          <a:p>
            <a:pPr algn="ctr" eaLnBrk="1" hangingPunct="1">
              <a:spcBef>
                <a:spcPct val="0"/>
              </a:spcBef>
              <a:buFontTx/>
              <a:buNone/>
            </a:pPr>
            <a:r>
              <a:rPr lang="en-US" altLang="zh-CN" sz="3600">
                <a:solidFill>
                  <a:srgbClr val="FF3300"/>
                </a:solidFill>
                <a:ea typeface="楷体_GB2312"/>
              </a:rPr>
              <a:t> 32,33,34,39,</a:t>
            </a:r>
          </a:p>
          <a:p>
            <a:pPr algn="ctr" eaLnBrk="1" hangingPunct="1">
              <a:spcBef>
                <a:spcPct val="0"/>
              </a:spcBef>
              <a:buFontTx/>
              <a:buNone/>
            </a:pPr>
            <a:r>
              <a:rPr lang="zh-CN" altLang="en-US" sz="3600">
                <a:solidFill>
                  <a:srgbClr val="FF3300"/>
                </a:solidFill>
                <a:ea typeface="楷体_GB2312"/>
              </a:rPr>
              <a:t>静电平衡</a:t>
            </a:r>
            <a:endParaRPr lang="en-US" altLang="zh-CN" sz="3600">
              <a:solidFill>
                <a:srgbClr val="FF3300"/>
              </a:solidFill>
              <a:ea typeface="楷体_GB2312"/>
            </a:endParaRPr>
          </a:p>
          <a:p>
            <a:pPr algn="ctr" eaLnBrk="1" hangingPunct="1">
              <a:spcBef>
                <a:spcPct val="0"/>
              </a:spcBef>
              <a:buFontTx/>
              <a:buNone/>
            </a:pPr>
            <a:r>
              <a:rPr lang="en-US" altLang="zh-CN" sz="3600">
                <a:solidFill>
                  <a:srgbClr val="FF3300"/>
                </a:solidFill>
                <a:ea typeface="楷体_GB2312"/>
              </a:rPr>
              <a:t>43, 45,46 </a:t>
            </a:r>
            <a:endParaRPr lang="en-US" altLang="zh-CN" sz="3600" dirty="0">
              <a:solidFill>
                <a:srgbClr val="FF3300"/>
              </a:solidFill>
              <a:ea typeface="楷体_GB2312"/>
            </a:endParaRPr>
          </a:p>
          <a:p>
            <a:pPr eaLnBrk="1" hangingPunct="1">
              <a:spcBef>
                <a:spcPct val="0"/>
              </a:spcBef>
              <a:buFontTx/>
              <a:buNone/>
            </a:pPr>
            <a:endParaRPr lang="en-US" altLang="zh-CN" sz="1200">
              <a:solidFill>
                <a:srgbClr val="FF3300"/>
              </a:solidFill>
              <a:ea typeface="楷体_GB2312"/>
            </a:endParaRPr>
          </a:p>
          <a:p>
            <a:pPr eaLnBrk="1" hangingPunct="1">
              <a:spcBef>
                <a:spcPct val="0"/>
              </a:spcBef>
              <a:buFontTx/>
              <a:buNone/>
            </a:pPr>
            <a:endParaRPr lang="en-US" altLang="zh-CN" sz="120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p:txBody>
      </p:sp>
    </p:spTree>
    <p:extLst>
      <p:ext uri="{BB962C8B-B14F-4D97-AF65-F5344CB8AC3E}">
        <p14:creationId xmlns:p14="http://schemas.microsoft.com/office/powerpoint/2010/main" val="2127671504"/>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467544" y="1412776"/>
            <a:ext cx="8424863"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3600" dirty="0">
                <a:ea typeface="楷体_GB2312"/>
              </a:rPr>
              <a:t>第</a:t>
            </a:r>
            <a:r>
              <a:rPr lang="en-US" altLang="zh-CN" sz="3600" dirty="0">
                <a:ea typeface="楷体_GB2312"/>
              </a:rPr>
              <a:t>7</a:t>
            </a:r>
            <a:r>
              <a:rPr lang="zh-CN" altLang="en-US" sz="3600">
                <a:ea typeface="楷体_GB2312"/>
              </a:rPr>
              <a:t>章作业</a:t>
            </a:r>
            <a:endParaRPr lang="en-US" altLang="zh-CN" sz="3600">
              <a:ea typeface="楷体_GB2312"/>
            </a:endParaRPr>
          </a:p>
          <a:p>
            <a:pPr algn="ctr" eaLnBrk="1" hangingPunct="1">
              <a:spcBef>
                <a:spcPct val="0"/>
              </a:spcBef>
              <a:buFontTx/>
              <a:buNone/>
            </a:pPr>
            <a:endParaRPr lang="en-US" altLang="zh-CN" sz="3600" dirty="0">
              <a:ea typeface="楷体_GB2312"/>
            </a:endParaRPr>
          </a:p>
          <a:p>
            <a:pPr eaLnBrk="1" hangingPunct="1">
              <a:spcBef>
                <a:spcPct val="0"/>
              </a:spcBef>
              <a:buFontTx/>
              <a:buNone/>
            </a:pPr>
            <a:r>
              <a:rPr lang="zh-CN" altLang="en-US" sz="3600">
                <a:ea typeface="楷体_GB2312"/>
              </a:rPr>
              <a:t>电容器</a:t>
            </a:r>
            <a:r>
              <a:rPr lang="zh-CN" altLang="en-US" sz="3600" dirty="0">
                <a:ea typeface="楷体_GB2312"/>
              </a:rPr>
              <a:t>：</a:t>
            </a:r>
            <a:endParaRPr lang="en-US" altLang="zh-CN" sz="3600" dirty="0">
              <a:ea typeface="楷体_GB2312"/>
            </a:endParaRPr>
          </a:p>
          <a:p>
            <a:pPr eaLnBrk="1" hangingPunct="1">
              <a:spcBef>
                <a:spcPct val="0"/>
              </a:spcBef>
              <a:buFontTx/>
              <a:buNone/>
            </a:pPr>
            <a:r>
              <a:rPr lang="en-US" altLang="zh-CN" sz="3600">
                <a:solidFill>
                  <a:srgbClr val="FF3300"/>
                </a:solidFill>
                <a:ea typeface="楷体_GB2312"/>
              </a:rPr>
              <a:t>47,48,49,50,51,52,53</a:t>
            </a:r>
            <a:endParaRPr lang="en-US" altLang="zh-CN" sz="3600" dirty="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a:p>
            <a:pPr eaLnBrk="1" hangingPunct="1">
              <a:spcBef>
                <a:spcPct val="0"/>
              </a:spcBef>
              <a:buFontTx/>
              <a:buNone/>
            </a:pPr>
            <a:endParaRPr lang="en-US" altLang="zh-CN" sz="3600" dirty="0">
              <a:solidFill>
                <a:srgbClr val="FF3300"/>
              </a:solidFill>
              <a:ea typeface="楷体_GB2312"/>
            </a:endParaRPr>
          </a:p>
        </p:txBody>
      </p:sp>
    </p:spTree>
    <p:extLst>
      <p:ext uri="{BB962C8B-B14F-4D97-AF65-F5344CB8AC3E}">
        <p14:creationId xmlns:p14="http://schemas.microsoft.com/office/powerpoint/2010/main" val="1969834968"/>
      </p:ext>
    </p:extLst>
  </p:cSld>
  <p:clrMapOvr>
    <a:masterClrMapping/>
  </p:clrMapOvr>
  <p:transition>
    <p:random/>
  </p:transition>
</p:sld>
</file>

<file path=ppt/theme/theme1.xml><?xml version="1.0" encoding="utf-8"?>
<a:theme xmlns:a="http://schemas.openxmlformats.org/drawingml/2006/main" name="教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FF3300"/>
      </a:folHlink>
    </a:clrScheme>
    <a:fontScheme name="教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000" b="0" i="0" u="none" strike="noStrike" cap="none" normalizeH="0" baseline="0" smtClean="0">
            <a:ln>
              <a:noFill/>
            </a:ln>
            <a:solidFill>
              <a:srgbClr val="FF3300"/>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rgbClr val="FFFF66"/>
        </a:solidFill>
        <a:ln w="9525" cap="flat" cmpd="sng" algn="ctr">
          <a:solidFill>
            <a:srgbClr val="FF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000" b="0" i="0" u="none" strike="noStrike" cap="none" normalizeH="0" baseline="0" smtClean="0">
            <a:ln>
              <a:noFill/>
            </a:ln>
            <a:solidFill>
              <a:srgbClr val="FF3300"/>
            </a:solidFill>
            <a:effectLst/>
            <a:latin typeface="Times New Roman" pitchFamily="18" charset="0"/>
            <a:ea typeface="楷体_GB2312" pitchFamily="49" charset="-122"/>
          </a:defRPr>
        </a:defPPr>
      </a:lstStyle>
    </a:lnDef>
  </a:objectDefaults>
  <a:extraClrSchemeLst>
    <a:extraClrScheme>
      <a:clrScheme name="教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教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教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教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教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教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教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D:\MSOffice\Templates\教案.pot</Template>
  <TotalTime>5902</TotalTime>
  <Words>5368</Words>
  <Application>Microsoft Office PowerPoint</Application>
  <PresentationFormat>全屏显示(4:3)</PresentationFormat>
  <Paragraphs>628</Paragraphs>
  <Slides>81</Slides>
  <Notes>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6</vt:i4>
      </vt:variant>
      <vt:variant>
        <vt:lpstr>幻灯片标题</vt:lpstr>
      </vt:variant>
      <vt:variant>
        <vt:i4>81</vt:i4>
      </vt:variant>
    </vt:vector>
  </HeadingPairs>
  <TitlesOfParts>
    <vt:vector size="102" baseType="lpstr">
      <vt:lpstr>Helvetica Neue</vt:lpstr>
      <vt:lpstr>PingFang SC</vt:lpstr>
      <vt:lpstr>黑体</vt:lpstr>
      <vt:lpstr>华文隶书</vt:lpstr>
      <vt:lpstr>华文宋体</vt:lpstr>
      <vt:lpstr>华文细黑</vt:lpstr>
      <vt:lpstr>楷体_GB2312</vt:lpstr>
      <vt:lpstr>隶书</vt:lpstr>
      <vt:lpstr>宋体</vt:lpstr>
      <vt:lpstr>微软雅黑</vt:lpstr>
      <vt:lpstr>Arial</vt:lpstr>
      <vt:lpstr>Symbol</vt:lpstr>
      <vt:lpstr>Times New Roman</vt:lpstr>
      <vt:lpstr>Wingdings</vt:lpstr>
      <vt:lpstr>教案</vt:lpstr>
      <vt:lpstr>公式</vt:lpstr>
      <vt:lpstr>Equation</vt:lpstr>
      <vt:lpstr>MathType 7.0 Equation</vt:lpstr>
      <vt:lpstr>Image</vt:lpstr>
      <vt:lpstr>文档</vt:lpstr>
      <vt:lpstr>Clip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静电场中的导体</dc:title>
  <dc:creator>Wang</dc:creator>
  <cp:lastModifiedBy>Songyou Wang</cp:lastModifiedBy>
  <cp:revision>294</cp:revision>
  <dcterms:created xsi:type="dcterms:W3CDTF">2000-11-05T08:34:30Z</dcterms:created>
  <dcterms:modified xsi:type="dcterms:W3CDTF">2025-12-09T01:30:22Z</dcterms:modified>
</cp:coreProperties>
</file>